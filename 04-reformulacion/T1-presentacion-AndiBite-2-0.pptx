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0:00-0:15   |   Expone: Carlos
Bloque original en el guion del doc 07: 0:00-0:20 (Portada, Carlos)
Ideas clave:
- "Venimos a presentar una empresa, no una idea".
- Presentar al Grupo 2 y el claim: "Hierro medido. Sabor a brownie."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0:15-0:25   |   Expone: Carlos
Esta diapositiva no tiene bloque propio en el guion del doc 07; tiempo asignado por la consultora.
Ideas clave:
- Recorrer en una frase los seis bloques: problema, solución validada, cliente y propuesta de valor, modelo de negocio, números y plan.
- Pasar rápido: la agenda no se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0:25-1:05   |   Expone: Carlos
Bloque original en el guion del doc 07: 0:20-1:20 (Problema, Carlos)
Ideas clave:
- Las dos cifras de anemia: 24 % en menores de 3 años de Lima Metropolitana y 22.5 % en escolares atendidos por el MINSA.
- La lonchera que regresa llena: el problema no es la información, es la aceptación.
- Cerrar con la cita de Mateo: "parecía carbón".
Ojo: el 22.5 % viene de niños atendidos por el MINSA (sobrerrepresenta NSE C, D y E). Frente al consumidor no se habla de anemia; aquí sí, porque es para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1:05-1:40   |   Expone: Angie
Bloque original en el guion del doc 07: 3:20-4:05 (Por qué ahora, Angie)
Ideas clave:
- Regulación, demografía y consumo alineados.
- Octógonos y quioscos sin octógono: el que no tiene octógono entra al colegio.
- RS sin tasa desde julio de 2026 y una planta (Unión) que ya maquila snacks saludables.
- Padres tardíos y planificados (53.1 % de los nacimientos con madre de 30+) y matrícula privada de 49.6 %.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1:40-2:25   |   Expone: Diana
Bloque original en el guion del doc 07: 1:20-2:20 (Solución, Diana)
Ideas clave:
- Producto en mano: tres sabores sobre una misma base (Chispa, Andi y Lúcu).
- Hierro medido: unos 1.9 mg por unidad según receta; la cifra de etiqueta la da el laboratorio.
- Sin octógono: 4.6 a 7.1 g de azúcar por 100 g con eritritol, plátano y solo 15 g de panela por lote; el octógono se activa con 10 g.
- La foto es el empaque MVP actual; el nuevo se ve en la diapositiva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2:25-3:10   |   Expone: Diana
Bloque original en el guion del doc 07: 2:20-3:20 (Validación, Diana)
Ideas clave:
- Cuatro capas de evidencia: necesidad (entrevistas), formato (focus 1), producto y precio (focus 2 con degustación) y competencia (store check).
- Leer el resultado del focus 2 con la cifra real [POR COMPLETAR POR EL EQUIPO].
- Nota de método: entrevistas y focus 1 fueron con madres de Lima Norte (NSE C/B); sus dolores son de la categoría. Lo propio del A/B se respalda con datos secundarios y el focus 2.
Datos del focus 2 que el equipo debe cargar (cuadros en rojo): muestra (n, distritos, NSE); agrado 1 a 5; cuántos detectaron la sangrecita (x de n); intención antes y después de la revelación; empaque elegido; nombre preferido (AndiBite, AndiBite u otro); precio aceptable del pack de 6 (rango y mediana); frase más fuerte.
Store check: tienda, marca, precio y octógonos en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3:10-3:45   |   Expone: Adela
Bloque original en el guion del doc 07: 4:50-5:40 (Mercado, Adela)
Ideas clave:
- TAM S/130.9 millones, SAM S/62.8 millones y SAM núcleo S/17.3 millones.
- 700 hogares activos son apenas el 1.5 % del núcleo: una meta prudente.
- Las zonas 6 y 7 concentran el 58.9 % de los hogares A de Lima.
Pregunta difícil: ¿no es un nicho muy chico? 46,000 hogares núcleo y 168,000 en el NSE A/B; en el año 2 entran la zona 8 y el supermercado.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3:45-4:20   |   Expone: Angie
Bloque original en el guion del doc 07: 4:05-4:50 (Cliente, Angie)
Ideas clave:
- Claudia y Rodrigo a las 6:00 a. m.: ella arma dos loncheras distintas; él resuelve la semana.
- Claudia: "Yo sé lo que le falta a mi hijo; el problema es que todo lo que le falta, él lo escupe".
- Rodrigo: "No me vendas salud, véndeme una mañana menos".
- Planifican, leen etiquetas y pagan por evidencia: preguntan cuántos mg de hierro tiene y si tiene registro sanitario.
Las fichas son de la semana 3 y muestran 37 y 41 años e ingresos de S/16,000 y S/22,000. El documento 04 las actualizó a 38 y 42 años y S/13,500 y S/18,000; actualizar las fichas en Canva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4:20-4:40   |   Expone: Diana
Esta diapositiva no tiene bloque propio en el guion del doc 07; tiempo asignado por la consultora.
Ideas clave:
- Leer la frase completa, despacio: "Hierro medido, sabor a brownie: el snack de lonchera que tu hijo sí se come y que tú sí puedes leer".
- "Sí se come" responde al dolor sensorial; "sí puedes leer" responde al 42 % que desconfía de lo envasado (Kantar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4:40-5:10   |   Expone: Diana
Esta diapositiva no tiene bloque propio en el guion del doc 07; tiempo asignado por la consultora.
Ideas clave:
- Leer por filas: cada trabajo, dolor y alegría tiene su respuesta en el mapa de valor.
- Trabajo "darle hierro sin pelear" se cubre con el brownie de tres sabores; dolor "la sangrecita se rechaza" se alivia con cacao y canela; alegría "ver el dato" se crea con los mg en el frente y el QR por lote.
- Evidencias: "en la mañana no quiero prender la cocina" (Lucero); "engañar a su hija con algo que le gusta" (Rubelis, focus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5:10-5:40   |   Expone: Angie
Esta diapositiva no tiene bloque propio en el guion del doc 07; tiempo asignado por la consultora.
Ideas clave:
- Los 5 diferenciadores: (1) hierro hemínico medido y publicado por lote; (2) sin octógono, puede entrar al quiosco; (3) brownie húmedo que camufla la sangrecita (Nutri H es galleta y la barrita no es postre); (4) variedad semanal en un solo pack; (5) servicio de lonchera planificada con suscripción.
- Las celdas en rojo son los octógonos que el equipo debe anotar del store check [POR COMPLETAR POR EL EQUIPO].
Pregunta difícil: ¿por qué pagar S/4.15 si Nutri H cuesta S/3.20? Porque es otra cosa: un brownie que el niño pide, sin octógono, con hierro medido por lote y entregado en casa. El pack quincenal es el 2.2 a 2.8 % del gasto en alimentos de un hogar A 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5:40-6:15   |   Expone: Carlos
Esta diapositiva no tiene bloque propio en el guion del doc 07; tiempo asignado por la consultora.
Ideas clave:
- Recorrer el canvas de derecha a izquierda: segmento, propuesta, canales y relación, ingresos; luego recursos, actividades, socios y costos.
- Qué cambió frente al canvas del 15 de setiembre: segmento con cifras (46,000 hogares), 3 sabores, versión sin octógono, maquila en lugar de taller propio, precio de S/24.90 el pack de 6, WhatsApp como canal principal y marca con dato en el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6:15-6:50   |   Expone: Patricia
Bloque original en el guion del doc 07: 5:40-6:30 (Ingresos y canales, Patricia)
Ideas clave:
- Precios por formato: pack de 6 a S/24.90 (S/4.15 por unidad), pack de 12 a S/46.90 (S/3.91 por unidad) y caja degustación a S/12.00. En ferias: unidad S/5.00, pack de 6 S/26.00 y pack de 12 S/48.00. Naturista: anaquel S/28.90; AndiBite cobra S/17.34.
- La dona de canales: 79.0 / 9.5 / 7.4 / 4.1 %. La recompra quincenal es el motor; el B2B es vitrina.
- Regla: en tiendas de terceros el precio es igual o mayor que en directo; el quiosco vende la unidad suelta porque compite con el queque de la puerta (S/2.50 a 3).
Pregunta difícil: ¿por qué no supermercado desde el inicio? Con 35 % de margen más 5 % de aportes, a 3,000 u/mes se pierden S/0.75 por unidad; solo funciona desde 8,000 u/mes y con el pack a S/32.90.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6:50-7:10 Patricia (operación) y 7:10-7:30 Adela (regulación)   |   Expone: Patricia y Adela
Bloque original en el guion del doc 07: 6:30-6:55 (Operación, Patricia) y 6:55-7:25 (Regulación, Adela)
Ideas clave:
- Patricia: tres fases y por qué no tenemos planta. La maquila evita certificar un establecimiento propio, que es lo más caro.
- Adela: la S.A.C. es titular del RS y la planta es el fabricante; el RS no cobra tasa.
- Adela: qué se puede decir y qué no: "fuente de hierro" solo con análisis (2.1 mg por 100 g o más); nunca "previene la anemia".
Pregunta difícil: ¿y si DIGESA demora el registro? Hoy no cobra tasa y resuelve en 10 a 20 días con expediente completo; el cuello de botella es la vida útil, por eso las muestras salen en diciembre. Plan B: gestor a S/236 y campaña de abril.
Pregunta difícil: ¿qué impide que la planta copie la receta? Confidencialidad, la S.A.C. como titular del RS y la premezcla de sangrecita con cacao entregada por nosotros.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7:30-8:05   |   Expone: Angie
Bloque original en el guion del doc 07: 7:25-8:15 (Marca, Angie)
Ideas clave:
- Antes y después: de "orgullo peruano" a "medido, no prometido".
- AndiBite frente a AndiBite: AndiBite viene de hemínico, habla como el pediatra y sostiene S/4 por unidad; AndiBite es la opción de continuidad.
- Sabores con nombre de dos sílabas para que el niño los pida: Chispa (rojo #D7392B), Andi (amarillo #E9B730) y Lúcu (caramelo #B9733A); de temporada, Nara y Fresi.
- Advertencia: nombre sujeto a búsqueda fonética en INDECOPI, clase 30, S/401.20. AndiBite tiene riesgo por la marca HEMI de motores (Stellantis, clase 12).
Paleta de la ruta AndiBite en el documento 06: rojo hierro #9E2B25, tipografía Fraunces. Este deck usa la paleta de transición pedida (kraft, marrón, rojo hierro #8B1E2B).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8:05-8:50   |   Expone: Carlos
Bloque original en el guion del doc 07: 8:45-10:00 (Finanzas, Carlos)
Ideas clave:
- Cascada del pack de 6: S/24.90 al público, S/21.10 sin IGV, S/9.90 de producción (S/1.65 por brownie, opción B con bolsitas) y S/11.20 de margen bruto (53.1 %).
- Equilibrio en 3,308 u/mes (551 packs de 6) con contribución promedio de S/0.86 por unidad y fijos de S/2,856.67; se alcanza en abril de 2027.
- Inversión de S/34,484.24; ventas del año 1 de S/302,900 con IGV; resultado operativo de S/31,638 (12.3 % de las ventas sin IGV), antes de intereses, gastos preoperativos e impuesto a la renta. Con la opción C (brownies sueltos): S/35,083 y equilibrio de 3,144 u/mes. El payback está por recalcular con los precios confirmados.
- Decirlo en voz alta: los socios no cobran sueldo en el año 1.
Pregunta difícil: ¿por qué no es rentable a 1,000 u/mes? Con costos fijos de S/2,856.67 al mes hacen falta 3,308 unidades para cubrirlos: a 1,000 u/mes los fijos y la maquila no se diluyen.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8:50-9:15   |   Expone: Patricia
Esta diapositiva no tiene bloque propio en el guion del doc 07; tiempo asignado por la consultora.
Ideas clave:
- Base: 76,335 unidades y S/302,900 con IGV (S/256,695 netos), en línea con el SOM de 75,600 unidades.
- Pesimista: 33,249 u (300 hogares). Optimista: 154,687 u (1,400 hogares y Flora &amp; Fauna o Vivanda desde noviembre). Los soles de los escenarios pesimista y optimista están por recalcular con los precios confirmados (versión anterior: S/139,988 y S/642,864).
- El 21 % del volumen base viene de colegios, ferias y naturistas, que además traen clientes nuevos a la venta directa.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9:15-9:50   |   Expone: Adela
Bloque original en el guion del doc 07: 10:00-10:45 (Riesgos, Adela)
Ideas clave:
- Sabemos qué puede fallar: cinco riesgos, cada uno con su mitigación y su disparador.
- La contingencia del pesimista: si a mayo de 2027 hay menos de 200 hogares activos, se suspende el asistente (S/800 al mes), la pauta baja a la mitad y cada socio aporta S/2,500 (S/12,500 en total).
Pregunta difícil: ¿el eritritol es seguro para niños? La EFSA fijó en 2023 una ingesta admisible de 0.5 g por kg al día: un niño de 18 kg tolera 9 g y un brownie trae 2 a 3 g. Se recomienda 1 unidad al día en la etiqueta.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9:50-10:25   |   Expone: Patricia
Bloque original en el guion del doc 07: 10:45-11:40 (Próximos 90 días, Patricia)
Ideas clave:
- Hoja de ruta por semanas; el primer hito (en rojo) es cargar el focus 2 y el store check.
- Entregables: fórmula v3 congelada, informe sensorial y precio validado, S.A.C. con RUC y decisión de nombre, 2 plantas preseleccionadas, decisión sobre el octógono, contrato y solicitud de marca, muestras antes del 31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10:25-11:25   |   Expone: Adela (o quien el equipo elija para el pitch)
Esta diapositiva no tiene bloque propio en el guion del doc 07; tiempo asignado por la consultora.
Ideas clave:
- Versión principal del doc 07 (158 palabras, unas 26 por bloque de 10 segundos). Se dice de memoria, mirando al jurado.
- Frente al consumidor no se menciona la anemia ni se promete prevenirla (D. Leg. 1044); este pitch es para la profesora y el jurado.
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A S/24.90 el pack de 6, llegamos al equilibrio con 3,308 unidades al mes. Pruébenlo.
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pack de 6 a S/24.90 que llega por WhatsApp y una empresa sin planta propia, con registro sanitario a nuestro nombre. [0:50-1:00] Equilibrio en 3,308 unidades al mes y resultado operativo positivo desde abril de 2027. La pregunta no es si los niños necesitan hierro, sino por qué nadie lo había hecho 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11:25-11:40   |   Expone: Diana
Bloque original en el guion del doc 07: 8:15-8:45 (Equipo, Diana)
Ideas clave:
- Cinco roles que cubren toda la cadena: producto, operación, regulación, marca y venta.
- Cada integrante levanta la mano cuando se nombra su rol.
Tiempo total por integrante con este guion ajustado: Carlos 2:45, Diana 2:35, Angie 2:15, Adela 2:30 (incluye el pitch) y Patricia 1:55. Si el pitch lo dice otra persona, mover ese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11:40-12:00   |   Expone: Carlos
Bloque original en el guion del doc 07: 11:40-12:00 (Cierre, Carlos)
Ideas clave:
- Pregunta disruptiva al público: "¿Quién de ustedes comería hígado en el recreo?"
- Cierre: "La pregunta no es si los niños necesitan hierro, sino por qué nadie lo había hecho rico".
- Llamado a la acción: entregar la caja degustación al jurado y pedir el primer colegio piloto. Dar las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11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12 a 14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15 a 17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18 a 22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por WhatsApp.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versión sin octógono con 20 niños por sabor (meta: 75 % en caritas 4 y 5) · precio del pack de 6 (S/24.90) con 30 padres · maquila a S/0.50 o menos.</a:t>
            </a: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700 hogares · 75,600 u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1.5 %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  <p:txBody>
          <a:bodyPr/>
          <a:p/>
        </p:txBody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(S/24.90), pack de 12 (S/46.90) y caja degustación (S/12.00)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por WhatsApp con rutas martes y viernes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lote y vencimiento visibles; porción sellada sin frío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 y QR al informe del lote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Calendario de lonchera en la caja de 12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S/4.15 (S/3.91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 por unidad, publicado por lote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Canal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 con delivery, quioscos, ferias y 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desde Ayacucho y puntos en Lima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con delivery en 24 h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Wong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y bodega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pack de 6 a S/24.90 son S/4.15 por brownie de 20 g, a la par de Fika (S/4.00) y Mamalama (S/4.10) y 30 % sobre Nutri H, sostenido por hierro medido, cero octógonos y entrega en casa.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Laboratorios INACAL: SAT Perú, La Molina Calidad Total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Proveedor de sangrecita en polvo con SENASA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Nutricionista colegiada, concesionarios y naturistas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control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etiqueta, marca y venta directa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Equipo de 5 y 300 familias en espera [HIPÓTESIS]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 sabores, sin frío, por WhatsApp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Caja degustación con cupón de S/3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quincenal con recordatorio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QR por lote; mamá embajadora; recompra de 35 % a 60 días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e Instagram: 79.0 %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escolares: 9.5 %; ferias: 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Naturistas: 4.1 %; supermercado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700 hogares activos a dic. 2027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S/1.65 por unidad (pack de 6, opción B)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Costos fijos: S/2,856.67 al mes; inversión: S/34,484.24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equilibrio: 3,308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a S/24.90; pack de 12 a S/46.90; degustación S/12.00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 S/4.00 por unidad; naturista S/28.90 el pack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 base: S/302,900 con IGV; resultado operativo S/31,638 (12.3 %)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Instagram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S/24.90 · pack de 12 S/46.90 · degustación S/12.00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79.0 %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 y eventos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S/5.00 · pack de 6 S/26.00 · pack de 12 S/48.00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(stand ~S/1 por u)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S/28.90 en anaquel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S/17.34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4.1 %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recompra quincenal.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 pack de 6 cada 2 semanas suma S/49.80 al mes: 2.2 a 2.8 % del gasto en alimentos de un hogar A o B (APEIM 2025).</a:t>
            </a: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76,335 u · S/302,900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(plan comercial, escenario base, mar. 2027 a feb. 2028); APEIM 2025 (gasto en alimentos).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Picture 25" descr="chart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371600"/>
            <a:ext cx="304495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Oct.-nov.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 sin venta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S/2,215.81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Dic. 2026-feb.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laboratorio, RS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S/8,426.20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mar.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formal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S/2,856.67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RS propio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Nada de venta antes del RS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Decisión del equipo: seguimos con AndiBite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Evoluciona el empaque: hierro en mg en el frente.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Ficha "26 Fe" y QR por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AndiBite: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3,308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envase,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6 (B)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12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(venta directa)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3.39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21.10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39.75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1.69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9.90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18.66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por brownie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1.69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1.65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1.56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bruto (%)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50.0 %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53.1 %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53.1 %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a S/0.40-0.60 por unidad [POR CONFIRMAR]. Los socios no cobran sueldo en el año 1.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S/25,000 de los 5 socios (S/5,000 cada uno) y un préstamo de S/10,000.</a:t>
            </a: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3,308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(551 packs de 6), desde abril de 2027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S/34,484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 total (S/34,484.24)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S/302,900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Ventas del año 1 con IGV (76,335 u)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S/31,638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Resultado operativo del año 1 (12.3 %)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Excel de costeo por presentación (escenario base, pack de 6 opción B;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 y escenario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Pesimista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Base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Optimista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26,280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60,318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118,416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2,970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5,640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10,650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2,712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7,245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16,065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1,287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3,132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6,356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3,200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33,249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76,335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154,687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 con IGV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—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302,900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—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Base: 700 hogares activos a diciembre de 2027. Soles de los escenarios pesimista y optimista: por recalcular con los precios confirmados.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comercial, proyección mes a mes por canal y escenario).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chart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registro sanitario llega después de febrero de 2027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Muestras al laboratorio en diciembre; gestor a S/236 por producto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Baja recompra (el 79 % del volumen es directo)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Medir la recompra a 60 días desde abril; si baja de 25 % en junio, se frena la pauta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Escenario pesimista: la caja toca −S/10,731.60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Con menos de 200 hogares en mayo: sin asistente, pauta a la mitad y S/2,500 más por socio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marca en clase 30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Lote piloto, muestras al laboratorio y lista de espera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55" name="tarjeta-322"/>
          <p:cNvSpPr/>
          <p:nvPr/>
        </p:nvSpPr>
        <p:spPr>
          <a:xfrm>
            <a:off x="548640" y="5715000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6" name="texto-323"/>
          <p:cNvSpPr txBox="1"/>
          <p:nvPr/>
        </p:nvSpPr>
        <p:spPr>
          <a:xfrm>
            <a:off x="822960" y="5733288"/>
            <a:ext cx="10545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 al 31 de diciembre: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muestras en el laboratorio y primeras 100 familias en lista de espera [HIPÓTESIS].</a:t>
            </a: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menos de 7.1 gramos de azúcar por 100, así que no lleva octógono. El niño ve un brownie; el padre ve los miligramos.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3,308 unidades al mes llegamos al equilibrio. Prueben la caja degustación y ayúdennos a abrir el primer colegio piloto.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WhatsApp, colegios, naturistas y flujo de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