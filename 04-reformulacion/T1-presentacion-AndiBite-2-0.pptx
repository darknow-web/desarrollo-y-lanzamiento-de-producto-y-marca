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df257bf-30d9-a51d-c032-17186338c70d}">
          <p14:sldIdLst>
            <p14:sldId id="256"/>
            <p14:sldId id="257"/>
          </p14:sldIdLst>
        </p14:section>
        <p14:section name="Problema y oportunidad" id="{539b1ce7-6dac-124f-f0a6-a422d5a848d7}">
          <p14:sldIdLst>
            <p14:sldId id="258"/>
            <p14:sldId id="259"/>
          </p14:sldIdLst>
        </p14:section>
        <p14:section name="Solución y validación" id="{1aae8b5a-9f86-8adc-2596-3409c0ce5db9}">
          <p14:sldIdLst>
            <p14:sldId id="260"/>
            <p14:sldId id="261"/>
          </p14:sldIdLst>
        </p14:section>
        <p14:section name="Cliente y propuesta de valor" id="{5c3dda22-2fb4-457a-243a-7b055773d8cb}">
          <p14:sldIdLst>
            <p14:sldId id="262"/>
            <p14:sldId id="263"/>
            <p14:sldId id="264"/>
            <p14:sldId id="265"/>
            <p14:sldId id="266"/>
          </p14:sldIdLst>
        </p14:section>
        <p14:section name="Modelo de negocio" id="{6897c7d7-df52-4646-1271-8035dd61b0be}">
          <p14:sldIdLst>
            <p14:sldId id="267"/>
            <p14:sldId id="268"/>
            <p14:sldId id="269"/>
          </p14:sldIdLst>
        </p14:section>
        <p14:section name="Marca, finanzas y ventas" id="{ed228117-45aa-1954-d70a-fbf15e578c3d}">
          <p14:sldIdLst>
            <p14:sldId id="270"/>
            <p14:sldId id="271"/>
            <p14:sldId id="272"/>
          </p14:sldIdLst>
        </p14:section>
        <p14:section name="Riesgos, plan y pitch" id="{8d036be6-dfad-3e26-c312-dd95cb816af8}">
          <p14:sldIdLst>
            <p14:sldId id="273"/>
            <p14:sldId id="274"/>
            <p14:sldId id="275"/>
          </p14:sldIdLst>
        </p14:section>
        <p14:section name="Cierre" id="{4182c386-f42d-3f0a-bcec-7abc48d11146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200" b="0" i="0" u="none" strike="noStrike">
                <a:solidFill>
                  <a:srgbClr val="5C301E"/>
                </a:solidFill>
                <a:latin typeface="Nunito"/>
              </a:rPr>
              <a:t>Unidades del año 1 por canal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año 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1E2B"/>
              </a:solidFill>
              <a:effectLst/>
            </c:spPr>
          </c:dPt>
          <c:dPt>
            <c:idx val="1"/>
            <c:bubble3D val="0"/>
            <c:spPr>
              <a:solidFill>
                <a:srgbClr val="E5A93A"/>
              </a:solidFill>
              <a:effectLst/>
            </c:spPr>
          </c:dPt>
          <c:dPt>
            <c:idx val="2"/>
            <c:bubble3D val="0"/>
            <c:spPr>
              <a:solidFill>
                <a:srgbClr val="B9733A"/>
              </a:solidFill>
              <a:effectLst/>
            </c:spPr>
          </c:dPt>
          <c:dPt>
            <c:idx val="3"/>
            <c:bubble3D val="0"/>
            <c:spPr>
              <a:solidFill>
                <a:srgbClr val="5C301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WhatsApp e IG</c:v>
                </c:pt>
                <c:pt idx="1">
                  <c:v>Quioscos</c:v>
                </c:pt>
                <c:pt idx="2">
                  <c:v>Ferias</c:v>
                </c:pt>
                <c:pt idx="3">
                  <c:v>Naturistas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79</c:v>
                </c:pt>
                <c:pt idx="1">
                  <c:v>9.5</c:v>
                </c:pt>
                <c:pt idx="2">
                  <c:v>7.4</c:v>
                </c:pt>
                <c:pt idx="3">
                  <c:v>4.1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300" b="0" i="0" u="none" strike="noStrike">
                <a:solidFill>
                  <a:srgbClr val="5C301E"/>
                </a:solidFill>
                <a:latin typeface="Nunito"/>
              </a:rPr>
              <a:t>Unidades, marzo 2027 a febrero 2028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WhatsApp e IG</c:v>
                </c:pt>
              </c:strCache>
            </c:strRef>
          </c:tx>
          <c:spPr>
            <a:solidFill>
              <a:srgbClr val="8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26280</c:v>
                </c:pt>
                <c:pt idx="1">
                  <c:v>60318</c:v>
                </c:pt>
                <c:pt idx="2">
                  <c:v>118416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Ferias</c:v>
                </c:pt>
              </c:strCache>
            </c:strRef>
          </c:tx>
          <c:spPr>
            <a:solidFill>
              <a:srgbClr val="E5A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2970</c:v>
                </c:pt>
                <c:pt idx="1">
                  <c:v>5640</c:v>
                </c:pt>
                <c:pt idx="2">
                  <c:v>10650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Colegios</c:v>
                </c:pt>
              </c:strCache>
            </c:strRef>
          </c:tx>
          <c:spPr>
            <a:solidFill>
              <a:srgbClr val="B97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2712</c:v>
                </c:pt>
                <c:pt idx="1">
                  <c:v>7245</c:v>
                </c:pt>
                <c:pt idx="2">
                  <c:v>16065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Naturistas</c:v>
                </c:pt>
              </c:strCache>
            </c:strRef>
          </c:tx>
          <c:spPr>
            <a:solidFill>
              <a:srgbClr val="5C30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1287</c:v>
                </c:pt>
                <c:pt idx="1">
                  <c:v>3132</c:v>
                </c:pt>
                <c:pt idx="2">
                  <c:v>6356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Supermercado</c:v>
                </c:pt>
              </c:strCache>
            </c:strRef>
          </c:tx>
          <c:spPr>
            <a:solidFill>
              <a:srgbClr val="D7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B89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0:00-0:15   |   Expone: Carlos
Bloque original en el guion del doc 07: 0:00-0:20 (Portada, Carlos)
Ideas clave:
- "Venimos a presentar una empresa, no una idea".
- Presentar al Grupo 2 y el claim: "Hierro medido. Sabor a brownie."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0:15-0:25   |   Expone: Carlos
Esta diapositiva no tiene bloque propio en el guion del doc 07; tiempo asignado por la consultora.
Ideas clave:
- Recorrer en una frase los seis bloques: problema, solución validada, cliente y propuesta de valor, modelo de negocio, números y plan.
- Pasar rápido: la agenda no se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0:25-1:05   |   Expone: Carlos
Bloque original en el guion del doc 07: 0:20-1:20 (Problema, Carlos)
Ideas clave:
- Las dos cifras de anemia: 24 % en menores de 3 años de Lima Metropolitana y 22.5 % en escolares atendidos por el MINSA.
- La lonchera que regresa llena: el problema no es la información, es la aceptación.
- Cerrar con la cita de Mateo: "parecía carbón".
Ojo: el 22.5 % viene de niños atendidos por el MINSA (sobrerrepresenta NSE C, D y E). Frente al consumidor no se habla de anemia; aquí sí, porque es para el jurado.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1:05-1:40   |   Expone: Angie
Bloque original en el guion del doc 07: 3:20-4:05 (Por qué ahora, Angie)
Ideas clave:
- Regulación, demografía y consumo alineados.
- Octógonos y quioscos sin octógono: el que no tiene octógono entra al colegio.
- RS sin tasa desde julio de 2026 y una planta (Unión) que ya maquila snacks saludables.
- Padres tardíos y planificados (53.1 % de los nacimientos con madre de 30+) y matrícula privada de 49.6 %.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1:40-2:25   |   Expone: Diana
Bloque original en el guion del doc 07: 1:20-2:20 (Solución, Diana)
Ideas clave:
- Producto en mano: tres sabores sobre una misma base (Chispa, Andi y Lúcu).
- Hierro medido: unos 1.9 mg por unidad según receta; la cifra de etiqueta la da el laboratorio.
- Sin octógono: 4.6 a 7.1 g de azúcar por 100 g con eritritol, plátano y solo 15 g de panela por lote; el octógono se activa con 10 g.
- La foto es el empaque MVP actual; el nuevo se ve en la diapositiva de marca.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2:25-3:10   |   Expone: Diana
Bloque original en el guion del doc 07: 2:20-3:20 (Validación, Diana)
Ideas clave:
- Cuatro capas de evidencia: necesidad (entrevistas), formato (focus 1), producto y precio (focus 2 con degustación) y competencia (store check).
- Leer el resultado del focus 2 con la cifra real [POR COMPLETAR POR EL EQUIPO].
- Nota de método: entrevistas y focus 1 fueron con madres de Lima Norte (NSE C/B); sus dolores son de la categoría. Lo propio del A/B se respalda con datos secundarios y el focus 2.
Datos del focus 2 que el equipo debe cargar (cuadros en rojo): muestra (n, distritos, NSE); agrado 1 a 5; cuántos detectaron la sangrecita (x de n); intención antes y después de la revelación; empaque elegido; nombre preferido (AndiBite, AndiBite u otro); precio aceptable del pack de 6 (rango y mediana); frase más fuerte.
Store check: tienda, marca, precio y octógonos en góndola.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3:10-3:45   |   Expone: Adela
Bloque original en el guion del doc 07: 4:50-5:40 (Mercado, Adela)
Ideas clave:
- TAM S/130.9 millones, SAM S/62.8 millones y SAM núcleo S/17.3 millones.
- 700 hogares activos son apenas el 1.5 % del núcleo: una meta prudente.
- Las zonas 6 y 7 concentran el 58.9 % de los hogares A de Lima.
Pregunta difícil: ¿no es un nicho muy chico? 46,000 hogares núcleo y 168,000 en el NSE A/B; en el año 2 entran la zona 8 y el supermercado.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3:45-4:20   |   Expone: Angie
Bloque original en el guion del doc 07: 4:05-4:50 (Cliente, Angie)
Ideas clave:
- Claudia y Rodrigo a las 6:00 a. m.: ella arma dos loncheras distintas; él resuelve la semana.
- Claudia: "Yo sé lo que le falta a mi hijo; el problema es que todo lo que le falta, él lo escupe".
- Rodrigo: "No me vendas salud, véndeme una mañana menos".
- Planifican, leen etiquetas y pagan por evidencia: preguntan cuántos mg de hierro tiene y si tiene registro sanitario.
Las fichas son de la semana 3 y muestran 37 y 41 años e ingresos de S/16,000 y S/22,000. El documento 04 las actualizó a 38 y 42 años y S/13,500 y S/18,000; actualizar las fichas en Canva antes de exponer.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4:20-4:40   |   Expone: Diana
Esta diapositiva no tiene bloque propio en el guion del doc 07; tiempo asignado por la consultora.
Ideas clave:
- Leer la frase completa, despacio: "Hierro medido, sabor a brownie: el snack de lonchera que tu hijo sí se come y que tú sí puedes leer".
- "Sí se come" responde al dolor sensorial; "sí puedes leer" responde al 42 % que desconfía de lo envasado (Kantar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4:40-5:10   |   Expone: Diana
Esta diapositiva no tiene bloque propio en el guion del doc 07; tiempo asignado por la consultora.
Ideas clave:
- Leer por filas: cada trabajo, dolor y alegría tiene su respuesta en el mapa de valor.
- Trabajo "darle hierro sin pelear" se cubre con el brownie de tres sabores; dolor "la sangrecita se rechaza" se alivia con cacao y canela; alegría "ver el dato" se crea con los mg en el frente y el QR por lote.
- Evidencias: "en la mañana no quiero prender la cocina" (Lucero); "engañar a su hija con algo que le gusta" (Rubelis, focus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5:10-5:40   |   Expone: Angie
Esta diapositiva no tiene bloque propio en el guion del doc 07; tiempo asignado por la consultora.
Ideas clave:
- Los 5 diferenciadores: (1) hierro hemínico medido y publicado por lote; (2) sin octógono, puede entrar al quiosco; (3) brownie húmedo que camufla la sangrecita (Nutri H es galleta y la barrita no es postre); (4) variedad semanal en un solo pack; (5) servicio de lonchera planificada con suscripción.
- Las celdas en rojo son los octógonos que el equipo debe anotar del store check [POR COMPLETAR POR EL EQUIPO].
Pregunta difícil: ¿por qué pagar S/4.50 si Nutri H cuesta S/3.20? Porque es otra cosa: un brownie que el niño pide, sin octógono, con hierro medido por lote y entregado en casa. El pack quincenal es el 2.4 a 3.0 % del gasto en alimentos de un hogar A o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5:40-6:15   |   Expone: Carlos
Esta diapositiva no tiene bloque propio en el guion del doc 07; tiempo asignado por la consultora.
Ideas clave:
- Recorrer el canvas de derecha a izquierda: segmento, propuesta, canales y relación, ingresos; luego recursos, actividades, socios y costos.
- Qué cambió frente al canvas del 15 de setiembre: segmento con cifras (46,000 hogares), 3 sabores, versión sin octógono, maquila en lugar de taller propio, precio de S/27 el pack, WhatsApp como canal principal y marca con dato en el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6:15-6:50   |   Expone: Patricia
Bloque original en el guion del doc 07: 5:40-6:30 (Ingresos y canales, Patricia)
Ideas clave:
- Precios por formato: pack de 6 a S/27 (S/4.50 por unidad), pack de 12 a S/49 (S/4.08 por unidad) y caja degustación a S/13.50.
- La dona de canales: 79.0 / 9.5 / 7.4 / 4.1 %. La recompra quincenal es el motor; el B2B es vitrina.
- Regla: en tiendas de terceros el precio es igual o mayor que en directo; el quiosco vende la unidad suelta porque compite con el queque de la puerta (S/2.50 a 3).
Pregunta difícil: ¿por qué no supermercado desde el inicio? Con 35 % de margen más 5 % de aportes, a 3,000 u/mes se pierden S/0.75 por unidad; solo funciona desde 8,000 u/mes y con el pack a S/32.90.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6:50-7:10 Patricia (operación) y 7:10-7:30 Adela (regulación)   |   Expone: Patricia y Adela
Bloque original en el guion del doc 07: 6:30-6:55 (Operación, Patricia) y 6:55-7:25 (Regulación, Adela)
Ideas clave:
- Patricia: tres fases y por qué no tenemos planta. La maquila evita certificar un establecimiento propio, que es lo más caro.
- Adela: la S.A.C. es titular del RS y la planta es el fabricante; el RS no cobra tasa.
- Adela: qué se puede decir y qué no: "fuente de hierro" solo con análisis (2.1 mg por 100 g o más); nunca "previene la anemia".
Pregunta difícil: ¿y si DIGESA demora el registro? Hoy no cobra tasa y resuelve en 10 a 20 días con expediente completo; el cuello de botella es la vida útil, por eso las muestras salen en diciembre. Plan B: gestor a S/236 y campaña de abril.
Pregunta difícil: ¿qué impide que la planta copie la receta? Confidencialidad, la S.A.C. como titular del RS y la premezcla de sangrecita con cacao entregada por nosotros.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7:30-8:05   |   Expone: Angie
Bloque original en el guion del doc 07: 7:25-8:15 (Marca, Angie)
Ideas clave:
- Antes y después: de "orgullo peruano" a "medido, no prometido".
- AndiBite frente a AndiBite: AndiBite viene de hemínico, habla como el pediatra y sostiene S/4 por unidad; AndiBite es la opción de continuidad.
- Sabores con nombre de dos sílabas para que el niño los pida: Chispa (rojo #D7392B), Andi (amarillo #E9B730) y Lúcu (caramelo #B9733A); de temporada, Nara y Fresi.
- Advertencia: nombre sujeto a búsqueda fonética en INDECOPI, clase 30, S/401.20. AndiBite tiene riesgo por la marca HEMI de motores (Stellantis, clase 12).
Paleta de la ruta AndiBite en el documento 06: rojo hierro #9E2B25, tipografía Fraunces. Este deck usa la paleta de transición pedida (kraft, marrón, rojo hierro #8B1E2B).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8:05-8:50   |   Expone: Carlos
Bloque original en el guion del doc 07: 8:45-10:00 (Finanzas, Carlos)
Ideas clave:
- Cascada: S/4.50 al público, S/3.81 sin IGV, S/1.91 de producción a 3,000 u/mes (S/1.32 a 8,000).
- Equilibrio en 3,500 u/mes con margen de contribución promedio de S/0.82 y fijos de S/2,856.67; se alcanza en abril de 2027.
- Inversión de S/34,484.24; utilidad neta del año 1 de S/37,152.32 (13.7 %); payback de 9 meses de operación (noviembre de 2027), 6 en el optimista.
- Decirlo en voz alta: los socios no cobran sueldo en el año 1.
Pregunta difícil: ¿por qué no es rentable a 1,000 u/mes? El costo total es S/5.86 frente a S/3.81 de ingreso neto: los fijos y la maquila no se diluyen.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8:50-9:15   |   Expone: Patricia
Esta diapositiva no tiene bloque propio en el guion del doc 07; tiempo asignado por la consultora.
Ideas clave:
- Base: 76,335 unidades y S/319,869.33 con IGV (S/271,075.70 netos), en línea con el SOM de 75,600 unidades.
- Pesimista: 33,249 u y S/139,987.53 (300 hogares). Optimista: 154,687 u y S/642,863.64 (1,400 hogares y Flora &amp; Fauna o Vivanda desde noviembre).
- El 21 % del volumen base viene de colegios, ferias y naturistas, que además traen clientes nuevos a la venta directa.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9:15-9:50   |   Expone: Adela
Bloque original en el guion del doc 07: 10:00-10:45 (Riesgos, Adela)
Ideas clave:
- Sabemos qué puede fallar: cinco riesgos, cada uno con su mitigación y su disparador.
- La contingencia del pesimista: si a mayo de 2027 hay menos de 200 hogares activos, se suspende el asistente (S/800 al mes), la pauta baja a la mitad y cada socio aporta S/2,500 (S/12,500 en total).
Pregunta difícil: ¿el eritritol es seguro para niños? La EFSA fijó en 2023 una ingesta admisible de 0.5 g por kg al día: un niño de 18 kg tolera 9 g y un brownie trae 2 a 3 g. Se recomienda 1 unidad al día en la etiqueta.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9:50-10:25   |   Expone: Patricia
Bloque original en el guion del doc 07: 10:45-11:40 (Próximos 90 días, Patricia)
Ideas clave:
- Hoja de ruta por semanas; el primer hito (en rojo) es cargar el focus 2 y el store check.
- Entregables: fórmula v3 congelada, informe sensorial y precio validado, S.A.C. con RUC y decisión de nombre, 2 plantas preseleccionadas, decisión sobre el octógono, contrato y solicitud de marca, muestras antes del 31 de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10:25-11:25   |   Expone: Adela (o quien el equipo elija para el pitch)
Esta diapositiva no tiene bloque propio en el guion del doc 07; tiempo asignado por la consultora.
Ideas clave:
- Versión principal del doc 07 (158 palabras, unas 26 por bloque de 10 segundos). Se dice de memoria, mirando al jurado.
- Frente al consumidor no se menciona la anemia ni se promete prevenirla (D. Leg. 1044); este pitch es para la profesora y el jurado.
VERSIÓN DE 30 SEGUNDOS: [0:00-0:10] En la lonchera, lo saludable regresa intacto, y el hierro es lo que más cuesta que un niño acepte. [0:10-0:20] AndiBite es un mini brownie de 20 gramos con sangrecita, hierro medido y sin octógono, en tres sabores, para 46,000 hogares planificados de Lima. [0:20-0:30] Ya lo validamos con entrevistas, focus y degustación. A S/27 el pack de 6, llegamos al equilibrio con 3,500 unidades al mes. Pruébenlo.
VERSIÓN DISRUPTIVA: [0:00-0:10] ¿Quién de ustedes comería hígado en el recreo? Nadie. Ningún niño tampoco. Y es justo lo que le pedimos a uno de cada cuatro niños limeños con anemia. [0:10-0:20] Los padres no fallan por falta de información: lo saludable vuelve intacto en la lonchera, y el 70 % le teme al octógono "Alto en azúcar". [0:20-0:35] Nosotros no escondemos la sangrecita para engañar: la horneamos en un brownie y publicamos el hierro de cada lote. El niño ve chocolate. El padre ve miligramos. Sin octógono. [0:35-0:50] Tres sabores, un pack de 6 a S/27 que llega por WhatsApp y una empresa sin planta propia, con registro sanitario a nuestro nombre. [0:50-1:00] Equilibrio en 3,500 unidades al mes y payback en nueve meses. La pregunta no es si los niños necesitan hierro, sino por qué nadie lo había hecho 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11:25-11:40   |   Expone: Diana
Bloque original en el guion del doc 07: 8:15-8:45 (Equipo, Diana)
Ideas clave:
- Cinco roles que cubren toda la cadena: producto, operación, regulación, marca y venta.
- Cada integrante levanta la mano cuando se nombra su rol.
Tiempo total por integrante con este guion ajustado: Carlos 2:45, Diana 2:35, Angie 2:15, Adela 2:30 (incluye el pitch) y Patricia 1:55. Si el pitch lo dice otra persona, mover ese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11:40-12:00   |   Expone: Carlos
Bloque original en el guion del doc 07: 11:40-12:00 (Cierre, Carlos)
Ideas clave:
- Pregunta disruptiva al público: "¿Quién de ustedes comería hígado en el recreo?"
- Cierre: "La pregunta no es si los niños necesitan hierro, sino por qué nadie lo había hecho rico".
- Llamado a la acción: entregar la caja degustación al jurado y pedir el primer colegio piloto. Dar las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6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"/>
          <p:cNvSpPr txBox="1"/>
          <p:nvPr/>
        </p:nvSpPr>
        <p:spPr>
          <a:xfrm>
            <a:off x="548640" y="685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T1 · CANVAS, PROPUESTA DE VALOR, VALIDACIÓN Y PITCH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2.0</a:t>
            </a:r>
            <a:endParaRPr lang="en-US" sz="6400" dirty="0"/>
          </a:p>
        </p:txBody>
      </p:sp>
      <p:sp>
        <p:nvSpPr>
          <p:cNvPr id="4" name="texto-2"/>
          <p:cNvSpPr txBox="1"/>
          <p:nvPr/>
        </p:nvSpPr>
        <p:spPr>
          <a:xfrm>
            <a:off x="548640" y="269748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brownies con hierro de sangrecita para la lonchera</a:t>
            </a:r>
            <a:endParaRPr lang="en-US" sz="2200" dirty="0"/>
          </a:p>
        </p:txBody>
      </p:sp>
      <p:sp>
        <p:nvSpPr>
          <p:cNvPr id="5" name="ficha-fe-3"/>
          <p:cNvSpPr/>
          <p:nvPr/>
        </p:nvSpPr>
        <p:spPr>
          <a:xfrm>
            <a:off x="548640" y="3657600"/>
            <a:ext cx="777240" cy="77724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fe-num-4"/>
          <p:cNvSpPr txBox="1"/>
          <p:nvPr/>
        </p:nvSpPr>
        <p:spPr>
          <a:xfrm>
            <a:off x="626364" y="3712007"/>
            <a:ext cx="38862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fe-sym-5"/>
          <p:cNvSpPr txBox="1"/>
          <p:nvPr/>
        </p:nvSpPr>
        <p:spPr>
          <a:xfrm>
            <a:off x="548640" y="3797503"/>
            <a:ext cx="777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2700" dirty="0"/>
          </a:p>
        </p:txBody>
      </p:sp>
      <p:sp>
        <p:nvSpPr>
          <p:cNvPr id="8" name="texto-6"/>
          <p:cNvSpPr txBox="1"/>
          <p:nvPr/>
        </p:nvSpPr>
        <p:spPr>
          <a:xfrm>
            <a:off x="1508760" y="3657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medido. Sabor a brownie.</a:t>
            </a:r>
            <a:endParaRPr lang="en-US" sz="2400" dirty="0"/>
          </a:p>
        </p:txBody>
      </p:sp>
      <p:sp>
        <p:nvSpPr>
          <p:cNvPr id="9" name="texto-7"/>
          <p:cNvSpPr txBox="1"/>
          <p:nvPr/>
        </p:nvSpPr>
        <p:spPr>
          <a:xfrm>
            <a:off x="548640" y="4800600"/>
            <a:ext cx="603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Curso: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Desarrollo y lanzamiento de nuevos productos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Profesora: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Paola Cevallos · Octubre de 2026</a:t>
            </a:r>
            <a:endParaRPr lang="en-US" sz="1400" dirty="0"/>
          </a:p>
        </p:txBody>
      </p:sp>
      <p:sp>
        <p:nvSpPr>
          <p:cNvPr id="10" name="tarjeta-8"/>
          <p:cNvSpPr/>
          <p:nvPr/>
        </p:nvSpPr>
        <p:spPr>
          <a:xfrm>
            <a:off x="6720840" y="1097280"/>
            <a:ext cx="4937760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1" name="img-mockup-portada" descr="Mockup del empaque actual de AndiBite, frente y rever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663440" cy="3108960"/>
          </a:xfrm>
          <a:prstGeom prst="rect">
            <a:avLst/>
          </a:prstGeom>
        </p:spPr>
      </p:pic>
      <p:sp>
        <p:nvSpPr>
          <p:cNvPr id="12" name="texto-9"/>
          <p:cNvSpPr txBox="1"/>
          <p:nvPr/>
        </p:nvSpPr>
        <p:spPr>
          <a:xfrm>
            <a:off x="6858000" y="4370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(MVP). Nombre de trabajo hasta la búsqueda en INDECOPI.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arjeta-10"/>
          <p:cNvSpPr/>
          <p:nvPr/>
        </p:nvSpPr>
        <p:spPr>
          <a:xfrm>
            <a:off x="548640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11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o-12"/>
          <p:cNvSpPr txBox="1"/>
          <p:nvPr/>
        </p:nvSpPr>
        <p:spPr>
          <a:xfrm>
            <a:off x="822960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 y por qué ahora</a:t>
            </a:r>
            <a:endParaRPr lang="en-US" sz="1900" dirty="0"/>
          </a:p>
        </p:txBody>
      </p:sp>
      <p:sp>
        <p:nvSpPr>
          <p:cNvPr id="6" name="texto-13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3 y 4</a:t>
            </a:r>
            <a:endParaRPr lang="en-US" sz="1200" dirty="0"/>
          </a:p>
        </p:txBody>
      </p:sp>
      <p:sp>
        <p:nvSpPr>
          <p:cNvPr id="7" name="tarjeta-14"/>
          <p:cNvSpPr/>
          <p:nvPr/>
        </p:nvSpPr>
        <p:spPr>
          <a:xfrm>
            <a:off x="4306824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circulo-15"/>
          <p:cNvSpPr/>
          <p:nvPr/>
        </p:nvSpPr>
        <p:spPr>
          <a:xfrm>
            <a:off x="4581144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o-16"/>
          <p:cNvSpPr txBox="1"/>
          <p:nvPr/>
        </p:nvSpPr>
        <p:spPr>
          <a:xfrm>
            <a:off x="4581144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 y lo que validamos</a:t>
            </a:r>
            <a:endParaRPr lang="en-US" sz="1900" dirty="0"/>
          </a:p>
        </p:txBody>
      </p:sp>
      <p:sp>
        <p:nvSpPr>
          <p:cNvPr id="10" name="texto-17"/>
          <p:cNvSpPr txBox="1"/>
          <p:nvPr/>
        </p:nvSpPr>
        <p:spPr>
          <a:xfrm>
            <a:off x="4581144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5 y 6</a:t>
            </a:r>
            <a:endParaRPr lang="en-US" sz="1200" dirty="0"/>
          </a:p>
        </p:txBody>
      </p:sp>
      <p:sp>
        <p:nvSpPr>
          <p:cNvPr id="11" name="tarjeta-18"/>
          <p:cNvSpPr/>
          <p:nvPr/>
        </p:nvSpPr>
        <p:spPr>
          <a:xfrm>
            <a:off x="8065008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circulo-19"/>
          <p:cNvSpPr/>
          <p:nvPr/>
        </p:nvSpPr>
        <p:spPr>
          <a:xfrm>
            <a:off x="8339328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o-20"/>
          <p:cNvSpPr txBox="1"/>
          <p:nvPr/>
        </p:nvSpPr>
        <p:spPr>
          <a:xfrm>
            <a:off x="8339328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Cliente y propuesta de valor</a:t>
            </a:r>
            <a:endParaRPr lang="en-US" sz="1900" dirty="0"/>
          </a:p>
        </p:txBody>
      </p:sp>
      <p:sp>
        <p:nvSpPr>
          <p:cNvPr id="14" name="texto-21"/>
          <p:cNvSpPr txBox="1"/>
          <p:nvPr/>
        </p:nvSpPr>
        <p:spPr>
          <a:xfrm>
            <a:off x="8339328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7 a 11</a:t>
            </a:r>
            <a:endParaRPr lang="en-US" sz="1200" dirty="0"/>
          </a:p>
        </p:txBody>
      </p:sp>
      <p:sp>
        <p:nvSpPr>
          <p:cNvPr id="15" name="tarjeta-22"/>
          <p:cNvSpPr/>
          <p:nvPr/>
        </p:nvSpPr>
        <p:spPr>
          <a:xfrm>
            <a:off x="548640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23"/>
          <p:cNvSpPr/>
          <p:nvPr/>
        </p:nvSpPr>
        <p:spPr>
          <a:xfrm>
            <a:off x="822960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o-24"/>
          <p:cNvSpPr txBox="1"/>
          <p:nvPr/>
        </p:nvSpPr>
        <p:spPr>
          <a:xfrm>
            <a:off x="822960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negocio y operación</a:t>
            </a:r>
            <a:endParaRPr lang="en-US" sz="1900" dirty="0"/>
          </a:p>
        </p:txBody>
      </p:sp>
      <p:sp>
        <p:nvSpPr>
          <p:cNvPr id="18" name="texto-25"/>
          <p:cNvSpPr txBox="1"/>
          <p:nvPr/>
        </p:nvSpPr>
        <p:spPr>
          <a:xfrm>
            <a:off x="822960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12 a 14</a:t>
            </a:r>
            <a:endParaRPr lang="en-US" sz="1200" dirty="0"/>
          </a:p>
        </p:txBody>
      </p:sp>
      <p:sp>
        <p:nvSpPr>
          <p:cNvPr id="19" name="tarjeta-26"/>
          <p:cNvSpPr/>
          <p:nvPr/>
        </p:nvSpPr>
        <p:spPr>
          <a:xfrm>
            <a:off x="4306824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circulo-27"/>
          <p:cNvSpPr/>
          <p:nvPr/>
        </p:nvSpPr>
        <p:spPr>
          <a:xfrm>
            <a:off x="4581144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o-28"/>
          <p:cNvSpPr txBox="1"/>
          <p:nvPr/>
        </p:nvSpPr>
        <p:spPr>
          <a:xfrm>
            <a:off x="4581144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Marca, finanzas y ventas</a:t>
            </a:r>
            <a:endParaRPr lang="en-US" sz="1900" dirty="0"/>
          </a:p>
        </p:txBody>
      </p:sp>
      <p:sp>
        <p:nvSpPr>
          <p:cNvPr id="22" name="texto-29"/>
          <p:cNvSpPr txBox="1"/>
          <p:nvPr/>
        </p:nvSpPr>
        <p:spPr>
          <a:xfrm>
            <a:off x="4581144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15 a 17</a:t>
            </a:r>
            <a:endParaRPr lang="en-US" sz="1200" dirty="0"/>
          </a:p>
        </p:txBody>
      </p:sp>
      <p:sp>
        <p:nvSpPr>
          <p:cNvPr id="23" name="tarjeta-30"/>
          <p:cNvSpPr/>
          <p:nvPr/>
        </p:nvSpPr>
        <p:spPr>
          <a:xfrm>
            <a:off x="8065008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1"/>
          <p:cNvSpPr/>
          <p:nvPr/>
        </p:nvSpPr>
        <p:spPr>
          <a:xfrm>
            <a:off x="8339328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06</a:t>
            </a:r>
            <a:endParaRPr lang="en-US" sz="2000" dirty="0"/>
          </a:p>
        </p:txBody>
      </p:sp>
      <p:sp>
        <p:nvSpPr>
          <p:cNvPr id="25" name="texto-32"/>
          <p:cNvSpPr txBox="1"/>
          <p:nvPr/>
        </p:nvSpPr>
        <p:spPr>
          <a:xfrm>
            <a:off x="8339328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Riesgos, plan, pitch y equipo</a:t>
            </a:r>
            <a:endParaRPr lang="en-US" sz="1900" dirty="0"/>
          </a:p>
        </p:txBody>
      </p:sp>
      <p:sp>
        <p:nvSpPr>
          <p:cNvPr id="26" name="texto-33"/>
          <p:cNvSpPr txBox="1"/>
          <p:nvPr/>
        </p:nvSpPr>
        <p:spPr>
          <a:xfrm>
            <a:off x="8339328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18 a 22</a:t>
            </a:r>
            <a:endParaRPr lang="en-US" sz="12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Duración: 12 minutos. El guion por integrante está en las notas del orador.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problema: lo saludable regresa intacto</a:t>
            </a:r>
            <a:endParaRPr lang="en-US" sz="3200" dirty="0"/>
          </a:p>
        </p:txBody>
      </p:sp>
      <p:sp>
        <p:nvSpPr>
          <p:cNvPr id="3" name="tarjeta-34"/>
          <p:cNvSpPr/>
          <p:nvPr/>
        </p:nvSpPr>
        <p:spPr>
          <a:xfrm>
            <a:off x="54864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5"/>
          <p:cNvSpPr txBox="1"/>
          <p:nvPr/>
        </p:nvSpPr>
        <p:spPr>
          <a:xfrm>
            <a:off x="82296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24.0 %</a:t>
            </a:r>
            <a:endParaRPr lang="en-US" sz="6000" dirty="0"/>
          </a:p>
        </p:txBody>
      </p:sp>
      <p:sp>
        <p:nvSpPr>
          <p:cNvPr id="5" name="texto-36"/>
          <p:cNvSpPr txBox="1"/>
          <p:nvPr/>
        </p:nvSpPr>
        <p:spPr>
          <a:xfrm>
            <a:off x="82296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anemia en niños de 6 a 35 meses de Lima Metropolitana</a:t>
            </a:r>
            <a:endParaRPr lang="en-US" sz="1500" dirty="0"/>
          </a:p>
        </p:txBody>
      </p:sp>
      <p:sp>
        <p:nvSpPr>
          <p:cNvPr id="6" name="texto-37"/>
          <p:cNvSpPr txBox="1"/>
          <p:nvPr/>
        </p:nvSpPr>
        <p:spPr>
          <a:xfrm>
            <a:off x="8229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ENDES 2024</a:t>
            </a:r>
            <a:endParaRPr lang="en-US" sz="1100" dirty="0"/>
          </a:p>
        </p:txBody>
      </p:sp>
      <p:sp>
        <p:nvSpPr>
          <p:cNvPr id="7" name="tarjeta-38"/>
          <p:cNvSpPr/>
          <p:nvPr/>
        </p:nvSpPr>
        <p:spPr>
          <a:xfrm>
            <a:off x="406908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39"/>
          <p:cNvSpPr txBox="1"/>
          <p:nvPr/>
        </p:nvSpPr>
        <p:spPr>
          <a:xfrm>
            <a:off x="434340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22.5 %</a:t>
            </a:r>
            <a:endParaRPr lang="en-US" sz="6000" dirty="0"/>
          </a:p>
        </p:txBody>
      </p:sp>
      <p:sp>
        <p:nvSpPr>
          <p:cNvPr id="9" name="texto-40"/>
          <p:cNvSpPr txBox="1"/>
          <p:nvPr/>
        </p:nvSpPr>
        <p:spPr>
          <a:xfrm>
            <a:off x="434340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escolares de 5 a 11 años de Lima atendidos por el MINSA</a:t>
            </a:r>
            <a:endParaRPr lang="en-US" sz="1500" dirty="0"/>
          </a:p>
        </p:txBody>
      </p:sp>
      <p:sp>
        <p:nvSpPr>
          <p:cNvPr id="10" name="texto-41"/>
          <p:cNvSpPr txBox="1"/>
          <p:nvPr/>
        </p:nvSpPr>
        <p:spPr>
          <a:xfrm>
            <a:off x="434340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SIEN-HIS 2024-I</a:t>
            </a:r>
            <a:endParaRPr lang="en-US" sz="1100" dirty="0"/>
          </a:p>
        </p:txBody>
      </p:sp>
      <p:sp>
        <p:nvSpPr>
          <p:cNvPr id="11" name="tarjeta-42"/>
          <p:cNvSpPr/>
          <p:nvPr/>
        </p:nvSpPr>
        <p:spPr>
          <a:xfrm>
            <a:off x="548640" y="4526280"/>
            <a:ext cx="6858000" cy="155448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o-43"/>
          <p:cNvSpPr txBox="1"/>
          <p:nvPr/>
        </p:nvSpPr>
        <p:spPr>
          <a:xfrm>
            <a:off x="822960" y="47091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32.9 %</a:t>
            </a:r>
            <a:endParaRPr lang="en-US" sz="4400" dirty="0"/>
          </a:p>
        </p:txBody>
      </p:sp>
      <p:sp>
        <p:nvSpPr>
          <p:cNvPr id="13" name="texto-44"/>
          <p:cNvSpPr txBox="1"/>
          <p:nvPr/>
        </p:nvSpPr>
        <p:spPr>
          <a:xfrm>
            <a:off x="2697480" y="4709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niños pequeños de Lima recibió suplemento de hierro.</a:t>
            </a:r>
            <a:endParaRPr lang="en-US" sz="1500" dirty="0"/>
          </a:p>
        </p:txBody>
      </p:sp>
      <p:sp>
        <p:nvSpPr>
          <p:cNvPr id="14" name="tarjeta-45"/>
          <p:cNvSpPr/>
          <p:nvPr/>
        </p:nvSpPr>
        <p:spPr>
          <a:xfrm>
            <a:off x="7772400" y="1371600"/>
            <a:ext cx="3867912" cy="4709160"/>
          </a:xfrm>
          <a:prstGeom prst="roundRect">
            <a:avLst>
              <a:gd name="adj" fmla="val 283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o-46"/>
          <p:cNvSpPr txBox="1"/>
          <p:nvPr/>
        </p:nvSpPr>
        <p:spPr>
          <a:xfrm>
            <a:off x="8046720" y="137160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</a:t>
            </a:r>
            <a:endParaRPr lang="en-US" sz="7200" dirty="0"/>
          </a:p>
        </p:txBody>
      </p:sp>
      <p:sp>
        <p:nvSpPr>
          <p:cNvPr id="16" name="texto-47"/>
          <p:cNvSpPr txBox="1"/>
          <p:nvPr/>
        </p:nvSpPr>
        <p:spPr>
          <a:xfrm>
            <a:off x="8046720" y="228600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Mamá, eso olía feo y mis amigos me dijeron que parecía carbón.</a:t>
            </a:r>
            <a:endParaRPr lang="en-US" sz="2400" dirty="0"/>
          </a:p>
        </p:txBody>
      </p:sp>
      <p:sp>
        <p:nvSpPr>
          <p:cNvPr id="17" name="texto-48"/>
          <p:cNvSpPr txBox="1"/>
          <p:nvPr/>
        </p:nvSpPr>
        <p:spPr>
          <a:xfrm>
            <a:off x="804672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Mateo, hijo de Lucero (entrevista)</a:t>
            </a:r>
            <a:endParaRPr lang="en-US" sz="1200" dirty="0"/>
          </a:p>
        </p:txBody>
      </p:sp>
      <p:sp>
        <p:nvSpPr>
          <p:cNvPr id="18" name="texto-49"/>
          <p:cNvSpPr txBox="1"/>
          <p:nvPr/>
        </p:nvSpPr>
        <p:spPr>
          <a:xfrm>
            <a:off x="8046720" y="466344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Hígado, gotas, sangrecita a la vista: todo vuelve sin abrir.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INEI, ENDES 2024; INS-CENAN, SIEN-HIS 2024-I; 10 entrevistas a profundidad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Por qué ahora</a:t>
            </a:r>
            <a:endParaRPr lang="en-US" sz="3200" dirty="0"/>
          </a:p>
        </p:txBody>
      </p:sp>
      <p:sp>
        <p:nvSpPr>
          <p:cNvPr id="3" name="linea-tiempo"/>
          <p:cNvSpPr/>
          <p:nvPr/>
        </p:nvSpPr>
        <p:spPr>
          <a:xfrm>
            <a:off x="914400" y="1828800"/>
            <a:ext cx="10362895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" name="hito-50"/>
          <p:cNvSpPr/>
          <p:nvPr/>
        </p:nvSpPr>
        <p:spPr>
          <a:xfrm>
            <a:off x="1737360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exto-51"/>
          <p:cNvSpPr txBox="1"/>
          <p:nvPr/>
        </p:nvSpPr>
        <p:spPr>
          <a:xfrm>
            <a:off x="548640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2019</a:t>
            </a:r>
            <a:endParaRPr lang="en-US" sz="1800" dirty="0"/>
          </a:p>
        </p:txBody>
      </p:sp>
      <p:sp>
        <p:nvSpPr>
          <p:cNvPr id="6" name="texto-52"/>
          <p:cNvSpPr txBox="1"/>
          <p:nvPr/>
        </p:nvSpPr>
        <p:spPr>
          <a:xfrm>
            <a:off x="640080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 solo sin octógono (RM 195-2019)</a:t>
            </a:r>
            <a:endParaRPr lang="en-US" sz="1300" dirty="0"/>
          </a:p>
        </p:txBody>
      </p:sp>
      <p:sp>
        <p:nvSpPr>
          <p:cNvPr id="7" name="hito-53"/>
          <p:cNvSpPr/>
          <p:nvPr/>
        </p:nvSpPr>
        <p:spPr>
          <a:xfrm>
            <a:off x="4553712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exto-54"/>
          <p:cNvSpPr txBox="1"/>
          <p:nvPr/>
        </p:nvSpPr>
        <p:spPr>
          <a:xfrm>
            <a:off x="3364992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2021</a:t>
            </a:r>
            <a:endParaRPr lang="en-US" sz="1800" dirty="0"/>
          </a:p>
        </p:txBody>
      </p:sp>
      <p:sp>
        <p:nvSpPr>
          <p:cNvPr id="9" name="texto-55"/>
          <p:cNvSpPr txBox="1"/>
          <p:nvPr/>
        </p:nvSpPr>
        <p:spPr>
          <a:xfrm>
            <a:off x="3456432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Octógonos de segunda fase (Ley 30021)</a:t>
            </a:r>
            <a:endParaRPr lang="en-US" sz="1300" dirty="0"/>
          </a:p>
        </p:txBody>
      </p:sp>
      <p:sp>
        <p:nvSpPr>
          <p:cNvPr id="10" name="hito-56"/>
          <p:cNvSpPr/>
          <p:nvPr/>
        </p:nvSpPr>
        <p:spPr>
          <a:xfrm>
            <a:off x="7370064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1" name="texto-57"/>
          <p:cNvSpPr txBox="1"/>
          <p:nvPr/>
        </p:nvSpPr>
        <p:spPr>
          <a:xfrm>
            <a:off x="6181344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Jul. 2026</a:t>
            </a:r>
            <a:endParaRPr lang="en-US" sz="1800" dirty="0"/>
          </a:p>
        </p:txBody>
      </p:sp>
      <p:sp>
        <p:nvSpPr>
          <p:cNvPr id="12" name="texto-58"/>
          <p:cNvSpPr txBox="1"/>
          <p:nvPr/>
        </p:nvSpPr>
        <p:spPr>
          <a:xfrm>
            <a:off x="6272784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Registro sanitario sin tasa (DIGESA)</a:t>
            </a:r>
            <a:endParaRPr lang="en-US" sz="1300" dirty="0"/>
          </a:p>
        </p:txBody>
      </p:sp>
      <p:sp>
        <p:nvSpPr>
          <p:cNvPr id="13" name="hito-59"/>
          <p:cNvSpPr/>
          <p:nvPr/>
        </p:nvSpPr>
        <p:spPr>
          <a:xfrm>
            <a:off x="10186416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4" name="texto-60"/>
          <p:cNvSpPr txBox="1"/>
          <p:nvPr/>
        </p:nvSpPr>
        <p:spPr>
          <a:xfrm>
            <a:off x="8997696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Ago. 2026</a:t>
            </a:r>
            <a:endParaRPr lang="en-US" sz="1800" dirty="0"/>
          </a:p>
        </p:txBody>
      </p:sp>
      <p:sp>
        <p:nvSpPr>
          <p:cNvPr id="15" name="texto-61"/>
          <p:cNvSpPr txBox="1"/>
          <p:nvPr/>
        </p:nvSpPr>
        <p:spPr>
          <a:xfrm>
            <a:off x="9089136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Unión abre maquila de snacks saludables</a:t>
            </a:r>
            <a:endParaRPr lang="en-US" sz="1300" dirty="0"/>
          </a:p>
        </p:txBody>
      </p:sp>
      <p:sp>
        <p:nvSpPr>
          <p:cNvPr id="16" name="tarjeta-62"/>
          <p:cNvSpPr/>
          <p:nvPr/>
        </p:nvSpPr>
        <p:spPr>
          <a:xfrm>
            <a:off x="548640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63"/>
          <p:cNvSpPr txBox="1"/>
          <p:nvPr/>
        </p:nvSpPr>
        <p:spPr>
          <a:xfrm>
            <a:off x="777240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83 %</a:t>
            </a:r>
            <a:endParaRPr lang="en-US" sz="4000" dirty="0"/>
          </a:p>
        </p:txBody>
      </p:sp>
      <p:sp>
        <p:nvSpPr>
          <p:cNvPr id="18" name="texto-64"/>
          <p:cNvSpPr txBox="1"/>
          <p:nvPr/>
        </p:nvSpPr>
        <p:spPr>
          <a:xfrm>
            <a:off x="777240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cambia su compra por los octógonos</a:t>
            </a:r>
            <a:endParaRPr lang="en-US" sz="1400" dirty="0"/>
          </a:p>
        </p:txBody>
      </p:sp>
      <p:sp>
        <p:nvSpPr>
          <p:cNvPr id="19" name="texto-65"/>
          <p:cNvSpPr txBox="1"/>
          <p:nvPr/>
        </p:nvSpPr>
        <p:spPr>
          <a:xfrm>
            <a:off x="7772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Ipsos 2025</a:t>
            </a:r>
            <a:endParaRPr lang="en-US" sz="1100" dirty="0"/>
          </a:p>
        </p:txBody>
      </p:sp>
      <p:sp>
        <p:nvSpPr>
          <p:cNvPr id="20" name="tarjeta-66"/>
          <p:cNvSpPr/>
          <p:nvPr/>
        </p:nvSpPr>
        <p:spPr>
          <a:xfrm>
            <a:off x="3364992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texto-67"/>
          <p:cNvSpPr txBox="1"/>
          <p:nvPr/>
        </p:nvSpPr>
        <p:spPr>
          <a:xfrm>
            <a:off x="3593592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</a:t>
            </a:r>
            <a:endParaRPr lang="en-US" sz="4000" dirty="0"/>
          </a:p>
        </p:txBody>
      </p:sp>
      <p:sp>
        <p:nvSpPr>
          <p:cNvPr id="22" name="texto-68"/>
          <p:cNvSpPr txBox="1"/>
          <p:nvPr/>
        </p:nvSpPr>
        <p:spPr>
          <a:xfrm>
            <a:off x="3593592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 o más</a:t>
            </a:r>
            <a:endParaRPr lang="en-US" sz="1400" dirty="0"/>
          </a:p>
        </p:txBody>
      </p:sp>
      <p:sp>
        <p:nvSpPr>
          <p:cNvPr id="23" name="texto-69"/>
          <p:cNvSpPr txBox="1"/>
          <p:nvPr/>
        </p:nvSpPr>
        <p:spPr>
          <a:xfrm>
            <a:off x="3593592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INEI 2022</a:t>
            </a:r>
            <a:endParaRPr lang="en-US" sz="1100" dirty="0"/>
          </a:p>
        </p:txBody>
      </p:sp>
      <p:sp>
        <p:nvSpPr>
          <p:cNvPr id="24" name="tarjeta-70"/>
          <p:cNvSpPr/>
          <p:nvPr/>
        </p:nvSpPr>
        <p:spPr>
          <a:xfrm>
            <a:off x="6181344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5" name="texto-71"/>
          <p:cNvSpPr txBox="1"/>
          <p:nvPr/>
        </p:nvSpPr>
        <p:spPr>
          <a:xfrm>
            <a:off x="6409944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49.6 %</a:t>
            </a:r>
            <a:endParaRPr lang="en-US" sz="4000" dirty="0"/>
          </a:p>
        </p:txBody>
      </p:sp>
      <p:sp>
        <p:nvSpPr>
          <p:cNvPr id="26" name="texto-72"/>
          <p:cNvSpPr txBox="1"/>
          <p:nvPr/>
        </p:nvSpPr>
        <p:spPr>
          <a:xfrm>
            <a:off x="6409944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la matrícula de Lima es privada</a:t>
            </a:r>
            <a:endParaRPr lang="en-US" sz="1400" dirty="0"/>
          </a:p>
        </p:txBody>
      </p:sp>
      <p:sp>
        <p:nvSpPr>
          <p:cNvPr id="27" name="texto-73"/>
          <p:cNvSpPr txBox="1"/>
          <p:nvPr/>
        </p:nvSpPr>
        <p:spPr>
          <a:xfrm>
            <a:off x="6409944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Minedu 2024</a:t>
            </a:r>
            <a:endParaRPr lang="en-US" sz="1100" dirty="0"/>
          </a:p>
        </p:txBody>
      </p:sp>
      <p:sp>
        <p:nvSpPr>
          <p:cNvPr id="28" name="tarjeta-74"/>
          <p:cNvSpPr/>
          <p:nvPr/>
        </p:nvSpPr>
        <p:spPr>
          <a:xfrm>
            <a:off x="8997696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9" name="texto-75"/>
          <p:cNvSpPr txBox="1"/>
          <p:nvPr/>
        </p:nvSpPr>
        <p:spPr>
          <a:xfrm>
            <a:off x="9226296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39.5 %</a:t>
            </a:r>
            <a:endParaRPr lang="en-US" sz="4000" dirty="0"/>
          </a:p>
        </p:txBody>
      </p:sp>
      <p:sp>
        <p:nvSpPr>
          <p:cNvPr id="30" name="texto-76"/>
          <p:cNvSpPr txBox="1"/>
          <p:nvPr/>
        </p:nvSpPr>
        <p:spPr>
          <a:xfrm>
            <a:off x="9226296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hogares son "activos" en salud</a:t>
            </a:r>
            <a:endParaRPr lang="en-US" sz="1400" dirty="0"/>
          </a:p>
        </p:txBody>
      </p:sp>
      <p:sp>
        <p:nvSpPr>
          <p:cNvPr id="31" name="texto-77"/>
          <p:cNvSpPr txBox="1"/>
          <p:nvPr/>
        </p:nvSpPr>
        <p:spPr>
          <a:xfrm>
            <a:off x="9226296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Kantar 2025</a:t>
            </a:r>
            <a:endParaRPr lang="en-US" sz="11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INEI-RENIEC, Estadísticas vitales 2022; Minedu-ESCALE, Censo Educativo 2024; Kantar 2025; RM 195-2019-MINSA; DIGESA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solución: mini brownie con hierro medido</a:t>
            </a:r>
            <a:endParaRPr lang="en-US" sz="3200" dirty="0"/>
          </a:p>
        </p:txBody>
      </p:sp>
      <p:sp>
        <p:nvSpPr>
          <p:cNvPr id="3" name="tarjeta-78"/>
          <p:cNvSpPr/>
          <p:nvPr/>
        </p:nvSpPr>
        <p:spPr>
          <a:xfrm>
            <a:off x="548640" y="1325880"/>
            <a:ext cx="512064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4" name="img-mockup-solucion" descr="Empaque actual de AndiB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4846320" cy="3227832"/>
          </a:xfrm>
          <a:prstGeom prst="rect">
            <a:avLst/>
          </a:prstGeom>
        </p:spPr>
      </p:pic>
      <p:sp>
        <p:nvSpPr>
          <p:cNvPr id="5" name="texto-79"/>
          <p:cNvSpPr txBox="1"/>
          <p:nvPr/>
        </p:nvSpPr>
        <p:spPr>
          <a:xfrm>
            <a:off x="68580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(MVP), antes del rediseño 2.0</a:t>
            </a:r>
            <a:endParaRPr lang="en-US" sz="1100" dirty="0"/>
          </a:p>
        </p:txBody>
      </p:sp>
      <p:sp>
        <p:nvSpPr>
          <p:cNvPr id="6" name="texto-80"/>
          <p:cNvSpPr txBox="1"/>
          <p:nvPr/>
        </p:nvSpPr>
        <p:spPr>
          <a:xfrm>
            <a:off x="5989320" y="13258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Brownie húmedo de 20 g con sangrecita (hierro hemínico): sin frío y por WhatsApp.</a:t>
            </a:r>
            <a:endParaRPr lang="en-US" sz="1600" dirty="0"/>
          </a:p>
        </p:txBody>
      </p:sp>
      <p:sp>
        <p:nvSpPr>
          <p:cNvPr id="7" name="ficha-fe-81"/>
          <p:cNvSpPr/>
          <p:nvPr/>
        </p:nvSpPr>
        <p:spPr>
          <a:xfrm>
            <a:off x="10497312" y="1325880"/>
            <a:ext cx="1143000" cy="1143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fe-num-82"/>
          <p:cNvSpPr txBox="1"/>
          <p:nvPr/>
        </p:nvSpPr>
        <p:spPr>
          <a:xfrm>
            <a:off x="10611612" y="1405890"/>
            <a:ext cx="571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400" dirty="0"/>
          </a:p>
        </p:txBody>
      </p:sp>
      <p:sp>
        <p:nvSpPr>
          <p:cNvPr id="9" name="fe-sym-83"/>
          <p:cNvSpPr txBox="1"/>
          <p:nvPr/>
        </p:nvSpPr>
        <p:spPr>
          <a:xfrm>
            <a:off x="10497312" y="15316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4000" dirty="0"/>
          </a:p>
        </p:txBody>
      </p:sp>
      <p:sp>
        <p:nvSpPr>
          <p:cNvPr id="10" name="fe-cap-84"/>
          <p:cNvSpPr txBox="1"/>
          <p:nvPr/>
        </p:nvSpPr>
        <p:spPr>
          <a:xfrm>
            <a:off x="10497312" y="2160270"/>
            <a:ext cx="1143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~1.9 mg*</a:t>
            </a:r>
            <a:endParaRPr lang="en-US" sz="1200" dirty="0"/>
          </a:p>
        </p:txBody>
      </p:sp>
      <p:sp>
        <p:nvSpPr>
          <p:cNvPr id="11" name="sabor-85"/>
          <p:cNvSpPr/>
          <p:nvPr/>
        </p:nvSpPr>
        <p:spPr>
          <a:xfrm>
            <a:off x="5989320" y="268833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2" name="texto-86"/>
          <p:cNvSpPr txBox="1"/>
          <p:nvPr/>
        </p:nvSpPr>
        <p:spPr>
          <a:xfrm>
            <a:off x="6537960" y="2651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Clásico con chispas</a:t>
            </a:r>
            <a:endParaRPr lang="en-US" sz="1400" dirty="0"/>
          </a:p>
        </p:txBody>
      </p:sp>
      <p:sp>
        <p:nvSpPr>
          <p:cNvPr id="13" name="sabor-87"/>
          <p:cNvSpPr/>
          <p:nvPr/>
        </p:nvSpPr>
        <p:spPr>
          <a:xfrm>
            <a:off x="5989320" y="3255264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4" name="texto-88"/>
          <p:cNvSpPr txBox="1"/>
          <p:nvPr/>
        </p:nvSpPr>
        <p:spPr>
          <a:xfrm>
            <a:off x="6537960" y="32186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Choco, plátano, canela y cañihua</a:t>
            </a:r>
            <a:endParaRPr lang="en-US" sz="1400" dirty="0"/>
          </a:p>
        </p:txBody>
      </p:sp>
      <p:sp>
        <p:nvSpPr>
          <p:cNvPr id="15" name="sabor-89"/>
          <p:cNvSpPr/>
          <p:nvPr/>
        </p:nvSpPr>
        <p:spPr>
          <a:xfrm>
            <a:off x="5989320" y="382219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6" name="texto-90"/>
          <p:cNvSpPr txBox="1"/>
          <p:nvPr/>
        </p:nvSpPr>
        <p:spPr>
          <a:xfrm>
            <a:off x="6537960" y="3785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7" name="texto-91"/>
          <p:cNvSpPr txBox="1"/>
          <p:nvPr/>
        </p:nvSpPr>
        <p:spPr>
          <a:xfrm>
            <a:off x="598932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Azúcar total por 100 g</a:t>
            </a:r>
            <a:endParaRPr lang="en-US" sz="1200" dirty="0"/>
          </a:p>
        </p:txBody>
      </p:sp>
      <p:sp>
        <p:nvSpPr>
          <p:cNvPr id="18" name="barra-fondo"/>
          <p:cNvSpPr/>
          <p:nvPr/>
        </p:nvSpPr>
        <p:spPr>
          <a:xfrm>
            <a:off x="5989320" y="4800600"/>
            <a:ext cx="5486400" cy="329184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barra-rango"/>
          <p:cNvSpPr/>
          <p:nvPr/>
        </p:nvSpPr>
        <p:spPr>
          <a:xfrm>
            <a:off x="8092440" y="4800600"/>
            <a:ext cx="1143000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0" name="umbral"/>
          <p:cNvSpPr/>
          <p:nvPr/>
        </p:nvSpPr>
        <p:spPr>
          <a:xfrm>
            <a:off x="10561320" y="4690872"/>
            <a:ext cx="0" cy="548640"/>
          </a:xfrm>
          <a:prstGeom prst="line">
            <a:avLst/>
          </a:prstGeom>
          <a:noFill/>
          <a:ln w="31750">
            <a:solidFill>
              <a:schemeClr val="tx2"/>
            </a:solidFill>
            <a:prstDash val="dash"/>
          </a:ln>
        </p:spPr>
        <p:txBody>
          <a:bodyPr/>
          <a:p/>
        </p:txBody>
      </p:sp>
      <p:sp>
        <p:nvSpPr>
          <p:cNvPr id="21" name="texto-92"/>
          <p:cNvSpPr txBox="1"/>
          <p:nvPr/>
        </p:nvSpPr>
        <p:spPr>
          <a:xfrm>
            <a:off x="7909560" y="51846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4.6 a 7.1 g</a:t>
            </a:r>
            <a:endParaRPr lang="en-US" sz="1200" dirty="0"/>
          </a:p>
        </p:txBody>
      </p:sp>
      <p:sp>
        <p:nvSpPr>
          <p:cNvPr id="22" name="texto-93"/>
          <p:cNvSpPr txBox="1"/>
          <p:nvPr/>
        </p:nvSpPr>
        <p:spPr>
          <a:xfrm>
            <a:off x="8823960" y="5184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Umbral del octógono: 10 g</a:t>
            </a:r>
            <a:endParaRPr lang="en-US" sz="1200" dirty="0"/>
          </a:p>
        </p:txBody>
      </p:sp>
      <p:sp>
        <p:nvSpPr>
          <p:cNvPr id="23" name="texto-94"/>
          <p:cNvSpPr txBox="1"/>
          <p:nvPr/>
        </p:nvSpPr>
        <p:spPr>
          <a:xfrm>
            <a:off x="5989320" y="566928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*Cálculo de receta [HIPÓTESIS]; la etiqueta la fija el laboratorio.</a:t>
            </a:r>
            <a:endParaRPr lang="en-US" sz="10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(receta V-SO y plan comercial); umbral de azúcar de la Ley 30021 y su manual de advertencias.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Lo que validamos: cuatro capas de evidencia</a:t>
            </a:r>
            <a:endParaRPr lang="en-US" sz="3200" dirty="0"/>
          </a:p>
        </p:txBody>
      </p:sp>
      <p:sp>
        <p:nvSpPr>
          <p:cNvPr id="3" name="tarjeta-95"/>
          <p:cNvSpPr/>
          <p:nvPr/>
        </p:nvSpPr>
        <p:spPr>
          <a:xfrm>
            <a:off x="548640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96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o-97"/>
          <p:cNvSpPr txBox="1"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10 entrevistas a profundidad</a:t>
            </a:r>
            <a:endParaRPr lang="en-US" sz="1500" dirty="0"/>
          </a:p>
        </p:txBody>
      </p:sp>
      <p:sp>
        <p:nvSpPr>
          <p:cNvPr id="6" name="texto-98"/>
          <p:cNvSpPr txBox="1"/>
          <p:nvPr/>
        </p:nvSpPr>
        <p:spPr>
          <a:xfrm>
            <a:off x="73152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necesidad</a:t>
            </a:r>
            <a:endParaRPr lang="en-US" sz="1200" dirty="0"/>
          </a:p>
        </p:txBody>
      </p:sp>
      <p:sp>
        <p:nvSpPr>
          <p:cNvPr id="7" name="texto-99"/>
          <p:cNvSpPr txBox="1"/>
          <p:nvPr/>
        </p:nvSpPr>
        <p:spPr>
          <a:xfrm>
            <a:off x="73152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intacto; la barrera es sensorial y la mañana, el momento de dolor.</a:t>
            </a:r>
            <a:endParaRPr lang="en-US" sz="1200" dirty="0"/>
          </a:p>
        </p:txBody>
      </p:sp>
      <p:sp>
        <p:nvSpPr>
          <p:cNvPr id="8" name="texto-100"/>
          <p:cNvSpPr txBox="1"/>
          <p:nvPr/>
        </p:nvSpPr>
        <p:spPr>
          <a:xfrm>
            <a:off x="73152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para la categoría</a:t>
            </a:r>
            <a:endParaRPr lang="en-US" sz="1100" dirty="0"/>
          </a:p>
        </p:txBody>
      </p:sp>
      <p:sp>
        <p:nvSpPr>
          <p:cNvPr id="9" name="tarjeta-101"/>
          <p:cNvSpPr/>
          <p:nvPr/>
        </p:nvSpPr>
        <p:spPr>
          <a:xfrm>
            <a:off x="3364992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circulo-102"/>
          <p:cNvSpPr/>
          <p:nvPr/>
        </p:nvSpPr>
        <p:spPr>
          <a:xfrm>
            <a:off x="3547872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o-103"/>
          <p:cNvSpPr txBox="1"/>
          <p:nvPr/>
        </p:nvSpPr>
        <p:spPr>
          <a:xfrm>
            <a:off x="354787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1 (virtual)</a:t>
            </a:r>
            <a:endParaRPr lang="en-US" sz="1500" dirty="0"/>
          </a:p>
        </p:txBody>
      </p:sp>
      <p:sp>
        <p:nvSpPr>
          <p:cNvPr id="12" name="texto-104"/>
          <p:cNvSpPr txBox="1"/>
          <p:nvPr/>
        </p:nvSpPr>
        <p:spPr>
          <a:xfrm>
            <a:off x="3547872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Formato y camuflaje</a:t>
            </a:r>
            <a:endParaRPr lang="en-US" sz="1200" dirty="0"/>
          </a:p>
        </p:txBody>
      </p:sp>
      <p:sp>
        <p:nvSpPr>
          <p:cNvPr id="13" name="texto-105"/>
          <p:cNvSpPr txBox="1"/>
          <p:nvPr/>
        </p:nvSpPr>
        <p:spPr>
          <a:xfrm>
            <a:off x="3547872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 de 5 eligieron el brownie; la sangrecita se acepta escondida en chocolate.</a:t>
            </a:r>
            <a:endParaRPr lang="en-US" sz="1200" dirty="0"/>
          </a:p>
        </p:txBody>
      </p:sp>
      <p:sp>
        <p:nvSpPr>
          <p:cNvPr id="14" name="texto-106"/>
          <p:cNvSpPr txBox="1"/>
          <p:nvPr/>
        </p:nvSpPr>
        <p:spPr>
          <a:xfrm>
            <a:off x="3547872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como concepto</a:t>
            </a:r>
            <a:endParaRPr lang="en-US" sz="1100" dirty="0"/>
          </a:p>
        </p:txBody>
      </p:sp>
      <p:sp>
        <p:nvSpPr>
          <p:cNvPr id="15" name="tarjeta-107"/>
          <p:cNvSpPr/>
          <p:nvPr/>
        </p:nvSpPr>
        <p:spPr>
          <a:xfrm>
            <a:off x="6181344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108"/>
          <p:cNvSpPr/>
          <p:nvPr/>
        </p:nvSpPr>
        <p:spPr>
          <a:xfrm>
            <a:off x="6364224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o-109"/>
          <p:cNvSpPr txBox="1"/>
          <p:nvPr/>
        </p:nvSpPr>
        <p:spPr>
          <a:xfrm>
            <a:off x="6364224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2 con degustación</a:t>
            </a:r>
            <a:endParaRPr lang="en-US" sz="1500" dirty="0"/>
          </a:p>
        </p:txBody>
      </p:sp>
      <p:sp>
        <p:nvSpPr>
          <p:cNvPr id="18" name="texto-110"/>
          <p:cNvSpPr txBox="1"/>
          <p:nvPr/>
        </p:nvSpPr>
        <p:spPr>
          <a:xfrm>
            <a:off x="6364224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nombre y precio</a:t>
            </a:r>
            <a:endParaRPr lang="en-US" sz="1200" dirty="0"/>
          </a:p>
        </p:txBody>
      </p:sp>
      <p:sp>
        <p:nvSpPr>
          <p:cNvPr id="19" name="texto-111"/>
          <p:cNvSpPr txBox="1"/>
          <p:nvPr/>
        </p:nvSpPr>
        <p:spPr>
          <a:xfrm>
            <a:off x="6364224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Agrado (1 a 5):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Detectaron la sangrecita: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 del pack de 6: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0" name="texto-112"/>
          <p:cNvSpPr txBox="1"/>
          <p:nvPr/>
        </p:nvSpPr>
        <p:spPr>
          <a:xfrm>
            <a:off x="6364224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resultados por cargar</a:t>
            </a:r>
            <a:endParaRPr lang="en-US" sz="1100" dirty="0"/>
          </a:p>
        </p:txBody>
      </p:sp>
      <p:sp>
        <p:nvSpPr>
          <p:cNvPr id="21" name="tarjeta-113"/>
          <p:cNvSpPr/>
          <p:nvPr/>
        </p:nvSpPr>
        <p:spPr>
          <a:xfrm>
            <a:off x="8997696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circulo-114"/>
          <p:cNvSpPr/>
          <p:nvPr/>
        </p:nvSpPr>
        <p:spPr>
          <a:xfrm>
            <a:off x="9180576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o-115"/>
          <p:cNvSpPr txBox="1"/>
          <p:nvPr/>
        </p:nvSpPr>
        <p:spPr>
          <a:xfrm>
            <a:off x="9180576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Store check (La Molina)</a:t>
            </a:r>
            <a:endParaRPr lang="en-US" sz="1500" dirty="0"/>
          </a:p>
        </p:txBody>
      </p:sp>
      <p:sp>
        <p:nvSpPr>
          <p:cNvPr id="24" name="texto-116"/>
          <p:cNvSpPr txBox="1"/>
          <p:nvPr/>
        </p:nvSpPr>
        <p:spPr>
          <a:xfrm>
            <a:off x="9180576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Precios de la competencia</a:t>
            </a:r>
            <a:endParaRPr lang="en-US" sz="1200" dirty="0"/>
          </a:p>
        </p:txBody>
      </p:sp>
      <p:sp>
        <p:nvSpPr>
          <p:cNvPr id="25" name="texto-117"/>
          <p:cNvSpPr txBox="1"/>
          <p:nvPr/>
        </p:nvSpPr>
        <p:spPr>
          <a:xfrm>
            <a:off x="9180576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línea, por 20 g: Nutri H S/3.20, Fika S/4.00, Mamalama S/4.10.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Góndola: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6" name="texto-118"/>
          <p:cNvSpPr txBox="1"/>
          <p:nvPr/>
        </p:nvSpPr>
        <p:spPr>
          <a:xfrm>
            <a:off x="9180576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completar tabla de campo</a:t>
            </a:r>
            <a:endParaRPr lang="en-US" sz="1100" dirty="0"/>
          </a:p>
        </p:txBody>
      </p:sp>
      <p:sp>
        <p:nvSpPr>
          <p:cNvPr id="27" name="tarjeta-119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8" name="texto-120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Falta validar: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versión sin octógono con 20 niños por sabor (meta: 75 % en caritas 4 y 5) · precio de S/4.50 con 30 padres · maquila a S/0.50 o menos.</a:t>
            </a:r>
            <a:endParaRPr lang="en-US" sz="13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entrevistas, focus 1 y 2 y store check (elaboración propia, set.-oct. 2026); precios en línea al 03/10/2026.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Público objetivo: un nicho concentrado y suficiente</a:t>
            </a:r>
            <a:endParaRPr lang="en-US" sz="3200" dirty="0"/>
          </a:p>
        </p:txBody>
      </p:sp>
      <p:sp>
        <p:nvSpPr>
          <p:cNvPr id="3" name="texto-121"/>
          <p:cNvSpPr txBox="1"/>
          <p:nvPr/>
        </p:nvSpPr>
        <p:spPr>
          <a:xfrm>
            <a:off x="548640" y="13990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TAM</a:t>
            </a:r>
            <a:endParaRPr lang="en-US" sz="1800" dirty="0"/>
          </a:p>
        </p:txBody>
      </p:sp>
      <p:sp>
        <p:nvSpPr>
          <p:cNvPr id="4" name="embudo-122"/>
          <p:cNvSpPr/>
          <p:nvPr/>
        </p:nvSpPr>
        <p:spPr>
          <a:xfrm>
            <a:off x="1691640" y="1325880"/>
            <a:ext cx="640080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123"/>
          <p:cNvSpPr txBox="1"/>
          <p:nvPr/>
        </p:nvSpPr>
        <p:spPr>
          <a:xfrm>
            <a:off x="1828800" y="13258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932,000 hogares · S/130.9 M</a:t>
            </a:r>
            <a:endParaRPr lang="en-US" sz="1800" dirty="0"/>
          </a:p>
        </p:txBody>
      </p:sp>
      <p:sp>
        <p:nvSpPr>
          <p:cNvPr id="6" name="texto-124"/>
          <p:cNvSpPr txBox="1"/>
          <p:nvPr/>
        </p:nvSpPr>
        <p:spPr>
          <a:xfrm>
            <a:off x="1691640" y="20208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1,212,000 niños de 4 a 11 en Lima y Callao, precio masivo</a:t>
            </a:r>
            <a:endParaRPr lang="en-US" sz="1200" dirty="0"/>
          </a:p>
        </p:txBody>
      </p:sp>
      <p:sp>
        <p:nvSpPr>
          <p:cNvPr id="7" name="texto-125"/>
          <p:cNvSpPr txBox="1"/>
          <p:nvPr/>
        </p:nvSpPr>
        <p:spPr>
          <a:xfrm>
            <a:off x="548640" y="26151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embudo-126"/>
          <p:cNvSpPr/>
          <p:nvPr/>
        </p:nvSpPr>
        <p:spPr>
          <a:xfrm>
            <a:off x="1691640" y="2542032"/>
            <a:ext cx="5120640" cy="658368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9" name="texto-127"/>
          <p:cNvSpPr txBox="1"/>
          <p:nvPr/>
        </p:nvSpPr>
        <p:spPr>
          <a:xfrm>
            <a:off x="1828800" y="254203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168,000 hogares · S/62.8 M</a:t>
            </a:r>
            <a:endParaRPr lang="en-US" sz="1800" dirty="0"/>
          </a:p>
        </p:txBody>
      </p:sp>
      <p:sp>
        <p:nvSpPr>
          <p:cNvPr id="10" name="texto-128"/>
          <p:cNvSpPr txBox="1"/>
          <p:nvPr/>
        </p:nvSpPr>
        <p:spPr>
          <a:xfrm>
            <a:off x="1691640" y="32369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NSE A/B: 218,000 niños de 4 a 11 en Lima</a:t>
            </a:r>
            <a:endParaRPr lang="en-US" sz="1200" dirty="0"/>
          </a:p>
        </p:txBody>
      </p:sp>
      <p:sp>
        <p:nvSpPr>
          <p:cNvPr id="11" name="texto-129"/>
          <p:cNvSpPr txBox="1"/>
          <p:nvPr/>
        </p:nvSpPr>
        <p:spPr>
          <a:xfrm>
            <a:off x="548640" y="38313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Núcleo</a:t>
            </a:r>
            <a:endParaRPr lang="en-US" sz="1800" dirty="0"/>
          </a:p>
        </p:txBody>
      </p:sp>
      <p:sp>
        <p:nvSpPr>
          <p:cNvPr id="12" name="embudo-130"/>
          <p:cNvSpPr/>
          <p:nvPr/>
        </p:nvSpPr>
        <p:spPr>
          <a:xfrm>
            <a:off x="1691640" y="3758184"/>
            <a:ext cx="3840480" cy="658368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exto-131"/>
          <p:cNvSpPr txBox="1"/>
          <p:nvPr/>
        </p:nvSpPr>
        <p:spPr>
          <a:xfrm>
            <a:off x="1828800" y="375818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46,000 hogares · S/17.3 M</a:t>
            </a:r>
            <a:endParaRPr lang="en-US" sz="1800" dirty="0"/>
          </a:p>
        </p:txBody>
      </p:sp>
      <p:sp>
        <p:nvSpPr>
          <p:cNvPr id="14" name="texto-132"/>
          <p:cNvSpPr txBox="1"/>
          <p:nvPr/>
        </p:nvSpPr>
        <p:spPr>
          <a:xfrm>
            <a:off x="1691640" y="4453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Lima Top y Lima Moderna: 60,000 niños</a:t>
            </a:r>
            <a:endParaRPr lang="en-US" sz="1200" dirty="0"/>
          </a:p>
        </p:txBody>
      </p:sp>
      <p:sp>
        <p:nvSpPr>
          <p:cNvPr id="15" name="texto-133"/>
          <p:cNvSpPr txBox="1"/>
          <p:nvPr/>
        </p:nvSpPr>
        <p:spPr>
          <a:xfrm>
            <a:off x="548640" y="50474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SOM</a:t>
            </a:r>
            <a:endParaRPr lang="en-US" sz="1800" dirty="0"/>
          </a:p>
        </p:txBody>
      </p:sp>
      <p:sp>
        <p:nvSpPr>
          <p:cNvPr id="16" name="embudo-134"/>
          <p:cNvSpPr/>
          <p:nvPr/>
        </p:nvSpPr>
        <p:spPr>
          <a:xfrm>
            <a:off x="1691640" y="4974336"/>
            <a:ext cx="2560320" cy="658368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7" name="texto-135"/>
          <p:cNvSpPr txBox="1"/>
          <p:nvPr/>
        </p:nvSpPr>
        <p:spPr>
          <a:xfrm>
            <a:off x="1828800" y="49743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700 hogares · 75,600 u</a:t>
            </a:r>
            <a:endParaRPr lang="en-US" sz="1800" dirty="0"/>
          </a:p>
        </p:txBody>
      </p:sp>
      <p:sp>
        <p:nvSpPr>
          <p:cNvPr id="18" name="texto-136"/>
          <p:cNvSpPr txBox="1"/>
          <p:nvPr/>
        </p:nvSpPr>
        <p:spPr>
          <a:xfrm>
            <a:off x="169164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1.5 % del núcleo</a:t>
            </a:r>
            <a:endParaRPr lang="en-US" sz="1200" dirty="0"/>
          </a:p>
        </p:txBody>
      </p:sp>
      <p:sp>
        <p:nvSpPr>
          <p:cNvPr id="19" name="tarjeta-137"/>
          <p:cNvSpPr/>
          <p:nvPr/>
        </p:nvSpPr>
        <p:spPr>
          <a:xfrm>
            <a:off x="8366760" y="1325880"/>
            <a:ext cx="3273552" cy="4800600"/>
          </a:xfrm>
          <a:prstGeom prst="roundRect">
            <a:avLst>
              <a:gd name="adj" fmla="val 33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138"/>
          <p:cNvSpPr txBox="1"/>
          <p:nvPr/>
        </p:nvSpPr>
        <p:spPr>
          <a:xfrm>
            <a:off x="859536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706,053</a:t>
            </a:r>
            <a:endParaRPr lang="en-US" sz="4000" dirty="0"/>
          </a:p>
        </p:txBody>
      </p:sp>
      <p:sp>
        <p:nvSpPr>
          <p:cNvPr id="21" name="texto-139"/>
          <p:cNvSpPr txBox="1"/>
          <p:nvPr/>
        </p:nvSpPr>
        <p:spPr>
          <a:xfrm>
            <a:off x="8595360" y="2194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hogares A/B en Lima y Callao (21.0 %)</a:t>
            </a:r>
            <a:endParaRPr lang="en-US" sz="1300" dirty="0"/>
          </a:p>
        </p:txBody>
      </p:sp>
      <p:sp>
        <p:nvSpPr>
          <p:cNvPr id="22" name="texto-140"/>
          <p:cNvSpPr txBox="1"/>
          <p:nvPr/>
        </p:nvSpPr>
        <p:spPr>
          <a:xfrm>
            <a:off x="8595360" y="2971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Padres conscientes y planificados</a:t>
            </a:r>
            <a:endParaRPr lang="en-US" sz="1700" dirty="0"/>
          </a:p>
        </p:txBody>
      </p:sp>
      <p:sp>
        <p:nvSpPr>
          <p:cNvPr id="23" name="texto-141"/>
          <p:cNvSpPr txBox="1"/>
          <p:nvPr/>
        </p:nvSpPr>
        <p:spPr>
          <a:xfrm>
            <a:off x="8595360" y="37033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32 a 45 años, NSE A2, B1 y B2 alto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Hijo de 4 a 11 en colegio privado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Leen etiquetas y pagan por evidencia</a:t>
            </a:r>
            <a:endParaRPr lang="en-US" sz="13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 (ENAHO 2024); CPI 2026; INEI, Censo 2025 (ajuste de −5 %); Kantar 2025; elaboración propia (TAM, SAM, SOM).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Buyer persona: Claudia y Rodrigo</a:t>
            </a:r>
            <a:endParaRPr lang="en-US" sz="3200" dirty="0"/>
          </a:p>
        </p:txBody>
      </p:sp>
      <p:sp>
        <p:nvSpPr>
          <p:cNvPr id="5" name="tarjeta-142"/>
          <p:cNvSpPr/>
          <p:nvPr/>
        </p:nvSpPr>
        <p:spPr>
          <a:xfrm>
            <a:off x="7981878" y="1234440"/>
            <a:ext cx="3661177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o-143"/>
          <p:cNvSpPr txBox="1"/>
          <p:nvPr/>
        </p:nvSpPr>
        <p:spPr>
          <a:xfrm>
            <a:off x="8210478" y="1371600"/>
            <a:ext cx="320397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“Yo sé lo que le falta a mi hijo; el problema es que todo lo que le falta, él lo escupe.”</a:t>
            </a:r>
            <a:endParaRPr lang="en-US" sz="1700" dirty="0"/>
          </a:p>
        </p:txBody>
      </p:sp>
      <p:sp>
        <p:nvSpPr>
          <p:cNvPr id="7" name="texto-144"/>
          <p:cNvSpPr txBox="1"/>
          <p:nvPr/>
        </p:nvSpPr>
        <p:spPr>
          <a:xfrm>
            <a:off x="8210478" y="2880360"/>
            <a:ext cx="32039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Claudia, 38, San Borja</a:t>
            </a:r>
            <a:endParaRPr lang="en-US" sz="1200" dirty="0"/>
          </a:p>
        </p:txBody>
      </p:sp>
      <p:sp>
        <p:nvSpPr>
          <p:cNvPr id="8" name="texto-145"/>
          <p:cNvSpPr txBox="1"/>
          <p:nvPr/>
        </p:nvSpPr>
        <p:spPr>
          <a:xfrm>
            <a:off x="7981878" y="3566160"/>
            <a:ext cx="36611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adulto paga y el niño aprueba: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pedido del niño no hay recompra.</a:t>
            </a:r>
            <a:endParaRPr lang="en-US" sz="1400" dirty="0"/>
          </a:p>
        </p:txBody>
      </p:sp>
      <p:sp>
        <p:nvSpPr>
          <p:cNvPr id="9" name="texto-146"/>
          <p:cNvSpPr txBox="1"/>
          <p:nvPr/>
        </p:nvSpPr>
        <p:spPr>
          <a:xfrm>
            <a:off x="7981878" y="4206240"/>
            <a:ext cx="366117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30+ (INEI 2022)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53.6 %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del NSE A compra por internet (APEIM 2025)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INEI-RENIEC, Estadísticas vitales 2022; entrevistas y focus 1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6" name="Picture 25" descr="ficha_claud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3419439" cy="4937760"/>
          </a:xfrm>
          <a:prstGeom prst="rect">
            <a:avLst/>
          </a:prstGeom>
        </p:spPr>
      </p:pic>
      <p:pic>
        <p:nvPicPr>
          <p:cNvPr id="27" name="Picture 26" descr="ficha_rodri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399" y="1234440"/>
            <a:ext cx="3419439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2400" dirty="0"/>
          </a:p>
        </p:txBody>
      </p:sp>
      <p:sp>
        <p:nvSpPr>
          <p:cNvPr id="3" name="texto-148"/>
          <p:cNvSpPr txBox="1"/>
          <p:nvPr/>
        </p:nvSpPr>
        <p:spPr>
          <a:xfrm>
            <a:off x="548640" y="1371600"/>
            <a:ext cx="8778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medido, sabor a brownie: el snack de lonchera que tu hijo sí se come y que tú sí puedes leer.</a:t>
            </a:r>
            <a:endParaRPr lang="en-US" sz="4200" dirty="0"/>
          </a:p>
        </p:txBody>
      </p:sp>
      <p:sp>
        <p:nvSpPr>
          <p:cNvPr id="4" name="ficha-fe-149"/>
          <p:cNvSpPr/>
          <p:nvPr/>
        </p:nvSpPr>
        <p:spPr>
          <a:xfrm>
            <a:off x="9966960" y="1737360"/>
            <a:ext cx="1600200" cy="1600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5" name="fe-num-150"/>
          <p:cNvSpPr txBox="1"/>
          <p:nvPr/>
        </p:nvSpPr>
        <p:spPr>
          <a:xfrm>
            <a:off x="10126980" y="1849374"/>
            <a:ext cx="8001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900" dirty="0"/>
          </a:p>
        </p:txBody>
      </p:sp>
      <p:sp>
        <p:nvSpPr>
          <p:cNvPr id="6" name="fe-sym-151"/>
          <p:cNvSpPr txBox="1"/>
          <p:nvPr/>
        </p:nvSpPr>
        <p:spPr>
          <a:xfrm>
            <a:off x="9966960" y="2025396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5600" dirty="0"/>
          </a:p>
        </p:txBody>
      </p:sp>
      <p:sp>
        <p:nvSpPr>
          <p:cNvPr id="7" name="fe-cap-152"/>
          <p:cNvSpPr txBox="1"/>
          <p:nvPr/>
        </p:nvSpPr>
        <p:spPr>
          <a:xfrm>
            <a:off x="9966960" y="2905506"/>
            <a:ext cx="16002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1700" dirty="0"/>
          </a:p>
        </p:txBody>
      </p:sp>
      <p:sp>
        <p:nvSpPr>
          <p:cNvPr id="8" name="pv-30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6E1622"/>
          </a:solidFill>
          <a:ln/>
        </p:spPr>
        <p:txBody>
          <a:bodyPr/>
          <a:p/>
        </p:txBody>
      </p:sp>
      <p:sp>
        <p:nvSpPr>
          <p:cNvPr id="9" name="texto-153"/>
          <p:cNvSpPr txBox="1"/>
          <p:nvPr/>
        </p:nvSpPr>
        <p:spPr>
          <a:xfrm>
            <a:off x="868680" y="4617720"/>
            <a:ext cx="10454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30 palabras: </a:t>
            </a:r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para padres planificados que leen etiquetas, AndiBite es el mini brownie de 20 g con sangrecita: hierro medido en laboratorio, cero octógonos y tres sabores que el niño sí pide.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propia, a partir de 10 entrevistas, focus 1 y 2 y datos de Kantar 2025 e Ipsos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Value Proposition Canvas</a:t>
            </a:r>
            <a:endParaRPr lang="en-US" sz="3200" dirty="0"/>
          </a:p>
        </p:txBody>
      </p:sp>
      <p:sp>
        <p:nvSpPr>
          <p:cNvPr id="3" name="tarjeta-154"/>
          <p:cNvSpPr/>
          <p:nvPr/>
        </p:nvSpPr>
        <p:spPr>
          <a:xfrm>
            <a:off x="548640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arjeta-155"/>
          <p:cNvSpPr/>
          <p:nvPr/>
        </p:nvSpPr>
        <p:spPr>
          <a:xfrm>
            <a:off x="6385255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icono-mapa"/>
          <p:cNvSpPr/>
          <p:nvPr/>
        </p:nvSpPr>
        <p:spPr>
          <a:xfrm>
            <a:off x="777240" y="1371600"/>
            <a:ext cx="3840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o-156"/>
          <p:cNvSpPr txBox="1"/>
          <p:nvPr/>
        </p:nvSpPr>
        <p:spPr>
          <a:xfrm>
            <a:off x="1280160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Mapa de valor (AndiBite)</a:t>
            </a:r>
            <a:endParaRPr lang="en-US" sz="1800" dirty="0"/>
          </a:p>
        </p:txBody>
      </p:sp>
      <p:sp>
        <p:nvSpPr>
          <p:cNvPr id="7" name="icono-perfil"/>
          <p:cNvSpPr/>
          <p:nvPr/>
        </p:nvSpPr>
        <p:spPr>
          <a:xfrm>
            <a:off x="6613855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o-157"/>
          <p:cNvSpPr txBox="1"/>
          <p:nvPr/>
        </p:nvSpPr>
        <p:spPr>
          <a:xfrm>
            <a:off x="7116775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Perfil del cliente (padres A/B)</a:t>
            </a:r>
            <a:endParaRPr lang="en-US" sz="1800" dirty="0"/>
          </a:p>
        </p:txBody>
      </p:sp>
      <p:sp>
        <p:nvSpPr>
          <p:cNvPr id="9" name="vpc-etq-158"/>
          <p:cNvSpPr/>
          <p:nvPr/>
        </p:nvSpPr>
        <p:spPr>
          <a:xfrm>
            <a:off x="731520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o-159"/>
          <p:cNvSpPr txBox="1"/>
          <p:nvPr/>
        </p:nvSpPr>
        <p:spPr>
          <a:xfrm>
            <a:off x="804672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Productos y servicios</a:t>
            </a:r>
            <a:endParaRPr lang="en-US" sz="1300" dirty="0"/>
          </a:p>
        </p:txBody>
      </p:sp>
      <p:sp>
        <p:nvSpPr>
          <p:cNvPr id="11" name="texto-160"/>
          <p:cNvSpPr txBox="1"/>
          <p:nvPr/>
        </p:nvSpPr>
        <p:spPr>
          <a:xfrm>
            <a:off x="2194560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(S/27), pack de 12 (S/49) y caja degustación (S/13.50)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sabores en el mismo pack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Suscripción por WhatsApp con rutas martes y viernes</a:t>
            </a:r>
            <a:endParaRPr lang="en-US" sz="1150" dirty="0"/>
          </a:p>
        </p:txBody>
      </p:sp>
      <p:sp>
        <p:nvSpPr>
          <p:cNvPr id="12" name="vpc-etq-161"/>
          <p:cNvSpPr/>
          <p:nvPr/>
        </p:nvSpPr>
        <p:spPr>
          <a:xfrm>
            <a:off x="6568135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3" name="texto-162"/>
          <p:cNvSpPr txBox="1"/>
          <p:nvPr/>
        </p:nvSpPr>
        <p:spPr>
          <a:xfrm>
            <a:off x="6641287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Trabajos</a:t>
            </a:r>
            <a:endParaRPr lang="en-US" sz="1300" dirty="0"/>
          </a:p>
        </p:txBody>
      </p:sp>
      <p:sp>
        <p:nvSpPr>
          <p:cNvPr id="14" name="texto-163"/>
          <p:cNvSpPr txBox="1"/>
          <p:nvPr/>
        </p:nvSpPr>
        <p:spPr>
          <a:xfrm>
            <a:off x="8031175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Darle hierro al hijo sin pelear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Armar una lonchera variada en minutos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Cumplir la lonchera saludable del colegio y sentirse buen padre</a:t>
            </a:r>
            <a:endParaRPr lang="en-US" sz="1150" dirty="0"/>
          </a:p>
        </p:txBody>
      </p:sp>
      <p:sp>
        <p:nvSpPr>
          <p:cNvPr id="15" name="encaje-164"/>
          <p:cNvSpPr/>
          <p:nvPr/>
        </p:nvSpPr>
        <p:spPr>
          <a:xfrm>
            <a:off x="5861304" y="23774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6" name="vpc-etq-165"/>
          <p:cNvSpPr/>
          <p:nvPr/>
        </p:nvSpPr>
        <p:spPr>
          <a:xfrm>
            <a:off x="731520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7" name="texto-166"/>
          <p:cNvSpPr txBox="1"/>
          <p:nvPr/>
        </p:nvSpPr>
        <p:spPr>
          <a:xfrm>
            <a:off x="804672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Aliviadores de dolor</a:t>
            </a:r>
            <a:endParaRPr lang="en-US" sz="1300" dirty="0"/>
          </a:p>
        </p:txBody>
      </p:sp>
      <p:sp>
        <p:nvSpPr>
          <p:cNvPr id="18" name="texto-167"/>
          <p:cNvSpPr txBox="1"/>
          <p:nvPr/>
        </p:nvSpPr>
        <p:spPr>
          <a:xfrm>
            <a:off x="2194560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Cacao y canela esconden la sangrecita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RS, lote y vencimiento visibles; porción sellada sin frío</a:t>
            </a:r>
            <a:endParaRPr lang="en-US" sz="1150" dirty="0"/>
          </a:p>
        </p:txBody>
      </p:sp>
      <p:sp>
        <p:nvSpPr>
          <p:cNvPr id="19" name="vpc-etq-168"/>
          <p:cNvSpPr/>
          <p:nvPr/>
        </p:nvSpPr>
        <p:spPr>
          <a:xfrm>
            <a:off x="6568135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0" name="texto-169"/>
          <p:cNvSpPr txBox="1"/>
          <p:nvPr/>
        </p:nvSpPr>
        <p:spPr>
          <a:xfrm>
            <a:off x="6641287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Dolores</a:t>
            </a:r>
            <a:endParaRPr lang="en-US" sz="1300" dirty="0"/>
          </a:p>
        </p:txBody>
      </p:sp>
      <p:sp>
        <p:nvSpPr>
          <p:cNvPr id="21" name="texto-170"/>
          <p:cNvSpPr txBox="1"/>
          <p:nvPr/>
        </p:nvSpPr>
        <p:spPr>
          <a:xfrm>
            <a:off x="8031175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sangrecita visible se rechaza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70 % teme el "Alto en azúcar"; 42 % desconfía de lo envasado</a:t>
            </a:r>
            <a:endParaRPr lang="en-US" sz="1150" dirty="0"/>
          </a:p>
        </p:txBody>
      </p:sp>
      <p:sp>
        <p:nvSpPr>
          <p:cNvPr id="22" name="encaje-171"/>
          <p:cNvSpPr/>
          <p:nvPr/>
        </p:nvSpPr>
        <p:spPr>
          <a:xfrm>
            <a:off x="5861304" y="37490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3" name="vpc-etq-172"/>
          <p:cNvSpPr/>
          <p:nvPr/>
        </p:nvSpPr>
        <p:spPr>
          <a:xfrm>
            <a:off x="731520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texto-173"/>
          <p:cNvSpPr txBox="1"/>
          <p:nvPr/>
        </p:nvSpPr>
        <p:spPr>
          <a:xfrm>
            <a:off x="804672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Creadores de alegría</a:t>
            </a:r>
            <a:endParaRPr lang="en-US" sz="1300" dirty="0"/>
          </a:p>
        </p:txBody>
      </p:sp>
      <p:sp>
        <p:nvSpPr>
          <p:cNvPr id="25" name="texto-174"/>
          <p:cNvSpPr txBox="1"/>
          <p:nvPr/>
        </p:nvSpPr>
        <p:spPr>
          <a:xfrm>
            <a:off x="2194560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niño pide su sabor: "¡quiero Chispa!"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Hierro en mg en el frente y QR al informe del lote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Calendario de lonchera en la caja de 12</a:t>
            </a:r>
            <a:endParaRPr lang="en-US" sz="1150" dirty="0"/>
          </a:p>
        </p:txBody>
      </p:sp>
      <p:sp>
        <p:nvSpPr>
          <p:cNvPr id="26" name="vpc-etq-175"/>
          <p:cNvSpPr/>
          <p:nvPr/>
        </p:nvSpPr>
        <p:spPr>
          <a:xfrm>
            <a:off x="6568135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7" name="texto-176"/>
          <p:cNvSpPr txBox="1"/>
          <p:nvPr/>
        </p:nvSpPr>
        <p:spPr>
          <a:xfrm>
            <a:off x="6641287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Alegrías</a:t>
            </a:r>
            <a:endParaRPr lang="en-US" sz="1300" dirty="0"/>
          </a:p>
        </p:txBody>
      </p:sp>
      <p:sp>
        <p:nvSpPr>
          <p:cNvPr id="28" name="texto-177"/>
          <p:cNvSpPr txBox="1"/>
          <p:nvPr/>
        </p:nvSpPr>
        <p:spPr>
          <a:xfrm>
            <a:off x="8031175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el niño lo pida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 el dato, no la promesa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complemente lo que ya hace y sea de origen peruano</a:t>
            </a:r>
            <a:endParaRPr lang="en-US" sz="1150" dirty="0"/>
          </a:p>
        </p:txBody>
      </p:sp>
      <p:sp>
        <p:nvSpPr>
          <p:cNvPr id="29" name="encaje-178"/>
          <p:cNvSpPr/>
          <p:nvPr/>
        </p:nvSpPr>
        <p:spPr>
          <a:xfrm>
            <a:off x="5861304" y="51206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Kantar 2025; 10 entrevistas y focus 1 (elaboración propia); plan comercial (precios).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Diferenciadores frente a la competencia</a:t>
            </a:r>
            <a:endParaRPr lang="en-US" sz="3200" dirty="0"/>
          </a:p>
        </p:txBody>
      </p:sp>
      <p:graphicFrame>
        <p:nvGraphicFramePr>
          <p:cNvPr id="12" name="tabla-competenci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50592"/>
                <a:gridCol w="1828800"/>
                <a:gridCol w="1828800"/>
                <a:gridCol w="1783080"/>
                <a:gridCol w="1785823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Atributo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Nutri H (galleta)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Fika (brownie de quinua)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Mamalama (barra)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Barrita de cereal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por 20 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S/4.50 (S/4.08 en pack de 12)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S/4.10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S/2.00 a 2.50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Hierro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Hemínico, ~1.9 mg por unidad, publicado por lote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Hemoglobina bovina; mg por confirmar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hemínico o ninguno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Octógono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(confirmar en laboratorio)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(alulosa)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Varía: 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Sabores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 en el mismo pack, más 2 de temporada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Clásica y vegetarianas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Canal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IG con delivery, quioscos, ferias y 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desde Ayacucho y puntos en Lima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con delivery en 24 h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Góndola de Wong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 y bodega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179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texto-180"/>
          <p:cNvSpPr txBox="1"/>
          <p:nvPr/>
        </p:nvSpPr>
        <p:spPr>
          <a:xfrm>
            <a:off x="822960" y="53035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Lectura: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premio de 41 % sobre Nutri H y de 10 a 13 % sobre Fika y Mamalama, sostenido por hierro medido, cero octógonos y entrega en casa.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páginas web de Nutri H, Fika, Wong y Plaza Vea (03/10/2026); store check La Molina; elaboración propia. ~1.9 mg = [HIPÓTESIS].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bmc-bloque-181"/>
          <p:cNvSpPr/>
          <p:nvPr/>
        </p:nvSpPr>
        <p:spPr>
          <a:xfrm>
            <a:off x="548640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4" name="texto-182"/>
          <p:cNvSpPr txBox="1"/>
          <p:nvPr/>
        </p:nvSpPr>
        <p:spPr>
          <a:xfrm>
            <a:off x="64008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Socios clave</a:t>
            </a:r>
            <a:endParaRPr lang="en-US" sz="1200" dirty="0"/>
          </a:p>
        </p:txBody>
      </p:sp>
      <p:sp>
        <p:nvSpPr>
          <p:cNvPr id="5" name="texto-183"/>
          <p:cNvSpPr txBox="1"/>
          <p:nvPr/>
        </p:nvSpPr>
        <p:spPr>
          <a:xfrm>
            <a:off x="640080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con HACCP: MAKING, Unión, INDDA-UNALM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Laboratorios INACAL: SAT Perú, La Molina Calidad Total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Proveedor de sangrecita en polvo con SENASA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Nutricionista colegiada, concesionarios y naturistas</a:t>
            </a:r>
            <a:endParaRPr lang="en-US" sz="950" dirty="0"/>
          </a:p>
        </p:txBody>
      </p:sp>
      <p:sp>
        <p:nvSpPr>
          <p:cNvPr id="6" name="bmc-bloque-184"/>
          <p:cNvSpPr/>
          <p:nvPr/>
        </p:nvSpPr>
        <p:spPr>
          <a:xfrm>
            <a:off x="2782153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7" name="texto-185"/>
          <p:cNvSpPr txBox="1"/>
          <p:nvPr/>
        </p:nvSpPr>
        <p:spPr>
          <a:xfrm>
            <a:off x="2873593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Actividades clave</a:t>
            </a:r>
            <a:endParaRPr lang="en-US" sz="1200" dirty="0"/>
          </a:p>
        </p:txBody>
      </p:sp>
      <p:sp>
        <p:nvSpPr>
          <p:cNvPr id="8" name="texto-186"/>
          <p:cNvSpPr txBox="1"/>
          <p:nvPr/>
        </p:nvSpPr>
        <p:spPr>
          <a:xfrm>
            <a:off x="2873593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I+D y prueba sensorial con 20 niños por sabor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y control por lote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RS, etiqueta, marca y venta directa</a:t>
            </a:r>
            <a:endParaRPr lang="en-US" sz="950" dirty="0"/>
          </a:p>
        </p:txBody>
      </p:sp>
      <p:sp>
        <p:nvSpPr>
          <p:cNvPr id="9" name="bmc-bloque-187"/>
          <p:cNvSpPr/>
          <p:nvPr/>
        </p:nvSpPr>
        <p:spPr>
          <a:xfrm>
            <a:off x="2782153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0" name="texto-188"/>
          <p:cNvSpPr txBox="1"/>
          <p:nvPr/>
        </p:nvSpPr>
        <p:spPr>
          <a:xfrm>
            <a:off x="2873593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Recursos clave</a:t>
            </a:r>
            <a:endParaRPr lang="en-US" sz="1200" dirty="0"/>
          </a:p>
        </p:txBody>
      </p:sp>
      <p:sp>
        <p:nvSpPr>
          <p:cNvPr id="11" name="texto-189"/>
          <p:cNvSpPr txBox="1"/>
          <p:nvPr/>
        </p:nvSpPr>
        <p:spPr>
          <a:xfrm>
            <a:off x="2873593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 V-SO en 3 sabores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 a nombre de la S.A.C.; marca clase 30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Equipo de 5 y 300 familias en espera [HIPÓTESIS]</a:t>
            </a:r>
            <a:endParaRPr lang="en-US" sz="950" dirty="0"/>
          </a:p>
        </p:txBody>
      </p:sp>
      <p:sp>
        <p:nvSpPr>
          <p:cNvPr id="12" name="bmc-bloque-190"/>
          <p:cNvSpPr/>
          <p:nvPr/>
        </p:nvSpPr>
        <p:spPr>
          <a:xfrm>
            <a:off x="5015667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rgbClr val="FBE7C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3" name="texto-191"/>
          <p:cNvSpPr txBox="1"/>
          <p:nvPr/>
        </p:nvSpPr>
        <p:spPr>
          <a:xfrm>
            <a:off x="5107107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1200" dirty="0"/>
          </a:p>
        </p:txBody>
      </p:sp>
      <p:sp>
        <p:nvSpPr>
          <p:cNvPr id="14" name="texto-192"/>
          <p:cNvSpPr txBox="1"/>
          <p:nvPr/>
        </p:nvSpPr>
        <p:spPr>
          <a:xfrm>
            <a:off x="5107107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"Hierro medido. Sabor a brownie."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 de 20 g con sangrecita: ~1.9 mg de hierro [HIPÓTESIS]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 sabores, sin frío, por WhatsApp</a:t>
            </a:r>
            <a:endParaRPr lang="en-US" sz="950" dirty="0"/>
          </a:p>
        </p:txBody>
      </p:sp>
      <p:sp>
        <p:nvSpPr>
          <p:cNvPr id="15" name="bmc-bloque-193"/>
          <p:cNvSpPr/>
          <p:nvPr/>
        </p:nvSpPr>
        <p:spPr>
          <a:xfrm>
            <a:off x="7249180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6" name="texto-194"/>
          <p:cNvSpPr txBox="1"/>
          <p:nvPr/>
        </p:nvSpPr>
        <p:spPr>
          <a:xfrm>
            <a:off x="734062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Relación con clientes</a:t>
            </a:r>
            <a:endParaRPr lang="en-US" sz="1200" dirty="0"/>
          </a:p>
        </p:txBody>
      </p:sp>
      <p:sp>
        <p:nvSpPr>
          <p:cNvPr id="17" name="texto-195"/>
          <p:cNvSpPr txBox="1"/>
          <p:nvPr/>
        </p:nvSpPr>
        <p:spPr>
          <a:xfrm>
            <a:off x="7340620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Caja degustación con cupón de S/3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Suscripción quincenal con recordatorio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QR por lote; mamá embajadora; recompra de 35 % a 60 días</a:t>
            </a:r>
            <a:endParaRPr lang="en-US" sz="950" dirty="0"/>
          </a:p>
        </p:txBody>
      </p:sp>
      <p:sp>
        <p:nvSpPr>
          <p:cNvPr id="18" name="bmc-bloque-196"/>
          <p:cNvSpPr/>
          <p:nvPr/>
        </p:nvSpPr>
        <p:spPr>
          <a:xfrm>
            <a:off x="7249180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9" name="texto-197"/>
          <p:cNvSpPr txBox="1"/>
          <p:nvPr/>
        </p:nvSpPr>
        <p:spPr>
          <a:xfrm>
            <a:off x="7340620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Canales (año 1)</a:t>
            </a:r>
            <a:endParaRPr lang="en-US" sz="1200" dirty="0"/>
          </a:p>
        </p:txBody>
      </p:sp>
      <p:sp>
        <p:nvSpPr>
          <p:cNvPr id="20" name="texto-198"/>
          <p:cNvSpPr txBox="1"/>
          <p:nvPr/>
        </p:nvSpPr>
        <p:spPr>
          <a:xfrm>
            <a:off x="7340620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 e Instagram: 79.0 %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escolares: 9.5 %; ferias: 7.4 %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Naturistas: 4.1 %; supermercado en el año 2</a:t>
            </a:r>
            <a:endParaRPr lang="en-US" sz="950" dirty="0"/>
          </a:p>
        </p:txBody>
      </p:sp>
      <p:sp>
        <p:nvSpPr>
          <p:cNvPr id="21" name="bmc-bloque-199"/>
          <p:cNvSpPr/>
          <p:nvPr/>
        </p:nvSpPr>
        <p:spPr>
          <a:xfrm>
            <a:off x="9482694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2" name="texto-200"/>
          <p:cNvSpPr txBox="1"/>
          <p:nvPr/>
        </p:nvSpPr>
        <p:spPr>
          <a:xfrm>
            <a:off x="9574134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Segmentos de clientes</a:t>
            </a:r>
            <a:endParaRPr lang="en-US" sz="1200" dirty="0"/>
          </a:p>
        </p:txBody>
      </p:sp>
      <p:sp>
        <p:nvSpPr>
          <p:cNvPr id="23" name="texto-201"/>
          <p:cNvSpPr txBox="1"/>
          <p:nvPr/>
        </p:nvSpPr>
        <p:spPr>
          <a:xfrm>
            <a:off x="9574134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46,000 hogares núcleo (60,000 niños), zonas 6 y 7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168,000 hogares A/B con niños de 4 a 11 en Lima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B2B: quioscos escolares y naturistas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Meta: 700 hogares activos a dic. 2027</a:t>
            </a:r>
            <a:endParaRPr lang="en-US" sz="950" dirty="0"/>
          </a:p>
        </p:txBody>
      </p:sp>
      <p:sp>
        <p:nvSpPr>
          <p:cNvPr id="24" name="bmc-bloque-202"/>
          <p:cNvSpPr/>
          <p:nvPr/>
        </p:nvSpPr>
        <p:spPr>
          <a:xfrm>
            <a:off x="548640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5" name="texto-203"/>
          <p:cNvSpPr txBox="1"/>
          <p:nvPr/>
        </p:nvSpPr>
        <p:spPr>
          <a:xfrm>
            <a:off x="640080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Estructura de costos</a:t>
            </a:r>
            <a:endParaRPr lang="en-US" sz="1200" dirty="0"/>
          </a:p>
        </p:txBody>
      </p:sp>
      <p:sp>
        <p:nvSpPr>
          <p:cNvPr id="26" name="texto-204"/>
          <p:cNvSpPr txBox="1"/>
          <p:nvPr/>
        </p:nvSpPr>
        <p:spPr>
          <a:xfrm>
            <a:off x="640080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Producción: S/1.91 por unidad a 3,000 u/mes (S/1.32 a 8,000)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Costos fijos: S/2,856.67 al mes; inversión: S/34,484.24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equilibrio: 3,500 u/mes</a:t>
            </a:r>
            <a:endParaRPr lang="en-US" sz="950" dirty="0"/>
          </a:p>
        </p:txBody>
      </p:sp>
      <p:sp>
        <p:nvSpPr>
          <p:cNvPr id="27" name="bmc-bloque-205"/>
          <p:cNvSpPr/>
          <p:nvPr/>
        </p:nvSpPr>
        <p:spPr>
          <a:xfrm>
            <a:off x="6132424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8" name="texto-206"/>
          <p:cNvSpPr txBox="1"/>
          <p:nvPr/>
        </p:nvSpPr>
        <p:spPr>
          <a:xfrm>
            <a:off x="6223864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Fuentes de ingresos</a:t>
            </a:r>
            <a:endParaRPr lang="en-US" sz="1200" dirty="0"/>
          </a:p>
        </p:txBody>
      </p:sp>
      <p:sp>
        <p:nvSpPr>
          <p:cNvPr id="29" name="texto-207"/>
          <p:cNvSpPr txBox="1"/>
          <p:nvPr/>
        </p:nvSpPr>
        <p:spPr>
          <a:xfrm>
            <a:off x="6223864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a S/27.00; pack de 12 a S/49.00; degustación S/13.50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 S/4.00 por unidad; naturista S/31.90 el pack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 base: S/319,869 con IGV; utilidad neta S/37,152 (13.7 %)</a:t>
            </a:r>
            <a:endParaRPr lang="en-US" sz="9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CPI 2026; elaboración propia (plan comercial y financiero, escenario base).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ingresos y precio por canal</a:t>
            </a:r>
            <a:endParaRPr lang="en-US" sz="3200" dirty="0"/>
          </a:p>
        </p:txBody>
      </p:sp>
      <p:graphicFrame>
        <p:nvGraphicFramePr>
          <p:cNvPr id="14" name="tabla-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88920"/>
                <a:gridCol w="1051560"/>
                <a:gridCol w="11430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Precio al público (con IGV)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 recibe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Margen del 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de 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Instagram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S/27.00 · pack de 12 S/49.00 · degustación S/13.50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79.0 %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 y eventos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S/4.50 · cumpleaños desde 24 u a S/4.00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 (stand ~S/1 por u)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Quiosco escolar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S/4.00 (solo la versión sin octógono)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9.5 %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Tiendas naturistas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S/31.90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S/19.14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4.1 %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 (año 2)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S/32.90; viable desde 8,000 u/mes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S/19.74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35 % + 5 %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208"/>
          <p:cNvSpPr/>
          <p:nvPr/>
        </p:nvSpPr>
        <p:spPr>
          <a:xfrm>
            <a:off x="548640" y="4983480"/>
            <a:ext cx="758952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209"/>
          <p:cNvSpPr txBox="1"/>
          <p:nvPr/>
        </p:nvSpPr>
        <p:spPr>
          <a:xfrm>
            <a:off x="822960" y="5029200"/>
            <a:ext cx="7040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Motor: recompra quincenal.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 pack de 6 cada 2 semanas suma S/54 al mes: 2.4 a 3.0 % del gasto en alimentos de un hogar A o B (APEIM 2025).</a:t>
            </a:r>
            <a:endParaRPr lang="en-US" sz="1400" dirty="0"/>
          </a:p>
        </p:txBody>
      </p:sp>
      <p:sp>
        <p:nvSpPr>
          <p:cNvPr id="6" name="tarjeta-210"/>
          <p:cNvSpPr/>
          <p:nvPr/>
        </p:nvSpPr>
        <p:spPr>
          <a:xfrm>
            <a:off x="8412480" y="1280160"/>
            <a:ext cx="3227832" cy="4846320"/>
          </a:xfrm>
          <a:prstGeom prst="roundRect">
            <a:avLst>
              <a:gd name="adj" fmla="val 33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11"/>
          <p:cNvSpPr txBox="1"/>
          <p:nvPr/>
        </p:nvSpPr>
        <p:spPr>
          <a:xfrm>
            <a:off x="8549640" y="5257800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76,335 u · S/319,869 con IGV</a:t>
            </a:r>
            <a:endParaRPr lang="en-US" sz="1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(plan comercial, escenario base, mar. 2027 a feb. 2028); APEIM 2025 (gasto en alimentos).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  <p:pic>
        <p:nvPicPr>
          <p:cNvPr id="26" name="Picture 25" descr="chart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371600"/>
            <a:ext cx="304495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Operación por fases y regulación</a:t>
            </a:r>
            <a:endParaRPr lang="en-US" sz="3200" dirty="0"/>
          </a:p>
        </p:txBody>
      </p:sp>
      <p:sp>
        <p:nvSpPr>
          <p:cNvPr id="3" name="fase-212"/>
          <p:cNvSpPr/>
          <p:nvPr/>
        </p:nvSpPr>
        <p:spPr>
          <a:xfrm>
            <a:off x="548640" y="1280160"/>
            <a:ext cx="3611880" cy="141732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" name="texto-213"/>
          <p:cNvSpPr txBox="1"/>
          <p:nvPr/>
        </p:nvSpPr>
        <p:spPr>
          <a:xfrm>
            <a:off x="105156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0 · Oct.-nov.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Pruebas y validación sin venta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S/2,215.81</a:t>
            </a:r>
            <a:endParaRPr lang="en-US" sz="1400" dirty="0"/>
          </a:p>
        </p:txBody>
      </p:sp>
      <p:sp>
        <p:nvSpPr>
          <p:cNvPr id="5" name="fase-214"/>
          <p:cNvSpPr/>
          <p:nvPr/>
        </p:nvSpPr>
        <p:spPr>
          <a:xfrm>
            <a:off x="4297680" y="1280160"/>
            <a:ext cx="3611880" cy="1417320"/>
          </a:xfrm>
          <a:prstGeom prst="chevron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o-215"/>
          <p:cNvSpPr txBox="1"/>
          <p:nvPr/>
        </p:nvSpPr>
        <p:spPr>
          <a:xfrm>
            <a:off x="480060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1 · Dic. 2026-feb.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laboratorio, RS y marca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S/8,426.20</a:t>
            </a:r>
            <a:endParaRPr lang="en-US" sz="1400" dirty="0"/>
          </a:p>
        </p:txBody>
      </p:sp>
      <p:sp>
        <p:nvSpPr>
          <p:cNvPr id="7" name="fase-216"/>
          <p:cNvSpPr/>
          <p:nvPr/>
        </p:nvSpPr>
        <p:spPr>
          <a:xfrm>
            <a:off x="8046720" y="1280160"/>
            <a:ext cx="3611880" cy="141732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o-217"/>
          <p:cNvSpPr txBox="1"/>
          <p:nvPr/>
        </p:nvSpPr>
        <p:spPr>
          <a:xfrm>
            <a:off x="854964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2 · Desde mar.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formal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 de S/2,856.67 al mes</a:t>
            </a:r>
            <a:endParaRPr lang="en-US" sz="1400" dirty="0"/>
          </a:p>
        </p:txBody>
      </p:sp>
      <p:sp>
        <p:nvSpPr>
          <p:cNvPr id="9" name="texto-218"/>
          <p:cNvSpPr txBox="1"/>
          <p:nvPr/>
        </p:nvSpPr>
        <p:spPr>
          <a:xfrm>
            <a:off x="548640" y="3017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Sin planta propia, con RS propio</a:t>
            </a:r>
            <a:endParaRPr lang="en-US" sz="1700" dirty="0"/>
          </a:p>
        </p:txBody>
      </p:sp>
      <p:sp>
        <p:nvSpPr>
          <p:cNvPr id="10" name="tarjeta-219"/>
          <p:cNvSpPr/>
          <p:nvPr/>
        </p:nvSpPr>
        <p:spPr>
          <a:xfrm>
            <a:off x="54864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20"/>
          <p:cNvSpPr txBox="1"/>
          <p:nvPr/>
        </p:nvSpPr>
        <p:spPr>
          <a:xfrm>
            <a:off x="65836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S.A.C.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Titular del RS</a:t>
            </a:r>
            <a:endParaRPr lang="en-US" sz="1400" dirty="0"/>
          </a:p>
        </p:txBody>
      </p:sp>
      <p:sp>
        <p:nvSpPr>
          <p:cNvPr id="12" name="flecha-221"/>
          <p:cNvSpPr/>
          <p:nvPr/>
        </p:nvSpPr>
        <p:spPr>
          <a:xfrm>
            <a:off x="235915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arjeta-222"/>
          <p:cNvSpPr/>
          <p:nvPr/>
        </p:nvSpPr>
        <p:spPr>
          <a:xfrm>
            <a:off x="265176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23"/>
          <p:cNvSpPr txBox="1"/>
          <p:nvPr/>
        </p:nvSpPr>
        <p:spPr>
          <a:xfrm>
            <a:off x="276148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Planta maquiladora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Fabricante (HACCP)</a:t>
            </a:r>
            <a:endParaRPr lang="en-US" sz="1400" dirty="0"/>
          </a:p>
        </p:txBody>
      </p:sp>
      <p:sp>
        <p:nvSpPr>
          <p:cNvPr id="15" name="flecha-224"/>
          <p:cNvSpPr/>
          <p:nvPr/>
        </p:nvSpPr>
        <p:spPr>
          <a:xfrm>
            <a:off x="446227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6" name="tarjeta-225"/>
          <p:cNvSpPr/>
          <p:nvPr/>
        </p:nvSpPr>
        <p:spPr>
          <a:xfrm>
            <a:off x="475488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26"/>
          <p:cNvSpPr txBox="1"/>
          <p:nvPr/>
        </p:nvSpPr>
        <p:spPr>
          <a:xfrm>
            <a:off x="486460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Laboratorio INACAL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y vida útil</a:t>
            </a:r>
            <a:endParaRPr lang="en-US" sz="1400" dirty="0"/>
          </a:p>
        </p:txBody>
      </p:sp>
      <p:sp>
        <p:nvSpPr>
          <p:cNvPr id="18" name="texto-227"/>
          <p:cNvSpPr txBox="1"/>
          <p:nvPr/>
        </p:nvSpPr>
        <p:spPr>
          <a:xfrm>
            <a:off x="548640" y="51206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Tasa del RS: S/0 (DIGESA, 2026).</a:t>
            </a:r>
            <a:endParaRPr lang="en-US" sz="1300" dirty="0"/>
          </a:p>
        </p:txBody>
      </p:sp>
      <p:sp>
        <p:nvSpPr>
          <p:cNvPr id="19" name="tarjeta-228"/>
          <p:cNvSpPr/>
          <p:nvPr/>
        </p:nvSpPr>
        <p:spPr>
          <a:xfrm>
            <a:off x="7086600" y="3017520"/>
            <a:ext cx="455371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229"/>
          <p:cNvSpPr txBox="1"/>
          <p:nvPr/>
        </p:nvSpPr>
        <p:spPr>
          <a:xfrm>
            <a:off x="731520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Tres reglas</a:t>
            </a:r>
            <a:endParaRPr lang="en-US" sz="1700" dirty="0"/>
          </a:p>
        </p:txBody>
      </p:sp>
      <p:sp>
        <p:nvSpPr>
          <p:cNvPr id="21" name="circulo-230"/>
          <p:cNvSpPr/>
          <p:nvPr/>
        </p:nvSpPr>
        <p:spPr>
          <a:xfrm>
            <a:off x="731520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o-231"/>
          <p:cNvSpPr txBox="1"/>
          <p:nvPr/>
        </p:nvSpPr>
        <p:spPr>
          <a:xfrm>
            <a:off x="7955280" y="3703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Nada de venta antes del RS</a:t>
            </a:r>
            <a:endParaRPr lang="en-US" sz="1350" dirty="0"/>
          </a:p>
        </p:txBody>
      </p:sp>
      <p:sp>
        <p:nvSpPr>
          <p:cNvPr id="23" name="circulo-232"/>
          <p:cNvSpPr/>
          <p:nvPr/>
        </p:nvSpPr>
        <p:spPr>
          <a:xfrm>
            <a:off x="7315200" y="45537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o-233"/>
          <p:cNvSpPr txBox="1"/>
          <p:nvPr/>
        </p:nvSpPr>
        <p:spPr>
          <a:xfrm>
            <a:off x="7955280" y="4480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"Fuente de hierro" solo con 2.1 mg por 100 g medidos</a:t>
            </a:r>
            <a:endParaRPr lang="en-US" sz="1350" dirty="0"/>
          </a:p>
        </p:txBody>
      </p:sp>
      <p:sp>
        <p:nvSpPr>
          <p:cNvPr id="25" name="circulo-234"/>
          <p:cNvSpPr/>
          <p:nvPr/>
        </p:nvSpPr>
        <p:spPr>
          <a:xfrm>
            <a:off x="7315200" y="53309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o-235"/>
          <p:cNvSpPr txBox="1"/>
          <p:nvPr/>
        </p:nvSpPr>
        <p:spPr>
          <a:xfrm>
            <a:off x="7955280" y="52578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Nunca "previene la anemia" (D. Leg. 1044)</a:t>
            </a:r>
            <a:endParaRPr lang="en-US" sz="135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Comunicado 05-2026-DIGESA; D. Leg. 1044; Ley 30021; elaboración propia (plan operativo y costos por fase).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 2.0: medido, no prometido</a:t>
            </a:r>
            <a:endParaRPr lang="en-US" sz="3200" dirty="0"/>
          </a:p>
        </p:txBody>
      </p:sp>
      <p:sp>
        <p:nvSpPr>
          <p:cNvPr id="3" name="texto-236"/>
          <p:cNvSpPr txBox="1"/>
          <p:nvPr/>
        </p:nvSpPr>
        <p:spPr>
          <a:xfrm>
            <a:off x="54864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Hoy: sticker AndiBite</a:t>
            </a:r>
            <a:endParaRPr lang="en-US" sz="1500" dirty="0"/>
          </a:p>
        </p:txBody>
      </p:sp>
      <p:pic>
        <p:nvPicPr>
          <p:cNvPr id="4" name="img-sticker-frente" descr="Sticker actual de AndiBite, fr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333542" cy="3246120"/>
          </a:xfrm>
          <a:prstGeom prst="rect">
            <a:avLst/>
          </a:prstGeom>
        </p:spPr>
      </p:pic>
      <p:pic>
        <p:nvPicPr>
          <p:cNvPr id="5" name="img-sticker-reverso" descr="Sticker actual de AndiBite, rever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062" y="1645920"/>
            <a:ext cx="2333542" cy="3246120"/>
          </a:xfrm>
          <a:prstGeom prst="rect">
            <a:avLst/>
          </a:prstGeom>
        </p:spPr>
      </p:pic>
      <p:sp>
        <p:nvSpPr>
          <p:cNvPr id="6" name="texto-237"/>
          <p:cNvSpPr txBox="1"/>
          <p:nvPr/>
        </p:nvSpPr>
        <p:spPr>
          <a:xfrm>
            <a:off x="548640" y="4983480"/>
            <a:ext cx="48499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Niña andina y "orgullo peruano", sin cifras.</a:t>
            </a:r>
            <a:endParaRPr lang="en-US" sz="1200" dirty="0"/>
          </a:p>
        </p:txBody>
      </p:sp>
      <p:sp>
        <p:nvSpPr>
          <p:cNvPr id="7" name="tarjeta-238"/>
          <p:cNvSpPr/>
          <p:nvPr/>
        </p:nvSpPr>
        <p:spPr>
          <a:xfrm>
            <a:off x="5532120" y="1234440"/>
            <a:ext cx="611093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39"/>
          <p:cNvSpPr txBox="1"/>
          <p:nvPr/>
        </p:nvSpPr>
        <p:spPr>
          <a:xfrm>
            <a:off x="5806440" y="1325880"/>
            <a:ext cx="55622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Decisión del equipo: seguimos con AndiBite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Evoluciona el empaque: hierro en mg en el frente.</a:t>
            </a:r>
            <a:endParaRPr lang="en-US" sz="1400" dirty="0"/>
          </a:p>
        </p:txBody>
      </p:sp>
      <p:sp>
        <p:nvSpPr>
          <p:cNvPr id="9" name="chip-sabor-240"/>
          <p:cNvSpPr/>
          <p:nvPr/>
        </p:nvSpPr>
        <p:spPr>
          <a:xfrm>
            <a:off x="5532120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0" name="texto-241"/>
          <p:cNvSpPr txBox="1"/>
          <p:nvPr/>
        </p:nvSpPr>
        <p:spPr>
          <a:xfrm>
            <a:off x="5623560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con chispas</a:t>
            </a:r>
            <a:endParaRPr lang="en-US" sz="1400" dirty="0"/>
          </a:p>
        </p:txBody>
      </p:sp>
      <p:sp>
        <p:nvSpPr>
          <p:cNvPr id="11" name="chip-sabor-242"/>
          <p:cNvSpPr/>
          <p:nvPr/>
        </p:nvSpPr>
        <p:spPr>
          <a:xfrm>
            <a:off x="7614818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2" name="texto-243"/>
          <p:cNvSpPr txBox="1"/>
          <p:nvPr/>
        </p:nvSpPr>
        <p:spPr>
          <a:xfrm>
            <a:off x="7706258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Plátano y cañihua</a:t>
            </a:r>
            <a:endParaRPr lang="en-US" sz="1400" dirty="0"/>
          </a:p>
        </p:txBody>
      </p:sp>
      <p:sp>
        <p:nvSpPr>
          <p:cNvPr id="13" name="chip-sabor-244"/>
          <p:cNvSpPr/>
          <p:nvPr/>
        </p:nvSpPr>
        <p:spPr>
          <a:xfrm>
            <a:off x="9697517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4" name="texto-245"/>
          <p:cNvSpPr txBox="1"/>
          <p:nvPr/>
        </p:nvSpPr>
        <p:spPr>
          <a:xfrm>
            <a:off x="9788957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5" name="circulo-246"/>
          <p:cNvSpPr/>
          <p:nvPr/>
        </p:nvSpPr>
        <p:spPr>
          <a:xfrm>
            <a:off x="5532120" y="3931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o-247"/>
          <p:cNvSpPr txBox="1"/>
          <p:nvPr/>
        </p:nvSpPr>
        <p:spPr>
          <a:xfrm>
            <a:off x="6035040" y="388620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Ficha "26 Fe" y QR por lote</a:t>
            </a:r>
            <a:endParaRPr lang="en-US" sz="1350" dirty="0"/>
          </a:p>
        </p:txBody>
      </p:sp>
      <p:sp>
        <p:nvSpPr>
          <p:cNvPr id="17" name="circulo-248"/>
          <p:cNvSpPr/>
          <p:nvPr/>
        </p:nvSpPr>
        <p:spPr>
          <a:xfrm>
            <a:off x="5532120" y="44348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o-249"/>
          <p:cNvSpPr txBox="1"/>
          <p:nvPr/>
        </p:nvSpPr>
        <p:spPr>
          <a:xfrm>
            <a:off x="6035040" y="438912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Línea Cero: sin octógono</a:t>
            </a:r>
            <a:endParaRPr lang="en-US" sz="1350" dirty="0"/>
          </a:p>
        </p:txBody>
      </p:sp>
      <p:sp>
        <p:nvSpPr>
          <p:cNvPr id="19" name="circulo-250"/>
          <p:cNvSpPr/>
          <p:nvPr/>
        </p:nvSpPr>
        <p:spPr>
          <a:xfrm>
            <a:off x="5532120" y="49377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o-251"/>
          <p:cNvSpPr txBox="1"/>
          <p:nvPr/>
        </p:nvSpPr>
        <p:spPr>
          <a:xfrm>
            <a:off x="6035040" y="489204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Semana AndiBite: caja de 12 con calendario</a:t>
            </a:r>
            <a:endParaRPr lang="en-US" sz="1350" dirty="0"/>
          </a:p>
        </p:txBody>
      </p:sp>
      <p:sp>
        <p:nvSpPr>
          <p:cNvPr id="21" name="tarjeta-252"/>
          <p:cNvSpPr/>
          <p:nvPr/>
        </p:nvSpPr>
        <p:spPr>
          <a:xfrm>
            <a:off x="5532120" y="5440680"/>
            <a:ext cx="6110935" cy="685800"/>
          </a:xfrm>
          <a:prstGeom prst="roundRect">
            <a:avLst>
              <a:gd name="adj" fmla="val 16000"/>
            </a:avLst>
          </a:prstGeom>
          <a:solidFill>
            <a:srgbClr val="F6D7D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2" name="texto-253"/>
          <p:cNvSpPr txBox="1"/>
          <p:nvPr/>
        </p:nvSpPr>
        <p:spPr>
          <a:xfrm>
            <a:off x="5715000" y="5468112"/>
            <a:ext cx="574517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Verificar en INDECOPI: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búsqueda fonética en clase 30 (S/401.20) antes de imprimir.</a:t>
            </a:r>
            <a:endParaRPr lang="en-US" sz="1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(marca 2.0); Kantar 2025 (42 % desconfía de lo envasado); INDECOPI, tarifas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Finanzas: rentable desde 3,500 unidades al mes</a:t>
            </a:r>
            <a:endParaRPr lang="en-US" sz="3200" dirty="0"/>
          </a:p>
        </p:txBody>
      </p:sp>
      <p:graphicFrame>
        <p:nvGraphicFramePr>
          <p:cNvPr id="17" name="tabla-co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por unidad, sin IGV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1,000 u/mes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3,000 u/mes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8,000 u/mes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neto (S/4.50 con IGV)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de producción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2.52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1.91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1.32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total en venta directa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5.86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2.74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Margen neto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−2.05 (−54 %)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−0.03 (−1 %)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1.07 (28 %)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4" name="texto-254"/>
          <p:cNvSpPr txBox="1"/>
          <p:nvPr/>
        </p:nvSpPr>
        <p:spPr>
          <a:xfrm>
            <a:off x="548640" y="43434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a S/0.40-0.60 por unidad [POR CONFIRMAR]. Los socios no cobran sueldo en el año 1.</a:t>
            </a:r>
            <a:endParaRPr lang="en-US" sz="1200" dirty="0"/>
          </a:p>
        </p:txBody>
      </p:sp>
      <p:sp>
        <p:nvSpPr>
          <p:cNvPr id="5" name="tarjeta-255"/>
          <p:cNvSpPr/>
          <p:nvPr/>
        </p:nvSpPr>
        <p:spPr>
          <a:xfrm>
            <a:off x="548640" y="5074920"/>
            <a:ext cx="63093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6" name="texto-256"/>
          <p:cNvSpPr txBox="1"/>
          <p:nvPr/>
        </p:nvSpPr>
        <p:spPr>
          <a:xfrm>
            <a:off x="822960" y="512064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S/25,000 de los 5 socios (S/5,000 cada uno) y un préstamo de S/10,000.</a:t>
            </a:r>
            <a:endParaRPr lang="en-US" sz="1400" dirty="0"/>
          </a:p>
        </p:txBody>
      </p:sp>
      <p:sp>
        <p:nvSpPr>
          <p:cNvPr id="7" name="tarjeta-257"/>
          <p:cNvSpPr/>
          <p:nvPr/>
        </p:nvSpPr>
        <p:spPr>
          <a:xfrm>
            <a:off x="7178040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58"/>
          <p:cNvSpPr txBox="1"/>
          <p:nvPr/>
        </p:nvSpPr>
        <p:spPr>
          <a:xfrm>
            <a:off x="7360920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3,500 u/mes</a:t>
            </a:r>
            <a:endParaRPr lang="en-US" sz="2400" dirty="0"/>
          </a:p>
        </p:txBody>
      </p:sp>
      <p:sp>
        <p:nvSpPr>
          <p:cNvPr id="9" name="texto-259"/>
          <p:cNvSpPr txBox="1"/>
          <p:nvPr/>
        </p:nvSpPr>
        <p:spPr>
          <a:xfrm>
            <a:off x="7360920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 (583 packs), desde abril de 2027</a:t>
            </a:r>
            <a:endParaRPr lang="en-US" sz="1250" dirty="0"/>
          </a:p>
        </p:txBody>
      </p:sp>
      <p:sp>
        <p:nvSpPr>
          <p:cNvPr id="10" name="tarjeta-260"/>
          <p:cNvSpPr/>
          <p:nvPr/>
        </p:nvSpPr>
        <p:spPr>
          <a:xfrm>
            <a:off x="9500616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61"/>
          <p:cNvSpPr txBox="1"/>
          <p:nvPr/>
        </p:nvSpPr>
        <p:spPr>
          <a:xfrm>
            <a:off x="9683496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S/34,484</a:t>
            </a:r>
            <a:endParaRPr lang="en-US" sz="2400" dirty="0"/>
          </a:p>
        </p:txBody>
      </p:sp>
      <p:sp>
        <p:nvSpPr>
          <p:cNvPr id="12" name="texto-262"/>
          <p:cNvSpPr txBox="1"/>
          <p:nvPr/>
        </p:nvSpPr>
        <p:spPr>
          <a:xfrm>
            <a:off x="9683496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inicial total (S/34,484.24)</a:t>
            </a:r>
            <a:endParaRPr lang="en-US" sz="1250" dirty="0"/>
          </a:p>
        </p:txBody>
      </p:sp>
      <p:sp>
        <p:nvSpPr>
          <p:cNvPr id="13" name="tarjeta-263"/>
          <p:cNvSpPr/>
          <p:nvPr/>
        </p:nvSpPr>
        <p:spPr>
          <a:xfrm>
            <a:off x="7178040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64"/>
          <p:cNvSpPr txBox="1"/>
          <p:nvPr/>
        </p:nvSpPr>
        <p:spPr>
          <a:xfrm>
            <a:off x="7360920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 meses</a:t>
            </a:r>
            <a:endParaRPr lang="en-US" sz="2400" dirty="0"/>
          </a:p>
        </p:txBody>
      </p:sp>
      <p:sp>
        <p:nvSpPr>
          <p:cNvPr id="15" name="texto-265"/>
          <p:cNvSpPr txBox="1"/>
          <p:nvPr/>
        </p:nvSpPr>
        <p:spPr>
          <a:xfrm>
            <a:off x="7360920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Payback (noviembre de 2027)</a:t>
            </a:r>
            <a:endParaRPr lang="en-US" sz="1250" dirty="0"/>
          </a:p>
        </p:txBody>
      </p:sp>
      <p:sp>
        <p:nvSpPr>
          <p:cNvPr id="16" name="tarjeta-266"/>
          <p:cNvSpPr/>
          <p:nvPr/>
        </p:nvSpPr>
        <p:spPr>
          <a:xfrm>
            <a:off x="9500616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67"/>
          <p:cNvSpPr txBox="1"/>
          <p:nvPr/>
        </p:nvSpPr>
        <p:spPr>
          <a:xfrm>
            <a:off x="9683496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S/37,152</a:t>
            </a:r>
            <a:endParaRPr lang="en-US" sz="2400" dirty="0"/>
          </a:p>
        </p:txBody>
      </p:sp>
      <p:sp>
        <p:nvSpPr>
          <p:cNvPr id="18" name="texto-268"/>
          <p:cNvSpPr txBox="1"/>
          <p:nvPr/>
        </p:nvSpPr>
        <p:spPr>
          <a:xfrm>
            <a:off x="9683496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Utilidad neta del año 1 (13.7 %)</a:t>
            </a:r>
            <a:endParaRPr lang="en-US" sz="125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financiero, escenario base; costos sin IGV, precios con IGV).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Ventas del año 1 por canal y escenario</a:t>
            </a:r>
            <a:endParaRPr lang="en-US" sz="3200" dirty="0"/>
          </a:p>
        </p:txBody>
      </p:sp>
      <p:sp>
        <p:nvSpPr>
          <p:cNvPr id="3" name="tarjeta-269"/>
          <p:cNvSpPr/>
          <p:nvPr/>
        </p:nvSpPr>
        <p:spPr>
          <a:xfrm>
            <a:off x="548640" y="1280160"/>
            <a:ext cx="640080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graphicFrame>
        <p:nvGraphicFramePr>
          <p:cNvPr id="18" name="tabla-ven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280160"/>
          <a:ext cx="43708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87552"/>
                <a:gridCol w="987552"/>
                <a:gridCol w="1024128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Pesimista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Base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Optimista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26,280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60,318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118,416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2,970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5,640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10,650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Colegios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2,712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7,245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16,065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1,287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3,132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6,356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3,200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Total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33,249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76,335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154,687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 con IGV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139,988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319,869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642,864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6" name="texto-270"/>
          <p:cNvSpPr txBox="1"/>
          <p:nvPr/>
        </p:nvSpPr>
        <p:spPr>
          <a:xfrm>
            <a:off x="7269480" y="4983480"/>
            <a:ext cx="4370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Base: 700 hogares activos a diciembre de 2027.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comercial, proyección mes a mes por canal y escenario).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  <p:pic>
        <p:nvPicPr>
          <p:cNvPr id="26" name="Picture 25" descr="chart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61264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 y mitigaciones</a:t>
            </a:r>
            <a:endParaRPr lang="en-US" sz="3200" dirty="0"/>
          </a:p>
        </p:txBody>
      </p:sp>
      <p:graphicFrame>
        <p:nvGraphicFramePr>
          <p:cNvPr id="19" name="tabla-ries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0"/>
                <a:gridCol w="5516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#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Riesgo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Mitigación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Los niños rechazan la versión sin octógono (sensación fría del eritritol)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Filtro con 20 niños por sabor en la fase 0 y versión con panela de respaldo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2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La maquila no acepta lotes de 3,000 a 5,000 u o cobra más de S/0.60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Cuatro cotizaciones, INDDA-UNALM como puente y corridas bimestrales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El registro sanitario llega después de febrero de 2027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Muestras al laboratorio en diciembre; gestor a S/236 por producto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4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Baja recompra (el 79 % del volumen es directo)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Medir la recompra a 60 días desde abril; si baja de 25 % en junio, se frena la pauta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5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Escenario pesimista: la caja toca −S/10,731.60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Con menos de 200 hogares en mayo: sin asistente, pauta a la mitad y S/2,500 más por socio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 y financiero: riesgos, escenarios y flujo de caja).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Próximos 90 días: octubre a diciembre de 2026</a:t>
            </a:r>
            <a:endParaRPr lang="en-US" sz="3200" dirty="0"/>
          </a:p>
        </p:txBody>
      </p:sp>
      <p:sp>
        <p:nvSpPr>
          <p:cNvPr id="3" name="texto-271"/>
          <p:cNvSpPr txBox="1"/>
          <p:nvPr/>
        </p:nvSpPr>
        <p:spPr>
          <a:xfrm>
            <a:off x="548640" y="12801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Hito</a:t>
            </a:r>
            <a:endParaRPr lang="en-US" sz="1400" dirty="0"/>
          </a:p>
        </p:txBody>
      </p:sp>
      <p:sp>
        <p:nvSpPr>
          <p:cNvPr id="4" name="texto-272"/>
          <p:cNvSpPr txBox="1"/>
          <p:nvPr/>
        </p:nvSpPr>
        <p:spPr>
          <a:xfrm>
            <a:off x="4709160" y="1280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Responsable</a:t>
            </a:r>
            <a:endParaRPr lang="en-US" sz="1400" dirty="0"/>
          </a:p>
        </p:txBody>
      </p:sp>
      <p:sp>
        <p:nvSpPr>
          <p:cNvPr id="5" name="texto-273"/>
          <p:cNvSpPr txBox="1"/>
          <p:nvPr/>
        </p:nvSpPr>
        <p:spPr>
          <a:xfrm>
            <a:off x="658368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o-274"/>
          <p:cNvSpPr txBox="1"/>
          <p:nvPr/>
        </p:nvSpPr>
        <p:spPr>
          <a:xfrm>
            <a:off x="6972863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o-275"/>
          <p:cNvSpPr txBox="1"/>
          <p:nvPr/>
        </p:nvSpPr>
        <p:spPr>
          <a:xfrm>
            <a:off x="7362045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o-276"/>
          <p:cNvSpPr txBox="1"/>
          <p:nvPr/>
        </p:nvSpPr>
        <p:spPr>
          <a:xfrm>
            <a:off x="7751228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o-277"/>
          <p:cNvSpPr txBox="1"/>
          <p:nvPr/>
        </p:nvSpPr>
        <p:spPr>
          <a:xfrm>
            <a:off x="8140411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texto-278"/>
          <p:cNvSpPr txBox="1"/>
          <p:nvPr/>
        </p:nvSpPr>
        <p:spPr>
          <a:xfrm>
            <a:off x="852959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6</a:t>
            </a:r>
            <a:endParaRPr lang="en-US" sz="1100" dirty="0"/>
          </a:p>
        </p:txBody>
      </p:sp>
      <p:sp>
        <p:nvSpPr>
          <p:cNvPr id="11" name="texto-279"/>
          <p:cNvSpPr txBox="1"/>
          <p:nvPr/>
        </p:nvSpPr>
        <p:spPr>
          <a:xfrm>
            <a:off x="8918776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o-280"/>
          <p:cNvSpPr txBox="1"/>
          <p:nvPr/>
        </p:nvSpPr>
        <p:spPr>
          <a:xfrm>
            <a:off x="9307959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texto-281"/>
          <p:cNvSpPr txBox="1"/>
          <p:nvPr/>
        </p:nvSpPr>
        <p:spPr>
          <a:xfrm>
            <a:off x="969714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9</a:t>
            </a:r>
            <a:endParaRPr lang="en-US" sz="1100" dirty="0"/>
          </a:p>
        </p:txBody>
      </p:sp>
      <p:sp>
        <p:nvSpPr>
          <p:cNvPr id="14" name="texto-282"/>
          <p:cNvSpPr txBox="1"/>
          <p:nvPr/>
        </p:nvSpPr>
        <p:spPr>
          <a:xfrm>
            <a:off x="1008632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1100" dirty="0"/>
          </a:p>
        </p:txBody>
      </p:sp>
      <p:sp>
        <p:nvSpPr>
          <p:cNvPr id="15" name="texto-283"/>
          <p:cNvSpPr txBox="1"/>
          <p:nvPr/>
        </p:nvSpPr>
        <p:spPr>
          <a:xfrm>
            <a:off x="10475507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1100" dirty="0"/>
          </a:p>
        </p:txBody>
      </p:sp>
      <p:sp>
        <p:nvSpPr>
          <p:cNvPr id="16" name="texto-284"/>
          <p:cNvSpPr txBox="1"/>
          <p:nvPr/>
        </p:nvSpPr>
        <p:spPr>
          <a:xfrm>
            <a:off x="1086469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1100" dirty="0"/>
          </a:p>
        </p:txBody>
      </p:sp>
      <p:sp>
        <p:nvSpPr>
          <p:cNvPr id="17" name="texto-285"/>
          <p:cNvSpPr txBox="1"/>
          <p:nvPr/>
        </p:nvSpPr>
        <p:spPr>
          <a:xfrm>
            <a:off x="1125387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1100" dirty="0"/>
          </a:p>
        </p:txBody>
      </p:sp>
      <p:sp>
        <p:nvSpPr>
          <p:cNvPr id="18" name="gantt-fondo"/>
          <p:cNvSpPr/>
          <p:nvPr/>
        </p:nvSpPr>
        <p:spPr>
          <a:xfrm>
            <a:off x="6583680" y="1691640"/>
            <a:ext cx="5059375" cy="43891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gantt-linea-286"/>
          <p:cNvSpPr/>
          <p:nvPr/>
        </p:nvSpPr>
        <p:spPr>
          <a:xfrm>
            <a:off x="6972863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0" name="gantt-linea-287"/>
          <p:cNvSpPr/>
          <p:nvPr/>
        </p:nvSpPr>
        <p:spPr>
          <a:xfrm>
            <a:off x="7362045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1" name="gantt-linea-288"/>
          <p:cNvSpPr/>
          <p:nvPr/>
        </p:nvSpPr>
        <p:spPr>
          <a:xfrm>
            <a:off x="7751228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2" name="gantt-linea-289"/>
          <p:cNvSpPr/>
          <p:nvPr/>
        </p:nvSpPr>
        <p:spPr>
          <a:xfrm>
            <a:off x="8140411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3" name="gantt-linea-290"/>
          <p:cNvSpPr/>
          <p:nvPr/>
        </p:nvSpPr>
        <p:spPr>
          <a:xfrm>
            <a:off x="852959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4" name="gantt-linea-291"/>
          <p:cNvSpPr/>
          <p:nvPr/>
        </p:nvSpPr>
        <p:spPr>
          <a:xfrm>
            <a:off x="8918776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5" name="gantt-linea-292"/>
          <p:cNvSpPr/>
          <p:nvPr/>
        </p:nvSpPr>
        <p:spPr>
          <a:xfrm>
            <a:off x="9307959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6" name="gantt-linea-293"/>
          <p:cNvSpPr/>
          <p:nvPr/>
        </p:nvSpPr>
        <p:spPr>
          <a:xfrm>
            <a:off x="969714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7" name="gantt-linea-294"/>
          <p:cNvSpPr/>
          <p:nvPr/>
        </p:nvSpPr>
        <p:spPr>
          <a:xfrm>
            <a:off x="1008632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8" name="gantt-linea-295"/>
          <p:cNvSpPr/>
          <p:nvPr/>
        </p:nvSpPr>
        <p:spPr>
          <a:xfrm>
            <a:off x="10475507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9" name="gantt-linea-296"/>
          <p:cNvSpPr/>
          <p:nvPr/>
        </p:nvSpPr>
        <p:spPr>
          <a:xfrm>
            <a:off x="10864690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0" name="gantt-linea-297"/>
          <p:cNvSpPr/>
          <p:nvPr/>
        </p:nvSpPr>
        <p:spPr>
          <a:xfrm>
            <a:off x="1125387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1" name="texto-298"/>
          <p:cNvSpPr txBox="1"/>
          <p:nvPr/>
        </p:nvSpPr>
        <p:spPr>
          <a:xfrm>
            <a:off x="548640" y="16916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Cargar resultados del focus 2 y del store check</a:t>
            </a:r>
            <a:endParaRPr lang="en-US" sz="1250" dirty="0"/>
          </a:p>
        </p:txBody>
      </p:sp>
      <p:sp>
        <p:nvSpPr>
          <p:cNvPr id="32" name="texto-299"/>
          <p:cNvSpPr txBox="1"/>
          <p:nvPr/>
        </p:nvSpPr>
        <p:spPr>
          <a:xfrm>
            <a:off x="4709160" y="16916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Carlos y Angie</a:t>
            </a:r>
            <a:endParaRPr lang="en-US" sz="1150" dirty="0"/>
          </a:p>
        </p:txBody>
      </p:sp>
      <p:sp>
        <p:nvSpPr>
          <p:cNvPr id="33" name="gantt-barra-300"/>
          <p:cNvSpPr/>
          <p:nvPr/>
        </p:nvSpPr>
        <p:spPr>
          <a:xfrm>
            <a:off x="6620256" y="1819656"/>
            <a:ext cx="705213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34" name="texto-301"/>
          <p:cNvSpPr txBox="1"/>
          <p:nvPr/>
        </p:nvSpPr>
        <p:spPr>
          <a:xfrm>
            <a:off x="548640" y="22402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rondas de la versión sin octógono y la de panela</a:t>
            </a:r>
            <a:endParaRPr lang="en-US" sz="1250" dirty="0"/>
          </a:p>
        </p:txBody>
      </p:sp>
      <p:sp>
        <p:nvSpPr>
          <p:cNvPr id="35" name="texto-302"/>
          <p:cNvSpPr txBox="1"/>
          <p:nvPr/>
        </p:nvSpPr>
        <p:spPr>
          <a:xfrm>
            <a:off x="4709160" y="2240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</a:t>
            </a:r>
            <a:endParaRPr lang="en-US" sz="1150" dirty="0"/>
          </a:p>
        </p:txBody>
      </p:sp>
      <p:sp>
        <p:nvSpPr>
          <p:cNvPr id="36" name="gantt-barra-303"/>
          <p:cNvSpPr/>
          <p:nvPr/>
        </p:nvSpPr>
        <p:spPr>
          <a:xfrm>
            <a:off x="6620256" y="23682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37" name="texto-304"/>
          <p:cNvSpPr txBox="1"/>
          <p:nvPr/>
        </p:nvSpPr>
        <p:spPr>
          <a:xfrm>
            <a:off x="548640" y="27889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Sensorial con 20 niños por sabor y encuesta a 30 padres</a:t>
            </a:r>
            <a:endParaRPr lang="en-US" sz="1250" dirty="0"/>
          </a:p>
        </p:txBody>
      </p:sp>
      <p:sp>
        <p:nvSpPr>
          <p:cNvPr id="38" name="texto-305"/>
          <p:cNvSpPr txBox="1"/>
          <p:nvPr/>
        </p:nvSpPr>
        <p:spPr>
          <a:xfrm>
            <a:off x="4709160" y="27889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Carlos</a:t>
            </a:r>
            <a:endParaRPr lang="en-US" sz="1150" dirty="0"/>
          </a:p>
        </p:txBody>
      </p:sp>
      <p:sp>
        <p:nvSpPr>
          <p:cNvPr id="39" name="gantt-barra-306"/>
          <p:cNvSpPr/>
          <p:nvPr/>
        </p:nvSpPr>
        <p:spPr>
          <a:xfrm>
            <a:off x="7398621" y="2916936"/>
            <a:ext cx="1094396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texto-307"/>
          <p:cNvSpPr txBox="1"/>
          <p:nvPr/>
        </p:nvSpPr>
        <p:spPr>
          <a:xfrm>
            <a:off x="548640" y="33375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RUC en el RMT, REMYPE y búsqueda fonética</a:t>
            </a:r>
            <a:endParaRPr lang="en-US" sz="1250" dirty="0"/>
          </a:p>
        </p:txBody>
      </p:sp>
      <p:sp>
        <p:nvSpPr>
          <p:cNvPr id="41" name="texto-308"/>
          <p:cNvSpPr txBox="1"/>
          <p:nvPr/>
        </p:nvSpPr>
        <p:spPr>
          <a:xfrm>
            <a:off x="4709160" y="3337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Adela</a:t>
            </a:r>
            <a:endParaRPr lang="en-US" sz="1150" dirty="0"/>
          </a:p>
        </p:txBody>
      </p:sp>
      <p:sp>
        <p:nvSpPr>
          <p:cNvPr id="42" name="gantt-barra-309"/>
          <p:cNvSpPr/>
          <p:nvPr/>
        </p:nvSpPr>
        <p:spPr>
          <a:xfrm>
            <a:off x="7009439" y="346557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3" name="texto-310"/>
          <p:cNvSpPr txBox="1"/>
          <p:nvPr/>
        </p:nvSpPr>
        <p:spPr>
          <a:xfrm>
            <a:off x="548640" y="38862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Cotizar 4 plantas y 3 proveedores de sangrecita</a:t>
            </a:r>
            <a:endParaRPr lang="en-US" sz="1250" dirty="0"/>
          </a:p>
        </p:txBody>
      </p:sp>
      <p:sp>
        <p:nvSpPr>
          <p:cNvPr id="44" name="texto-311"/>
          <p:cNvSpPr txBox="1"/>
          <p:nvPr/>
        </p:nvSpPr>
        <p:spPr>
          <a:xfrm>
            <a:off x="470916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</a:t>
            </a:r>
            <a:endParaRPr lang="en-US" sz="1150" dirty="0"/>
          </a:p>
        </p:txBody>
      </p:sp>
      <p:sp>
        <p:nvSpPr>
          <p:cNvPr id="45" name="gantt-barra-312"/>
          <p:cNvSpPr/>
          <p:nvPr/>
        </p:nvSpPr>
        <p:spPr>
          <a:xfrm>
            <a:off x="7009439" y="401421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6" name="texto-313"/>
          <p:cNvSpPr txBox="1"/>
          <p:nvPr/>
        </p:nvSpPr>
        <p:spPr>
          <a:xfrm>
            <a:off x="548640" y="4434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preliminar de azúcares y hierro (S/750)</a:t>
            </a:r>
            <a:endParaRPr lang="en-US" sz="1250" dirty="0"/>
          </a:p>
        </p:txBody>
      </p:sp>
      <p:sp>
        <p:nvSpPr>
          <p:cNvPr id="47" name="texto-314"/>
          <p:cNvSpPr txBox="1"/>
          <p:nvPr/>
        </p:nvSpPr>
        <p:spPr>
          <a:xfrm>
            <a:off x="4709160" y="4434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Adela</a:t>
            </a:r>
            <a:endParaRPr lang="en-US" sz="1150" dirty="0"/>
          </a:p>
        </p:txBody>
      </p:sp>
      <p:sp>
        <p:nvSpPr>
          <p:cNvPr id="48" name="gantt-barra-315"/>
          <p:cNvSpPr/>
          <p:nvPr/>
        </p:nvSpPr>
        <p:spPr>
          <a:xfrm>
            <a:off x="8566170" y="4562856"/>
            <a:ext cx="316031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9" name="texto-316"/>
          <p:cNvSpPr txBox="1"/>
          <p:nvPr/>
        </p:nvSpPr>
        <p:spPr>
          <a:xfrm>
            <a:off x="548640" y="49834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Contrato de maquila y marca en clase 30</a:t>
            </a:r>
            <a:endParaRPr lang="en-US" sz="1250" dirty="0"/>
          </a:p>
        </p:txBody>
      </p:sp>
      <p:sp>
        <p:nvSpPr>
          <p:cNvPr id="50" name="texto-317"/>
          <p:cNvSpPr txBox="1"/>
          <p:nvPr/>
        </p:nvSpPr>
        <p:spPr>
          <a:xfrm>
            <a:off x="4709160" y="4983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 y Adela</a:t>
            </a:r>
            <a:endParaRPr lang="en-US" sz="1150" dirty="0"/>
          </a:p>
        </p:txBody>
      </p:sp>
      <p:sp>
        <p:nvSpPr>
          <p:cNvPr id="51" name="gantt-barra-318"/>
          <p:cNvSpPr/>
          <p:nvPr/>
        </p:nvSpPr>
        <p:spPr>
          <a:xfrm>
            <a:off x="8955352" y="51114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2" name="texto-319"/>
          <p:cNvSpPr txBox="1"/>
          <p:nvPr/>
        </p:nvSpPr>
        <p:spPr>
          <a:xfrm>
            <a:off x="548640" y="55321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Lote piloto, muestras al laboratorio y lista de espera</a:t>
            </a:r>
            <a:endParaRPr lang="en-US" sz="1250" dirty="0"/>
          </a:p>
        </p:txBody>
      </p:sp>
      <p:sp>
        <p:nvSpPr>
          <p:cNvPr id="53" name="texto-320"/>
          <p:cNvSpPr txBox="1"/>
          <p:nvPr/>
        </p:nvSpPr>
        <p:spPr>
          <a:xfrm>
            <a:off x="4709160" y="5532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Patricia, Adela y Carlos</a:t>
            </a:r>
            <a:endParaRPr lang="en-US" sz="1150" dirty="0"/>
          </a:p>
        </p:txBody>
      </p:sp>
      <p:sp>
        <p:nvSpPr>
          <p:cNvPr id="54" name="gantt-barra-321"/>
          <p:cNvSpPr/>
          <p:nvPr/>
        </p:nvSpPr>
        <p:spPr>
          <a:xfrm>
            <a:off x="10122900" y="566013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55" name="tarjeta-322"/>
          <p:cNvSpPr/>
          <p:nvPr/>
        </p:nvSpPr>
        <p:spPr>
          <a:xfrm>
            <a:off x="548640" y="5715000"/>
            <a:ext cx="11094415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6" name="texto-323"/>
          <p:cNvSpPr txBox="1"/>
          <p:nvPr/>
        </p:nvSpPr>
        <p:spPr>
          <a:xfrm>
            <a:off x="822960" y="5733288"/>
            <a:ext cx="10545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 al 31 de diciembre: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muestras en el laboratorio y primeras 100 familias en lista de espera [HIPÓTESIS].</a:t>
            </a:r>
            <a:endParaRPr lang="en-US" sz="1300" dirty="0"/>
          </a:p>
        </p:txBody>
      </p:sp>
      <p:sp>
        <p:nvSpPr>
          <p:cNvPr id="5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(hoja de ruta por semanas, octubre a diciembre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Elevator pitch de 1 minuto</a:t>
            </a:r>
            <a:endParaRPr lang="en-US" sz="3200" dirty="0"/>
          </a:p>
        </p:txBody>
      </p:sp>
      <p:sp>
        <p:nvSpPr>
          <p:cNvPr id="3" name="tarjeta-324"/>
          <p:cNvSpPr/>
          <p:nvPr/>
        </p:nvSpPr>
        <p:spPr>
          <a:xfrm>
            <a:off x="548640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25"/>
          <p:cNvSpPr txBox="1"/>
          <p:nvPr/>
        </p:nvSpPr>
        <p:spPr>
          <a:xfrm>
            <a:off x="777240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0:00-0:10</a:t>
            </a:r>
            <a:endParaRPr lang="en-US" sz="1400" dirty="0"/>
          </a:p>
        </p:txBody>
      </p:sp>
      <p:sp>
        <p:nvSpPr>
          <p:cNvPr id="5" name="texto-326"/>
          <p:cNvSpPr txBox="1"/>
          <p:nvPr/>
        </p:nvSpPr>
        <p:spPr>
          <a:xfrm>
            <a:off x="777240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Lima, uno de cada cuatro niños menores de tres años tiene anemia, y en los escolares atendidos por el MINSA la cifra llega a 22.5 %. Los padres lo saben.</a:t>
            </a:r>
            <a:endParaRPr lang="en-US" sz="1600" dirty="0"/>
          </a:p>
        </p:txBody>
      </p:sp>
      <p:sp>
        <p:nvSpPr>
          <p:cNvPr id="6" name="tarjeta-327"/>
          <p:cNvSpPr/>
          <p:nvPr/>
        </p:nvSpPr>
        <p:spPr>
          <a:xfrm>
            <a:off x="4306824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o-328"/>
          <p:cNvSpPr txBox="1"/>
          <p:nvPr/>
        </p:nvSpPr>
        <p:spPr>
          <a:xfrm>
            <a:off x="4535424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0:10-0:20</a:t>
            </a:r>
            <a:endParaRPr lang="en-US" sz="1400" dirty="0"/>
          </a:p>
        </p:txBody>
      </p:sp>
      <p:sp>
        <p:nvSpPr>
          <p:cNvPr id="8" name="texto-329"/>
          <p:cNvSpPr txBox="1"/>
          <p:nvPr/>
        </p:nvSpPr>
        <p:spPr>
          <a:xfrm>
            <a:off x="4535424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problema es otro: lo saludable regresa intacto en la lonchera. Hígado, gotas de hierro, sangrecita a la vista: todo vuelve a casa sin abrir.</a:t>
            </a:r>
            <a:endParaRPr lang="en-US" sz="1600" dirty="0"/>
          </a:p>
        </p:txBody>
      </p:sp>
      <p:sp>
        <p:nvSpPr>
          <p:cNvPr id="9" name="tarjeta-330"/>
          <p:cNvSpPr/>
          <p:nvPr/>
        </p:nvSpPr>
        <p:spPr>
          <a:xfrm>
            <a:off x="8065008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o-331"/>
          <p:cNvSpPr txBox="1"/>
          <p:nvPr/>
        </p:nvSpPr>
        <p:spPr>
          <a:xfrm>
            <a:off x="8293608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0:20-0:30</a:t>
            </a:r>
            <a:endParaRPr lang="en-US" sz="1400" dirty="0"/>
          </a:p>
        </p:txBody>
      </p:sp>
      <p:sp>
        <p:nvSpPr>
          <p:cNvPr id="11" name="texto-332"/>
          <p:cNvSpPr txBox="1"/>
          <p:nvPr/>
        </p:nvSpPr>
        <p:spPr>
          <a:xfrm>
            <a:off x="8293608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AndiBite es un mini brownie de 20 gramos con sangrecita, con hierro medido en laboratorio y tres sabores para que la lonchera cambie cada día.</a:t>
            </a:r>
            <a:endParaRPr lang="en-US" sz="1600" dirty="0"/>
          </a:p>
        </p:txBody>
      </p:sp>
      <p:sp>
        <p:nvSpPr>
          <p:cNvPr id="12" name="tarjeta-333"/>
          <p:cNvSpPr/>
          <p:nvPr/>
        </p:nvSpPr>
        <p:spPr>
          <a:xfrm>
            <a:off x="548640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o-334"/>
          <p:cNvSpPr txBox="1"/>
          <p:nvPr/>
        </p:nvSpPr>
        <p:spPr>
          <a:xfrm>
            <a:off x="777240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0:30-0:40</a:t>
            </a:r>
            <a:endParaRPr lang="en-US" sz="1400" dirty="0"/>
          </a:p>
        </p:txBody>
      </p:sp>
      <p:sp>
        <p:nvSpPr>
          <p:cNvPr id="14" name="texto-335"/>
          <p:cNvSpPr txBox="1"/>
          <p:nvPr/>
        </p:nvSpPr>
        <p:spPr>
          <a:xfrm>
            <a:off x="777240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Es para padres planificados de Lima Top y Lima Moderna: 46,000 hogares que leen etiquetas y pagan por evidencia, no por promesas.</a:t>
            </a:r>
            <a:endParaRPr lang="en-US" sz="1600" dirty="0"/>
          </a:p>
        </p:txBody>
      </p:sp>
      <p:sp>
        <p:nvSpPr>
          <p:cNvPr id="15" name="tarjeta-336"/>
          <p:cNvSpPr/>
          <p:nvPr/>
        </p:nvSpPr>
        <p:spPr>
          <a:xfrm>
            <a:off x="4306824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o-337"/>
          <p:cNvSpPr txBox="1"/>
          <p:nvPr/>
        </p:nvSpPr>
        <p:spPr>
          <a:xfrm>
            <a:off x="4535424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0:40-0:50</a:t>
            </a:r>
            <a:endParaRPr lang="en-US" sz="1400" dirty="0"/>
          </a:p>
        </p:txBody>
      </p:sp>
      <p:sp>
        <p:nvSpPr>
          <p:cNvPr id="17" name="texto-338"/>
          <p:cNvSpPr txBox="1"/>
          <p:nvPr/>
        </p:nvSpPr>
        <p:spPr>
          <a:xfrm>
            <a:off x="4535424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Nuestra diferencia: menos de 7.1 gramos de azúcar por 100, así que no lleva octógono. El niño ve un brownie; el padre ve los miligramos.</a:t>
            </a:r>
            <a:endParaRPr lang="en-US" sz="1600" dirty="0"/>
          </a:p>
        </p:txBody>
      </p:sp>
      <p:sp>
        <p:nvSpPr>
          <p:cNvPr id="18" name="tarjeta-339"/>
          <p:cNvSpPr/>
          <p:nvPr/>
        </p:nvSpPr>
        <p:spPr>
          <a:xfrm>
            <a:off x="8065008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o-340"/>
          <p:cNvSpPr txBox="1"/>
          <p:nvPr/>
        </p:nvSpPr>
        <p:spPr>
          <a:xfrm>
            <a:off x="8293608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0:50-1:00</a:t>
            </a:r>
            <a:endParaRPr lang="en-US" sz="1400" dirty="0"/>
          </a:p>
        </p:txBody>
      </p:sp>
      <p:sp>
        <p:nvSpPr>
          <p:cNvPr id="20" name="texto-341"/>
          <p:cNvSpPr txBox="1"/>
          <p:nvPr/>
        </p:nvSpPr>
        <p:spPr>
          <a:xfrm>
            <a:off x="8293608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validamos con diez entrevistas, dos focus groups y degustación. Con 3,500 unidades al mes llegamos al equilibrio. Prueben la caja degustación y ayúdennos a abrir el primer colegio piloto.</a:t>
            </a:r>
            <a:endParaRPr lang="en-US" sz="15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ENDES 2024; SIEN-HIS 2024-I; APEIM 2025 y CPI 2026 (46,000 hogares); elaboración propia (azúcar y equilibrio).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Equipo y roles</a:t>
            </a:r>
            <a:endParaRPr lang="en-US" sz="3200" dirty="0"/>
          </a:p>
        </p:txBody>
      </p:sp>
      <p:sp>
        <p:nvSpPr>
          <p:cNvPr id="3" name="tarjeta-342"/>
          <p:cNvSpPr/>
          <p:nvPr/>
        </p:nvSpPr>
        <p:spPr>
          <a:xfrm>
            <a:off x="548640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343"/>
          <p:cNvSpPr/>
          <p:nvPr/>
        </p:nvSpPr>
        <p:spPr>
          <a:xfrm>
            <a:off x="1036290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DA</a:t>
            </a:r>
            <a:endParaRPr lang="en-US" sz="2800" dirty="0"/>
          </a:p>
        </p:txBody>
      </p:sp>
      <p:sp>
        <p:nvSpPr>
          <p:cNvPr id="5" name="texto-344"/>
          <p:cNvSpPr txBox="1"/>
          <p:nvPr/>
        </p:nvSpPr>
        <p:spPr>
          <a:xfrm>
            <a:off x="685800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Diana Ayoso</a:t>
            </a:r>
            <a:endParaRPr lang="en-US" sz="1700" dirty="0"/>
          </a:p>
        </p:txBody>
      </p:sp>
      <p:sp>
        <p:nvSpPr>
          <p:cNvPr id="6" name="texto-345"/>
          <p:cNvSpPr txBox="1"/>
          <p:nvPr/>
        </p:nvSpPr>
        <p:spPr>
          <a:xfrm>
            <a:off x="685800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I+D y prueba sensorial</a:t>
            </a:r>
            <a:endParaRPr lang="en-US" sz="1300" dirty="0"/>
          </a:p>
        </p:txBody>
      </p:sp>
      <p:sp>
        <p:nvSpPr>
          <p:cNvPr id="7" name="texto-346"/>
          <p:cNvSpPr txBox="1"/>
          <p:nvPr/>
        </p:nvSpPr>
        <p:spPr>
          <a:xfrm>
            <a:off x="731520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Fórmula, pruebas, escalamiento y calidad</a:t>
            </a:r>
            <a:endParaRPr lang="en-US" sz="1200" dirty="0"/>
          </a:p>
        </p:txBody>
      </p:sp>
      <p:sp>
        <p:nvSpPr>
          <p:cNvPr id="8" name="tarjeta-347"/>
          <p:cNvSpPr/>
          <p:nvPr/>
        </p:nvSpPr>
        <p:spPr>
          <a:xfrm>
            <a:off x="2804099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circulo-348"/>
          <p:cNvSpPr/>
          <p:nvPr/>
        </p:nvSpPr>
        <p:spPr>
          <a:xfrm>
            <a:off x="3291749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PC</a:t>
            </a:r>
            <a:endParaRPr lang="en-US" sz="2800" dirty="0"/>
          </a:p>
        </p:txBody>
      </p:sp>
      <p:sp>
        <p:nvSpPr>
          <p:cNvPr id="10" name="texto-349"/>
          <p:cNvSpPr txBox="1"/>
          <p:nvPr/>
        </p:nvSpPr>
        <p:spPr>
          <a:xfrm>
            <a:off x="2941259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Patricia Cárdenas</a:t>
            </a:r>
            <a:endParaRPr lang="en-US" sz="1700" dirty="0"/>
          </a:p>
        </p:txBody>
      </p:sp>
      <p:sp>
        <p:nvSpPr>
          <p:cNvPr id="11" name="texto-350"/>
          <p:cNvSpPr txBox="1"/>
          <p:nvPr/>
        </p:nvSpPr>
        <p:spPr>
          <a:xfrm>
            <a:off x="2941259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Operaciones</a:t>
            </a:r>
            <a:endParaRPr lang="en-US" sz="1300" dirty="0"/>
          </a:p>
        </p:txBody>
      </p:sp>
      <p:sp>
        <p:nvSpPr>
          <p:cNvPr id="12" name="texto-351"/>
          <p:cNvSpPr txBox="1"/>
          <p:nvPr/>
        </p:nvSpPr>
        <p:spPr>
          <a:xfrm>
            <a:off x="2986979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compras, inventario y despacho</a:t>
            </a:r>
            <a:endParaRPr lang="en-US" sz="1200" dirty="0"/>
          </a:p>
        </p:txBody>
      </p:sp>
      <p:sp>
        <p:nvSpPr>
          <p:cNvPr id="13" name="tarjeta-352"/>
          <p:cNvSpPr/>
          <p:nvPr/>
        </p:nvSpPr>
        <p:spPr>
          <a:xfrm>
            <a:off x="5059558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circulo-353"/>
          <p:cNvSpPr/>
          <p:nvPr/>
        </p:nvSpPr>
        <p:spPr>
          <a:xfrm>
            <a:off x="5547208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AR</a:t>
            </a:r>
            <a:endParaRPr lang="en-US" sz="2800" dirty="0"/>
          </a:p>
        </p:txBody>
      </p:sp>
      <p:sp>
        <p:nvSpPr>
          <p:cNvPr id="15" name="texto-354"/>
          <p:cNvSpPr txBox="1"/>
          <p:nvPr/>
        </p:nvSpPr>
        <p:spPr>
          <a:xfrm>
            <a:off x="5196718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Adela Robles</a:t>
            </a:r>
            <a:endParaRPr lang="en-US" sz="1700" dirty="0"/>
          </a:p>
        </p:txBody>
      </p:sp>
      <p:sp>
        <p:nvSpPr>
          <p:cNvPr id="16" name="texto-355"/>
          <p:cNvSpPr txBox="1"/>
          <p:nvPr/>
        </p:nvSpPr>
        <p:spPr>
          <a:xfrm>
            <a:off x="5196718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Regulación, legal y contabilidad</a:t>
            </a:r>
            <a:endParaRPr lang="en-US" sz="1300" dirty="0"/>
          </a:p>
        </p:txBody>
      </p:sp>
      <p:sp>
        <p:nvSpPr>
          <p:cNvPr id="17" name="texto-356"/>
          <p:cNvSpPr txBox="1"/>
          <p:nvPr/>
        </p:nvSpPr>
        <p:spPr>
          <a:xfrm>
            <a:off x="5242438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registro sanitario, etiqueta e INDECOPI</a:t>
            </a:r>
            <a:endParaRPr lang="en-US" sz="1200" dirty="0"/>
          </a:p>
        </p:txBody>
      </p:sp>
      <p:sp>
        <p:nvSpPr>
          <p:cNvPr id="18" name="tarjeta-357"/>
          <p:cNvSpPr/>
          <p:nvPr/>
        </p:nvSpPr>
        <p:spPr>
          <a:xfrm>
            <a:off x="7315017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circulo-358"/>
          <p:cNvSpPr/>
          <p:nvPr/>
        </p:nvSpPr>
        <p:spPr>
          <a:xfrm>
            <a:off x="7802667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AB</a:t>
            </a:r>
            <a:endParaRPr lang="en-US" sz="2800" dirty="0"/>
          </a:p>
        </p:txBody>
      </p:sp>
      <p:sp>
        <p:nvSpPr>
          <p:cNvPr id="20" name="texto-359"/>
          <p:cNvSpPr txBox="1"/>
          <p:nvPr/>
        </p:nvSpPr>
        <p:spPr>
          <a:xfrm>
            <a:off x="7452177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Angie Blas</a:t>
            </a:r>
            <a:endParaRPr lang="en-US" sz="1700" dirty="0"/>
          </a:p>
        </p:txBody>
      </p:sp>
      <p:sp>
        <p:nvSpPr>
          <p:cNvPr id="21" name="texto-360"/>
          <p:cNvSpPr txBox="1"/>
          <p:nvPr/>
        </p:nvSpPr>
        <p:spPr>
          <a:xfrm>
            <a:off x="7452177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Marca, contenido y pauta</a:t>
            </a:r>
            <a:endParaRPr lang="en-US" sz="1300" dirty="0"/>
          </a:p>
        </p:txBody>
      </p:sp>
      <p:sp>
        <p:nvSpPr>
          <p:cNvPr id="22" name="texto-361"/>
          <p:cNvSpPr txBox="1"/>
          <p:nvPr/>
        </p:nvSpPr>
        <p:spPr>
          <a:xfrm>
            <a:off x="7497897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Identidad, empaque, redes y lanzamiento</a:t>
            </a:r>
            <a:endParaRPr lang="en-US" sz="1200" dirty="0"/>
          </a:p>
        </p:txBody>
      </p:sp>
      <p:sp>
        <p:nvSpPr>
          <p:cNvPr id="23" name="tarjeta-362"/>
          <p:cNvSpPr/>
          <p:nvPr/>
        </p:nvSpPr>
        <p:spPr>
          <a:xfrm>
            <a:off x="9570476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63"/>
          <p:cNvSpPr/>
          <p:nvPr/>
        </p:nvSpPr>
        <p:spPr>
          <a:xfrm>
            <a:off x="10058126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CI</a:t>
            </a:r>
            <a:endParaRPr lang="en-US" sz="2800" dirty="0"/>
          </a:p>
        </p:txBody>
      </p:sp>
      <p:sp>
        <p:nvSpPr>
          <p:cNvPr id="25" name="texto-364"/>
          <p:cNvSpPr txBox="1"/>
          <p:nvPr/>
        </p:nvSpPr>
        <p:spPr>
          <a:xfrm>
            <a:off x="9707636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Carlos Inga</a:t>
            </a:r>
            <a:endParaRPr lang="en-US" sz="1700" dirty="0"/>
          </a:p>
        </p:txBody>
      </p:sp>
      <p:sp>
        <p:nvSpPr>
          <p:cNvPr id="26" name="texto-365"/>
          <p:cNvSpPr txBox="1"/>
          <p:nvPr/>
        </p:nvSpPr>
        <p:spPr>
          <a:xfrm>
            <a:off x="9707636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Comercial y modelo financiero</a:t>
            </a:r>
            <a:endParaRPr lang="en-US" sz="1300" dirty="0"/>
          </a:p>
        </p:txBody>
      </p:sp>
      <p:sp>
        <p:nvSpPr>
          <p:cNvPr id="27" name="texto-366"/>
          <p:cNvSpPr txBox="1"/>
          <p:nvPr/>
        </p:nvSpPr>
        <p:spPr>
          <a:xfrm>
            <a:off x="9753356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WhatsApp, colegios, naturistas y flujo de caja</a:t>
            </a:r>
            <a:endParaRPr lang="en-US" sz="12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Cinco socios con aporte y participación iguales (20 % cada uno). Fuente: elaboración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367"/>
          <p:cNvSpPr txBox="1"/>
          <p:nvPr/>
        </p:nvSpPr>
        <p:spPr>
          <a:xfrm>
            <a:off x="548640" y="594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¿Quién de ustedes comería hígado en el recreo?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pregunta no es si los niños necesitan hierro, sino por qué nadie lo había hecho rico.</a:t>
            </a:r>
            <a:endParaRPr lang="en-US" sz="4000" dirty="0"/>
          </a:p>
        </p:txBody>
      </p:sp>
      <p:sp>
        <p:nvSpPr>
          <p:cNvPr id="4" name="ficha-fe-368"/>
          <p:cNvSpPr/>
          <p:nvPr/>
        </p:nvSpPr>
        <p:spPr>
          <a:xfrm>
            <a:off x="9326880" y="1325880"/>
            <a:ext cx="2103120" cy="210312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fe-num-369"/>
          <p:cNvSpPr txBox="1"/>
          <p:nvPr/>
        </p:nvSpPr>
        <p:spPr>
          <a:xfrm>
            <a:off x="9537192" y="1473098"/>
            <a:ext cx="105156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2500" dirty="0"/>
          </a:p>
        </p:txBody>
      </p:sp>
      <p:sp>
        <p:nvSpPr>
          <p:cNvPr id="6" name="fe-sym-370"/>
          <p:cNvSpPr txBox="1"/>
          <p:nvPr/>
        </p:nvSpPr>
        <p:spPr>
          <a:xfrm>
            <a:off x="9326880" y="1704442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7400" dirty="0"/>
          </a:p>
        </p:txBody>
      </p:sp>
      <p:sp>
        <p:nvSpPr>
          <p:cNvPr id="7" name="fe-cap-371"/>
          <p:cNvSpPr txBox="1"/>
          <p:nvPr/>
        </p:nvSpPr>
        <p:spPr>
          <a:xfrm>
            <a:off x="9326880" y="2861158"/>
            <a:ext cx="210312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2200" dirty="0"/>
          </a:p>
        </p:txBody>
      </p:sp>
      <p:sp>
        <p:nvSpPr>
          <p:cNvPr id="8" name="tarjeta-372"/>
          <p:cNvSpPr/>
          <p:nvPr/>
        </p:nvSpPr>
        <p:spPr>
          <a:xfrm>
            <a:off x="548640" y="3977640"/>
            <a:ext cx="768096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9" name="texto-373"/>
          <p:cNvSpPr txBox="1"/>
          <p:nvPr/>
        </p:nvSpPr>
        <p:spPr>
          <a:xfrm>
            <a:off x="822960" y="4023360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Prueben la caja degustación y ayúdennos a abrir el primer colegio piloto.</a:t>
            </a:r>
            <a:endParaRPr lang="en-US" sz="1900" dirty="0"/>
          </a:p>
        </p:txBody>
      </p:sp>
      <p:sp>
        <p:nvSpPr>
          <p:cNvPr id="10" name="texto-374"/>
          <p:cNvSpPr txBox="1"/>
          <p:nvPr/>
        </p:nvSpPr>
        <p:spPr>
          <a:xfrm>
            <a:off x="8503920" y="393192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Gracias</a:t>
            </a:r>
            <a:endParaRPr lang="en-US" sz="5200" dirty="0"/>
          </a:p>
        </p:txBody>
      </p:sp>
      <p:sp>
        <p:nvSpPr>
          <p:cNvPr id="11" name="texto-375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 · Profesora Paola Cevallos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diBite 2.0">
  <a:themeElements>
    <a:clrScheme name="AndiBite 2.0">
      <a:dk1>
        <a:srgbClr val="3B2014"/>
      </a:dk1>
      <a:lt1>
        <a:srgbClr val="FFFFFF"/>
      </a:lt1>
      <a:dk2>
        <a:srgbClr val="5C301E"/>
      </a:dk2>
      <a:lt2>
        <a:srgbClr val="F7ECDA"/>
      </a:lt2>
      <a:accent1>
        <a:srgbClr val="8B1E2B"/>
      </a:accent1>
      <a:accent2>
        <a:srgbClr val="E5A93A"/>
      </a:accent2>
      <a:accent3>
        <a:srgbClr val="D7392B"/>
      </a:accent3>
      <a:accent4>
        <a:srgbClr val="E9B730"/>
      </a:accent4>
      <a:accent5>
        <a:srgbClr val="B9733A"/>
      </a:accent5>
      <a:accent6>
        <a:srgbClr val="E8CDB3"/>
      </a:accent6>
      <a:hlink>
        <a:srgbClr val="8B1E2B"/>
      </a:hlink>
      <a:folHlink>
        <a:srgbClr val="5C301E"/>
      </a:folHlink>
    </a:clrScheme>
    <a:fontScheme name="AndiBite 2.0">
      <a:majorFont>
        <a:latin typeface="Fredoka O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Grupo 2 - Desarrollo y lanzamiento de nuevos productos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2.0 - T1</dc:title>
  <dc:subject>Canvas, propuesta de valor, validacion y elevator pitch</dc:subject>
  <dc:creator>Grupo 2</dc:creator>
  <cp:lastModifiedBy>Grupo 2</cp:lastModifiedBy>
  <cp:revision>1</cp:revision>
  <dcterms:created xsi:type="dcterms:W3CDTF">2026-10-03T17:14:28Z</dcterms:created>
  <dcterms:modified xsi:type="dcterms:W3CDTF">2026-10-03T17:14:28Z</dcterms:modified>
</cp:coreProperties>
</file>