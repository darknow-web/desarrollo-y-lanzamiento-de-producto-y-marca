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df257bf-30d9-a51d-c032-17186338c70d}">
          <p14:sldIdLst>
            <p14:sldId id="256"/>
            <p14:sldId id="257"/>
          </p14:sldIdLst>
        </p14:section>
        <p14:section name="Problema y oportunidad" id="{539b1ce7-6dac-124f-f0a6-a422d5a848d7}">
          <p14:sldIdLst>
            <p14:sldId id="258"/>
            <p14:sldId id="259"/>
          </p14:sldIdLst>
        </p14:section>
        <p14:section name="Solución y validación" id="{1aae8b5a-9f86-8adc-2596-3409c0ce5db9}">
          <p14:sldIdLst>
            <p14:sldId id="260"/>
            <p14:sldId id="261"/>
          </p14:sldIdLst>
        </p14:section>
        <p14:section name="Cliente y propuesta de valor" id="{5c3dda22-2fb4-457a-243a-7b055773d8cb}">
          <p14:sldIdLst>
            <p14:sldId id="262"/>
            <p14:sldId id="263"/>
            <p14:sldId id="264"/>
            <p14:sldId id="265"/>
            <p14:sldId id="266"/>
          </p14:sldIdLst>
        </p14:section>
        <p14:section name="Modelo de negocio" id="{6897c7d7-df52-4646-1271-8035dd61b0be}">
          <p14:sldIdLst>
            <p14:sldId id="267"/>
            <p14:sldId id="268"/>
            <p14:sldId id="269"/>
          </p14:sldIdLst>
        </p14:section>
        <p14:section name="Marca, finanzas y ventas" id="{ed228117-45aa-1954-d70a-fbf15e578c3d}">
          <p14:sldIdLst>
            <p14:sldId id="270"/>
            <p14:sldId id="271"/>
            <p14:sldId id="272"/>
          </p14:sldIdLst>
        </p14:section>
        <p14:section name="Riesgos, plan y pitch" id="{8d036be6-dfad-3e26-c312-dd95cb816af8}">
          <p14:sldIdLst>
            <p14:sldId id="273"/>
            <p14:sldId id="274"/>
            <p14:sldId id="275"/>
          </p14:sldIdLst>
        </p14:section>
        <p14:section name="Cierre" id="{4182c386-f42d-3f0a-bcec-7abc48d11146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301E"/>
                </a:solidFill>
                <a:latin typeface="Nunito"/>
              </a:defRPr>
            </a:pPr>
            <a:r>
              <a:rPr sz="1200" b="0" i="0" u="none" strike="noStrike">
                <a:solidFill>
                  <a:srgbClr val="5C301E"/>
                </a:solidFill>
                <a:latin typeface="Nunito"/>
              </a:rPr>
              <a:t>Unidades del año 1 por canal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Unidades año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1E2B"/>
              </a:solidFill>
              <a:effectLst/>
            </c:spPr>
          </c:dPt>
          <c:dPt>
            <c:idx val="1"/>
            <c:bubble3D val="0"/>
            <c:spPr>
              <a:solidFill>
                <a:srgbClr val="E5A93A"/>
              </a:solidFill>
              <a:effectLst/>
            </c:spPr>
          </c:dPt>
          <c:dPt>
            <c:idx val="2"/>
            <c:bubble3D val="0"/>
            <c:spPr>
              <a:solidFill>
                <a:srgbClr val="B9733A"/>
              </a:solidFill>
              <a:effectLst/>
            </c:spPr>
          </c:dPt>
          <c:dPt>
            <c:idx val="3"/>
            <c:bubble3D val="0"/>
            <c:spPr>
              <a:solidFill>
                <a:srgbClr val="5C301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Nuni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Nuni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Nuni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Nuni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WhatsApp e IG</c:v>
                </c:pt>
                <c:pt idx="1">
                  <c:v>Quioscos</c:v>
                </c:pt>
                <c:pt idx="2">
                  <c:v>Ferias</c:v>
                </c:pt>
                <c:pt idx="3">
                  <c:v>Naturistas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79</c:v>
                </c:pt>
                <c:pt idx="1">
                  <c:v>9.5</c:v>
                </c:pt>
                <c:pt idx="2">
                  <c:v>7.4</c:v>
                </c:pt>
                <c:pt idx="3">
                  <c:v>4.1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B2014"/>
              </a:solidFill>
              <a:latin typeface="Nunito"/>
              <a:cs typeface="Nunit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301E"/>
                </a:solidFill>
                <a:latin typeface="Nunito"/>
              </a:defRPr>
            </a:pPr>
            <a:r>
              <a:rPr sz="1300" b="0" i="0" u="none" strike="noStrike">
                <a:solidFill>
                  <a:srgbClr val="5C301E"/>
                </a:solidFill>
                <a:latin typeface="Nunito"/>
              </a:rPr>
              <a:t>Unidades, marzo 2027 a febrero 2028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WhatsApp e IG</c:v>
                </c:pt>
              </c:strCache>
            </c:strRef>
          </c:tx>
          <c:spPr>
            <a:solidFill>
              <a:srgbClr val="8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Pesimista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26280</c:v>
                </c:pt>
                <c:pt idx="1">
                  <c:v>60318</c:v>
                </c:pt>
                <c:pt idx="2">
                  <c:v>118416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Ferias</c:v>
                </c:pt>
              </c:strCache>
            </c:strRef>
          </c:tx>
          <c:spPr>
            <a:solidFill>
              <a:srgbClr val="E5A9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Pesimista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2970</c:v>
                </c:pt>
                <c:pt idx="1">
                  <c:v>5640</c:v>
                </c:pt>
                <c:pt idx="2">
                  <c:v>10650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Colegios</c:v>
                </c:pt>
              </c:strCache>
            </c:strRef>
          </c:tx>
          <c:spPr>
            <a:solidFill>
              <a:srgbClr val="B97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Pesimista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2712</c:v>
                </c:pt>
                <c:pt idx="1">
                  <c:v>7245</c:v>
                </c:pt>
                <c:pt idx="2">
                  <c:v>16065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Naturistas</c:v>
                </c:pt>
              </c:strCache>
            </c:strRef>
          </c:tx>
          <c:spPr>
            <a:solidFill>
              <a:srgbClr val="5C30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Pesimista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1287</c:v>
                </c:pt>
                <c:pt idx="1">
                  <c:v>3132</c:v>
                </c:pt>
                <c:pt idx="2">
                  <c:v>6356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Supermercado</c:v>
                </c:pt>
              </c:strCache>
            </c:strRef>
          </c:tx>
          <c:spPr>
            <a:solidFill>
              <a:srgbClr val="D7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Pesimista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014"/>
                </a:solidFill>
                <a:latin typeface="Nuni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B89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2014"/>
                </a:solidFill>
                <a:latin typeface="Nuni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B2014"/>
              </a:solidFill>
              <a:latin typeface="Nunito"/>
              <a:cs typeface="Nunit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0:00-0:15   |   Expone: Carlos
Bloque original en el guion del doc 07: 0:00-0:20 (Portada, Carlos)
Ideas clave:
- "Venimos a presentar una empresa, no una idea".
- Presentar al Grupo 2 y el claim: "Hierro medido. Sabor a brownie."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0:15-0:25   |   Expone: Carlos
Esta diapositiva no tiene bloque propio en el guion del doc 07; tiempo asignado por la consultora.
Ideas clave:
- Recorrer en una frase los seis bloques: problema, solución validada, cliente y propuesta de valor, modelo de negocio, números y plan.
- Pasar rápido: la agenda no se lee.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0:25-1:05   |   Expone: Carlos
Bloque original en el guion del doc 07: 0:20-1:20 (Problema, Carlos)
Ideas clave:
- Las dos cifras de anemia: 24 % en menores de 3 años de Lima Metropolitana y 22.5 % en escolares atendidos por el MINSA.
- La lonchera que regresa llena: el problema no es la información, es la aceptación.
- Cerrar con la cita de Mateo: "parecía carbón".
Ojo: el 22.5 % viene de niños atendidos por el MINSA (sobrerrepresenta NSE C, D y E). Frente al consumidor no se habla de anemia; aquí sí, porque es para el jurado.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1:05-1:40   |   Expone: Angie
Bloque original en el guion del doc 07: 3:20-4:05 (Por qué ahora, Angie)
Ideas clave:
- Regulación, demografía y consumo alineados.
- Octógonos y quioscos sin octógono: el que no tiene octógono entra al colegio.
- RS sin tasa desde julio de 2026 y una planta (Unión) que ya maquila snacks saludables.
- Padres tardíos y planificados (53.1 % de los nacimientos con madre de 30+) y matrícula privada de 49.6 %.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1:40-2:25   |   Expone: Diana
Bloque original en el guion del doc 07: 1:20-2:20 (Solución, Diana)
Ideas clave:
- Producto en mano: tres sabores sobre una misma base (Chispa, Andi y Lúcu).
- Hierro medido: unos 1.9 mg por unidad según receta; la cifra de etiqueta la da el laboratorio.
- Sin octógono: 4.6 a 7.1 g de azúcar por 100 g con eritritol, plátano y solo 15 g de panela por lote; el octógono se activa con 10 g.
- La foto es el empaque MVP actual; el nuevo se ve en la diapositiva de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2:25-3:10   |   Expone: Diana
Bloque original en el guion del doc 07: 2:20-3:20 (Validación, Diana)
Ideas clave:
- Cuatro capas de evidencia: necesidad (entrevistas), formato (focus 1), producto y precio (focus 2 con degustación) y competencia (store check).
- Leer el resultado del focus 2 con la cifra real [POR COMPLETAR POR EL EQUIPO].
- Nota de método: entrevistas y focus 1 fueron con madres de Lima Norte (NSE C/B); sus dolores son de la categoría. Lo propio del A/B se respalda con datos secundarios y el focus 2.
Datos del focus 2 que el equipo debe cargar (cuadros en rojo): muestra (n, distritos, NSE); agrado 1 a 5; cuántos detectaron la sangrecita (x de n); intención antes y después de la revelación; empaque elegido; nombre preferido (AndiBite, AndiBite u otro); precio aceptable del pack de 6 (rango y mediana); frase más fuerte.
Store check: tienda, marca, precio y octógonos en góndola.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GUION (documento 07, seccion 3.5, ajustado a 22 diapositivas; total 12:00)</a:t>
            </a:r>
          </a:p>
          <a:p>
            <a:r>
              <a:t>Tiempo: 3:10-3:45   |   Expone: Adela</a:t>
            </a:r>
          </a:p>
          <a:p/>
          <a:p>
            <a:r>
              <a:t>Ideas clave:</a:t>
            </a:r>
          </a:p>
          <a:p>
            <a:r>
              <a:t>- TAM S/130.9 millones, SAM S/62.8 millones y SAM núcleo S/17.3 millones.</a:t>
            </a:r>
          </a:p>
          <a:p>
            <a:r>
              <a:t>- El año 1 (noviembre 2026 a octubre 2027) vende 47,223 brownies, el 1.1 % del núcleo: una meta prudente.</a:t>
            </a:r>
          </a:p>
          <a:p>
            <a:r>
              <a:t>- Las zonas 6 y 7 concentran el 58.9 % de los hogares A de Lima, y ahí están los malls y supermercados donde vamos a estar.</a:t>
            </a:r>
          </a:p>
          <a:p/>
          <a:p>
            <a:r>
              <a:t>Pregunta difícil: ¿no es un nicho muy chico? 46,000 hogares núcleo y 168,000 en el NSE A/B; en el año 2 entran la zona 8 y la góndola del supermercado.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3:45-4:20   |   Expone: Angie
Bloque original en el guion del doc 07: 4:05-4:50 (Cliente, Angie)
Ideas clave:
- Claudia y Rodrigo a las 6:00 a. m.: ella arma dos loncheras distintas; él resuelve la semana.
- Claudia: "Yo sé lo que le falta a mi hijo; el problema es que todo lo que le falta, él lo escupe".
- Rodrigo: "No me vendas salud, véndeme una mañana menos".
- Planifican, leen etiquetas y pagan por evidencia: preguntan cuántos mg de hierro tiene y si tiene registro sanitario.
Las fichas son de la semana 3 y muestran 37 y 41 años e ingresos de S/16,000 y S/22,000. El documento 04 las actualizó a 38 y 42 años y S/13,500 y S/18,000; actualizar las fichas en Canva antes de exponer.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4:20-4:40   |   Expone: Diana
Esta diapositiva no tiene bloque propio en el guion del doc 07; tiempo asignado por la consultora.
Ideas clave:
- Leer la frase completa, despacio: "Hierro medido, sabor a brownie: el snack de lonchera que tu hijo sí se come y que tú sí puedes leer".
- "Sí se come" responde al dolor sensorial; "sí puedes leer" responde al 42 % que desconfía de lo envasado (Kantar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4:40-5:10   |   Expone: Diana
Esta diapositiva no tiene bloque propio en el guion del doc 07; tiempo asignado por la consultora.
Ideas clave:
- Leer por filas: cada trabajo, dolor y alegría tiene su respuesta en el mapa de valor.
- Trabajo "darle hierro sin pelear" se cubre con el brownie de tres sabores; dolor "la sangrecita se rechaza" se alivia con cacao y canela; alegría "ver el dato" se crea con los mg en el frente y el QR por lote.
- Evidencias: "en la mañana no quiero prender la cocina" (Lucero); "engañar a su hija con algo que le gusta" (Rubelis, focus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GUION (documento 07, seccion 3.5, ajustado a 22 diapositivas; total 12:00)</a:t>
            </a:r>
          </a:p>
          <a:p>
            <a:r>
              <a:t>Tiempo: 5:10-5:40   |   Expone: Angie</a:t>
            </a:r>
          </a:p>
          <a:p>
            <a:r>
              <a:t>Esta diapositiva no tiene bloque propio en el guion del doc 07; tiempo asignado por la consultora.</a:t>
            </a:r>
          </a:p>
          <a:p/>
          <a:p>
            <a:r>
              <a:t>Ideas clave:</a:t>
            </a:r>
          </a:p>
          <a:p>
            <a:r>
              <a:t>- Los 5 diferenciadores: (1) hierro hemínico medido y publicado por lote; (2) sin octógono, puede entrar al quiosco; (3) brownie húmedo que camufla la sangrecita (Nutri H es galleta y la barrita no es postre); (4) variedad semanal en un solo pack; (5) stand donde el niño prueba antes de comprar.</a:t>
            </a:r>
          </a:p>
          <a:p>
            <a:r>
              <a:t>- Las celdas en rojo son los octógonos que el equipo debe anotar del store check [POR COMPLETAR POR EL EQUIPO].</a:t>
            </a:r>
          </a:p>
          <a:p/>
          <a:p>
            <a:r>
              <a:t>Pregunta difícil: ¿por qué pagar S/4.15 si Nutri H cuesta S/3.20? Porque es otra cosa: un brownie que el niño pide, sin octógono, con hierro medido por lote y que se prueba en el stand antes de comprar. El pack quincenal es el 2.2 a 2.8 % del gasto en alimentos de un hogar A 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GUION (documento 07, seccion 3.5, ajustado a 22 diapositivas; total 12:00)</a:t>
            </a:r>
          </a:p>
          <a:p>
            <a:r>
              <a:t>Tiempo: 5:40-6:15   |   Expone: Carlos</a:t>
            </a:r>
          </a:p>
          <a:p/>
          <a:p>
            <a:r>
              <a:t>Ideas clave:</a:t>
            </a:r>
          </a:p>
          <a:p>
            <a:r>
              <a:t>- Recorrer el canvas de derecha a izquierda: segmento, propuesta, canales y relación, ingresos; luego recursos, actividades, socios y costos.</a:t>
            </a:r>
          </a:p>
          <a:p>
            <a:r>
              <a:t>- Qué cambió frente al canvas del 15 de setiembre: segmento con cifras (46,000 hogares), 3 sabores, versión sin octógono, maquila en lugar de taller propio, venta física en stands y ferias como canal principal (por indicación de la profesora), WhatsApp solo para la recompra y los documentos dentro de la inversión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GUION (documento 07, seccion 3.5, ajustado a 22 diapositivas; total 12:00)</a:t>
            </a:r>
          </a:p>
          <a:p>
            <a:r>
              <a:t>Tiempo: 6:15-6:50   |   Expone: Patricia</a:t>
            </a:r>
          </a:p>
          <a:p/>
          <a:p>
            <a:r>
              <a:t>Ideas clave:</a:t>
            </a:r>
          </a:p>
          <a:p>
            <a:r>
              <a:t>- Precios en stand y ferias: unidad S/5.00, pack de 6 S/26.00 y pack de 12 S/48.00 (se cobra algo más porque hay alquiler y personal). Por WhatsApp: pack de 6 S/24.90, pack de 12 S/46.90 y caja degustación S/12.00. Naturista: anaquel S/28.90; AndiBite cobra S/17.34.</a:t>
            </a:r>
          </a:p>
          <a:p>
            <a:r>
              <a:t>- La dona: 58.6 % se vende en físico (stands, carritos y ferias), 18.6 % es recompra por WhatsApp y 22.9 % va a quioscos y naturistas. No hay suscripción.</a:t>
            </a:r>
          </a:p>
          <a:p/>
          <a:p>
            <a:r>
              <a:t>Pregunta difícil: ¿por qué no góndola de supermercado desde el inicio? La cadena se queda con 35 % más 5 % de aportes y paga a 30-90 días; en el stand cada brownie deja S/1.87 antes del alquiler y en góndola menos de S/1. Por eso estamos en el súper con un carrito, no en la góndola.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GUION (documento 07, seccion 3.5, ajustado a 22 diapositivas; total 12:00)</a:t>
            </a:r>
          </a:p>
          <a:p>
            <a:r>
              <a:t>Tiempo: 6:50-7:10 Patricia (operación) y 7:10-7:30 Adela (regulación)   |   Expone: Patricia y Adela</a:t>
            </a:r>
          </a:p>
          <a:p/>
          <a:p>
            <a:r>
              <a:t>Ideas clave:</a:t>
            </a:r>
          </a:p>
          <a:p>
            <a:r>
              <a:t>- Patricia: por qué no tenemos planta. La maquila evita certificar un establecimiento propio, que es lo más caro.</a:t>
            </a:r>
          </a:p>
          <a:p>
            <a:r>
              <a:t>- Adela: la S.A.C. es titular del registro sanitario y la planta es el fabricante. Todos los documentos para vender (S.A.C., RUC, marca, registro sanitario, análisis, etiqueta, carnés y póliza) suman S/6,251.20 y están pagados dentro de la inversión inicial: se consideran listos desde el primer día de ventas, en noviembre de 2026.</a:t>
            </a:r>
          </a:p>
          <a:p>
            <a:r>
              <a:t>- Adela: qué se puede decir y qué no: "fuente de hierro" solo con análisis (2.1 mg por 100 g o más); nunca "previene la anemia".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7:30-8:05   |   Expone: Angie
Bloque original en el guion del doc 07: 7:25-8:15 (Marca, Angie)
Ideas clave:
- Antes y después: de "orgullo peruano" a "medido, no prometido".
- AndiBite frente a AndiBite: AndiBite viene de hemínico, habla como el pediatra y sostiene S/4 por unidad; AndiBite es la opción de continuidad.
- Sabores con nombre de dos sílabas para que el niño los pida: Chispa (rojo #D7392B), Andi (amarillo #E9B730) y Lúcu (caramelo #B9733A); de temporada, Nara y Fresi.
- Advertencia: nombre sujeto a búsqueda fonética en INDECOPI, clase 30, S/401.20. AndiBite tiene riesgo por la marca HEMI de motores (Stellantis, clase 12).
Paleta de la ruta AndiBite en el documento 06: rojo hierro #9E2B25, tipografía Fraunces. Este deck usa la paleta de transición pedida (kraft, marrón, rojo hierro #8B1E2B).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GUION (documento 07, seccion 3.5, ajustado a 22 diapositivas; total 12:00)</a:t>
            </a:r>
          </a:p>
          <a:p>
            <a:r>
              <a:t>Tiempo: 8:05-8:50   |   Expone: Carlos</a:t>
            </a:r>
          </a:p>
          <a:p/>
          <a:p>
            <a:r>
              <a:t>Ideas clave:</a:t>
            </a:r>
          </a:p>
          <a:p>
            <a:r>
              <a:t>- Pack de 6 en el stand: S/26.00 al público, S/22.03 sin IGV, S/9.90 de producción y S/9.51 de contribución antes del alquiler y la impulsadora.</a:t>
            </a:r>
          </a:p>
          <a:p>
            <a:r>
              <a:t>- Equilibrio en 2,215 u/mes (369 packs de 6): cada brownie deja S/0.81 después de stands y ferias y los fijos son S/1,804 al mes. Solo noviembre (un punto) y febrero (feria pagada) cierran en rojo.</a:t>
            </a:r>
          </a:p>
          <a:p>
            <a:r>
              <a:t>- Inversión de S/40,644 con todos los documentos (S/6,251) y 2 carritos; ventas del año 1 de S/198,748 con IGV; resultado operativo de S/16,816 (10 %). La inversión se recupera en el año 2; la caja nunca baja de S/5,009.</a:t>
            </a:r>
          </a:p>
          <a:p>
            <a:r>
              <a:t>- Decirlo en voz alta: los socios no cobran sueldo en el año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GUION (documento 07, seccion 3.5, ajustado a 22 diapositivas; total 12:00)</a:t>
            </a:r>
          </a:p>
          <a:p>
            <a:r>
              <a:t>Tiempo: 8:50-9:15   |   Expone: Patricia</a:t>
            </a:r>
          </a:p>
          <a:p/>
          <a:p>
            <a:r>
              <a:t>Ideas clave:</a:t>
            </a:r>
          </a:p>
          <a:p>
            <a:r>
              <a:t>- Año 1 (noviembre 2026 a octubre 2027): 47,223 unidades y S/198,748 con IGV.</a:t>
            </a:r>
          </a:p>
          <a:p>
            <a:r>
              <a:t>- Diciembre sube por las 2 ferias navideñas; enero baja por vacaciones (aunque sube la recompra por WhatsApp); desde marzo entran los colegios y en agosto se abre el tercer punto de venta.</a:t>
            </a:r>
          </a:p>
          <a:p>
            <a:r>
              <a:t>- Fuente: Excel de costeo, hoja Mensual.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9:15-9:50   |   Expone: Adela
Bloque original en el guion del doc 07: 10:00-10:45 (Riesgos, Adela)
Ideas clave:
- Sabemos qué puede fallar: cinco riesgos, cada uno con su mitigación y su disparador.
- La contingencia del pesimista: si a mayo de 2027 hay menos de 200 hogares activos, se suspende el asistente (S/800 al mes), la pauta baja a la mitad y cada socio aporta S/2,500 (S/12,500 en total).
Pregunta difícil: ¿el eritritol es seguro para niños? La EFSA fijó en 2023 una ingesta admisible de 0.5 g por kg al día: un niño de 18 kg tolera 9 g y un brownie trae 2 a 3 g. Se recomienda 1 unidad al día en la etiqueta.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9:50-10:25   |   Expone: Patricia
Bloque original en el guion del doc 07: 10:45-11:40 (Próximos 90 días, Patricia)
Ideas clave:
- Hoja de ruta por semanas; el primer hito (en rojo) es cargar el focus 2 y el store check.
- Entregables: fórmula v3 congelada, informe sensorial y precio validado, S.A.C. con RUC y decisión de nombre, 2 plantas preseleccionadas, decisión sobre el octógono, contrato y solicitud de marca, muestras antes del 31 de diciembre.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GUION (documento 07, seccion 3.5, ajustado a 22 diapositivas; total 12:00)</a:t>
            </a:r>
          </a:p>
          <a:p>
            <a:r>
              <a:t>Tiempo: 10:25-11:25   |   Expone: Adela (o quien el equipo elija para el pitch)</a:t>
            </a:r>
          </a:p>
          <a:p>
            <a:r>
              <a:t>Esta diapositiva no tiene bloque propio en el guion del doc 07; tiempo asignado por la consultora.</a:t>
            </a:r>
          </a:p>
          <a:p/>
          <a:p>
            <a:r>
              <a:t>Ideas clave:</a:t>
            </a:r>
          </a:p>
          <a:p>
            <a:r>
              <a:t>- Versión principal del doc 07 (158 palabras, unas 26 por bloque de 10 segundos). Se dice de memoria, mirando al jurado.</a:t>
            </a:r>
          </a:p>
          <a:p>
            <a:r>
              <a:t>- Frente al consumidor no se menciona la anemia ni se promete prevenirla (D. Leg. 1044); este pitch es para la profesora y el jurado.</a:t>
            </a:r>
          </a:p>
          <a:p/>
          <a:p>
            <a:r>
              <a:t>VERSIÓN DE 30 SEGUNDOS: [0:00-0:10] En la lonchera, lo saludable regresa intacto, y el hierro es lo que más cuesta que un niño acepte. [0:10-0:20] AndiBite es un mini brownie de 20 gramos con sangrecita, hierro medido y sin octógono, en tres sabores, para 46,000 hogares planificados de Lima. [0:20-0:30] Ya lo validamos con entrevistas, focus y degustación. Con stands en malls y supermercados, llegamos al equilibrio con 2,215 unidades al mes. Pruébenlo.</a:t>
            </a:r>
          </a:p>
          <a:p/>
          <a:p>
            <a:r>
              <a:t>VERSIÓN DISRUPTIVA: [0:00-0:10] ¿Quién de ustedes comería hígado en el recreo? Nadie. Ningún niño tampoco. Y es justo lo que le pedimos a uno de cada cuatro niños limeños con anemia. [0:10-0:20] Los padres no fallan por falta de información: lo saludable vuelve intacto en la lonchera, y el 70 % le teme al octógono "Alto en azúcar". [0:20-0:35] Nosotros no escondemos la sangrecita para engañar: la horneamos en un brownie y publicamos el hierro de cada lote. El niño ve chocolate. El padre ve miligramos. Sin octógono. [0:35-0:50] Tres sabores, un stand donde el niño prueba antes de comprar y una empresa sin planta propia, con registro sanitario a nuestro nombre. [0:50-1:00] Equilibrio en 2,215 unidades al mes y resultado operativo positivo desde abril de 2027. La pregunta no es si los niños necesitan hierro, sino por qué nadie lo había hecho 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11:25-11:40   |   Expone: Diana
Bloque original en el guion del doc 07: 8:15-8:45 (Equipo, Diana)
Ideas clave:
- Cinco roles que cubren toda la cadena: producto, operación, regulación, marca y venta.
- Cada integrante levanta la mano cuando se nombra su rol.
Tiempo total por integrante con este guion ajustado: Carlos 2:45, Diana 2:35, Angie 2:15, Adela 2:30 (incluye el pitch) y Patricia 1:55. Si el pitch lo dice otra persona, mover ese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(documento 07, seccion 3.5, ajustado a 22 diapositivas; total 12:00)
Tiempo: 11:40-12:00   |   Expone: Carlos
Bloque original en el guion del doc 07: 11:40-12:00 (Cierre, Carlos)
Ideas clave:
- Pregunta disruptiva al público: "¿Quién de ustedes comería hígado en el recreo?"
- Cierre: "La pregunta no es si los niños necesitan hierro, sino por qué nadie lo había hecho rico".
- Llamado a la acción: entregar la caja degustación al jurado y pedir el primer colegio piloto. Dar las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76809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"/>
          <p:cNvSpPr txBox="1"/>
          <p:nvPr/>
        </p:nvSpPr>
        <p:spPr>
          <a:xfrm>
            <a:off x="548640" y="685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T1 · CANVAS, PROPUESTA DE VALOR, VALIDACIÓN Y PITCH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AndiBite 2.0</a:t>
            </a:r>
            <a:endParaRPr lang="en-US" sz="6400" dirty="0"/>
          </a:p>
        </p:txBody>
      </p:sp>
      <p:sp>
        <p:nvSpPr>
          <p:cNvPr id="4" name="texto-2"/>
          <p:cNvSpPr txBox="1"/>
          <p:nvPr/>
        </p:nvSpPr>
        <p:spPr>
          <a:xfrm>
            <a:off x="548640" y="26974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Mini brownies con hierro de sangrecita para la lonchera</a:t>
            </a:r>
            <a:endParaRPr lang="en-US" sz="2200" dirty="0"/>
          </a:p>
        </p:txBody>
      </p:sp>
      <p:sp>
        <p:nvSpPr>
          <p:cNvPr id="5" name="ficha-fe-3"/>
          <p:cNvSpPr/>
          <p:nvPr/>
        </p:nvSpPr>
        <p:spPr>
          <a:xfrm>
            <a:off x="548640" y="3657600"/>
            <a:ext cx="777240" cy="77724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fe-num-4"/>
          <p:cNvSpPr txBox="1"/>
          <p:nvPr/>
        </p:nvSpPr>
        <p:spPr>
          <a:xfrm>
            <a:off x="626364" y="3712007"/>
            <a:ext cx="38862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fe-sym-5"/>
          <p:cNvSpPr txBox="1"/>
          <p:nvPr/>
        </p:nvSpPr>
        <p:spPr>
          <a:xfrm>
            <a:off x="548640" y="3797503"/>
            <a:ext cx="777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Fe</a:t>
            </a:r>
            <a:endParaRPr lang="en-US" sz="2700" dirty="0"/>
          </a:p>
        </p:txBody>
      </p:sp>
      <p:sp>
        <p:nvSpPr>
          <p:cNvPr id="8" name="texto-6"/>
          <p:cNvSpPr txBox="1"/>
          <p:nvPr/>
        </p:nvSpPr>
        <p:spPr>
          <a:xfrm>
            <a:off x="1508760" y="3657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Hierro medido. Sabor a brownie.</a:t>
            </a:r>
            <a:endParaRPr lang="en-US" sz="2400" dirty="0"/>
          </a:p>
        </p:txBody>
      </p:sp>
      <p:sp>
        <p:nvSpPr>
          <p:cNvPr id="9" name="texto-7"/>
          <p:cNvSpPr txBox="1"/>
          <p:nvPr/>
        </p:nvSpPr>
        <p:spPr>
          <a:xfrm>
            <a:off x="548640" y="480060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Grupo 2: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Diana Ayoso, Carlos Inga, Angie Blas, Patricia Cárdenas y Adela Robles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Curso: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Desarrollo y lanzamiento de nuevos productos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Profesora: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Paola Cevallos · Octubre de 2026</a:t>
            </a:r>
            <a:endParaRPr lang="en-US" sz="1400" dirty="0"/>
          </a:p>
        </p:txBody>
      </p:sp>
      <p:sp>
        <p:nvSpPr>
          <p:cNvPr id="10" name="tarjeta-8"/>
          <p:cNvSpPr/>
          <p:nvPr/>
        </p:nvSpPr>
        <p:spPr>
          <a:xfrm>
            <a:off x="6720840" y="1097280"/>
            <a:ext cx="493776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1" name="img-mockup-portada" descr="Mockup del empaque actual de AndiBite, frente y rever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34440"/>
            <a:ext cx="4663440" cy="3108960"/>
          </a:xfrm>
          <a:prstGeom prst="rect">
            <a:avLst/>
          </a:prstGeom>
        </p:spPr>
      </p:pic>
      <p:sp>
        <p:nvSpPr>
          <p:cNvPr id="12" name="texto-9"/>
          <p:cNvSpPr txBox="1"/>
          <p:nvPr/>
        </p:nvSpPr>
        <p:spPr>
          <a:xfrm>
            <a:off x="6858000" y="4370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Empaque actual (MVP). Nombre de trabajo hasta la búsqueda en INDECOPI.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arjeta-10"/>
          <p:cNvSpPr/>
          <p:nvPr/>
        </p:nvSpPr>
        <p:spPr>
          <a:xfrm>
            <a:off x="548640" y="1417320"/>
            <a:ext cx="357530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circulo-11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o-12"/>
          <p:cNvSpPr txBox="1"/>
          <p:nvPr/>
        </p:nvSpPr>
        <p:spPr>
          <a:xfrm>
            <a:off x="822960" y="2514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El problema y por qué ahora</a:t>
            </a:r>
            <a:endParaRPr lang="en-US" sz="1900" dirty="0"/>
          </a:p>
        </p:txBody>
      </p:sp>
      <p:sp>
        <p:nvSpPr>
          <p:cNvPr id="6" name="texto-13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Diapositivas 3 y 4</a:t>
            </a:r>
            <a:endParaRPr lang="en-US" sz="1200" dirty="0"/>
          </a:p>
        </p:txBody>
      </p:sp>
      <p:sp>
        <p:nvSpPr>
          <p:cNvPr id="7" name="tarjeta-14"/>
          <p:cNvSpPr/>
          <p:nvPr/>
        </p:nvSpPr>
        <p:spPr>
          <a:xfrm>
            <a:off x="4306824" y="1417320"/>
            <a:ext cx="357530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circulo-15"/>
          <p:cNvSpPr/>
          <p:nvPr/>
        </p:nvSpPr>
        <p:spPr>
          <a:xfrm>
            <a:off x="4581144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o-16"/>
          <p:cNvSpPr txBox="1"/>
          <p:nvPr/>
        </p:nvSpPr>
        <p:spPr>
          <a:xfrm>
            <a:off x="4581144" y="2514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La solución y lo que validamos</a:t>
            </a:r>
            <a:endParaRPr lang="en-US" sz="1900" dirty="0"/>
          </a:p>
        </p:txBody>
      </p:sp>
      <p:sp>
        <p:nvSpPr>
          <p:cNvPr id="10" name="texto-17"/>
          <p:cNvSpPr txBox="1"/>
          <p:nvPr/>
        </p:nvSpPr>
        <p:spPr>
          <a:xfrm>
            <a:off x="4581144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Diapositivas 5 y 6</a:t>
            </a:r>
            <a:endParaRPr lang="en-US" sz="1200" dirty="0"/>
          </a:p>
        </p:txBody>
      </p:sp>
      <p:sp>
        <p:nvSpPr>
          <p:cNvPr id="11" name="tarjeta-18"/>
          <p:cNvSpPr/>
          <p:nvPr/>
        </p:nvSpPr>
        <p:spPr>
          <a:xfrm>
            <a:off x="8065008" y="1417320"/>
            <a:ext cx="357530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circulo-19"/>
          <p:cNvSpPr/>
          <p:nvPr/>
        </p:nvSpPr>
        <p:spPr>
          <a:xfrm>
            <a:off x="8339328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o-20"/>
          <p:cNvSpPr txBox="1"/>
          <p:nvPr/>
        </p:nvSpPr>
        <p:spPr>
          <a:xfrm>
            <a:off x="8339328" y="2514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Cliente y propuesta de valor</a:t>
            </a:r>
            <a:endParaRPr lang="en-US" sz="1900" dirty="0"/>
          </a:p>
        </p:txBody>
      </p:sp>
      <p:sp>
        <p:nvSpPr>
          <p:cNvPr id="14" name="texto-21"/>
          <p:cNvSpPr txBox="1"/>
          <p:nvPr/>
        </p:nvSpPr>
        <p:spPr>
          <a:xfrm>
            <a:off x="8339328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Diapositivas 7 a 11</a:t>
            </a:r>
            <a:endParaRPr lang="en-US" sz="1200" dirty="0"/>
          </a:p>
        </p:txBody>
      </p:sp>
      <p:sp>
        <p:nvSpPr>
          <p:cNvPr id="15" name="tarjeta-22"/>
          <p:cNvSpPr/>
          <p:nvPr/>
        </p:nvSpPr>
        <p:spPr>
          <a:xfrm>
            <a:off x="548640" y="3931920"/>
            <a:ext cx="357530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circulo-23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o-24"/>
          <p:cNvSpPr txBox="1"/>
          <p:nvPr/>
        </p:nvSpPr>
        <p:spPr>
          <a:xfrm>
            <a:off x="822960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Modelo de negocio y operación</a:t>
            </a:r>
            <a:endParaRPr lang="en-US" sz="1900" dirty="0"/>
          </a:p>
        </p:txBody>
      </p:sp>
      <p:sp>
        <p:nvSpPr>
          <p:cNvPr id="18" name="texto-25"/>
          <p:cNvSpPr txBox="1"/>
          <p:nvPr/>
        </p:nvSpPr>
        <p:spPr>
          <a:xfrm>
            <a:off x="822960" y="5715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Diapositivas 12 a 14</a:t>
            </a:r>
            <a:endParaRPr lang="en-US" sz="1200" dirty="0"/>
          </a:p>
        </p:txBody>
      </p:sp>
      <p:sp>
        <p:nvSpPr>
          <p:cNvPr id="19" name="tarjeta-26"/>
          <p:cNvSpPr/>
          <p:nvPr/>
        </p:nvSpPr>
        <p:spPr>
          <a:xfrm>
            <a:off x="4306824" y="3931920"/>
            <a:ext cx="357530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circulo-27"/>
          <p:cNvSpPr/>
          <p:nvPr/>
        </p:nvSpPr>
        <p:spPr>
          <a:xfrm>
            <a:off x="4581144" y="4206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o-28"/>
          <p:cNvSpPr txBox="1"/>
          <p:nvPr/>
        </p:nvSpPr>
        <p:spPr>
          <a:xfrm>
            <a:off x="4581144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Marca, finanzas y ventas</a:t>
            </a:r>
            <a:endParaRPr lang="en-US" sz="1900" dirty="0"/>
          </a:p>
        </p:txBody>
      </p:sp>
      <p:sp>
        <p:nvSpPr>
          <p:cNvPr id="22" name="texto-29"/>
          <p:cNvSpPr txBox="1"/>
          <p:nvPr/>
        </p:nvSpPr>
        <p:spPr>
          <a:xfrm>
            <a:off x="4581144" y="5715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Diapositivas 15 a 17</a:t>
            </a:r>
            <a:endParaRPr lang="en-US" sz="1200" dirty="0"/>
          </a:p>
        </p:txBody>
      </p:sp>
      <p:sp>
        <p:nvSpPr>
          <p:cNvPr id="23" name="tarjeta-30"/>
          <p:cNvSpPr/>
          <p:nvPr/>
        </p:nvSpPr>
        <p:spPr>
          <a:xfrm>
            <a:off x="8065008" y="3931920"/>
            <a:ext cx="357530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circulo-31"/>
          <p:cNvSpPr/>
          <p:nvPr/>
        </p:nvSpPr>
        <p:spPr>
          <a:xfrm>
            <a:off x="8339328" y="42062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o-32"/>
          <p:cNvSpPr txBox="1"/>
          <p:nvPr/>
        </p:nvSpPr>
        <p:spPr>
          <a:xfrm>
            <a:off x="8339328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Riesgos, plan, pitch y equipo</a:t>
            </a:r>
            <a:endParaRPr lang="en-US" sz="1900" dirty="0"/>
          </a:p>
        </p:txBody>
      </p:sp>
      <p:sp>
        <p:nvSpPr>
          <p:cNvPr id="26" name="texto-33"/>
          <p:cNvSpPr txBox="1"/>
          <p:nvPr/>
        </p:nvSpPr>
        <p:spPr>
          <a:xfrm>
            <a:off x="8339328" y="5715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Diapositivas 18 a 22</a:t>
            </a:r>
            <a:endParaRPr lang="en-US" sz="1200" dirty="0"/>
          </a:p>
        </p:txBody>
      </p:sp>
      <p:sp>
        <p:nvSpPr>
          <p:cNvPr id="27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Duración: 12 minutos. El guion por integrante está en las notas del orador.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El problema: lo saludable regresa intacto</a:t>
            </a:r>
            <a:endParaRPr lang="en-US" sz="3200" dirty="0"/>
          </a:p>
        </p:txBody>
      </p:sp>
      <p:sp>
        <p:nvSpPr>
          <p:cNvPr id="3" name="tarjeta-34"/>
          <p:cNvSpPr/>
          <p:nvPr/>
        </p:nvSpPr>
        <p:spPr>
          <a:xfrm>
            <a:off x="548640" y="1371600"/>
            <a:ext cx="33375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o-35"/>
          <p:cNvSpPr txBox="1"/>
          <p:nvPr/>
        </p:nvSpPr>
        <p:spPr>
          <a:xfrm>
            <a:off x="822960" y="1600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24.0 %</a:t>
            </a:r>
            <a:endParaRPr lang="en-US" sz="6000" dirty="0"/>
          </a:p>
        </p:txBody>
      </p:sp>
      <p:sp>
        <p:nvSpPr>
          <p:cNvPr id="5" name="texto-36"/>
          <p:cNvSpPr txBox="1"/>
          <p:nvPr/>
        </p:nvSpPr>
        <p:spPr>
          <a:xfrm>
            <a:off x="822960" y="2697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anemia en niños de 6 a 35 meses de Lima Metropolitana</a:t>
            </a:r>
            <a:endParaRPr lang="en-US" sz="1500" dirty="0"/>
          </a:p>
        </p:txBody>
      </p:sp>
      <p:sp>
        <p:nvSpPr>
          <p:cNvPr id="6" name="texto-37"/>
          <p:cNvSpPr txBox="1"/>
          <p:nvPr/>
        </p:nvSpPr>
        <p:spPr>
          <a:xfrm>
            <a:off x="82296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ENDES 2024</a:t>
            </a:r>
            <a:endParaRPr lang="en-US" sz="1100" dirty="0"/>
          </a:p>
        </p:txBody>
      </p:sp>
      <p:sp>
        <p:nvSpPr>
          <p:cNvPr id="7" name="tarjeta-38"/>
          <p:cNvSpPr/>
          <p:nvPr/>
        </p:nvSpPr>
        <p:spPr>
          <a:xfrm>
            <a:off x="4069080" y="1371600"/>
            <a:ext cx="33375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o-39"/>
          <p:cNvSpPr txBox="1"/>
          <p:nvPr/>
        </p:nvSpPr>
        <p:spPr>
          <a:xfrm>
            <a:off x="4343400" y="1600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22.5 %</a:t>
            </a:r>
            <a:endParaRPr lang="en-US" sz="6000" dirty="0"/>
          </a:p>
        </p:txBody>
      </p:sp>
      <p:sp>
        <p:nvSpPr>
          <p:cNvPr id="9" name="texto-40"/>
          <p:cNvSpPr txBox="1"/>
          <p:nvPr/>
        </p:nvSpPr>
        <p:spPr>
          <a:xfrm>
            <a:off x="4343400" y="2697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escolares de 5 a 11 años de Lima atendidos por el MINSA</a:t>
            </a:r>
            <a:endParaRPr lang="en-US" sz="1500" dirty="0"/>
          </a:p>
        </p:txBody>
      </p:sp>
      <p:sp>
        <p:nvSpPr>
          <p:cNvPr id="10" name="texto-41"/>
          <p:cNvSpPr txBox="1"/>
          <p:nvPr/>
        </p:nvSpPr>
        <p:spPr>
          <a:xfrm>
            <a:off x="434340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SIEN-HIS 2024-I</a:t>
            </a:r>
            <a:endParaRPr lang="en-US" sz="1100" dirty="0"/>
          </a:p>
        </p:txBody>
      </p:sp>
      <p:sp>
        <p:nvSpPr>
          <p:cNvPr id="11" name="tarjeta-42"/>
          <p:cNvSpPr/>
          <p:nvPr/>
        </p:nvSpPr>
        <p:spPr>
          <a:xfrm>
            <a:off x="548640" y="4526280"/>
            <a:ext cx="6858000" cy="155448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o-43"/>
          <p:cNvSpPr txBox="1"/>
          <p:nvPr/>
        </p:nvSpPr>
        <p:spPr>
          <a:xfrm>
            <a:off x="822960" y="4709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32.9 %</a:t>
            </a:r>
            <a:endParaRPr lang="en-US" sz="4400" dirty="0"/>
          </a:p>
        </p:txBody>
      </p:sp>
      <p:sp>
        <p:nvSpPr>
          <p:cNvPr id="13" name="texto-44"/>
          <p:cNvSpPr txBox="1"/>
          <p:nvPr/>
        </p:nvSpPr>
        <p:spPr>
          <a:xfrm>
            <a:off x="2697480" y="47091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los niños pequeños de Lima recibió suplemento de hierro.</a:t>
            </a:r>
            <a:endParaRPr lang="en-US" sz="1500" dirty="0"/>
          </a:p>
        </p:txBody>
      </p:sp>
      <p:sp>
        <p:nvSpPr>
          <p:cNvPr id="14" name="tarjeta-45"/>
          <p:cNvSpPr/>
          <p:nvPr/>
        </p:nvSpPr>
        <p:spPr>
          <a:xfrm>
            <a:off x="7772400" y="1371600"/>
            <a:ext cx="3867912" cy="4709160"/>
          </a:xfrm>
          <a:prstGeom prst="roundRect">
            <a:avLst>
              <a:gd name="adj" fmla="val 2837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o-46"/>
          <p:cNvSpPr txBox="1"/>
          <p:nvPr/>
        </p:nvSpPr>
        <p:spPr>
          <a:xfrm>
            <a:off x="8046720" y="13716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chemeClr val="accent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“</a:t>
            </a:r>
            <a:endParaRPr lang="en-US" sz="7200" dirty="0"/>
          </a:p>
        </p:txBody>
      </p:sp>
      <p:sp>
        <p:nvSpPr>
          <p:cNvPr id="16" name="texto-47"/>
          <p:cNvSpPr txBox="1"/>
          <p:nvPr/>
        </p:nvSpPr>
        <p:spPr>
          <a:xfrm>
            <a:off x="8046720" y="228600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Mamá, eso olía feo y mis amigos me dijeron que parecía carbón.</a:t>
            </a:r>
            <a:endParaRPr lang="en-US" sz="2400" dirty="0"/>
          </a:p>
        </p:txBody>
      </p:sp>
      <p:sp>
        <p:nvSpPr>
          <p:cNvPr id="17" name="texto-48"/>
          <p:cNvSpPr txBox="1"/>
          <p:nvPr/>
        </p:nvSpPr>
        <p:spPr>
          <a:xfrm>
            <a:off x="8046720" y="4069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Mateo, hijo de Lucero (entrevista)</a:t>
            </a:r>
            <a:endParaRPr lang="en-US" sz="1200" dirty="0"/>
          </a:p>
        </p:txBody>
      </p:sp>
      <p:sp>
        <p:nvSpPr>
          <p:cNvPr id="18" name="texto-49"/>
          <p:cNvSpPr txBox="1"/>
          <p:nvPr/>
        </p:nvSpPr>
        <p:spPr>
          <a:xfrm>
            <a:off x="8046720" y="46634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Hígado, gotas, sangrecita a la vista: todo vuelve sin abrir.</a:t>
            </a:r>
            <a:endParaRPr lang="en-US" sz="15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INEI, ENDES 2024; INS-CENAN, SIEN-HIS 2024-I; 10 entrevistas a profundidad (elaboración propia).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Por qué ahora</a:t>
            </a:r>
            <a:endParaRPr lang="en-US" sz="3200" dirty="0"/>
          </a:p>
        </p:txBody>
      </p:sp>
      <p:sp>
        <p:nvSpPr>
          <p:cNvPr id="3" name="linea-tiempo"/>
          <p:cNvSpPr/>
          <p:nvPr/>
        </p:nvSpPr>
        <p:spPr>
          <a:xfrm>
            <a:off x="914400" y="1828800"/>
            <a:ext cx="10362895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" name="hito-50"/>
          <p:cNvSpPr/>
          <p:nvPr/>
        </p:nvSpPr>
        <p:spPr>
          <a:xfrm>
            <a:off x="1737360" y="1664208"/>
            <a:ext cx="329184" cy="32918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5" name="texto-51"/>
          <p:cNvSpPr txBox="1"/>
          <p:nvPr/>
        </p:nvSpPr>
        <p:spPr>
          <a:xfrm>
            <a:off x="548640" y="114300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2019</a:t>
            </a:r>
            <a:endParaRPr lang="en-US" sz="1800" dirty="0"/>
          </a:p>
        </p:txBody>
      </p:sp>
      <p:sp>
        <p:nvSpPr>
          <p:cNvPr id="6" name="texto-52"/>
          <p:cNvSpPr txBox="1"/>
          <p:nvPr/>
        </p:nvSpPr>
        <p:spPr>
          <a:xfrm>
            <a:off x="640080" y="2148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Quioscos escolares solo sin octógono (RM 195-2019)</a:t>
            </a:r>
            <a:endParaRPr lang="en-US" sz="1300" dirty="0"/>
          </a:p>
        </p:txBody>
      </p:sp>
      <p:sp>
        <p:nvSpPr>
          <p:cNvPr id="7" name="hito-53"/>
          <p:cNvSpPr/>
          <p:nvPr/>
        </p:nvSpPr>
        <p:spPr>
          <a:xfrm>
            <a:off x="4553712" y="1664208"/>
            <a:ext cx="329184" cy="32918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8" name="texto-54"/>
          <p:cNvSpPr txBox="1"/>
          <p:nvPr/>
        </p:nvSpPr>
        <p:spPr>
          <a:xfrm>
            <a:off x="3364992" y="114300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2021</a:t>
            </a:r>
            <a:endParaRPr lang="en-US" sz="1800" dirty="0"/>
          </a:p>
        </p:txBody>
      </p:sp>
      <p:sp>
        <p:nvSpPr>
          <p:cNvPr id="9" name="texto-55"/>
          <p:cNvSpPr txBox="1"/>
          <p:nvPr/>
        </p:nvSpPr>
        <p:spPr>
          <a:xfrm>
            <a:off x="3456432" y="2148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Octógonos de segunda fase (Ley 30021)</a:t>
            </a:r>
            <a:endParaRPr lang="en-US" sz="1300" dirty="0"/>
          </a:p>
        </p:txBody>
      </p:sp>
      <p:sp>
        <p:nvSpPr>
          <p:cNvPr id="10" name="hito-56"/>
          <p:cNvSpPr/>
          <p:nvPr/>
        </p:nvSpPr>
        <p:spPr>
          <a:xfrm>
            <a:off x="7370064" y="166420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1" name="texto-57"/>
          <p:cNvSpPr txBox="1"/>
          <p:nvPr/>
        </p:nvSpPr>
        <p:spPr>
          <a:xfrm>
            <a:off x="6181344" y="114300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Jul. 2026</a:t>
            </a:r>
            <a:endParaRPr lang="en-US" sz="1800" dirty="0"/>
          </a:p>
        </p:txBody>
      </p:sp>
      <p:sp>
        <p:nvSpPr>
          <p:cNvPr id="12" name="texto-58"/>
          <p:cNvSpPr txBox="1"/>
          <p:nvPr/>
        </p:nvSpPr>
        <p:spPr>
          <a:xfrm>
            <a:off x="6272784" y="2148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Registro sanitario sin tasa (DIGESA)</a:t>
            </a:r>
            <a:endParaRPr lang="en-US" sz="1300" dirty="0"/>
          </a:p>
        </p:txBody>
      </p:sp>
      <p:sp>
        <p:nvSpPr>
          <p:cNvPr id="13" name="hito-59"/>
          <p:cNvSpPr/>
          <p:nvPr/>
        </p:nvSpPr>
        <p:spPr>
          <a:xfrm>
            <a:off x="10186416" y="166420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4" name="texto-60"/>
          <p:cNvSpPr txBox="1"/>
          <p:nvPr/>
        </p:nvSpPr>
        <p:spPr>
          <a:xfrm>
            <a:off x="8997696" y="114300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Ago. 2026</a:t>
            </a:r>
            <a:endParaRPr lang="en-US" sz="1800" dirty="0"/>
          </a:p>
        </p:txBody>
      </p:sp>
      <p:sp>
        <p:nvSpPr>
          <p:cNvPr id="15" name="texto-61"/>
          <p:cNvSpPr txBox="1"/>
          <p:nvPr/>
        </p:nvSpPr>
        <p:spPr>
          <a:xfrm>
            <a:off x="9089136" y="2148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Unión abre maquila de snacks saludables</a:t>
            </a:r>
            <a:endParaRPr lang="en-US" sz="1300" dirty="0"/>
          </a:p>
        </p:txBody>
      </p:sp>
      <p:sp>
        <p:nvSpPr>
          <p:cNvPr id="16" name="tarjeta-62"/>
          <p:cNvSpPr/>
          <p:nvPr/>
        </p:nvSpPr>
        <p:spPr>
          <a:xfrm>
            <a:off x="548640" y="3383280"/>
            <a:ext cx="2633472" cy="269748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o-63"/>
          <p:cNvSpPr txBox="1"/>
          <p:nvPr/>
        </p:nvSpPr>
        <p:spPr>
          <a:xfrm>
            <a:off x="777240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83 %</a:t>
            </a:r>
            <a:endParaRPr lang="en-US" sz="4000" dirty="0"/>
          </a:p>
        </p:txBody>
      </p:sp>
      <p:sp>
        <p:nvSpPr>
          <p:cNvPr id="18" name="texto-64"/>
          <p:cNvSpPr txBox="1"/>
          <p:nvPr/>
        </p:nvSpPr>
        <p:spPr>
          <a:xfrm>
            <a:off x="777240" y="4434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cambia su compra por los octógonos</a:t>
            </a:r>
            <a:endParaRPr lang="en-US" sz="1400" dirty="0"/>
          </a:p>
        </p:txBody>
      </p:sp>
      <p:sp>
        <p:nvSpPr>
          <p:cNvPr id="19" name="texto-65"/>
          <p:cNvSpPr txBox="1"/>
          <p:nvPr/>
        </p:nvSpPr>
        <p:spPr>
          <a:xfrm>
            <a:off x="7772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Ipsos 2025</a:t>
            </a:r>
            <a:endParaRPr lang="en-US" sz="1100" dirty="0"/>
          </a:p>
        </p:txBody>
      </p:sp>
      <p:sp>
        <p:nvSpPr>
          <p:cNvPr id="20" name="tarjeta-66"/>
          <p:cNvSpPr/>
          <p:nvPr/>
        </p:nvSpPr>
        <p:spPr>
          <a:xfrm>
            <a:off x="3364992" y="3383280"/>
            <a:ext cx="2633472" cy="26974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texto-67"/>
          <p:cNvSpPr txBox="1"/>
          <p:nvPr/>
        </p:nvSpPr>
        <p:spPr>
          <a:xfrm>
            <a:off x="3593592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53.1 %</a:t>
            </a:r>
            <a:endParaRPr lang="en-US" sz="4000" dirty="0"/>
          </a:p>
        </p:txBody>
      </p:sp>
      <p:sp>
        <p:nvSpPr>
          <p:cNvPr id="22" name="texto-68"/>
          <p:cNvSpPr txBox="1"/>
          <p:nvPr/>
        </p:nvSpPr>
        <p:spPr>
          <a:xfrm>
            <a:off x="3593592" y="4434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los nacimientos en Lima, de madres de 30 o más</a:t>
            </a:r>
            <a:endParaRPr lang="en-US" sz="1400" dirty="0"/>
          </a:p>
        </p:txBody>
      </p:sp>
      <p:sp>
        <p:nvSpPr>
          <p:cNvPr id="23" name="texto-69"/>
          <p:cNvSpPr txBox="1"/>
          <p:nvPr/>
        </p:nvSpPr>
        <p:spPr>
          <a:xfrm>
            <a:off x="3593592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INEI 2022</a:t>
            </a:r>
            <a:endParaRPr lang="en-US" sz="1100" dirty="0"/>
          </a:p>
        </p:txBody>
      </p:sp>
      <p:sp>
        <p:nvSpPr>
          <p:cNvPr id="24" name="tarjeta-70"/>
          <p:cNvSpPr/>
          <p:nvPr/>
        </p:nvSpPr>
        <p:spPr>
          <a:xfrm>
            <a:off x="6181344" y="3383280"/>
            <a:ext cx="2633472" cy="26974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texto-71"/>
          <p:cNvSpPr txBox="1"/>
          <p:nvPr/>
        </p:nvSpPr>
        <p:spPr>
          <a:xfrm>
            <a:off x="6409944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49.6 %</a:t>
            </a:r>
            <a:endParaRPr lang="en-US" sz="4000" dirty="0"/>
          </a:p>
        </p:txBody>
      </p:sp>
      <p:sp>
        <p:nvSpPr>
          <p:cNvPr id="26" name="texto-72"/>
          <p:cNvSpPr txBox="1"/>
          <p:nvPr/>
        </p:nvSpPr>
        <p:spPr>
          <a:xfrm>
            <a:off x="6409944" y="4434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la matrícula de Lima es privada</a:t>
            </a:r>
            <a:endParaRPr lang="en-US" sz="1400" dirty="0"/>
          </a:p>
        </p:txBody>
      </p:sp>
      <p:sp>
        <p:nvSpPr>
          <p:cNvPr id="27" name="texto-73"/>
          <p:cNvSpPr txBox="1"/>
          <p:nvPr/>
        </p:nvSpPr>
        <p:spPr>
          <a:xfrm>
            <a:off x="6409944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Minedu 2024</a:t>
            </a:r>
            <a:endParaRPr lang="en-US" sz="1100" dirty="0"/>
          </a:p>
        </p:txBody>
      </p:sp>
      <p:sp>
        <p:nvSpPr>
          <p:cNvPr id="28" name="tarjeta-74"/>
          <p:cNvSpPr/>
          <p:nvPr/>
        </p:nvSpPr>
        <p:spPr>
          <a:xfrm>
            <a:off x="8997696" y="3383280"/>
            <a:ext cx="2633472" cy="26974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9" name="texto-75"/>
          <p:cNvSpPr txBox="1"/>
          <p:nvPr/>
        </p:nvSpPr>
        <p:spPr>
          <a:xfrm>
            <a:off x="9226296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39.5 %</a:t>
            </a:r>
            <a:endParaRPr lang="en-US" sz="4000" dirty="0"/>
          </a:p>
        </p:txBody>
      </p:sp>
      <p:sp>
        <p:nvSpPr>
          <p:cNvPr id="30" name="texto-76"/>
          <p:cNvSpPr txBox="1"/>
          <p:nvPr/>
        </p:nvSpPr>
        <p:spPr>
          <a:xfrm>
            <a:off x="9226296" y="4434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los hogares son "activos" en salud</a:t>
            </a:r>
            <a:endParaRPr lang="en-US" sz="1400" dirty="0"/>
          </a:p>
        </p:txBody>
      </p:sp>
      <p:sp>
        <p:nvSpPr>
          <p:cNvPr id="31" name="texto-77"/>
          <p:cNvSpPr txBox="1"/>
          <p:nvPr/>
        </p:nvSpPr>
        <p:spPr>
          <a:xfrm>
            <a:off x="9226296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Kantar 2025</a:t>
            </a:r>
            <a:endParaRPr lang="en-US" sz="1100" dirty="0"/>
          </a:p>
        </p:txBody>
      </p:sp>
      <p:sp>
        <p:nvSpPr>
          <p:cNvPr id="32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Ipsos Perú 2025; INEI-RENIEC, Estadísticas vitales 2022; Minedu-ESCALE, Censo Educativo 2024; Kantar 2025; RM 195-2019-MINSA; DIGESA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La solución: mini brownie con hierro medido</a:t>
            </a:r>
            <a:endParaRPr lang="en-US" sz="3200" dirty="0"/>
          </a:p>
        </p:txBody>
      </p:sp>
      <p:sp>
        <p:nvSpPr>
          <p:cNvPr id="3" name="tarjeta-78"/>
          <p:cNvSpPr/>
          <p:nvPr/>
        </p:nvSpPr>
        <p:spPr>
          <a:xfrm>
            <a:off x="548640" y="1325880"/>
            <a:ext cx="5120640" cy="39776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4" name="img-mockup-solucion" descr="Empaque actual de AndiB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846320" cy="3227832"/>
          </a:xfrm>
          <a:prstGeom prst="rect">
            <a:avLst/>
          </a:prstGeom>
        </p:spPr>
      </p:pic>
      <p:sp>
        <p:nvSpPr>
          <p:cNvPr id="5" name="texto-79"/>
          <p:cNvSpPr txBox="1"/>
          <p:nvPr/>
        </p:nvSpPr>
        <p:spPr>
          <a:xfrm>
            <a:off x="68580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Empaque actual (MVP), antes del rediseño 2.0</a:t>
            </a:r>
            <a:endParaRPr lang="en-US" sz="1100" dirty="0"/>
          </a:p>
        </p:txBody>
      </p:sp>
      <p:sp>
        <p:nvSpPr>
          <p:cNvPr id="6" name="texto-80"/>
          <p:cNvSpPr txBox="1"/>
          <p:nvPr/>
        </p:nvSpPr>
        <p:spPr>
          <a:xfrm>
            <a:off x="5989320" y="13258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Brownie húmedo de 20 g con sangrecita (hierro hemínico): sin frío y para probar en el stand.</a:t>
            </a:r>
            <a:endParaRPr lang="en-US" sz="1600" dirty="0"/>
          </a:p>
        </p:txBody>
      </p:sp>
      <p:sp>
        <p:nvSpPr>
          <p:cNvPr id="7" name="ficha-fe-81"/>
          <p:cNvSpPr/>
          <p:nvPr/>
        </p:nvSpPr>
        <p:spPr>
          <a:xfrm>
            <a:off x="10497312" y="1325880"/>
            <a:ext cx="1143000" cy="1143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8" name="fe-num-82"/>
          <p:cNvSpPr txBox="1"/>
          <p:nvPr/>
        </p:nvSpPr>
        <p:spPr>
          <a:xfrm>
            <a:off x="10611612" y="1405890"/>
            <a:ext cx="5715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26</a:t>
            </a:r>
            <a:endParaRPr lang="en-US" sz="1400" dirty="0"/>
          </a:p>
        </p:txBody>
      </p:sp>
      <p:sp>
        <p:nvSpPr>
          <p:cNvPr id="9" name="fe-sym-83"/>
          <p:cNvSpPr txBox="1"/>
          <p:nvPr/>
        </p:nvSpPr>
        <p:spPr>
          <a:xfrm>
            <a:off x="10497312" y="15316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Fe</a:t>
            </a:r>
            <a:endParaRPr lang="en-US" sz="4000" dirty="0"/>
          </a:p>
        </p:txBody>
      </p:sp>
      <p:sp>
        <p:nvSpPr>
          <p:cNvPr id="10" name="fe-cap-84"/>
          <p:cNvSpPr txBox="1"/>
          <p:nvPr/>
        </p:nvSpPr>
        <p:spPr>
          <a:xfrm>
            <a:off x="10497312" y="2160270"/>
            <a:ext cx="1143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~1.9 mg*</a:t>
            </a:r>
            <a:endParaRPr lang="en-US" sz="1200" dirty="0"/>
          </a:p>
        </p:txBody>
      </p:sp>
      <p:sp>
        <p:nvSpPr>
          <p:cNvPr id="11" name="sabor-85"/>
          <p:cNvSpPr/>
          <p:nvPr/>
        </p:nvSpPr>
        <p:spPr>
          <a:xfrm>
            <a:off x="5989320" y="268833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sp>
        <p:nvSpPr>
          <p:cNvPr id="12" name="texto-86"/>
          <p:cNvSpPr txBox="1"/>
          <p:nvPr/>
        </p:nvSpPr>
        <p:spPr>
          <a:xfrm>
            <a:off x="653796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Chispa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Choco Clásico con chispas</a:t>
            </a:r>
            <a:endParaRPr lang="en-US" sz="1400" dirty="0"/>
          </a:p>
        </p:txBody>
      </p:sp>
      <p:sp>
        <p:nvSpPr>
          <p:cNvPr id="13" name="sabor-87"/>
          <p:cNvSpPr/>
          <p:nvPr/>
        </p:nvSpPr>
        <p:spPr>
          <a:xfrm>
            <a:off x="5989320" y="325526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14" name="texto-88"/>
          <p:cNvSpPr txBox="1"/>
          <p:nvPr/>
        </p:nvSpPr>
        <p:spPr>
          <a:xfrm>
            <a:off x="6537960" y="32186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Andi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Choco, plátano, canela y cañihua</a:t>
            </a:r>
            <a:endParaRPr lang="en-US" sz="1400" dirty="0"/>
          </a:p>
        </p:txBody>
      </p:sp>
      <p:sp>
        <p:nvSpPr>
          <p:cNvPr id="15" name="sabor-89"/>
          <p:cNvSpPr/>
          <p:nvPr/>
        </p:nvSpPr>
        <p:spPr>
          <a:xfrm>
            <a:off x="5989320" y="382219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6" name="texto-90"/>
          <p:cNvSpPr txBox="1"/>
          <p:nvPr/>
        </p:nvSpPr>
        <p:spPr>
          <a:xfrm>
            <a:off x="6537960" y="37856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Lúcu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Choco y lúcuma</a:t>
            </a:r>
            <a:endParaRPr lang="en-US" sz="1400" dirty="0"/>
          </a:p>
        </p:txBody>
      </p:sp>
      <p:sp>
        <p:nvSpPr>
          <p:cNvPr id="17" name="texto-91"/>
          <p:cNvSpPr txBox="1"/>
          <p:nvPr/>
        </p:nvSpPr>
        <p:spPr>
          <a:xfrm>
            <a:off x="59893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Azúcar total por 100 g</a:t>
            </a:r>
            <a:endParaRPr lang="en-US" sz="1200" dirty="0"/>
          </a:p>
        </p:txBody>
      </p:sp>
      <p:sp>
        <p:nvSpPr>
          <p:cNvPr id="18" name="barra-fondo"/>
          <p:cNvSpPr/>
          <p:nvPr/>
        </p:nvSpPr>
        <p:spPr>
          <a:xfrm>
            <a:off x="5989320" y="4800600"/>
            <a:ext cx="548640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9" name="barra-rango"/>
          <p:cNvSpPr/>
          <p:nvPr/>
        </p:nvSpPr>
        <p:spPr>
          <a:xfrm>
            <a:off x="8092440" y="4800600"/>
            <a:ext cx="114300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0" name="umbral"/>
          <p:cNvSpPr/>
          <p:nvPr/>
        </p:nvSpPr>
        <p:spPr>
          <a:xfrm>
            <a:off x="10561320" y="4690872"/>
            <a:ext cx="0" cy="548640"/>
          </a:xfrm>
          <a:prstGeom prst="line">
            <a:avLst/>
          </a:prstGeom>
          <a:noFill/>
          <a:ln w="31750">
            <a:solidFill>
              <a:schemeClr val="tx2"/>
            </a:solidFill>
            <a:prstDash val="dash"/>
          </a:ln>
        </p:spPr>
        <p:txBody>
          <a:bodyPr/>
          <a:p/>
        </p:txBody>
      </p:sp>
      <p:sp>
        <p:nvSpPr>
          <p:cNvPr id="21" name="texto-92"/>
          <p:cNvSpPr txBox="1"/>
          <p:nvPr/>
        </p:nvSpPr>
        <p:spPr>
          <a:xfrm>
            <a:off x="7909560" y="5184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4.6 a 7.1 g</a:t>
            </a:r>
            <a:endParaRPr lang="en-US" sz="1200" dirty="0"/>
          </a:p>
        </p:txBody>
      </p:sp>
      <p:sp>
        <p:nvSpPr>
          <p:cNvPr id="22" name="texto-93"/>
          <p:cNvSpPr txBox="1"/>
          <p:nvPr/>
        </p:nvSpPr>
        <p:spPr>
          <a:xfrm>
            <a:off x="8823960" y="5184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Umbral del octógono: 10 g</a:t>
            </a:r>
            <a:endParaRPr lang="en-US" sz="1200" dirty="0"/>
          </a:p>
        </p:txBody>
      </p:sp>
      <p:sp>
        <p:nvSpPr>
          <p:cNvPr id="23" name="texto-94"/>
          <p:cNvSpPr txBox="1"/>
          <p:nvPr/>
        </p:nvSpPr>
        <p:spPr>
          <a:xfrm>
            <a:off x="5989320" y="5669280"/>
            <a:ext cx="5650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*Cálculo de receta [HIPÓTESIS]; la etiqueta la fija el laboratorio.</a:t>
            </a:r>
            <a:endParaRPr lang="en-US" sz="10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elaboración propia (receta V-SO y plan comercial); umbral de azúcar de la Ley 30021 y su manual de advertencias.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Lo que validamos: cuatro capas de evidencia</a:t>
            </a:r>
            <a:endParaRPr lang="en-US" sz="3200" dirty="0"/>
          </a:p>
        </p:txBody>
      </p:sp>
      <p:sp>
        <p:nvSpPr>
          <p:cNvPr id="3" name="tarjeta-95"/>
          <p:cNvSpPr/>
          <p:nvPr/>
        </p:nvSpPr>
        <p:spPr>
          <a:xfrm>
            <a:off x="548640" y="1325880"/>
            <a:ext cx="2633472" cy="38404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circulo-96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o-97"/>
          <p:cNvSpPr txBox="1"/>
          <p:nvPr/>
        </p:nvSpPr>
        <p:spPr>
          <a:xfrm>
            <a:off x="7315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10 entrevistas a profundidad</a:t>
            </a:r>
            <a:endParaRPr lang="en-US" sz="1500" dirty="0"/>
          </a:p>
        </p:txBody>
      </p:sp>
      <p:sp>
        <p:nvSpPr>
          <p:cNvPr id="6" name="texto-98"/>
          <p:cNvSpPr txBox="1"/>
          <p:nvPr/>
        </p:nvSpPr>
        <p:spPr>
          <a:xfrm>
            <a:off x="73152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necesidad</a:t>
            </a:r>
            <a:endParaRPr lang="en-US" sz="1200" dirty="0"/>
          </a:p>
        </p:txBody>
      </p:sp>
      <p:sp>
        <p:nvSpPr>
          <p:cNvPr id="7" name="texto-99"/>
          <p:cNvSpPr txBox="1"/>
          <p:nvPr/>
        </p:nvSpPr>
        <p:spPr>
          <a:xfrm>
            <a:off x="731520" y="3017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 saludable regresa intacto; la barrera es sensorial y la mañana, el momento de dolor.</a:t>
            </a:r>
            <a:endParaRPr lang="en-US" sz="1200" dirty="0"/>
          </a:p>
        </p:txBody>
      </p:sp>
      <p:sp>
        <p:nvSpPr>
          <p:cNvPr id="8" name="texto-100"/>
          <p:cNvSpPr txBox="1"/>
          <p:nvPr/>
        </p:nvSpPr>
        <p:spPr>
          <a:xfrm>
            <a:off x="73152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Validado para la categoría</a:t>
            </a:r>
            <a:endParaRPr lang="en-US" sz="1100" dirty="0"/>
          </a:p>
        </p:txBody>
      </p:sp>
      <p:sp>
        <p:nvSpPr>
          <p:cNvPr id="9" name="tarjeta-101"/>
          <p:cNvSpPr/>
          <p:nvPr/>
        </p:nvSpPr>
        <p:spPr>
          <a:xfrm>
            <a:off x="3364992" y="1325880"/>
            <a:ext cx="2633472" cy="38404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circulo-102"/>
          <p:cNvSpPr/>
          <p:nvPr/>
        </p:nvSpPr>
        <p:spPr>
          <a:xfrm>
            <a:off x="3547872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o-103"/>
          <p:cNvSpPr txBox="1"/>
          <p:nvPr/>
        </p:nvSpPr>
        <p:spPr>
          <a:xfrm>
            <a:off x="354787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Focus group 1 (virtual)</a:t>
            </a:r>
            <a:endParaRPr lang="en-US" sz="1500" dirty="0"/>
          </a:p>
        </p:txBody>
      </p:sp>
      <p:sp>
        <p:nvSpPr>
          <p:cNvPr id="12" name="texto-104"/>
          <p:cNvSpPr txBox="1"/>
          <p:nvPr/>
        </p:nvSpPr>
        <p:spPr>
          <a:xfrm>
            <a:off x="3547872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Formato y camuflaje</a:t>
            </a:r>
            <a:endParaRPr lang="en-US" sz="1200" dirty="0"/>
          </a:p>
        </p:txBody>
      </p:sp>
      <p:sp>
        <p:nvSpPr>
          <p:cNvPr id="13" name="texto-105"/>
          <p:cNvSpPr txBox="1"/>
          <p:nvPr/>
        </p:nvSpPr>
        <p:spPr>
          <a:xfrm>
            <a:off x="3547872" y="3017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de 5 eligieron el brownie; la sangrecita se acepta escondida en chocolate.</a:t>
            </a:r>
            <a:endParaRPr lang="en-US" sz="1200" dirty="0"/>
          </a:p>
        </p:txBody>
      </p:sp>
      <p:sp>
        <p:nvSpPr>
          <p:cNvPr id="14" name="texto-106"/>
          <p:cNvSpPr txBox="1"/>
          <p:nvPr/>
        </p:nvSpPr>
        <p:spPr>
          <a:xfrm>
            <a:off x="3547872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Validado como concepto</a:t>
            </a:r>
            <a:endParaRPr lang="en-US" sz="1100" dirty="0"/>
          </a:p>
        </p:txBody>
      </p:sp>
      <p:sp>
        <p:nvSpPr>
          <p:cNvPr id="15" name="tarjeta-107"/>
          <p:cNvSpPr/>
          <p:nvPr/>
        </p:nvSpPr>
        <p:spPr>
          <a:xfrm>
            <a:off x="6181344" y="1325880"/>
            <a:ext cx="2633472" cy="38404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circulo-108"/>
          <p:cNvSpPr/>
          <p:nvPr/>
        </p:nvSpPr>
        <p:spPr>
          <a:xfrm>
            <a:off x="6364224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o-109"/>
          <p:cNvSpPr txBox="1"/>
          <p:nvPr/>
        </p:nvSpPr>
        <p:spPr>
          <a:xfrm>
            <a:off x="6364224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Focus group 2 con degustación</a:t>
            </a:r>
            <a:endParaRPr lang="en-US" sz="1500" dirty="0"/>
          </a:p>
        </p:txBody>
      </p:sp>
      <p:sp>
        <p:nvSpPr>
          <p:cNvPr id="18" name="texto-110"/>
          <p:cNvSpPr txBox="1"/>
          <p:nvPr/>
        </p:nvSpPr>
        <p:spPr>
          <a:xfrm>
            <a:off x="6364224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Producto, nombre y precio</a:t>
            </a:r>
            <a:endParaRPr lang="en-US" sz="1200" dirty="0"/>
          </a:p>
        </p:txBody>
      </p:sp>
      <p:sp>
        <p:nvSpPr>
          <p:cNvPr id="19" name="texto-111"/>
          <p:cNvSpPr txBox="1"/>
          <p:nvPr/>
        </p:nvSpPr>
        <p:spPr>
          <a:xfrm>
            <a:off x="6364224" y="3017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Agrado (1 a 5):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highlight>
                  <a:srgbClr val="F6D7D2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[POR COMPLETAR POR EL EQUIPO]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Detectaron la sangrecita: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highlight>
                  <a:srgbClr val="F6D7D2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[POR COMPLETAR POR EL EQUIPO]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Precio del pack de 6: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highlight>
                  <a:srgbClr val="F6D7D2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[POR COMPLETAR POR EL EQUIPO]</a:t>
            </a:r>
            <a:endParaRPr lang="en-US" sz="1200" dirty="0"/>
          </a:p>
        </p:txBody>
      </p:sp>
      <p:sp>
        <p:nvSpPr>
          <p:cNvPr id="20" name="texto-112"/>
          <p:cNvSpPr txBox="1"/>
          <p:nvPr/>
        </p:nvSpPr>
        <p:spPr>
          <a:xfrm>
            <a:off x="6364224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Hecho; resultados por cargar</a:t>
            </a:r>
            <a:endParaRPr lang="en-US" sz="1100" dirty="0"/>
          </a:p>
        </p:txBody>
      </p:sp>
      <p:sp>
        <p:nvSpPr>
          <p:cNvPr id="21" name="tarjeta-113"/>
          <p:cNvSpPr/>
          <p:nvPr/>
        </p:nvSpPr>
        <p:spPr>
          <a:xfrm>
            <a:off x="8997696" y="1325880"/>
            <a:ext cx="2633472" cy="38404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circulo-114"/>
          <p:cNvSpPr/>
          <p:nvPr/>
        </p:nvSpPr>
        <p:spPr>
          <a:xfrm>
            <a:off x="9180576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o-115"/>
          <p:cNvSpPr txBox="1"/>
          <p:nvPr/>
        </p:nvSpPr>
        <p:spPr>
          <a:xfrm>
            <a:off x="9180576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Store check (La Molina)</a:t>
            </a:r>
            <a:endParaRPr lang="en-US" sz="1500" dirty="0"/>
          </a:p>
        </p:txBody>
      </p:sp>
      <p:sp>
        <p:nvSpPr>
          <p:cNvPr id="24" name="texto-116"/>
          <p:cNvSpPr txBox="1"/>
          <p:nvPr/>
        </p:nvSpPr>
        <p:spPr>
          <a:xfrm>
            <a:off x="9180576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Precios de la competencia</a:t>
            </a:r>
            <a:endParaRPr lang="en-US" sz="1200" dirty="0"/>
          </a:p>
        </p:txBody>
      </p:sp>
      <p:sp>
        <p:nvSpPr>
          <p:cNvPr id="25" name="texto-117"/>
          <p:cNvSpPr txBox="1"/>
          <p:nvPr/>
        </p:nvSpPr>
        <p:spPr>
          <a:xfrm>
            <a:off x="9180576" y="3017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línea, por 20 g: Nutri H S/3.20, Fika S/4.00, Mamalama S/4.10.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Góndola: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highlight>
                  <a:srgbClr val="F6D7D2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[POR COMPLETAR POR EL EQUIPO]</a:t>
            </a:r>
            <a:endParaRPr lang="en-US" sz="1200" dirty="0"/>
          </a:p>
        </p:txBody>
      </p:sp>
      <p:sp>
        <p:nvSpPr>
          <p:cNvPr id="26" name="texto-118"/>
          <p:cNvSpPr txBox="1"/>
          <p:nvPr/>
        </p:nvSpPr>
        <p:spPr>
          <a:xfrm>
            <a:off x="9180576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Hecho; completar tabla de campo</a:t>
            </a:r>
            <a:endParaRPr lang="en-US" sz="1100" dirty="0"/>
          </a:p>
        </p:txBody>
      </p:sp>
      <p:sp>
        <p:nvSpPr>
          <p:cNvPr id="27" name="tarjeta-11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8" name="texto-120"/>
          <p:cNvSpPr txBox="1"/>
          <p:nvPr/>
        </p:nvSpPr>
        <p:spPr>
          <a:xfrm>
            <a:off x="822960" y="5394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Falta validar: versión sin octógono con 20 niños por sabor (meta: 75 % en caritas 4 y 5) · venta de 80 brownies por día en cada stand · maquila a S/0.50 o menos.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entrevistas, focus 1 y 2 y store check (elaboración propia, set.-oct. 2026); precios en línea al 03/10/2026.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Público objetivo: un nicho concentrado y suficiente</a:t>
            </a:r>
            <a:endParaRPr lang="en-US" sz="3200" dirty="0"/>
          </a:p>
        </p:txBody>
      </p:sp>
      <p:sp>
        <p:nvSpPr>
          <p:cNvPr id="3" name="texto-121"/>
          <p:cNvSpPr txBox="1"/>
          <p:nvPr/>
        </p:nvSpPr>
        <p:spPr>
          <a:xfrm>
            <a:off x="548640" y="1399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TAM</a:t>
            </a:r>
            <a:endParaRPr lang="en-US" sz="1800" dirty="0"/>
          </a:p>
        </p:txBody>
      </p:sp>
      <p:sp>
        <p:nvSpPr>
          <p:cNvPr id="4" name="embudo-122"/>
          <p:cNvSpPr/>
          <p:nvPr/>
        </p:nvSpPr>
        <p:spPr>
          <a:xfrm>
            <a:off x="1691640" y="1325880"/>
            <a:ext cx="640080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5" name="texto-123"/>
          <p:cNvSpPr txBox="1"/>
          <p:nvPr/>
        </p:nvSpPr>
        <p:spPr>
          <a:xfrm>
            <a:off x="1828800" y="13258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932,000 hogares · S/130.9 M</a:t>
            </a:r>
            <a:endParaRPr lang="en-US" sz="1800" dirty="0"/>
          </a:p>
        </p:txBody>
      </p:sp>
      <p:sp>
        <p:nvSpPr>
          <p:cNvPr id="6" name="texto-124"/>
          <p:cNvSpPr txBox="1"/>
          <p:nvPr/>
        </p:nvSpPr>
        <p:spPr>
          <a:xfrm>
            <a:off x="1691640" y="20208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1,212,000 niños de 4 a 11 en Lima y Callao, precio masivo</a:t>
            </a:r>
            <a:endParaRPr lang="en-US" sz="1200" dirty="0"/>
          </a:p>
        </p:txBody>
      </p:sp>
      <p:sp>
        <p:nvSpPr>
          <p:cNvPr id="7" name="texto-125"/>
          <p:cNvSpPr txBox="1"/>
          <p:nvPr/>
        </p:nvSpPr>
        <p:spPr>
          <a:xfrm>
            <a:off x="548640" y="26151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SAM</a:t>
            </a:r>
            <a:endParaRPr lang="en-US" sz="1800" dirty="0"/>
          </a:p>
        </p:txBody>
      </p:sp>
      <p:sp>
        <p:nvSpPr>
          <p:cNvPr id="8" name="embudo-126"/>
          <p:cNvSpPr/>
          <p:nvPr/>
        </p:nvSpPr>
        <p:spPr>
          <a:xfrm>
            <a:off x="1691640" y="2542032"/>
            <a:ext cx="5120640" cy="658368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9" name="texto-127"/>
          <p:cNvSpPr txBox="1"/>
          <p:nvPr/>
        </p:nvSpPr>
        <p:spPr>
          <a:xfrm>
            <a:off x="1828800" y="254203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168,000 hogares · S/62.8 M</a:t>
            </a:r>
            <a:endParaRPr lang="en-US" sz="1800" dirty="0"/>
          </a:p>
        </p:txBody>
      </p:sp>
      <p:sp>
        <p:nvSpPr>
          <p:cNvPr id="10" name="texto-128"/>
          <p:cNvSpPr txBox="1"/>
          <p:nvPr/>
        </p:nvSpPr>
        <p:spPr>
          <a:xfrm>
            <a:off x="1691640" y="32369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NSE A/B: 218,000 niños de 4 a 11 en Lima</a:t>
            </a:r>
            <a:endParaRPr lang="en-US" sz="1200" dirty="0"/>
          </a:p>
        </p:txBody>
      </p:sp>
      <p:sp>
        <p:nvSpPr>
          <p:cNvPr id="11" name="texto-129"/>
          <p:cNvSpPr txBox="1"/>
          <p:nvPr/>
        </p:nvSpPr>
        <p:spPr>
          <a:xfrm>
            <a:off x="548640" y="38313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Núcleo</a:t>
            </a:r>
            <a:endParaRPr lang="en-US" sz="1800" dirty="0"/>
          </a:p>
        </p:txBody>
      </p:sp>
      <p:sp>
        <p:nvSpPr>
          <p:cNvPr id="12" name="embudo-130"/>
          <p:cNvSpPr/>
          <p:nvPr/>
        </p:nvSpPr>
        <p:spPr>
          <a:xfrm>
            <a:off x="1691640" y="3758184"/>
            <a:ext cx="384048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3" name="texto-131"/>
          <p:cNvSpPr txBox="1"/>
          <p:nvPr/>
        </p:nvSpPr>
        <p:spPr>
          <a:xfrm>
            <a:off x="1828800" y="37581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46,000 hogares · S/17.3 M</a:t>
            </a:r>
            <a:endParaRPr lang="en-US" sz="1800" dirty="0"/>
          </a:p>
        </p:txBody>
      </p:sp>
      <p:sp>
        <p:nvSpPr>
          <p:cNvPr id="14" name="texto-132"/>
          <p:cNvSpPr txBox="1"/>
          <p:nvPr/>
        </p:nvSpPr>
        <p:spPr>
          <a:xfrm>
            <a:off x="1691640" y="4453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Lima Top y Lima Moderna: 60,000 niños</a:t>
            </a:r>
            <a:endParaRPr lang="en-US" sz="1200" dirty="0"/>
          </a:p>
        </p:txBody>
      </p:sp>
      <p:sp>
        <p:nvSpPr>
          <p:cNvPr id="15" name="texto-133"/>
          <p:cNvSpPr txBox="1"/>
          <p:nvPr/>
        </p:nvSpPr>
        <p:spPr>
          <a:xfrm>
            <a:off x="548640" y="50474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SOM</a:t>
            </a:r>
            <a:endParaRPr lang="en-US" sz="1800" dirty="0"/>
          </a:p>
        </p:txBody>
      </p:sp>
      <p:sp>
        <p:nvSpPr>
          <p:cNvPr id="16" name="embudo-134"/>
          <p:cNvSpPr/>
          <p:nvPr/>
        </p:nvSpPr>
        <p:spPr>
          <a:xfrm>
            <a:off x="1691640" y="4974336"/>
            <a:ext cx="256032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7" name="texto-135"/>
          <p:cNvSpPr txBox="1"/>
          <p:nvPr/>
        </p:nvSpPr>
        <p:spPr>
          <a:xfrm>
            <a:off x="1828800" y="49743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47,223 u en el año 1</a:t>
            </a:r>
            <a:endParaRPr lang="en-US" sz="1800" dirty="0"/>
          </a:p>
        </p:txBody>
      </p:sp>
      <p:sp>
        <p:nvSpPr>
          <p:cNvPr id="18" name="texto-136"/>
          <p:cNvSpPr txBox="1"/>
          <p:nvPr/>
        </p:nvSpPr>
        <p:spPr>
          <a:xfrm>
            <a:off x="169164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Año 1: 1.5 % del núcleo</a:t>
            </a:r>
            <a:endParaRPr lang="en-US" sz="1200" dirty="0"/>
          </a:p>
        </p:txBody>
      </p:sp>
      <p:sp>
        <p:nvSpPr>
          <p:cNvPr id="19" name="tarjeta-137"/>
          <p:cNvSpPr/>
          <p:nvPr/>
        </p:nvSpPr>
        <p:spPr>
          <a:xfrm>
            <a:off x="8366760" y="1325880"/>
            <a:ext cx="3273552" cy="4800600"/>
          </a:xfrm>
          <a:prstGeom prst="roundRect">
            <a:avLst>
              <a:gd name="adj" fmla="val 33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o-138"/>
          <p:cNvSpPr txBox="1"/>
          <p:nvPr/>
        </p:nvSpPr>
        <p:spPr>
          <a:xfrm>
            <a:off x="8595360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706,053</a:t>
            </a:r>
            <a:endParaRPr lang="en-US" sz="4000" dirty="0"/>
          </a:p>
        </p:txBody>
      </p:sp>
      <p:sp>
        <p:nvSpPr>
          <p:cNvPr id="21" name="texto-139"/>
          <p:cNvSpPr txBox="1"/>
          <p:nvPr/>
        </p:nvSpPr>
        <p:spPr>
          <a:xfrm>
            <a:off x="859536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hogares A/B en Lima y Callao (21.0 %)</a:t>
            </a:r>
            <a:endParaRPr lang="en-US" sz="1300" dirty="0"/>
          </a:p>
        </p:txBody>
      </p:sp>
      <p:sp>
        <p:nvSpPr>
          <p:cNvPr id="22" name="texto-140"/>
          <p:cNvSpPr txBox="1"/>
          <p:nvPr/>
        </p:nvSpPr>
        <p:spPr>
          <a:xfrm>
            <a:off x="859536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Padres conscientes y planificados</a:t>
            </a:r>
            <a:endParaRPr lang="en-US" sz="1700" dirty="0"/>
          </a:p>
        </p:txBody>
      </p:sp>
      <p:sp>
        <p:nvSpPr>
          <p:cNvPr id="23" name="texto-141"/>
          <p:cNvSpPr txBox="1"/>
          <p:nvPr/>
        </p:nvSpPr>
        <p:spPr>
          <a:xfrm>
            <a:off x="8595360" y="37033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32 a 45 años, NSE A2, B1 y B2 alto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Hijo de 4 a 11 en colegio privado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Leen etiquetas y pagan por evidencia</a:t>
            </a:r>
            <a:endParaRPr lang="en-US" sz="13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APEIM 2025 (ENAHO 2024); CPI 2026; INEI, Censo 2025 (ajuste de −5 %); Kantar 2025; elaboración propia (TAM, SAM, SOM).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Buyer persona: Claudia y Rodrigo</a:t>
            </a:r>
            <a:endParaRPr lang="en-US" sz="3200" dirty="0"/>
          </a:p>
        </p:txBody>
      </p:sp>
      <p:sp>
        <p:nvSpPr>
          <p:cNvPr id="5" name="tarjeta-142"/>
          <p:cNvSpPr/>
          <p:nvPr/>
        </p:nvSpPr>
        <p:spPr>
          <a:xfrm>
            <a:off x="7981878" y="1234440"/>
            <a:ext cx="3661177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o-143"/>
          <p:cNvSpPr txBox="1"/>
          <p:nvPr/>
        </p:nvSpPr>
        <p:spPr>
          <a:xfrm>
            <a:off x="8210478" y="1371600"/>
            <a:ext cx="320397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“Yo sé lo que le falta a mi hijo; el problema es que todo lo que le falta, él lo escupe.”</a:t>
            </a:r>
            <a:endParaRPr lang="en-US" sz="1700" dirty="0"/>
          </a:p>
        </p:txBody>
      </p:sp>
      <p:sp>
        <p:nvSpPr>
          <p:cNvPr id="7" name="texto-144"/>
          <p:cNvSpPr txBox="1"/>
          <p:nvPr/>
        </p:nvSpPr>
        <p:spPr>
          <a:xfrm>
            <a:off x="8210478" y="2880360"/>
            <a:ext cx="32039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Claudia, 38, San Borja</a:t>
            </a:r>
            <a:endParaRPr lang="en-US" sz="1200" dirty="0"/>
          </a:p>
        </p:txBody>
      </p:sp>
      <p:sp>
        <p:nvSpPr>
          <p:cNvPr id="8" name="texto-145"/>
          <p:cNvSpPr txBox="1"/>
          <p:nvPr/>
        </p:nvSpPr>
        <p:spPr>
          <a:xfrm>
            <a:off x="7981878" y="3566160"/>
            <a:ext cx="36611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adulto paga y el niño aprueba: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sin pedido del niño no hay recompra.</a:t>
            </a:r>
            <a:endParaRPr lang="en-US" sz="1400" dirty="0"/>
          </a:p>
        </p:txBody>
      </p:sp>
      <p:sp>
        <p:nvSpPr>
          <p:cNvPr id="9" name="texto-146"/>
          <p:cNvSpPr txBox="1"/>
          <p:nvPr/>
        </p:nvSpPr>
        <p:spPr>
          <a:xfrm>
            <a:off x="7981878" y="4206240"/>
            <a:ext cx="36611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53.1 %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los nacimientos en Lima, de madres de 30+ (INEI 2022)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53.6 %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 NSE A compra por internet (APEIM 2025)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APEIM 2025; INEI-RENIEC, Estadísticas vitales 2022; entrevistas y focus 1 (elaboración propia).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ficha_claud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234440"/>
            <a:ext cx="3419439" cy="4937760"/>
          </a:xfrm>
          <a:prstGeom prst="rect">
            <a:avLst/>
          </a:prstGeom>
        </p:spPr>
      </p:pic>
      <p:pic>
        <p:nvPicPr>
          <p:cNvPr id="27" name="Picture 26" descr="ficha_rodri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399" y="1234440"/>
            <a:ext cx="341943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Propuesta de valor</a:t>
            </a:r>
            <a:endParaRPr lang="en-US" sz="2400" dirty="0"/>
          </a:p>
        </p:txBody>
      </p:sp>
      <p:sp>
        <p:nvSpPr>
          <p:cNvPr id="3" name="texto-148"/>
          <p:cNvSpPr txBox="1"/>
          <p:nvPr/>
        </p:nvSpPr>
        <p:spPr>
          <a:xfrm>
            <a:off x="548640" y="1371600"/>
            <a:ext cx="8778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Hierro medido, sabor a brownie: el snack de lonchera que tu hijo sí se come y que tú sí puedes leer.</a:t>
            </a:r>
            <a:endParaRPr lang="en-US" sz="4200" dirty="0"/>
          </a:p>
        </p:txBody>
      </p:sp>
      <p:sp>
        <p:nvSpPr>
          <p:cNvPr id="4" name="ficha-fe-149"/>
          <p:cNvSpPr/>
          <p:nvPr/>
        </p:nvSpPr>
        <p:spPr>
          <a:xfrm>
            <a:off x="9966960" y="1737360"/>
            <a:ext cx="1600200" cy="1600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fe-num-150"/>
          <p:cNvSpPr txBox="1"/>
          <p:nvPr/>
        </p:nvSpPr>
        <p:spPr>
          <a:xfrm>
            <a:off x="10126980" y="1849374"/>
            <a:ext cx="8001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26</a:t>
            </a:r>
            <a:endParaRPr lang="en-US" sz="1900" dirty="0"/>
          </a:p>
        </p:txBody>
      </p:sp>
      <p:sp>
        <p:nvSpPr>
          <p:cNvPr id="6" name="fe-sym-151"/>
          <p:cNvSpPr txBox="1"/>
          <p:nvPr/>
        </p:nvSpPr>
        <p:spPr>
          <a:xfrm>
            <a:off x="9966960" y="2025396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Fe</a:t>
            </a:r>
            <a:endParaRPr lang="en-US" sz="5600" dirty="0"/>
          </a:p>
        </p:txBody>
      </p:sp>
      <p:sp>
        <p:nvSpPr>
          <p:cNvPr id="7" name="fe-cap-152"/>
          <p:cNvSpPr txBox="1"/>
          <p:nvPr/>
        </p:nvSpPr>
        <p:spPr>
          <a:xfrm>
            <a:off x="9966960" y="2905506"/>
            <a:ext cx="16002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medido</a:t>
            </a:r>
            <a:endParaRPr lang="en-US" sz="1700" dirty="0"/>
          </a:p>
        </p:txBody>
      </p:sp>
      <p:sp>
        <p:nvSpPr>
          <p:cNvPr id="8" name="pv-30"/>
          <p:cNvSpPr/>
          <p:nvPr/>
        </p:nvSpPr>
        <p:spPr>
          <a:xfrm>
            <a:off x="548640" y="45262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6E1622"/>
          </a:solidFill>
          <a:ln/>
        </p:spPr>
        <p:txBody>
          <a:bodyPr/>
          <a:p/>
        </p:txBody>
      </p:sp>
      <p:sp>
        <p:nvSpPr>
          <p:cNvPr id="9" name="texto-153"/>
          <p:cNvSpPr txBox="1"/>
          <p:nvPr/>
        </p:nvSpPr>
        <p:spPr>
          <a:xfrm>
            <a:off x="868680" y="4617720"/>
            <a:ext cx="10454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30 palabras: </a:t>
            </a:r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padres planificados que leen etiquetas, AndiBite es el mini brownie de 20 g con sangrecita: hierro medido en laboratorio, cero octógonos y tres sabores que el niño sí pide.</a:t>
            </a:r>
            <a:endParaRPr lang="en-US" sz="18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Fuente: elaboración propia, a partir de 10 entrevistas, focus 1 y 2 y datos de Kantar 2025 e Ipsos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Value Proposition Canvas</a:t>
            </a:r>
            <a:endParaRPr lang="en-US" sz="3200" dirty="0"/>
          </a:p>
        </p:txBody>
      </p:sp>
      <p:sp>
        <p:nvSpPr>
          <p:cNvPr id="3" name="tarjeta-154"/>
          <p:cNvSpPr/>
          <p:nvPr/>
        </p:nvSpPr>
        <p:spPr>
          <a:xfrm>
            <a:off x="548640" y="1234440"/>
            <a:ext cx="525780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arjeta-155"/>
          <p:cNvSpPr/>
          <p:nvPr/>
        </p:nvSpPr>
        <p:spPr>
          <a:xfrm>
            <a:off x="6385255" y="1234440"/>
            <a:ext cx="525780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icono-mapa"/>
          <p:cNvSpPr/>
          <p:nvPr/>
        </p:nvSpPr>
        <p:spPr>
          <a:xfrm>
            <a:off x="777240" y="1371600"/>
            <a:ext cx="384048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texto-156"/>
          <p:cNvSpPr txBox="1"/>
          <p:nvPr/>
        </p:nvSpPr>
        <p:spPr>
          <a:xfrm>
            <a:off x="1280160" y="13441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Mapa de valor (AndiBite)</a:t>
            </a:r>
            <a:endParaRPr lang="en-US" sz="1800" dirty="0"/>
          </a:p>
        </p:txBody>
      </p:sp>
      <p:sp>
        <p:nvSpPr>
          <p:cNvPr id="7" name="icono-perfil"/>
          <p:cNvSpPr/>
          <p:nvPr/>
        </p:nvSpPr>
        <p:spPr>
          <a:xfrm>
            <a:off x="6613855" y="13716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8" name="texto-157"/>
          <p:cNvSpPr txBox="1"/>
          <p:nvPr/>
        </p:nvSpPr>
        <p:spPr>
          <a:xfrm>
            <a:off x="7116775" y="13441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Perfil del cliente (padres A/B)</a:t>
            </a:r>
            <a:endParaRPr lang="en-US" sz="1800" dirty="0"/>
          </a:p>
        </p:txBody>
      </p:sp>
      <p:sp>
        <p:nvSpPr>
          <p:cNvPr id="9" name="vpc-etq-158"/>
          <p:cNvSpPr/>
          <p:nvPr/>
        </p:nvSpPr>
        <p:spPr>
          <a:xfrm>
            <a:off x="731520" y="1920240"/>
            <a:ext cx="132588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0" name="texto-159"/>
          <p:cNvSpPr txBox="1"/>
          <p:nvPr/>
        </p:nvSpPr>
        <p:spPr>
          <a:xfrm>
            <a:off x="804672" y="19202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Productos y servicios</a:t>
            </a:r>
            <a:endParaRPr lang="en-US" sz="1300" dirty="0"/>
          </a:p>
        </p:txBody>
      </p:sp>
      <p:sp>
        <p:nvSpPr>
          <p:cNvPr id="11" name="texto-160"/>
          <p:cNvSpPr txBox="1"/>
          <p:nvPr/>
        </p:nvSpPr>
        <p:spPr>
          <a:xfrm>
            <a:off x="2194560" y="1938528"/>
            <a:ext cx="3429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Pack de 6 (S/26.00 en stand; S/24.90 por WhatsApp), pack de 12 y caja degustación (S/12.00)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Tres sabores en el mismo pack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 con degustación gratis y recompra por WhatsApp</a:t>
            </a:r>
            <a:endParaRPr lang="en-US" sz="1150" dirty="0"/>
          </a:p>
        </p:txBody>
      </p:sp>
      <p:sp>
        <p:nvSpPr>
          <p:cNvPr id="12" name="vpc-etq-161"/>
          <p:cNvSpPr/>
          <p:nvPr/>
        </p:nvSpPr>
        <p:spPr>
          <a:xfrm>
            <a:off x="6568135" y="1920240"/>
            <a:ext cx="1325880" cy="1234440"/>
          </a:xfrm>
          <a:prstGeom prst="roundRect">
            <a:avLst>
              <a:gd name="adj" fmla="val 5926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3" name="texto-162"/>
          <p:cNvSpPr txBox="1"/>
          <p:nvPr/>
        </p:nvSpPr>
        <p:spPr>
          <a:xfrm>
            <a:off x="6641287" y="19202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Trabajos</a:t>
            </a:r>
            <a:endParaRPr lang="en-US" sz="1300" dirty="0"/>
          </a:p>
        </p:txBody>
      </p:sp>
      <p:sp>
        <p:nvSpPr>
          <p:cNvPr id="14" name="texto-163"/>
          <p:cNvSpPr txBox="1"/>
          <p:nvPr/>
        </p:nvSpPr>
        <p:spPr>
          <a:xfrm>
            <a:off x="8031175" y="1938528"/>
            <a:ext cx="3429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Darle hierro al hijo sin pelear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Armar una lonchera variada en minutos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Cumplir la lonchera saludable del colegio y sentirse buen padre</a:t>
            </a:r>
            <a:endParaRPr lang="en-US" sz="1150" dirty="0"/>
          </a:p>
        </p:txBody>
      </p:sp>
      <p:sp>
        <p:nvSpPr>
          <p:cNvPr id="15" name="encaje-164"/>
          <p:cNvSpPr/>
          <p:nvPr/>
        </p:nvSpPr>
        <p:spPr>
          <a:xfrm>
            <a:off x="5861304" y="2377440"/>
            <a:ext cx="469087" cy="320040"/>
          </a:xfrm>
          <a:prstGeom prst="leftRightArrow">
            <a:avLst/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6" name="vpc-etq-165"/>
          <p:cNvSpPr/>
          <p:nvPr/>
        </p:nvSpPr>
        <p:spPr>
          <a:xfrm>
            <a:off x="731520" y="3291840"/>
            <a:ext cx="132588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7" name="texto-166"/>
          <p:cNvSpPr txBox="1"/>
          <p:nvPr/>
        </p:nvSpPr>
        <p:spPr>
          <a:xfrm>
            <a:off x="804672" y="32918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Aliviadores de dolor</a:t>
            </a:r>
            <a:endParaRPr lang="en-US" sz="1300" dirty="0"/>
          </a:p>
        </p:txBody>
      </p:sp>
      <p:sp>
        <p:nvSpPr>
          <p:cNvPr id="18" name="texto-167"/>
          <p:cNvSpPr txBox="1"/>
          <p:nvPr/>
        </p:nvSpPr>
        <p:spPr>
          <a:xfrm>
            <a:off x="2194560" y="3310128"/>
            <a:ext cx="3429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Cacao y canela esconden la sangrecita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Sin octógono: 4.6 a 7.1 g de azúcar por 100 g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RS, lote y vencimiento visibles; porción sellada sin frío</a:t>
            </a:r>
            <a:endParaRPr lang="en-US" sz="1150" dirty="0"/>
          </a:p>
        </p:txBody>
      </p:sp>
      <p:sp>
        <p:nvSpPr>
          <p:cNvPr id="19" name="vpc-etq-168"/>
          <p:cNvSpPr/>
          <p:nvPr/>
        </p:nvSpPr>
        <p:spPr>
          <a:xfrm>
            <a:off x="6568135" y="3291840"/>
            <a:ext cx="1325880" cy="1234440"/>
          </a:xfrm>
          <a:prstGeom prst="roundRect">
            <a:avLst>
              <a:gd name="adj" fmla="val 5926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20" name="texto-169"/>
          <p:cNvSpPr txBox="1"/>
          <p:nvPr/>
        </p:nvSpPr>
        <p:spPr>
          <a:xfrm>
            <a:off x="6641287" y="32918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Dolores</a:t>
            </a:r>
            <a:endParaRPr lang="en-US" sz="1300" dirty="0"/>
          </a:p>
        </p:txBody>
      </p:sp>
      <p:sp>
        <p:nvSpPr>
          <p:cNvPr id="21" name="texto-170"/>
          <p:cNvSpPr txBox="1"/>
          <p:nvPr/>
        </p:nvSpPr>
        <p:spPr>
          <a:xfrm>
            <a:off x="8031175" y="3310128"/>
            <a:ext cx="3429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 saludable regresa intacto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sangrecita visible se rechaza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70 % teme el "Alto en azúcar"; 42 % desconfía de lo envasado</a:t>
            </a:r>
            <a:endParaRPr lang="en-US" sz="1150" dirty="0"/>
          </a:p>
        </p:txBody>
      </p:sp>
      <p:sp>
        <p:nvSpPr>
          <p:cNvPr id="22" name="encaje-171"/>
          <p:cNvSpPr/>
          <p:nvPr/>
        </p:nvSpPr>
        <p:spPr>
          <a:xfrm>
            <a:off x="5861304" y="3749040"/>
            <a:ext cx="469087" cy="320040"/>
          </a:xfrm>
          <a:prstGeom prst="leftRightArrow">
            <a:avLst/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3" name="vpc-etq-172"/>
          <p:cNvSpPr/>
          <p:nvPr/>
        </p:nvSpPr>
        <p:spPr>
          <a:xfrm>
            <a:off x="731520" y="4663440"/>
            <a:ext cx="132588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4" name="texto-173"/>
          <p:cNvSpPr txBox="1"/>
          <p:nvPr/>
        </p:nvSpPr>
        <p:spPr>
          <a:xfrm>
            <a:off x="804672" y="46634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Creadores de alegría</a:t>
            </a:r>
            <a:endParaRPr lang="en-US" sz="1300" dirty="0"/>
          </a:p>
        </p:txBody>
      </p:sp>
      <p:sp>
        <p:nvSpPr>
          <p:cNvPr id="25" name="texto-174"/>
          <p:cNvSpPr txBox="1"/>
          <p:nvPr/>
        </p:nvSpPr>
        <p:spPr>
          <a:xfrm>
            <a:off x="2194560" y="4681728"/>
            <a:ext cx="3429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niño pide su sabor: "¡quiero Chispa!"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Hierro en mg en el frente y QR al informe del lote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Calendario de lonchera en la caja de 12</a:t>
            </a:r>
            <a:endParaRPr lang="en-US" sz="1150" dirty="0"/>
          </a:p>
        </p:txBody>
      </p:sp>
      <p:sp>
        <p:nvSpPr>
          <p:cNvPr id="26" name="vpc-etq-175"/>
          <p:cNvSpPr/>
          <p:nvPr/>
        </p:nvSpPr>
        <p:spPr>
          <a:xfrm>
            <a:off x="6568135" y="4663440"/>
            <a:ext cx="1325880" cy="1234440"/>
          </a:xfrm>
          <a:prstGeom prst="roundRect">
            <a:avLst>
              <a:gd name="adj" fmla="val 5926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27" name="texto-176"/>
          <p:cNvSpPr txBox="1"/>
          <p:nvPr/>
        </p:nvSpPr>
        <p:spPr>
          <a:xfrm>
            <a:off x="6641287" y="46634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Alegrías</a:t>
            </a:r>
            <a:endParaRPr lang="en-US" sz="1300" dirty="0"/>
          </a:p>
        </p:txBody>
      </p:sp>
      <p:sp>
        <p:nvSpPr>
          <p:cNvPr id="28" name="texto-177"/>
          <p:cNvSpPr txBox="1"/>
          <p:nvPr/>
        </p:nvSpPr>
        <p:spPr>
          <a:xfrm>
            <a:off x="8031175" y="4681728"/>
            <a:ext cx="3429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el niño lo pida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 el dato, no la promesa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complemente lo que ya hace y sea de origen peruano</a:t>
            </a:r>
            <a:endParaRPr lang="en-US" sz="1150" dirty="0"/>
          </a:p>
        </p:txBody>
      </p:sp>
      <p:sp>
        <p:nvSpPr>
          <p:cNvPr id="29" name="encaje-178"/>
          <p:cNvSpPr/>
          <p:nvPr/>
        </p:nvSpPr>
        <p:spPr>
          <a:xfrm>
            <a:off x="5861304" y="5120640"/>
            <a:ext cx="469087" cy="320040"/>
          </a:xfrm>
          <a:prstGeom prst="leftRightArrow">
            <a:avLst/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30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Ipsos Perú 2025; Kantar 2025; 10 entrevistas y focus 1 (elaboración propia); plan comercial (precios).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Diferenciadores frente a la competencia</a:t>
            </a:r>
            <a:endParaRPr lang="en-US" sz="3200" dirty="0"/>
          </a:p>
        </p:txBody>
      </p:sp>
      <p:graphicFrame>
        <p:nvGraphicFramePr>
          <p:cNvPr id="12" name="tabla-competenc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450592"/>
                <a:gridCol w="1828800"/>
                <a:gridCol w="1828800"/>
                <a:gridCol w="1783080"/>
                <a:gridCol w="1785823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Atributo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AndiBite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Nutri H (galleta)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Fika (brownie de quinua)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Mamalama (barra)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Barrita de cereal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Precio por 20 g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S/4.15 (S/3.91 en pack de 12)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S/3.20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S/4.00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S/4.10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S/2.00 a 2.50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Hierro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Hemínico, ~1.9 mg por unidad, publicado por lote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Hemoglobina bovina; mg por confirmar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No lo declara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No lo declara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No hemínico o ninguno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Octógono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Ninguno (confirmar en laboratorio)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highlight>
                            <a:srgbClr val="F6D7D2"/>
                          </a:highlight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[POR COMPLETAR]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Ninguno (alulosa)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highlight>
                            <a:srgbClr val="F6D7D2"/>
                          </a:highlight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[POR COMPLETAR]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Varía: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highlight>
                            <a:srgbClr val="F6D7D2"/>
                          </a:highlight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[POR COMPLETAR]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Sabores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 en el mismo pack, más 2 de temporada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Clásica y vegetarianas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Uno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Uno por caja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Uno por caja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Canal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Stands en malls y súper, ferias, WhatsApp, quioscos y naturistas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Web desde Ayacucho y puntos en Lima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Web con delivery en 24 h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Góndola de Wong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Supermercado y bodega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</a:tbl>
          </a:graphicData>
        </a:graphic>
      </p:graphicFrame>
      <p:sp>
        <p:nvSpPr>
          <p:cNvPr id="4" name="tarjeta-179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texto-180"/>
          <p:cNvSpPr txBox="1"/>
          <p:nvPr/>
        </p:nvSpPr>
        <p:spPr>
          <a:xfrm>
            <a:off x="822960" y="53035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Lectura: el pack de 6 son S/4.15 por brownie de 20 g por WhatsApp y S/4.33 en el stand, cerca de Fika (S/4.00) y Mamalama (S/4.10), sostenido por hierro medido, cero octógonos y prueba en el stand.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páginas web de Nutri H, Fika, Wong y Plaza Vea (03/10/2026); store check La Molina; elaboración propia. ~1.9 mg = [HIPÓTESIS].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Business Model Canvas</a:t>
            </a:r>
            <a:endParaRPr lang="en-US" sz="3200" dirty="0"/>
          </a:p>
        </p:txBody>
      </p:sp>
      <p:sp>
        <p:nvSpPr>
          <p:cNvPr id="3" name="bmc-bloque-181"/>
          <p:cNvSpPr/>
          <p:nvPr/>
        </p:nvSpPr>
        <p:spPr>
          <a:xfrm>
            <a:off x="548640" y="1188720"/>
            <a:ext cx="2160361" cy="352044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4" name="texto-182"/>
          <p:cNvSpPr txBox="1"/>
          <p:nvPr/>
        </p:nvSpPr>
        <p:spPr>
          <a:xfrm>
            <a:off x="640080" y="1243584"/>
            <a:ext cx="1977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Socios clave</a:t>
            </a:r>
            <a:endParaRPr lang="en-US" sz="1200" dirty="0"/>
          </a:p>
        </p:txBody>
      </p:sp>
      <p:sp>
        <p:nvSpPr>
          <p:cNvPr id="5" name="texto-183"/>
          <p:cNvSpPr txBox="1"/>
          <p:nvPr/>
        </p:nvSpPr>
        <p:spPr>
          <a:xfrm>
            <a:off x="640080" y="1554480"/>
            <a:ext cx="1977481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Maquila con HACCP: MAKING, Unión, INDDA-UNALM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Laboratorios INACAL: SAT Perú, La Molina Calidad Total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Proveedor de sangrecita en polvo con SENASA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Nutricionista colegiada, concesionarios y naturistas</a:t>
            </a:r>
            <a:endParaRPr lang="en-US" sz="950" dirty="0"/>
          </a:p>
        </p:txBody>
      </p:sp>
      <p:sp>
        <p:nvSpPr>
          <p:cNvPr id="6" name="bmc-bloque-184"/>
          <p:cNvSpPr/>
          <p:nvPr/>
        </p:nvSpPr>
        <p:spPr>
          <a:xfrm>
            <a:off x="2782153" y="1188720"/>
            <a:ext cx="2160361" cy="1723644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7" name="texto-185"/>
          <p:cNvSpPr txBox="1"/>
          <p:nvPr/>
        </p:nvSpPr>
        <p:spPr>
          <a:xfrm>
            <a:off x="2873593" y="1243584"/>
            <a:ext cx="1977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Actividades clave</a:t>
            </a:r>
            <a:endParaRPr lang="en-US" sz="1200" dirty="0"/>
          </a:p>
        </p:txBody>
      </p:sp>
      <p:sp>
        <p:nvSpPr>
          <p:cNvPr id="8" name="texto-186"/>
          <p:cNvSpPr txBox="1"/>
          <p:nvPr/>
        </p:nvSpPr>
        <p:spPr>
          <a:xfrm>
            <a:off x="2873593" y="1554480"/>
            <a:ext cx="1977481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I+D y prueba sensorial con 20 niños por sabor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Maquila y control por lote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Venta en stands, carritos y ferias; recompra por WhatsApp</a:t>
            </a:r>
            <a:endParaRPr lang="en-US" sz="950" dirty="0"/>
          </a:p>
        </p:txBody>
      </p:sp>
      <p:sp>
        <p:nvSpPr>
          <p:cNvPr id="9" name="bmc-bloque-187"/>
          <p:cNvSpPr/>
          <p:nvPr/>
        </p:nvSpPr>
        <p:spPr>
          <a:xfrm>
            <a:off x="2782153" y="2985516"/>
            <a:ext cx="2160361" cy="1723644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10" name="texto-188"/>
          <p:cNvSpPr txBox="1"/>
          <p:nvPr/>
        </p:nvSpPr>
        <p:spPr>
          <a:xfrm>
            <a:off x="2873593" y="3040380"/>
            <a:ext cx="1977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Recursos clave</a:t>
            </a:r>
            <a:endParaRPr lang="en-US" sz="1200" dirty="0"/>
          </a:p>
        </p:txBody>
      </p:sp>
      <p:sp>
        <p:nvSpPr>
          <p:cNvPr id="11" name="texto-189"/>
          <p:cNvSpPr txBox="1"/>
          <p:nvPr/>
        </p:nvSpPr>
        <p:spPr>
          <a:xfrm>
            <a:off x="2873593" y="3351276"/>
            <a:ext cx="1977481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Fórmula V-SO en 3 sabores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RS a nombre de la S.A.C.; marca clase 30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Equipo de 5 y 2 carritos de exhibición</a:t>
            </a:r>
            <a:endParaRPr lang="en-US" sz="950" dirty="0"/>
          </a:p>
        </p:txBody>
      </p:sp>
      <p:sp>
        <p:nvSpPr>
          <p:cNvPr id="12" name="bmc-bloque-190"/>
          <p:cNvSpPr/>
          <p:nvPr/>
        </p:nvSpPr>
        <p:spPr>
          <a:xfrm>
            <a:off x="5015667" y="1188720"/>
            <a:ext cx="2160361" cy="3520440"/>
          </a:xfrm>
          <a:prstGeom prst="roundRect">
            <a:avLst>
              <a:gd name="adj" fmla="val 2540"/>
            </a:avLst>
          </a:prstGeom>
          <a:solidFill>
            <a:srgbClr val="FBE7C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13" name="texto-191"/>
          <p:cNvSpPr txBox="1"/>
          <p:nvPr/>
        </p:nvSpPr>
        <p:spPr>
          <a:xfrm>
            <a:off x="5107107" y="1243584"/>
            <a:ext cx="1977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Propuesta de valor</a:t>
            </a:r>
            <a:endParaRPr lang="en-US" sz="1200" dirty="0"/>
          </a:p>
        </p:txBody>
      </p:sp>
      <p:sp>
        <p:nvSpPr>
          <p:cNvPr id="14" name="texto-192"/>
          <p:cNvSpPr txBox="1"/>
          <p:nvPr/>
        </p:nvSpPr>
        <p:spPr>
          <a:xfrm>
            <a:off x="5107107" y="1554480"/>
            <a:ext cx="1977481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"Hierro medido. Sabor a brownie."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Mini brownie de 20 g con sangrecita: ~1.9 mg de hierro [HIPÓTESIS]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Sin octógono: 4.6 a 7.1 g de azúcar por 100 g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sabores, sin frío; se prueba en el stand</a:t>
            </a:r>
            <a:endParaRPr lang="en-US" sz="950" dirty="0"/>
          </a:p>
        </p:txBody>
      </p:sp>
      <p:sp>
        <p:nvSpPr>
          <p:cNvPr id="15" name="bmc-bloque-193"/>
          <p:cNvSpPr/>
          <p:nvPr/>
        </p:nvSpPr>
        <p:spPr>
          <a:xfrm>
            <a:off x="7249180" y="1188720"/>
            <a:ext cx="2160361" cy="1723644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16" name="texto-194"/>
          <p:cNvSpPr txBox="1"/>
          <p:nvPr/>
        </p:nvSpPr>
        <p:spPr>
          <a:xfrm>
            <a:off x="7340620" y="1243584"/>
            <a:ext cx="1977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Relación con clientes</a:t>
            </a:r>
            <a:endParaRPr lang="en-US" sz="1200" dirty="0"/>
          </a:p>
        </p:txBody>
      </p:sp>
      <p:sp>
        <p:nvSpPr>
          <p:cNvPr id="17" name="texto-195"/>
          <p:cNvSpPr txBox="1"/>
          <p:nvPr/>
        </p:nvSpPr>
        <p:spPr>
          <a:xfrm>
            <a:off x="7340620" y="1554480"/>
            <a:ext cx="1977481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Degustación gratis en el stand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Recordatorio de recompra por WhatsApp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QR por lote; mamá embajadora; 35 % vuelve por WhatsApp</a:t>
            </a:r>
            <a:endParaRPr lang="en-US" sz="950" dirty="0"/>
          </a:p>
        </p:txBody>
      </p:sp>
      <p:sp>
        <p:nvSpPr>
          <p:cNvPr id="18" name="bmc-bloque-196"/>
          <p:cNvSpPr/>
          <p:nvPr/>
        </p:nvSpPr>
        <p:spPr>
          <a:xfrm>
            <a:off x="7249180" y="2985516"/>
            <a:ext cx="2160361" cy="1723644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19" name="texto-197"/>
          <p:cNvSpPr txBox="1"/>
          <p:nvPr/>
        </p:nvSpPr>
        <p:spPr>
          <a:xfrm>
            <a:off x="7340620" y="3040380"/>
            <a:ext cx="1977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Canales (año 1)</a:t>
            </a:r>
            <a:endParaRPr lang="en-US" sz="1200" dirty="0"/>
          </a:p>
        </p:txBody>
      </p:sp>
      <p:sp>
        <p:nvSpPr>
          <p:cNvPr id="20" name="texto-198"/>
          <p:cNvSpPr txBox="1"/>
          <p:nvPr/>
        </p:nvSpPr>
        <p:spPr>
          <a:xfrm>
            <a:off x="7340620" y="3351276"/>
            <a:ext cx="1977481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Stands y carritos 41.4 %; ferias 17.2 %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WhatsApp 18.6 %; quioscos 15.0 %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Naturistas 7.9 %; góndola en el año 2</a:t>
            </a:r>
            <a:endParaRPr lang="en-US" sz="950" dirty="0"/>
          </a:p>
        </p:txBody>
      </p:sp>
      <p:sp>
        <p:nvSpPr>
          <p:cNvPr id="21" name="bmc-bloque-199"/>
          <p:cNvSpPr/>
          <p:nvPr/>
        </p:nvSpPr>
        <p:spPr>
          <a:xfrm>
            <a:off x="9482694" y="1188720"/>
            <a:ext cx="2160361" cy="352044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22" name="texto-200"/>
          <p:cNvSpPr txBox="1"/>
          <p:nvPr/>
        </p:nvSpPr>
        <p:spPr>
          <a:xfrm>
            <a:off x="9574134" y="1243584"/>
            <a:ext cx="1977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Segmentos de clientes</a:t>
            </a:r>
            <a:endParaRPr lang="en-US" sz="1200" dirty="0"/>
          </a:p>
        </p:txBody>
      </p:sp>
      <p:sp>
        <p:nvSpPr>
          <p:cNvPr id="23" name="texto-201"/>
          <p:cNvSpPr txBox="1"/>
          <p:nvPr/>
        </p:nvSpPr>
        <p:spPr>
          <a:xfrm>
            <a:off x="9574134" y="1554480"/>
            <a:ext cx="1977481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46,000 hogares núcleo (60,000 niños), zonas 6 y 7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168,000 hogares A/B con niños de 4 a 11 en Lima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B2B: quioscos escolares y naturistas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Meta: 2 a 3 puntos de venta con 80 brownies por día</a:t>
            </a:r>
            <a:endParaRPr lang="en-US" sz="950" dirty="0"/>
          </a:p>
        </p:txBody>
      </p:sp>
      <p:sp>
        <p:nvSpPr>
          <p:cNvPr id="24" name="bmc-bloque-202"/>
          <p:cNvSpPr/>
          <p:nvPr/>
        </p:nvSpPr>
        <p:spPr>
          <a:xfrm>
            <a:off x="548640" y="4782312"/>
            <a:ext cx="5510632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25" name="texto-203"/>
          <p:cNvSpPr txBox="1"/>
          <p:nvPr/>
        </p:nvSpPr>
        <p:spPr>
          <a:xfrm>
            <a:off x="640080" y="4837176"/>
            <a:ext cx="532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Estructura de costos</a:t>
            </a:r>
            <a:endParaRPr lang="en-US" sz="1200" dirty="0"/>
          </a:p>
        </p:txBody>
      </p:sp>
      <p:sp>
        <p:nvSpPr>
          <p:cNvPr id="26" name="texto-204"/>
          <p:cNvSpPr txBox="1"/>
          <p:nvPr/>
        </p:nvSpPr>
        <p:spPr>
          <a:xfrm>
            <a:off x="640080" y="5148072"/>
            <a:ext cx="5327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Producción: S/1.65 por unidad (pack de 6, opción B)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Fijos: S/1,804 al mes; stands y ferias S/28,865 al año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Inversión S/40,644 con documentos; equilibrio 2,215 u/mes</a:t>
            </a:r>
            <a:endParaRPr lang="en-US" sz="950" dirty="0"/>
          </a:p>
        </p:txBody>
      </p:sp>
      <p:sp>
        <p:nvSpPr>
          <p:cNvPr id="27" name="bmc-bloque-205"/>
          <p:cNvSpPr/>
          <p:nvPr/>
        </p:nvSpPr>
        <p:spPr>
          <a:xfrm>
            <a:off x="6132424" y="4782312"/>
            <a:ext cx="5510632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D9B898"/>
            </a:solidFill>
            <a:prstDash val="solid"/>
          </a:ln>
        </p:spPr>
        <p:txBody>
          <a:bodyPr/>
          <a:p/>
        </p:txBody>
      </p:sp>
      <p:sp>
        <p:nvSpPr>
          <p:cNvPr id="28" name="texto-206"/>
          <p:cNvSpPr txBox="1"/>
          <p:nvPr/>
        </p:nvSpPr>
        <p:spPr>
          <a:xfrm>
            <a:off x="6223864" y="4837176"/>
            <a:ext cx="532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Fuentes de ingresos</a:t>
            </a:r>
            <a:endParaRPr lang="en-US" sz="1200" dirty="0"/>
          </a:p>
        </p:txBody>
      </p:sp>
      <p:sp>
        <p:nvSpPr>
          <p:cNvPr id="29" name="texto-207"/>
          <p:cNvSpPr txBox="1"/>
          <p:nvPr/>
        </p:nvSpPr>
        <p:spPr>
          <a:xfrm>
            <a:off x="6223864" y="5148072"/>
            <a:ext cx="5327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Stand: unidad S/5.00; pack de 6 S/26.00; pack de 12 S/48.00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WhatsApp: pack de 6 S/24.90; quiosco S/4.00; naturista S/28.90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Año 1: S/198,748 con IGV; resultado operativo S/16,816 (10.0 %)</a:t>
            </a:r>
            <a:endParaRPr lang="en-US" sz="950" dirty="0"/>
          </a:p>
        </p:txBody>
      </p:sp>
      <p:sp>
        <p:nvSpPr>
          <p:cNvPr id="30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APEIM 2025; CPI 2026; elaboración propia (plan comercial y financiero, escenario base).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Modelo de ingresos y precio por canal</a:t>
            </a:r>
            <a:endParaRPr lang="en-US" sz="3200" dirty="0"/>
          </a:p>
        </p:txBody>
      </p:sp>
      <p:graphicFrame>
        <p:nvGraphicFramePr>
          <p:cNvPr id="14" name="tabla-preci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788920"/>
                <a:gridCol w="1051560"/>
                <a:gridCol w="114300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Canal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Precio al público (con IGV)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AndiBite recibe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Margen del canal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% de unidades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Stands, carritos y ferias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Unidad S/5.00 · pack de 6 S/26.00 · pack de 12 S/48.00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Igual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0 % (alquiler, impulsadora y ferias aparte)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58.6 %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Recompra por WhatsApp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Pack de 6 S/24.90 · pack de 12 S/46.90 · degustación S/12.00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Igual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0 %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18.6 %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Quiosco escolar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Unidad S/4.00 (solo la versión sin octógono)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S/3.00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25 %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15.0 %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Tiendas naturistas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Pack de 6 S/28.90 en anaquel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S/17.34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40 %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7.9 %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Góndola de súper (año 2)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Pack de 6 S/32.90; viable desde 8,000 u/mes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S/19.74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35 % + 5 %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0 %</a:t>
                      </a:r>
                      <a:endParaRPr lang="en-US" sz="115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</a:tbl>
          </a:graphicData>
        </a:graphic>
      </p:graphicFrame>
      <p:sp>
        <p:nvSpPr>
          <p:cNvPr id="4" name="tarjeta-208"/>
          <p:cNvSpPr/>
          <p:nvPr/>
        </p:nvSpPr>
        <p:spPr>
          <a:xfrm>
            <a:off x="548640" y="4983480"/>
            <a:ext cx="758952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5" name="texto-209"/>
          <p:cNvSpPr txBox="1"/>
          <p:nvPr/>
        </p:nvSpPr>
        <p:spPr>
          <a:xfrm>
            <a:off x="822960" y="502920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Motor: la venta física. En el stand el niño prueba y el padre compra; el 35 % de lo vendido vuelve al mes siguiente por WhatsApp.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6" name="tarjeta-210"/>
          <p:cNvSpPr/>
          <p:nvPr/>
        </p:nvSpPr>
        <p:spPr>
          <a:xfrm>
            <a:off x="8412480" y="1280160"/>
            <a:ext cx="3227832" cy="4846320"/>
          </a:xfrm>
          <a:prstGeom prst="roundRect">
            <a:avLst>
              <a:gd name="adj" fmla="val 339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o-211"/>
          <p:cNvSpPr txBox="1"/>
          <p:nvPr/>
        </p:nvSpPr>
        <p:spPr>
          <a:xfrm>
            <a:off x="8549640" y="52578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47,223 u · S/198,748 con IGV</a:t>
            </a:r>
            <a:endParaRPr lang="en-US" sz="16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elaboración propia (Excel de costeo, modelo v3, nov. 2026 a oct. 2027).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donut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371600"/>
            <a:ext cx="3044952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Operación por fases y regulación</a:t>
            </a:r>
            <a:endParaRPr lang="en-US" sz="3200" dirty="0"/>
          </a:p>
        </p:txBody>
      </p:sp>
      <p:sp>
        <p:nvSpPr>
          <p:cNvPr id="3" name="fase-212"/>
          <p:cNvSpPr/>
          <p:nvPr/>
        </p:nvSpPr>
        <p:spPr>
          <a:xfrm>
            <a:off x="548640" y="1280160"/>
            <a:ext cx="3611880" cy="1417320"/>
          </a:xfrm>
          <a:prstGeom prst="chevron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4" name="texto-213"/>
          <p:cNvSpPr txBox="1"/>
          <p:nvPr/>
        </p:nvSpPr>
        <p:spPr>
          <a:xfrm>
            <a:off x="1051560" y="13258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Fase 0 · Oct. 2026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Pruebas y validación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Costo en la inversión</a:t>
            </a:r>
            <a:endParaRPr lang="en-US" sz="1400" dirty="0"/>
          </a:p>
        </p:txBody>
      </p:sp>
      <p:sp>
        <p:nvSpPr>
          <p:cNvPr id="5" name="fase-214"/>
          <p:cNvSpPr/>
          <p:nvPr/>
        </p:nvSpPr>
        <p:spPr>
          <a:xfrm>
            <a:off x="4297680" y="1280160"/>
            <a:ext cx="3611880" cy="1417320"/>
          </a:xfrm>
          <a:prstGeom prst="chevron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6" name="texto-215"/>
          <p:cNvSpPr txBox="1"/>
          <p:nvPr/>
        </p:nvSpPr>
        <p:spPr>
          <a:xfrm>
            <a:off x="4800600" y="13258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Fase 1 · Oct.-nov. 2026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Planta, documentos y marca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S/6,251.20 en documentos</a:t>
            </a:r>
            <a:endParaRPr lang="en-US" sz="1400" dirty="0"/>
          </a:p>
        </p:txBody>
      </p:sp>
      <p:sp>
        <p:nvSpPr>
          <p:cNvPr id="7" name="fase-216"/>
          <p:cNvSpPr/>
          <p:nvPr/>
        </p:nvSpPr>
        <p:spPr>
          <a:xfrm>
            <a:off x="8046720" y="1280160"/>
            <a:ext cx="3611880" cy="141732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8" name="texto-217"/>
          <p:cNvSpPr txBox="1"/>
          <p:nvPr/>
        </p:nvSpPr>
        <p:spPr>
          <a:xfrm>
            <a:off x="8549640" y="13258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Fase 2 · Desde nov. 2026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Venta en stands y ferias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Fijos de S/1,804 al mes</a:t>
            </a:r>
            <a:endParaRPr lang="en-US" sz="1400" dirty="0"/>
          </a:p>
        </p:txBody>
      </p:sp>
      <p:sp>
        <p:nvSpPr>
          <p:cNvPr id="9" name="texto-218"/>
          <p:cNvSpPr txBox="1"/>
          <p:nvPr/>
        </p:nvSpPr>
        <p:spPr>
          <a:xfrm>
            <a:off x="548640" y="30175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Sin planta propia, con todos los documentos</a:t>
            </a:r>
            <a:endParaRPr lang="en-US" sz="1700" dirty="0"/>
          </a:p>
        </p:txBody>
      </p:sp>
      <p:sp>
        <p:nvSpPr>
          <p:cNvPr id="10" name="tarjeta-219"/>
          <p:cNvSpPr/>
          <p:nvPr/>
        </p:nvSpPr>
        <p:spPr>
          <a:xfrm>
            <a:off x="548640" y="3566160"/>
            <a:ext cx="17830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o-220"/>
          <p:cNvSpPr txBox="1"/>
          <p:nvPr/>
        </p:nvSpPr>
        <p:spPr>
          <a:xfrm>
            <a:off x="658368" y="3611880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AndiBite S.A.C.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Titular del RS</a:t>
            </a:r>
            <a:endParaRPr lang="en-US" sz="1400" dirty="0"/>
          </a:p>
        </p:txBody>
      </p:sp>
      <p:sp>
        <p:nvSpPr>
          <p:cNvPr id="12" name="flecha-221"/>
          <p:cNvSpPr/>
          <p:nvPr/>
        </p:nvSpPr>
        <p:spPr>
          <a:xfrm>
            <a:off x="2359152" y="411480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3" name="tarjeta-222"/>
          <p:cNvSpPr/>
          <p:nvPr/>
        </p:nvSpPr>
        <p:spPr>
          <a:xfrm>
            <a:off x="2651760" y="3566160"/>
            <a:ext cx="1783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o-223"/>
          <p:cNvSpPr txBox="1"/>
          <p:nvPr/>
        </p:nvSpPr>
        <p:spPr>
          <a:xfrm>
            <a:off x="2761488" y="3611880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Planta maquiladora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Fabricante (HACCP)</a:t>
            </a:r>
            <a:endParaRPr lang="en-US" sz="1400" dirty="0"/>
          </a:p>
        </p:txBody>
      </p:sp>
      <p:sp>
        <p:nvSpPr>
          <p:cNvPr id="15" name="flecha-224"/>
          <p:cNvSpPr/>
          <p:nvPr/>
        </p:nvSpPr>
        <p:spPr>
          <a:xfrm>
            <a:off x="4462272" y="411480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6" name="tarjeta-225"/>
          <p:cNvSpPr/>
          <p:nvPr/>
        </p:nvSpPr>
        <p:spPr>
          <a:xfrm>
            <a:off x="4754880" y="3566160"/>
            <a:ext cx="1783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o-226"/>
          <p:cNvSpPr txBox="1"/>
          <p:nvPr/>
        </p:nvSpPr>
        <p:spPr>
          <a:xfrm>
            <a:off x="4864608" y="3611880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Laboratorio INACAL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Análisis y vida útil</a:t>
            </a:r>
            <a:endParaRPr lang="en-US" sz="1400" dirty="0"/>
          </a:p>
        </p:txBody>
      </p:sp>
      <p:sp>
        <p:nvSpPr>
          <p:cNvPr id="18" name="texto-227"/>
          <p:cNvSpPr txBox="1"/>
          <p:nvPr/>
        </p:nvSpPr>
        <p:spPr>
          <a:xfrm>
            <a:off x="548640" y="51206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Tasa del RS: S/0 (DIGESA, 2026).</a:t>
            </a:r>
            <a:endParaRPr lang="en-US" sz="1300" dirty="0"/>
          </a:p>
        </p:txBody>
      </p:sp>
      <p:sp>
        <p:nvSpPr>
          <p:cNvPr id="19" name="tarjeta-228"/>
          <p:cNvSpPr/>
          <p:nvPr/>
        </p:nvSpPr>
        <p:spPr>
          <a:xfrm>
            <a:off x="7086600" y="3017520"/>
            <a:ext cx="4553712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o-229"/>
          <p:cNvSpPr txBox="1"/>
          <p:nvPr/>
        </p:nvSpPr>
        <p:spPr>
          <a:xfrm>
            <a:off x="7315200" y="3154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Tres reglas</a:t>
            </a:r>
            <a:endParaRPr lang="en-US" sz="1700" dirty="0"/>
          </a:p>
        </p:txBody>
      </p:sp>
      <p:sp>
        <p:nvSpPr>
          <p:cNvPr id="21" name="circulo-230"/>
          <p:cNvSpPr/>
          <p:nvPr/>
        </p:nvSpPr>
        <p:spPr>
          <a:xfrm>
            <a:off x="7315200" y="3776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o-231"/>
          <p:cNvSpPr txBox="1"/>
          <p:nvPr/>
        </p:nvSpPr>
        <p:spPr>
          <a:xfrm>
            <a:off x="795528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Documentos listos: su costo está en la inversión</a:t>
            </a:r>
            <a:endParaRPr lang="en-US" sz="1350" dirty="0"/>
          </a:p>
        </p:txBody>
      </p:sp>
      <p:sp>
        <p:nvSpPr>
          <p:cNvPr id="23" name="circulo-232"/>
          <p:cNvSpPr/>
          <p:nvPr/>
        </p:nvSpPr>
        <p:spPr>
          <a:xfrm>
            <a:off x="7315200" y="45537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o-233"/>
          <p:cNvSpPr txBox="1"/>
          <p:nvPr/>
        </p:nvSpPr>
        <p:spPr>
          <a:xfrm>
            <a:off x="7955280" y="44805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"Fuente de hierro" solo con 2.1 mg por 100 g medidos</a:t>
            </a:r>
            <a:endParaRPr lang="en-US" sz="1350" dirty="0"/>
          </a:p>
        </p:txBody>
      </p:sp>
      <p:sp>
        <p:nvSpPr>
          <p:cNvPr id="25" name="circulo-234"/>
          <p:cNvSpPr/>
          <p:nvPr/>
        </p:nvSpPr>
        <p:spPr>
          <a:xfrm>
            <a:off x="7315200" y="53309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o-235"/>
          <p:cNvSpPr txBox="1"/>
          <p:nvPr/>
        </p:nvSpPr>
        <p:spPr>
          <a:xfrm>
            <a:off x="7955280" y="52578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Nunca "previene la anemia" (D. Leg. 1044)</a:t>
            </a:r>
            <a:endParaRPr lang="en-US" sz="1350" dirty="0"/>
          </a:p>
        </p:txBody>
      </p:sp>
      <p:sp>
        <p:nvSpPr>
          <p:cNvPr id="27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Comunicado 05-2026-DIGESA; D. Leg. 1044; Ley 30021; elaboración propia (plan operativo y costos por fase).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Marca 2.0: medido, no prometido</a:t>
            </a:r>
            <a:endParaRPr lang="en-US" sz="3200" dirty="0"/>
          </a:p>
        </p:txBody>
      </p:sp>
      <p:sp>
        <p:nvSpPr>
          <p:cNvPr id="3" name="texto-236"/>
          <p:cNvSpPr txBox="1"/>
          <p:nvPr/>
        </p:nvSpPr>
        <p:spPr>
          <a:xfrm>
            <a:off x="548640" y="1234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Hoy: sticker AndiBite</a:t>
            </a:r>
            <a:endParaRPr lang="en-US" sz="1500" dirty="0"/>
          </a:p>
        </p:txBody>
      </p:sp>
      <p:pic>
        <p:nvPicPr>
          <p:cNvPr id="4" name="img-sticker-frente" descr="Sticker actual de AndiBite, fr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333542" cy="3246120"/>
          </a:xfrm>
          <a:prstGeom prst="rect">
            <a:avLst/>
          </a:prstGeom>
        </p:spPr>
      </p:pic>
      <p:pic>
        <p:nvPicPr>
          <p:cNvPr id="5" name="img-sticker-reverso" descr="Sticker actual de AndiBite, rever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062" y="1645920"/>
            <a:ext cx="2333542" cy="3246120"/>
          </a:xfrm>
          <a:prstGeom prst="rect">
            <a:avLst/>
          </a:prstGeom>
        </p:spPr>
      </p:pic>
      <p:sp>
        <p:nvSpPr>
          <p:cNvPr id="6" name="texto-237"/>
          <p:cNvSpPr txBox="1"/>
          <p:nvPr/>
        </p:nvSpPr>
        <p:spPr>
          <a:xfrm>
            <a:off x="548640" y="4983480"/>
            <a:ext cx="48499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Niña andina y "orgullo peruano", sin cifras.</a:t>
            </a:r>
            <a:endParaRPr lang="en-US" sz="1200" dirty="0"/>
          </a:p>
        </p:txBody>
      </p:sp>
      <p:sp>
        <p:nvSpPr>
          <p:cNvPr id="7" name="tarjeta-238"/>
          <p:cNvSpPr/>
          <p:nvPr/>
        </p:nvSpPr>
        <p:spPr>
          <a:xfrm>
            <a:off x="5532120" y="1234440"/>
            <a:ext cx="6110935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o-239"/>
          <p:cNvSpPr txBox="1"/>
          <p:nvPr/>
        </p:nvSpPr>
        <p:spPr>
          <a:xfrm>
            <a:off x="5806440" y="1325880"/>
            <a:ext cx="5562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Decisión del equipo: seguimos con AndiBite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Evoluciona el empaque: hierro en mg en el frente.</a:t>
            </a:r>
            <a:endParaRPr lang="en-US" sz="1400" dirty="0"/>
          </a:p>
        </p:txBody>
      </p:sp>
      <p:sp>
        <p:nvSpPr>
          <p:cNvPr id="9" name="chip-sabor-240"/>
          <p:cNvSpPr/>
          <p:nvPr/>
        </p:nvSpPr>
        <p:spPr>
          <a:xfrm>
            <a:off x="5532120" y="2834640"/>
            <a:ext cx="1945538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/>
        </p:spPr>
        <p:txBody>
          <a:bodyPr/>
          <a:p/>
        </p:txBody>
      </p:sp>
      <p:sp>
        <p:nvSpPr>
          <p:cNvPr id="10" name="texto-241"/>
          <p:cNvSpPr txBox="1"/>
          <p:nvPr/>
        </p:nvSpPr>
        <p:spPr>
          <a:xfrm>
            <a:off x="5623560" y="2834640"/>
            <a:ext cx="1762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Chispa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Choco con chispas</a:t>
            </a:r>
            <a:endParaRPr lang="en-US" sz="1400" dirty="0"/>
          </a:p>
        </p:txBody>
      </p:sp>
      <p:sp>
        <p:nvSpPr>
          <p:cNvPr id="11" name="chip-sabor-242"/>
          <p:cNvSpPr/>
          <p:nvPr/>
        </p:nvSpPr>
        <p:spPr>
          <a:xfrm>
            <a:off x="7614818" y="2834640"/>
            <a:ext cx="1945538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12" name="texto-243"/>
          <p:cNvSpPr txBox="1"/>
          <p:nvPr/>
        </p:nvSpPr>
        <p:spPr>
          <a:xfrm>
            <a:off x="7706258" y="2834640"/>
            <a:ext cx="1762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Andi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Plátano y cañihua</a:t>
            </a:r>
            <a:endParaRPr lang="en-US" sz="1400" dirty="0"/>
          </a:p>
        </p:txBody>
      </p:sp>
      <p:sp>
        <p:nvSpPr>
          <p:cNvPr id="13" name="chip-sabor-244"/>
          <p:cNvSpPr/>
          <p:nvPr/>
        </p:nvSpPr>
        <p:spPr>
          <a:xfrm>
            <a:off x="9697517" y="2834640"/>
            <a:ext cx="1945538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4" name="texto-245"/>
          <p:cNvSpPr txBox="1"/>
          <p:nvPr/>
        </p:nvSpPr>
        <p:spPr>
          <a:xfrm>
            <a:off x="9788957" y="2834640"/>
            <a:ext cx="1762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Lúcu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Choco y lúcuma</a:t>
            </a:r>
            <a:endParaRPr lang="en-US" sz="1400" dirty="0"/>
          </a:p>
        </p:txBody>
      </p:sp>
      <p:sp>
        <p:nvSpPr>
          <p:cNvPr id="15" name="circulo-246"/>
          <p:cNvSpPr/>
          <p:nvPr/>
        </p:nvSpPr>
        <p:spPr>
          <a:xfrm>
            <a:off x="5532120" y="3931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o-247"/>
          <p:cNvSpPr txBox="1"/>
          <p:nvPr/>
        </p:nvSpPr>
        <p:spPr>
          <a:xfrm>
            <a:off x="6035040" y="388620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"26 Fe" y QR por lote</a:t>
            </a:r>
            <a:endParaRPr lang="en-US" sz="1350" dirty="0"/>
          </a:p>
        </p:txBody>
      </p:sp>
      <p:sp>
        <p:nvSpPr>
          <p:cNvPr id="17" name="circulo-248"/>
          <p:cNvSpPr/>
          <p:nvPr/>
        </p:nvSpPr>
        <p:spPr>
          <a:xfrm>
            <a:off x="5532120" y="44348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o-249"/>
          <p:cNvSpPr txBox="1"/>
          <p:nvPr/>
        </p:nvSpPr>
        <p:spPr>
          <a:xfrm>
            <a:off x="6035040" y="438912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Línea Cero: sin octógono</a:t>
            </a:r>
            <a:endParaRPr lang="en-US" sz="1350" dirty="0"/>
          </a:p>
        </p:txBody>
      </p:sp>
      <p:sp>
        <p:nvSpPr>
          <p:cNvPr id="19" name="circulo-250"/>
          <p:cNvSpPr/>
          <p:nvPr/>
        </p:nvSpPr>
        <p:spPr>
          <a:xfrm>
            <a:off x="5532120" y="4937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o-251"/>
          <p:cNvSpPr txBox="1"/>
          <p:nvPr/>
        </p:nvSpPr>
        <p:spPr>
          <a:xfrm>
            <a:off x="6035040" y="489204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Semana AndiBite: caja de 12 con calendario</a:t>
            </a:r>
            <a:endParaRPr lang="en-US" sz="1350" dirty="0"/>
          </a:p>
        </p:txBody>
      </p:sp>
      <p:sp>
        <p:nvSpPr>
          <p:cNvPr id="21" name="tarjeta-252"/>
          <p:cNvSpPr/>
          <p:nvPr/>
        </p:nvSpPr>
        <p:spPr>
          <a:xfrm>
            <a:off x="5532120" y="5440680"/>
            <a:ext cx="6110935" cy="685800"/>
          </a:xfrm>
          <a:prstGeom prst="roundRect">
            <a:avLst>
              <a:gd name="adj" fmla="val 16000"/>
            </a:avLst>
          </a:prstGeom>
          <a:solidFill>
            <a:srgbClr val="F6D7D2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2" name="texto-253"/>
          <p:cNvSpPr txBox="1"/>
          <p:nvPr/>
        </p:nvSpPr>
        <p:spPr>
          <a:xfrm>
            <a:off x="5715000" y="5468112"/>
            <a:ext cx="574517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Verificar en INDECOPI: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búsqueda fonética en clase 30 (S/401.20) antes de imprimir.</a:t>
            </a:r>
            <a:endParaRPr lang="en-US" sz="120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elaboración propia (marca 2.0); Kantar 2025 (42 % desconfía de lo envasado); INDECOPI, tarifas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Finanzas: rentable desde 2,215 unidades al mes</a:t>
            </a:r>
            <a:endParaRPr lang="en-US" sz="3200" dirty="0"/>
          </a:p>
        </p:txBody>
      </p:sp>
      <p:graphicFrame>
        <p:nvGraphicFramePr>
          <p:cNvPr id="17" name="tabla-cos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309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S/ por envase, sin IGV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Unidad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Pack de 6 (B)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Pack de 12</a:t>
                      </a:r>
                      <a:endParaRPr lang="en-US" sz="13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Precio neto (venta en stand)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4.24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22.03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40.68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Costo de producción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1.69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9.90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18.66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Costo por brownie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1.69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1.65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1.56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Margen bruto (%)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60.0 %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55.1 %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54.1 %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" name="texto-254"/>
          <p:cNvSpPr txBox="1"/>
          <p:nvPr/>
        </p:nvSpPr>
        <p:spPr>
          <a:xfrm>
            <a:off x="548640" y="43434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Maquila a S/0.40-0.60 por unidad [POR CONFIRMAR]. Los socios no cobran sueldo en el año 1.</a:t>
            </a:r>
            <a:endParaRPr lang="en-US" sz="1200" dirty="0"/>
          </a:p>
        </p:txBody>
      </p:sp>
      <p:sp>
        <p:nvSpPr>
          <p:cNvPr id="5" name="tarjeta-255"/>
          <p:cNvSpPr/>
          <p:nvPr/>
        </p:nvSpPr>
        <p:spPr>
          <a:xfrm>
            <a:off x="548640" y="5074920"/>
            <a:ext cx="630936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6" name="texto-256"/>
          <p:cNvSpPr txBox="1"/>
          <p:nvPr/>
        </p:nvSpPr>
        <p:spPr>
          <a:xfrm>
            <a:off x="822960" y="512064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Inversión: S/25,000 de los 5 socios y un préstamo de S/16,000 en 24 cuotas.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7" name="tarjeta-257"/>
          <p:cNvSpPr/>
          <p:nvPr/>
        </p:nvSpPr>
        <p:spPr>
          <a:xfrm>
            <a:off x="7178040" y="1325880"/>
            <a:ext cx="2185416" cy="2331720"/>
          </a:xfrm>
          <a:prstGeom prst="roundRect">
            <a:avLst>
              <a:gd name="adj" fmla="val 502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o-258"/>
          <p:cNvSpPr txBox="1"/>
          <p:nvPr/>
        </p:nvSpPr>
        <p:spPr>
          <a:xfrm>
            <a:off x="7360920" y="1554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2,215 u/mes</a:t>
            </a:r>
            <a:endParaRPr lang="en-US" sz="2400" dirty="0"/>
          </a:p>
        </p:txBody>
      </p:sp>
      <p:sp>
        <p:nvSpPr>
          <p:cNvPr id="9" name="texto-259"/>
          <p:cNvSpPr txBox="1"/>
          <p:nvPr/>
        </p:nvSpPr>
        <p:spPr>
          <a:xfrm>
            <a:off x="7360920" y="2423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Punto de equilibrio (369 packs de 6); solo nov. y feb. en rojo</a:t>
            </a:r>
            <a:endParaRPr lang="en-US" sz="1250" dirty="0"/>
          </a:p>
        </p:txBody>
      </p:sp>
      <p:sp>
        <p:nvSpPr>
          <p:cNvPr id="10" name="tarjeta-260"/>
          <p:cNvSpPr/>
          <p:nvPr/>
        </p:nvSpPr>
        <p:spPr>
          <a:xfrm>
            <a:off x="9500616" y="1325880"/>
            <a:ext cx="2185416" cy="2331720"/>
          </a:xfrm>
          <a:prstGeom prst="roundRect">
            <a:avLst>
              <a:gd name="adj" fmla="val 50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o-261"/>
          <p:cNvSpPr txBox="1"/>
          <p:nvPr/>
        </p:nvSpPr>
        <p:spPr>
          <a:xfrm>
            <a:off x="9683496" y="1554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S/40,644</a:t>
            </a:r>
            <a:endParaRPr lang="en-US" sz="2400" dirty="0"/>
          </a:p>
        </p:txBody>
      </p:sp>
      <p:sp>
        <p:nvSpPr>
          <p:cNvPr id="12" name="texto-262"/>
          <p:cNvSpPr txBox="1"/>
          <p:nvPr/>
        </p:nvSpPr>
        <p:spPr>
          <a:xfrm>
            <a:off x="9683496" y="2423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Inversión inicial, con todos los documentos</a:t>
            </a:r>
            <a:endParaRPr lang="en-US" sz="1250" dirty="0"/>
          </a:p>
        </p:txBody>
      </p:sp>
      <p:sp>
        <p:nvSpPr>
          <p:cNvPr id="13" name="tarjeta-263"/>
          <p:cNvSpPr/>
          <p:nvPr/>
        </p:nvSpPr>
        <p:spPr>
          <a:xfrm>
            <a:off x="7178040" y="3840480"/>
            <a:ext cx="2185416" cy="2331720"/>
          </a:xfrm>
          <a:prstGeom prst="roundRect">
            <a:avLst>
              <a:gd name="adj" fmla="val 50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o-264"/>
          <p:cNvSpPr txBox="1"/>
          <p:nvPr/>
        </p:nvSpPr>
        <p:spPr>
          <a:xfrm>
            <a:off x="7360920" y="4069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S/198,748</a:t>
            </a:r>
            <a:endParaRPr lang="en-US" sz="2400" dirty="0"/>
          </a:p>
        </p:txBody>
      </p:sp>
      <p:sp>
        <p:nvSpPr>
          <p:cNvPr id="15" name="texto-265"/>
          <p:cNvSpPr txBox="1"/>
          <p:nvPr/>
        </p:nvSpPr>
        <p:spPr>
          <a:xfrm>
            <a:off x="7360920" y="4937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Ventas del año 1 con IGV (47,223 u)</a:t>
            </a:r>
            <a:endParaRPr lang="en-US" sz="1250" dirty="0"/>
          </a:p>
        </p:txBody>
      </p:sp>
      <p:sp>
        <p:nvSpPr>
          <p:cNvPr id="16" name="tarjeta-266"/>
          <p:cNvSpPr/>
          <p:nvPr/>
        </p:nvSpPr>
        <p:spPr>
          <a:xfrm>
            <a:off x="9500616" y="3840480"/>
            <a:ext cx="2185416" cy="2331720"/>
          </a:xfrm>
          <a:prstGeom prst="roundRect">
            <a:avLst>
              <a:gd name="adj" fmla="val 50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o-267"/>
          <p:cNvSpPr txBox="1"/>
          <p:nvPr/>
        </p:nvSpPr>
        <p:spPr>
          <a:xfrm>
            <a:off x="9683496" y="4069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S/16,816</a:t>
            </a:r>
            <a:endParaRPr lang="en-US" sz="2400" dirty="0"/>
          </a:p>
        </p:txBody>
      </p:sp>
      <p:sp>
        <p:nvSpPr>
          <p:cNvPr id="18" name="texto-268"/>
          <p:cNvSpPr txBox="1"/>
          <p:nvPr/>
        </p:nvSpPr>
        <p:spPr>
          <a:xfrm>
            <a:off x="9683496" y="4937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Resultado operativo del año 1 (10.0 %)</a:t>
            </a:r>
            <a:endParaRPr lang="en-US" sz="125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Fuente: Excel de costeo por presentación (escenario base, pack de 6 opción B; costos sin IGV, precios con IGV).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Ventas del año 1 por canal</a:t>
            </a:r>
            <a:endParaRPr lang="en-US" sz="3200" dirty="0"/>
          </a:p>
        </p:txBody>
      </p:sp>
      <p:sp>
        <p:nvSpPr>
          <p:cNvPr id="3" name="tarjeta-269"/>
          <p:cNvSpPr/>
          <p:nvPr/>
        </p:nvSpPr>
        <p:spPr>
          <a:xfrm>
            <a:off x="548640" y="1280160"/>
            <a:ext cx="640080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graphicFrame>
        <p:nvGraphicFramePr>
          <p:cNvPr id="18" name="tabla-ven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280160"/>
          <a:ext cx="43708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87552"/>
                <a:gridCol w="987552"/>
                <a:gridCol w="102412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Canal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Unidades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S/ con IGV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% unid.</a:t>
                      </a:r>
                      <a:endParaRPr lang="en-US" sz="12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Stands y carritos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19,565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92,282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41.4 %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Ferias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8,100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38,880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17.2 %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WhatsApp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8,773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35,640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18.6 %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Colegios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7,065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21,195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15.0 %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Naturistas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3,720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10,751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7.9 %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Total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47,223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198,748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100 %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Resultado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—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16,816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10.0 %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</a:tbl>
          </a:graphicData>
        </a:graphic>
      </p:graphicFrame>
      <p:sp>
        <p:nvSpPr>
          <p:cNvPr id="6" name="texto-270"/>
          <p:cNvSpPr txBox="1"/>
          <p:nvPr/>
        </p:nvSpPr>
        <p:spPr>
          <a:xfrm>
            <a:off x="7269480" y="4983480"/>
            <a:ext cx="4370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Noviembre 2026 a octubre 2027: 1 punto de venta en noviembre, 2 de diciembre a julio y 3 desde agosto.</a:t>
            </a:r>
            <a:endParaRPr lang="en-US" sz="13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Fuente: elaboración propia (Excel de costeo, modelo v3, hoja Mensual).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pic>
        <p:nvPicPr>
          <p:cNvPr id="26" name="Picture 25" descr="bars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371600"/>
            <a:ext cx="6126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Riesgos y mitigaciones</a:t>
            </a:r>
            <a:endParaRPr lang="en-US" sz="3200" dirty="0"/>
          </a:p>
        </p:txBody>
      </p:sp>
      <p:graphicFrame>
        <p:nvGraphicFramePr>
          <p:cNvPr id="19" name="tabla-riesg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029200"/>
                <a:gridCol w="55165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#</a:t>
                      </a:r>
                      <a:endParaRPr lang="en-US" sz="14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Riesgo</a:t>
                      </a:r>
                      <a:endParaRPr lang="en-US" sz="14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Mitigación</a:t>
                      </a:r>
                      <a:endParaRPr lang="en-US" sz="14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1</a:t>
                      </a:r>
                      <a:endParaRPr lang="en-US" sz="16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Los niños rechazan la versión sin octógono (sensación fría del eritritol)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Filtro con 20 niños por sabor en la fase 0 y versión con panela de respaldo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2</a:t>
                      </a:r>
                      <a:endParaRPr lang="en-US" sz="16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La maquila no acepta lotes de 3,000 a 5,000 u o cobra más de S/0.60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Cuatro cotizaciones, INDDA-UNALM como puente y corridas bimestrales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3</a:t>
                      </a:r>
                      <a:endParaRPr lang="en-US" sz="16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El mall o el súper no da el espacio, o el alquiler supera S/500 por punto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Cotizar 5 lugares (Jockey, Larcomar, La Rambla, Wong, Vivanda); mientras tanto, ferias y kermeses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4</a:t>
                      </a:r>
                      <a:endParaRPr lang="en-US" sz="16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Cada punto vende menos de 80 brownies por día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Degustación activa y pasillos de alto tráfico; si baja de 60 en dos fines de semana, cambiar de punto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5</a:t>
                      </a:r>
                      <a:endParaRPr lang="en-US" sz="16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Caja ajustada: el mínimo es S/5,009 en febrero de 2027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Préstamo a 24 cuotas; solo 3 ferias pagadas; sin crédito a canales hasta tener 2 meses de caja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A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Fuente: elaboración propia (plan comercial y financiero: riesgos, escenarios y flujo de caja).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Próximos 90 días: octubre a diciembre de 2026</a:t>
            </a:r>
            <a:endParaRPr lang="en-US" sz="3200" dirty="0"/>
          </a:p>
        </p:txBody>
      </p:sp>
      <p:sp>
        <p:nvSpPr>
          <p:cNvPr id="3" name="texto-271"/>
          <p:cNvSpPr txBox="1"/>
          <p:nvPr/>
        </p:nvSpPr>
        <p:spPr>
          <a:xfrm>
            <a:off x="548640" y="1280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Hito</a:t>
            </a:r>
            <a:endParaRPr lang="en-US" sz="1400" dirty="0"/>
          </a:p>
        </p:txBody>
      </p:sp>
      <p:sp>
        <p:nvSpPr>
          <p:cNvPr id="4" name="texto-272"/>
          <p:cNvSpPr txBox="1"/>
          <p:nvPr/>
        </p:nvSpPr>
        <p:spPr>
          <a:xfrm>
            <a:off x="4709160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Responsable</a:t>
            </a:r>
            <a:endParaRPr lang="en-US" sz="1400" dirty="0"/>
          </a:p>
        </p:txBody>
      </p:sp>
      <p:sp>
        <p:nvSpPr>
          <p:cNvPr id="5" name="texto-273"/>
          <p:cNvSpPr txBox="1"/>
          <p:nvPr/>
        </p:nvSpPr>
        <p:spPr>
          <a:xfrm>
            <a:off x="6583680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o-274"/>
          <p:cNvSpPr txBox="1"/>
          <p:nvPr/>
        </p:nvSpPr>
        <p:spPr>
          <a:xfrm>
            <a:off x="6972863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o-275"/>
          <p:cNvSpPr txBox="1"/>
          <p:nvPr/>
        </p:nvSpPr>
        <p:spPr>
          <a:xfrm>
            <a:off x="7362045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o-276"/>
          <p:cNvSpPr txBox="1"/>
          <p:nvPr/>
        </p:nvSpPr>
        <p:spPr>
          <a:xfrm>
            <a:off x="7751228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o-277"/>
          <p:cNvSpPr txBox="1"/>
          <p:nvPr/>
        </p:nvSpPr>
        <p:spPr>
          <a:xfrm>
            <a:off x="8140411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o-278"/>
          <p:cNvSpPr txBox="1"/>
          <p:nvPr/>
        </p:nvSpPr>
        <p:spPr>
          <a:xfrm>
            <a:off x="8529594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texto-279"/>
          <p:cNvSpPr txBox="1"/>
          <p:nvPr/>
        </p:nvSpPr>
        <p:spPr>
          <a:xfrm>
            <a:off x="8918776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100" dirty="0"/>
          </a:p>
        </p:txBody>
      </p:sp>
      <p:sp>
        <p:nvSpPr>
          <p:cNvPr id="12" name="texto-280"/>
          <p:cNvSpPr txBox="1"/>
          <p:nvPr/>
        </p:nvSpPr>
        <p:spPr>
          <a:xfrm>
            <a:off x="9307959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texto-281"/>
          <p:cNvSpPr txBox="1"/>
          <p:nvPr/>
        </p:nvSpPr>
        <p:spPr>
          <a:xfrm>
            <a:off x="9697142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1100" dirty="0"/>
          </a:p>
        </p:txBody>
      </p:sp>
      <p:sp>
        <p:nvSpPr>
          <p:cNvPr id="14" name="texto-282"/>
          <p:cNvSpPr txBox="1"/>
          <p:nvPr/>
        </p:nvSpPr>
        <p:spPr>
          <a:xfrm>
            <a:off x="10086324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o-283"/>
          <p:cNvSpPr txBox="1"/>
          <p:nvPr/>
        </p:nvSpPr>
        <p:spPr>
          <a:xfrm>
            <a:off x="10475507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o-284"/>
          <p:cNvSpPr txBox="1"/>
          <p:nvPr/>
        </p:nvSpPr>
        <p:spPr>
          <a:xfrm>
            <a:off x="10864690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1100" dirty="0"/>
          </a:p>
        </p:txBody>
      </p:sp>
      <p:sp>
        <p:nvSpPr>
          <p:cNvPr id="17" name="texto-285"/>
          <p:cNvSpPr txBox="1"/>
          <p:nvPr/>
        </p:nvSpPr>
        <p:spPr>
          <a:xfrm>
            <a:off x="11253872" y="1280160"/>
            <a:ext cx="389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1100" dirty="0"/>
          </a:p>
        </p:txBody>
      </p:sp>
      <p:sp>
        <p:nvSpPr>
          <p:cNvPr id="18" name="gantt-fondo"/>
          <p:cNvSpPr/>
          <p:nvPr/>
        </p:nvSpPr>
        <p:spPr>
          <a:xfrm>
            <a:off x="6583680" y="1691640"/>
            <a:ext cx="5059375" cy="43891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9" name="gantt-linea-286"/>
          <p:cNvSpPr/>
          <p:nvPr/>
        </p:nvSpPr>
        <p:spPr>
          <a:xfrm>
            <a:off x="6972863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0" name="gantt-linea-287"/>
          <p:cNvSpPr/>
          <p:nvPr/>
        </p:nvSpPr>
        <p:spPr>
          <a:xfrm>
            <a:off x="7362045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1" name="gantt-linea-288"/>
          <p:cNvSpPr/>
          <p:nvPr/>
        </p:nvSpPr>
        <p:spPr>
          <a:xfrm>
            <a:off x="7751228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2" name="gantt-linea-289"/>
          <p:cNvSpPr/>
          <p:nvPr/>
        </p:nvSpPr>
        <p:spPr>
          <a:xfrm>
            <a:off x="8140411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3" name="gantt-linea-290"/>
          <p:cNvSpPr/>
          <p:nvPr/>
        </p:nvSpPr>
        <p:spPr>
          <a:xfrm>
            <a:off x="8529594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4" name="gantt-linea-291"/>
          <p:cNvSpPr/>
          <p:nvPr/>
        </p:nvSpPr>
        <p:spPr>
          <a:xfrm>
            <a:off x="8918776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5" name="gantt-linea-292"/>
          <p:cNvSpPr/>
          <p:nvPr/>
        </p:nvSpPr>
        <p:spPr>
          <a:xfrm>
            <a:off x="9307959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6" name="gantt-linea-293"/>
          <p:cNvSpPr/>
          <p:nvPr/>
        </p:nvSpPr>
        <p:spPr>
          <a:xfrm>
            <a:off x="9697142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7" name="gantt-linea-294"/>
          <p:cNvSpPr/>
          <p:nvPr/>
        </p:nvSpPr>
        <p:spPr>
          <a:xfrm>
            <a:off x="10086324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8" name="gantt-linea-295"/>
          <p:cNvSpPr/>
          <p:nvPr/>
        </p:nvSpPr>
        <p:spPr>
          <a:xfrm>
            <a:off x="10475507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29" name="gantt-linea-296"/>
          <p:cNvSpPr/>
          <p:nvPr/>
        </p:nvSpPr>
        <p:spPr>
          <a:xfrm>
            <a:off x="10864690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30" name="gantt-linea-297"/>
          <p:cNvSpPr/>
          <p:nvPr/>
        </p:nvSpPr>
        <p:spPr>
          <a:xfrm>
            <a:off x="11253872" y="1691640"/>
            <a:ext cx="0" cy="4389120"/>
          </a:xfrm>
          <a:prstGeom prst="line">
            <a:avLst/>
          </a:prstGeom>
          <a:noFill/>
          <a:ln w="9525">
            <a:solidFill>
              <a:srgbClr val="E3CDB5"/>
            </a:solidFill>
            <a:prstDash val="solid"/>
          </a:ln>
        </p:spPr>
        <p:txBody>
          <a:bodyPr/>
          <a:p/>
        </p:txBody>
      </p:sp>
      <p:sp>
        <p:nvSpPr>
          <p:cNvPr id="31" name="texto-298"/>
          <p:cNvSpPr txBox="1"/>
          <p:nvPr/>
        </p:nvSpPr>
        <p:spPr>
          <a:xfrm>
            <a:off x="548640" y="16916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Cargar resultados del focus 2 y del store check</a:t>
            </a:r>
            <a:endParaRPr lang="en-US" sz="1250" dirty="0"/>
          </a:p>
        </p:txBody>
      </p:sp>
      <p:sp>
        <p:nvSpPr>
          <p:cNvPr id="32" name="texto-299"/>
          <p:cNvSpPr txBox="1"/>
          <p:nvPr/>
        </p:nvSpPr>
        <p:spPr>
          <a:xfrm>
            <a:off x="470916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Carlos y Angie</a:t>
            </a:r>
            <a:endParaRPr lang="en-US" sz="1150" dirty="0"/>
          </a:p>
        </p:txBody>
      </p:sp>
      <p:sp>
        <p:nvSpPr>
          <p:cNvPr id="33" name="gantt-barra-300"/>
          <p:cNvSpPr/>
          <p:nvPr/>
        </p:nvSpPr>
        <p:spPr>
          <a:xfrm>
            <a:off x="6620256" y="1819656"/>
            <a:ext cx="705213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4" name="texto-301"/>
          <p:cNvSpPr txBox="1"/>
          <p:nvPr/>
        </p:nvSpPr>
        <p:spPr>
          <a:xfrm>
            <a:off x="548640" y="22402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Tres rondas de la versión sin octógono y la de panela</a:t>
            </a:r>
            <a:endParaRPr lang="en-US" sz="1250" dirty="0"/>
          </a:p>
        </p:txBody>
      </p:sp>
      <p:sp>
        <p:nvSpPr>
          <p:cNvPr id="35" name="texto-302"/>
          <p:cNvSpPr txBox="1"/>
          <p:nvPr/>
        </p:nvSpPr>
        <p:spPr>
          <a:xfrm>
            <a:off x="4709160" y="2240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Diana</a:t>
            </a:r>
            <a:endParaRPr lang="en-US" sz="1150" dirty="0"/>
          </a:p>
        </p:txBody>
      </p:sp>
      <p:sp>
        <p:nvSpPr>
          <p:cNvPr id="36" name="gantt-barra-303"/>
          <p:cNvSpPr/>
          <p:nvPr/>
        </p:nvSpPr>
        <p:spPr>
          <a:xfrm>
            <a:off x="6620256" y="2368296"/>
            <a:ext cx="1483579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37" name="texto-304"/>
          <p:cNvSpPr txBox="1"/>
          <p:nvPr/>
        </p:nvSpPr>
        <p:spPr>
          <a:xfrm>
            <a:off x="548640" y="2788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Sensorial con 20 niños por sabor y encuesta a 30 padres</a:t>
            </a:r>
            <a:endParaRPr lang="en-US" sz="1250" dirty="0"/>
          </a:p>
        </p:txBody>
      </p:sp>
      <p:sp>
        <p:nvSpPr>
          <p:cNvPr id="38" name="texto-305"/>
          <p:cNvSpPr txBox="1"/>
          <p:nvPr/>
        </p:nvSpPr>
        <p:spPr>
          <a:xfrm>
            <a:off x="4709160" y="2788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Diana y Carlos</a:t>
            </a:r>
            <a:endParaRPr lang="en-US" sz="1150" dirty="0"/>
          </a:p>
        </p:txBody>
      </p:sp>
      <p:sp>
        <p:nvSpPr>
          <p:cNvPr id="39" name="gantt-barra-306"/>
          <p:cNvSpPr/>
          <p:nvPr/>
        </p:nvSpPr>
        <p:spPr>
          <a:xfrm>
            <a:off x="7398621" y="2916936"/>
            <a:ext cx="1094396" cy="292608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40" name="texto-307"/>
          <p:cNvSpPr txBox="1"/>
          <p:nvPr/>
        </p:nvSpPr>
        <p:spPr>
          <a:xfrm>
            <a:off x="548640" y="33375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S.A.C., RUC en el RMT, REMYPE y búsqueda fonética</a:t>
            </a:r>
            <a:endParaRPr lang="en-US" sz="1250" dirty="0"/>
          </a:p>
        </p:txBody>
      </p:sp>
      <p:sp>
        <p:nvSpPr>
          <p:cNvPr id="41" name="texto-308"/>
          <p:cNvSpPr txBox="1"/>
          <p:nvPr/>
        </p:nvSpPr>
        <p:spPr>
          <a:xfrm>
            <a:off x="470916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Adela</a:t>
            </a:r>
            <a:endParaRPr lang="en-US" sz="1150" dirty="0"/>
          </a:p>
        </p:txBody>
      </p:sp>
      <p:sp>
        <p:nvSpPr>
          <p:cNvPr id="42" name="gantt-barra-309"/>
          <p:cNvSpPr/>
          <p:nvPr/>
        </p:nvSpPr>
        <p:spPr>
          <a:xfrm>
            <a:off x="7009439" y="3465576"/>
            <a:ext cx="1872762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43" name="texto-310"/>
          <p:cNvSpPr txBox="1"/>
          <p:nvPr/>
        </p:nvSpPr>
        <p:spPr>
          <a:xfrm>
            <a:off x="548640" y="38862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Cotizar 4 plantas y 3 proveedores de sangrecita</a:t>
            </a:r>
            <a:endParaRPr lang="en-US" sz="1250" dirty="0"/>
          </a:p>
        </p:txBody>
      </p:sp>
      <p:sp>
        <p:nvSpPr>
          <p:cNvPr id="44" name="texto-311"/>
          <p:cNvSpPr txBox="1"/>
          <p:nvPr/>
        </p:nvSpPr>
        <p:spPr>
          <a:xfrm>
            <a:off x="4709160" y="3886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Patricia</a:t>
            </a:r>
            <a:endParaRPr lang="en-US" sz="1150" dirty="0"/>
          </a:p>
        </p:txBody>
      </p:sp>
      <p:sp>
        <p:nvSpPr>
          <p:cNvPr id="45" name="gantt-barra-312"/>
          <p:cNvSpPr/>
          <p:nvPr/>
        </p:nvSpPr>
        <p:spPr>
          <a:xfrm>
            <a:off x="7009439" y="4014216"/>
            <a:ext cx="1872762" cy="292608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46" name="texto-313"/>
          <p:cNvSpPr txBox="1"/>
          <p:nvPr/>
        </p:nvSpPr>
        <p:spPr>
          <a:xfrm>
            <a:off x="548640" y="44348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Análisis preliminar de azúcares y hierro (S/750)</a:t>
            </a:r>
            <a:endParaRPr lang="en-US" sz="1250" dirty="0"/>
          </a:p>
        </p:txBody>
      </p:sp>
      <p:sp>
        <p:nvSpPr>
          <p:cNvPr id="47" name="texto-314"/>
          <p:cNvSpPr txBox="1"/>
          <p:nvPr/>
        </p:nvSpPr>
        <p:spPr>
          <a:xfrm>
            <a:off x="4709160" y="4434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Diana y Adela</a:t>
            </a:r>
            <a:endParaRPr lang="en-US" sz="1150" dirty="0"/>
          </a:p>
        </p:txBody>
      </p:sp>
      <p:sp>
        <p:nvSpPr>
          <p:cNvPr id="48" name="gantt-barra-315"/>
          <p:cNvSpPr/>
          <p:nvPr/>
        </p:nvSpPr>
        <p:spPr>
          <a:xfrm>
            <a:off x="8566170" y="4562856"/>
            <a:ext cx="316031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49" name="texto-316"/>
          <p:cNvSpPr txBox="1"/>
          <p:nvPr/>
        </p:nvSpPr>
        <p:spPr>
          <a:xfrm>
            <a:off x="548640" y="49834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Contrato de maquila y cotizar 5 puntos de venta</a:t>
            </a:r>
            <a:endParaRPr lang="en-US" sz="1250" dirty="0"/>
          </a:p>
        </p:txBody>
      </p:sp>
      <p:sp>
        <p:nvSpPr>
          <p:cNvPr id="50" name="texto-317"/>
          <p:cNvSpPr txBox="1"/>
          <p:nvPr/>
        </p:nvSpPr>
        <p:spPr>
          <a:xfrm>
            <a:off x="4709160" y="4983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Patricia y Adela</a:t>
            </a:r>
            <a:endParaRPr lang="en-US" sz="1150" dirty="0"/>
          </a:p>
        </p:txBody>
      </p:sp>
      <p:sp>
        <p:nvSpPr>
          <p:cNvPr id="51" name="gantt-barra-318"/>
          <p:cNvSpPr/>
          <p:nvPr/>
        </p:nvSpPr>
        <p:spPr>
          <a:xfrm>
            <a:off x="8955352" y="5111496"/>
            <a:ext cx="1483579" cy="292608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52" name="texto-319"/>
          <p:cNvSpPr txBox="1"/>
          <p:nvPr/>
        </p:nvSpPr>
        <p:spPr>
          <a:xfrm>
            <a:off x="548640" y="55321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Primer punto en noviembre y 2 ferias navideñas</a:t>
            </a:r>
            <a:endParaRPr lang="en-US" sz="1250" dirty="0"/>
          </a:p>
        </p:txBody>
      </p:sp>
      <p:sp>
        <p:nvSpPr>
          <p:cNvPr id="53" name="texto-320"/>
          <p:cNvSpPr txBox="1"/>
          <p:nvPr/>
        </p:nvSpPr>
        <p:spPr>
          <a:xfrm>
            <a:off x="4709160" y="55321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Patricia, Adela y Carlos</a:t>
            </a:r>
            <a:endParaRPr lang="en-US" sz="1150" dirty="0"/>
          </a:p>
        </p:txBody>
      </p:sp>
      <p:sp>
        <p:nvSpPr>
          <p:cNvPr id="54" name="gantt-barra-321"/>
          <p:cNvSpPr/>
          <p:nvPr/>
        </p:nvSpPr>
        <p:spPr>
          <a:xfrm>
            <a:off x="10122900" y="5660136"/>
            <a:ext cx="1483579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55" name="tarjeta-322"/>
          <p:cNvSpPr/>
          <p:nvPr/>
        </p:nvSpPr>
        <p:spPr>
          <a:xfrm>
            <a:off x="548640" y="6016752"/>
            <a:ext cx="11094415" cy="329184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56" name="texto-323"/>
          <p:cNvSpPr txBox="1"/>
          <p:nvPr/>
        </p:nvSpPr>
        <p:spPr>
          <a:xfrm>
            <a:off x="822960" y="6016752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Meta al 31 de diciembre: 2 puntos activos y 5,525 brownies vendidos [HIPÓTESIS].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Fuente: elaboración propia (hoja de ruta por semanas, octubre a diciembre de 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Elevator pitch de 1 minuto</a:t>
            </a:r>
            <a:endParaRPr lang="en-US" sz="3200" dirty="0"/>
          </a:p>
        </p:txBody>
      </p:sp>
      <p:sp>
        <p:nvSpPr>
          <p:cNvPr id="3" name="tarjeta-324"/>
          <p:cNvSpPr/>
          <p:nvPr/>
        </p:nvSpPr>
        <p:spPr>
          <a:xfrm>
            <a:off x="548640" y="1234440"/>
            <a:ext cx="357530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o-325"/>
          <p:cNvSpPr txBox="1"/>
          <p:nvPr/>
        </p:nvSpPr>
        <p:spPr>
          <a:xfrm>
            <a:off x="777240" y="1399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0:00-0:10</a:t>
            </a:r>
            <a:endParaRPr lang="en-US" sz="1400" dirty="0"/>
          </a:p>
        </p:txBody>
      </p:sp>
      <p:sp>
        <p:nvSpPr>
          <p:cNvPr id="5" name="texto-326"/>
          <p:cNvSpPr txBox="1"/>
          <p:nvPr/>
        </p:nvSpPr>
        <p:spPr>
          <a:xfrm>
            <a:off x="777240" y="17373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Lima, uno de cada cuatro niños menores de tres años tiene anemia, y en los escolares atendidos por el MINSA la cifra llega a 22.5 %. Los padres lo saben.</a:t>
            </a:r>
            <a:endParaRPr lang="en-US" sz="1600" dirty="0"/>
          </a:p>
        </p:txBody>
      </p:sp>
      <p:sp>
        <p:nvSpPr>
          <p:cNvPr id="6" name="tarjeta-327"/>
          <p:cNvSpPr/>
          <p:nvPr/>
        </p:nvSpPr>
        <p:spPr>
          <a:xfrm>
            <a:off x="4306824" y="1234440"/>
            <a:ext cx="357530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o-328"/>
          <p:cNvSpPr txBox="1"/>
          <p:nvPr/>
        </p:nvSpPr>
        <p:spPr>
          <a:xfrm>
            <a:off x="4535424" y="1399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0:10-0:20</a:t>
            </a:r>
            <a:endParaRPr lang="en-US" sz="1400" dirty="0"/>
          </a:p>
        </p:txBody>
      </p:sp>
      <p:sp>
        <p:nvSpPr>
          <p:cNvPr id="8" name="texto-329"/>
          <p:cNvSpPr txBox="1"/>
          <p:nvPr/>
        </p:nvSpPr>
        <p:spPr>
          <a:xfrm>
            <a:off x="4535424" y="17373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problema es otro: lo saludable regresa intacto en la lonchera. Hígado, gotas de hierro, sangrecita a la vista: todo vuelve a casa sin abrir.</a:t>
            </a:r>
            <a:endParaRPr lang="en-US" sz="1600" dirty="0"/>
          </a:p>
        </p:txBody>
      </p:sp>
      <p:sp>
        <p:nvSpPr>
          <p:cNvPr id="9" name="tarjeta-330"/>
          <p:cNvSpPr/>
          <p:nvPr/>
        </p:nvSpPr>
        <p:spPr>
          <a:xfrm>
            <a:off x="8065008" y="1234440"/>
            <a:ext cx="357530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o-331"/>
          <p:cNvSpPr txBox="1"/>
          <p:nvPr/>
        </p:nvSpPr>
        <p:spPr>
          <a:xfrm>
            <a:off x="8293608" y="1399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0:20-0:30</a:t>
            </a:r>
            <a:endParaRPr lang="en-US" sz="1400" dirty="0"/>
          </a:p>
        </p:txBody>
      </p:sp>
      <p:sp>
        <p:nvSpPr>
          <p:cNvPr id="11" name="texto-332"/>
          <p:cNvSpPr txBox="1"/>
          <p:nvPr/>
        </p:nvSpPr>
        <p:spPr>
          <a:xfrm>
            <a:off x="8293608" y="17373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AndiBite es un mini brownie de 20 gramos con sangrecita, con hierro medido en laboratorio y tres sabores para que la lonchera cambie cada día.</a:t>
            </a:r>
            <a:endParaRPr lang="en-US" sz="1600" dirty="0"/>
          </a:p>
        </p:txBody>
      </p:sp>
      <p:sp>
        <p:nvSpPr>
          <p:cNvPr id="12" name="tarjeta-333"/>
          <p:cNvSpPr/>
          <p:nvPr/>
        </p:nvSpPr>
        <p:spPr>
          <a:xfrm>
            <a:off x="548640" y="3840480"/>
            <a:ext cx="357530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o-334"/>
          <p:cNvSpPr txBox="1"/>
          <p:nvPr/>
        </p:nvSpPr>
        <p:spPr>
          <a:xfrm>
            <a:off x="77724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0:30-0:40</a:t>
            </a:r>
            <a:endParaRPr lang="en-US" sz="1400" dirty="0"/>
          </a:p>
        </p:txBody>
      </p:sp>
      <p:sp>
        <p:nvSpPr>
          <p:cNvPr id="14" name="texto-335"/>
          <p:cNvSpPr txBox="1"/>
          <p:nvPr/>
        </p:nvSpPr>
        <p:spPr>
          <a:xfrm>
            <a:off x="777240" y="43434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para padres planificados de Lima Top y Lima Moderna: 46,000 hogares que leen etiquetas y pagan por evidencia, no por promesas.</a:t>
            </a:r>
            <a:endParaRPr lang="en-US" sz="1600" dirty="0"/>
          </a:p>
        </p:txBody>
      </p:sp>
      <p:sp>
        <p:nvSpPr>
          <p:cNvPr id="15" name="tarjeta-336"/>
          <p:cNvSpPr/>
          <p:nvPr/>
        </p:nvSpPr>
        <p:spPr>
          <a:xfrm>
            <a:off x="4306824" y="3840480"/>
            <a:ext cx="357530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o-337"/>
          <p:cNvSpPr txBox="1"/>
          <p:nvPr/>
        </p:nvSpPr>
        <p:spPr>
          <a:xfrm>
            <a:off x="4535424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0:40-0:50</a:t>
            </a:r>
            <a:endParaRPr lang="en-US" sz="1400" dirty="0"/>
          </a:p>
        </p:txBody>
      </p:sp>
      <p:sp>
        <p:nvSpPr>
          <p:cNvPr id="17" name="texto-338"/>
          <p:cNvSpPr txBox="1"/>
          <p:nvPr/>
        </p:nvSpPr>
        <p:spPr>
          <a:xfrm>
            <a:off x="4535424" y="43434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Nuestra diferencia: menos de 7.1 gramos de azúcar por 100, así que no lleva octógono. El niño ve un brownie; el padre ve los miligramos.</a:t>
            </a:r>
            <a:endParaRPr lang="en-US" sz="1600" dirty="0"/>
          </a:p>
        </p:txBody>
      </p:sp>
      <p:sp>
        <p:nvSpPr>
          <p:cNvPr id="18" name="tarjeta-339"/>
          <p:cNvSpPr/>
          <p:nvPr/>
        </p:nvSpPr>
        <p:spPr>
          <a:xfrm>
            <a:off x="8065008" y="3840480"/>
            <a:ext cx="3575304" cy="2423160"/>
          </a:xfrm>
          <a:prstGeom prst="roundRect">
            <a:avLst>
              <a:gd name="adj" fmla="val 452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o-340"/>
          <p:cNvSpPr txBox="1"/>
          <p:nvPr/>
        </p:nvSpPr>
        <p:spPr>
          <a:xfrm>
            <a:off x="8293608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0:50-1:00</a:t>
            </a:r>
            <a:endParaRPr lang="en-US" sz="1400" dirty="0"/>
          </a:p>
        </p:txBody>
      </p:sp>
      <p:sp>
        <p:nvSpPr>
          <p:cNvPr id="20" name="texto-341"/>
          <p:cNvSpPr txBox="1"/>
          <p:nvPr/>
        </p:nvSpPr>
        <p:spPr>
          <a:xfrm>
            <a:off x="8293608" y="43434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 validamos con diez entrevistas, dos focus groups y degustación. Con 2,215 unidades al mes llegamos al equilibrio. Búsquennos en nuestro stand y prueben antes de comprar.</a:t>
            </a:r>
            <a:endParaRPr lang="en-US" sz="15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Fuentes: ENDES 2024; SIEN-HIS 2024-I; APEIM 2025 y CPI 2026 (46,000 hogares); elaboración propia (azúcar y equilibrio).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Equipo y roles</a:t>
            </a:r>
            <a:endParaRPr lang="en-US" sz="3200" dirty="0"/>
          </a:p>
        </p:txBody>
      </p:sp>
      <p:sp>
        <p:nvSpPr>
          <p:cNvPr id="3" name="tarjeta-342"/>
          <p:cNvSpPr/>
          <p:nvPr/>
        </p:nvSpPr>
        <p:spPr>
          <a:xfrm>
            <a:off x="548640" y="1371600"/>
            <a:ext cx="2072579" cy="457200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circulo-343"/>
          <p:cNvSpPr/>
          <p:nvPr/>
        </p:nvSpPr>
        <p:spPr>
          <a:xfrm>
            <a:off x="1036290" y="16916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DA</a:t>
            </a:r>
            <a:endParaRPr lang="en-US" sz="2800" dirty="0"/>
          </a:p>
        </p:txBody>
      </p:sp>
      <p:sp>
        <p:nvSpPr>
          <p:cNvPr id="5" name="texto-344"/>
          <p:cNvSpPr txBox="1"/>
          <p:nvPr/>
        </p:nvSpPr>
        <p:spPr>
          <a:xfrm>
            <a:off x="685800" y="301752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Diana Ayoso</a:t>
            </a:r>
            <a:endParaRPr lang="en-US" sz="1700" dirty="0"/>
          </a:p>
        </p:txBody>
      </p:sp>
      <p:sp>
        <p:nvSpPr>
          <p:cNvPr id="6" name="texto-345"/>
          <p:cNvSpPr txBox="1"/>
          <p:nvPr/>
        </p:nvSpPr>
        <p:spPr>
          <a:xfrm>
            <a:off x="685800" y="3703320"/>
            <a:ext cx="1798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Producto, I+D y prueba sensorial</a:t>
            </a:r>
            <a:endParaRPr lang="en-US" sz="1300" dirty="0"/>
          </a:p>
        </p:txBody>
      </p:sp>
      <p:sp>
        <p:nvSpPr>
          <p:cNvPr id="7" name="texto-346"/>
          <p:cNvSpPr txBox="1"/>
          <p:nvPr/>
        </p:nvSpPr>
        <p:spPr>
          <a:xfrm>
            <a:off x="731520" y="4480560"/>
            <a:ext cx="170681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Fórmula, pruebas, escalamiento y calidad</a:t>
            </a:r>
            <a:endParaRPr lang="en-US" sz="1200" dirty="0"/>
          </a:p>
        </p:txBody>
      </p:sp>
      <p:sp>
        <p:nvSpPr>
          <p:cNvPr id="8" name="tarjeta-347"/>
          <p:cNvSpPr/>
          <p:nvPr/>
        </p:nvSpPr>
        <p:spPr>
          <a:xfrm>
            <a:off x="2804099" y="1371600"/>
            <a:ext cx="2072579" cy="457200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circulo-348"/>
          <p:cNvSpPr/>
          <p:nvPr/>
        </p:nvSpPr>
        <p:spPr>
          <a:xfrm>
            <a:off x="3291749" y="16916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PC</a:t>
            </a:r>
            <a:endParaRPr lang="en-US" sz="2800" dirty="0"/>
          </a:p>
        </p:txBody>
      </p:sp>
      <p:sp>
        <p:nvSpPr>
          <p:cNvPr id="10" name="texto-349"/>
          <p:cNvSpPr txBox="1"/>
          <p:nvPr/>
        </p:nvSpPr>
        <p:spPr>
          <a:xfrm>
            <a:off x="2941259" y="301752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Patricia Cárdenas</a:t>
            </a:r>
            <a:endParaRPr lang="en-US" sz="1700" dirty="0"/>
          </a:p>
        </p:txBody>
      </p:sp>
      <p:sp>
        <p:nvSpPr>
          <p:cNvPr id="11" name="texto-350"/>
          <p:cNvSpPr txBox="1"/>
          <p:nvPr/>
        </p:nvSpPr>
        <p:spPr>
          <a:xfrm>
            <a:off x="2941259" y="3703320"/>
            <a:ext cx="1798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Operaciones</a:t>
            </a:r>
            <a:endParaRPr lang="en-US" sz="1300" dirty="0"/>
          </a:p>
        </p:txBody>
      </p:sp>
      <p:sp>
        <p:nvSpPr>
          <p:cNvPr id="12" name="texto-351"/>
          <p:cNvSpPr txBox="1"/>
          <p:nvPr/>
        </p:nvSpPr>
        <p:spPr>
          <a:xfrm>
            <a:off x="2986979" y="4480560"/>
            <a:ext cx="170681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Planta, compras, inventario y despacho</a:t>
            </a:r>
            <a:endParaRPr lang="en-US" sz="1200" dirty="0"/>
          </a:p>
        </p:txBody>
      </p:sp>
      <p:sp>
        <p:nvSpPr>
          <p:cNvPr id="13" name="tarjeta-352"/>
          <p:cNvSpPr/>
          <p:nvPr/>
        </p:nvSpPr>
        <p:spPr>
          <a:xfrm>
            <a:off x="5059558" y="1371600"/>
            <a:ext cx="2072579" cy="457200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circulo-353"/>
          <p:cNvSpPr/>
          <p:nvPr/>
        </p:nvSpPr>
        <p:spPr>
          <a:xfrm>
            <a:off x="5547208" y="16916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AR</a:t>
            </a:r>
            <a:endParaRPr lang="en-US" sz="2800" dirty="0"/>
          </a:p>
        </p:txBody>
      </p:sp>
      <p:sp>
        <p:nvSpPr>
          <p:cNvPr id="15" name="texto-354"/>
          <p:cNvSpPr txBox="1"/>
          <p:nvPr/>
        </p:nvSpPr>
        <p:spPr>
          <a:xfrm>
            <a:off x="5196718" y="301752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Adela Robles</a:t>
            </a:r>
            <a:endParaRPr lang="en-US" sz="1700" dirty="0"/>
          </a:p>
        </p:txBody>
      </p:sp>
      <p:sp>
        <p:nvSpPr>
          <p:cNvPr id="16" name="texto-355"/>
          <p:cNvSpPr txBox="1"/>
          <p:nvPr/>
        </p:nvSpPr>
        <p:spPr>
          <a:xfrm>
            <a:off x="5196718" y="3703320"/>
            <a:ext cx="1798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Regulación, legal y contabilidad</a:t>
            </a:r>
            <a:endParaRPr lang="en-US" sz="1300" dirty="0"/>
          </a:p>
        </p:txBody>
      </p:sp>
      <p:sp>
        <p:nvSpPr>
          <p:cNvPr id="17" name="texto-356"/>
          <p:cNvSpPr txBox="1"/>
          <p:nvPr/>
        </p:nvSpPr>
        <p:spPr>
          <a:xfrm>
            <a:off x="5242438" y="4480560"/>
            <a:ext cx="170681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S.A.C., registro sanitario, etiqueta e INDECOPI</a:t>
            </a:r>
            <a:endParaRPr lang="en-US" sz="1200" dirty="0"/>
          </a:p>
        </p:txBody>
      </p:sp>
      <p:sp>
        <p:nvSpPr>
          <p:cNvPr id="18" name="tarjeta-357"/>
          <p:cNvSpPr/>
          <p:nvPr/>
        </p:nvSpPr>
        <p:spPr>
          <a:xfrm>
            <a:off x="7315017" y="1371600"/>
            <a:ext cx="2072579" cy="457200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circulo-358"/>
          <p:cNvSpPr/>
          <p:nvPr/>
        </p:nvSpPr>
        <p:spPr>
          <a:xfrm>
            <a:off x="7802667" y="16916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AB</a:t>
            </a:r>
            <a:endParaRPr lang="en-US" sz="2800" dirty="0"/>
          </a:p>
        </p:txBody>
      </p:sp>
      <p:sp>
        <p:nvSpPr>
          <p:cNvPr id="20" name="texto-359"/>
          <p:cNvSpPr txBox="1"/>
          <p:nvPr/>
        </p:nvSpPr>
        <p:spPr>
          <a:xfrm>
            <a:off x="7452177" y="301752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Angie Blas</a:t>
            </a:r>
            <a:endParaRPr lang="en-US" sz="1700" dirty="0"/>
          </a:p>
        </p:txBody>
      </p:sp>
      <p:sp>
        <p:nvSpPr>
          <p:cNvPr id="21" name="texto-360"/>
          <p:cNvSpPr txBox="1"/>
          <p:nvPr/>
        </p:nvSpPr>
        <p:spPr>
          <a:xfrm>
            <a:off x="7452177" y="3703320"/>
            <a:ext cx="1798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Marca, contenido y pauta</a:t>
            </a:r>
            <a:endParaRPr lang="en-US" sz="1300" dirty="0"/>
          </a:p>
        </p:txBody>
      </p:sp>
      <p:sp>
        <p:nvSpPr>
          <p:cNvPr id="22" name="texto-361"/>
          <p:cNvSpPr txBox="1"/>
          <p:nvPr/>
        </p:nvSpPr>
        <p:spPr>
          <a:xfrm>
            <a:off x="7497897" y="4480560"/>
            <a:ext cx="170681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Identidad, empaque, redes y lanzamiento</a:t>
            </a:r>
            <a:endParaRPr lang="en-US" sz="1200" dirty="0"/>
          </a:p>
        </p:txBody>
      </p:sp>
      <p:sp>
        <p:nvSpPr>
          <p:cNvPr id="23" name="tarjeta-362"/>
          <p:cNvSpPr/>
          <p:nvPr/>
        </p:nvSpPr>
        <p:spPr>
          <a:xfrm>
            <a:off x="9570476" y="1371600"/>
            <a:ext cx="2072579" cy="457200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5C301E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circulo-363"/>
          <p:cNvSpPr/>
          <p:nvPr/>
        </p:nvSpPr>
        <p:spPr>
          <a:xfrm>
            <a:off x="10058126" y="16916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CI</a:t>
            </a:r>
            <a:endParaRPr lang="en-US" sz="2800" dirty="0"/>
          </a:p>
        </p:txBody>
      </p:sp>
      <p:sp>
        <p:nvSpPr>
          <p:cNvPr id="25" name="texto-364"/>
          <p:cNvSpPr txBox="1"/>
          <p:nvPr/>
        </p:nvSpPr>
        <p:spPr>
          <a:xfrm>
            <a:off x="9707636" y="301752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Carlos Inga</a:t>
            </a:r>
            <a:endParaRPr lang="en-US" sz="1700" dirty="0"/>
          </a:p>
        </p:txBody>
      </p:sp>
      <p:sp>
        <p:nvSpPr>
          <p:cNvPr id="26" name="texto-365"/>
          <p:cNvSpPr txBox="1"/>
          <p:nvPr/>
        </p:nvSpPr>
        <p:spPr>
          <a:xfrm>
            <a:off x="9707636" y="3703320"/>
            <a:ext cx="1798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Comercial y modelo financiero</a:t>
            </a:r>
            <a:endParaRPr lang="en-US" sz="1300" dirty="0"/>
          </a:p>
        </p:txBody>
      </p:sp>
      <p:sp>
        <p:nvSpPr>
          <p:cNvPr id="27" name="texto-366"/>
          <p:cNvSpPr txBox="1"/>
          <p:nvPr/>
        </p:nvSpPr>
        <p:spPr>
          <a:xfrm>
            <a:off x="9753356" y="4480560"/>
            <a:ext cx="170681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Stands, ferias, colegios, naturistas y caja</a:t>
            </a:r>
            <a:endParaRPr lang="en-US" sz="1200" dirty="0"/>
          </a:p>
        </p:txBody>
      </p:sp>
      <p:sp>
        <p:nvSpPr>
          <p:cNvPr id="28" name="Text 0"/>
          <p:cNvSpPr/>
          <p:nvPr>
            <p:ph idx="101" type="body" hasCustomPrompt="1"/>
          </p:nvPr>
        </p:nvSpPr>
        <p:spPr>
          <a:xfrm>
            <a:off x="548640" y="63825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Cinco socios con aporte y participación iguales (20 % cada uno). Fuente: elaboración propia.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367"/>
          <p:cNvSpPr txBox="1"/>
          <p:nvPr/>
        </p:nvSpPr>
        <p:spPr>
          <a:xfrm>
            <a:off x="548640" y="594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¿Quién de ustedes comería hígado en el recreo?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La pregunta no es si los niños necesitan hierro, sino por qué nadie lo había hecho rico.</a:t>
            </a:r>
            <a:endParaRPr lang="en-US" sz="4000" dirty="0"/>
          </a:p>
        </p:txBody>
      </p:sp>
      <p:sp>
        <p:nvSpPr>
          <p:cNvPr id="4" name="ficha-fe-368"/>
          <p:cNvSpPr/>
          <p:nvPr/>
        </p:nvSpPr>
        <p:spPr>
          <a:xfrm>
            <a:off x="9326880" y="1325880"/>
            <a:ext cx="2103120" cy="210312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fe-num-369"/>
          <p:cNvSpPr txBox="1"/>
          <p:nvPr/>
        </p:nvSpPr>
        <p:spPr>
          <a:xfrm>
            <a:off x="9537192" y="1473098"/>
            <a:ext cx="1051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26</a:t>
            </a:r>
            <a:endParaRPr lang="en-US" sz="2500" dirty="0"/>
          </a:p>
        </p:txBody>
      </p:sp>
      <p:sp>
        <p:nvSpPr>
          <p:cNvPr id="6" name="fe-sym-370"/>
          <p:cNvSpPr txBox="1"/>
          <p:nvPr/>
        </p:nvSpPr>
        <p:spPr>
          <a:xfrm>
            <a:off x="9326880" y="1704442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Fe</a:t>
            </a:r>
            <a:endParaRPr lang="en-US" sz="7400" dirty="0"/>
          </a:p>
        </p:txBody>
      </p:sp>
      <p:sp>
        <p:nvSpPr>
          <p:cNvPr id="7" name="fe-cap-371"/>
          <p:cNvSpPr txBox="1"/>
          <p:nvPr/>
        </p:nvSpPr>
        <p:spPr>
          <a:xfrm>
            <a:off x="9326880" y="2861158"/>
            <a:ext cx="21031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medido</a:t>
            </a:r>
            <a:endParaRPr lang="en-US" sz="2200" dirty="0"/>
          </a:p>
        </p:txBody>
      </p:sp>
      <p:sp>
        <p:nvSpPr>
          <p:cNvPr id="8" name="tarjeta-372"/>
          <p:cNvSpPr/>
          <p:nvPr/>
        </p:nvSpPr>
        <p:spPr>
          <a:xfrm>
            <a:off x="548640" y="3977640"/>
            <a:ext cx="768096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9" name="texto-373"/>
          <p:cNvSpPr txBox="1"/>
          <p:nvPr/>
        </p:nvSpPr>
        <p:spPr>
          <a:xfrm>
            <a:off x="822960" y="402336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Prueben la caja degustación y ayúdennos a abrir el primer colegio piloto.</a:t>
            </a:r>
            <a:endParaRPr lang="en-US" sz="1900" dirty="0"/>
          </a:p>
        </p:txBody>
      </p:sp>
      <p:sp>
        <p:nvSpPr>
          <p:cNvPr id="10" name="texto-374"/>
          <p:cNvSpPr txBox="1"/>
          <p:nvPr/>
        </p:nvSpPr>
        <p:spPr>
          <a:xfrm>
            <a:off x="8503920" y="393192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dirty="0">
                <a:solidFill>
                  <a:schemeClr val="bg2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Gracias</a:t>
            </a:r>
            <a:endParaRPr lang="en-US" sz="5200" dirty="0"/>
          </a:p>
        </p:txBody>
      </p:sp>
      <p:sp>
        <p:nvSpPr>
          <p:cNvPr id="11" name="texto-375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Grupo 2: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Diana Ayoso, Carlos Inga, Angie Blas, Patricia Cárdenas y Adela Robles · Profesora Paola Cevallos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diBite 2.0">
  <a:themeElements>
    <a:clrScheme name="AndiBite 2.0">
      <a:dk1>
        <a:srgbClr val="3B2014"/>
      </a:dk1>
      <a:lt1>
        <a:srgbClr val="FFFFFF"/>
      </a:lt1>
      <a:dk2>
        <a:srgbClr val="5C301E"/>
      </a:dk2>
      <a:lt2>
        <a:srgbClr val="F7ECDA"/>
      </a:lt2>
      <a:accent1>
        <a:srgbClr val="8B1E2B"/>
      </a:accent1>
      <a:accent2>
        <a:srgbClr val="E5A93A"/>
      </a:accent2>
      <a:accent3>
        <a:srgbClr val="D7392B"/>
      </a:accent3>
      <a:accent4>
        <a:srgbClr val="E9B730"/>
      </a:accent4>
      <a:accent5>
        <a:srgbClr val="B9733A"/>
      </a:accent5>
      <a:accent6>
        <a:srgbClr val="E8CDB3"/>
      </a:accent6>
      <a:hlink>
        <a:srgbClr val="8B1E2B"/>
      </a:hlink>
      <a:folHlink>
        <a:srgbClr val="5C301E"/>
      </a:folHlink>
    </a:clrScheme>
    <a:fontScheme name="AndiBite 2.0">
      <a:majorFont>
        <a:latin typeface="Fredoka O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Grupo 2 - Desarrollo y lanzamiento de nuevos productos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AndiBite 2.0 - T1</dc:title>
  <dc:subject>Canvas, propuesta de valor, validacion y elevator pitch</dc:subject>
  <dc:creator>Grupo 2</dc:creator>
  <cp:lastModifiedBy>Grupo 2</cp:lastModifiedBy>
  <cp:revision>1</cp:revision>
  <dcterms:created xsi:type="dcterms:W3CDTF">2026-10-03T17:14:28Z</dcterms:created>
  <dcterms:modified xsi:type="dcterms:W3CDTF">2026-10-03T17:14:28Z</dcterms:modified>
</cp:coreProperties>
</file>