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76e7bf54-3784-8d63-ca46-752cbc3828b0}">
          <p14:sldIdLst>
            <p14:sldId id="256"/>
          </p14:sldIdLst>
        </p14:section>
        <p14:section name="Análisis situacional" id="{9dbf3fa2-d2e6-11b8-dc54-13f6f2b206eb}">
          <p14:sldIdLst>
            <p14:sldId id="257"/>
            <p14:sldId id="258"/>
            <p14:sldId id="259"/>
            <p14:sldId id="260"/>
            <p14:sldId id="261"/>
          </p14:sldIdLst>
        </p14:section>
        <p14:section name="Cierre" id="{53459a31-6917-5afc-8ec3-190c1f3017f1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1" i="0" u="none" strike="noStrike">
                <a:solidFill>
                  <a:srgbClr val="4A2018"/>
                </a:solidFill>
                <a:latin typeface="+mn-lt"/>
              </a:defRPr>
            </a:pPr>
            <a:r>
              <a:rPr sz="1500" b="1" i="0" u="none" strike="noStrike">
                <a:solidFill>
                  <a:srgbClr val="4A2018"/>
                </a:solidFill>
                <a:latin typeface="+mn-lt"/>
              </a:rPr>
              <a:t>Título del gráfico (unidad)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</c:v>
                </c:pt>
              </c:strCache>
            </c:strRef>
          </c:tx>
          <c:spPr>
            <a:solidFill>
              <a:srgbClr val="BA403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B1A1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  <c:pt idx="3">
                    <c:v>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7</c:v>
                </c:pt>
                <c:pt idx="2">
                  <c:v>5</c:v>
                </c:pt>
                <c:pt idx="3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B1A1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3A2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3A2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PLANTILLA · Portada. Cambiar el subtítulo. No mover el logo ni el empaque.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PLANTILLA · Separador de sección. Cambiar número, título, subtítulo e ícono (react-icons/fa).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PLANTILLA · Contenido con viñetas y dato clave. Máximo 3 viñetas de una línea; todo dato con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PLANTILLA · Tres tarjetas. La del centro va resaltada en rojo ladrillo.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PLANTILLA · Tabla. Encabezado café 4A2018, filas alternas crema FBF3E8, franja de conclusión abajo.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PLANTILLA · Gráfico nativo (clic derecho &gt; Editar datos) con caja de lectura.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PLANTILLA · Cierre con el slogan.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4A2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3246120"/>
            <a:ext cx="67665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69080"/>
            <a:ext cx="67665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rgbClr val="4A2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234440"/>
            <a:ext cx="67665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solidFill>
          <a:srgbClr val="4A2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514600"/>
            <a:ext cx="6949440" cy="1417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69080"/>
            <a:ext cx="69494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pic>
        <p:nvPicPr>
          <p:cNvPr id="4" name="Image 0" descr="img/logo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989320"/>
            <a:ext cx="1325880" cy="457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B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/>
        </p:nvSpPr>
        <p:spPr>
          <a:xfrm>
            <a:off x="548640" y="645566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</a:rPr>
              <a:t>AndiBite · Grupo 2 · T2 Plan de marketing</a:t>
            </a:r>
            <a:endParaRPr lang="en-US" sz="1000" dirty="0"/>
          </a:p>
        </p:txBody>
      </p:sp>
      <p:pic>
        <p:nvPicPr>
          <p:cNvPr id="5" name="Image 0" descr="img/logo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6391656"/>
            <a:ext cx="868680" cy="2971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37376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3A2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37376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3A2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logo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05840"/>
            <a:ext cx="5120640" cy="175564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324612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2"/>
                </a:solidFill>
              </a:rPr>
              <a:t>Plan de marketing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406908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y lanzamiento · T2 · [subtítulo del tema]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52578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Grupo 2 · Diana Ayoso · Carlos Inga · Angie Blas · Patricia Cárdenas · Adela Robles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6235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Desarrollo y lanzamiento de nuevos productos · Prof. Paola Cevallos · Octubre de 2026</a:t>
            </a:r>
            <a:endParaRPr lang="en-US" sz="1200" dirty="0"/>
          </a:p>
        </p:txBody>
      </p:sp>
      <p:pic>
        <p:nvPicPr>
          <p:cNvPr id="7" name="Image 1" descr="img/B1_frente_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40000">
            <a:off x="8001000" y="548640"/>
            <a:ext cx="4023360" cy="55961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7724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dirty="0">
                <a:solidFill>
                  <a:schemeClr val="accent1"/>
                </a:solidFill>
              </a:rPr>
              <a:t>01</a:t>
            </a:r>
            <a:endParaRPr lang="en-US" sz="12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514600"/>
            <a:ext cx="6949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2"/>
                </a:solidFill>
              </a:rPr>
              <a:t>Análisis situacional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406908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PESTEL · Qué le importa al cliente · Benchmark · FODA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001000" y="1417320"/>
            <a:ext cx="3840480" cy="3840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0" y="242316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KICKER EN MAYÚSCULAS · TEMA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Título de la diapositiva: una idea, máximo 50 caracteres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949440" cy="4526280"/>
          </a:xfrm>
          <a:prstGeom prst="roundRect">
            <a:avLst>
              <a:gd name="adj" fmla="val 242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7A4A30">
                <a:alpha val="1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6400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Primera idea clave en una frase corta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Segunda idea con un dato y su fuente (INEI 2026)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Tercera idea: qué significa para AndiBite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26680" y="1554480"/>
            <a:ext cx="3913632" cy="4526280"/>
          </a:xfrm>
          <a:prstGeom prst="roundRect">
            <a:avLst>
              <a:gd name="adj" fmla="val 280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25400" dir="5400000">
              <a:srgbClr val="7A4A30">
                <a:alpha val="14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001000" y="1828800"/>
            <a:ext cx="33832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3"/>
                </a:solidFill>
              </a:rPr>
              <a:t>DATO CLAVE</a:t>
            </a:r>
            <a:endParaRPr lang="en-US" sz="1400" dirty="0"/>
          </a:p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00 %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qué mide el dato · Fuente, año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37376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3A2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KICKER · TEMA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Tres ideas en tres tarjetas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448056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7A4A3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" y="2035454"/>
            <a:ext cx="409651" cy="40965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788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Título de la tarjeta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33756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Texto breve de dos o tres líneas que explica la idea con palabras simples.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311396" y="1600200"/>
            <a:ext cx="3566160" cy="4480560"/>
          </a:xfrm>
          <a:prstGeom prst="roundRect">
            <a:avLst>
              <a:gd name="adj" fmla="val 307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7A4A3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85716" y="1874520"/>
            <a:ext cx="731520" cy="7315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6650" y="2035454"/>
            <a:ext cx="409651" cy="40965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85716" y="2788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Título de la tarjeta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585716" y="333756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Texto breve de dos o tres líneas que explica la idea con palabras simples.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8074152" y="1600200"/>
            <a:ext cx="3566160" cy="448056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7A4A3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48472" y="18745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9406" y="2035454"/>
            <a:ext cx="409651" cy="40965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48472" y="2788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Título de la tarjeta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8348472" y="333756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Texto breve de dos o tres líneas que explica la idea con palabras simples.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37376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3A2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KICKER · TEMA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Tabla con encabezado café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Columna 1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Columna 2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Columna 3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Columna 4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Dato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Dato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Dato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Dato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Dato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Dato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Dato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Dato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Dato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Dato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Dato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Dato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Dato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Dato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Dato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Dato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Dato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Dato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Dato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Dato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779008"/>
            <a:ext cx="11091672" cy="502920"/>
          </a:xfrm>
          <a:prstGeom prst="roundRect">
            <a:avLst>
              <a:gd name="adj" fmla="val 4909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25400" dir="5400000">
              <a:srgbClr val="7A4A30">
                <a:alpha val="14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57790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bg2"/>
                </a:solidFill>
              </a:rPr>
              <a:t>Franja de conclusión: la idea que el jurado debe recordar.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37376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3A2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KICKER · TEMA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Gráfico con su lectura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463040"/>
          <a:ext cx="749808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92440" y="1554480"/>
            <a:ext cx="3547872" cy="4526280"/>
          </a:xfrm>
          <a:prstGeom prst="roundRect">
            <a:avLst>
              <a:gd name="adj" fmla="val 309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7A4A30">
                <a:alpha val="14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321040" y="1828800"/>
            <a:ext cx="31089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LECTURA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Qué muestra el gráfico y qué decisión tomamos.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37376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3A2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3"/>
                </a:solidFill>
              </a:rPr>
              <a:t>SLOGAN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23444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2"/>
                </a:solidFill>
              </a:rPr>
              <a:t>Hierro medido. Sabor a brownie.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1089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5"/>
                </a:solidFill>
              </a:rPr>
              <a:t>Frase de cierre o llamado a la acción</a:t>
            </a:r>
            <a:endParaRPr lang="en-US" sz="2400" dirty="0"/>
          </a:p>
        </p:txBody>
      </p:sp>
      <p:pic>
        <p:nvPicPr>
          <p:cNvPr id="5" name="Image 0" descr="img/B1_frente_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180000">
            <a:off x="8001000" y="548640"/>
            <a:ext cx="4023360" cy="55961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ndiBite">
  <a:themeElements>
    <a:clrScheme name="AndiBite">
      <a:dk1>
        <a:srgbClr val="3B1A14"/>
      </a:dk1>
      <a:lt1>
        <a:srgbClr val="FFFFFF"/>
      </a:lt1>
      <a:dk2>
        <a:srgbClr val="4A2018"/>
      </a:dk2>
      <a:lt2>
        <a:srgbClr val="FBF3E8"/>
      </a:lt2>
      <a:accent1>
        <a:srgbClr val="BA4036"/>
      </a:accent1>
      <a:accent2>
        <a:srgbClr val="6B3A2A"/>
      </a:accent2>
      <a:accent3>
        <a:srgbClr val="E3A33B"/>
      </a:accent3>
      <a:accent4>
        <a:srgbClr val="7C8A3A"/>
      </a:accent4>
      <a:accent5>
        <a:srgbClr val="D9B48F"/>
      </a:accent5>
      <a:accent6>
        <a:srgbClr val="8A1C2B"/>
      </a:accent6>
      <a:hlink>
        <a:srgbClr val="BA4036"/>
      </a:hlink>
      <a:folHlink>
        <a:srgbClr val="8A1C2B"/>
      </a:folHlink>
    </a:clrScheme>
    <a:fontScheme name="AndiBit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AndiBite — T2 Plan de marketing</dc:title>
  <dc:subject>PptxGenJS Presentation</dc:subject>
  <dc:creator>Grupo 2</dc:creator>
  <cp:lastModifiedBy>Grupo 2</cp:lastModifiedBy>
  <cp:revision>1</cp:revision>
  <dcterms:created xsi:type="dcterms:W3CDTF">2026-10-19T02:18:20Z</dcterms:created>
  <dcterms:modified xsi:type="dcterms:W3CDTF">2026-10-19T02:18:20Z</dcterms:modified>
</cp:coreProperties>
</file>