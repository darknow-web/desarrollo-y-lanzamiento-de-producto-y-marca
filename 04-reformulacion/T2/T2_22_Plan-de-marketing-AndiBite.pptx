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4.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e735594a-4f9b-fa72-54c7-7ec07a45e38c}">
          <p14:sldIdLst>
            <p14:sldId id="256"/>
            <p14:sldId id="257"/>
          </p14:sldIdLst>
        </p14:section>
        <p14:section name="Análisis situacional" id="{37fd3132-eb00-3c41-444b-5245a8d399d0}">
          <p14:sldIdLst>
            <p14:sldId id="258"/>
            <p14:sldId id="259"/>
            <p14:sldId id="260"/>
            <p14:sldId id="261"/>
            <p14:sldId id="262"/>
            <p14:sldId id="263"/>
            <p14:sldId id="264"/>
          </p14:sldIdLst>
        </p14:section>
        <p14:section name="Mercado" id="{42b68b17-788b-bf9c-8057-08fdb8a1aa07}">
          <p14:sldIdLst>
            <p14:sldId id="265"/>
            <p14:sldId id="266"/>
            <p14:sldId id="267"/>
            <p14:sldId id="268"/>
            <p14:sldId id="269"/>
            <p14:sldId id="270"/>
          </p14:sldIdLst>
        </p14:section>
        <p14:section name="Cliente" id="{bda38b41-0326-8767-7673-f1999301c57a}">
          <p14:sldIdLst>
            <p14:sldId id="271"/>
            <p14:sldId id="272"/>
            <p14:sldId id="273"/>
            <p14:sldId id="274"/>
            <p14:sldId id="275"/>
          </p14:sldIdLst>
        </p14:section>
        <p14:section name="Estrategia de marca" id="{b7bf64da-a9b4-1479-c1da-c67a8468419c}">
          <p14:sldIdLst>
            <p14:sldId id="276"/>
            <p14:sldId id="277"/>
            <p14:sldId id="278"/>
            <p14:sldId id="279"/>
            <p14:sldId id="280"/>
            <p14:sldId id="281"/>
            <p14:sldId id="282"/>
          </p14:sldIdLst>
        </p14:section>
        <p14:section name="Comunicación" id="{e048f06f-3e5a-ac66-e843-310c50e46d46}">
          <p14:sldIdLst>
            <p14:sldId id="283"/>
            <p14:sldId id="284"/>
            <p14:sldId id="285"/>
            <p14:sldId id="286"/>
            <p14:sldId id="287"/>
            <p14:sldId id="288"/>
            <p14:sldId id="289"/>
          </p14:sldIdLst>
        </p14:section>
        <p14:section name="Mezcla y ejecución" id="{d6e3cd5b-28b9-baa6-0d75-22764914a032}">
          <p14:sldIdLst>
            <p14:sldId id="290"/>
            <p14:sldId id="291"/>
            <p14:sldId id="292"/>
            <p14:sldId id="293"/>
            <p14:sldId id="294"/>
            <p14:sldId id="295"/>
            <p14:sldId id="296"/>
            <p14:sldId id="297"/>
            <p14:sldId id="298"/>
          </p14:sldIdLst>
        </p14:section>
        <p14:section name="Caso" id="{aca41c15-0726-7e46-628d-6de18fb7d9c4}">
          <p14:sldIdLst>
            <p14:sldId id="299"/>
            <p14:sldId id="300"/>
          </p14:sldIdLst>
        </p14:section>
        <p14:section name="Resumen y cierre" id="{f10ae9df-ad34-2933-a953-b508261db1e9}">
          <p14:sldIdLst>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Brownies por mes y por canal, 2027</a:t>
            </a:r>
          </a:p>
        </c:rich>
      </c:tx>
      <c:layout/>
      <c:overlay val="0"/>
    </c:title>
    <c:autoTitleDeleted val="0"/>
    <c:plotArea>
      <c:layout/>
      <c:barChart>
        <c:barDir val="col"/>
        <c:grouping val="stacked"/>
        <c:varyColors val="0"/>
        <c:ser>
          <c:idx val="0"/>
          <c:order val="0"/>
          <c:tx>
            <c:strRef>
              <c:f>Sheet1!$B$1</c:f>
              <c:strCache>
                <c:ptCount val="1"/>
                <c:pt idx="0">
                  <c:v>Stands y carritos</c:v>
                </c:pt>
              </c:strCache>
            </c:strRef>
          </c:tx>
          <c:spPr>
            <a:solidFill>
              <a:srgbClr val="BA4036"/>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450</c:v>
                </c:pt>
                <c:pt idx="1">
                  <c:v>1440</c:v>
                </c:pt>
                <c:pt idx="2">
                  <c:v>1800</c:v>
                </c:pt>
                <c:pt idx="3">
                  <c:v>1440</c:v>
                </c:pt>
                <c:pt idx="4">
                  <c:v>1530</c:v>
                </c:pt>
                <c:pt idx="5">
                  <c:v>1440</c:v>
                </c:pt>
                <c:pt idx="6">
                  <c:v>1700</c:v>
                </c:pt>
                <c:pt idx="7">
                  <c:v>2295</c:v>
                </c:pt>
                <c:pt idx="8">
                  <c:v>2430</c:v>
                </c:pt>
                <c:pt idx="9">
                  <c:v>2430</c:v>
                </c:pt>
                <c:pt idx="10">
                  <c:v>2430</c:v>
                </c:pt>
                <c:pt idx="11">
                  <c:v>3240</c:v>
                </c:pt>
              </c:numCache>
            </c:numRef>
          </c:val>
        </c:ser>
        <c:ser>
          <c:idx val="1"/>
          <c:order val="1"/>
          <c:tx>
            <c:strRef>
              <c:f>Sheet1!$C$1</c:f>
              <c:strCache>
                <c:ptCount val="1"/>
                <c:pt idx="0">
                  <c:v>Ferias y eventos</c:v>
                </c:pt>
              </c:strCache>
            </c:strRef>
          </c:tx>
          <c:spPr>
            <a:solidFill>
              <a:srgbClr val="E3A33B"/>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Sheet1!$C$2:$C$13</c:f>
              <c:numCache>
                <c:formatCode>General</c:formatCode>
                <c:ptCount val="12"/>
                <c:pt idx="0">
                  <c:v>150</c:v>
                </c:pt>
                <c:pt idx="1">
                  <c:v>1000</c:v>
                </c:pt>
                <c:pt idx="2">
                  <c:v>600</c:v>
                </c:pt>
                <c:pt idx="3">
                  <c:v>1300</c:v>
                </c:pt>
                <c:pt idx="4">
                  <c:v>750</c:v>
                </c:pt>
                <c:pt idx="5">
                  <c:v>600</c:v>
                </c:pt>
                <c:pt idx="6">
                  <c:v>450</c:v>
                </c:pt>
                <c:pt idx="7">
                  <c:v>600</c:v>
                </c:pt>
                <c:pt idx="8">
                  <c:v>600</c:v>
                </c:pt>
                <c:pt idx="9">
                  <c:v>600</c:v>
                </c:pt>
                <c:pt idx="10">
                  <c:v>450</c:v>
                </c:pt>
                <c:pt idx="11">
                  <c:v>300</c:v>
                </c:pt>
              </c:numCache>
            </c:numRef>
          </c:val>
        </c:ser>
        <c:ser>
          <c:idx val="2"/>
          <c:order val="2"/>
          <c:tx>
            <c:strRef>
              <c:f>Sheet1!$D$1</c:f>
              <c:strCache>
                <c:ptCount val="1"/>
                <c:pt idx="0">
                  <c:v>Recompra WhatsApp</c:v>
                </c:pt>
              </c:strCache>
            </c:strRef>
          </c:tx>
          <c:spPr>
            <a:solidFill>
              <a:srgbClr val="6B3A2A"/>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Sheet1!$D$2:$D$13</c:f>
              <c:numCache>
                <c:formatCode>General</c:formatCode>
                <c:ptCount val="12"/>
                <c:pt idx="0">
                  <c:v>150</c:v>
                </c:pt>
                <c:pt idx="1">
                  <c:v>210</c:v>
                </c:pt>
                <c:pt idx="2">
                  <c:v>854</c:v>
                </c:pt>
                <c:pt idx="3">
                  <c:v>840</c:v>
                </c:pt>
                <c:pt idx="4">
                  <c:v>959</c:v>
                </c:pt>
                <c:pt idx="5">
                  <c:v>798</c:v>
                </c:pt>
                <c:pt idx="6">
                  <c:v>714</c:v>
                </c:pt>
                <c:pt idx="7">
                  <c:v>753</c:v>
                </c:pt>
                <c:pt idx="8">
                  <c:v>1013</c:v>
                </c:pt>
                <c:pt idx="9">
                  <c:v>1061</c:v>
                </c:pt>
                <c:pt idx="10">
                  <c:v>1061</c:v>
                </c:pt>
                <c:pt idx="11">
                  <c:v>1008</c:v>
                </c:pt>
              </c:numCache>
            </c:numRef>
          </c:val>
        </c:ser>
        <c:ser>
          <c:idx val="3"/>
          <c:order val="3"/>
          <c:tx>
            <c:strRef>
              <c:f>Sheet1!$E$1</c:f>
              <c:strCache>
                <c:ptCount val="1"/>
                <c:pt idx="0">
                  <c:v>Colegios</c:v>
                </c:pt>
              </c:strCache>
            </c:strRef>
          </c:tx>
          <c:spPr>
            <a:solidFill>
              <a:srgbClr val="7C8A3A"/>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Sheet1!$E$2:$E$13</c:f>
              <c:numCache>
                <c:formatCode>General</c:formatCode>
                <c:ptCount val="12"/>
                <c:pt idx="0">
                  <c:v>0</c:v>
                </c:pt>
                <c:pt idx="1">
                  <c:v>0</c:v>
                </c:pt>
                <c:pt idx="2">
                  <c:v>300</c:v>
                </c:pt>
                <c:pt idx="3">
                  <c:v>600</c:v>
                </c:pt>
                <c:pt idx="4">
                  <c:v>765</c:v>
                </c:pt>
                <c:pt idx="5">
                  <c:v>900</c:v>
                </c:pt>
                <c:pt idx="6">
                  <c:v>600</c:v>
                </c:pt>
                <c:pt idx="7">
                  <c:v>1200</c:v>
                </c:pt>
                <c:pt idx="8">
                  <c:v>1200</c:v>
                </c:pt>
                <c:pt idx="9">
                  <c:v>1500</c:v>
                </c:pt>
                <c:pt idx="10">
                  <c:v>1500</c:v>
                </c:pt>
                <c:pt idx="11">
                  <c:v>600</c:v>
                </c:pt>
              </c:numCache>
            </c:numRef>
          </c:val>
        </c:ser>
        <c:ser>
          <c:idx val="4"/>
          <c:order val="4"/>
          <c:tx>
            <c:strRef>
              <c:f>Sheet1!$F$1</c:f>
              <c:strCache>
                <c:ptCount val="1"/>
                <c:pt idx="0">
                  <c:v>Naturistas</c:v>
                </c:pt>
              </c:strCache>
            </c:strRef>
          </c:tx>
          <c:spPr>
            <a:solidFill>
              <a:srgbClr val="D9B48F"/>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Sheet1!$F$2:$F$13</c:f>
              <c:numCache>
                <c:formatCode>General</c:formatCode>
                <c:ptCount val="12"/>
                <c:pt idx="0">
                  <c:v>120</c:v>
                </c:pt>
                <c:pt idx="1">
                  <c:v>180</c:v>
                </c:pt>
                <c:pt idx="2">
                  <c:v>180</c:v>
                </c:pt>
                <c:pt idx="3">
                  <c:v>240</c:v>
                </c:pt>
                <c:pt idx="4">
                  <c:v>300</c:v>
                </c:pt>
                <c:pt idx="5">
                  <c:v>300</c:v>
                </c:pt>
                <c:pt idx="6">
                  <c:v>360</c:v>
                </c:pt>
                <c:pt idx="7">
                  <c:v>360</c:v>
                </c:pt>
                <c:pt idx="8">
                  <c:v>360</c:v>
                </c:pt>
                <c:pt idx="9">
                  <c:v>420</c:v>
                </c:pt>
                <c:pt idx="10">
                  <c:v>420</c:v>
                </c:pt>
                <c:pt idx="11">
                  <c:v>480</c:v>
                </c:pt>
              </c:numCache>
            </c:numRef>
          </c:val>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Marketing de oct-2026 a dic-2027 (S/24,544)</a:t>
            </a:r>
          </a:p>
        </c:rich>
      </c:tx>
      <c:layout/>
      <c:overlay val="0"/>
    </c:title>
    <c:autoTitleDeleted val="0"/>
    <c:plotArea>
      <c:layout/>
      <c:doughnutChart>
        <c:varyColors val="1"/>
        <c:ser>
          <c:idx val="0"/>
          <c:order val="0"/>
          <c:tx>
            <c:strRef>
              <c:f>Sheet1!$B$1</c:f>
              <c:strCache>
                <c:ptCount val="1"/>
                <c:pt idx="0">
                  <c:v>Mezcla</c:v>
                </c:pt>
              </c:strCache>
            </c:strRef>
          </c:tx>
          <c:spPr>
            <a:solidFill>
              <a:schemeClr val="accent1"/>
            </a:solidFill>
            <a:ln w="9525" cap="flat">
              <a:solidFill>
                <a:srgbClr val="F9F9F9"/>
              </a:solidFill>
              <a:prstDash val="solid"/>
              <a:round/>
            </a:ln>
            <a:effectLst/>
          </c:spPr>
          <c:dPt>
            <c:idx val="0"/>
            <c:bubble3D val="0"/>
            <c:spPr>
              <a:solidFill>
                <a:srgbClr val="BA4036"/>
              </a:solidFill>
              <a:effectLst/>
            </c:spPr>
          </c:dPt>
          <c:dPt>
            <c:idx val="1"/>
            <c:bubble3D val="0"/>
            <c:spPr>
              <a:solidFill>
                <a:srgbClr val="E3A33B"/>
              </a:solidFill>
              <a:effectLst/>
            </c:spPr>
          </c:dPt>
          <c:dLbls>
            <c:dLbl>
              <c:idx val="0"/>
              <c:numFmt formatCode="0%" sourceLinked="0"/>
              <c:spPr/>
              <c:txPr>
                <a:bodyPr/>
                <a:lstStyle/>
                <a:p>
                  <a:pPr>
                    <a:defRPr sz="18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8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BTL S/18,136</c:v>
                </c:pt>
                <c:pt idx="1">
                  <c:v>Digital S/6,408</c:v>
                </c:pt>
              </c:strCache>
            </c:strRef>
          </c:cat>
          <c:val>
            <c:numRef>
              <c:f>Sheet1!$B$2:$B$3</c:f>
              <c:numCache>
                <c:ptCount val="2"/>
                <c:pt idx="0">
                  <c:v>18136</c:v>
                </c:pt>
                <c:pt idx="1">
                  <c:v>6408</c:v>
                </c:pt>
              </c:numCache>
            </c:numRef>
          </c:val>
        </c:ser>
        <c:firstSliceAng val="0"/>
        <c:holeSize val="58"/>
      </c:doughnutChart>
      <c:spPr>
        <a:noFill/>
        <a:ln>
          <a:noFill/>
        </a:ln>
        <a:effectLst/>
      </c:spPr>
    </c:plotArea>
    <c:legend>
      <c:legendPos val="b"/>
      <c:overlay val="0"/>
      <c:txPr>
        <a:bodyPr/>
        <a:lstStyle/>
        <a:p>
          <a:pPr>
            <a:defRPr sz="14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Precio por 20 g, en soles con IGV</a:t>
            </a:r>
          </a:p>
        </c:rich>
      </c:tx>
      <c:layout/>
      <c:overlay val="0"/>
    </c:title>
    <c:autoTitleDeleted val="0"/>
    <c:plotArea>
      <c:layout/>
      <c:barChart>
        <c:barDir val="bar"/>
        <c:grouping val="stacked"/>
        <c:varyColors val="0"/>
        <c:ser>
          <c:idx val="0"/>
          <c:order val="0"/>
          <c:tx>
            <c:strRef>
              <c:f>Sheet1!$B$1</c:f>
              <c:strCache>
                <c:ptCount val="1"/>
                <c:pt idx="0">
                  <c:v>AndiBite</c:v>
                </c:pt>
              </c:strCache>
            </c:strRef>
          </c:tx>
          <c:spPr>
            <a:solidFill>
              <a:srgbClr val="BA4036"/>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Sheet1!$A$2:$A$8</c:f>
              <c:multiLvlStrCache>
                <c:ptCount val="7"/>
                <c:lvl>
                  <c:pt idx="0">
                    <c:v>Bimbo Nutra Bien · S/1.67</c:v>
                  </c:pt>
                  <c:pt idx="1">
                    <c:v>Nutri H · S/3.20</c:v>
                  </c:pt>
                  <c:pt idx="2">
                    <c:v>Fika · S/4.00</c:v>
                  </c:pt>
                  <c:pt idx="3">
                    <c:v>Mamalama · S/4.10</c:v>
                  </c:pt>
                  <c:pt idx="4">
                    <c:v>Forticao x 12* · S/4.17</c:v>
                  </c:pt>
                  <c:pt idx="5">
                    <c:v>AndiBite pack de 12 WhatsApp · S/4.16</c:v>
                  </c:pt>
                  <c:pt idx="6">
                    <c:v>AndiBite pack de 6 stand · S/4.65</c:v>
                  </c:pt>
                </c:lvl>
              </c:multiLvlStrCache>
            </c:multiLvlStrRef>
          </c:cat>
          <c:val>
            <c:numRef>
              <c:f>Sheet1!$B$2:$B$8</c:f>
              <c:numCache>
                <c:formatCode>General</c:formatCode>
                <c:ptCount val="7"/>
                <c:pt idx="0">
                  <c:v>0</c:v>
                </c:pt>
                <c:pt idx="1">
                  <c:v>0</c:v>
                </c:pt>
                <c:pt idx="2">
                  <c:v>0</c:v>
                </c:pt>
                <c:pt idx="3">
                  <c:v>0</c:v>
                </c:pt>
                <c:pt idx="4">
                  <c:v>0</c:v>
                </c:pt>
                <c:pt idx="5">
                  <c:v>4.16</c:v>
                </c:pt>
                <c:pt idx="6">
                  <c:v>4.65</c:v>
                </c:pt>
              </c:numCache>
            </c:numRef>
          </c:val>
        </c:ser>
        <c:ser>
          <c:idx val="1"/>
          <c:order val="1"/>
          <c:tx>
            <c:strRef>
              <c:f>Sheet1!$C$1</c:f>
              <c:strCache>
                <c:ptCount val="1"/>
                <c:pt idx="0">
                  <c:v>Competencia</c:v>
                </c:pt>
              </c:strCache>
            </c:strRef>
          </c:tx>
          <c:spPr>
            <a:solidFill>
              <a:srgbClr val="D9B48F"/>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Sheet1!$A$2:$A$8</c:f>
              <c:multiLvlStrCache>
                <c:ptCount val="7"/>
                <c:lvl>
                  <c:pt idx="0">
                    <c:v>Bimbo Nutra Bien · S/1.67</c:v>
                  </c:pt>
                  <c:pt idx="1">
                    <c:v>Nutri H · S/3.20</c:v>
                  </c:pt>
                  <c:pt idx="2">
                    <c:v>Fika · S/4.00</c:v>
                  </c:pt>
                  <c:pt idx="3">
                    <c:v>Mamalama · S/4.10</c:v>
                  </c:pt>
                  <c:pt idx="4">
                    <c:v>Forticao x 12* · S/4.17</c:v>
                  </c:pt>
                  <c:pt idx="5">
                    <c:v>AndiBite pack de 12 WhatsApp · S/4.16</c:v>
                  </c:pt>
                  <c:pt idx="6">
                    <c:v>AndiBite pack de 6 stand · S/4.65</c:v>
                  </c:pt>
                </c:lvl>
              </c:multiLvlStrCache>
            </c:multiLvlStrRef>
          </c:cat>
          <c:val>
            <c:numRef>
              <c:f>Sheet1!$C$2:$C$8</c:f>
              <c:numCache>
                <c:formatCode>General</c:formatCode>
                <c:ptCount val="7"/>
                <c:pt idx="0">
                  <c:v>1.67</c:v>
                </c:pt>
                <c:pt idx="1">
                  <c:v>3.2</c:v>
                </c:pt>
                <c:pt idx="2">
                  <c:v>4</c:v>
                </c:pt>
                <c:pt idx="3">
                  <c:v>4.1</c:v>
                </c:pt>
                <c:pt idx="4">
                  <c:v>4.17</c:v>
                </c:pt>
                <c:pt idx="5">
                  <c:v>0</c:v>
                </c:pt>
                <c:pt idx="6">
                  <c:v>0</c:v>
                </c:pt>
              </c:numCache>
            </c:numRef>
          </c:val>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8D8C4"/>
              </a:solidFill>
              <a:prstDash val="solid"/>
              <a:round/>
            </a:ln>
          </c:spPr>
        </c:majorGridlines>
        <c:numFmt formatCode="&quot;S/&quot;0" sourceLinked="0"/>
        <c:majorTickMark val="out"/>
        <c:minorTickMark val="none"/>
        <c:tickLblPos val="low"/>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Inversión por tipo de medio (S/)</a:t>
            </a:r>
          </a:p>
        </c:rich>
      </c:tx>
      <c:layout/>
      <c:overlay val="0"/>
    </c:title>
    <c:autoTitleDeleted val="0"/>
    <c:plotArea>
      <c:layout/>
      <c:barChart>
        <c:barDir val="bar"/>
        <c:grouping val="clustered"/>
        <c:varyColors val="0"/>
        <c:ser>
          <c:idx val="0"/>
          <c:order val="0"/>
          <c:tx>
            <c:strRef>
              <c:f>Sheet1!$B$1</c:f>
              <c:strCache>
                <c:ptCount val="1"/>
                <c:pt idx="0">
                  <c:v>S/</c:v>
                </c:pt>
              </c:strCache>
            </c:strRef>
          </c:tx>
          <c:spPr>
            <a:solidFill>
              <a:srgbClr val="BA4036"/>
            </a:solidFill>
            <a:effectLst/>
          </c:spPr>
          <c:invertIfNegative val="0"/>
          <c:dLbls>
            <c:numFmt formatCode="&quot;S/&quot;#,##0" sourceLinked="0"/>
            <c:txPr>
              <a:bodyPr/>
              <a:lstStyle/>
              <a:p>
                <a:pPr>
                  <a:defRPr b="0" i="0" strike="noStrike" sz="1200" u="none">
                    <a:solidFill>
                      <a:srgbClr val="3B1A14"/>
                    </a:solidFill>
                    <a:latin typeface="+mn-lt"/>
                  </a:defRPr>
                </a:pPr>
              </a:p>
            </c:txPr>
            <c:showLegendKey val="0"/>
            <c:showVal val="1"/>
            <c:showCatName val="0"/>
            <c:showSerName val="0"/>
            <c:showPercent val="0"/>
            <c:showBubbleSize val="0"/>
            <c:showLeaderLines val="0"/>
          </c:dLbls>
          <c:cat>
            <c:multiLvlStrRef>
              <c:f>Sheet1!$A$2:$A$5</c:f>
              <c:multiLvlStrCache>
                <c:ptCount val="4"/>
                <c:lvl>
                  <c:pt idx="0">
                    <c:v>Ventas personales (17 %)</c:v>
                  </c:pt>
                  <c:pt idx="1">
                    <c:v>Publicidad (24 %)</c:v>
                  </c:pt>
                  <c:pt idx="2">
                    <c:v>Relaciones públicas (28 %)</c:v>
                  </c:pt>
                  <c:pt idx="3">
                    <c:v>Promociones (31 %)</c:v>
                  </c:pt>
                </c:lvl>
              </c:multiLvlStrCache>
            </c:multiLvlStrRef>
          </c:cat>
          <c:val>
            <c:numRef>
              <c:f>Sheet1!$B$2:$B$5</c:f>
              <c:numCache>
                <c:formatCode>General</c:formatCode>
                <c:ptCount val="4"/>
                <c:pt idx="0">
                  <c:v>4140</c:v>
                </c:pt>
                <c:pt idx="1">
                  <c:v>5950</c:v>
                </c:pt>
                <c:pt idx="2">
                  <c:v>6858</c:v>
                </c:pt>
                <c:pt idx="3">
                  <c:v>7596</c:v>
                </c:pt>
              </c:numCache>
            </c:numRef>
          </c:val>
        </c:ser>
        <c:dLbls>
          <c:numFmt formatCode="&quot;S/&quot;#,##0" sourceLinked="0"/>
          <c:txPr>
            <a:bodyPr/>
            <a:lstStyle/>
            <a:p>
              <a:pPr>
                <a:defRPr b="0" i="0" strike="noStrike" sz="1200" u="none">
                  <a:solidFill>
                    <a:srgbClr val="3B1A1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max val="900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(#21).
Buenos días. Somos el Grupo 2 y les presentamos el plan de marketing y lanzamiento de AndiBite, de octubre de 2026 a diciembre de 2027. AndiBite es un mini brownie con sangrecita de res y el hierro medido en cada lote. Carlos unió todo en esta plantilla (#22) y cada socio presenta su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(#21).
Seguimos la estructura de la clase: análisis situacional, objetivos, segmentación y posicionamiento, tácticas, presupuesto y control. Son 8 bloques con los 22 puntos del T2. Al lado de cada bloque está quién lo presenta.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(#1, #2 y #4) y Angie (#3).
Empezamos por el mapa: el Canvas del T1, el entorno con el PESTEL, la competencia y el FODA, que la clase llama la brújula estratégica.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(#1).
Este es el Canvas con las cifras del modelo v7. La propuesta de valor es el centro: un snack con hierro que el niño sí se come, con el hierro medido por lote. Lo que cambió desde el T1: ahora vendemos a padres A y B, en venta física, con sangrecita en polvo y una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(#1).
El plan se alinea al ODS 2, meta 2.2, que busca poner fin a la malnutrición. En Lima, uno de cada cuatro niños menores de 3 años tiene anemia. Ojo: el indicador oficial 2.2.3 mide a mujeres de 15 a 49 años, por eso decimos que contribuimos a la meta, no que movemos el indicador.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(#3).
El PESTEL revisa 19 variables del entorno. Las que pasan al FODA son seis oportunidades, como el plan contra la anemia y el internet en casa, y seis amenazas, como la inflación, el cacao y los octógonos. Cada dato ya tiene su fuente oficial y su fecha.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
Comparamos seis marcas con las que el padre nos va a comparar en la lonchera. Nutri H y Forticao también tienen hierro hemo, pero ninguno publica su análisis por lote. Somos de los más caros por 20 gramos, por eso al padre B le mostramos primero el pack de 12. La IA de la primera versión inventó precios y miligramos: los corregimos con las tiendas.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(#4).
Las fortalezas y debilidades dependen de nosotros; las oportunidades y amenazas vienen del entorno y del PESTEL. La fortaleza que más pesa es el hierro medido por lote. La debilidad más seria es depender de los stands con un marketing chico.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(#4).
El FODA cruzado convierte el diagnóstico en acciones. Aquí van dos estrategias por cuadrante; las 15 están en el documento. Ninguna cambia el presupuesto: todas usan lo que ya está en el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(#5, #6 y #7).
Ahora los números: cuánto mide el mercado, cuánto pensamos vender en 2027 y los tres objetivos SMART.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(#5).
Vamos de lo grande a lo que podemos vender. El núcleo son 46,000 hogares A y B con niños de 4 a 11 años en Lima Top y Lima Moderna, que gastan unos 17 millones al año. Nuestra meta del año 1 es solo el 1.4 % de ese núcleo.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(#5).
El hogar A gana unos 14,600 soles al mes y el B unos 7,800. Los dos invierten en educación y salud, y de ahí sale AndiBite. Además, 83 % cambia su compra por los octógonos y 42 % desconfía de lo envasado: la promesa sola no alcanza, hay que mostrar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(#6).
La proyección se armó de abajo hacia arriba: cuántos brownies vende un punto por día, por los días y los puntos abiertos, más ferias, eventos, colegios y naturistas. Enero arranca con 870 porque es vacaciones y hay un solo punto. Desde agosto, con el tercer punto y cinco colegios, pasamos los 5,200 al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(#6).
Probamos qué pasa si los stands venden 20 % menos o 20 % más. Con 20 % menos todavía ganamos, aunque poco, y la línea de crédito cubre la caja de agosto. Por eso el KPI más importante es cuántos brownies vende cada punto por día: el mínimo es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(#7).
Como somos una marca nueva, no medimos participación de mercado: medimos ventas, recompra y captación. Cada objetivo tiene número, fecha y un KPI que se mira cada domingo. El tercero depende de que el laboratorio confirme que no lleva octógono, porque sin eso no entramos a los colegios.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(#8 y #9).
Pasamos al cliente: qué le importa, qué tribus forman nuestro público y quiénes son Claudia y Rodrigo.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(#8).
Usamos el prompt 1 de la clase y revisamos el resultado con nuestras entrevistas. El patrón más fuerte: lo nutritivo vuelve intacto, y sin la prueba del niño no hay compra. A la IA le quitamos frases como "previene la anemia" y la idea de vender por suscripción.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(#9).
La clase pide tribus, no solo demografía. La Guardiana busca pruebas, el Resolutivo busca tiempo y el Consejero recomienda. Al Consejero no se le llega con pauta, sino con muestras y el informe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(#9).
Claudia es la madre del segmento A: lee etiquetas y le pregunta al pediatra antes de creerle a un empaque. Lo que la convence es el informe del lote, que ve con el QR. El pack de 6 en el stand, a S/27.90, está dentro de lo que pagaría.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(#9).
Rodrigo es el padre del segmento B, que pesa 45 % del volumen. No quiere un discurso de salud: quiere resolver la semana. Hay una brecha de precio con el pack de 6, por eso le mostramos primero el pack de 12, a S/4.16 por brownie; el focus 2 debe confirmar si eso la cierra.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(#10 y #11) y Carlos (#12).
Ahora la marca: cómo queremos que nos recuerden, el slogan y el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(#10).
Con el prompt 3 de la clase armamos la frase de posicionamiento con la fórmula para, que busca, ofrece y porque. La razón para creer es el laboratorio: cada lote se analiza y el padre ve el resultado. El territorio es "Medido, no prometido".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(#10).
El eje horizontal es el precio por 20 gramos y el vertical, la evidencia que el padre puede verificar. Nutri H está cerca, pero nadie publica su análisis por lote. Si no publicamos el informe del laboratorio, nos quedamos al lado de Nutri H, pero más caros.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(#11).
Comparamos el slogan con otras dos frases de marca y ganó con 28 de 30. Es corto, tiene ritmo y dice algo que solo nosotros hacemos: medir el hierro. Tiene una condición: el informe del laboratorio debe existir desde el primer lote que se vende.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Paty (#11).
Para cada segmento definimos qué palabras, imágenes y emociones debe dejar la marca. A Claudia le habla el dato; a Rodrigo, la semana resuelta. Lo que los une es la lonchera que vuelve vacía y la sensación de alivio.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(#12).
El manual ordena la marca que ya teníamos: el logo, los colores, la letra y el tono. AndiBite habla como una nutricionista amiga que además es mamá. El rojo ladrillo se guarda para lo que el padre debe ver primero: el dato, el precio o el llamado a escanear.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(#12).
El tono tiene reglas claras. Hablamos de hierro medido, no de enfermedad, porque "previene la anemia" se puede sancionar como publicidad engañosa. Y siempre le hablamos al adulto, nunca al niño.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(#13, #14 y #15).
Ahora la estrategia se vuelve campaña: la idea, el camino digital y el calendario de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(#13).
La campaña se llama "Vuelve vacía". Nace del insight real: lo nutritivo regresa intacto. La lonchera vacía es la prueba del niño y el informe del lote es la prueba del padre. Es legal por diseño: no habla de anemia y no necesita ninguna cifra para funcionar.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(#13).
En la historia el héroe es el padre, no la marca; AndiBite es el guía con un plan de tres pasos. Si en enero todavía no hay informe del laboratorio, no decimos "medido": usamos la frase de apoyo hasta tenerlo.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(#13).
Tres de cada cuatro soles van a lo cara a cara: degustación, ferias, eventos, material y embajadoras. Lo digital es el 26 %. No usamos televisión ni radio: no caben en el presupuesto y al padre A y B lo encontramos en el mall, el colegio y el chat del salón.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(#14).
Este es el camino del cliente. El anuncio lleva al WhatsApp o al stand; ahí el niño prueba y el padre compra. Después el QR abre la app, que avisa cuando el pack se acaba, y la recompra sale en un clic. El paso de la recompra es la clave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(#14).
La regla de la clase: cada anuncio se prepara con 5 ganchos, 3 cuerpos y 2 llamadas a la acción, es decir 30 versiones. Como la pauta es chica, no las lanzamos todas a la vez: probamos por rondas y nos quedamos con la mejor. Son 3 anuncios: uno para Claudia, uno para Rodrigo y un testimonial.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(#15).
El calendario asegura que ninguna fecha clave nos encuentre sin piezas. Cada mes tiene su tema, su pauta y su meta. La mitad de las publicaciones habla en el tono de Claudia y la otra mitad en el de Rodrigo, y el contenido orgánico no tiene costo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(#16 a #18) y Ade (#19).
Ahora las tácticas, cuánto cuesta, cuándo se hace y cómo lo controlamos.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(#16).
La clase nos da una pregunta por cada P. Lo más importante: la plaza es la venta física y la promoción es sobre todo cara a cara. Las personas también son marketing: los vendedores se capacitan antes de abrir para saber qué se dice y qué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(#16).
Los precios no se cambian. Por 20 gramos, el pack de 12 por WhatsApp cuesta casi lo mismo que Fika y Mamalama. Por ese centavo extra el padre recibe el hierro medido y la app. Bimbo es otro mercado: masivo y sin hierro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(#17).
El presupuesto total es S/24,544 en 15 meses, unos 44 céntimos por brownie en 2027. Los S/900 al mes no cambian: S/700 de pauta, degustación y material y S/200 de embajadoras. El total suma también el lanzamiento, las dos ferias y los 40 eventos, que ya estaban en otras líneas del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(#17).
Por tipo de medio, lo que más pesa son las promociones, como muestras, degustación y embajadoras, y las relaciones públicas, como ferias, eventos e influencers. Por fase, la inversión más grande es la de crecer, de marzo a julio, cuando entran los colegios y la feria del Día del Niño.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(#17).
Usamos el prompt 4 de la clase con datos de Meta para Perú. La pauta de S/5,050 traería unos 613 contactos a S/8.23 cada uno. Con el primer pedido solo vuelven 72 céntimos por sol: la pauta no se paga sola, se paga con la recompra. Le corregimos a la IA el ROAS con IGV y los benchmarks de Estados Unidos.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(#17).
El ROI de marketing compara lo que deja la venta con lo que cuesta el marketing. Como parte de la venta ocurriría igual, usamos como cifra principal el escenario en que el marketing explica el 75 %: 74 %. El marketing se paga si explica al menos el 43 %.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(#18).
El Gantt muestra las 12 actividades en 15 meses, con la inversión y la meta de cada mes. Los hitos son las aperturas de los tres puntos, las dos ferias y las fechas comerciales. Las fechas que dependen de un contrato con el mall o la feria siguen por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 (#19).
Controlar es comparar cada semana lo que pasó con lo que dijimos. Cada domingo revisamos este tablero en 30 minutos con el semáforo. Si algo está en rojo, sale con una acción, un responsable y una fecha. El KPI más importante es el de brownies por día: el mínimo para no perder es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(#20).
El caso NutriSmart de la clase todavía no está en el Drive. Dejamos el espacio listo.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(#20).
PENDIENTE. Cuando el caso NutriSmart esté en el Drive, Diana completa aquí 3 aprendizajes: qué hizo NutriSmart y qué aplicamos en AndiBite. Hoy no inventamos nada sobre 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(#21).
En resumen: un problema real, un producto que el niño sí se come y un público que pide pruebas. Con S/24,544 en 15 meses buscamos vender 52,331 brownies en 2027. La meta es prudente: es el 1.4 % del núcleo.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(#21).
Tres conclusiones: el plan es una sola línea, el laboratorio es la base y la venta física manda. Cada riesgo grande ya tiene su plan B. Lo primero que hay que cerrar es el informe del laboratorio del primer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(#21).
En la lonchera de cada día, el niño da su prueba y el padre tiene la suya. Hierro medido. Sabor a brownie.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246120"/>
            <a:ext cx="6766560" cy="77724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
        <p:nvSpPr>
          <p:cNvPr id="3" name="Text 0"/>
          <p:cNvSpPr/>
          <p:nvPr>
            <p:ph idx="101" type="body" hasCustomPrompt="1"/>
          </p:nvPr>
        </p:nvSpPr>
        <p:spPr>
          <a:xfrm>
            <a:off x="731520" y="4069080"/>
            <a:ext cx="6766560" cy="7315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IERRE">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34440"/>
            <a:ext cx="6766560" cy="14630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6949440" cy="1417320"/>
          </a:xfrm>
          <a:prstGeom prst="rect">
            <a:avLst/>
          </a:prstGeom>
          <a:noFill/>
          <a:ln/>
        </p:spPr>
        <p:txBody>
          <a:bodyPr wrap="square" rtlCol="0"/>
          <a:lstStyle>
            <a:lvl1pPr algn="l" indent="0" marL="0">
              <a:buNone/>
              <a:defRPr lang="en-US" sz="4400" b="1" dirty="0">
                <a:solidFill>
                  <a:schemeClr val="bg2"/>
                </a:solidFill>
              </a:defRPr>
            </a:lvl1pPr>
          </a:lstStyle>
          <a:p>
            <a:pPr algn="l" indent="0" marL="0">
              <a:buNone/>
            </a:pPr>
            <a:endParaRPr lang="en-US" sz="4400" dirty="0"/>
          </a:p>
        </p:txBody>
      </p:sp>
      <p:sp>
        <p:nvSpPr>
          <p:cNvPr id="3" name="Text 0"/>
          <p:cNvSpPr/>
          <p:nvPr>
            <p:ph idx="101" type="body" hasCustomPrompt="1"/>
          </p:nvPr>
        </p:nvSpPr>
        <p:spPr>
          <a:xfrm>
            <a:off x="731520" y="4069080"/>
            <a:ext cx="6949440" cy="11887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pic>
        <p:nvPicPr>
          <p:cNvPr id="4" name="Image 0" descr="img/logo_light.png">    </p:cNvPr>
          <p:cNvPicPr>
            <a:picLocks noChangeAspect="1"/>
          </p:cNvPicPr>
          <p:nvPr/>
        </p:nvPicPr>
        <p:blipFill>
          <a:blip r:embed="rId1"/>
          <a:stretch>
            <a:fillRect/>
          </a:stretch>
        </p:blipFill>
        <p:spPr>
          <a:xfrm>
            <a:off x="731520" y="5989320"/>
            <a:ext cx="1325880" cy="4572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BF3E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455664"/>
            <a:ext cx="7315200" cy="256032"/>
          </a:xfrm>
          <a:prstGeom prst="rect">
            <a:avLst/>
          </a:prstGeom>
          <a:noFill/>
          <a:ln/>
        </p:spPr>
        <p:txBody>
          <a:bodyPr wrap="square" lIns="0" tIns="0" rIns="0" bIns="0" rtlCol="0" anchor="ctr"/>
          <a:lstStyle/>
          <a:p>
            <a:pPr indent="0" marL="0">
              <a:buNone/>
            </a:pPr>
            <a:r>
              <a:rPr lang="en-US" sz="1000" dirty="0">
                <a:solidFill>
                  <a:schemeClr val="accent2"/>
                </a:solidFill>
              </a:rPr>
              <a:t>AndiBite · Grupo 2 · T2 Plan de marketing</a:t>
            </a:r>
            <a:endParaRPr lang="en-US" sz="1000" dirty="0"/>
          </a:p>
        </p:txBody>
      </p:sp>
      <p:pic>
        <p:nvPicPr>
          <p:cNvPr id="5" name="Image 0" descr="img/logo_color.png">    </p:cNvPr>
          <p:cNvPicPr>
            <a:picLocks noChangeAspect="1"/>
          </p:cNvPicPr>
          <p:nvPr/>
        </p:nvPicPr>
        <p:blipFill>
          <a:blip r:embed="rId1"/>
          <a:stretch>
            <a:fillRect/>
          </a:stretch>
        </p:blipFill>
        <p:spPr>
          <a:xfrm>
            <a:off x="10469880" y="6391656"/>
            <a:ext cx="868680" cy="297180"/>
          </a:xfrm>
          <a:prstGeom prst="rect">
            <a:avLst/>
          </a:prstGeom>
        </p:spPr>
      </p:pic>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0-3.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5.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5.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5.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logo_light.png">    </p:cNvPr>
          <p:cNvPicPr>
            <a:picLocks noChangeAspect="1"/>
          </p:cNvPicPr>
          <p:nvPr/>
        </p:nvPicPr>
        <p:blipFill>
          <a:blip r:embed="rId1"/>
          <a:stretch>
            <a:fillRect/>
          </a:stretch>
        </p:blipFill>
        <p:spPr>
          <a:xfrm>
            <a:off x="731520" y="1005840"/>
            <a:ext cx="5120640" cy="1755648"/>
          </a:xfrm>
          <a:prstGeom prst="rect">
            <a:avLst/>
          </a:prstGeom>
        </p:spPr>
      </p:pic>
      <p:sp>
        <p:nvSpPr>
          <p:cNvPr id="3" name="Text 0"/>
          <p:cNvSpPr/>
          <p:nvPr>
            <p:ph idx="100" type="title" hasCustomPrompt="1"/>
          </p:nvPr>
        </p:nvSpPr>
        <p:spPr>
          <a:xfrm>
            <a:off x="731520" y="3246120"/>
            <a:ext cx="6766560" cy="777240"/>
          </a:xfrm>
          <a:prstGeom prst="rect">
            <a:avLst/>
          </a:prstGeom>
          <a:noFill/>
          <a:ln/>
        </p:spPr>
        <p:txBody>
          <a:bodyPr wrap="square" lIns="0" tIns="0" rIns="0" bIns="0" rtlCol="0" anchor="t"/>
          <a:lstStyle/>
          <a:p>
            <a:pPr algn="l" indent="0" marL="0">
              <a:buNone/>
            </a:pPr>
            <a:r>
              <a:rPr lang="en-US" sz="4000" b="1" dirty="0">
                <a:solidFill>
                  <a:schemeClr val="bg2"/>
                </a:solidFill>
              </a:rPr>
              <a:t>Plan de marketing</a:t>
            </a:r>
            <a:endParaRPr lang="en-US" sz="4000" dirty="0"/>
          </a:p>
        </p:txBody>
      </p:sp>
      <p:sp>
        <p:nvSpPr>
          <p:cNvPr id="4" name="Text 0"/>
          <p:cNvSpPr/>
          <p:nvPr>
            <p:ph idx="101" type="body" hasCustomPrompt="1"/>
          </p:nvPr>
        </p:nvSpPr>
        <p:spPr>
          <a:xfrm>
            <a:off x="731520" y="4069080"/>
            <a:ext cx="6766560" cy="731520"/>
          </a:xfrm>
          <a:prstGeom prst="rect">
            <a:avLst/>
          </a:prstGeom>
          <a:noFill/>
          <a:ln/>
        </p:spPr>
        <p:txBody>
          <a:bodyPr wrap="square" lIns="0" tIns="0" rIns="0" bIns="0" rtlCol="0" anchor="t"/>
          <a:lstStyle/>
          <a:p>
            <a:pPr indent="0" marL="0">
              <a:buNone/>
            </a:pPr>
            <a:r>
              <a:rPr lang="en-US" sz="1800" dirty="0">
                <a:solidFill>
                  <a:schemeClr val="accent5"/>
                </a:solidFill>
              </a:rPr>
              <a:t>y lanzamiento · T2 · Unidad 3 · Oct-2026 a dic-2027</a:t>
            </a:r>
            <a:endParaRPr lang="en-US" sz="1800" dirty="0"/>
          </a:p>
        </p:txBody>
      </p:sp>
      <p:sp>
        <p:nvSpPr>
          <p:cNvPr id="5" name="Text 2"/>
          <p:cNvSpPr txBox="1"/>
          <p:nvPr/>
        </p:nvSpPr>
        <p:spPr>
          <a:xfrm>
            <a:off x="731520" y="5257800"/>
            <a:ext cx="6949440" cy="320040"/>
          </a:xfrm>
          <a:prstGeom prst="rect">
            <a:avLst/>
          </a:prstGeom>
          <a:noFill/>
          <a:ln/>
        </p:spPr>
        <p:txBody>
          <a:bodyPr wrap="square" lIns="0" tIns="0" rIns="0" bIns="0" rtlCol="0" anchor="t"/>
          <a:lstStyle/>
          <a:p>
            <a:pPr indent="0" marL="0">
              <a:buNone/>
            </a:pPr>
            <a:r>
              <a:rPr lang="en-US" sz="1400" dirty="0">
                <a:solidFill>
                  <a:schemeClr val="bg2"/>
                </a:solidFill>
              </a:rPr>
              <a:t>Grupo 2 · Diana Ayoso · Carlos Inga · Angie Blas · Patricia Cárdenas · Adela Robles</a:t>
            </a:r>
            <a:endParaRPr lang="en-US" sz="1400" dirty="0"/>
          </a:p>
        </p:txBody>
      </p:sp>
      <p:sp>
        <p:nvSpPr>
          <p:cNvPr id="6" name="Text 3"/>
          <p:cNvSpPr txBox="1"/>
          <p:nvPr/>
        </p:nvSpPr>
        <p:spPr>
          <a:xfrm>
            <a:off x="731520" y="5623560"/>
            <a:ext cx="6949440" cy="320040"/>
          </a:xfrm>
          <a:prstGeom prst="rect">
            <a:avLst/>
          </a:prstGeom>
          <a:noFill/>
          <a:ln/>
        </p:spPr>
        <p:txBody>
          <a:bodyPr wrap="square" lIns="0" tIns="0" rIns="0" bIns="0" rtlCol="0" anchor="t"/>
          <a:lstStyle/>
          <a:p>
            <a:pPr indent="0" marL="0">
              <a:buNone/>
            </a:pPr>
            <a:r>
              <a:rPr lang="en-US" sz="1200" dirty="0">
                <a:solidFill>
                  <a:schemeClr val="accent5"/>
                </a:solidFill>
              </a:rPr>
              <a:t>Desarrollo y lanzamiento de nuevos productos · Prof. Paola Cevallos · Octubre de 2026</a:t>
            </a:r>
            <a:endParaRPr lang="en-US" sz="1200" dirty="0"/>
          </a:p>
        </p:txBody>
      </p:sp>
      <p:pic>
        <p:nvPicPr>
          <p:cNvPr id="7" name="Image 1" descr="img/B1_frente.jpg">    </p:cNvPr>
          <p:cNvPicPr>
            <a:picLocks noChangeAspect="1"/>
          </p:cNvPicPr>
          <p:nvPr/>
        </p:nvPicPr>
        <p:blipFill>
          <a:blip r:embed="rId2"/>
          <a:stretch>
            <a:fillRect/>
          </a:stretch>
        </p:blipFill>
        <p:spPr>
          <a:xfrm rot="240000">
            <a:off x="8001000" y="548640"/>
            <a:ext cx="4023360" cy="55961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AGENDA · 22 PUNTOS EN 8 BLOQUES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recorrido del plan</a:t>
            </a:r>
            <a:endParaRPr lang="en-US" sz="3400" dirty="0"/>
          </a:p>
        </p:txBody>
      </p:sp>
      <p:sp>
        <p:nvSpPr>
          <p:cNvPr id="4" name="Shape 2"/>
          <p:cNvSpPr/>
          <p:nvPr/>
        </p:nvSpPr>
        <p:spPr>
          <a:xfrm>
            <a:off x="548640" y="1508760"/>
            <a:ext cx="2633472" cy="2167128"/>
          </a:xfrm>
          <a:prstGeom prst="roundRect">
            <a:avLst>
              <a:gd name="adj" fmla="val 5063"/>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777240" y="1673352"/>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bg1"/>
                </a:solidFill>
              </a:rPr>
              <a:t>01</a:t>
            </a:r>
            <a:endParaRPr lang="en-US" sz="1400" dirty="0"/>
          </a:p>
          <a:p>
            <a:pPr indent="0" marL="0">
              <a:spcAft>
                <a:spcPts val="400"/>
              </a:spcAft>
              <a:buNone/>
            </a:pPr>
            <a:r>
              <a:rPr lang="en-US" sz="1700" b="1" dirty="0">
                <a:solidFill>
                  <a:schemeClr val="bg1"/>
                </a:solidFill>
              </a:rPr>
              <a:t>Análisis situacional</a:t>
            </a:r>
            <a:endParaRPr lang="en-US" sz="1400" dirty="0"/>
          </a:p>
          <a:p>
            <a:pPr indent="0" marL="0">
              <a:spcAft>
                <a:spcPts val="400"/>
              </a:spcAft>
              <a:buNone/>
            </a:pPr>
            <a:r>
              <a:rPr lang="en-US" sz="1200" dirty="0">
                <a:solidFill>
                  <a:schemeClr val="bg1"/>
                </a:solidFill>
              </a:rPr>
              <a:t>#1 Canvas · #3 PESTEL · #2 Benchmark · #4 FODA</a:t>
            </a:r>
            <a:endParaRPr lang="en-US" sz="1400" dirty="0"/>
          </a:p>
          <a:p>
            <a:pPr indent="0" marL="0">
              <a:spcAft>
                <a:spcPts val="400"/>
              </a:spcAft>
              <a:buNone/>
            </a:pPr>
            <a:r>
              <a:rPr lang="en-US" sz="1100" i="1" dirty="0">
                <a:solidFill>
                  <a:schemeClr val="bg2"/>
                </a:solidFill>
              </a:rPr>
              <a:t>Diana y Angie</a:t>
            </a:r>
            <a:endParaRPr lang="en-US" sz="1400" dirty="0"/>
          </a:p>
        </p:txBody>
      </p:sp>
      <p:sp>
        <p:nvSpPr>
          <p:cNvPr id="6" name="Shape 4"/>
          <p:cNvSpPr/>
          <p:nvPr/>
        </p:nvSpPr>
        <p:spPr>
          <a:xfrm>
            <a:off x="3364992" y="1508760"/>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3593592" y="1673352"/>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02</a:t>
            </a:r>
            <a:endParaRPr lang="en-US" sz="1400" dirty="0"/>
          </a:p>
          <a:p>
            <a:pPr indent="0" marL="0">
              <a:spcAft>
                <a:spcPts val="400"/>
              </a:spcAft>
              <a:buNone/>
            </a:pPr>
            <a:r>
              <a:rPr lang="en-US" sz="1700" b="1" dirty="0">
                <a:solidFill>
                  <a:schemeClr val="tx2"/>
                </a:solidFill>
              </a:rPr>
              <a:t>Mercado</a:t>
            </a:r>
            <a:endParaRPr lang="en-US" sz="1400" dirty="0"/>
          </a:p>
          <a:p>
            <a:pPr indent="0" marL="0">
              <a:spcAft>
                <a:spcPts val="400"/>
              </a:spcAft>
              <a:buNone/>
            </a:pPr>
            <a:r>
              <a:rPr lang="en-US" sz="1200" dirty="0">
                <a:solidFill>
                  <a:schemeClr val="tx1"/>
                </a:solidFill>
              </a:rPr>
              <a:t>#5 Datos del mercado · #6 Demanda 2027 · #7 SMART</a:t>
            </a:r>
            <a:endParaRPr lang="en-US" sz="1400" dirty="0"/>
          </a:p>
          <a:p>
            <a:pPr indent="0" marL="0">
              <a:spcAft>
                <a:spcPts val="400"/>
              </a:spcAft>
              <a:buNone/>
            </a:pPr>
            <a:r>
              <a:rPr lang="en-US" sz="1100" i="1" dirty="0">
                <a:solidFill>
                  <a:schemeClr val="accent2"/>
                </a:solidFill>
              </a:rPr>
              <a:t>Ade</a:t>
            </a:r>
            <a:endParaRPr lang="en-US" sz="1400" dirty="0"/>
          </a:p>
        </p:txBody>
      </p:sp>
      <p:sp>
        <p:nvSpPr>
          <p:cNvPr id="8" name="Shape 6"/>
          <p:cNvSpPr/>
          <p:nvPr/>
        </p:nvSpPr>
        <p:spPr>
          <a:xfrm>
            <a:off x="6181344" y="1508760"/>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6409944" y="1673352"/>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03</a:t>
            </a:r>
            <a:endParaRPr lang="en-US" sz="1400" dirty="0"/>
          </a:p>
          <a:p>
            <a:pPr indent="0" marL="0">
              <a:spcAft>
                <a:spcPts val="400"/>
              </a:spcAft>
              <a:buNone/>
            </a:pPr>
            <a:r>
              <a:rPr lang="en-US" sz="1700" b="1" dirty="0">
                <a:solidFill>
                  <a:schemeClr val="tx2"/>
                </a:solidFill>
              </a:rPr>
              <a:t>Cliente</a:t>
            </a:r>
            <a:endParaRPr lang="en-US" sz="1400" dirty="0"/>
          </a:p>
          <a:p>
            <a:pPr indent="0" marL="0">
              <a:spcAft>
                <a:spcPts val="400"/>
              </a:spcAft>
              <a:buNone/>
            </a:pPr>
            <a:r>
              <a:rPr lang="en-US" sz="1200" dirty="0">
                <a:solidFill>
                  <a:schemeClr val="tx1"/>
                </a:solidFill>
              </a:rPr>
              <a:t>#8 Qué le importa · #9 Segmentación y buyer persona</a:t>
            </a:r>
            <a:endParaRPr lang="en-US" sz="1400" dirty="0"/>
          </a:p>
          <a:p>
            <a:pPr indent="0" marL="0">
              <a:spcAft>
                <a:spcPts val="400"/>
              </a:spcAft>
              <a:buNone/>
            </a:pPr>
            <a:r>
              <a:rPr lang="en-US" sz="1100" i="1" dirty="0">
                <a:solidFill>
                  <a:schemeClr val="accent2"/>
                </a:solidFill>
              </a:rPr>
              <a:t>Paty</a:t>
            </a:r>
            <a:endParaRPr lang="en-US" sz="1400" dirty="0"/>
          </a:p>
        </p:txBody>
      </p:sp>
      <p:sp>
        <p:nvSpPr>
          <p:cNvPr id="10" name="Shape 8"/>
          <p:cNvSpPr/>
          <p:nvPr/>
        </p:nvSpPr>
        <p:spPr>
          <a:xfrm>
            <a:off x="8997696" y="1508760"/>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9226296" y="1673352"/>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04</a:t>
            </a:r>
            <a:endParaRPr lang="en-US" sz="1400" dirty="0"/>
          </a:p>
          <a:p>
            <a:pPr indent="0" marL="0">
              <a:spcAft>
                <a:spcPts val="400"/>
              </a:spcAft>
              <a:buNone/>
            </a:pPr>
            <a:r>
              <a:rPr lang="en-US" sz="1700" b="1" dirty="0">
                <a:solidFill>
                  <a:schemeClr val="tx2"/>
                </a:solidFill>
              </a:rPr>
              <a:t>Estrategia de marca</a:t>
            </a:r>
            <a:endParaRPr lang="en-US" sz="1400" dirty="0"/>
          </a:p>
          <a:p>
            <a:pPr indent="0" marL="0">
              <a:spcAft>
                <a:spcPts val="400"/>
              </a:spcAft>
              <a:buNone/>
            </a:pPr>
            <a:r>
              <a:rPr lang="en-US" sz="1200" dirty="0">
                <a:solidFill>
                  <a:schemeClr val="tx1"/>
                </a:solidFill>
              </a:rPr>
              <a:t>#10 Posicionamiento · #11 Slogan · #12 Manual</a:t>
            </a:r>
            <a:endParaRPr lang="en-US" sz="1400" dirty="0"/>
          </a:p>
          <a:p>
            <a:pPr indent="0" marL="0">
              <a:spcAft>
                <a:spcPts val="400"/>
              </a:spcAft>
              <a:buNone/>
            </a:pPr>
            <a:r>
              <a:rPr lang="en-US" sz="1100" i="1" dirty="0">
                <a:solidFill>
                  <a:schemeClr val="accent2"/>
                </a:solidFill>
              </a:rPr>
              <a:t>Paty y Carlos</a:t>
            </a:r>
            <a:endParaRPr lang="en-US" sz="1400" dirty="0"/>
          </a:p>
        </p:txBody>
      </p:sp>
      <p:sp>
        <p:nvSpPr>
          <p:cNvPr id="12" name="Shape 10"/>
          <p:cNvSpPr/>
          <p:nvPr/>
        </p:nvSpPr>
        <p:spPr>
          <a:xfrm>
            <a:off x="548640" y="3858768"/>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777240" y="4023360"/>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05</a:t>
            </a:r>
            <a:endParaRPr lang="en-US" sz="1400" dirty="0"/>
          </a:p>
          <a:p>
            <a:pPr indent="0" marL="0">
              <a:spcAft>
                <a:spcPts val="400"/>
              </a:spcAft>
              <a:buNone/>
            </a:pPr>
            <a:r>
              <a:rPr lang="en-US" sz="1700" b="1" dirty="0">
                <a:solidFill>
                  <a:schemeClr val="tx2"/>
                </a:solidFill>
              </a:rPr>
              <a:t>Comunicación</a:t>
            </a:r>
            <a:endParaRPr lang="en-US" sz="1400" dirty="0"/>
          </a:p>
          <a:p>
            <a:pPr indent="0" marL="0">
              <a:spcAft>
                <a:spcPts val="400"/>
              </a:spcAft>
              <a:buNone/>
            </a:pPr>
            <a:r>
              <a:rPr lang="en-US" sz="1200" dirty="0">
                <a:solidFill>
                  <a:schemeClr val="tx1"/>
                </a:solidFill>
              </a:rPr>
              <a:t>#13 Campaña · #14 Digital y Meta Ads · #15 Calendario</a:t>
            </a:r>
            <a:endParaRPr lang="en-US" sz="1400" dirty="0"/>
          </a:p>
          <a:p>
            <a:pPr indent="0" marL="0">
              <a:spcAft>
                <a:spcPts val="400"/>
              </a:spcAft>
              <a:buNone/>
            </a:pPr>
            <a:r>
              <a:rPr lang="en-US" sz="1100" i="1" dirty="0">
                <a:solidFill>
                  <a:schemeClr val="accent2"/>
                </a:solidFill>
              </a:rPr>
              <a:t>Carlos</a:t>
            </a:r>
            <a:endParaRPr lang="en-US" sz="1400" dirty="0"/>
          </a:p>
        </p:txBody>
      </p:sp>
      <p:sp>
        <p:nvSpPr>
          <p:cNvPr id="14" name="Shape 12"/>
          <p:cNvSpPr/>
          <p:nvPr/>
        </p:nvSpPr>
        <p:spPr>
          <a:xfrm>
            <a:off x="3364992" y="3858768"/>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Text 13"/>
          <p:cNvSpPr txBox="1"/>
          <p:nvPr/>
        </p:nvSpPr>
        <p:spPr>
          <a:xfrm>
            <a:off x="3593592" y="4023360"/>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06</a:t>
            </a:r>
            <a:endParaRPr lang="en-US" sz="1400" dirty="0"/>
          </a:p>
          <a:p>
            <a:pPr indent="0" marL="0">
              <a:spcAft>
                <a:spcPts val="400"/>
              </a:spcAft>
              <a:buNone/>
            </a:pPr>
            <a:r>
              <a:rPr lang="en-US" sz="1700" b="1" dirty="0">
                <a:solidFill>
                  <a:schemeClr val="tx2"/>
                </a:solidFill>
              </a:rPr>
              <a:t>Mezcla y ejecución</a:t>
            </a:r>
            <a:endParaRPr lang="en-US" sz="1400" dirty="0"/>
          </a:p>
          <a:p>
            <a:pPr indent="0" marL="0">
              <a:spcAft>
                <a:spcPts val="400"/>
              </a:spcAft>
              <a:buNone/>
            </a:pPr>
            <a:r>
              <a:rPr lang="en-US" sz="1200" dirty="0">
                <a:solidFill>
                  <a:schemeClr val="tx1"/>
                </a:solidFill>
              </a:rPr>
              <a:t>#16 7P · #17 Presupuesto · #18 Gantt · #19 KPI</a:t>
            </a:r>
            <a:endParaRPr lang="en-US" sz="1400" dirty="0"/>
          </a:p>
          <a:p>
            <a:pPr indent="0" marL="0">
              <a:spcAft>
                <a:spcPts val="400"/>
              </a:spcAft>
              <a:buNone/>
            </a:pPr>
            <a:r>
              <a:rPr lang="en-US" sz="1100" i="1" dirty="0">
                <a:solidFill>
                  <a:schemeClr val="accent2"/>
                </a:solidFill>
              </a:rPr>
              <a:t>Angie y Ade</a:t>
            </a:r>
            <a:endParaRPr lang="en-US" sz="1400" dirty="0"/>
          </a:p>
        </p:txBody>
      </p:sp>
      <p:sp>
        <p:nvSpPr>
          <p:cNvPr id="16" name="Shape 14"/>
          <p:cNvSpPr/>
          <p:nvPr/>
        </p:nvSpPr>
        <p:spPr>
          <a:xfrm>
            <a:off x="6181344" y="3858768"/>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Text 15"/>
          <p:cNvSpPr txBox="1"/>
          <p:nvPr/>
        </p:nvSpPr>
        <p:spPr>
          <a:xfrm>
            <a:off x="6409944" y="4023360"/>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07</a:t>
            </a:r>
            <a:endParaRPr lang="en-US" sz="1400" dirty="0"/>
          </a:p>
          <a:p>
            <a:pPr indent="0" marL="0">
              <a:spcAft>
                <a:spcPts val="400"/>
              </a:spcAft>
              <a:buNone/>
            </a:pPr>
            <a:r>
              <a:rPr lang="en-US" sz="1700" b="1" dirty="0">
                <a:solidFill>
                  <a:schemeClr val="tx2"/>
                </a:solidFill>
              </a:rPr>
              <a:t>Caso</a:t>
            </a:r>
            <a:endParaRPr lang="en-US" sz="1400" dirty="0"/>
          </a:p>
          <a:p>
            <a:pPr indent="0" marL="0">
              <a:spcAft>
                <a:spcPts val="400"/>
              </a:spcAft>
              <a:buNone/>
            </a:pPr>
            <a:r>
              <a:rPr lang="en-US" sz="1200" dirty="0">
                <a:solidFill>
                  <a:schemeClr val="tx1"/>
                </a:solidFill>
              </a:rPr>
              <a:t>#20 NutriSmart</a:t>
            </a:r>
            <a:endParaRPr lang="en-US" sz="1400" dirty="0"/>
          </a:p>
          <a:p>
            <a:pPr indent="0" marL="0">
              <a:spcAft>
                <a:spcPts val="400"/>
              </a:spcAft>
              <a:buNone/>
            </a:pPr>
            <a:r>
              <a:rPr lang="en-US" sz="1100" i="1" dirty="0">
                <a:solidFill>
                  <a:schemeClr val="accent2"/>
                </a:solidFill>
              </a:rPr>
              <a:t>Diana</a:t>
            </a:r>
            <a:endParaRPr lang="en-US" sz="1400" dirty="0"/>
          </a:p>
        </p:txBody>
      </p:sp>
      <p:sp>
        <p:nvSpPr>
          <p:cNvPr id="18" name="Shape 16"/>
          <p:cNvSpPr/>
          <p:nvPr/>
        </p:nvSpPr>
        <p:spPr>
          <a:xfrm>
            <a:off x="8997696" y="3858768"/>
            <a:ext cx="2633472"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Text 17"/>
          <p:cNvSpPr txBox="1"/>
          <p:nvPr/>
        </p:nvSpPr>
        <p:spPr>
          <a:xfrm>
            <a:off x="9226296" y="4023360"/>
            <a:ext cx="2176272" cy="1892808"/>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08</a:t>
            </a:r>
            <a:endParaRPr lang="en-US" sz="1400" dirty="0"/>
          </a:p>
          <a:p>
            <a:pPr indent="0" marL="0">
              <a:spcAft>
                <a:spcPts val="400"/>
              </a:spcAft>
              <a:buNone/>
            </a:pPr>
            <a:r>
              <a:rPr lang="en-US" sz="1700" b="1" dirty="0">
                <a:solidFill>
                  <a:schemeClr val="tx2"/>
                </a:solidFill>
              </a:rPr>
              <a:t>Resumen y cierre</a:t>
            </a:r>
            <a:endParaRPr lang="en-US" sz="1400" dirty="0"/>
          </a:p>
          <a:p>
            <a:pPr indent="0" marL="0">
              <a:spcAft>
                <a:spcPts val="400"/>
              </a:spcAft>
              <a:buNone/>
            </a:pPr>
            <a:r>
              <a:rPr lang="en-US" sz="1200" dirty="0">
                <a:solidFill>
                  <a:schemeClr val="tx1"/>
                </a:solidFill>
              </a:rPr>
              <a:t>#21 Resumen ejecutivo y cierre</a:t>
            </a:r>
            <a:endParaRPr lang="en-US" sz="1400" dirty="0"/>
          </a:p>
          <a:p>
            <a:pPr indent="0" marL="0">
              <a:spcAft>
                <a:spcPts val="400"/>
              </a:spcAft>
              <a:buNone/>
            </a:pPr>
            <a:r>
              <a:rPr lang="en-US" sz="1100" i="1" dirty="0">
                <a:solidFill>
                  <a:schemeClr val="accent2"/>
                </a:solidFill>
              </a:rPr>
              <a:t>Diana</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01</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Análisis situacional</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Canvas · PESTEL · Benchmark · FODA y FODA cruzado</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 RECAP DEL CANVAS T1 · MODELO V7</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Canvas: de dónde sale todo el plan</a:t>
            </a:r>
            <a:endParaRPr lang="en-US" sz="3400" dirty="0"/>
          </a:p>
        </p:txBody>
      </p:sp>
      <p:sp>
        <p:nvSpPr>
          <p:cNvPr id="4" name="Shape 2"/>
          <p:cNvSpPr/>
          <p:nvPr/>
        </p:nvSpPr>
        <p:spPr>
          <a:xfrm>
            <a:off x="548640" y="146304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777240" y="159105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1. SEGMENTOS</a:t>
            </a:r>
            <a:endParaRPr lang="en-US" sz="1400" dirty="0"/>
          </a:p>
          <a:p>
            <a:pPr indent="0" marL="0">
              <a:spcAft>
                <a:spcPts val="300"/>
              </a:spcAft>
              <a:buNone/>
            </a:pPr>
            <a:r>
              <a:rPr lang="en-US" sz="1350" dirty="0">
                <a:solidFill>
                  <a:schemeClr val="tx1"/>
                </a:solidFill>
              </a:rPr>
              <a:t>Padres A y B de 32 a 45 años con hijos de 4 a 11. Núcleo: 46,000 hogares.</a:t>
            </a:r>
            <a:endParaRPr lang="en-US" sz="1400" dirty="0"/>
          </a:p>
        </p:txBody>
      </p:sp>
      <p:sp>
        <p:nvSpPr>
          <p:cNvPr id="6" name="Shape 4"/>
          <p:cNvSpPr/>
          <p:nvPr/>
        </p:nvSpPr>
        <p:spPr>
          <a:xfrm>
            <a:off x="4306824" y="1463040"/>
            <a:ext cx="3575304" cy="1417320"/>
          </a:xfrm>
          <a:prstGeom prst="roundRect">
            <a:avLst>
              <a:gd name="adj" fmla="val 7742"/>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4535424" y="159105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bg2"/>
                </a:solidFill>
              </a:rPr>
              <a:t>2. PROPUESTA DE VALOR</a:t>
            </a:r>
            <a:endParaRPr lang="en-US" sz="1400" dirty="0"/>
          </a:p>
          <a:p>
            <a:pPr indent="0" marL="0">
              <a:spcAft>
                <a:spcPts val="300"/>
              </a:spcAft>
              <a:buNone/>
            </a:pPr>
            <a:r>
              <a:rPr lang="en-US" sz="1350" dirty="0">
                <a:solidFill>
                  <a:schemeClr val="bg1"/>
                </a:solidFill>
              </a:rPr>
              <a:t>El snack de lonchera con hierro que el niño sí se come. Hierro medido por lote.</a:t>
            </a:r>
            <a:endParaRPr lang="en-US" sz="1400" dirty="0"/>
          </a:p>
        </p:txBody>
      </p:sp>
      <p:sp>
        <p:nvSpPr>
          <p:cNvPr id="8" name="Shape 6"/>
          <p:cNvSpPr/>
          <p:nvPr/>
        </p:nvSpPr>
        <p:spPr>
          <a:xfrm>
            <a:off x="8065008" y="146304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8293608" y="159105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3. CANALES</a:t>
            </a:r>
            <a:endParaRPr lang="en-US" sz="1400" dirty="0"/>
          </a:p>
          <a:p>
            <a:pPr indent="0" marL="0">
              <a:spcAft>
                <a:spcPts val="300"/>
              </a:spcAft>
              <a:buNone/>
            </a:pPr>
            <a:r>
              <a:rPr lang="en-US" sz="1350" dirty="0">
                <a:solidFill>
                  <a:schemeClr val="tx1"/>
                </a:solidFill>
              </a:rPr>
              <a:t>Stands 43 %, recompra por WhatsApp 18 %, ferias y eventos 14 %, colegios y naturistas 25 %.</a:t>
            </a:r>
            <a:endParaRPr lang="en-US" sz="1400" dirty="0"/>
          </a:p>
        </p:txBody>
      </p:sp>
      <p:sp>
        <p:nvSpPr>
          <p:cNvPr id="10" name="Shape 8"/>
          <p:cNvSpPr/>
          <p:nvPr/>
        </p:nvSpPr>
        <p:spPr>
          <a:xfrm>
            <a:off x="548640" y="297180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777240" y="309981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4. RELACIÓN</a:t>
            </a:r>
            <a:endParaRPr lang="en-US" sz="1400" dirty="0"/>
          </a:p>
          <a:p>
            <a:pPr indent="0" marL="0">
              <a:spcAft>
                <a:spcPts val="300"/>
              </a:spcAft>
              <a:buNone/>
            </a:pPr>
            <a:r>
              <a:rPr lang="en-US" sz="1350" dirty="0">
                <a:solidFill>
                  <a:schemeClr val="tx1"/>
                </a:solidFill>
              </a:rPr>
              <a:t>Degustación cara a cara, aviso de recompra en la app y mamás embajadoras.</a:t>
            </a:r>
            <a:endParaRPr lang="en-US" sz="1400" dirty="0"/>
          </a:p>
        </p:txBody>
      </p:sp>
      <p:sp>
        <p:nvSpPr>
          <p:cNvPr id="12" name="Shape 10"/>
          <p:cNvSpPr/>
          <p:nvPr/>
        </p:nvSpPr>
        <p:spPr>
          <a:xfrm>
            <a:off x="4306824" y="297180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4535424" y="309981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5. INGRESOS</a:t>
            </a:r>
            <a:endParaRPr lang="en-US" sz="1400" dirty="0"/>
          </a:p>
          <a:p>
            <a:pPr indent="0" marL="0">
              <a:spcAft>
                <a:spcPts val="300"/>
              </a:spcAft>
              <a:buNone/>
            </a:pPr>
            <a:r>
              <a:rPr lang="en-US" sz="1350" dirty="0">
                <a:solidFill>
                  <a:schemeClr val="tx1"/>
                </a:solidFill>
              </a:rPr>
              <a:t>Pack de 6 a S/27.90 en stand. Año 1: S/244,728 de ventas y S/10,379 de utilidad.</a:t>
            </a:r>
            <a:endParaRPr lang="en-US" sz="1400" dirty="0"/>
          </a:p>
        </p:txBody>
      </p:sp>
      <p:sp>
        <p:nvSpPr>
          <p:cNvPr id="14" name="Shape 12"/>
          <p:cNvSpPr/>
          <p:nvPr/>
        </p:nvSpPr>
        <p:spPr>
          <a:xfrm>
            <a:off x="8065008" y="297180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Text 13"/>
          <p:cNvSpPr txBox="1"/>
          <p:nvPr/>
        </p:nvSpPr>
        <p:spPr>
          <a:xfrm>
            <a:off x="8293608" y="309981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6. RECURSOS CLAVE</a:t>
            </a:r>
            <a:endParaRPr lang="en-US" sz="1400" dirty="0"/>
          </a:p>
          <a:p>
            <a:pPr indent="0" marL="0">
              <a:spcAft>
                <a:spcPts val="300"/>
              </a:spcAft>
              <a:buNone/>
            </a:pPr>
            <a:r>
              <a:rPr lang="en-US" sz="1350" dirty="0">
                <a:solidFill>
                  <a:schemeClr val="tx1"/>
                </a:solidFill>
              </a:rPr>
              <a:t>Receta que esconde la sangrecita, marca, registro sanitario, app y equipo pagado.</a:t>
            </a:r>
            <a:endParaRPr lang="en-US" sz="1400" dirty="0"/>
          </a:p>
        </p:txBody>
      </p:sp>
      <p:sp>
        <p:nvSpPr>
          <p:cNvPr id="16" name="Shape 14"/>
          <p:cNvSpPr/>
          <p:nvPr/>
        </p:nvSpPr>
        <p:spPr>
          <a:xfrm>
            <a:off x="548640" y="448056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Text 15"/>
          <p:cNvSpPr txBox="1"/>
          <p:nvPr/>
        </p:nvSpPr>
        <p:spPr>
          <a:xfrm>
            <a:off x="777240" y="460857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7. ACTIVIDADES</a:t>
            </a:r>
            <a:endParaRPr lang="en-US" sz="1400" dirty="0"/>
          </a:p>
          <a:p>
            <a:pPr indent="0" marL="0">
              <a:spcAft>
                <a:spcPts val="300"/>
              </a:spcAft>
              <a:buNone/>
            </a:pPr>
            <a:r>
              <a:rPr lang="en-US" sz="1350" dirty="0">
                <a:solidFill>
                  <a:schemeClr val="tx1"/>
                </a:solidFill>
              </a:rPr>
              <a:t>Maquila sin planta propia, medir y publicar el hierro, vender en stands y recomprar.</a:t>
            </a:r>
            <a:endParaRPr lang="en-US" sz="1400" dirty="0"/>
          </a:p>
        </p:txBody>
      </p:sp>
      <p:sp>
        <p:nvSpPr>
          <p:cNvPr id="18" name="Shape 16"/>
          <p:cNvSpPr/>
          <p:nvPr/>
        </p:nvSpPr>
        <p:spPr>
          <a:xfrm>
            <a:off x="4306824" y="448056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Text 17"/>
          <p:cNvSpPr txBox="1"/>
          <p:nvPr/>
        </p:nvSpPr>
        <p:spPr>
          <a:xfrm>
            <a:off x="4535424" y="460857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8. SOCIOS</a:t>
            </a:r>
            <a:endParaRPr lang="en-US" sz="1400" dirty="0"/>
          </a:p>
          <a:p>
            <a:pPr indent="0" marL="0">
              <a:spcAft>
                <a:spcPts val="300"/>
              </a:spcAft>
              <a:buNone/>
            </a:pPr>
            <a:r>
              <a:rPr lang="en-US" sz="1350" dirty="0">
                <a:solidFill>
                  <a:schemeClr val="tx1"/>
                </a:solidFill>
              </a:rPr>
              <a:t>Planta de maquila, laboratorio, proveedor de sangrecita, malls y pediatras.</a:t>
            </a:r>
            <a:endParaRPr lang="en-US" sz="1400" dirty="0"/>
          </a:p>
        </p:txBody>
      </p:sp>
      <p:sp>
        <p:nvSpPr>
          <p:cNvPr id="20" name="Shape 18"/>
          <p:cNvSpPr/>
          <p:nvPr/>
        </p:nvSpPr>
        <p:spPr>
          <a:xfrm>
            <a:off x="8065008" y="4480560"/>
            <a:ext cx="3575304"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Text 19"/>
          <p:cNvSpPr txBox="1"/>
          <p:nvPr/>
        </p:nvSpPr>
        <p:spPr>
          <a:xfrm>
            <a:off x="8293608" y="4608576"/>
            <a:ext cx="3163824" cy="11795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9. COSTOS</a:t>
            </a:r>
            <a:endParaRPr lang="en-US" sz="1400" dirty="0"/>
          </a:p>
          <a:p>
            <a:pPr indent="0" marL="0">
              <a:spcAft>
                <a:spcPts val="300"/>
              </a:spcAft>
              <a:buNone/>
            </a:pPr>
            <a:r>
              <a:rPr lang="en-US" sz="1350" dirty="0">
                <a:solidFill>
                  <a:schemeClr val="tx1"/>
                </a:solidFill>
              </a:rPr>
              <a:t>S/1.64 por brownie (pack de 6). Equilibrio: 2,100 a 4,400 brownies al mes.</a:t>
            </a:r>
            <a:endParaRPr lang="en-US" sz="1400" dirty="0"/>
          </a:p>
        </p:txBody>
      </p:sp>
      <p:sp>
        <p:nvSpPr>
          <p:cNvPr id="22" name="Text 20"/>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T2_01 Recap del Canvas (diapositiva 22 de la TC5-8); HECHOS_v7 y Excel v7 (Costeo-presentaciones-AndiBite.xlsx), 19-oct-2026.</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 ODS · ALINEACIÓN DEL PLAN</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Contribuimos al ODS 2, meta 2.2</a:t>
            </a:r>
            <a:endParaRPr lang="en-US" sz="3400" dirty="0"/>
          </a:p>
        </p:txBody>
      </p:sp>
      <p:sp>
        <p:nvSpPr>
          <p:cNvPr id="4" name="Shape 2"/>
          <p:cNvSpPr/>
          <p:nvPr/>
        </p:nvSpPr>
        <p:spPr>
          <a:xfrm>
            <a:off x="548640" y="1554480"/>
            <a:ext cx="6949440" cy="4434840"/>
          </a:xfrm>
          <a:prstGeom prst="roundRect">
            <a:avLst>
              <a:gd name="adj" fmla="val 2474"/>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68680" y="1828800"/>
            <a:ext cx="6400800" cy="393192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ODS 2 Hambre cero, meta 2.2: poner fin a todas las formas de malnutrición. Es el principal.</a:t>
            </a:r>
            <a:endParaRPr lang="en-US" sz="1400" dirty="0"/>
          </a:p>
          <a:p>
            <a:pPr marL="228600" indent="-228600">
              <a:spcAft>
                <a:spcPts val="1400"/>
              </a:spcAft>
              <a:buSzPct val="100000"/>
              <a:buChar char="•"/>
            </a:pPr>
            <a:r>
              <a:rPr lang="en-US" sz="1700" dirty="0">
                <a:solidFill>
                  <a:schemeClr val="tx1"/>
                </a:solidFill>
              </a:rPr>
              <a:t>ODS 3 Salud y bienestar: meta de menos azúcar y recordatorio de hemoglobina en la app.</a:t>
            </a:r>
            <a:endParaRPr lang="en-US" sz="1400" dirty="0"/>
          </a:p>
          <a:p>
            <a:pPr marL="228600" indent="-228600">
              <a:spcAft>
                <a:spcPts val="1400"/>
              </a:spcAft>
              <a:buSzPct val="100000"/>
              <a:buChar char="•"/>
            </a:pPr>
            <a:r>
              <a:rPr lang="en-US" sz="1700" dirty="0">
                <a:solidFill>
                  <a:schemeClr val="tx1"/>
                </a:solidFill>
              </a:rPr>
              <a:t>ODS 8 Trabajo decente: empresa formal; todo el personal cobra.</a:t>
            </a:r>
            <a:endParaRPr lang="en-US" sz="1400" dirty="0"/>
          </a:p>
          <a:p>
            <a:pPr marL="228600" indent="-228600">
              <a:spcAft>
                <a:spcPts val="1400"/>
              </a:spcAft>
              <a:buSzPct val="100000"/>
              <a:buChar char="•"/>
            </a:pPr>
            <a:r>
              <a:rPr lang="en-US" sz="1700" dirty="0">
                <a:solidFill>
                  <a:schemeClr val="tx1"/>
                </a:solidFill>
              </a:rPr>
              <a:t>Decimos que AndiBite "contribuye". Nunca que "previene la anemia".</a:t>
            </a:r>
            <a:endParaRPr lang="en-US" sz="1400" dirty="0"/>
          </a:p>
        </p:txBody>
      </p:sp>
      <p:sp>
        <p:nvSpPr>
          <p:cNvPr id="6" name="Shape 4"/>
          <p:cNvSpPr/>
          <p:nvPr/>
        </p:nvSpPr>
        <p:spPr>
          <a:xfrm>
            <a:off x="7726680" y="1554480"/>
            <a:ext cx="3913632" cy="4434840"/>
          </a:xfrm>
          <a:prstGeom prst="roundRect">
            <a:avLst>
              <a:gd name="adj" fmla="val 2804"/>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8001000" y="1737360"/>
            <a:ext cx="3364992" cy="406908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ANEMIA EN LIMA</a:t>
            </a:r>
            <a:endParaRPr lang="en-US" sz="1400" dirty="0"/>
          </a:p>
          <a:p>
            <a:pPr indent="0" marL="0">
              <a:spcAft>
                <a:spcPts val="400"/>
              </a:spcAft>
              <a:buNone/>
            </a:pPr>
            <a:r>
              <a:rPr lang="en-US" sz="5800" b="1" dirty="0">
                <a:solidFill>
                  <a:schemeClr val="bg1"/>
                </a:solidFill>
              </a:rPr>
              <a:t>24.0 %</a:t>
            </a:r>
            <a:endParaRPr lang="en-US" sz="1400" dirty="0"/>
          </a:p>
          <a:p>
            <a:pPr indent="0" marL="0">
              <a:spcAft>
                <a:spcPts val="400"/>
              </a:spcAft>
              <a:buNone/>
            </a:pPr>
            <a:r>
              <a:rPr lang="en-US" sz="1400" dirty="0">
                <a:solidFill>
                  <a:schemeClr val="accent5"/>
                </a:solidFill>
              </a:rPr>
              <a:t>de los niños de 6 a 35 meses de Lima Metropolitana (ENDES 2024, criterio OMS 2024). Escolares de 5 a 11 atendidos por el MINSA: 22.5 %.</a:t>
            </a:r>
            <a:endParaRPr lang="en-US" sz="1400" dirty="0"/>
          </a:p>
        </p:txBody>
      </p:sp>
      <p:sp>
        <p:nvSpPr>
          <p:cNvPr id="8" name="Text 6"/>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ONU, ODS 2 meta 2.2; INEI, ENDES 2024 (acta MCLCP Lima, ago-2025); INS-CENAN, SIEN-HIS 2024; T2_01.</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#3 PESTEL · LIMA METROPOLITANA 2026</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Seis oportunidades y seis amenazas</a:t>
            </a:r>
            <a:endParaRPr lang="en-US" sz="3400" dirty="0"/>
          </a:p>
        </p:txBody>
      </p:sp>
      <p:sp>
        <p:nvSpPr>
          <p:cNvPr id="4" name="Shape 2"/>
          <p:cNvSpPr/>
          <p:nvPr/>
        </p:nvSpPr>
        <p:spPr>
          <a:xfrm>
            <a:off x="548640" y="1463040"/>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749808" y="1645920"/>
            <a:ext cx="502920" cy="502920"/>
          </a:xfrm>
          <a:prstGeom prst="ellipse">
            <a:avLst/>
          </a:prstGeom>
          <a:solidFill>
            <a:schemeClr val="tx2"/>
          </a:solidFill>
          <a:ln w="12700">
            <a:solidFill>
              <a:schemeClr val="tx2"/>
            </a:solidFill>
            <a:prstDash val="solid"/>
          </a:ln>
        </p:spPr>
      </p:sp>
      <p:sp>
        <p:nvSpPr>
          <p:cNvPr id="6" name="Text 4"/>
          <p:cNvSpPr txBox="1"/>
          <p:nvPr/>
        </p:nvSpPr>
        <p:spPr>
          <a:xfrm>
            <a:off x="749808" y="16459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P</a:t>
            </a:r>
            <a:endParaRPr lang="en-US" sz="2000" dirty="0"/>
          </a:p>
        </p:txBody>
      </p:sp>
      <p:sp>
        <p:nvSpPr>
          <p:cNvPr id="7" name="Text 5"/>
          <p:cNvSpPr txBox="1"/>
          <p:nvPr/>
        </p:nvSpPr>
        <p:spPr>
          <a:xfrm>
            <a:off x="1371600" y="1645920"/>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POLÍTICO</a:t>
            </a:r>
            <a:endParaRPr lang="en-US" sz="1400" dirty="0"/>
          </a:p>
        </p:txBody>
      </p:sp>
      <p:sp>
        <p:nvSpPr>
          <p:cNvPr id="8" name="Text 6"/>
          <p:cNvSpPr txBox="1"/>
          <p:nvPr/>
        </p:nvSpPr>
        <p:spPr>
          <a:xfrm>
            <a:off x="777240" y="2267712"/>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plan contra la anemia 2024-2030 (D.S. 002-2024-SA).</a:t>
            </a:r>
            <a:endParaRPr lang="en-US" sz="1400" dirty="0"/>
          </a:p>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quioscos escolares sin octógonos (RM 195-2019), si el lote sale sin octógono.</a:t>
            </a:r>
            <a:endParaRPr lang="en-US" sz="1400" dirty="0"/>
          </a:p>
        </p:txBody>
      </p:sp>
      <p:sp>
        <p:nvSpPr>
          <p:cNvPr id="9" name="Shape 7"/>
          <p:cNvSpPr/>
          <p:nvPr/>
        </p:nvSpPr>
        <p:spPr>
          <a:xfrm>
            <a:off x="4306824" y="1463040"/>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Shape 8"/>
          <p:cNvSpPr/>
          <p:nvPr/>
        </p:nvSpPr>
        <p:spPr>
          <a:xfrm>
            <a:off x="4507992" y="1645920"/>
            <a:ext cx="502920" cy="502920"/>
          </a:xfrm>
          <a:prstGeom prst="ellipse">
            <a:avLst/>
          </a:prstGeom>
          <a:solidFill>
            <a:schemeClr val="tx2"/>
          </a:solidFill>
          <a:ln w="12700">
            <a:solidFill>
              <a:schemeClr val="tx2"/>
            </a:solidFill>
            <a:prstDash val="solid"/>
          </a:ln>
        </p:spPr>
      </p:sp>
      <p:sp>
        <p:nvSpPr>
          <p:cNvPr id="11" name="Text 9"/>
          <p:cNvSpPr txBox="1"/>
          <p:nvPr/>
        </p:nvSpPr>
        <p:spPr>
          <a:xfrm>
            <a:off x="4507992" y="16459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E</a:t>
            </a:r>
            <a:endParaRPr lang="en-US" sz="2000" dirty="0"/>
          </a:p>
        </p:txBody>
      </p:sp>
      <p:sp>
        <p:nvSpPr>
          <p:cNvPr id="12" name="Text 10"/>
          <p:cNvSpPr txBox="1"/>
          <p:nvPr/>
        </p:nvSpPr>
        <p:spPr>
          <a:xfrm>
            <a:off x="5129784" y="1645920"/>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ECONÓMICO</a:t>
            </a:r>
            <a:endParaRPr lang="en-US" sz="1400" dirty="0"/>
          </a:p>
        </p:txBody>
      </p:sp>
      <p:sp>
        <p:nvSpPr>
          <p:cNvPr id="13" name="Text 11"/>
          <p:cNvSpPr txBox="1"/>
          <p:nvPr/>
        </p:nvSpPr>
        <p:spPr>
          <a:xfrm>
            <a:off x="4535424" y="2267712"/>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inflación de Lima de 4.28 % acumulada de enero a setiembre de 2026.</a:t>
            </a:r>
            <a:endParaRPr lang="en-US" sz="1400" dirty="0"/>
          </a:p>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cacao volátil: US$5,645 por tonelada (16-oct-2026).</a:t>
            </a:r>
            <a:endParaRPr lang="en-US" sz="1400" dirty="0"/>
          </a:p>
        </p:txBody>
      </p:sp>
      <p:sp>
        <p:nvSpPr>
          <p:cNvPr id="14" name="Shape 12"/>
          <p:cNvSpPr/>
          <p:nvPr/>
        </p:nvSpPr>
        <p:spPr>
          <a:xfrm>
            <a:off x="8065008" y="1463040"/>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Shape 13"/>
          <p:cNvSpPr/>
          <p:nvPr/>
        </p:nvSpPr>
        <p:spPr>
          <a:xfrm>
            <a:off x="8266176" y="1645920"/>
            <a:ext cx="502920" cy="502920"/>
          </a:xfrm>
          <a:prstGeom prst="ellipse">
            <a:avLst/>
          </a:prstGeom>
          <a:solidFill>
            <a:schemeClr val="tx2"/>
          </a:solidFill>
          <a:ln w="12700">
            <a:solidFill>
              <a:schemeClr val="tx2"/>
            </a:solidFill>
            <a:prstDash val="solid"/>
          </a:ln>
        </p:spPr>
      </p:sp>
      <p:sp>
        <p:nvSpPr>
          <p:cNvPr id="16" name="Text 14"/>
          <p:cNvSpPr txBox="1"/>
          <p:nvPr/>
        </p:nvSpPr>
        <p:spPr>
          <a:xfrm>
            <a:off x="8266176" y="16459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17" name="Text 15"/>
          <p:cNvSpPr txBox="1"/>
          <p:nvPr/>
        </p:nvSpPr>
        <p:spPr>
          <a:xfrm>
            <a:off x="8887968" y="1645920"/>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SOCIAL</a:t>
            </a:r>
            <a:endParaRPr lang="en-US" sz="1400" dirty="0"/>
          </a:p>
        </p:txBody>
      </p:sp>
      <p:sp>
        <p:nvSpPr>
          <p:cNvPr id="18" name="Text 16"/>
          <p:cNvSpPr txBox="1"/>
          <p:nvPr/>
        </p:nvSpPr>
        <p:spPr>
          <a:xfrm>
            <a:off x="8293608" y="2267712"/>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anemia en la agenda: 34.9 % en niños de 6 a 35 meses del Perú (2025).</a:t>
            </a:r>
            <a:endParaRPr lang="en-US" sz="1400" dirty="0"/>
          </a:p>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la sangrecita se acepta escondida en algo dulce (focus 1).</a:t>
            </a:r>
            <a:endParaRPr lang="en-US" sz="1400" dirty="0"/>
          </a:p>
        </p:txBody>
      </p:sp>
      <p:sp>
        <p:nvSpPr>
          <p:cNvPr id="19" name="Shape 17"/>
          <p:cNvSpPr/>
          <p:nvPr/>
        </p:nvSpPr>
        <p:spPr>
          <a:xfrm>
            <a:off x="548640" y="3739896"/>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0" name="Shape 18"/>
          <p:cNvSpPr/>
          <p:nvPr/>
        </p:nvSpPr>
        <p:spPr>
          <a:xfrm>
            <a:off x="749808" y="3922776"/>
            <a:ext cx="502920" cy="502920"/>
          </a:xfrm>
          <a:prstGeom prst="ellipse">
            <a:avLst/>
          </a:prstGeom>
          <a:solidFill>
            <a:schemeClr val="tx2"/>
          </a:solidFill>
          <a:ln w="12700">
            <a:solidFill>
              <a:schemeClr val="tx2"/>
            </a:solidFill>
            <a:prstDash val="solid"/>
          </a:ln>
        </p:spPr>
      </p:sp>
      <p:sp>
        <p:nvSpPr>
          <p:cNvPr id="21" name="Text 19"/>
          <p:cNvSpPr txBox="1"/>
          <p:nvPr/>
        </p:nvSpPr>
        <p:spPr>
          <a:xfrm>
            <a:off x="749808" y="3922776"/>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T</a:t>
            </a:r>
            <a:endParaRPr lang="en-US" sz="2000" dirty="0"/>
          </a:p>
        </p:txBody>
      </p:sp>
      <p:sp>
        <p:nvSpPr>
          <p:cNvPr id="22" name="Text 20"/>
          <p:cNvSpPr txBox="1"/>
          <p:nvPr/>
        </p:nvSpPr>
        <p:spPr>
          <a:xfrm>
            <a:off x="1371600" y="3922776"/>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TECNOLÓGICO</a:t>
            </a:r>
            <a:endParaRPr lang="en-US" sz="1400" dirty="0"/>
          </a:p>
        </p:txBody>
      </p:sp>
      <p:sp>
        <p:nvSpPr>
          <p:cNvPr id="23" name="Text 21"/>
          <p:cNvSpPr txBox="1"/>
          <p:nvPr/>
        </p:nvSpPr>
        <p:spPr>
          <a:xfrm>
            <a:off x="777240" y="4544568"/>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82.7 % de hogares de Lima con internet (I trim. 2026).</a:t>
            </a:r>
            <a:endParaRPr lang="en-US" sz="1400" dirty="0"/>
          </a:p>
          <a:p>
            <a:pPr indent="0" marL="0">
              <a:spcAft>
                <a:spcPts val="300"/>
              </a:spcAft>
              <a:buNone/>
            </a:pPr>
            <a:r>
              <a:rPr lang="en-US" sz="1250" b="1" dirty="0">
                <a:solidFill>
                  <a:schemeClr val="accent4"/>
                </a:solidFill>
              </a:rPr>
              <a:t>Oportunidad: </a:t>
            </a:r>
            <a:pPr indent="0" marL="0">
              <a:spcAft>
                <a:spcPts val="300"/>
              </a:spcAft>
              <a:buNone/>
            </a:pPr>
            <a:r>
              <a:rPr lang="en-US" sz="1250" dirty="0">
                <a:solidFill>
                  <a:schemeClr val="tx1"/>
                </a:solidFill>
              </a:rPr>
              <a:t>recompra por WhatsApp y QR en el envase.</a:t>
            </a:r>
            <a:endParaRPr lang="en-US" sz="1400" dirty="0"/>
          </a:p>
        </p:txBody>
      </p:sp>
      <p:sp>
        <p:nvSpPr>
          <p:cNvPr id="24" name="Shape 22"/>
          <p:cNvSpPr/>
          <p:nvPr/>
        </p:nvSpPr>
        <p:spPr>
          <a:xfrm>
            <a:off x="4306824" y="3739896"/>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5" name="Shape 23"/>
          <p:cNvSpPr/>
          <p:nvPr/>
        </p:nvSpPr>
        <p:spPr>
          <a:xfrm>
            <a:off x="4507992" y="3922776"/>
            <a:ext cx="502920" cy="502920"/>
          </a:xfrm>
          <a:prstGeom prst="ellipse">
            <a:avLst/>
          </a:prstGeom>
          <a:solidFill>
            <a:schemeClr val="tx2"/>
          </a:solidFill>
          <a:ln w="12700">
            <a:solidFill>
              <a:schemeClr val="tx2"/>
            </a:solidFill>
            <a:prstDash val="solid"/>
          </a:ln>
        </p:spPr>
      </p:sp>
      <p:sp>
        <p:nvSpPr>
          <p:cNvPr id="26" name="Text 24"/>
          <p:cNvSpPr txBox="1"/>
          <p:nvPr/>
        </p:nvSpPr>
        <p:spPr>
          <a:xfrm>
            <a:off x="4507992" y="3922776"/>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27" name="Text 25"/>
          <p:cNvSpPr txBox="1"/>
          <p:nvPr/>
        </p:nvSpPr>
        <p:spPr>
          <a:xfrm>
            <a:off x="5129784" y="3922776"/>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AMBIENTAL</a:t>
            </a:r>
            <a:endParaRPr lang="en-US" sz="1400" dirty="0"/>
          </a:p>
        </p:txBody>
      </p:sp>
      <p:sp>
        <p:nvSpPr>
          <p:cNvPr id="28" name="Text 26"/>
          <p:cNvSpPr txBox="1"/>
          <p:nvPr/>
        </p:nvSpPr>
        <p:spPr>
          <a:xfrm>
            <a:off x="4535424" y="4544568"/>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Niño costero anunciado para 2026-2027 [POR CONFIRMAR].</a:t>
            </a:r>
            <a:endParaRPr lang="en-US" sz="1400" dirty="0"/>
          </a:p>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Ley 30884 de plásticos: se cumple, riesgo bajo.</a:t>
            </a:r>
            <a:endParaRPr lang="en-US" sz="1400" dirty="0"/>
          </a:p>
        </p:txBody>
      </p:sp>
      <p:sp>
        <p:nvSpPr>
          <p:cNvPr id="29" name="Shape 27"/>
          <p:cNvSpPr/>
          <p:nvPr/>
        </p:nvSpPr>
        <p:spPr>
          <a:xfrm>
            <a:off x="8065008" y="3739896"/>
            <a:ext cx="3575304" cy="2167128"/>
          </a:xfrm>
          <a:prstGeom prst="roundRect">
            <a:avLst>
              <a:gd name="adj" fmla="val 506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0" name="Shape 28"/>
          <p:cNvSpPr/>
          <p:nvPr/>
        </p:nvSpPr>
        <p:spPr>
          <a:xfrm>
            <a:off x="8266176" y="3922776"/>
            <a:ext cx="502920" cy="502920"/>
          </a:xfrm>
          <a:prstGeom prst="ellipse">
            <a:avLst/>
          </a:prstGeom>
          <a:solidFill>
            <a:schemeClr val="tx2"/>
          </a:solidFill>
          <a:ln w="12700">
            <a:solidFill>
              <a:schemeClr val="tx2"/>
            </a:solidFill>
            <a:prstDash val="solid"/>
          </a:ln>
        </p:spPr>
      </p:sp>
      <p:sp>
        <p:nvSpPr>
          <p:cNvPr id="31" name="Text 29"/>
          <p:cNvSpPr txBox="1"/>
          <p:nvPr/>
        </p:nvSpPr>
        <p:spPr>
          <a:xfrm>
            <a:off x="8266176" y="3922776"/>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L</a:t>
            </a:r>
            <a:endParaRPr lang="en-US" sz="2000" dirty="0"/>
          </a:p>
        </p:txBody>
      </p:sp>
      <p:sp>
        <p:nvSpPr>
          <p:cNvPr id="32" name="Text 30"/>
          <p:cNvSpPr txBox="1"/>
          <p:nvPr/>
        </p:nvSpPr>
        <p:spPr>
          <a:xfrm>
            <a:off x="8887968" y="3922776"/>
            <a:ext cx="2569464" cy="502920"/>
          </a:xfrm>
          <a:prstGeom prst="rect">
            <a:avLst/>
          </a:prstGeom>
          <a:noFill/>
          <a:ln/>
        </p:spPr>
        <p:txBody>
          <a:bodyPr wrap="square" lIns="0" tIns="0" rIns="0" bIns="0" rtlCol="0" anchor="ctr"/>
          <a:lstStyle/>
          <a:p>
            <a:pPr indent="0" marL="0">
              <a:buNone/>
            </a:pPr>
            <a:r>
              <a:rPr lang="en-US" sz="1400" b="1" spc="100" kern="0" dirty="0">
                <a:solidFill>
                  <a:schemeClr val="tx2"/>
                </a:solidFill>
              </a:rPr>
              <a:t>LEGAL</a:t>
            </a:r>
            <a:endParaRPr lang="en-US" sz="1400" dirty="0"/>
          </a:p>
        </p:txBody>
      </p:sp>
      <p:sp>
        <p:nvSpPr>
          <p:cNvPr id="33" name="Text 31"/>
          <p:cNvSpPr txBox="1"/>
          <p:nvPr/>
        </p:nvSpPr>
        <p:spPr>
          <a:xfrm>
            <a:off x="8293608" y="4544568"/>
            <a:ext cx="3163824" cy="1252728"/>
          </a:xfrm>
          <a:prstGeom prst="rect">
            <a:avLst/>
          </a:prstGeom>
          <a:noFill/>
          <a:ln/>
        </p:spPr>
        <p:txBody>
          <a:bodyPr wrap="square" lIns="0" tIns="0" rIns="0" bIns="0" rtlCol="0" anchor="t"/>
          <a:lstStyle/>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octógono: la meta "sin octógono" se confirma en laboratorio.</a:t>
            </a:r>
            <a:endParaRPr lang="en-US" sz="1400" dirty="0"/>
          </a:p>
          <a:p>
            <a:pPr indent="0" marL="0">
              <a:spcAft>
                <a:spcPts val="300"/>
              </a:spcAft>
              <a:buNone/>
            </a:pPr>
            <a:r>
              <a:rPr lang="en-US" sz="1250" b="1" dirty="0">
                <a:solidFill>
                  <a:schemeClr val="accent1"/>
                </a:solidFill>
              </a:rPr>
              <a:t>Amenaza: </a:t>
            </a:r>
            <a:pPr indent="0" marL="0">
              <a:spcAft>
                <a:spcPts val="300"/>
              </a:spcAft>
              <a:buNone/>
            </a:pPr>
            <a:r>
              <a:rPr lang="en-US" sz="1250" dirty="0">
                <a:solidFill>
                  <a:schemeClr val="tx1"/>
                </a:solidFill>
              </a:rPr>
              <a:t>Ley 30021, art. 8: no se le habla al niño (controlable).</a:t>
            </a:r>
            <a:endParaRPr lang="en-US" sz="1400" dirty="0"/>
          </a:p>
        </p:txBody>
      </p:sp>
      <p:sp>
        <p:nvSpPr>
          <p:cNvPr id="34" name="Text 3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PESTEL de Angie (Drive), revisado en T2_00 secc. 3; INEI (El Peruano, 1-oct-2026; ENAHO, 26-jun-2026; ENDES 2025); Trading Economics; ENFEN vía Panamericana.</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#2 BENCHMARK · PRECIOS DEL 19-OCT-2026</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Somos el único que publicará el hierro por lote</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600200"/>
                <a:gridCol w="2606040"/>
                <a:gridCol w="1417320"/>
                <a:gridCol w="2011680"/>
                <a:gridCol w="1554480"/>
                <a:gridCol w="1901952"/>
              </a:tblGrid>
              <a:tr h="457200">
                <a:tc>
                  <a:txBody>
                    <a:bodyPr/>
                    <a:lstStyle/>
                    <a:p>
                      <a:pPr indent="0" marL="0">
                        <a:buNone/>
                      </a:pPr>
                      <a:r>
                        <a:rPr lang="en-US" sz="1200" b="1" dirty="0">
                          <a:solidFill>
                            <a:schemeClr val="bg1"/>
                          </a:solidFill>
                        </a:rPr>
                        <a:t>Marca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Por 20 g</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Hierro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Octógonos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Para la lonchera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accent1"/>
                          </a:solidFill>
                        </a:rPr>
                        <a:t>AndiBite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Mini brownie de 20 g con sangrecita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S/4.16 a S/4.65</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Hemo, medido por lote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Meta: ninguno*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Sí: sin frío, 3 sabores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200" dirty="0">
                          <a:solidFill>
                            <a:schemeClr val="tx1"/>
                          </a:solidFill>
                        </a:rPr>
                        <a:t>Nutri H</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Galleta con hemoglobina bovina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S/3.20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Hemo, 16.5 mg sin porción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Por confirmar*</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Sí</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chemeClr val="tx1"/>
                          </a:solidFill>
                        </a:rPr>
                        <a:t>Forticao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Chocolate con hierro, farmacia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S/3.50 a S/4.17*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Hemo, sin mg publicados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Por confirmar*</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No es su foco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200" dirty="0">
                          <a:solidFill>
                            <a:schemeClr val="tx1"/>
                          </a:solidFill>
                        </a:rPr>
                        <a:t>Fika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Brownie libre de azúcar, 70 g</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S/4.00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declara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se ven*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para adultos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chemeClr val="tx1"/>
                          </a:solidFill>
                        </a:rPr>
                        <a:t>La Purita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Brownies veganos x 8, congelados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S/2.11*</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5 % del valor diario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No se ven*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Poco: va congelado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200" dirty="0">
                          <a:solidFill>
                            <a:schemeClr val="tx1"/>
                          </a:solidFill>
                        </a:rPr>
                        <a:t>Mamalama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Barra de cereales andinos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S/4.10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declara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se ven*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Parcial</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chemeClr val="tx1"/>
                          </a:solidFill>
                        </a:rPr>
                        <a:t>Bimbo Nutra Bien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Mini brownie masivo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S/1.67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No declara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1: "Alto en azúcar"</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Sí</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5" name="Shape 2"/>
          <p:cNvSpPr/>
          <p:nvPr/>
        </p:nvSpPr>
        <p:spPr>
          <a:xfrm>
            <a:off x="548640" y="525780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25780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Ganamos en prueba y formato; perdemos en precio (somos de los más caros) y en distribución.</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Tiendas oficiales, Wong y Plaza Vea, 19-oct-2026 (T2_02). * Por confirmar en el empaque o en el laboratorio; Forticao y La Purita sin peso publicado.</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#4 FODA · LA BRÚJULA ESTRATÉGICA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Dónde estamos: el FODA</a:t>
            </a:r>
            <a:endParaRPr lang="en-US" sz="3400" dirty="0"/>
          </a:p>
        </p:txBody>
      </p:sp>
      <p:sp>
        <p:nvSpPr>
          <p:cNvPr id="4" name="Shape 2"/>
          <p:cNvSpPr/>
          <p:nvPr/>
        </p:nvSpPr>
        <p:spPr>
          <a:xfrm>
            <a:off x="548640" y="1463040"/>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548640" y="1572768"/>
            <a:ext cx="82296" cy="1956816"/>
          </a:xfrm>
          <a:prstGeom prst="rect">
            <a:avLst/>
          </a:prstGeom>
          <a:solidFill>
            <a:schemeClr val="accent4"/>
          </a:solidFill>
          <a:ln w="12700">
            <a:solidFill>
              <a:schemeClr val="accent4"/>
            </a:solidFill>
            <a:prstDash val="solid"/>
          </a:ln>
        </p:spPr>
      </p:sp>
      <p:sp>
        <p:nvSpPr>
          <p:cNvPr id="6" name="Text 4"/>
          <p:cNvSpPr txBox="1"/>
          <p:nvPr/>
        </p:nvSpPr>
        <p:spPr>
          <a:xfrm>
            <a:off x="841248" y="1591056"/>
            <a:ext cx="5001768" cy="1938528"/>
          </a:xfrm>
          <a:prstGeom prst="rect">
            <a:avLst/>
          </a:prstGeom>
          <a:noFill/>
          <a:ln/>
        </p:spPr>
        <p:txBody>
          <a:bodyPr wrap="square" lIns="0" tIns="0" rIns="0" bIns="0" rtlCol="0" anchor="t"/>
          <a:lstStyle/>
          <a:p>
            <a:pPr indent="0" marL="0">
              <a:spcAft>
                <a:spcPts val="600"/>
              </a:spcAft>
              <a:buNone/>
            </a:pPr>
            <a:r>
              <a:rPr lang="en-US" sz="1300" b="1" spc="100" kern="0" dirty="0">
                <a:solidFill>
                  <a:schemeClr val="tx2"/>
                </a:solidFill>
              </a:rPr>
              <a:t>FORTALEZAS (internas)</a:t>
            </a:r>
            <a:endParaRPr lang="en-US" sz="1400" dirty="0"/>
          </a:p>
          <a:p>
            <a:pPr marL="228600" indent="-228600">
              <a:spcAft>
                <a:spcPts val="600"/>
              </a:spcAft>
              <a:buSzPct val="100000"/>
              <a:buChar char="•"/>
            </a:pPr>
            <a:r>
              <a:rPr lang="en-US" sz="1500" dirty="0">
                <a:solidFill>
                  <a:schemeClr val="tx1"/>
                </a:solidFill>
              </a:rPr>
              <a:t>Receta que esconde la sangrecita</a:t>
            </a:r>
            <a:endParaRPr lang="en-US" sz="1400" dirty="0"/>
          </a:p>
          <a:p>
            <a:pPr marL="228600" indent="-228600">
              <a:spcAft>
                <a:spcPts val="600"/>
              </a:spcAft>
              <a:buSzPct val="100000"/>
              <a:buChar char="•"/>
            </a:pPr>
            <a:r>
              <a:rPr lang="en-US" sz="1500" dirty="0">
                <a:solidFill>
                  <a:schemeClr val="tx1"/>
                </a:solidFill>
              </a:rPr>
              <a:t>Hierro hemo medido por lote, publicado en la app</a:t>
            </a:r>
            <a:endParaRPr lang="en-US" sz="1400" dirty="0"/>
          </a:p>
          <a:p>
            <a:pPr marL="228600" indent="-228600">
              <a:spcAft>
                <a:spcPts val="600"/>
              </a:spcAft>
              <a:buSzPct val="100000"/>
              <a:buChar char="•"/>
            </a:pPr>
            <a:r>
              <a:rPr lang="en-US" sz="1500" dirty="0">
                <a:solidFill>
                  <a:schemeClr val="tx1"/>
                </a:solidFill>
              </a:rPr>
              <a:t>Maquila: S/1.64 por brownie y margen de 58 a 66 %</a:t>
            </a:r>
            <a:endParaRPr lang="en-US" sz="1400" dirty="0"/>
          </a:p>
        </p:txBody>
      </p:sp>
      <p:sp>
        <p:nvSpPr>
          <p:cNvPr id="7" name="Shape 5"/>
          <p:cNvSpPr/>
          <p:nvPr/>
        </p:nvSpPr>
        <p:spPr>
          <a:xfrm>
            <a:off x="6181344" y="1463040"/>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Shape 6"/>
          <p:cNvSpPr/>
          <p:nvPr/>
        </p:nvSpPr>
        <p:spPr>
          <a:xfrm>
            <a:off x="6181344" y="1572768"/>
            <a:ext cx="82296" cy="1956816"/>
          </a:xfrm>
          <a:prstGeom prst="rect">
            <a:avLst/>
          </a:prstGeom>
          <a:solidFill>
            <a:schemeClr val="accent3"/>
          </a:solidFill>
          <a:ln w="12700">
            <a:solidFill>
              <a:schemeClr val="accent3"/>
            </a:solidFill>
            <a:prstDash val="solid"/>
          </a:ln>
        </p:spPr>
      </p:sp>
      <p:sp>
        <p:nvSpPr>
          <p:cNvPr id="9" name="Text 7"/>
          <p:cNvSpPr txBox="1"/>
          <p:nvPr/>
        </p:nvSpPr>
        <p:spPr>
          <a:xfrm>
            <a:off x="6473952" y="1591056"/>
            <a:ext cx="5001768" cy="1938528"/>
          </a:xfrm>
          <a:prstGeom prst="rect">
            <a:avLst/>
          </a:prstGeom>
          <a:noFill/>
          <a:ln/>
        </p:spPr>
        <p:txBody>
          <a:bodyPr wrap="square" lIns="0" tIns="0" rIns="0" bIns="0" rtlCol="0" anchor="t"/>
          <a:lstStyle/>
          <a:p>
            <a:pPr indent="0" marL="0">
              <a:spcAft>
                <a:spcPts val="600"/>
              </a:spcAft>
              <a:buNone/>
            </a:pPr>
            <a:r>
              <a:rPr lang="en-US" sz="1300" b="1" spc="100" kern="0" dirty="0">
                <a:solidFill>
                  <a:schemeClr val="tx2"/>
                </a:solidFill>
              </a:rPr>
              <a:t>DEBILIDADES (internas)</a:t>
            </a:r>
            <a:endParaRPr lang="en-US" sz="1400" dirty="0"/>
          </a:p>
          <a:p>
            <a:pPr marL="228600" indent="-228600">
              <a:spcAft>
                <a:spcPts val="600"/>
              </a:spcAft>
              <a:buSzPct val="100000"/>
              <a:buChar char="•"/>
            </a:pPr>
            <a:r>
              <a:rPr lang="en-US" sz="1500" dirty="0">
                <a:solidFill>
                  <a:schemeClr val="tx1"/>
                </a:solidFill>
              </a:rPr>
              <a:t>Marketing chico: S/24,544 en 15 meses</a:t>
            </a:r>
            <a:endParaRPr lang="en-US" sz="1400" dirty="0"/>
          </a:p>
          <a:p>
            <a:pPr marL="228600" indent="-228600">
              <a:spcAft>
                <a:spcPts val="600"/>
              </a:spcAft>
              <a:buSzPct val="100000"/>
              <a:buChar char="•"/>
            </a:pPr>
            <a:r>
              <a:rPr lang="en-US" sz="1500" dirty="0">
                <a:solidFill>
                  <a:schemeClr val="tx1"/>
                </a:solidFill>
              </a:rPr>
              <a:t>Prejuicio hacia la sangrecita</a:t>
            </a:r>
            <a:endParaRPr lang="en-US" sz="1400" dirty="0"/>
          </a:p>
          <a:p>
            <a:pPr marL="228600" indent="-228600">
              <a:spcAft>
                <a:spcPts val="600"/>
              </a:spcAft>
              <a:buSzPct val="100000"/>
              <a:buChar char="•"/>
            </a:pPr>
            <a:r>
              <a:rPr lang="en-US" sz="1500" dirty="0">
                <a:solidFill>
                  <a:schemeClr val="tx1"/>
                </a:solidFill>
              </a:rPr>
              <a:t>Dependencia de los stands: 43 % de los brownies</a:t>
            </a:r>
            <a:endParaRPr lang="en-US" sz="1400" dirty="0"/>
          </a:p>
        </p:txBody>
      </p:sp>
      <p:sp>
        <p:nvSpPr>
          <p:cNvPr id="10" name="Shape 8"/>
          <p:cNvSpPr/>
          <p:nvPr/>
        </p:nvSpPr>
        <p:spPr>
          <a:xfrm>
            <a:off x="548640" y="3767328"/>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Shape 9"/>
          <p:cNvSpPr/>
          <p:nvPr/>
        </p:nvSpPr>
        <p:spPr>
          <a:xfrm>
            <a:off x="548640" y="3877056"/>
            <a:ext cx="82296" cy="1956816"/>
          </a:xfrm>
          <a:prstGeom prst="rect">
            <a:avLst/>
          </a:prstGeom>
          <a:solidFill>
            <a:schemeClr val="accent2"/>
          </a:solidFill>
          <a:ln w="12700">
            <a:solidFill>
              <a:schemeClr val="accent2"/>
            </a:solidFill>
            <a:prstDash val="solid"/>
          </a:ln>
        </p:spPr>
      </p:sp>
      <p:sp>
        <p:nvSpPr>
          <p:cNvPr id="12" name="Text 10"/>
          <p:cNvSpPr txBox="1"/>
          <p:nvPr/>
        </p:nvSpPr>
        <p:spPr>
          <a:xfrm>
            <a:off x="841248" y="3895344"/>
            <a:ext cx="5001768" cy="1938528"/>
          </a:xfrm>
          <a:prstGeom prst="rect">
            <a:avLst/>
          </a:prstGeom>
          <a:noFill/>
          <a:ln/>
        </p:spPr>
        <p:txBody>
          <a:bodyPr wrap="square" lIns="0" tIns="0" rIns="0" bIns="0" rtlCol="0" anchor="t"/>
          <a:lstStyle/>
          <a:p>
            <a:pPr indent="0" marL="0">
              <a:spcAft>
                <a:spcPts val="600"/>
              </a:spcAft>
              <a:buNone/>
            </a:pPr>
            <a:r>
              <a:rPr lang="en-US" sz="1300" b="1" spc="100" kern="0" dirty="0">
                <a:solidFill>
                  <a:schemeClr val="tx2"/>
                </a:solidFill>
              </a:rPr>
              <a:t>OPORTUNIDADES (externas)</a:t>
            </a:r>
            <a:endParaRPr lang="en-US" sz="1400" dirty="0"/>
          </a:p>
          <a:p>
            <a:pPr marL="228600" indent="-228600">
              <a:spcAft>
                <a:spcPts val="600"/>
              </a:spcAft>
              <a:buSzPct val="100000"/>
              <a:buChar char="•"/>
            </a:pPr>
            <a:r>
              <a:rPr lang="en-US" sz="1500" dirty="0">
                <a:solidFill>
                  <a:schemeClr val="tx1"/>
                </a:solidFill>
              </a:rPr>
              <a:t>Núcleo de 46,000 hogares A/B (S/17.3 millones)</a:t>
            </a:r>
            <a:endParaRPr lang="en-US" sz="1400" dirty="0"/>
          </a:p>
          <a:p>
            <a:pPr marL="228600" indent="-228600">
              <a:spcAft>
                <a:spcPts val="600"/>
              </a:spcAft>
              <a:buSzPct val="100000"/>
              <a:buChar char="•"/>
            </a:pPr>
            <a:r>
              <a:rPr lang="en-US" sz="1500" dirty="0">
                <a:solidFill>
                  <a:schemeClr val="tx1"/>
                </a:solidFill>
              </a:rPr>
              <a:t>Quioscos que solo aceptan productos sin octógonos</a:t>
            </a:r>
            <a:endParaRPr lang="en-US" sz="1400" dirty="0"/>
          </a:p>
          <a:p>
            <a:pPr marL="228600" indent="-228600">
              <a:spcAft>
                <a:spcPts val="600"/>
              </a:spcAft>
              <a:buSzPct val="100000"/>
              <a:buChar char="•"/>
            </a:pPr>
            <a:r>
              <a:rPr lang="en-US" sz="1500" dirty="0">
                <a:solidFill>
                  <a:schemeClr val="tx1"/>
                </a:solidFill>
              </a:rPr>
              <a:t>82.7 % de los hogares de Lima con internet</a:t>
            </a:r>
            <a:endParaRPr lang="en-US" sz="1400" dirty="0"/>
          </a:p>
        </p:txBody>
      </p:sp>
      <p:sp>
        <p:nvSpPr>
          <p:cNvPr id="13" name="Shape 11"/>
          <p:cNvSpPr/>
          <p:nvPr/>
        </p:nvSpPr>
        <p:spPr>
          <a:xfrm>
            <a:off x="6181344" y="3767328"/>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4" name="Shape 12"/>
          <p:cNvSpPr/>
          <p:nvPr/>
        </p:nvSpPr>
        <p:spPr>
          <a:xfrm>
            <a:off x="6181344" y="3877056"/>
            <a:ext cx="82296" cy="1956816"/>
          </a:xfrm>
          <a:prstGeom prst="rect">
            <a:avLst/>
          </a:prstGeom>
          <a:solidFill>
            <a:schemeClr val="accent1"/>
          </a:solidFill>
          <a:ln w="12700">
            <a:solidFill>
              <a:schemeClr val="accent1"/>
            </a:solidFill>
            <a:prstDash val="solid"/>
          </a:ln>
        </p:spPr>
      </p:sp>
      <p:sp>
        <p:nvSpPr>
          <p:cNvPr id="15" name="Text 13"/>
          <p:cNvSpPr txBox="1"/>
          <p:nvPr/>
        </p:nvSpPr>
        <p:spPr>
          <a:xfrm>
            <a:off x="6473952" y="3895344"/>
            <a:ext cx="5001768" cy="1938528"/>
          </a:xfrm>
          <a:prstGeom prst="rect">
            <a:avLst/>
          </a:prstGeom>
          <a:noFill/>
          <a:ln/>
        </p:spPr>
        <p:txBody>
          <a:bodyPr wrap="square" lIns="0" tIns="0" rIns="0" bIns="0" rtlCol="0" anchor="t"/>
          <a:lstStyle/>
          <a:p>
            <a:pPr indent="0" marL="0">
              <a:spcAft>
                <a:spcPts val="600"/>
              </a:spcAft>
              <a:buNone/>
            </a:pPr>
            <a:r>
              <a:rPr lang="en-US" sz="1300" b="1" spc="100" kern="0" dirty="0">
                <a:solidFill>
                  <a:schemeClr val="tx2"/>
                </a:solidFill>
              </a:rPr>
              <a:t>AMENAZAS (externas)</a:t>
            </a:r>
            <a:endParaRPr lang="en-US" sz="1400" dirty="0"/>
          </a:p>
          <a:p>
            <a:pPr marL="228600" indent="-228600">
              <a:spcAft>
                <a:spcPts val="600"/>
              </a:spcAft>
              <a:buSzPct val="100000"/>
              <a:buChar char="•"/>
            </a:pPr>
            <a:r>
              <a:rPr lang="en-US" sz="1500" dirty="0">
                <a:solidFill>
                  <a:schemeClr val="tx1"/>
                </a:solidFill>
              </a:rPr>
              <a:t>Bimbo a S/1.67 por 20 g en todo supermercado</a:t>
            </a:r>
            <a:endParaRPr lang="en-US" sz="1400" dirty="0"/>
          </a:p>
          <a:p>
            <a:pPr marL="228600" indent="-228600">
              <a:spcAft>
                <a:spcPts val="600"/>
              </a:spcAft>
              <a:buSzPct val="100000"/>
              <a:buChar char="•"/>
            </a:pPr>
            <a:r>
              <a:rPr lang="en-US" sz="1500" dirty="0">
                <a:solidFill>
                  <a:schemeClr val="tx1"/>
                </a:solidFill>
              </a:rPr>
              <a:t>Nutri H y Forticao, también con hierro hemo</a:t>
            </a:r>
            <a:endParaRPr lang="en-US" sz="1400" dirty="0"/>
          </a:p>
          <a:p>
            <a:pPr marL="228600" indent="-228600">
              <a:spcAft>
                <a:spcPts val="600"/>
              </a:spcAft>
              <a:buSzPct val="100000"/>
              <a:buChar char="•"/>
            </a:pPr>
            <a:r>
              <a:rPr lang="en-US" sz="1500" dirty="0">
                <a:solidFill>
                  <a:schemeClr val="tx1"/>
                </a:solidFill>
              </a:rPr>
              <a:t>Crédito caro (TEA de 35 %) y cacao volátil</a:t>
            </a:r>
            <a:endParaRPr lang="en-US" sz="1400" dirty="0"/>
          </a:p>
        </p:txBody>
      </p:sp>
      <p:sp>
        <p:nvSpPr>
          <p:cNvPr id="16" name="Text 1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T2_04 (FODA de Diana con AI Studio, corregido con HECHOS_v7 y Excel v7); INEI, 26-jun-2026; Plaza Vea, 19-oct-2026; APEIM 2025.</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#4 FODA CRUZADO · 15 ESTRATEGIAS, DOS POR CUADRANTE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Del FODA a la acción</a:t>
            </a:r>
            <a:endParaRPr lang="en-US" sz="3400" dirty="0"/>
          </a:p>
        </p:txBody>
      </p:sp>
      <p:sp>
        <p:nvSpPr>
          <p:cNvPr id="4" name="Shape 2"/>
          <p:cNvSpPr/>
          <p:nvPr/>
        </p:nvSpPr>
        <p:spPr>
          <a:xfrm>
            <a:off x="548640" y="1463040"/>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548640" y="1572768"/>
            <a:ext cx="82296" cy="1956816"/>
          </a:xfrm>
          <a:prstGeom prst="rect">
            <a:avLst/>
          </a:prstGeom>
          <a:solidFill>
            <a:schemeClr val="accent4"/>
          </a:solidFill>
          <a:ln w="12700">
            <a:solidFill>
              <a:schemeClr val="accent4"/>
            </a:solidFill>
            <a:prstDash val="solid"/>
          </a:ln>
        </p:spPr>
      </p:sp>
      <p:sp>
        <p:nvSpPr>
          <p:cNvPr id="6" name="Text 4"/>
          <p:cNvSpPr txBox="1"/>
          <p:nvPr/>
        </p:nvSpPr>
        <p:spPr>
          <a:xfrm>
            <a:off x="841248" y="1591056"/>
            <a:ext cx="5001768" cy="1938528"/>
          </a:xfrm>
          <a:prstGeom prst="rect">
            <a:avLst/>
          </a:prstGeom>
          <a:noFill/>
          <a:ln/>
        </p:spPr>
        <p:txBody>
          <a:bodyPr wrap="square" lIns="0" tIns="0" rIns="0" bIns="0" rtlCol="0" anchor="t"/>
          <a:lstStyle/>
          <a:p>
            <a:pPr indent="0" marL="0">
              <a:spcAft>
                <a:spcPts val="800"/>
              </a:spcAft>
              <a:buNone/>
            </a:pPr>
            <a:r>
              <a:rPr lang="en-US" sz="1300" b="1" spc="100" kern="0" dirty="0">
                <a:solidFill>
                  <a:schemeClr val="tx2"/>
                </a:solidFill>
              </a:rPr>
              <a:t>FO · EXPLOTAR</a:t>
            </a:r>
            <a:endParaRPr lang="en-US" sz="1400" dirty="0"/>
          </a:p>
          <a:p>
            <a:pPr marL="228600" indent="-228600">
              <a:spcAft>
                <a:spcPts val="800"/>
              </a:spcAft>
              <a:buSzPct val="100000"/>
              <a:buChar char="•"/>
            </a:pPr>
            <a:r>
              <a:rPr lang="en-US" sz="1500" dirty="0">
                <a:solidFill>
                  <a:schemeClr val="tx1"/>
                </a:solidFill>
              </a:rPr>
              <a:t>FO1 Quioscos con producto sin octógono, cuando lo confirme el laboratorio</a:t>
            </a:r>
            <a:endParaRPr lang="en-US" sz="1400" dirty="0"/>
          </a:p>
          <a:p>
            <a:pPr marL="228600" indent="-228600">
              <a:spcAft>
                <a:spcPts val="800"/>
              </a:spcAft>
              <a:buSzPct val="100000"/>
              <a:buChar char="•"/>
            </a:pPr>
            <a:r>
              <a:rPr lang="en-US" sz="1500" dirty="0">
                <a:solidFill>
                  <a:schemeClr val="tx1"/>
                </a:solidFill>
              </a:rPr>
              <a:t>FO3 Recompra por WhatsApp con el aviso de la app</a:t>
            </a:r>
            <a:endParaRPr lang="en-US" sz="1400" dirty="0"/>
          </a:p>
        </p:txBody>
      </p:sp>
      <p:sp>
        <p:nvSpPr>
          <p:cNvPr id="7" name="Shape 5"/>
          <p:cNvSpPr/>
          <p:nvPr/>
        </p:nvSpPr>
        <p:spPr>
          <a:xfrm>
            <a:off x="6181344" y="1463040"/>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Shape 6"/>
          <p:cNvSpPr/>
          <p:nvPr/>
        </p:nvSpPr>
        <p:spPr>
          <a:xfrm>
            <a:off x="6181344" y="1572768"/>
            <a:ext cx="82296" cy="1956816"/>
          </a:xfrm>
          <a:prstGeom prst="rect">
            <a:avLst/>
          </a:prstGeom>
          <a:solidFill>
            <a:schemeClr val="accent3"/>
          </a:solidFill>
          <a:ln w="12700">
            <a:solidFill>
              <a:schemeClr val="accent3"/>
            </a:solidFill>
            <a:prstDash val="solid"/>
          </a:ln>
        </p:spPr>
      </p:sp>
      <p:sp>
        <p:nvSpPr>
          <p:cNvPr id="9" name="Text 7"/>
          <p:cNvSpPr txBox="1"/>
          <p:nvPr/>
        </p:nvSpPr>
        <p:spPr>
          <a:xfrm>
            <a:off x="6473952" y="1591056"/>
            <a:ext cx="5001768" cy="1938528"/>
          </a:xfrm>
          <a:prstGeom prst="rect">
            <a:avLst/>
          </a:prstGeom>
          <a:noFill/>
          <a:ln/>
        </p:spPr>
        <p:txBody>
          <a:bodyPr wrap="square" lIns="0" tIns="0" rIns="0" bIns="0" rtlCol="0" anchor="t"/>
          <a:lstStyle/>
          <a:p>
            <a:pPr indent="0" marL="0">
              <a:spcAft>
                <a:spcPts val="800"/>
              </a:spcAft>
              <a:buNone/>
            </a:pPr>
            <a:r>
              <a:rPr lang="en-US" sz="1300" b="1" spc="100" kern="0" dirty="0">
                <a:solidFill>
                  <a:schemeClr val="tx2"/>
                </a:solidFill>
              </a:rPr>
              <a:t>DO · SUPERAR</a:t>
            </a:r>
            <a:endParaRPr lang="en-US" sz="1400" dirty="0"/>
          </a:p>
          <a:p>
            <a:pPr marL="228600" indent="-228600">
              <a:spcAft>
                <a:spcPts val="800"/>
              </a:spcAft>
              <a:buSzPct val="100000"/>
              <a:buChar char="•"/>
            </a:pPr>
            <a:r>
              <a:rPr lang="en-US" sz="1500" dirty="0">
                <a:solidFill>
                  <a:schemeClr val="tx1"/>
                </a:solidFill>
              </a:rPr>
              <a:t>DO1 "El niño prueba y el padre decide" en stands y ferias</a:t>
            </a:r>
            <a:endParaRPr lang="en-US" sz="1400" dirty="0"/>
          </a:p>
          <a:p>
            <a:pPr marL="228600" indent="-228600">
              <a:spcAft>
                <a:spcPts val="800"/>
              </a:spcAft>
              <a:buSzPct val="100000"/>
              <a:buChar char="•"/>
            </a:pPr>
            <a:r>
              <a:rPr lang="en-US" sz="1500" dirty="0">
                <a:solidFill>
                  <a:schemeClr val="tx1"/>
                </a:solidFill>
              </a:rPr>
              <a:t>DO2 Mamás embajadoras por salón con S/200 al mes</a:t>
            </a:r>
            <a:endParaRPr lang="en-US" sz="1400" dirty="0"/>
          </a:p>
        </p:txBody>
      </p:sp>
      <p:sp>
        <p:nvSpPr>
          <p:cNvPr id="10" name="Shape 8"/>
          <p:cNvSpPr/>
          <p:nvPr/>
        </p:nvSpPr>
        <p:spPr>
          <a:xfrm>
            <a:off x="548640" y="3767328"/>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Shape 9"/>
          <p:cNvSpPr/>
          <p:nvPr/>
        </p:nvSpPr>
        <p:spPr>
          <a:xfrm>
            <a:off x="548640" y="3877056"/>
            <a:ext cx="82296" cy="1956816"/>
          </a:xfrm>
          <a:prstGeom prst="rect">
            <a:avLst/>
          </a:prstGeom>
          <a:solidFill>
            <a:schemeClr val="accent2"/>
          </a:solidFill>
          <a:ln w="12700">
            <a:solidFill>
              <a:schemeClr val="accent2"/>
            </a:solidFill>
            <a:prstDash val="solid"/>
          </a:ln>
        </p:spPr>
      </p:sp>
      <p:sp>
        <p:nvSpPr>
          <p:cNvPr id="12" name="Text 10"/>
          <p:cNvSpPr txBox="1"/>
          <p:nvPr/>
        </p:nvSpPr>
        <p:spPr>
          <a:xfrm>
            <a:off x="841248" y="3895344"/>
            <a:ext cx="5001768" cy="1938528"/>
          </a:xfrm>
          <a:prstGeom prst="rect">
            <a:avLst/>
          </a:prstGeom>
          <a:noFill/>
          <a:ln/>
        </p:spPr>
        <p:txBody>
          <a:bodyPr wrap="square" lIns="0" tIns="0" rIns="0" bIns="0" rtlCol="0" anchor="t"/>
          <a:lstStyle/>
          <a:p>
            <a:pPr indent="0" marL="0">
              <a:spcAft>
                <a:spcPts val="800"/>
              </a:spcAft>
              <a:buNone/>
            </a:pPr>
            <a:r>
              <a:rPr lang="en-US" sz="1300" b="1" spc="100" kern="0" dirty="0">
                <a:solidFill>
                  <a:schemeClr val="tx2"/>
                </a:solidFill>
              </a:rPr>
              <a:t>FA · PROTEGER</a:t>
            </a:r>
            <a:endParaRPr lang="en-US" sz="1400" dirty="0"/>
          </a:p>
          <a:p>
            <a:pPr marL="228600" indent="-228600">
              <a:spcAft>
                <a:spcPts val="800"/>
              </a:spcAft>
              <a:buSzPct val="100000"/>
              <a:buChar char="•"/>
            </a:pPr>
            <a:r>
              <a:rPr lang="en-US" sz="1500" dirty="0">
                <a:solidFill>
                  <a:schemeClr val="tx1"/>
                </a:solidFill>
              </a:rPr>
              <a:t>FA1 Frente a Fika y La Purita, el dato del lote</a:t>
            </a:r>
            <a:endParaRPr lang="en-US" sz="1400" dirty="0"/>
          </a:p>
          <a:p>
            <a:pPr marL="228600" indent="-228600">
              <a:spcAft>
                <a:spcPts val="800"/>
              </a:spcAft>
              <a:buSzPct val="100000"/>
              <a:buChar char="•"/>
            </a:pPr>
            <a:r>
              <a:rPr lang="en-US" sz="1500" dirty="0">
                <a:solidFill>
                  <a:schemeClr val="tx1"/>
                </a:solidFill>
              </a:rPr>
              <a:t>FA3 Ganar a la galleta funcional por formato y sabor, sin nombrarla</a:t>
            </a:r>
            <a:endParaRPr lang="en-US" sz="1400" dirty="0"/>
          </a:p>
        </p:txBody>
      </p:sp>
      <p:sp>
        <p:nvSpPr>
          <p:cNvPr id="13" name="Shape 11"/>
          <p:cNvSpPr/>
          <p:nvPr/>
        </p:nvSpPr>
        <p:spPr>
          <a:xfrm>
            <a:off x="6181344" y="3767328"/>
            <a:ext cx="5458968" cy="2176272"/>
          </a:xfrm>
          <a:prstGeom prst="roundRect">
            <a:avLst>
              <a:gd name="adj" fmla="val 5042"/>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4" name="Shape 12"/>
          <p:cNvSpPr/>
          <p:nvPr/>
        </p:nvSpPr>
        <p:spPr>
          <a:xfrm>
            <a:off x="6181344" y="3877056"/>
            <a:ext cx="82296" cy="1956816"/>
          </a:xfrm>
          <a:prstGeom prst="rect">
            <a:avLst/>
          </a:prstGeom>
          <a:solidFill>
            <a:schemeClr val="accent1"/>
          </a:solidFill>
          <a:ln w="12700">
            <a:solidFill>
              <a:schemeClr val="accent1"/>
            </a:solidFill>
            <a:prstDash val="solid"/>
          </a:ln>
        </p:spPr>
      </p:sp>
      <p:sp>
        <p:nvSpPr>
          <p:cNvPr id="15" name="Text 13"/>
          <p:cNvSpPr txBox="1"/>
          <p:nvPr/>
        </p:nvSpPr>
        <p:spPr>
          <a:xfrm>
            <a:off x="6473952" y="3895344"/>
            <a:ext cx="5001768" cy="1938528"/>
          </a:xfrm>
          <a:prstGeom prst="rect">
            <a:avLst/>
          </a:prstGeom>
          <a:noFill/>
          <a:ln/>
        </p:spPr>
        <p:txBody>
          <a:bodyPr wrap="square" lIns="0" tIns="0" rIns="0" bIns="0" rtlCol="0" anchor="t"/>
          <a:lstStyle/>
          <a:p>
            <a:pPr indent="0" marL="0">
              <a:spcAft>
                <a:spcPts val="800"/>
              </a:spcAft>
              <a:buNone/>
            </a:pPr>
            <a:r>
              <a:rPr lang="en-US" sz="1300" b="1" spc="100" kern="0" dirty="0">
                <a:solidFill>
                  <a:schemeClr val="tx2"/>
                </a:solidFill>
              </a:rPr>
              <a:t>DA · MITIGAR</a:t>
            </a:r>
            <a:endParaRPr lang="en-US" sz="1400" dirty="0"/>
          </a:p>
          <a:p>
            <a:pPr marL="228600" indent="-228600">
              <a:spcAft>
                <a:spcPts val="800"/>
              </a:spcAft>
              <a:buSzPct val="100000"/>
              <a:buChar char="•"/>
            </a:pPr>
            <a:r>
              <a:rPr lang="en-US" sz="1500" dirty="0">
                <a:solidFill>
                  <a:schemeClr val="tx1"/>
                </a:solidFill>
              </a:rPr>
              <a:t>DA1 Validar en puntos propios antes de ir a góndola (año 2)</a:t>
            </a:r>
            <a:endParaRPr lang="en-US" sz="1400" dirty="0"/>
          </a:p>
          <a:p>
            <a:pPr marL="228600" indent="-228600">
              <a:spcAft>
                <a:spcPts val="800"/>
              </a:spcAft>
              <a:buSzPct val="100000"/>
              <a:buChar char="•"/>
            </a:pPr>
            <a:r>
              <a:rPr lang="en-US" sz="1500" dirty="0">
                <a:solidFill>
                  <a:schemeClr val="tx1"/>
                </a:solidFill>
              </a:rPr>
              <a:t>DA2 Cuidar la caja en vacaciones; línea de crédito solo si baja de S/1,000</a:t>
            </a:r>
            <a:endParaRPr lang="en-US" sz="1400" dirty="0"/>
          </a:p>
        </p:txBody>
      </p:sp>
      <p:sp>
        <p:nvSpPr>
          <p:cNvPr id="16" name="Text 1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T2_04, sección 2 (FODA cruzado de Diana, transcrito de AI Studio y corregido); las 15 estrategias usan acciones ya decididas del plan.</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02</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Mercado</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Datos del mercado · Demanda 2027 · Objetivos SMART</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#5 DATOS DEL MERCADO · EMBUDO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Una meta del 1.4 % del núcleo</a:t>
            </a:r>
            <a:endParaRPr lang="en-US" sz="3400" dirty="0"/>
          </a:p>
        </p:txBody>
      </p:sp>
      <p:sp>
        <p:nvSpPr>
          <p:cNvPr id="4" name="Shape 2"/>
          <p:cNvSpPr/>
          <p:nvPr/>
        </p:nvSpPr>
        <p:spPr>
          <a:xfrm>
            <a:off x="548640" y="1554480"/>
            <a:ext cx="7315200" cy="960120"/>
          </a:xfrm>
          <a:prstGeom prst="roundRect">
            <a:avLst>
              <a:gd name="adj" fmla="val 1142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731520" y="1645920"/>
            <a:ext cx="6949440" cy="777240"/>
          </a:xfrm>
          <a:prstGeom prst="rect">
            <a:avLst/>
          </a:prstGeom>
          <a:noFill/>
          <a:ln/>
        </p:spPr>
        <p:txBody>
          <a:bodyPr wrap="square" lIns="0" tIns="0" rIns="0" bIns="0" rtlCol="0" anchor="ctr"/>
          <a:lstStyle/>
          <a:p>
            <a:pPr algn="ctr" indent="0" marL="0">
              <a:buNone/>
            </a:pPr>
            <a:r>
              <a:rPr lang="en-US" sz="1600" b="1" dirty="0">
                <a:solidFill>
                  <a:schemeClr val="tx2"/>
                </a:solidFill>
              </a:rPr>
              <a:t>Mercado total · S/130.9 millones</a:t>
            </a:r>
            <a:endParaRPr lang="en-US" sz="1400" dirty="0"/>
          </a:p>
          <a:p>
            <a:pPr algn="ctr" indent="0" marL="0">
              <a:buNone/>
            </a:pPr>
            <a:r>
              <a:rPr lang="en-US" sz="1250" dirty="0">
                <a:solidFill>
                  <a:schemeClr val="tx1"/>
                </a:solidFill>
              </a:rPr>
              <a:t>932,000 hogares de Lima con lonchera envasada</a:t>
            </a:r>
            <a:endParaRPr lang="en-US" sz="1400" dirty="0"/>
          </a:p>
        </p:txBody>
      </p:sp>
      <p:sp>
        <p:nvSpPr>
          <p:cNvPr id="6" name="Shape 4"/>
          <p:cNvSpPr/>
          <p:nvPr/>
        </p:nvSpPr>
        <p:spPr>
          <a:xfrm>
            <a:off x="1097280" y="2651760"/>
            <a:ext cx="6217920" cy="960120"/>
          </a:xfrm>
          <a:prstGeom prst="roundRect">
            <a:avLst>
              <a:gd name="adj" fmla="val 1142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1280160" y="2743200"/>
            <a:ext cx="5852160" cy="777240"/>
          </a:xfrm>
          <a:prstGeom prst="rect">
            <a:avLst/>
          </a:prstGeom>
          <a:noFill/>
          <a:ln/>
        </p:spPr>
        <p:txBody>
          <a:bodyPr wrap="square" lIns="0" tIns="0" rIns="0" bIns="0" rtlCol="0" anchor="ctr"/>
          <a:lstStyle/>
          <a:p>
            <a:pPr algn="ctr" indent="0" marL="0">
              <a:buNone/>
            </a:pPr>
            <a:r>
              <a:rPr lang="en-US" sz="1600" b="1" dirty="0">
                <a:solidFill>
                  <a:schemeClr val="tx2"/>
                </a:solidFill>
              </a:rPr>
              <a:t>Mercado al que apuntamos · S/62.8 millones</a:t>
            </a:r>
            <a:endParaRPr lang="en-US" sz="1400" dirty="0"/>
          </a:p>
          <a:p>
            <a:pPr algn="ctr" indent="0" marL="0">
              <a:buNone/>
            </a:pPr>
            <a:r>
              <a:rPr lang="en-US" sz="1250" dirty="0">
                <a:solidFill>
                  <a:schemeClr val="tx1"/>
                </a:solidFill>
              </a:rPr>
              <a:t>168,000 hogares A/B de toda Lima</a:t>
            </a:r>
            <a:endParaRPr lang="en-US" sz="1400" dirty="0"/>
          </a:p>
        </p:txBody>
      </p:sp>
      <p:sp>
        <p:nvSpPr>
          <p:cNvPr id="8" name="Shape 6"/>
          <p:cNvSpPr/>
          <p:nvPr/>
        </p:nvSpPr>
        <p:spPr>
          <a:xfrm>
            <a:off x="1645920" y="3749040"/>
            <a:ext cx="5120640" cy="960120"/>
          </a:xfrm>
          <a:prstGeom prst="roundRect">
            <a:avLst>
              <a:gd name="adj" fmla="val 1142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1828800" y="3840480"/>
            <a:ext cx="4754880" cy="777240"/>
          </a:xfrm>
          <a:prstGeom prst="rect">
            <a:avLst/>
          </a:prstGeom>
          <a:noFill/>
          <a:ln/>
        </p:spPr>
        <p:txBody>
          <a:bodyPr wrap="square" lIns="0" tIns="0" rIns="0" bIns="0" rtlCol="0" anchor="ctr"/>
          <a:lstStyle/>
          <a:p>
            <a:pPr algn="ctr" indent="0" marL="0">
              <a:buNone/>
            </a:pPr>
            <a:r>
              <a:rPr lang="en-US" sz="1600" b="1" dirty="0">
                <a:solidFill>
                  <a:schemeClr val="bg1"/>
                </a:solidFill>
              </a:rPr>
              <a:t>Núcleo · S/17.3 millones</a:t>
            </a:r>
            <a:endParaRPr lang="en-US" sz="1400" dirty="0"/>
          </a:p>
          <a:p>
            <a:pPr algn="ctr" indent="0" marL="0">
              <a:buNone/>
            </a:pPr>
            <a:r>
              <a:rPr lang="en-US" sz="1250" dirty="0">
                <a:solidFill>
                  <a:schemeClr val="bg2"/>
                </a:solidFill>
              </a:rPr>
              <a:t>46,000 hogares A/B con niños de 4 a 11 en Lima Top y Moderna</a:t>
            </a:r>
            <a:endParaRPr lang="en-US" sz="1400" dirty="0"/>
          </a:p>
        </p:txBody>
      </p:sp>
      <p:sp>
        <p:nvSpPr>
          <p:cNvPr id="10" name="Shape 8"/>
          <p:cNvSpPr/>
          <p:nvPr/>
        </p:nvSpPr>
        <p:spPr>
          <a:xfrm>
            <a:off x="2194560" y="4846320"/>
            <a:ext cx="4023360" cy="960120"/>
          </a:xfrm>
          <a:prstGeom prst="roundRect">
            <a:avLst>
              <a:gd name="adj" fmla="val 1142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2377440" y="4937760"/>
            <a:ext cx="3657600" cy="777240"/>
          </a:xfrm>
          <a:prstGeom prst="rect">
            <a:avLst/>
          </a:prstGeom>
          <a:noFill/>
          <a:ln/>
        </p:spPr>
        <p:txBody>
          <a:bodyPr wrap="square" lIns="0" tIns="0" rIns="0" bIns="0" rtlCol="0" anchor="ctr"/>
          <a:lstStyle/>
          <a:p>
            <a:pPr algn="ctr" indent="0" marL="0">
              <a:buNone/>
            </a:pPr>
            <a:r>
              <a:rPr lang="en-US" sz="1600" b="1" dirty="0">
                <a:solidFill>
                  <a:schemeClr val="bg1"/>
                </a:solidFill>
              </a:rPr>
              <a:t>Meta del año 1 · S/244,728</a:t>
            </a:r>
            <a:endParaRPr lang="en-US" sz="1400" dirty="0"/>
          </a:p>
          <a:p>
            <a:pPr algn="ctr" indent="0" marL="0">
              <a:buNone/>
            </a:pPr>
            <a:r>
              <a:rPr lang="en-US" sz="1250" dirty="0">
                <a:solidFill>
                  <a:schemeClr val="bg2"/>
                </a:solidFill>
              </a:rPr>
              <a:t>52,331 brownies en 2027</a:t>
            </a:r>
            <a:endParaRPr lang="en-US" sz="1400" dirty="0"/>
          </a:p>
        </p:txBody>
      </p:sp>
      <p:sp>
        <p:nvSpPr>
          <p:cNvPr id="12" name="Shape 10"/>
          <p:cNvSpPr/>
          <p:nvPr/>
        </p:nvSpPr>
        <p:spPr>
          <a:xfrm>
            <a:off x="8092440" y="1554480"/>
            <a:ext cx="3547872" cy="4343400"/>
          </a:xfrm>
          <a:prstGeom prst="roundRect">
            <a:avLst>
              <a:gd name="adj" fmla="val 3093"/>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8366760" y="1737360"/>
            <a:ext cx="2999232" cy="397764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META ÷ NÚCLEO</a:t>
            </a:r>
            <a:endParaRPr lang="en-US" sz="1400" dirty="0"/>
          </a:p>
          <a:p>
            <a:pPr indent="0" marL="0">
              <a:spcAft>
                <a:spcPts val="400"/>
              </a:spcAft>
              <a:buNone/>
            </a:pPr>
            <a:r>
              <a:rPr lang="en-US" sz="6000" b="1" dirty="0">
                <a:solidFill>
                  <a:schemeClr val="bg1"/>
                </a:solidFill>
              </a:rPr>
              <a:t>1.4 %</a:t>
            </a:r>
            <a:endParaRPr lang="en-US" sz="1400" dirty="0"/>
          </a:p>
          <a:p>
            <a:pPr indent="0" marL="0">
              <a:spcAft>
                <a:spcPts val="400"/>
              </a:spcAft>
              <a:buNone/>
            </a:pPr>
            <a:r>
              <a:rPr lang="en-US" sz="1400" dirty="0">
                <a:solidFill>
                  <a:schemeClr val="accent5"/>
                </a:solidFill>
              </a:rPr>
              <a:t>S/244,728 ÷ S/17.3 millones. Con el ajuste del Censo 2025 (−5 %) sería 1.5 %. Es una meta baja y posible.</a:t>
            </a:r>
            <a:endParaRPr lang="en-US" sz="1400" dirty="0"/>
          </a:p>
        </p:txBody>
      </p:sp>
      <p:sp>
        <p:nvSpPr>
          <p:cNvPr id="14" name="Text 1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APEIM, NSE 2025; documento 04, sección 1.11 (embudo, con hipótesis de 40 % de loncheras con horneado); Excel v7; T2_05.</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#5 DATOS DEL MERCADO · INGRESO Y CONFIANZA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Padres que pueden pagar y piden pruebas</a:t>
            </a:r>
            <a:endParaRPr lang="en-US" sz="3400" dirty="0"/>
          </a:p>
        </p:txBody>
      </p:sp>
      <p:sp>
        <p:nvSpPr>
          <p:cNvPr id="4" name="Shape 2"/>
          <p:cNvSpPr/>
          <p:nvPr/>
        </p:nvSpPr>
        <p:spPr>
          <a:xfrm>
            <a:off x="548640" y="1554480"/>
            <a:ext cx="2633472" cy="3566160"/>
          </a:xfrm>
          <a:prstGeom prst="roundRect">
            <a:avLst>
              <a:gd name="adj" fmla="val 416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737360"/>
            <a:ext cx="2084832" cy="320040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1"/>
                </a:solidFill>
              </a:rPr>
              <a:t>HOGAR A</a:t>
            </a:r>
            <a:endParaRPr lang="en-US" sz="1400" dirty="0"/>
          </a:p>
          <a:p>
            <a:pPr indent="0" marL="0">
              <a:spcAft>
                <a:spcPts val="400"/>
              </a:spcAft>
              <a:buNone/>
            </a:pPr>
            <a:r>
              <a:rPr lang="en-US" sz="3600" b="1" dirty="0">
                <a:solidFill>
                  <a:schemeClr val="tx2"/>
                </a:solidFill>
              </a:rPr>
              <a:t>S/14,584</a:t>
            </a:r>
            <a:endParaRPr lang="en-US" sz="1400" dirty="0"/>
          </a:p>
          <a:p>
            <a:pPr indent="0" marL="0">
              <a:spcAft>
                <a:spcPts val="400"/>
              </a:spcAft>
              <a:buNone/>
            </a:pPr>
            <a:r>
              <a:rPr lang="en-US" sz="1400" dirty="0">
                <a:solidFill>
                  <a:schemeClr val="tx1"/>
                </a:solidFill>
              </a:rPr>
              <a:t>de ingreso al mes; gasta S/1,078 en educación</a:t>
            </a:r>
            <a:endParaRPr lang="en-US" sz="1400" dirty="0"/>
          </a:p>
        </p:txBody>
      </p:sp>
      <p:sp>
        <p:nvSpPr>
          <p:cNvPr id="6" name="Shape 4"/>
          <p:cNvSpPr/>
          <p:nvPr/>
        </p:nvSpPr>
        <p:spPr>
          <a:xfrm>
            <a:off x="3364992" y="1554480"/>
            <a:ext cx="2633472" cy="3566160"/>
          </a:xfrm>
          <a:prstGeom prst="roundRect">
            <a:avLst>
              <a:gd name="adj" fmla="val 416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3639312" y="1737360"/>
            <a:ext cx="2084832" cy="320040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1"/>
                </a:solidFill>
              </a:rPr>
              <a:t>HOGAR B</a:t>
            </a:r>
            <a:endParaRPr lang="en-US" sz="1400" dirty="0"/>
          </a:p>
          <a:p>
            <a:pPr indent="0" marL="0">
              <a:spcAft>
                <a:spcPts val="400"/>
              </a:spcAft>
              <a:buNone/>
            </a:pPr>
            <a:r>
              <a:rPr lang="en-US" sz="3600" b="1" dirty="0">
                <a:solidFill>
                  <a:schemeClr val="tx2"/>
                </a:solidFill>
              </a:rPr>
              <a:t>S/7,787</a:t>
            </a:r>
            <a:endParaRPr lang="en-US" sz="1400" dirty="0"/>
          </a:p>
          <a:p>
            <a:pPr indent="0" marL="0">
              <a:spcAft>
                <a:spcPts val="400"/>
              </a:spcAft>
              <a:buNone/>
            </a:pPr>
            <a:r>
              <a:rPr lang="en-US" sz="1400" dirty="0">
                <a:solidFill>
                  <a:schemeClr val="tx1"/>
                </a:solidFill>
              </a:rPr>
              <a:t>de ingreso al mes; gasta S/566 en educación</a:t>
            </a:r>
            <a:endParaRPr lang="en-US" sz="1400" dirty="0"/>
          </a:p>
        </p:txBody>
      </p:sp>
      <p:sp>
        <p:nvSpPr>
          <p:cNvPr id="8" name="Shape 6"/>
          <p:cNvSpPr/>
          <p:nvPr/>
        </p:nvSpPr>
        <p:spPr>
          <a:xfrm>
            <a:off x="6181344" y="1554480"/>
            <a:ext cx="2633472" cy="3566160"/>
          </a:xfrm>
          <a:prstGeom prst="roundRect">
            <a:avLst>
              <a:gd name="adj" fmla="val 4167"/>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6455664" y="1737360"/>
            <a:ext cx="2084832" cy="320040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OCTÓGONOS</a:t>
            </a:r>
            <a:endParaRPr lang="en-US" sz="1400" dirty="0"/>
          </a:p>
          <a:p>
            <a:pPr indent="0" marL="0">
              <a:spcAft>
                <a:spcPts val="400"/>
              </a:spcAft>
              <a:buNone/>
            </a:pPr>
            <a:r>
              <a:rPr lang="en-US" sz="3600" b="1" dirty="0">
                <a:solidFill>
                  <a:schemeClr val="bg1"/>
                </a:solidFill>
              </a:rPr>
              <a:t>83 %</a:t>
            </a:r>
            <a:endParaRPr lang="en-US" sz="1400" dirty="0"/>
          </a:p>
          <a:p>
            <a:pPr indent="0" marL="0">
              <a:spcAft>
                <a:spcPts val="400"/>
              </a:spcAft>
              <a:buNone/>
            </a:pPr>
            <a:r>
              <a:rPr lang="en-US" sz="1400" dirty="0">
                <a:solidFill>
                  <a:schemeClr val="accent5"/>
                </a:solidFill>
              </a:rPr>
              <a:t>dice que los octógonos cambian su compra</a:t>
            </a:r>
            <a:endParaRPr lang="en-US" sz="1400" dirty="0"/>
          </a:p>
        </p:txBody>
      </p:sp>
      <p:sp>
        <p:nvSpPr>
          <p:cNvPr id="10" name="Shape 8"/>
          <p:cNvSpPr/>
          <p:nvPr/>
        </p:nvSpPr>
        <p:spPr>
          <a:xfrm>
            <a:off x="8997696" y="1554480"/>
            <a:ext cx="2633472" cy="3566160"/>
          </a:xfrm>
          <a:prstGeom prst="roundRect">
            <a:avLst>
              <a:gd name="adj" fmla="val 4167"/>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9272016" y="1737360"/>
            <a:ext cx="2084832" cy="320040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DESCONFIANZA</a:t>
            </a:r>
            <a:endParaRPr lang="en-US" sz="1400" dirty="0"/>
          </a:p>
          <a:p>
            <a:pPr indent="0" marL="0">
              <a:spcAft>
                <a:spcPts val="400"/>
              </a:spcAft>
              <a:buNone/>
            </a:pPr>
            <a:r>
              <a:rPr lang="en-US" sz="3600" b="1" dirty="0">
                <a:solidFill>
                  <a:schemeClr val="bg1"/>
                </a:solidFill>
              </a:rPr>
              <a:t>42 %</a:t>
            </a:r>
            <a:endParaRPr lang="en-US" sz="1400" dirty="0"/>
          </a:p>
          <a:p>
            <a:pPr indent="0" marL="0">
              <a:spcAft>
                <a:spcPts val="400"/>
              </a:spcAft>
              <a:buNone/>
            </a:pPr>
            <a:r>
              <a:rPr lang="en-US" sz="1400" dirty="0">
                <a:solidFill>
                  <a:schemeClr val="accent5"/>
                </a:solidFill>
              </a:rPr>
              <a:t>desconfía de que un envasado sea saludable</a:t>
            </a:r>
            <a:endParaRPr lang="en-US" sz="1400" dirty="0"/>
          </a:p>
        </p:txBody>
      </p:sp>
      <p:sp>
        <p:nvSpPr>
          <p:cNvPr id="12" name="Shape 10"/>
          <p:cNvSpPr/>
          <p:nvPr/>
        </p:nvSpPr>
        <p:spPr>
          <a:xfrm>
            <a:off x="548640" y="534924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822960" y="534924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En Lima Top, 7 de cada 10 hogares A/B son B: por eso el esfuerzo es parejo para A y B.</a:t>
            </a:r>
            <a:endParaRPr lang="en-US" sz="1400" dirty="0"/>
          </a:p>
        </p:txBody>
      </p:sp>
      <p:sp>
        <p:nvSpPr>
          <p:cNvPr id="14" name="Text 1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APEIM, Niveles Socioeconómicos 2025 (set-2025); Ipsos Perú, 21-feb-2025; Kantar, 15-may-2025 (T2_05).</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#6 PROYECCIÓN DE DEMANDA 2027</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52,331 brownies en 2027, mes a mes</a:t>
            </a:r>
            <a:endParaRPr lang="en-US" sz="3400" dirty="0"/>
          </a:p>
        </p:txBody>
      </p:sp>
      <p:graphicFrame>
        <p:nvGraphicFramePr>
          <p:cNvPr id="4" name="Chart 0" descr=""/>
          <p:cNvGraphicFramePr/>
          <p:nvPr/>
        </p:nvGraphicFramePr>
        <p:xfrm>
          <a:off x="365760" y="1417320"/>
          <a:ext cx="7589520" cy="4617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554480"/>
            <a:ext cx="3547872" cy="4343400"/>
          </a:xfrm>
          <a:prstGeom prst="roundRect">
            <a:avLst>
              <a:gd name="adj" fmla="val 309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321040" y="1783080"/>
            <a:ext cx="3108960" cy="3931920"/>
          </a:xfrm>
          <a:prstGeom prst="rect">
            <a:avLst/>
          </a:prstGeom>
          <a:noFill/>
          <a:ln/>
        </p:spPr>
        <p:txBody>
          <a:bodyPr wrap="square" lIns="0" tIns="0" rIns="0" bIns="0" rtlCol="0" anchor="t"/>
          <a:lstStyle/>
          <a:p>
            <a:pPr indent="0" marL="0">
              <a:spcAft>
                <a:spcPts val="900"/>
              </a:spcAft>
              <a:buNone/>
            </a:pPr>
            <a:r>
              <a:rPr lang="en-US" sz="1200" b="1" spc="100" kern="0" dirty="0">
                <a:solidFill>
                  <a:schemeClr val="accent1"/>
                </a:solidFill>
              </a:rPr>
              <a:t>LECTURA</a:t>
            </a:r>
            <a:endParaRPr lang="en-US" sz="1400" dirty="0"/>
          </a:p>
          <a:p>
            <a:pPr marL="203200" indent="-203200">
              <a:spcAft>
                <a:spcPts val="900"/>
              </a:spcAft>
              <a:buSzPct val="100000"/>
              <a:buChar char="•"/>
            </a:pPr>
            <a:r>
              <a:rPr lang="en-US" sz="1500" dirty="0">
                <a:solidFill>
                  <a:schemeClr val="tx1"/>
                </a:solidFill>
              </a:rPr>
              <a:t>870 en enero y más de 5,200 al mes desde agosto.</a:t>
            </a:r>
            <a:endParaRPr lang="en-US" sz="1400" dirty="0"/>
          </a:p>
          <a:p>
            <a:pPr marL="203200" indent="-203200">
              <a:spcAft>
                <a:spcPts val="900"/>
              </a:spcAft>
              <a:buSzPct val="100000"/>
              <a:buChar char="•"/>
            </a:pPr>
            <a:r>
              <a:rPr lang="en-US" sz="1500" dirty="0">
                <a:solidFill>
                  <a:schemeClr val="tx1"/>
                </a:solidFill>
              </a:rPr>
              <a:t>Por fase: 3,700 (ene-feb), 20,320 (mar-jul) y 28,311 (ago-dic).</a:t>
            </a:r>
            <a:endParaRPr lang="en-US" sz="1400" dirty="0"/>
          </a:p>
          <a:p>
            <a:pPr marL="203200" indent="-203200">
              <a:spcAft>
                <a:spcPts val="900"/>
              </a:spcAft>
              <a:buSzPct val="100000"/>
              <a:buChar char="•"/>
            </a:pPr>
            <a:r>
              <a:rPr lang="en-US" sz="1500" dirty="0">
                <a:solidFill>
                  <a:schemeClr val="tx1"/>
                </a:solidFill>
              </a:rPr>
              <a:t>Stands 43 %, recompra 18 %, colegios 17.5 %.</a:t>
            </a:r>
            <a:endParaRPr lang="en-US" sz="1400" dirty="0"/>
          </a:p>
          <a:p>
            <a:pPr marL="203200" indent="-203200">
              <a:spcAft>
                <a:spcPts val="900"/>
              </a:spcAft>
              <a:buSzPct val="100000"/>
              <a:buChar char="•"/>
            </a:pPr>
            <a:r>
              <a:rPr lang="en-US" sz="1500" dirty="0">
                <a:solidFill>
                  <a:schemeClr val="tx1"/>
                </a:solidFill>
              </a:rPr>
              <a:t>S/244,728 con IGV; desde marzo todos los meses ganan.</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Excel v7, hoja Mensual, filas 14 a 19 y 29 (T2_06). Método de abajo hacia arriba: puntos × días × brownies por día, más ferias, eventos, recompra, colegios y naturistas.</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#6 ESCENARIOS · STANDS ±20 %</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Aun con 20 % menos, el año 1 no pierde</a:t>
            </a:r>
            <a:endParaRPr lang="en-US" sz="3400" dirty="0"/>
          </a:p>
        </p:txBody>
      </p:sp>
      <p:sp>
        <p:nvSpPr>
          <p:cNvPr id="4" name="Shape 2"/>
          <p:cNvSpPr/>
          <p:nvPr/>
        </p:nvSpPr>
        <p:spPr>
          <a:xfrm>
            <a:off x="548640" y="1554480"/>
            <a:ext cx="3575304" cy="361188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737360"/>
            <a:ext cx="3026664" cy="324612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1"/>
                </a:solidFill>
              </a:rPr>
              <a:t>STANDS −20 %</a:t>
            </a:r>
            <a:endParaRPr lang="en-US" sz="1400" dirty="0"/>
          </a:p>
          <a:p>
            <a:pPr indent="0" marL="0">
              <a:spcAft>
                <a:spcPts val="400"/>
              </a:spcAft>
              <a:buNone/>
            </a:pPr>
            <a:r>
              <a:rPr lang="en-US" sz="4200" b="1" dirty="0">
                <a:solidFill>
                  <a:schemeClr val="tx2"/>
                </a:solidFill>
              </a:rPr>
              <a:t>S/608</a:t>
            </a:r>
            <a:endParaRPr lang="en-US" sz="1400" dirty="0"/>
          </a:p>
          <a:p>
            <a:pPr indent="0" marL="0">
              <a:spcAft>
                <a:spcPts val="400"/>
              </a:spcAft>
              <a:buNone/>
            </a:pPr>
            <a:r>
              <a:rPr lang="en-US" sz="1450" dirty="0">
                <a:solidFill>
                  <a:schemeClr val="tx1"/>
                </a:solidFill>
              </a:rPr>
              <a:t>de resultado operativo. La caja baja a −S/2,188 en agosto y la cubre la línea de crédito de S/3,000.</a:t>
            </a:r>
            <a:endParaRPr lang="en-US" sz="1400" dirty="0"/>
          </a:p>
        </p:txBody>
      </p:sp>
      <p:sp>
        <p:nvSpPr>
          <p:cNvPr id="6" name="Shape 4"/>
          <p:cNvSpPr/>
          <p:nvPr/>
        </p:nvSpPr>
        <p:spPr>
          <a:xfrm>
            <a:off x="4306824" y="1554480"/>
            <a:ext cx="3575304" cy="3611880"/>
          </a:xfrm>
          <a:prstGeom prst="roundRect">
            <a:avLst>
              <a:gd name="adj" fmla="val 306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4581144" y="1737360"/>
            <a:ext cx="3026664" cy="324612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PLAN BASE</a:t>
            </a:r>
            <a:endParaRPr lang="en-US" sz="1400" dirty="0"/>
          </a:p>
          <a:p>
            <a:pPr indent="0" marL="0">
              <a:spcAft>
                <a:spcPts val="400"/>
              </a:spcAft>
              <a:buNone/>
            </a:pPr>
            <a:r>
              <a:rPr lang="en-US" sz="4200" b="1" dirty="0">
                <a:solidFill>
                  <a:schemeClr val="bg1"/>
                </a:solidFill>
              </a:rPr>
              <a:t>S/13,423</a:t>
            </a:r>
            <a:endParaRPr lang="en-US" sz="1400" dirty="0"/>
          </a:p>
          <a:p>
            <a:pPr indent="0" marL="0">
              <a:spcAft>
                <a:spcPts val="400"/>
              </a:spcAft>
              <a:buNone/>
            </a:pPr>
            <a:r>
              <a:rPr lang="en-US" sz="1450" dirty="0">
                <a:solidFill>
                  <a:schemeClr val="accent5"/>
                </a:solidFill>
              </a:rPr>
              <a:t>de resultado operativo (6.5 %) y S/10,379 de utilidad neta en 2027.</a:t>
            </a:r>
            <a:endParaRPr lang="en-US" sz="1400" dirty="0"/>
          </a:p>
        </p:txBody>
      </p:sp>
      <p:sp>
        <p:nvSpPr>
          <p:cNvPr id="8" name="Shape 6"/>
          <p:cNvSpPr/>
          <p:nvPr/>
        </p:nvSpPr>
        <p:spPr>
          <a:xfrm>
            <a:off x="8065008" y="1554480"/>
            <a:ext cx="3575304" cy="361188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8339328" y="1737360"/>
            <a:ext cx="3026664" cy="324612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1"/>
                </a:solidFill>
              </a:rPr>
              <a:t>STANDS +20 %</a:t>
            </a:r>
            <a:endParaRPr lang="en-US" sz="1400" dirty="0"/>
          </a:p>
          <a:p>
            <a:pPr indent="0" marL="0">
              <a:spcAft>
                <a:spcPts val="400"/>
              </a:spcAft>
              <a:buNone/>
            </a:pPr>
            <a:r>
              <a:rPr lang="en-US" sz="4200" b="1" dirty="0">
                <a:solidFill>
                  <a:schemeClr val="tx2"/>
                </a:solidFill>
              </a:rPr>
              <a:t>S/26,237</a:t>
            </a:r>
            <a:endParaRPr lang="en-US" sz="1400" dirty="0"/>
          </a:p>
          <a:p>
            <a:pPr indent="0" marL="0">
              <a:spcAft>
                <a:spcPts val="400"/>
              </a:spcAft>
              <a:buNone/>
            </a:pPr>
            <a:r>
              <a:rPr lang="en-US" sz="1450" dirty="0">
                <a:solidFill>
                  <a:schemeClr val="tx1"/>
                </a:solidFill>
              </a:rPr>
              <a:t>de resultado operativo: casi el doble del plan base.</a:t>
            </a:r>
            <a:endParaRPr lang="en-US" sz="1400" dirty="0"/>
          </a:p>
        </p:txBody>
      </p:sp>
      <p:sp>
        <p:nvSpPr>
          <p:cNvPr id="10" name="Shape 8"/>
          <p:cNvSpPr/>
          <p:nvPr/>
        </p:nvSpPr>
        <p:spPr>
          <a:xfrm>
            <a:off x="548640" y="539496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822960" y="539496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2028, con 3 puntos todo el año: 70,452 brownies y S/322,329 (+32 %), sin abrir un 4.º punto.</a:t>
            </a:r>
            <a:endParaRPr lang="en-US" sz="1400" dirty="0"/>
          </a:p>
        </p:txBody>
      </p:sp>
      <p:sp>
        <p:nvSpPr>
          <p:cNvPr id="12" name="Text 10"/>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Excel v7: hoja Resumen (nota 5), hoja Inversion (celda C53) y hoja Anio2; T2_06, secciones 5 y 6.</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#7 TRES OBJETIVOS SMART · 2027</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Tres objetivos, todos medibles</a:t>
            </a:r>
            <a:endParaRPr lang="en-US" sz="3400" dirty="0"/>
          </a:p>
        </p:txBody>
      </p:sp>
      <p:sp>
        <p:nvSpPr>
          <p:cNvPr id="4" name="Shape 2"/>
          <p:cNvSpPr/>
          <p:nvPr/>
        </p:nvSpPr>
        <p:spPr>
          <a:xfrm>
            <a:off x="548640" y="1554480"/>
            <a:ext cx="3575304" cy="4434840"/>
          </a:xfrm>
          <a:prstGeom prst="roundRect">
            <a:avLst>
              <a:gd name="adj" fmla="val 30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828800"/>
            <a:ext cx="3026664" cy="3977640"/>
          </a:xfrm>
          <a:prstGeom prst="rect">
            <a:avLst/>
          </a:prstGeom>
          <a:noFill/>
          <a:ln/>
        </p:spPr>
        <p:txBody>
          <a:bodyPr wrap="square" lIns="0" tIns="0" rIns="0" bIns="0" rtlCol="0" anchor="t"/>
          <a:lstStyle/>
          <a:p>
            <a:pPr indent="0" marL="0">
              <a:spcAft>
                <a:spcPts val="1000"/>
              </a:spcAft>
              <a:buNone/>
            </a:pPr>
            <a:r>
              <a:rPr lang="en-US" sz="1300" b="1" spc="100" kern="0" dirty="0">
                <a:solidFill>
                  <a:schemeClr val="bg2"/>
                </a:solidFill>
              </a:rPr>
              <a:t>1. VENTAS</a:t>
            </a:r>
            <a:endParaRPr lang="en-US" sz="1400" dirty="0"/>
          </a:p>
          <a:p>
            <a:pPr indent="0" marL="0">
              <a:spcAft>
                <a:spcPts val="1000"/>
              </a:spcAft>
              <a:buNone/>
            </a:pPr>
            <a:r>
              <a:rPr lang="en-US" sz="5000" b="1" dirty="0">
                <a:solidFill>
                  <a:schemeClr val="bg1"/>
                </a:solidFill>
              </a:rPr>
              <a:t>52,331</a:t>
            </a:r>
            <a:endParaRPr lang="en-US" sz="1400" dirty="0"/>
          </a:p>
          <a:p>
            <a:pPr indent="0" marL="0">
              <a:spcAft>
                <a:spcPts val="1000"/>
              </a:spcAft>
              <a:buNone/>
            </a:pPr>
            <a:r>
              <a:rPr lang="en-US" sz="1500" dirty="0">
                <a:solidFill>
                  <a:schemeClr val="bg1"/>
                </a:solidFill>
              </a:rPr>
              <a:t>brownies y S/244,728 con IGV del 1 de enero al 31 de diciembre de 2027.</a:t>
            </a:r>
            <a:endParaRPr lang="en-US" sz="1400" dirty="0"/>
          </a:p>
          <a:p>
            <a:pPr indent="0" marL="0">
              <a:spcAft>
                <a:spcPts val="1000"/>
              </a:spcAft>
              <a:buNone/>
            </a:pPr>
            <a:r>
              <a:rPr lang="en-US" sz="1300" i="1" dirty="0">
                <a:solidFill>
                  <a:schemeClr val="bg2"/>
                </a:solidFill>
              </a:rPr>
              <a:t>KPI: brownies por día por punto (mínimo 65).</a:t>
            </a:r>
            <a:endParaRPr lang="en-US" sz="1400" dirty="0"/>
          </a:p>
        </p:txBody>
      </p:sp>
      <p:sp>
        <p:nvSpPr>
          <p:cNvPr id="6" name="Shape 4"/>
          <p:cNvSpPr/>
          <p:nvPr/>
        </p:nvSpPr>
        <p:spPr>
          <a:xfrm>
            <a:off x="4306824" y="1554480"/>
            <a:ext cx="3575304" cy="443484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4581144" y="1828800"/>
            <a:ext cx="3026664" cy="3977640"/>
          </a:xfrm>
          <a:prstGeom prst="rect">
            <a:avLst/>
          </a:prstGeom>
          <a:noFill/>
          <a:ln/>
        </p:spPr>
        <p:txBody>
          <a:bodyPr wrap="square" lIns="0" tIns="0" rIns="0" bIns="0" rtlCol="0" anchor="t"/>
          <a:lstStyle/>
          <a:p>
            <a:pPr indent="0" marL="0">
              <a:spcAft>
                <a:spcPts val="1000"/>
              </a:spcAft>
              <a:buNone/>
            </a:pPr>
            <a:r>
              <a:rPr lang="en-US" sz="1300" b="1" spc="100" kern="0" dirty="0">
                <a:solidFill>
                  <a:schemeClr val="accent1"/>
                </a:solidFill>
              </a:rPr>
              <a:t>2. RECOMPRA</a:t>
            </a:r>
            <a:endParaRPr lang="en-US" sz="1400" dirty="0"/>
          </a:p>
          <a:p>
            <a:pPr indent="0" marL="0">
              <a:spcAft>
                <a:spcPts val="1000"/>
              </a:spcAft>
              <a:buNone/>
            </a:pPr>
            <a:r>
              <a:rPr lang="en-US" sz="5000" b="1" dirty="0">
                <a:solidFill>
                  <a:schemeClr val="tx2"/>
                </a:solidFill>
              </a:rPr>
              <a:t>35 %</a:t>
            </a:r>
            <a:endParaRPr lang="en-US" sz="1400" dirty="0"/>
          </a:p>
          <a:p>
            <a:pPr indent="0" marL="0">
              <a:spcAft>
                <a:spcPts val="1000"/>
              </a:spcAft>
              <a:buNone/>
            </a:pPr>
            <a:r>
              <a:rPr lang="en-US" sz="1500" dirty="0">
                <a:solidFill>
                  <a:schemeClr val="tx1"/>
                </a:solidFill>
              </a:rPr>
              <a:t>de lo vendido en físico vuelve por WhatsApp; unos 2,300 contactos y 30 % de envases escaneados.</a:t>
            </a:r>
            <a:endParaRPr lang="en-US" sz="1400" dirty="0"/>
          </a:p>
          <a:p>
            <a:pPr indent="0" marL="0">
              <a:spcAft>
                <a:spcPts val="1000"/>
              </a:spcAft>
              <a:buNone/>
            </a:pPr>
            <a:r>
              <a:rPr lang="en-US" sz="1300" i="1" dirty="0">
                <a:solidFill>
                  <a:schemeClr val="accent2"/>
                </a:solidFill>
              </a:rPr>
              <a:t>KPI: recompra mensual; alerta bajo 20 %.</a:t>
            </a:r>
            <a:endParaRPr lang="en-US" sz="1400" dirty="0"/>
          </a:p>
        </p:txBody>
      </p:sp>
      <p:sp>
        <p:nvSpPr>
          <p:cNvPr id="8" name="Shape 6"/>
          <p:cNvSpPr/>
          <p:nvPr/>
        </p:nvSpPr>
        <p:spPr>
          <a:xfrm>
            <a:off x="8065008" y="1554480"/>
            <a:ext cx="3575304" cy="443484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8339328" y="1828800"/>
            <a:ext cx="3026664" cy="3977640"/>
          </a:xfrm>
          <a:prstGeom prst="rect">
            <a:avLst/>
          </a:prstGeom>
          <a:noFill/>
          <a:ln/>
        </p:spPr>
        <p:txBody>
          <a:bodyPr wrap="square" lIns="0" tIns="0" rIns="0" bIns="0" rtlCol="0" anchor="t"/>
          <a:lstStyle/>
          <a:p>
            <a:pPr indent="0" marL="0">
              <a:spcAft>
                <a:spcPts val="1000"/>
              </a:spcAft>
              <a:buNone/>
            </a:pPr>
            <a:r>
              <a:rPr lang="en-US" sz="1300" b="1" spc="100" kern="0" dirty="0">
                <a:solidFill>
                  <a:schemeClr val="accent1"/>
                </a:solidFill>
              </a:rPr>
              <a:t>3. CAPTACIÓN</a:t>
            </a:r>
            <a:endParaRPr lang="en-US" sz="1400" dirty="0"/>
          </a:p>
          <a:p>
            <a:pPr indent="0" marL="0">
              <a:spcAft>
                <a:spcPts val="1000"/>
              </a:spcAft>
              <a:buNone/>
            </a:pPr>
            <a:r>
              <a:rPr lang="en-US" sz="5000" b="1" dirty="0">
                <a:solidFill>
                  <a:schemeClr val="tx2"/>
                </a:solidFill>
              </a:rPr>
              <a:t>230</a:t>
            </a:r>
            <a:endParaRPr lang="en-US" sz="1400" dirty="0"/>
          </a:p>
          <a:p>
            <a:pPr indent="0" marL="0">
              <a:spcAft>
                <a:spcPts val="1000"/>
              </a:spcAft>
              <a:buNone/>
            </a:pPr>
            <a:r>
              <a:rPr lang="en-US" sz="1500" dirty="0">
                <a:solidFill>
                  <a:schemeClr val="tx1"/>
                </a:solidFill>
              </a:rPr>
              <a:t>familias nuevas por embajadoras y 5 colegios con quiosco (2 A y 3 B) a octubre.</a:t>
            </a:r>
            <a:endParaRPr lang="en-US" sz="1400" dirty="0"/>
          </a:p>
          <a:p>
            <a:pPr indent="0" marL="0">
              <a:spcAft>
                <a:spcPts val="1000"/>
              </a:spcAft>
              <a:buNone/>
            </a:pPr>
            <a:r>
              <a:rPr lang="en-US" sz="1300" i="1" dirty="0">
                <a:solidFill>
                  <a:schemeClr val="accent2"/>
                </a:solidFill>
              </a:rPr>
              <a:t>KPI: códigos usados; colegios con pedido.</a:t>
            </a:r>
            <a:endParaRPr lang="en-US" sz="1400" dirty="0"/>
          </a:p>
        </p:txBody>
      </p:sp>
      <p:sp>
        <p:nvSpPr>
          <p:cNvPr id="10" name="Text 8"/>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T2_07; documento 10 (10-plan-de-marketing-2027.md), sección 2; Excel v7. Contactos y escaneos son metas propuestas del documento 10 y del 09.</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03</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Cliente</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Qué le importa al cliente · Segmentación · Buyer persona</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#8 QUÉ LE IMPORTA AL CLIENTE · PROMPT 1 DE LA CLASE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Lo nutritivo vuelve intacto en la lonchera</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514600"/>
                <a:gridCol w="2286000"/>
                <a:gridCol w="3291840"/>
                <a:gridCol w="2999232"/>
              </a:tblGrid>
              <a:tr h="749808">
                <a:tc>
                  <a:txBody>
                    <a:bodyPr/>
                    <a:lstStyle/>
                    <a:p>
                      <a:pPr indent="0" marL="0">
                        <a:buNone/>
                      </a:pPr>
                      <a:r>
                        <a:rPr lang="en-US" sz="1250" b="1" dirty="0">
                          <a:solidFill>
                            <a:schemeClr val="bg1"/>
                          </a:solidFill>
                        </a:rPr>
                        <a:t>Patrón</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Necesidad no resuelta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Oportunidad</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Evidencia real</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749808">
                <a:tc>
                  <a:txBody>
                    <a:bodyPr/>
                    <a:lstStyle/>
                    <a:p>
                      <a:pPr indent="0" marL="0">
                        <a:buNone/>
                      </a:pPr>
                      <a:r>
                        <a:rPr lang="en-US" sz="1250" b="1" dirty="0">
                          <a:solidFill>
                            <a:schemeClr val="tx2"/>
                          </a:solidFill>
                        </a:rPr>
                        <a:t>Lo que tiene hierro regresa sin comer</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Darle hierro sin pelear</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Hierro dentro de un brownie; el niño prueba en el stand</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i="1" dirty="0">
                          <a:solidFill>
                            <a:schemeClr val="accent2"/>
                          </a:solidFill>
                        </a:rPr>
                        <a:t>"Parecía carbón" (hijo de Lucero, nuggets de sangrecita)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749808">
                <a:tc>
                  <a:txBody>
                    <a:bodyPr/>
                    <a:lstStyle/>
                    <a:p>
                      <a:pPr indent="0" marL="0">
                        <a:buNone/>
                      </a:pPr>
                      <a:r>
                        <a:rPr lang="en-US" sz="1250" b="1" dirty="0">
                          <a:solidFill>
                            <a:schemeClr val="tx2"/>
                          </a:solidFill>
                        </a:rPr>
                        <a:t>La sangrecita se acepta escondida en algo dulce</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Hierro en formato dulce y listo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Probar primero y contar después: "Sí, tiene sangrecita. No, no se nota."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i="1" dirty="0">
                          <a:solidFill>
                            <a:schemeClr val="accent2"/>
                          </a:solidFill>
                        </a:rPr>
                        <a:t>Focus 1: la barrita gustó "a la primera" (Adriana)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749808">
                <a:tc>
                  <a:txBody>
                    <a:bodyPr/>
                    <a:lstStyle/>
                    <a:p>
                      <a:pPr indent="0" marL="0">
                        <a:buNone/>
                      </a:pPr>
                      <a:r>
                        <a:rPr lang="en-US" sz="1250" b="1" dirty="0">
                          <a:solidFill>
                            <a:schemeClr val="tx2"/>
                          </a:solidFill>
                        </a:rPr>
                        <a:t>Desconfía de lo "saludable" envasado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Una prueba que pueda verificar</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Hierro medido por lote y publicado en la app</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i="1" dirty="0">
                          <a:solidFill>
                            <a:schemeClr val="accent2"/>
                          </a:solidFill>
                        </a:rPr>
                        <a:t>42 % desconfía (Kantar, 15-may-2025)</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749808">
                <a:tc>
                  <a:txBody>
                    <a:bodyPr/>
                    <a:lstStyle/>
                    <a:p>
                      <a:pPr indent="0" marL="0">
                        <a:buNone/>
                      </a:pPr>
                      <a:r>
                        <a:rPr lang="en-US" sz="1250" b="1" dirty="0">
                          <a:solidFill>
                            <a:schemeClr val="tx2"/>
                          </a:solidFill>
                        </a:rPr>
                        <a:t>Mañanas sin tiempo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Lonchera resuelta para la semana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Pack de 12 "Semana completa" y aviso de recompra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i="1" dirty="0">
                          <a:solidFill>
                            <a:schemeClr val="accent2"/>
                          </a:solidFill>
                        </a:rPr>
                        <a:t>"Quiero practicidad pura" (Lucero)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4924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34924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Nadie dijo "anemia": se habla de hierro y energía. La IA se revisó contra 10 entrevistas y el focus 1.</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10 entrevistas y focus 1 con mamás de Lima Norte (NSE C/B); Kantar, 15-may-2025; T2_08 (prompt 1 de la sesión 09, completado y revisado).</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#9 SEGMENTACIÓN · TRIBUS, NO SOLO DEMOGRAFÍA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Tres tribus deciden la compra</a:t>
            </a:r>
            <a:endParaRPr lang="en-US" sz="3400" dirty="0"/>
          </a:p>
        </p:txBody>
      </p:sp>
      <p:sp>
        <p:nvSpPr>
          <p:cNvPr id="4" name="Shape 2"/>
          <p:cNvSpPr/>
          <p:nvPr/>
        </p:nvSpPr>
        <p:spPr>
          <a:xfrm>
            <a:off x="548640" y="1508760"/>
            <a:ext cx="3575304" cy="379476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22960" y="178308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83894" y="1944014"/>
            <a:ext cx="409651" cy="409651"/>
          </a:xfrm>
          <a:prstGeom prst="rect">
            <a:avLst/>
          </a:prstGeom>
        </p:spPr>
      </p:pic>
      <p:sp>
        <p:nvSpPr>
          <p:cNvPr id="7" name="Text 4"/>
          <p:cNvSpPr txBox="1"/>
          <p:nvPr/>
        </p:nvSpPr>
        <p:spPr>
          <a:xfrm>
            <a:off x="1737360" y="1737360"/>
            <a:ext cx="2203704" cy="822960"/>
          </a:xfrm>
          <a:prstGeom prst="rect">
            <a:avLst/>
          </a:prstGeom>
          <a:noFill/>
          <a:ln/>
        </p:spPr>
        <p:txBody>
          <a:bodyPr wrap="square" lIns="0" tIns="0" rIns="0" bIns="0" rtlCol="0" anchor="ctr"/>
          <a:lstStyle/>
          <a:p>
            <a:pPr algn="r" indent="0" marL="0">
              <a:buNone/>
            </a:pPr>
            <a:r>
              <a:rPr lang="en-US" sz="4400" b="1" dirty="0">
                <a:solidFill>
                  <a:schemeClr val="tx2"/>
                </a:solidFill>
              </a:rPr>
              <a:t>30 %</a:t>
            </a:r>
            <a:endParaRPr lang="en-US" sz="4400" dirty="0"/>
          </a:p>
        </p:txBody>
      </p:sp>
      <p:sp>
        <p:nvSpPr>
          <p:cNvPr id="8" name="Text 5"/>
          <p:cNvSpPr txBox="1"/>
          <p:nvPr/>
        </p:nvSpPr>
        <p:spPr>
          <a:xfrm>
            <a:off x="822960" y="2743200"/>
            <a:ext cx="3026664" cy="457200"/>
          </a:xfrm>
          <a:prstGeom prst="rect">
            <a:avLst/>
          </a:prstGeom>
          <a:noFill/>
          <a:ln/>
        </p:spPr>
        <p:txBody>
          <a:bodyPr wrap="square" lIns="0" tIns="0" rIns="0" bIns="0" rtlCol="0" anchor="t"/>
          <a:lstStyle/>
          <a:p>
            <a:pPr indent="0" marL="0">
              <a:buNone/>
            </a:pPr>
            <a:r>
              <a:rPr lang="en-US" sz="1900" b="1" dirty="0">
                <a:solidFill>
                  <a:schemeClr val="tx2"/>
                </a:solidFill>
              </a:rPr>
              <a:t>La Guardiana del Hierro</a:t>
            </a:r>
            <a:endParaRPr lang="en-US" sz="1900" dirty="0"/>
          </a:p>
        </p:txBody>
      </p:sp>
      <p:sp>
        <p:nvSpPr>
          <p:cNvPr id="9" name="Text 6"/>
          <p:cNvSpPr txBox="1"/>
          <p:nvPr/>
        </p:nvSpPr>
        <p:spPr>
          <a:xfrm>
            <a:off x="822960" y="3291840"/>
            <a:ext cx="3026664" cy="1737360"/>
          </a:xfrm>
          <a:prstGeom prst="rect">
            <a:avLst/>
          </a:prstGeom>
          <a:noFill/>
          <a:ln/>
        </p:spPr>
        <p:txBody>
          <a:bodyPr wrap="square" lIns="0" tIns="0" rIns="0" bIns="0" rtlCol="0" anchor="t"/>
          <a:lstStyle/>
          <a:p>
            <a:pPr indent="0" marL="0">
              <a:buNone/>
            </a:pPr>
            <a:r>
              <a:rPr lang="en-US" sz="1500" dirty="0">
                <a:solidFill>
                  <a:schemeClr val="tx1"/>
                </a:solidFill>
              </a:rPr>
              <a:t>Madre o padre A que investiga antes de comprar. La mueve ver el dato, no la promesa.</a:t>
            </a:r>
            <a:endParaRPr lang="en-US" sz="1500" dirty="0"/>
          </a:p>
        </p:txBody>
      </p:sp>
      <p:sp>
        <p:nvSpPr>
          <p:cNvPr id="10" name="Shape 7"/>
          <p:cNvSpPr/>
          <p:nvPr/>
        </p:nvSpPr>
        <p:spPr>
          <a:xfrm>
            <a:off x="4306824" y="1508760"/>
            <a:ext cx="3575304" cy="3794760"/>
          </a:xfrm>
          <a:prstGeom prst="roundRect">
            <a:avLst>
              <a:gd name="adj" fmla="val 30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1" name="Shape 8"/>
          <p:cNvSpPr/>
          <p:nvPr/>
        </p:nvSpPr>
        <p:spPr>
          <a:xfrm>
            <a:off x="4581144" y="1783080"/>
            <a:ext cx="731520" cy="731520"/>
          </a:xfrm>
          <a:prstGeom prst="ellipse">
            <a:avLst/>
          </a:prstGeom>
          <a:solidFill>
            <a:schemeClr val="bg1"/>
          </a:solidFill>
          <a:ln w="12700">
            <a:solidFill>
              <a:schemeClr val="bg1"/>
            </a:solidFill>
            <a:prstDash val="solid"/>
          </a:ln>
        </p:spPr>
      </p:sp>
      <p:pic>
        <p:nvPicPr>
          <p:cNvPr id="12" name="Image 1" descr="preencoded.png">    </p:cNvPr>
          <p:cNvPicPr>
            <a:picLocks noChangeAspect="1"/>
          </p:cNvPicPr>
          <p:nvPr/>
        </p:nvPicPr>
        <p:blipFill>
          <a:blip r:embed="rId2"/>
          <a:stretch>
            <a:fillRect/>
          </a:stretch>
        </p:blipFill>
        <p:spPr>
          <a:xfrm>
            <a:off x="4742078" y="1944014"/>
            <a:ext cx="409651" cy="409651"/>
          </a:xfrm>
          <a:prstGeom prst="rect">
            <a:avLst/>
          </a:prstGeom>
        </p:spPr>
      </p:pic>
      <p:sp>
        <p:nvSpPr>
          <p:cNvPr id="13" name="Text 9"/>
          <p:cNvSpPr txBox="1"/>
          <p:nvPr/>
        </p:nvSpPr>
        <p:spPr>
          <a:xfrm>
            <a:off x="5495544" y="1737360"/>
            <a:ext cx="2203704" cy="822960"/>
          </a:xfrm>
          <a:prstGeom prst="rect">
            <a:avLst/>
          </a:prstGeom>
          <a:noFill/>
          <a:ln/>
        </p:spPr>
        <p:txBody>
          <a:bodyPr wrap="square" lIns="0" tIns="0" rIns="0" bIns="0" rtlCol="0" anchor="ctr"/>
          <a:lstStyle/>
          <a:p>
            <a:pPr algn="r" indent="0" marL="0">
              <a:buNone/>
            </a:pPr>
            <a:r>
              <a:rPr lang="en-US" sz="4400" b="1" dirty="0">
                <a:solidFill>
                  <a:schemeClr val="bg1"/>
                </a:solidFill>
              </a:rPr>
              <a:t>45 %</a:t>
            </a:r>
            <a:endParaRPr lang="en-US" sz="4400" dirty="0"/>
          </a:p>
        </p:txBody>
      </p:sp>
      <p:sp>
        <p:nvSpPr>
          <p:cNvPr id="14" name="Text 10"/>
          <p:cNvSpPr txBox="1"/>
          <p:nvPr/>
        </p:nvSpPr>
        <p:spPr>
          <a:xfrm>
            <a:off x="4581144" y="2743200"/>
            <a:ext cx="3026664" cy="457200"/>
          </a:xfrm>
          <a:prstGeom prst="rect">
            <a:avLst/>
          </a:prstGeom>
          <a:noFill/>
          <a:ln/>
        </p:spPr>
        <p:txBody>
          <a:bodyPr wrap="square" lIns="0" tIns="0" rIns="0" bIns="0" rtlCol="0" anchor="t"/>
          <a:lstStyle/>
          <a:p>
            <a:pPr indent="0" marL="0">
              <a:buNone/>
            </a:pPr>
            <a:r>
              <a:rPr lang="en-US" sz="1900" b="1" dirty="0">
                <a:solidFill>
                  <a:schemeClr val="bg1"/>
                </a:solidFill>
              </a:rPr>
              <a:t>El Resolutivo</a:t>
            </a:r>
            <a:endParaRPr lang="en-US" sz="1900" dirty="0"/>
          </a:p>
        </p:txBody>
      </p:sp>
      <p:sp>
        <p:nvSpPr>
          <p:cNvPr id="15" name="Text 11"/>
          <p:cNvSpPr txBox="1"/>
          <p:nvPr/>
        </p:nvSpPr>
        <p:spPr>
          <a:xfrm>
            <a:off x="4581144" y="3291840"/>
            <a:ext cx="3026664" cy="1737360"/>
          </a:xfrm>
          <a:prstGeom prst="rect">
            <a:avLst/>
          </a:prstGeom>
          <a:noFill/>
          <a:ln/>
        </p:spPr>
        <p:txBody>
          <a:bodyPr wrap="square" lIns="0" tIns="0" rIns="0" bIns="0" rtlCol="0" anchor="t"/>
          <a:lstStyle/>
          <a:p>
            <a:pPr indent="0" marL="0">
              <a:buNone/>
            </a:pPr>
            <a:r>
              <a:rPr lang="en-US" sz="1500" dirty="0">
                <a:solidFill>
                  <a:schemeClr val="bg1"/>
                </a:solidFill>
              </a:rPr>
              <a:t>Padre o madre B que organiza la semana con poco tiempo. Lo mueve una mañana menos.</a:t>
            </a:r>
            <a:endParaRPr lang="en-US" sz="1500" dirty="0"/>
          </a:p>
        </p:txBody>
      </p:sp>
      <p:sp>
        <p:nvSpPr>
          <p:cNvPr id="16" name="Shape 12"/>
          <p:cNvSpPr/>
          <p:nvPr/>
        </p:nvSpPr>
        <p:spPr>
          <a:xfrm>
            <a:off x="8065008" y="1508760"/>
            <a:ext cx="3575304" cy="379476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Shape 13"/>
          <p:cNvSpPr/>
          <p:nvPr/>
        </p:nvSpPr>
        <p:spPr>
          <a:xfrm>
            <a:off x="8339328" y="1783080"/>
            <a:ext cx="731520" cy="73152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8500262" y="1944014"/>
            <a:ext cx="409651" cy="409651"/>
          </a:xfrm>
          <a:prstGeom prst="rect">
            <a:avLst/>
          </a:prstGeom>
        </p:spPr>
      </p:pic>
      <p:sp>
        <p:nvSpPr>
          <p:cNvPr id="19" name="Text 14"/>
          <p:cNvSpPr txBox="1"/>
          <p:nvPr/>
        </p:nvSpPr>
        <p:spPr>
          <a:xfrm>
            <a:off x="9253728" y="1737360"/>
            <a:ext cx="2203704" cy="822960"/>
          </a:xfrm>
          <a:prstGeom prst="rect">
            <a:avLst/>
          </a:prstGeom>
          <a:noFill/>
          <a:ln/>
        </p:spPr>
        <p:txBody>
          <a:bodyPr wrap="square" lIns="0" tIns="0" rIns="0" bIns="0" rtlCol="0" anchor="ctr"/>
          <a:lstStyle/>
          <a:p>
            <a:pPr algn="r" indent="0" marL="0">
              <a:buNone/>
            </a:pPr>
            <a:r>
              <a:rPr lang="en-US" sz="4400" b="1" dirty="0">
                <a:solidFill>
                  <a:schemeClr val="tx2"/>
                </a:solidFill>
              </a:rPr>
              <a:t>25 %</a:t>
            </a:r>
            <a:endParaRPr lang="en-US" sz="4400" dirty="0"/>
          </a:p>
        </p:txBody>
      </p:sp>
      <p:sp>
        <p:nvSpPr>
          <p:cNvPr id="20" name="Text 15"/>
          <p:cNvSpPr txBox="1"/>
          <p:nvPr/>
        </p:nvSpPr>
        <p:spPr>
          <a:xfrm>
            <a:off x="8339328" y="2743200"/>
            <a:ext cx="3026664" cy="457200"/>
          </a:xfrm>
          <a:prstGeom prst="rect">
            <a:avLst/>
          </a:prstGeom>
          <a:noFill/>
          <a:ln/>
        </p:spPr>
        <p:txBody>
          <a:bodyPr wrap="square" lIns="0" tIns="0" rIns="0" bIns="0" rtlCol="0" anchor="t"/>
          <a:lstStyle/>
          <a:p>
            <a:pPr indent="0" marL="0">
              <a:buNone/>
            </a:pPr>
            <a:r>
              <a:rPr lang="en-US" sz="1900" b="1" dirty="0">
                <a:solidFill>
                  <a:schemeClr val="tx2"/>
                </a:solidFill>
              </a:rPr>
              <a:t>El Consejero</a:t>
            </a:r>
            <a:endParaRPr lang="en-US" sz="1900" dirty="0"/>
          </a:p>
        </p:txBody>
      </p:sp>
      <p:sp>
        <p:nvSpPr>
          <p:cNvPr id="21" name="Text 16"/>
          <p:cNvSpPr txBox="1"/>
          <p:nvPr/>
        </p:nvSpPr>
        <p:spPr>
          <a:xfrm>
            <a:off x="8339328" y="3291840"/>
            <a:ext cx="3026664" cy="1737360"/>
          </a:xfrm>
          <a:prstGeom prst="rect">
            <a:avLst/>
          </a:prstGeom>
          <a:noFill/>
          <a:ln/>
        </p:spPr>
        <p:txBody>
          <a:bodyPr wrap="square" lIns="0" tIns="0" rIns="0" bIns="0" rtlCol="0" anchor="t"/>
          <a:lstStyle/>
          <a:p>
            <a:pPr indent="0" marL="0">
              <a:buNone/>
            </a:pPr>
            <a:r>
              <a:rPr lang="en-US" sz="1500" dirty="0">
                <a:solidFill>
                  <a:schemeClr val="tx1"/>
                </a:solidFill>
              </a:rPr>
              <a:t>Quiosco, nutricionista o pediatra. Recomienda con el informe del laboratorio, sin pauta.</a:t>
            </a:r>
            <a:endParaRPr lang="en-US" sz="1500" dirty="0"/>
          </a:p>
        </p:txBody>
      </p:sp>
      <p:sp>
        <p:nvSpPr>
          <p:cNvPr id="22" name="Shape 17"/>
          <p:cNvSpPr/>
          <p:nvPr/>
        </p:nvSpPr>
        <p:spPr>
          <a:xfrm>
            <a:off x="548640" y="544068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23" name="Text 18"/>
          <p:cNvSpPr txBox="1"/>
          <p:nvPr/>
        </p:nvSpPr>
        <p:spPr>
          <a:xfrm>
            <a:off x="822960" y="544068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Variables: zona (Lima Top y Moderna), ingreso, estilo de vida, cómo compra y qué tecnología usa.</a:t>
            </a:r>
            <a:endParaRPr lang="en-US" sz="1400" dirty="0"/>
          </a:p>
        </p:txBody>
      </p:sp>
      <p:sp>
        <p:nvSpPr>
          <p:cNvPr id="24" name="Text 19"/>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HECHOS_v7 (arquetipos del modelo v7, peso en el volumen del año 1); APEIM, NSE 2025; T2_09.</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#9 BUYER PERSONA · PROMPT 2 DE LA CLASE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Buyer persona A: Claudia busca la prueba</a:t>
            </a:r>
            <a:endParaRPr lang="en-US" sz="3400" dirty="0"/>
          </a:p>
        </p:txBody>
      </p:sp>
      <p:sp>
        <p:nvSpPr>
          <p:cNvPr id="4" name="Shape 2"/>
          <p:cNvSpPr/>
          <p:nvPr/>
        </p:nvSpPr>
        <p:spPr>
          <a:xfrm>
            <a:off x="548640" y="1508760"/>
            <a:ext cx="3931920" cy="4480560"/>
          </a:xfrm>
          <a:prstGeom prst="roundRect">
            <a:avLst>
              <a:gd name="adj" fmla="val 27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68680" y="1783080"/>
            <a:ext cx="777240" cy="7772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39673" y="1954073"/>
            <a:ext cx="435254" cy="435254"/>
          </a:xfrm>
          <a:prstGeom prst="rect">
            <a:avLst/>
          </a:prstGeom>
        </p:spPr>
      </p:pic>
      <p:sp>
        <p:nvSpPr>
          <p:cNvPr id="7" name="Text 4"/>
          <p:cNvSpPr txBox="1"/>
          <p:nvPr/>
        </p:nvSpPr>
        <p:spPr>
          <a:xfrm>
            <a:off x="868680" y="2743200"/>
            <a:ext cx="3383280" cy="1463040"/>
          </a:xfrm>
          <a:prstGeom prst="rect">
            <a:avLst/>
          </a:prstGeom>
          <a:noFill/>
          <a:ln/>
        </p:spPr>
        <p:txBody>
          <a:bodyPr wrap="square" lIns="0" tIns="0" rIns="0" bIns="0" rtlCol="0" anchor="t"/>
          <a:lstStyle/>
          <a:p>
            <a:pPr indent="0" marL="0">
              <a:spcAft>
                <a:spcPts val="300"/>
              </a:spcAft>
              <a:buNone/>
            </a:pPr>
            <a:r>
              <a:rPr lang="en-US" sz="2200" b="1" dirty="0">
                <a:solidFill>
                  <a:schemeClr val="bg1"/>
                </a:solidFill>
              </a:rPr>
              <a:t>CLAUDIA MENDOZA</a:t>
            </a:r>
            <a:endParaRPr lang="en-US" sz="1400" dirty="0"/>
          </a:p>
          <a:p>
            <a:pPr indent="0" marL="0">
              <a:spcAft>
                <a:spcPts val="300"/>
              </a:spcAft>
              <a:buNone/>
            </a:pPr>
            <a:r>
              <a:rPr lang="en-US" sz="1300" b="1" dirty="0">
                <a:solidFill>
                  <a:schemeClr val="accent3"/>
                </a:solidFill>
              </a:rPr>
              <a:t>La Guardiana del Hierro · Segmento A</a:t>
            </a:r>
            <a:endParaRPr lang="en-US" sz="1400" dirty="0"/>
          </a:p>
          <a:p>
            <a:pPr indent="0" marL="0">
              <a:spcAft>
                <a:spcPts val="300"/>
              </a:spcAft>
              <a:buNone/>
            </a:pPr>
            <a:r>
              <a:rPr lang="en-US" sz="1350" dirty="0">
                <a:solidFill>
                  <a:schemeClr val="accent5"/>
                </a:solidFill>
              </a:rPr>
              <a:t>38 años · San Borja · abogada</a:t>
            </a:r>
            <a:endParaRPr lang="en-US" sz="1400" dirty="0"/>
          </a:p>
          <a:p>
            <a:pPr indent="0" marL="0">
              <a:spcAft>
                <a:spcPts val="300"/>
              </a:spcAft>
              <a:buNone/>
            </a:pPr>
            <a:r>
              <a:rPr lang="en-US" sz="1350" dirty="0">
                <a:solidFill>
                  <a:schemeClr val="accent5"/>
                </a:solidFill>
              </a:rPr>
              <a:t>2 hijos (7 y 4) · hogar de S/13,500 al mes</a:t>
            </a:r>
            <a:endParaRPr lang="en-US" sz="1400" dirty="0"/>
          </a:p>
        </p:txBody>
      </p:sp>
      <p:sp>
        <p:nvSpPr>
          <p:cNvPr id="8" name="Text 5"/>
          <p:cNvSpPr txBox="1"/>
          <p:nvPr/>
        </p:nvSpPr>
        <p:spPr>
          <a:xfrm>
            <a:off x="868680" y="4297680"/>
            <a:ext cx="3383280" cy="1463040"/>
          </a:xfrm>
          <a:prstGeom prst="rect">
            <a:avLst/>
          </a:prstGeom>
          <a:noFill/>
          <a:ln/>
        </p:spPr>
        <p:txBody>
          <a:bodyPr wrap="square" lIns="0" tIns="0" rIns="0" bIns="0" rtlCol="0" anchor="t"/>
          <a:lstStyle/>
          <a:p>
            <a:pPr indent="0" marL="0">
              <a:buNone/>
            </a:pPr>
            <a:r>
              <a:rPr lang="en-US" sz="1900" b="1" i="1" dirty="0">
                <a:solidFill>
                  <a:schemeClr val="bg2"/>
                </a:solidFill>
              </a:rPr>
              <a:t>"Todo lo que le hace bien, mi hijo lo escupe."</a:t>
            </a:r>
            <a:endParaRPr lang="en-US" sz="1900" dirty="0"/>
          </a:p>
        </p:txBody>
      </p:sp>
      <p:sp>
        <p:nvSpPr>
          <p:cNvPr id="9" name="Shape 6"/>
          <p:cNvSpPr/>
          <p:nvPr/>
        </p:nvSpPr>
        <p:spPr>
          <a:xfrm>
            <a:off x="4663440" y="1508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Shape 7"/>
          <p:cNvSpPr/>
          <p:nvPr/>
        </p:nvSpPr>
        <p:spPr>
          <a:xfrm>
            <a:off x="4663440" y="1618488"/>
            <a:ext cx="82296" cy="813816"/>
          </a:xfrm>
          <a:prstGeom prst="rect">
            <a:avLst/>
          </a:prstGeom>
          <a:solidFill>
            <a:schemeClr val="accent5"/>
          </a:solidFill>
          <a:ln w="12700">
            <a:solidFill>
              <a:schemeClr val="accent5"/>
            </a:solidFill>
            <a:prstDash val="solid"/>
          </a:ln>
        </p:spPr>
      </p:sp>
      <p:sp>
        <p:nvSpPr>
          <p:cNvPr id="11" name="Text 8"/>
          <p:cNvSpPr txBox="1"/>
          <p:nvPr/>
        </p:nvSpPr>
        <p:spPr>
          <a:xfrm>
            <a:off x="4956048" y="1636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QUIERE</a:t>
            </a:r>
            <a:endParaRPr lang="en-US" sz="1400" dirty="0"/>
          </a:p>
          <a:p>
            <a:pPr indent="0" marL="0">
              <a:spcAft>
                <a:spcPts val="300"/>
              </a:spcAft>
              <a:buNone/>
            </a:pPr>
            <a:r>
              <a:rPr lang="en-US" sz="1500" dirty="0">
                <a:solidFill>
                  <a:schemeClr val="tx1"/>
                </a:solidFill>
              </a:rPr>
              <a:t>Que su hijo coma hierro sin pelear y cero octógonos en la lonchera.</a:t>
            </a:r>
            <a:endParaRPr lang="en-US" sz="1400" dirty="0"/>
          </a:p>
        </p:txBody>
      </p:sp>
      <p:sp>
        <p:nvSpPr>
          <p:cNvPr id="12" name="Shape 9"/>
          <p:cNvSpPr/>
          <p:nvPr/>
        </p:nvSpPr>
        <p:spPr>
          <a:xfrm>
            <a:off x="4663440" y="2651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Shape 10"/>
          <p:cNvSpPr/>
          <p:nvPr/>
        </p:nvSpPr>
        <p:spPr>
          <a:xfrm>
            <a:off x="4663440" y="2761488"/>
            <a:ext cx="82296" cy="813816"/>
          </a:xfrm>
          <a:prstGeom prst="rect">
            <a:avLst/>
          </a:prstGeom>
          <a:solidFill>
            <a:schemeClr val="accent5"/>
          </a:solidFill>
          <a:ln w="12700">
            <a:solidFill>
              <a:schemeClr val="accent5"/>
            </a:solidFill>
            <a:prstDash val="solid"/>
          </a:ln>
        </p:spPr>
      </p:sp>
      <p:sp>
        <p:nvSpPr>
          <p:cNvPr id="14" name="Text 11"/>
          <p:cNvSpPr txBox="1"/>
          <p:nvPr/>
        </p:nvSpPr>
        <p:spPr>
          <a:xfrm>
            <a:off x="4956048" y="2779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LE FRENA</a:t>
            </a:r>
            <a:endParaRPr lang="en-US" sz="1400" dirty="0"/>
          </a:p>
          <a:p>
            <a:pPr indent="0" marL="0">
              <a:spcAft>
                <a:spcPts val="300"/>
              </a:spcAft>
              <a:buNone/>
            </a:pPr>
            <a:r>
              <a:rPr lang="en-US" sz="1500" dirty="0">
                <a:solidFill>
                  <a:schemeClr val="tx1"/>
                </a:solidFill>
              </a:rPr>
              <a:t>Desconfía de lo envasado: "¿Cuántos mg de hierro tiene?"</a:t>
            </a:r>
            <a:endParaRPr lang="en-US" sz="1400" dirty="0"/>
          </a:p>
        </p:txBody>
      </p:sp>
      <p:sp>
        <p:nvSpPr>
          <p:cNvPr id="15" name="Shape 12"/>
          <p:cNvSpPr/>
          <p:nvPr/>
        </p:nvSpPr>
        <p:spPr>
          <a:xfrm>
            <a:off x="4663440" y="3794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6" name="Shape 13"/>
          <p:cNvSpPr/>
          <p:nvPr/>
        </p:nvSpPr>
        <p:spPr>
          <a:xfrm>
            <a:off x="4663440" y="3904488"/>
            <a:ext cx="82296" cy="813816"/>
          </a:xfrm>
          <a:prstGeom prst="rect">
            <a:avLst/>
          </a:prstGeom>
          <a:solidFill>
            <a:schemeClr val="accent5"/>
          </a:solidFill>
          <a:ln w="12700">
            <a:solidFill>
              <a:schemeClr val="accent5"/>
            </a:solidFill>
            <a:prstDash val="solid"/>
          </a:ln>
        </p:spPr>
      </p:sp>
      <p:sp>
        <p:nvSpPr>
          <p:cNvPr id="17" name="Text 14"/>
          <p:cNvSpPr txBox="1"/>
          <p:nvPr/>
        </p:nvSpPr>
        <p:spPr>
          <a:xfrm>
            <a:off x="4956048" y="3922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BUSCA Y COMPRA</a:t>
            </a:r>
            <a:endParaRPr lang="en-US" sz="1400" dirty="0"/>
          </a:p>
          <a:p>
            <a:pPr indent="0" marL="0">
              <a:spcAft>
                <a:spcPts val="300"/>
              </a:spcAft>
              <a:buNone/>
            </a:pPr>
            <a:r>
              <a:rPr lang="en-US" sz="1500" dirty="0">
                <a:solidFill>
                  <a:schemeClr val="tx1"/>
                </a:solidFill>
              </a:rPr>
              <a:t>Pediatra, nutricionistas en Instagram, Wong y Flora &amp; Fauna. Pagaría S/24 a 30 por el pack.</a:t>
            </a:r>
            <a:endParaRPr lang="en-US" sz="1400" dirty="0"/>
          </a:p>
        </p:txBody>
      </p:sp>
      <p:sp>
        <p:nvSpPr>
          <p:cNvPr id="18" name="Shape 15"/>
          <p:cNvSpPr/>
          <p:nvPr/>
        </p:nvSpPr>
        <p:spPr>
          <a:xfrm>
            <a:off x="4663440" y="4937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Shape 16"/>
          <p:cNvSpPr/>
          <p:nvPr/>
        </p:nvSpPr>
        <p:spPr>
          <a:xfrm>
            <a:off x="4663440" y="5047488"/>
            <a:ext cx="82296" cy="813816"/>
          </a:xfrm>
          <a:prstGeom prst="rect">
            <a:avLst/>
          </a:prstGeom>
          <a:solidFill>
            <a:schemeClr val="accent1"/>
          </a:solidFill>
          <a:ln w="12700">
            <a:solidFill>
              <a:schemeClr val="accent1"/>
            </a:solidFill>
            <a:prstDash val="solid"/>
          </a:ln>
        </p:spPr>
      </p:sp>
      <p:sp>
        <p:nvSpPr>
          <p:cNvPr id="20" name="Text 17"/>
          <p:cNvSpPr txBox="1"/>
          <p:nvPr/>
        </p:nvSpPr>
        <p:spPr>
          <a:xfrm>
            <a:off x="4956048" y="5065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LE DECIMOS</a:t>
            </a:r>
            <a:endParaRPr lang="en-US" sz="1400" dirty="0"/>
          </a:p>
          <a:p>
            <a:pPr indent="0" marL="0">
              <a:spcAft>
                <a:spcPts val="300"/>
              </a:spcAft>
              <a:buNone/>
            </a:pPr>
            <a:r>
              <a:rPr lang="en-US" sz="1500" dirty="0">
                <a:solidFill>
                  <a:schemeClr val="tx1"/>
                </a:solidFill>
              </a:rPr>
              <a:t>"Él ve un brownie. Tú ves el hierro medido de su lote." Degustación en Jockey Plaza y en el punto 3.</a:t>
            </a:r>
            <a:endParaRPr lang="en-US" sz="1400" dirty="0"/>
          </a:p>
        </p:txBody>
      </p:sp>
      <p:sp>
        <p:nvSpPr>
          <p:cNvPr id="21" name="Text 18"/>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HECHOS_v7 (perfil de los buyer persona); APEIM, NSE 2025; T2_09 (prompt 2 de la sesión 09, completado y revisado). Frases representativas, no textuales.</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#9 BUYER PERSONA · PROMPT 2 DE LA CLASE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Buyer persona B: Rodrigo busca tiempo</a:t>
            </a:r>
            <a:endParaRPr lang="en-US" sz="3400" dirty="0"/>
          </a:p>
        </p:txBody>
      </p:sp>
      <p:sp>
        <p:nvSpPr>
          <p:cNvPr id="4" name="Shape 2"/>
          <p:cNvSpPr/>
          <p:nvPr/>
        </p:nvSpPr>
        <p:spPr>
          <a:xfrm>
            <a:off x="548640" y="1508760"/>
            <a:ext cx="3931920" cy="4480560"/>
          </a:xfrm>
          <a:prstGeom prst="roundRect">
            <a:avLst>
              <a:gd name="adj" fmla="val 27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68680" y="1783080"/>
            <a:ext cx="777240" cy="7772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39673" y="1954073"/>
            <a:ext cx="435254" cy="435254"/>
          </a:xfrm>
          <a:prstGeom prst="rect">
            <a:avLst/>
          </a:prstGeom>
        </p:spPr>
      </p:pic>
      <p:sp>
        <p:nvSpPr>
          <p:cNvPr id="7" name="Text 4"/>
          <p:cNvSpPr txBox="1"/>
          <p:nvPr/>
        </p:nvSpPr>
        <p:spPr>
          <a:xfrm>
            <a:off x="868680" y="2743200"/>
            <a:ext cx="3383280" cy="1463040"/>
          </a:xfrm>
          <a:prstGeom prst="rect">
            <a:avLst/>
          </a:prstGeom>
          <a:noFill/>
          <a:ln/>
        </p:spPr>
        <p:txBody>
          <a:bodyPr wrap="square" lIns="0" tIns="0" rIns="0" bIns="0" rtlCol="0" anchor="t"/>
          <a:lstStyle/>
          <a:p>
            <a:pPr indent="0" marL="0">
              <a:spcAft>
                <a:spcPts val="300"/>
              </a:spcAft>
              <a:buNone/>
            </a:pPr>
            <a:r>
              <a:rPr lang="en-US" sz="2200" b="1" dirty="0">
                <a:solidFill>
                  <a:schemeClr val="bg1"/>
                </a:solidFill>
              </a:rPr>
              <a:t>RODRIGO SALAZAR</a:t>
            </a:r>
            <a:endParaRPr lang="en-US" sz="1400" dirty="0"/>
          </a:p>
          <a:p>
            <a:pPr indent="0" marL="0">
              <a:spcAft>
                <a:spcPts val="300"/>
              </a:spcAft>
              <a:buNone/>
            </a:pPr>
            <a:r>
              <a:rPr lang="en-US" sz="1300" b="1" dirty="0">
                <a:solidFill>
                  <a:schemeClr val="accent3"/>
                </a:solidFill>
              </a:rPr>
              <a:t>El Resolutivo · Segmento B</a:t>
            </a:r>
            <a:endParaRPr lang="en-US" sz="1400" dirty="0"/>
          </a:p>
          <a:p>
            <a:pPr indent="0" marL="0">
              <a:spcAft>
                <a:spcPts val="300"/>
              </a:spcAft>
              <a:buNone/>
            </a:pPr>
            <a:r>
              <a:rPr lang="en-US" sz="1350" dirty="0">
                <a:solidFill>
                  <a:schemeClr val="accent5"/>
                </a:solidFill>
              </a:rPr>
              <a:t>40 años · San Miguel · jefe de logística</a:t>
            </a:r>
            <a:endParaRPr lang="en-US" sz="1400" dirty="0"/>
          </a:p>
          <a:p>
            <a:pPr indent="0" marL="0">
              <a:spcAft>
                <a:spcPts val="300"/>
              </a:spcAft>
              <a:buNone/>
            </a:pPr>
            <a:r>
              <a:rPr lang="en-US" sz="1350" dirty="0">
                <a:solidFill>
                  <a:schemeClr val="accent5"/>
                </a:solidFill>
              </a:rPr>
              <a:t>2 hijos (9 y 6) · hogar de unos S/8,500</a:t>
            </a:r>
            <a:endParaRPr lang="en-US" sz="1400" dirty="0"/>
          </a:p>
        </p:txBody>
      </p:sp>
      <p:sp>
        <p:nvSpPr>
          <p:cNvPr id="8" name="Text 5"/>
          <p:cNvSpPr txBox="1"/>
          <p:nvPr/>
        </p:nvSpPr>
        <p:spPr>
          <a:xfrm>
            <a:off x="868680" y="4297680"/>
            <a:ext cx="3383280" cy="1463040"/>
          </a:xfrm>
          <a:prstGeom prst="rect">
            <a:avLst/>
          </a:prstGeom>
          <a:noFill/>
          <a:ln/>
        </p:spPr>
        <p:txBody>
          <a:bodyPr wrap="square" lIns="0" tIns="0" rIns="0" bIns="0" rtlCol="0" anchor="t"/>
          <a:lstStyle/>
          <a:p>
            <a:pPr indent="0" marL="0">
              <a:buNone/>
            </a:pPr>
            <a:r>
              <a:rPr lang="en-US" sz="1900" b="1" i="1" dirty="0">
                <a:solidFill>
                  <a:schemeClr val="bg2"/>
                </a:solidFill>
              </a:rPr>
              <a:t>"No me vendas salud, véndeme una mañana menos."</a:t>
            </a:r>
            <a:endParaRPr lang="en-US" sz="1900" dirty="0"/>
          </a:p>
        </p:txBody>
      </p:sp>
      <p:sp>
        <p:nvSpPr>
          <p:cNvPr id="9" name="Shape 6"/>
          <p:cNvSpPr/>
          <p:nvPr/>
        </p:nvSpPr>
        <p:spPr>
          <a:xfrm>
            <a:off x="4663440" y="1508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Shape 7"/>
          <p:cNvSpPr/>
          <p:nvPr/>
        </p:nvSpPr>
        <p:spPr>
          <a:xfrm>
            <a:off x="4663440" y="1618488"/>
            <a:ext cx="82296" cy="813816"/>
          </a:xfrm>
          <a:prstGeom prst="rect">
            <a:avLst/>
          </a:prstGeom>
          <a:solidFill>
            <a:schemeClr val="accent5"/>
          </a:solidFill>
          <a:ln w="12700">
            <a:solidFill>
              <a:schemeClr val="accent5"/>
            </a:solidFill>
            <a:prstDash val="solid"/>
          </a:ln>
        </p:spPr>
      </p:sp>
      <p:sp>
        <p:nvSpPr>
          <p:cNvPr id="11" name="Text 8"/>
          <p:cNvSpPr txBox="1"/>
          <p:nvPr/>
        </p:nvSpPr>
        <p:spPr>
          <a:xfrm>
            <a:off x="4956048" y="1636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QUIERE</a:t>
            </a:r>
            <a:endParaRPr lang="en-US" sz="1400" dirty="0"/>
          </a:p>
          <a:p>
            <a:pPr indent="0" marL="0">
              <a:spcAft>
                <a:spcPts val="300"/>
              </a:spcAft>
              <a:buNone/>
            </a:pPr>
            <a:r>
              <a:rPr lang="en-US" sz="1500" dirty="0">
                <a:solidFill>
                  <a:schemeClr val="tx1"/>
                </a:solidFill>
              </a:rPr>
              <a:t>La lonchera resuelta el domingo, que aguante la mochila sin frío.</a:t>
            </a:r>
            <a:endParaRPr lang="en-US" sz="1400" dirty="0"/>
          </a:p>
        </p:txBody>
      </p:sp>
      <p:sp>
        <p:nvSpPr>
          <p:cNvPr id="12" name="Shape 9"/>
          <p:cNvSpPr/>
          <p:nvPr/>
        </p:nvSpPr>
        <p:spPr>
          <a:xfrm>
            <a:off x="4663440" y="2651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Shape 10"/>
          <p:cNvSpPr/>
          <p:nvPr/>
        </p:nvSpPr>
        <p:spPr>
          <a:xfrm>
            <a:off x="4663440" y="2761488"/>
            <a:ext cx="82296" cy="813816"/>
          </a:xfrm>
          <a:prstGeom prst="rect">
            <a:avLst/>
          </a:prstGeom>
          <a:solidFill>
            <a:schemeClr val="accent5"/>
          </a:solidFill>
          <a:ln w="12700">
            <a:solidFill>
              <a:schemeClr val="accent5"/>
            </a:solidFill>
            <a:prstDash val="solid"/>
          </a:ln>
        </p:spPr>
      </p:sp>
      <p:sp>
        <p:nvSpPr>
          <p:cNvPr id="14" name="Text 11"/>
          <p:cNvSpPr txBox="1"/>
          <p:nvPr/>
        </p:nvSpPr>
        <p:spPr>
          <a:xfrm>
            <a:off x="4956048" y="2779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LE FRENA</a:t>
            </a:r>
            <a:endParaRPr lang="en-US" sz="1400" dirty="0"/>
          </a:p>
          <a:p>
            <a:pPr indent="0" marL="0">
              <a:spcAft>
                <a:spcPts val="300"/>
              </a:spcAft>
              <a:buNone/>
            </a:pPr>
            <a:r>
              <a:rPr lang="en-US" sz="1500" dirty="0">
                <a:solidFill>
                  <a:schemeClr val="tx1"/>
                </a:solidFill>
              </a:rPr>
              <a:t>El precio: pagaría S/18 a 24 por 6 y el pack de 6 por WhatsApp cuesta S/26.90.</a:t>
            </a:r>
            <a:endParaRPr lang="en-US" sz="1400" dirty="0"/>
          </a:p>
        </p:txBody>
      </p:sp>
      <p:sp>
        <p:nvSpPr>
          <p:cNvPr id="15" name="Shape 12"/>
          <p:cNvSpPr/>
          <p:nvPr/>
        </p:nvSpPr>
        <p:spPr>
          <a:xfrm>
            <a:off x="4663440" y="3794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6" name="Shape 13"/>
          <p:cNvSpPr/>
          <p:nvPr/>
        </p:nvSpPr>
        <p:spPr>
          <a:xfrm>
            <a:off x="4663440" y="3904488"/>
            <a:ext cx="82296" cy="813816"/>
          </a:xfrm>
          <a:prstGeom prst="rect">
            <a:avLst/>
          </a:prstGeom>
          <a:solidFill>
            <a:schemeClr val="accent5"/>
          </a:solidFill>
          <a:ln w="12700">
            <a:solidFill>
              <a:schemeClr val="accent5"/>
            </a:solidFill>
            <a:prstDash val="solid"/>
          </a:ln>
        </p:spPr>
      </p:sp>
      <p:sp>
        <p:nvSpPr>
          <p:cNvPr id="17" name="Text 14"/>
          <p:cNvSpPr txBox="1"/>
          <p:nvPr/>
        </p:nvSpPr>
        <p:spPr>
          <a:xfrm>
            <a:off x="4956048" y="3922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BUSCA Y COMPRA</a:t>
            </a:r>
            <a:endParaRPr lang="en-US" sz="1400" dirty="0"/>
          </a:p>
          <a:p>
            <a:pPr indent="0" marL="0">
              <a:spcAft>
                <a:spcPts val="300"/>
              </a:spcAft>
              <a:buNone/>
            </a:pPr>
            <a:r>
              <a:rPr lang="en-US" sz="1500" dirty="0">
                <a:solidFill>
                  <a:schemeClr val="tx1"/>
                </a:solidFill>
              </a:rPr>
              <a:t>Chat del salón, Plaza Vea, apps y WhatsApp. Mira el precio por brownie.</a:t>
            </a:r>
            <a:endParaRPr lang="en-US" sz="1400" dirty="0"/>
          </a:p>
        </p:txBody>
      </p:sp>
      <p:sp>
        <p:nvSpPr>
          <p:cNvPr id="18" name="Shape 15"/>
          <p:cNvSpPr/>
          <p:nvPr/>
        </p:nvSpPr>
        <p:spPr>
          <a:xfrm>
            <a:off x="4663440" y="4937760"/>
            <a:ext cx="6976872" cy="1033272"/>
          </a:xfrm>
          <a:prstGeom prst="roundRect">
            <a:avLst>
              <a:gd name="adj" fmla="val 1061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Shape 16"/>
          <p:cNvSpPr/>
          <p:nvPr/>
        </p:nvSpPr>
        <p:spPr>
          <a:xfrm>
            <a:off x="4663440" y="5047488"/>
            <a:ext cx="82296" cy="813816"/>
          </a:xfrm>
          <a:prstGeom prst="rect">
            <a:avLst/>
          </a:prstGeom>
          <a:solidFill>
            <a:schemeClr val="accent1"/>
          </a:solidFill>
          <a:ln w="12700">
            <a:solidFill>
              <a:schemeClr val="accent1"/>
            </a:solidFill>
            <a:prstDash val="solid"/>
          </a:ln>
        </p:spPr>
      </p:sp>
      <p:sp>
        <p:nvSpPr>
          <p:cNvPr id="20" name="Text 17"/>
          <p:cNvSpPr txBox="1"/>
          <p:nvPr/>
        </p:nvSpPr>
        <p:spPr>
          <a:xfrm>
            <a:off x="4956048" y="5065776"/>
            <a:ext cx="6519672" cy="795528"/>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LE DECIMOS</a:t>
            </a:r>
            <a:endParaRPr lang="en-US" sz="1400" dirty="0"/>
          </a:p>
          <a:p>
            <a:pPr indent="0" marL="0">
              <a:spcAft>
                <a:spcPts val="300"/>
              </a:spcAft>
              <a:buNone/>
            </a:pPr>
            <a:r>
              <a:rPr lang="en-US" sz="1500" dirty="0">
                <a:solidFill>
                  <a:schemeClr val="tx1"/>
                </a:solidFill>
              </a:rPr>
              <a:t>"Una mañana menos: la lonchera de la semana, a S/4.16 por brownie." Primero, el pack de 12.</a:t>
            </a:r>
            <a:endParaRPr lang="en-US" sz="1400" dirty="0"/>
          </a:p>
        </p:txBody>
      </p:sp>
      <p:sp>
        <p:nvSpPr>
          <p:cNvPr id="21" name="Text 18"/>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HECHOS_v7 (perfil de los buyer persona); APEIM, NSE 2025; T2_09 (prompt 2 de la sesión 09, completado y revisado). Frases representativas, no textuales.</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04</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Estrategia de marca</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Posicionamiento · Slogan · Manual de marca</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#10 POSICIONAMIENTO · PROMPT 3 DE LA CLASE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brownie con el hierro medido"</a:t>
            </a:r>
            <a:endParaRPr lang="en-US" sz="3400" dirty="0"/>
          </a:p>
        </p:txBody>
      </p:sp>
      <p:sp>
        <p:nvSpPr>
          <p:cNvPr id="4" name="Shape 2"/>
          <p:cNvSpPr/>
          <p:nvPr/>
        </p:nvSpPr>
        <p:spPr>
          <a:xfrm>
            <a:off x="548640" y="1554480"/>
            <a:ext cx="6949440" cy="4434840"/>
          </a:xfrm>
          <a:prstGeom prst="roundRect">
            <a:avLst>
              <a:gd name="adj" fmla="val 2474"/>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68680" y="1828800"/>
            <a:ext cx="6400800" cy="3931920"/>
          </a:xfrm>
          <a:prstGeom prst="rect">
            <a:avLst/>
          </a:prstGeom>
          <a:noFill/>
          <a:ln/>
        </p:spPr>
        <p:txBody>
          <a:bodyPr wrap="square" lIns="0" tIns="0" rIns="0" bIns="0" rtlCol="0" anchor="ctr"/>
          <a:lstStyle/>
          <a:p>
            <a:pPr indent="0" marL="0">
              <a:spcAft>
                <a:spcPts val="1000"/>
              </a:spcAft>
              <a:buNone/>
            </a:pPr>
            <a:r>
              <a:rPr lang="en-US" sz="1200" b="1" spc="100" kern="0" dirty="0">
                <a:solidFill>
                  <a:schemeClr val="accent1"/>
                </a:solidFill>
              </a:rPr>
              <a:t>FRASE DE POSICIONAMIENTO</a:t>
            </a:r>
            <a:endParaRPr lang="en-US" sz="1400" dirty="0"/>
          </a:p>
          <a:p>
            <a:pPr indent="0" marL="0">
              <a:spcAft>
                <a:spcPts val="1000"/>
              </a:spcAft>
              <a:buNone/>
            </a:pPr>
            <a:r>
              <a:rPr lang="en-US" sz="1900" dirty="0">
                <a:solidFill>
                  <a:schemeClr val="tx1"/>
                </a:solidFill>
              </a:rPr>
              <a:t>Para </a:t>
            </a:r>
            <a:pPr indent="0" marL="0">
              <a:spcAft>
                <a:spcPts val="1000"/>
              </a:spcAft>
              <a:buNone/>
            </a:pPr>
            <a:r>
              <a:rPr lang="en-US" sz="1900" b="1" dirty="0">
                <a:solidFill>
                  <a:schemeClr val="tx1"/>
                </a:solidFill>
              </a:rPr>
              <a:t>padres y madres A y B con hijos de 4 a 11 años</a:t>
            </a:r>
            <a:pPr indent="0" marL="0">
              <a:spcAft>
                <a:spcPts val="1000"/>
              </a:spcAft>
              <a:buNone/>
            </a:pPr>
            <a:r>
              <a:rPr lang="en-US" sz="1900" dirty="0">
                <a:solidFill>
                  <a:schemeClr val="tx1"/>
                </a:solidFill>
              </a:rPr>
              <a:t>, que buscan que su hijo </a:t>
            </a:r>
            <a:pPr indent="0" marL="0">
              <a:spcAft>
                <a:spcPts val="1000"/>
              </a:spcAft>
              <a:buNone/>
            </a:pPr>
            <a:r>
              <a:rPr lang="en-US" sz="1900" b="1" dirty="0">
                <a:solidFill>
                  <a:schemeClr val="tx1"/>
                </a:solidFill>
              </a:rPr>
              <a:t>coma hierro sin pelear</a:t>
            </a:r>
            <a:pPr indent="0" marL="0">
              <a:spcAft>
                <a:spcPts val="1000"/>
              </a:spcAft>
              <a:buNone/>
            </a:pPr>
            <a:r>
              <a:rPr lang="en-US" sz="1900" dirty="0">
                <a:solidFill>
                  <a:schemeClr val="tx1"/>
                </a:solidFill>
              </a:rPr>
              <a:t>, AndiBite ofrece </a:t>
            </a:r>
            <a:pPr indent="0" marL="0">
              <a:spcAft>
                <a:spcPts val="1000"/>
              </a:spcAft>
              <a:buNone/>
            </a:pPr>
            <a:r>
              <a:rPr lang="en-US" sz="1900" b="1" dirty="0">
                <a:solidFill>
                  <a:schemeClr val="tx1"/>
                </a:solidFill>
              </a:rPr>
              <a:t>un mini brownie que el niño sí se come</a:t>
            </a:r>
            <a:pPr indent="0" marL="0">
              <a:spcAft>
                <a:spcPts val="1000"/>
              </a:spcAft>
              <a:buNone/>
            </a:pPr>
            <a:r>
              <a:rPr lang="en-US" sz="1900" dirty="0">
                <a:solidFill>
                  <a:schemeClr val="tx1"/>
                </a:solidFill>
              </a:rPr>
              <a:t>, porque </a:t>
            </a:r>
            <a:pPr indent="0" marL="0">
              <a:spcAft>
                <a:spcPts val="1000"/>
              </a:spcAft>
              <a:buNone/>
            </a:pPr>
            <a:r>
              <a:rPr lang="en-US" sz="1900" b="1" dirty="0">
                <a:solidFill>
                  <a:schemeClr val="accent1"/>
                </a:solidFill>
              </a:rPr>
              <a:t>cada lote se analiza en laboratorio y se ve en la app.</a:t>
            </a:r>
            <a:endParaRPr lang="en-US" sz="1400" dirty="0"/>
          </a:p>
        </p:txBody>
      </p:sp>
      <p:sp>
        <p:nvSpPr>
          <p:cNvPr id="6" name="Shape 4"/>
          <p:cNvSpPr/>
          <p:nvPr/>
        </p:nvSpPr>
        <p:spPr>
          <a:xfrm>
            <a:off x="7726680" y="1554480"/>
            <a:ext cx="3913632" cy="4434840"/>
          </a:xfrm>
          <a:prstGeom prst="roundRect">
            <a:avLst>
              <a:gd name="adj" fmla="val 2804"/>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8001000" y="1737360"/>
            <a:ext cx="3364992" cy="406908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TERRITORIO DE MARCA</a:t>
            </a:r>
            <a:endParaRPr lang="en-US" sz="1400" dirty="0"/>
          </a:p>
          <a:p>
            <a:pPr indent="0" marL="0">
              <a:spcAft>
                <a:spcPts val="400"/>
              </a:spcAft>
              <a:buNone/>
            </a:pPr>
            <a:r>
              <a:rPr lang="en-US" sz="3400" b="1" dirty="0">
                <a:solidFill>
                  <a:schemeClr val="bg1"/>
                </a:solidFill>
              </a:rPr>
              <a:t>Medido, no prometido.</a:t>
            </a:r>
            <a:endParaRPr lang="en-US" sz="1400" dirty="0"/>
          </a:p>
          <a:p>
            <a:pPr indent="0" marL="0">
              <a:spcAft>
                <a:spcPts val="400"/>
              </a:spcAft>
              <a:buNone/>
            </a:pPr>
            <a:r>
              <a:rPr lang="en-US" sz="1500" dirty="0">
                <a:solidFill>
                  <a:schemeClr val="accent5"/>
                </a:solidFill>
              </a:rPr>
              <a:t>La tranquilidad de lo comprobado. No es miedo a la anemia ni "superalimento".</a:t>
            </a:r>
            <a:endParaRPr lang="en-US" sz="1400" dirty="0"/>
          </a:p>
        </p:txBody>
      </p:sp>
      <p:sp>
        <p:nvSpPr>
          <p:cNvPr id="8" name="Text 6"/>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T2_10 (prompt 3 de la sesión 09, completado y revisado); documento 10, sección 3.2.</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#10 MAPA PERCEPTUAL · PRECIO Y EVIDENCIA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Casi solos en "premium con prueba"</a:t>
            </a:r>
            <a:endParaRPr lang="en-US" sz="3400" dirty="0"/>
          </a:p>
        </p:txBody>
      </p:sp>
      <p:pic>
        <p:nvPicPr>
          <p:cNvPr id="4" name="Image 0" descr="../../img/mapa-perceptual.jpg">    </p:cNvPr>
          <p:cNvPicPr>
            <a:picLocks noChangeAspect="1"/>
          </p:cNvPicPr>
          <p:nvPr/>
        </p:nvPicPr>
        <p:blipFill>
          <a:blip r:embed="rId1"/>
          <a:stretch>
            <a:fillRect/>
          </a:stretch>
        </p:blipFill>
        <p:spPr>
          <a:xfrm>
            <a:off x="548640" y="1463040"/>
            <a:ext cx="6400800" cy="4480560"/>
          </a:xfrm>
          <a:prstGeom prst="rect">
            <a:avLst/>
          </a:prstGeom>
        </p:spPr>
      </p:pic>
      <p:sp>
        <p:nvSpPr>
          <p:cNvPr id="5" name="Shape 2"/>
          <p:cNvSpPr/>
          <p:nvPr/>
        </p:nvSpPr>
        <p:spPr>
          <a:xfrm>
            <a:off x="7178040" y="1463040"/>
            <a:ext cx="4462272" cy="4480560"/>
          </a:xfrm>
          <a:prstGeom prst="roundRect">
            <a:avLst>
              <a:gd name="adj" fmla="val 245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7406640" y="1691640"/>
            <a:ext cx="4023360" cy="4069080"/>
          </a:xfrm>
          <a:prstGeom prst="rect">
            <a:avLst/>
          </a:prstGeom>
          <a:noFill/>
          <a:ln/>
        </p:spPr>
        <p:txBody>
          <a:bodyPr wrap="square" lIns="0" tIns="0" rIns="0" bIns="0" rtlCol="0" anchor="t"/>
          <a:lstStyle/>
          <a:p>
            <a:pPr indent="0" marL="0">
              <a:spcAft>
                <a:spcPts val="900"/>
              </a:spcAft>
              <a:buNone/>
            </a:pPr>
            <a:r>
              <a:rPr lang="en-US" sz="1200" b="1" spc="100" kern="0" dirty="0">
                <a:solidFill>
                  <a:schemeClr val="accent1"/>
                </a:solidFill>
              </a:rPr>
              <a:t>LECTURA</a:t>
            </a:r>
            <a:endParaRPr lang="en-US" sz="1400" dirty="0"/>
          </a:p>
          <a:p>
            <a:pPr marL="203200" indent="-203200">
              <a:spcAft>
                <a:spcPts val="900"/>
              </a:spcAft>
              <a:buSzPct val="100000"/>
              <a:buChar char="•"/>
            </a:pPr>
            <a:r>
              <a:rPr lang="en-US" sz="1450" dirty="0">
                <a:solidFill>
                  <a:schemeClr val="tx1"/>
                </a:solidFill>
              </a:rPr>
              <a:t>Ejes: precio por 20 g y evidencia que el padre puede verificar (1 a 5).</a:t>
            </a:r>
            <a:endParaRPr lang="en-US" sz="1400" dirty="0"/>
          </a:p>
          <a:p>
            <a:pPr marL="203200" indent="-203200">
              <a:spcAft>
                <a:spcPts val="900"/>
              </a:spcAft>
              <a:buSzPct val="100000"/>
              <a:buChar char="•"/>
            </a:pPr>
            <a:r>
              <a:rPr lang="en-US" sz="1450" dirty="0">
                <a:solidFill>
                  <a:schemeClr val="tx1"/>
                </a:solidFill>
              </a:rPr>
              <a:t>Hoy estamos en 4: solo hay un cálculo. Con el primer informe del laboratorio subimos a 5.</a:t>
            </a:r>
            <a:endParaRPr lang="en-US" sz="1400" dirty="0"/>
          </a:p>
          <a:p>
            <a:pPr marL="203200" indent="-203200">
              <a:spcAft>
                <a:spcPts val="900"/>
              </a:spcAft>
              <a:buSzPct val="100000"/>
              <a:buChar char="•"/>
            </a:pPr>
            <a:r>
              <a:rPr lang="en-US" sz="1450" dirty="0">
                <a:solidFill>
                  <a:schemeClr val="tx1"/>
                </a:solidFill>
              </a:rPr>
              <a:t>El riesgo es el precio: estamos entre los más caros por 20 g.</a:t>
            </a:r>
            <a:endParaRPr lang="en-US" sz="1400" dirty="0"/>
          </a:p>
          <a:p>
            <a:pPr marL="203200" indent="-203200">
              <a:spcAft>
                <a:spcPts val="900"/>
              </a:spcAft>
              <a:buSzPct val="100000"/>
              <a:buChar char="•"/>
            </a:pPr>
            <a:r>
              <a:rPr lang="en-US" sz="1450" b="1" dirty="0">
                <a:solidFill>
                  <a:schemeClr val="tx1"/>
                </a:solidFill>
              </a:rPr>
              <a:t>El informe del laboratorio es la base del posicionamiento.</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Precios de T2_02 (tiendas oficiales, 19-oct-2026); escala de evidencia de T2_10. Peso de Forticao y La Purita [POR CONFIRMAR].</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#11 SLOGAN · EVALUADO CONTRA 2 OPCIONES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Por qué gana el slogan</a:t>
            </a:r>
            <a:endParaRPr lang="en-US" sz="3400" dirty="0"/>
          </a:p>
        </p:txBody>
      </p:sp>
      <p:sp>
        <p:nvSpPr>
          <p:cNvPr id="4" name="Shape 2"/>
          <p:cNvSpPr/>
          <p:nvPr/>
        </p:nvSpPr>
        <p:spPr>
          <a:xfrm>
            <a:off x="548640" y="1554480"/>
            <a:ext cx="5486400" cy="4434840"/>
          </a:xfrm>
          <a:prstGeom prst="roundRect">
            <a:avLst>
              <a:gd name="adj" fmla="val 2474"/>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68680" y="1828800"/>
            <a:ext cx="4846320" cy="3931920"/>
          </a:xfrm>
          <a:prstGeom prst="rect">
            <a:avLst/>
          </a:prstGeom>
          <a:noFill/>
          <a:ln/>
        </p:spPr>
        <p:txBody>
          <a:bodyPr wrap="square" lIns="0" tIns="0" rIns="0" bIns="0" rtlCol="0" anchor="ctr"/>
          <a:lstStyle/>
          <a:p>
            <a:pPr indent="0" marL="0">
              <a:spcAft>
                <a:spcPts val="1000"/>
              </a:spcAft>
              <a:buNone/>
            </a:pPr>
            <a:r>
              <a:rPr lang="en-US" sz="1200" b="1" spc="200" kern="0" dirty="0">
                <a:solidFill>
                  <a:schemeClr val="accent3"/>
                </a:solidFill>
              </a:rPr>
              <a:t>SLOGAN</a:t>
            </a:r>
            <a:endParaRPr lang="en-US" sz="1400" dirty="0"/>
          </a:p>
          <a:p>
            <a:pPr indent="0" marL="0">
              <a:spcAft>
                <a:spcPts val="1000"/>
              </a:spcAft>
              <a:buNone/>
            </a:pPr>
            <a:r>
              <a:rPr lang="en-US" sz="3800" b="1" dirty="0">
                <a:solidFill>
                  <a:schemeClr val="bg1"/>
                </a:solidFill>
              </a:rPr>
              <a:t>Hierro medido. Sabor a brownie.</a:t>
            </a:r>
            <a:endParaRPr lang="en-US" sz="1400" dirty="0"/>
          </a:p>
          <a:p>
            <a:pPr indent="0" marL="0">
              <a:spcAft>
                <a:spcPts val="1000"/>
              </a:spcAft>
              <a:buNone/>
            </a:pPr>
            <a:r>
              <a:rPr lang="en-US" sz="2000" b="1" dirty="0">
                <a:solidFill>
                  <a:schemeClr val="accent3"/>
                </a:solidFill>
              </a:rPr>
              <a:t>28 de 30 puntos</a:t>
            </a:r>
            <a:endParaRPr lang="en-US" sz="1400" dirty="0"/>
          </a:p>
          <a:p>
            <a:pPr indent="0" marL="0">
              <a:spcAft>
                <a:spcPts val="1000"/>
              </a:spcAft>
              <a:buNone/>
            </a:pPr>
            <a:r>
              <a:rPr lang="en-US" sz="1500" dirty="0">
                <a:solidFill>
                  <a:schemeClr val="accent5"/>
                </a:solidFill>
              </a:rPr>
              <a:t>La razón (hierro medido) y el placer (sabor a brownie), en 5 palabras.</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263640" y="1554480"/>
          <a:ext cx="5376672" cy="914400"/>
        </p:xfrm>
        <a:graphic>
          <a:graphicData uri="http://schemas.openxmlformats.org/drawingml/2006/table">
            <a:tbl>
              <a:tblPr/>
              <a:tblGrid>
                <a:gridCol w="4206240"/>
                <a:gridCol w="1170432"/>
              </a:tblGrid>
              <a:tr h="502920">
                <a:tc>
                  <a:txBody>
                    <a:bodyPr/>
                    <a:lstStyle/>
                    <a:p>
                      <a:pPr indent="0" marL="0">
                        <a:buNone/>
                      </a:pPr>
                      <a:r>
                        <a:rPr lang="en-US" sz="1350" b="1" dirty="0">
                          <a:solidFill>
                            <a:schemeClr val="bg1"/>
                          </a:solidFill>
                        </a:rPr>
                        <a:t>Opción</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Puntaje</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502920">
                <a:tc>
                  <a:txBody>
                    <a:bodyPr/>
                    <a:lstStyle/>
                    <a:p>
                      <a:pPr indent="0" marL="0">
                        <a:buNone/>
                      </a:pPr>
                      <a:r>
                        <a:rPr lang="en-US" sz="1350" b="1" dirty="0">
                          <a:solidFill>
                            <a:schemeClr val="accent1"/>
                          </a:solidFill>
                        </a:rPr>
                        <a:t>"Hierro medido. Sabor a brownie."</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350" b="1" dirty="0">
                          <a:solidFill>
                            <a:schemeClr val="tx1"/>
                          </a:solidFill>
                        </a:rPr>
                        <a:t>28</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502920">
                <a:tc>
                  <a:txBody>
                    <a:bodyPr/>
                    <a:lstStyle/>
                    <a:p>
                      <a:pPr indent="0" marL="0">
                        <a:buNone/>
                      </a:pPr>
                      <a:r>
                        <a:rPr lang="en-US" sz="1350" dirty="0">
                          <a:solidFill>
                            <a:schemeClr val="tx1"/>
                          </a:solidFill>
                        </a:rPr>
                        <a:t>"Medido, no prometido."</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50" dirty="0">
                          <a:solidFill>
                            <a:schemeClr val="tx1"/>
                          </a:solidFill>
                        </a:rPr>
                        <a:t>22</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502920">
                <a:tc>
                  <a:txBody>
                    <a:bodyPr/>
                    <a:lstStyle/>
                    <a:p>
                      <a:pPr indent="0" marL="0">
                        <a:buNone/>
                      </a:pPr>
                      <a:r>
                        <a:rPr lang="en-US" sz="1350" dirty="0">
                          <a:solidFill>
                            <a:schemeClr val="tx1"/>
                          </a:solidFill>
                        </a:rPr>
                        <a:t>"Lo que ya le gusta, con lo que le hace falta."</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350" dirty="0">
                          <a:solidFill>
                            <a:schemeClr val="tx1"/>
                          </a:solidFill>
                        </a:rPr>
                        <a:t>18</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7" name="Shape 4"/>
          <p:cNvSpPr/>
          <p:nvPr/>
        </p:nvSpPr>
        <p:spPr>
          <a:xfrm>
            <a:off x="6263640" y="3749040"/>
            <a:ext cx="5376672" cy="2240280"/>
          </a:xfrm>
          <a:prstGeom prst="roundRect">
            <a:avLst>
              <a:gd name="adj" fmla="val 4898"/>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Text 5"/>
          <p:cNvSpPr txBox="1"/>
          <p:nvPr/>
        </p:nvSpPr>
        <p:spPr>
          <a:xfrm>
            <a:off x="6492240" y="3877056"/>
            <a:ext cx="4965192" cy="2002536"/>
          </a:xfrm>
          <a:prstGeom prst="rect">
            <a:avLst/>
          </a:prstGeom>
          <a:noFill/>
          <a:ln/>
        </p:spPr>
        <p:txBody>
          <a:bodyPr wrap="square" lIns="0" tIns="0" rIns="0" bIns="0" rtlCol="0" anchor="t"/>
          <a:lstStyle/>
          <a:p>
            <a:pPr indent="0" marL="0">
              <a:spcAft>
                <a:spcPts val="500"/>
              </a:spcAft>
              <a:buNone/>
            </a:pPr>
            <a:r>
              <a:rPr lang="en-US" sz="1200" b="1" spc="100" kern="0" dirty="0">
                <a:solidFill>
                  <a:schemeClr val="accent1"/>
                </a:solidFill>
              </a:rPr>
              <a:t>CUIDADO LEGAL</a:t>
            </a:r>
            <a:endParaRPr lang="en-US" sz="1400" dirty="0"/>
          </a:p>
          <a:p>
            <a:pPr marL="228600" indent="-228600">
              <a:spcAft>
                <a:spcPts val="500"/>
              </a:spcAft>
              <a:buSzPct val="100000"/>
              <a:buChar char="•"/>
            </a:pPr>
            <a:r>
              <a:rPr lang="en-US" sz="1350" dirty="0">
                <a:solidFill>
                  <a:schemeClr val="tx1"/>
                </a:solidFill>
              </a:rPr>
              <a:t>Criterios: corto, recordable, legal, diferenciador, sirve a A y B, dice qué es.</a:t>
            </a:r>
            <a:endParaRPr lang="en-US" sz="1400" dirty="0"/>
          </a:p>
          <a:p>
            <a:pPr marL="228600" indent="-228600">
              <a:spcAft>
                <a:spcPts val="500"/>
              </a:spcAft>
              <a:buSzPct val="100000"/>
              <a:buChar char="•"/>
            </a:pPr>
            <a:r>
              <a:rPr lang="en-US" sz="1350" dirty="0">
                <a:solidFill>
                  <a:schemeClr val="tx1"/>
                </a:solidFill>
              </a:rPr>
              <a:t>"Medido" solo se usa con el informe del laboratorio del lote.</a:t>
            </a:r>
            <a:endParaRPr lang="en-US" sz="1400" dirty="0"/>
          </a:p>
          <a:p>
            <a:pPr marL="228600" indent="-228600">
              <a:spcAft>
                <a:spcPts val="500"/>
              </a:spcAft>
              <a:buSzPct val="100000"/>
              <a:buChar char="•"/>
            </a:pPr>
            <a:r>
              <a:rPr lang="en-US" sz="1350" dirty="0">
                <a:solidFill>
                  <a:schemeClr val="tx1"/>
                </a:solidFill>
              </a:rPr>
              <a:t>Nunca con "previene" o "combate la anemia".</a:t>
            </a:r>
            <a:endParaRPr lang="en-US" sz="1400" dirty="0"/>
          </a:p>
        </p:txBody>
      </p:sp>
      <p:sp>
        <p:nvSpPr>
          <p:cNvPr id="9" name="Text 6"/>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T2_11 (puntaje del 1 al 5 en 6 criterios; frases del documento 06); D. Leg. 1044; Codex CXG 23.</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#11 CÓMO QUEREMOS QUE NOS RECUERDEN</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Palabras, imágenes y emociones</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645920"/>
                <a:gridCol w="4727448"/>
                <a:gridCol w="4718304"/>
              </a:tblGrid>
              <a:tr h="804672">
                <a:tc>
                  <a:txBody>
                    <a:bodyPr/>
                    <a:lstStyle/>
                    <a:p>
                      <a:pPr indent="0" marL="0">
                        <a:buNone/>
                      </a:pP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Segmento A · Claudia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Segmento B · Rodrigo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804672">
                <a:tc>
                  <a:txBody>
                    <a:bodyPr/>
                    <a:lstStyle/>
                    <a:p>
                      <a:pPr indent="0" marL="0">
                        <a:buNone/>
                      </a:pPr>
                      <a:r>
                        <a:rPr lang="en-US" sz="1400" b="1" dirty="0">
                          <a:solidFill>
                            <a:schemeClr val="tx2"/>
                          </a:solidFill>
                        </a:rPr>
                        <a:t>Palabras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Medido, lote, laboratorio, hierro, transparente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Resuelto, semana completa, listo, aviso, precio claro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804672">
                <a:tc>
                  <a:txBody>
                    <a:bodyPr/>
                    <a:lstStyle/>
                    <a:p>
                      <a:pPr indent="0" marL="0">
                        <a:buNone/>
                      </a:pPr>
                      <a:r>
                        <a:rPr lang="en-US" sz="1400" b="1" dirty="0">
                          <a:solidFill>
                            <a:schemeClr val="tx2"/>
                          </a:solidFill>
                        </a:rPr>
                        <a:t>Imágenes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Un dedo escanea el QR y aparece el informe del lote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La caja de 12 abierta el domingo, con la semana armada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chemeClr val="tx2"/>
                          </a:solidFill>
                        </a:rPr>
                        <a:t>Emociones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Tranquilidad, confianza, control</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Alivio, practicidad, complicidad</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804672">
                <a:tc>
                  <a:txBody>
                    <a:bodyPr/>
                    <a:lstStyle/>
                    <a:p>
                      <a:pPr indent="0" marL="0">
                        <a:buNone/>
                      </a:pPr>
                      <a:r>
                        <a:rPr lang="en-US" sz="1400" b="1" dirty="0">
                          <a:solidFill>
                            <a:schemeClr val="accent1"/>
                          </a:solidFill>
                        </a:rPr>
                        <a:t>Nunca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Miedo o culpa ("tu hijo puede tener anemia")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Tono infantil, "superalimento", un niño que pide a cámara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9496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39496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Lo común: la palabra "medido", la lonchera que vuelve vacía y el alivio.</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T2_11, sección 3; Ley 30021, art. 8 (los niños pueden salir comiendo, pero no recomiendan el producto).</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#12 MANUAL DE MARCA · ESENCIA, COLOR Y LETRA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Una nutricionista amiga que además es mamá</a:t>
            </a:r>
            <a:endParaRPr lang="en-US" sz="3400" dirty="0"/>
          </a:p>
        </p:txBody>
      </p:sp>
      <p:sp>
        <p:nvSpPr>
          <p:cNvPr id="4" name="Shape 2"/>
          <p:cNvSpPr/>
          <p:nvPr/>
        </p:nvSpPr>
        <p:spPr>
          <a:xfrm>
            <a:off x="548640" y="1508760"/>
            <a:ext cx="4754880" cy="448056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737360"/>
            <a:ext cx="4206240" cy="4069080"/>
          </a:xfrm>
          <a:prstGeom prst="rect">
            <a:avLst/>
          </a:prstGeom>
          <a:noFill/>
          <a:ln/>
        </p:spPr>
        <p:txBody>
          <a:bodyPr wrap="square" lIns="0" tIns="0" rIns="0" bIns="0" rtlCol="0" anchor="t"/>
          <a:lstStyle/>
          <a:p>
            <a:pPr indent="0" marL="0">
              <a:spcAft>
                <a:spcPts val="600"/>
              </a:spcAft>
              <a:buNone/>
            </a:pPr>
            <a:r>
              <a:rPr lang="en-US" sz="1200" b="1" spc="100" kern="0" dirty="0">
                <a:solidFill>
                  <a:schemeClr val="accent1"/>
                </a:solidFill>
              </a:rPr>
              <a:t>PERSONALIDAD</a:t>
            </a:r>
            <a:endParaRPr lang="en-US" sz="1400" dirty="0"/>
          </a:p>
          <a:p>
            <a:pPr indent="0" marL="0">
              <a:spcAft>
                <a:spcPts val="600"/>
              </a:spcAft>
              <a:buNone/>
            </a:pPr>
            <a:r>
              <a:rPr lang="en-US" sz="1500" dirty="0">
                <a:solidFill>
                  <a:schemeClr val="tx1"/>
                </a:solidFill>
              </a:rPr>
              <a:t>Precisa, serena, cómplice y con humor seco. Nunca alarmista ni infantil.</a:t>
            </a:r>
            <a:endParaRPr lang="en-US" sz="1400" dirty="0"/>
          </a:p>
          <a:p>
            <a:pPr indent="0" marL="0">
              <a:spcAft>
                <a:spcPts val="600"/>
              </a:spcAft>
              <a:buNone/>
            </a:pPr>
            <a:r>
              <a:rPr lang="en-US" sz="1200" b="1" spc="100" kern="0" dirty="0">
                <a:solidFill>
                  <a:schemeClr val="accent1"/>
                </a:solidFill>
              </a:rPr>
              <a:t>PROMESA</a:t>
            </a:r>
            <a:endParaRPr lang="en-US" sz="1400" dirty="0"/>
          </a:p>
          <a:p>
            <a:pPr indent="0" marL="0">
              <a:spcAft>
                <a:spcPts val="600"/>
              </a:spcAft>
              <a:buNone/>
            </a:pPr>
            <a:r>
              <a:rPr lang="en-US" sz="1500" dirty="0">
                <a:solidFill>
                  <a:schemeClr val="tx1"/>
                </a:solidFill>
              </a:rPr>
              <a:t>Tu hijo ve un brownie que le gusta. Tú ves el hierro medido de su lote.</a:t>
            </a:r>
            <a:endParaRPr lang="en-US" sz="1400" dirty="0"/>
          </a:p>
          <a:p>
            <a:pPr indent="0" marL="0">
              <a:spcAft>
                <a:spcPts val="600"/>
              </a:spcAft>
              <a:buNone/>
            </a:pPr>
            <a:r>
              <a:rPr lang="en-US" sz="1200" b="1" spc="100" kern="0" dirty="0">
                <a:solidFill>
                  <a:schemeClr val="accent1"/>
                </a:solidFill>
              </a:rPr>
              <a:t>LETRA</a:t>
            </a:r>
            <a:endParaRPr lang="en-US" sz="1400" dirty="0"/>
          </a:p>
          <a:p>
            <a:pPr indent="0" marL="0">
              <a:spcAft>
                <a:spcPts val="600"/>
              </a:spcAft>
              <a:buNone/>
            </a:pPr>
            <a:r>
              <a:rPr lang="en-US" sz="1500" dirty="0">
                <a:solidFill>
                  <a:schemeClr val="tx1"/>
                </a:solidFill>
              </a:rPr>
              <a:t>Calibri en la presentación y los documentos; Fredoka One y Nunito en el empaque.</a:t>
            </a:r>
            <a:endParaRPr lang="en-US" sz="1400" dirty="0"/>
          </a:p>
        </p:txBody>
      </p:sp>
      <p:sp>
        <p:nvSpPr>
          <p:cNvPr id="6" name="Shape 4"/>
          <p:cNvSpPr/>
          <p:nvPr/>
        </p:nvSpPr>
        <p:spPr>
          <a:xfrm>
            <a:off x="5532120" y="1508760"/>
            <a:ext cx="2057400" cy="713232"/>
          </a:xfrm>
          <a:prstGeom prst="roundRect">
            <a:avLst>
              <a:gd name="adj" fmla="val 10256"/>
            </a:avLst>
          </a:prstGeom>
          <a:solidFill>
            <a:srgbClr val="4A2018"/>
          </a:solidFill>
          <a:ln w="9525">
            <a:solidFill>
              <a:srgbClr val="E8D8C4"/>
            </a:solidFill>
            <a:prstDash val="solid"/>
          </a:ln>
        </p:spPr>
      </p:sp>
      <p:sp>
        <p:nvSpPr>
          <p:cNvPr id="7" name="Text 5"/>
          <p:cNvSpPr txBox="1"/>
          <p:nvPr/>
        </p:nvSpPr>
        <p:spPr>
          <a:xfrm>
            <a:off x="5532120" y="2276856"/>
            <a:ext cx="2057400" cy="548640"/>
          </a:xfrm>
          <a:prstGeom prst="rect">
            <a:avLst/>
          </a:prstGeom>
          <a:noFill/>
          <a:ln/>
        </p:spPr>
        <p:txBody>
          <a:bodyPr wrap="square" lIns="0" tIns="0" rIns="0" bIns="0" rtlCol="0" anchor="t"/>
          <a:lstStyle/>
          <a:p>
            <a:pPr indent="0" marL="0">
              <a:buNone/>
            </a:pPr>
            <a:r>
              <a:rPr lang="en-US" sz="1150" b="1" dirty="0">
                <a:solidFill>
                  <a:schemeClr val="tx2"/>
                </a:solidFill>
              </a:rPr>
              <a:t>Café oscuro · 4A2018</a:t>
            </a:r>
            <a:endParaRPr lang="en-US" sz="1400" dirty="0"/>
          </a:p>
          <a:p>
            <a:pPr indent="0" marL="0">
              <a:buNone/>
            </a:pPr>
            <a:r>
              <a:rPr lang="en-US" sz="1100" dirty="0">
                <a:solidFill>
                  <a:schemeClr val="accent2"/>
                </a:solidFill>
              </a:rPr>
              <a:t>Títulos y fondos</a:t>
            </a:r>
            <a:endParaRPr lang="en-US" sz="1400" dirty="0"/>
          </a:p>
        </p:txBody>
      </p:sp>
      <p:sp>
        <p:nvSpPr>
          <p:cNvPr id="8" name="Shape 6"/>
          <p:cNvSpPr/>
          <p:nvPr/>
        </p:nvSpPr>
        <p:spPr>
          <a:xfrm>
            <a:off x="7671816" y="1508760"/>
            <a:ext cx="2057400" cy="713232"/>
          </a:xfrm>
          <a:prstGeom prst="roundRect">
            <a:avLst>
              <a:gd name="adj" fmla="val 10256"/>
            </a:avLst>
          </a:prstGeom>
          <a:solidFill>
            <a:srgbClr val="BA4036"/>
          </a:solidFill>
          <a:ln w="9525">
            <a:solidFill>
              <a:srgbClr val="E8D8C4"/>
            </a:solidFill>
            <a:prstDash val="solid"/>
          </a:ln>
        </p:spPr>
      </p:sp>
      <p:sp>
        <p:nvSpPr>
          <p:cNvPr id="9" name="Text 7"/>
          <p:cNvSpPr txBox="1"/>
          <p:nvPr/>
        </p:nvSpPr>
        <p:spPr>
          <a:xfrm>
            <a:off x="7671816" y="2276856"/>
            <a:ext cx="2057400" cy="548640"/>
          </a:xfrm>
          <a:prstGeom prst="rect">
            <a:avLst/>
          </a:prstGeom>
          <a:noFill/>
          <a:ln/>
        </p:spPr>
        <p:txBody>
          <a:bodyPr wrap="square" lIns="0" tIns="0" rIns="0" bIns="0" rtlCol="0" anchor="t"/>
          <a:lstStyle/>
          <a:p>
            <a:pPr indent="0" marL="0">
              <a:buNone/>
            </a:pPr>
            <a:r>
              <a:rPr lang="en-US" sz="1150" b="1" dirty="0">
                <a:solidFill>
                  <a:schemeClr val="tx2"/>
                </a:solidFill>
              </a:rPr>
              <a:t>Rojo ladrillo · BA4036</a:t>
            </a:r>
            <a:endParaRPr lang="en-US" sz="1400" dirty="0"/>
          </a:p>
          <a:p>
            <a:pPr indent="0" marL="0">
              <a:buNone/>
            </a:pPr>
            <a:r>
              <a:rPr lang="en-US" sz="1100" dirty="0">
                <a:solidFill>
                  <a:schemeClr val="accent2"/>
                </a:solidFill>
              </a:rPr>
              <a:t>El dato clave</a:t>
            </a:r>
            <a:endParaRPr lang="en-US" sz="1400" dirty="0"/>
          </a:p>
        </p:txBody>
      </p:sp>
      <p:sp>
        <p:nvSpPr>
          <p:cNvPr id="10" name="Shape 8"/>
          <p:cNvSpPr/>
          <p:nvPr/>
        </p:nvSpPr>
        <p:spPr>
          <a:xfrm>
            <a:off x="9811512" y="1508760"/>
            <a:ext cx="2057400" cy="713232"/>
          </a:xfrm>
          <a:prstGeom prst="roundRect">
            <a:avLst>
              <a:gd name="adj" fmla="val 10256"/>
            </a:avLst>
          </a:prstGeom>
          <a:solidFill>
            <a:srgbClr val="E3A33B"/>
          </a:solidFill>
          <a:ln w="9525">
            <a:solidFill>
              <a:srgbClr val="E8D8C4"/>
            </a:solidFill>
            <a:prstDash val="solid"/>
          </a:ln>
        </p:spPr>
      </p:sp>
      <p:sp>
        <p:nvSpPr>
          <p:cNvPr id="11" name="Text 9"/>
          <p:cNvSpPr txBox="1"/>
          <p:nvPr/>
        </p:nvSpPr>
        <p:spPr>
          <a:xfrm>
            <a:off x="9811512" y="2276856"/>
            <a:ext cx="2057400" cy="548640"/>
          </a:xfrm>
          <a:prstGeom prst="rect">
            <a:avLst/>
          </a:prstGeom>
          <a:noFill/>
          <a:ln/>
        </p:spPr>
        <p:txBody>
          <a:bodyPr wrap="square" lIns="0" tIns="0" rIns="0" bIns="0" rtlCol="0" anchor="t"/>
          <a:lstStyle/>
          <a:p>
            <a:pPr indent="0" marL="0">
              <a:buNone/>
            </a:pPr>
            <a:r>
              <a:rPr lang="en-US" sz="1150" b="1" dirty="0">
                <a:solidFill>
                  <a:schemeClr val="tx2"/>
                </a:solidFill>
              </a:rPr>
              <a:t>Dorado · E3A33B</a:t>
            </a:r>
            <a:endParaRPr lang="en-US" sz="1400" dirty="0"/>
          </a:p>
          <a:p>
            <a:pPr indent="0" marL="0">
              <a:buNone/>
            </a:pPr>
            <a:r>
              <a:rPr lang="en-US" sz="1100" dirty="0">
                <a:solidFill>
                  <a:schemeClr val="accent2"/>
                </a:solidFill>
              </a:rPr>
              <a:t>Detalles sobre café</a:t>
            </a:r>
            <a:endParaRPr lang="en-US" sz="1400" dirty="0"/>
          </a:p>
        </p:txBody>
      </p:sp>
      <p:sp>
        <p:nvSpPr>
          <p:cNvPr id="12" name="Shape 10"/>
          <p:cNvSpPr/>
          <p:nvPr/>
        </p:nvSpPr>
        <p:spPr>
          <a:xfrm>
            <a:off x="5532120" y="3063240"/>
            <a:ext cx="2057400" cy="713232"/>
          </a:xfrm>
          <a:prstGeom prst="roundRect">
            <a:avLst>
              <a:gd name="adj" fmla="val 10256"/>
            </a:avLst>
          </a:prstGeom>
          <a:solidFill>
            <a:srgbClr val="7C8A3A"/>
          </a:solidFill>
          <a:ln w="9525">
            <a:solidFill>
              <a:srgbClr val="E8D8C4"/>
            </a:solidFill>
            <a:prstDash val="solid"/>
          </a:ln>
        </p:spPr>
      </p:sp>
      <p:sp>
        <p:nvSpPr>
          <p:cNvPr id="13" name="Text 11"/>
          <p:cNvSpPr txBox="1"/>
          <p:nvPr/>
        </p:nvSpPr>
        <p:spPr>
          <a:xfrm>
            <a:off x="5532120" y="3831336"/>
            <a:ext cx="2057400" cy="548640"/>
          </a:xfrm>
          <a:prstGeom prst="rect">
            <a:avLst/>
          </a:prstGeom>
          <a:noFill/>
          <a:ln/>
        </p:spPr>
        <p:txBody>
          <a:bodyPr wrap="square" lIns="0" tIns="0" rIns="0" bIns="0" rtlCol="0" anchor="t"/>
          <a:lstStyle/>
          <a:p>
            <a:pPr indent="0" marL="0">
              <a:buNone/>
            </a:pPr>
            <a:r>
              <a:rPr lang="en-US" sz="1150" b="1" dirty="0">
                <a:solidFill>
                  <a:schemeClr val="tx2"/>
                </a:solidFill>
              </a:rPr>
              <a:t>Verde oliva · 7C8A3A</a:t>
            </a:r>
            <a:endParaRPr lang="en-US" sz="1400" dirty="0"/>
          </a:p>
          <a:p>
            <a:pPr indent="0" marL="0">
              <a:buNone/>
            </a:pPr>
            <a:r>
              <a:rPr lang="en-US" sz="1100" dirty="0">
                <a:solidFill>
                  <a:schemeClr val="accent2"/>
                </a:solidFill>
              </a:rPr>
              <a:t>Íconos, cañihua</a:t>
            </a:r>
            <a:endParaRPr lang="en-US" sz="1400" dirty="0"/>
          </a:p>
        </p:txBody>
      </p:sp>
      <p:sp>
        <p:nvSpPr>
          <p:cNvPr id="14" name="Shape 12"/>
          <p:cNvSpPr/>
          <p:nvPr/>
        </p:nvSpPr>
        <p:spPr>
          <a:xfrm>
            <a:off x="7671816" y="3063240"/>
            <a:ext cx="2057400" cy="713232"/>
          </a:xfrm>
          <a:prstGeom prst="roundRect">
            <a:avLst>
              <a:gd name="adj" fmla="val 10256"/>
            </a:avLst>
          </a:prstGeom>
          <a:solidFill>
            <a:srgbClr val="D9B48F"/>
          </a:solidFill>
          <a:ln w="9525">
            <a:solidFill>
              <a:srgbClr val="E8D8C4"/>
            </a:solidFill>
            <a:prstDash val="solid"/>
          </a:ln>
        </p:spPr>
      </p:sp>
      <p:sp>
        <p:nvSpPr>
          <p:cNvPr id="15" name="Text 13"/>
          <p:cNvSpPr txBox="1"/>
          <p:nvPr/>
        </p:nvSpPr>
        <p:spPr>
          <a:xfrm>
            <a:off x="7671816" y="3831336"/>
            <a:ext cx="2057400" cy="548640"/>
          </a:xfrm>
          <a:prstGeom prst="rect">
            <a:avLst/>
          </a:prstGeom>
          <a:noFill/>
          <a:ln/>
        </p:spPr>
        <p:txBody>
          <a:bodyPr wrap="square" lIns="0" tIns="0" rIns="0" bIns="0" rtlCol="0" anchor="t"/>
          <a:lstStyle/>
          <a:p>
            <a:pPr indent="0" marL="0">
              <a:buNone/>
            </a:pPr>
            <a:r>
              <a:rPr lang="en-US" sz="1150" b="1" dirty="0">
                <a:solidFill>
                  <a:schemeClr val="tx2"/>
                </a:solidFill>
              </a:rPr>
              <a:t>Arena · D9B48F</a:t>
            </a:r>
            <a:endParaRPr lang="en-US" sz="1400" dirty="0"/>
          </a:p>
          <a:p>
            <a:pPr indent="0" marL="0">
              <a:buNone/>
            </a:pPr>
            <a:r>
              <a:rPr lang="en-US" sz="1100" dirty="0">
                <a:solidFill>
                  <a:schemeClr val="accent2"/>
                </a:solidFill>
              </a:rPr>
              <a:t>Subtítulos y líneas</a:t>
            </a:r>
            <a:endParaRPr lang="en-US" sz="1400" dirty="0"/>
          </a:p>
        </p:txBody>
      </p:sp>
      <p:sp>
        <p:nvSpPr>
          <p:cNvPr id="16" name="Shape 14"/>
          <p:cNvSpPr/>
          <p:nvPr/>
        </p:nvSpPr>
        <p:spPr>
          <a:xfrm>
            <a:off x="9811512" y="3063240"/>
            <a:ext cx="2057400" cy="713232"/>
          </a:xfrm>
          <a:prstGeom prst="roundRect">
            <a:avLst>
              <a:gd name="adj" fmla="val 10256"/>
            </a:avLst>
          </a:prstGeom>
          <a:solidFill>
            <a:srgbClr val="8A1C2B"/>
          </a:solidFill>
          <a:ln w="9525">
            <a:solidFill>
              <a:srgbClr val="E8D8C4"/>
            </a:solidFill>
            <a:prstDash val="solid"/>
          </a:ln>
        </p:spPr>
      </p:sp>
      <p:sp>
        <p:nvSpPr>
          <p:cNvPr id="17" name="Text 15"/>
          <p:cNvSpPr txBox="1"/>
          <p:nvPr/>
        </p:nvSpPr>
        <p:spPr>
          <a:xfrm>
            <a:off x="9811512" y="3831336"/>
            <a:ext cx="2057400" cy="548640"/>
          </a:xfrm>
          <a:prstGeom prst="rect">
            <a:avLst/>
          </a:prstGeom>
          <a:noFill/>
          <a:ln/>
        </p:spPr>
        <p:txBody>
          <a:bodyPr wrap="square" lIns="0" tIns="0" rIns="0" bIns="0" rtlCol="0" anchor="t"/>
          <a:lstStyle/>
          <a:p>
            <a:pPr indent="0" marL="0">
              <a:buNone/>
            </a:pPr>
            <a:r>
              <a:rPr lang="en-US" sz="1150" b="1" dirty="0">
                <a:solidFill>
                  <a:schemeClr val="tx2"/>
                </a:solidFill>
              </a:rPr>
              <a:t>Vino · 8A1C2B</a:t>
            </a:r>
            <a:endParaRPr lang="en-US" sz="1400" dirty="0"/>
          </a:p>
          <a:p>
            <a:pPr indent="0" marL="0">
              <a:buNone/>
            </a:pPr>
            <a:r>
              <a:rPr lang="en-US" sz="1100" dirty="0">
                <a:solidFill>
                  <a:schemeClr val="accent2"/>
                </a:solidFill>
              </a:rPr>
              <a:t>Segundo acento</a:t>
            </a:r>
            <a:endParaRPr lang="en-US" sz="1400" dirty="0"/>
          </a:p>
        </p:txBody>
      </p:sp>
      <p:sp>
        <p:nvSpPr>
          <p:cNvPr id="18" name="Shape 16"/>
          <p:cNvSpPr/>
          <p:nvPr/>
        </p:nvSpPr>
        <p:spPr>
          <a:xfrm>
            <a:off x="5532120" y="4617720"/>
            <a:ext cx="2057400" cy="713232"/>
          </a:xfrm>
          <a:prstGeom prst="roundRect">
            <a:avLst>
              <a:gd name="adj" fmla="val 10256"/>
            </a:avLst>
          </a:prstGeom>
          <a:solidFill>
            <a:srgbClr val="6B3A2A"/>
          </a:solidFill>
          <a:ln w="9525">
            <a:solidFill>
              <a:srgbClr val="E8D8C4"/>
            </a:solidFill>
            <a:prstDash val="solid"/>
          </a:ln>
        </p:spPr>
      </p:sp>
      <p:sp>
        <p:nvSpPr>
          <p:cNvPr id="19" name="Text 17"/>
          <p:cNvSpPr txBox="1"/>
          <p:nvPr/>
        </p:nvSpPr>
        <p:spPr>
          <a:xfrm>
            <a:off x="5532120" y="5385816"/>
            <a:ext cx="2057400" cy="548640"/>
          </a:xfrm>
          <a:prstGeom prst="rect">
            <a:avLst/>
          </a:prstGeom>
          <a:noFill/>
          <a:ln/>
        </p:spPr>
        <p:txBody>
          <a:bodyPr wrap="square" lIns="0" tIns="0" rIns="0" bIns="0" rtlCol="0" anchor="t"/>
          <a:lstStyle/>
          <a:p>
            <a:pPr indent="0" marL="0">
              <a:buNone/>
            </a:pPr>
            <a:r>
              <a:rPr lang="en-US" sz="1150" b="1" dirty="0">
                <a:solidFill>
                  <a:schemeClr val="tx2"/>
                </a:solidFill>
              </a:rPr>
              <a:t>Café medio · 6B3A2A</a:t>
            </a:r>
            <a:endParaRPr lang="en-US" sz="1400" dirty="0"/>
          </a:p>
          <a:p>
            <a:pPr indent="0" marL="0">
              <a:buNone/>
            </a:pPr>
            <a:r>
              <a:rPr lang="en-US" sz="1100" dirty="0">
                <a:solidFill>
                  <a:schemeClr val="accent2"/>
                </a:solidFill>
              </a:rPr>
              <a:t>Textos secundarios</a:t>
            </a:r>
            <a:endParaRPr lang="en-US" sz="1400" dirty="0"/>
          </a:p>
        </p:txBody>
      </p:sp>
      <p:sp>
        <p:nvSpPr>
          <p:cNvPr id="20" name="Shape 18"/>
          <p:cNvSpPr/>
          <p:nvPr/>
        </p:nvSpPr>
        <p:spPr>
          <a:xfrm>
            <a:off x="7671816" y="4617720"/>
            <a:ext cx="2057400" cy="713232"/>
          </a:xfrm>
          <a:prstGeom prst="roundRect">
            <a:avLst>
              <a:gd name="adj" fmla="val 10256"/>
            </a:avLst>
          </a:prstGeom>
          <a:solidFill>
            <a:srgbClr val="3B1A14"/>
          </a:solidFill>
          <a:ln w="9525">
            <a:solidFill>
              <a:srgbClr val="E8D8C4"/>
            </a:solidFill>
            <a:prstDash val="solid"/>
          </a:ln>
        </p:spPr>
      </p:sp>
      <p:sp>
        <p:nvSpPr>
          <p:cNvPr id="21" name="Text 19"/>
          <p:cNvSpPr txBox="1"/>
          <p:nvPr/>
        </p:nvSpPr>
        <p:spPr>
          <a:xfrm>
            <a:off x="7671816" y="5385816"/>
            <a:ext cx="2057400" cy="548640"/>
          </a:xfrm>
          <a:prstGeom prst="rect">
            <a:avLst/>
          </a:prstGeom>
          <a:noFill/>
          <a:ln/>
        </p:spPr>
        <p:txBody>
          <a:bodyPr wrap="square" lIns="0" tIns="0" rIns="0" bIns="0" rtlCol="0" anchor="t"/>
          <a:lstStyle/>
          <a:p>
            <a:pPr indent="0" marL="0">
              <a:buNone/>
            </a:pPr>
            <a:r>
              <a:rPr lang="en-US" sz="1150" b="1" dirty="0">
                <a:solidFill>
                  <a:schemeClr val="tx2"/>
                </a:solidFill>
              </a:rPr>
              <a:t>Texto · 3B1A14</a:t>
            </a:r>
            <a:endParaRPr lang="en-US" sz="1400" dirty="0"/>
          </a:p>
          <a:p>
            <a:pPr indent="0" marL="0">
              <a:buNone/>
            </a:pPr>
            <a:r>
              <a:rPr lang="en-US" sz="1100" dirty="0">
                <a:solidFill>
                  <a:schemeClr val="accent2"/>
                </a:solidFill>
              </a:rPr>
              <a:t>Texto corrido</a:t>
            </a:r>
            <a:endParaRPr lang="en-US" sz="1400" dirty="0"/>
          </a:p>
        </p:txBody>
      </p:sp>
      <p:sp>
        <p:nvSpPr>
          <p:cNvPr id="22" name="Shape 20"/>
          <p:cNvSpPr/>
          <p:nvPr/>
        </p:nvSpPr>
        <p:spPr>
          <a:xfrm>
            <a:off x="9811512" y="4617720"/>
            <a:ext cx="2057400" cy="713232"/>
          </a:xfrm>
          <a:prstGeom prst="roundRect">
            <a:avLst>
              <a:gd name="adj" fmla="val 10256"/>
            </a:avLst>
          </a:prstGeom>
          <a:solidFill>
            <a:srgbClr val="FBF3E8"/>
          </a:solidFill>
          <a:ln w="9525">
            <a:solidFill>
              <a:srgbClr val="E8D8C4"/>
            </a:solidFill>
            <a:prstDash val="solid"/>
          </a:ln>
        </p:spPr>
      </p:sp>
      <p:sp>
        <p:nvSpPr>
          <p:cNvPr id="23" name="Text 21"/>
          <p:cNvSpPr txBox="1"/>
          <p:nvPr/>
        </p:nvSpPr>
        <p:spPr>
          <a:xfrm>
            <a:off x="9811512" y="5385816"/>
            <a:ext cx="2057400" cy="548640"/>
          </a:xfrm>
          <a:prstGeom prst="rect">
            <a:avLst/>
          </a:prstGeom>
          <a:noFill/>
          <a:ln/>
        </p:spPr>
        <p:txBody>
          <a:bodyPr wrap="square" lIns="0" tIns="0" rIns="0" bIns="0" rtlCol="0" anchor="t"/>
          <a:lstStyle/>
          <a:p>
            <a:pPr indent="0" marL="0">
              <a:buNone/>
            </a:pPr>
            <a:r>
              <a:rPr lang="en-US" sz="1150" b="1" dirty="0">
                <a:solidFill>
                  <a:schemeClr val="tx2"/>
                </a:solidFill>
              </a:rPr>
              <a:t>Crema · FBF3E8</a:t>
            </a:r>
            <a:endParaRPr lang="en-US" sz="1400" dirty="0"/>
          </a:p>
          <a:p>
            <a:pPr indent="0" marL="0">
              <a:buNone/>
            </a:pPr>
            <a:r>
              <a:rPr lang="en-US" sz="1100" dirty="0">
                <a:solidFill>
                  <a:schemeClr val="accent2"/>
                </a:solidFill>
              </a:rPr>
              <a:t>Fondo</a:t>
            </a:r>
            <a:endParaRPr lang="en-US" sz="1400" dirty="0"/>
          </a:p>
        </p:txBody>
      </p:sp>
      <p:sp>
        <p:nvSpPr>
          <p:cNvPr id="24" name="Text 2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T2_12 (manual de marca); documento 06 (tono; donde decía Hemi, dice AndiBite); colores del tema de la TC5-8 y de HECHOS_v7.</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#12 TONO DE VOZ · REGLAS QUE CUIDAN LA MARCA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Lo que sí decimos y lo que no</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4023360"/>
                <a:gridCol w="3611880"/>
                <a:gridCol w="3456432"/>
              </a:tblGrid>
              <a:tr h="658368">
                <a:tc>
                  <a:txBody>
                    <a:bodyPr/>
                    <a:lstStyle/>
                    <a:p>
                      <a:pPr indent="0" marL="0">
                        <a:buNone/>
                      </a:pPr>
                      <a:r>
                        <a:rPr lang="en-US" sz="1400" b="1" dirty="0">
                          <a:solidFill>
                            <a:schemeClr val="bg1"/>
                          </a:solidFill>
                        </a:rPr>
                        <a:t>Sí decimos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No decimos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Por qué</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accent4"/>
                          </a:solidFill>
                        </a:rPr>
                        <a:t>"Hierro medido en laboratorio"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accent1"/>
                          </a:solidFill>
                        </a:rPr>
                        <a:t>"Previene" o "combate la anemia"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Publicidad engañosa (D. Leg. 1044)</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658368">
                <a:tc>
                  <a:txBody>
                    <a:bodyPr/>
                    <a:lstStyle/>
                    <a:p>
                      <a:pPr indent="0" marL="0">
                        <a:buNone/>
                      </a:pPr>
                      <a:r>
                        <a:rPr lang="en-US" sz="1400" b="1" dirty="0">
                          <a:solidFill>
                            <a:schemeClr val="accent4"/>
                          </a:solidFill>
                        </a:rPr>
                        <a:t>"Meta: 0 octógonos. Te contamos cómo vamos."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1"/>
                          </a:solidFill>
                        </a:rPr>
                        <a:t>"Sin octógonos" antes del análisis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Sería falso hasta tener el resultado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accent4"/>
                          </a:solidFill>
                        </a:rPr>
                        <a:t>"Mini brownie de cacao con sangrecita de res"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accent1"/>
                          </a:solidFill>
                        </a:rPr>
                        <a:t>"Superalimento", "100 % saludable"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Promesa sin cifra para el 42 % que desconfía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658368">
                <a:tc>
                  <a:txBody>
                    <a:bodyPr/>
                    <a:lstStyle/>
                    <a:p>
                      <a:pPr indent="0" marL="0">
                        <a:buNone/>
                      </a:pPr>
                      <a:r>
                        <a:rPr lang="en-US" sz="1400" b="1" dirty="0">
                          <a:solidFill>
                            <a:schemeClr val="accent4"/>
                          </a:solidFill>
                        </a:rPr>
                        <a:t>"Pídelo por WhatsApp" (al padre)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1"/>
                          </a:solidFill>
                        </a:rPr>
                        <a:t>"¡Niños, pídanle a su mamá!"</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Ley 30021, art. 8: menores de 16 años</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chemeClr val="accent4"/>
                          </a:solidFill>
                        </a:rPr>
                        <a:t>"Él ve un brownie"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accent1"/>
                          </a:solidFill>
                        </a:rPr>
                        <a:t>"Engáñalo", "no se va a dar cuenta"</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400" dirty="0">
                          <a:solidFill>
                            <a:schemeClr val="tx1"/>
                          </a:solidFill>
                        </a:rPr>
                        <a:t>Daña la confianza del padre</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5" name="Shape 2"/>
          <p:cNvSpPr/>
          <p:nvPr/>
        </p:nvSpPr>
        <p:spPr>
          <a:xfrm>
            <a:off x="548640" y="539496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39496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Cada pieza pasa un checklist legal de 18 preguntas: diseña Angie, revisa Adela, Carlos confirma precios.</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T2_12, secciones 5.3 y 11; Ley 30021, art. 8; D. Leg. 1044; Kantar, 15-may-2025.</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05</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Comunicación</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Campaña "Vuelve vacía" · Ecosistema digital y Meta Ads · Calendario</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#13 CONCEPTO DE CAMPAÑA · BIG IDEA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Campaña "Vuelve vacía"</a:t>
            </a:r>
            <a:endParaRPr lang="en-US" sz="3400" dirty="0"/>
          </a:p>
        </p:txBody>
      </p:sp>
      <p:sp>
        <p:nvSpPr>
          <p:cNvPr id="4" name="Shape 2"/>
          <p:cNvSpPr/>
          <p:nvPr/>
        </p:nvSpPr>
        <p:spPr>
          <a:xfrm>
            <a:off x="548640" y="1508760"/>
            <a:ext cx="11091672" cy="2148840"/>
          </a:xfrm>
          <a:prstGeom prst="roundRect">
            <a:avLst>
              <a:gd name="adj" fmla="val 5106"/>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914400" y="1691640"/>
            <a:ext cx="10332720" cy="1783080"/>
          </a:xfrm>
          <a:prstGeom prst="rect">
            <a:avLst/>
          </a:prstGeom>
          <a:noFill/>
          <a:ln/>
        </p:spPr>
        <p:txBody>
          <a:bodyPr wrap="square" lIns="0" tIns="0" rIns="0" bIns="0" rtlCol="0" anchor="ctr"/>
          <a:lstStyle/>
          <a:p>
            <a:pPr indent="0" marL="0">
              <a:spcAft>
                <a:spcPts val="600"/>
              </a:spcAft>
              <a:buNone/>
            </a:pPr>
            <a:r>
              <a:rPr lang="en-US" sz="1200" b="1" spc="200" kern="0" dirty="0">
                <a:solidFill>
                  <a:schemeClr val="accent3"/>
                </a:solidFill>
              </a:rPr>
              <a:t>IDEA CENTRAL</a:t>
            </a:r>
            <a:endParaRPr lang="en-US" sz="1400" dirty="0"/>
          </a:p>
          <a:p>
            <a:pPr indent="0" marL="0">
              <a:spcAft>
                <a:spcPts val="600"/>
              </a:spcAft>
              <a:buNone/>
            </a:pPr>
            <a:r>
              <a:rPr lang="en-US" sz="3200" b="1" dirty="0">
                <a:solidFill>
                  <a:schemeClr val="bg1"/>
                </a:solidFill>
              </a:rPr>
              <a:t>Su prueba: la lonchera vacía. La tuya: el informe de su lote.</a:t>
            </a:r>
            <a:endParaRPr lang="en-US" sz="1400" dirty="0"/>
          </a:p>
        </p:txBody>
      </p:sp>
      <p:sp>
        <p:nvSpPr>
          <p:cNvPr id="6" name="Shape 4"/>
          <p:cNvSpPr/>
          <p:nvPr/>
        </p:nvSpPr>
        <p:spPr>
          <a:xfrm>
            <a:off x="548640" y="3840480"/>
            <a:ext cx="5458968" cy="2103120"/>
          </a:xfrm>
          <a:prstGeom prst="roundRect">
            <a:avLst>
              <a:gd name="adj" fmla="val 521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Shape 5"/>
          <p:cNvSpPr/>
          <p:nvPr/>
        </p:nvSpPr>
        <p:spPr>
          <a:xfrm>
            <a:off x="548640" y="3950208"/>
            <a:ext cx="82296" cy="1883664"/>
          </a:xfrm>
          <a:prstGeom prst="rect">
            <a:avLst/>
          </a:prstGeom>
          <a:solidFill>
            <a:schemeClr val="accent1"/>
          </a:solidFill>
          <a:ln w="12700">
            <a:solidFill>
              <a:schemeClr val="accent1"/>
            </a:solidFill>
            <a:prstDash val="solid"/>
          </a:ln>
        </p:spPr>
      </p:sp>
      <p:sp>
        <p:nvSpPr>
          <p:cNvPr id="8" name="Text 6"/>
          <p:cNvSpPr txBox="1"/>
          <p:nvPr/>
        </p:nvSpPr>
        <p:spPr>
          <a:xfrm>
            <a:off x="841248" y="3968496"/>
            <a:ext cx="5001768" cy="18653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A CLAUDIA (A) LE DICE</a:t>
            </a:r>
            <a:endParaRPr lang="en-US" sz="1400" dirty="0"/>
          </a:p>
          <a:p>
            <a:pPr indent="0" marL="0">
              <a:spcAft>
                <a:spcPts val="300"/>
              </a:spcAft>
              <a:buNone/>
            </a:pPr>
            <a:r>
              <a:rPr lang="en-US" sz="1600" dirty="0">
                <a:solidFill>
                  <a:schemeClr val="tx1"/>
                </a:solidFill>
              </a:rPr>
              <a:t>Por fin algo con hierro que no regresa. Y lo puede comprobar: escanea el QR y ve el informe de su lote.</a:t>
            </a:r>
            <a:endParaRPr lang="en-US" sz="1400" dirty="0"/>
          </a:p>
        </p:txBody>
      </p:sp>
      <p:sp>
        <p:nvSpPr>
          <p:cNvPr id="9" name="Shape 7"/>
          <p:cNvSpPr/>
          <p:nvPr/>
        </p:nvSpPr>
        <p:spPr>
          <a:xfrm>
            <a:off x="6181344" y="3840480"/>
            <a:ext cx="5458968" cy="2103120"/>
          </a:xfrm>
          <a:prstGeom prst="roundRect">
            <a:avLst>
              <a:gd name="adj" fmla="val 521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Shape 8"/>
          <p:cNvSpPr/>
          <p:nvPr/>
        </p:nvSpPr>
        <p:spPr>
          <a:xfrm>
            <a:off x="6181344" y="3950208"/>
            <a:ext cx="82296" cy="1883664"/>
          </a:xfrm>
          <a:prstGeom prst="rect">
            <a:avLst/>
          </a:prstGeom>
          <a:solidFill>
            <a:schemeClr val="accent3"/>
          </a:solidFill>
          <a:ln w="12700">
            <a:solidFill>
              <a:schemeClr val="accent3"/>
            </a:solidFill>
            <a:prstDash val="solid"/>
          </a:ln>
        </p:spPr>
      </p:sp>
      <p:sp>
        <p:nvSpPr>
          <p:cNvPr id="11" name="Text 9"/>
          <p:cNvSpPr txBox="1"/>
          <p:nvPr/>
        </p:nvSpPr>
        <p:spPr>
          <a:xfrm>
            <a:off x="6473952" y="3968496"/>
            <a:ext cx="5001768" cy="186537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A RODRIGO (B) LE DICE</a:t>
            </a:r>
            <a:endParaRPr lang="en-US" sz="1400" dirty="0"/>
          </a:p>
          <a:p>
            <a:pPr indent="0" marL="0">
              <a:spcAft>
                <a:spcPts val="300"/>
              </a:spcAft>
              <a:buNone/>
            </a:pPr>
            <a:r>
              <a:rPr lang="en-US" sz="1600" dirty="0">
                <a:solidFill>
                  <a:schemeClr val="tx1"/>
                </a:solidFill>
              </a:rPr>
              <a:t>Nada que botar, nada que renegociar. Una semana de loncheras resuelta el domingo.</a:t>
            </a:r>
            <a:endParaRPr lang="en-US" sz="1400" dirty="0"/>
          </a:p>
        </p:txBody>
      </p:sp>
      <p:sp>
        <p:nvSpPr>
          <p:cNvPr id="12" name="Text 10"/>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T2_13 (insight de las entrevistas y del focus 1, punto #8); cierre de todas las piezas: "Hierro medido. Sabor a brownie."</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#13 STORYTELLING · EL HÉROE ES EL PADRE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plan en 3 pasos</a:t>
            </a:r>
            <a:endParaRPr lang="en-US" sz="3400" dirty="0"/>
          </a:p>
        </p:txBody>
      </p:sp>
      <p:sp>
        <p:nvSpPr>
          <p:cNvPr id="4" name="Shape 2"/>
          <p:cNvSpPr/>
          <p:nvPr/>
        </p:nvSpPr>
        <p:spPr>
          <a:xfrm>
            <a:off x="548640" y="1508760"/>
            <a:ext cx="3575304" cy="361188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22960" y="1783080"/>
            <a:ext cx="822960" cy="8229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04011" y="1964131"/>
            <a:ext cx="460858" cy="460858"/>
          </a:xfrm>
          <a:prstGeom prst="rect">
            <a:avLst/>
          </a:prstGeom>
        </p:spPr>
      </p:pic>
      <p:sp>
        <p:nvSpPr>
          <p:cNvPr id="7" name="Text 4"/>
          <p:cNvSpPr txBox="1"/>
          <p:nvPr/>
        </p:nvSpPr>
        <p:spPr>
          <a:xfrm>
            <a:off x="822960" y="2834640"/>
            <a:ext cx="3026664" cy="548640"/>
          </a:xfrm>
          <a:prstGeom prst="rect">
            <a:avLst/>
          </a:prstGeom>
          <a:noFill/>
          <a:ln/>
        </p:spPr>
        <p:txBody>
          <a:bodyPr wrap="square" lIns="0" tIns="0" rIns="0" bIns="0" rtlCol="0" anchor="t"/>
          <a:lstStyle/>
          <a:p>
            <a:pPr indent="0" marL="0">
              <a:buNone/>
            </a:pPr>
            <a:r>
              <a:rPr lang="en-US" sz="2400" b="1" dirty="0">
                <a:solidFill>
                  <a:schemeClr val="tx2"/>
                </a:solidFill>
              </a:rPr>
              <a:t>1. Pruébalo</a:t>
            </a:r>
            <a:endParaRPr lang="en-US" sz="2400" dirty="0"/>
          </a:p>
        </p:txBody>
      </p:sp>
      <p:sp>
        <p:nvSpPr>
          <p:cNvPr id="8" name="Text 5"/>
          <p:cNvSpPr txBox="1"/>
          <p:nvPr/>
        </p:nvSpPr>
        <p:spPr>
          <a:xfrm>
            <a:off x="822960" y="3474720"/>
            <a:ext cx="3026664" cy="1463040"/>
          </a:xfrm>
          <a:prstGeom prst="rect">
            <a:avLst/>
          </a:prstGeom>
          <a:noFill/>
          <a:ln/>
        </p:spPr>
        <p:txBody>
          <a:bodyPr wrap="square" lIns="0" tIns="0" rIns="0" bIns="0" rtlCol="0" anchor="t"/>
          <a:lstStyle/>
          <a:p>
            <a:pPr indent="0" marL="0">
              <a:buNone/>
            </a:pPr>
            <a:r>
              <a:rPr lang="en-US" sz="1700" dirty="0">
                <a:solidFill>
                  <a:schemeClr val="tx1"/>
                </a:solidFill>
              </a:rPr>
              <a:t>Tu hijo prueba en el stand, delante de ti. Tú decides si prueba.</a:t>
            </a:r>
            <a:endParaRPr lang="en-US" sz="1700" dirty="0"/>
          </a:p>
        </p:txBody>
      </p:sp>
      <p:sp>
        <p:nvSpPr>
          <p:cNvPr id="9" name="Shape 6"/>
          <p:cNvSpPr/>
          <p:nvPr/>
        </p:nvSpPr>
        <p:spPr>
          <a:xfrm>
            <a:off x="4306824" y="1508760"/>
            <a:ext cx="3575304" cy="3611880"/>
          </a:xfrm>
          <a:prstGeom prst="roundRect">
            <a:avLst>
              <a:gd name="adj" fmla="val 30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0" name="Shape 7"/>
          <p:cNvSpPr/>
          <p:nvPr/>
        </p:nvSpPr>
        <p:spPr>
          <a:xfrm>
            <a:off x="4581144" y="1783080"/>
            <a:ext cx="822960" cy="822960"/>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4762195" y="1964131"/>
            <a:ext cx="460858" cy="460858"/>
          </a:xfrm>
          <a:prstGeom prst="rect">
            <a:avLst/>
          </a:prstGeom>
        </p:spPr>
      </p:pic>
      <p:sp>
        <p:nvSpPr>
          <p:cNvPr id="12" name="Text 8"/>
          <p:cNvSpPr txBox="1"/>
          <p:nvPr/>
        </p:nvSpPr>
        <p:spPr>
          <a:xfrm>
            <a:off x="4581144" y="2834640"/>
            <a:ext cx="3026664" cy="548640"/>
          </a:xfrm>
          <a:prstGeom prst="rect">
            <a:avLst/>
          </a:prstGeom>
          <a:noFill/>
          <a:ln/>
        </p:spPr>
        <p:txBody>
          <a:bodyPr wrap="square" lIns="0" tIns="0" rIns="0" bIns="0" rtlCol="0" anchor="t"/>
          <a:lstStyle/>
          <a:p>
            <a:pPr indent="0" marL="0">
              <a:buNone/>
            </a:pPr>
            <a:r>
              <a:rPr lang="en-US" sz="2400" b="1" dirty="0">
                <a:solidFill>
                  <a:schemeClr val="bg1"/>
                </a:solidFill>
              </a:rPr>
              <a:t>2. Escanea</a:t>
            </a:r>
            <a:endParaRPr lang="en-US" sz="2400" dirty="0"/>
          </a:p>
        </p:txBody>
      </p:sp>
      <p:sp>
        <p:nvSpPr>
          <p:cNvPr id="13" name="Text 9"/>
          <p:cNvSpPr txBox="1"/>
          <p:nvPr/>
        </p:nvSpPr>
        <p:spPr>
          <a:xfrm>
            <a:off x="4581144" y="3474720"/>
            <a:ext cx="3026664" cy="1463040"/>
          </a:xfrm>
          <a:prstGeom prst="rect">
            <a:avLst/>
          </a:prstGeom>
          <a:noFill/>
          <a:ln/>
        </p:spPr>
        <p:txBody>
          <a:bodyPr wrap="square" lIns="0" tIns="0" rIns="0" bIns="0" rtlCol="0" anchor="t"/>
          <a:lstStyle/>
          <a:p>
            <a:pPr indent="0" marL="0">
              <a:buNone/>
            </a:pPr>
            <a:r>
              <a:rPr lang="en-US" sz="1700" dirty="0">
                <a:solidFill>
                  <a:schemeClr val="bg1"/>
                </a:solidFill>
              </a:rPr>
              <a:t>El QR del envase abre el informe de su lote en la app.</a:t>
            </a:r>
            <a:endParaRPr lang="en-US" sz="1700" dirty="0"/>
          </a:p>
        </p:txBody>
      </p:sp>
      <p:sp>
        <p:nvSpPr>
          <p:cNvPr id="14" name="Shape 10"/>
          <p:cNvSpPr/>
          <p:nvPr/>
        </p:nvSpPr>
        <p:spPr>
          <a:xfrm>
            <a:off x="8065008" y="1508760"/>
            <a:ext cx="3575304" cy="361188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Shape 11"/>
          <p:cNvSpPr/>
          <p:nvPr/>
        </p:nvSpPr>
        <p:spPr>
          <a:xfrm>
            <a:off x="8339328" y="1783080"/>
            <a:ext cx="822960" cy="82296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520379" y="1964131"/>
            <a:ext cx="460858" cy="460858"/>
          </a:xfrm>
          <a:prstGeom prst="rect">
            <a:avLst/>
          </a:prstGeom>
        </p:spPr>
      </p:pic>
      <p:sp>
        <p:nvSpPr>
          <p:cNvPr id="17" name="Text 12"/>
          <p:cNvSpPr txBox="1"/>
          <p:nvPr/>
        </p:nvSpPr>
        <p:spPr>
          <a:xfrm>
            <a:off x="8339328" y="2834640"/>
            <a:ext cx="3026664" cy="548640"/>
          </a:xfrm>
          <a:prstGeom prst="rect">
            <a:avLst/>
          </a:prstGeom>
          <a:noFill/>
          <a:ln/>
        </p:spPr>
        <p:txBody>
          <a:bodyPr wrap="square" lIns="0" tIns="0" rIns="0" bIns="0" rtlCol="0" anchor="t"/>
          <a:lstStyle/>
          <a:p>
            <a:pPr indent="0" marL="0">
              <a:buNone/>
            </a:pPr>
            <a:r>
              <a:rPr lang="en-US" sz="2400" b="1" dirty="0">
                <a:solidFill>
                  <a:schemeClr val="tx2"/>
                </a:solidFill>
              </a:rPr>
              <a:t>3. Pide la semana</a:t>
            </a:r>
            <a:endParaRPr lang="en-US" sz="2400" dirty="0"/>
          </a:p>
        </p:txBody>
      </p:sp>
      <p:sp>
        <p:nvSpPr>
          <p:cNvPr id="18" name="Text 13"/>
          <p:cNvSpPr txBox="1"/>
          <p:nvPr/>
        </p:nvSpPr>
        <p:spPr>
          <a:xfrm>
            <a:off x="8339328" y="3474720"/>
            <a:ext cx="3026664" cy="1463040"/>
          </a:xfrm>
          <a:prstGeom prst="rect">
            <a:avLst/>
          </a:prstGeom>
          <a:noFill/>
          <a:ln/>
        </p:spPr>
        <p:txBody>
          <a:bodyPr wrap="square" lIns="0" tIns="0" rIns="0" bIns="0" rtlCol="0" anchor="t"/>
          <a:lstStyle/>
          <a:p>
            <a:pPr indent="0" marL="0">
              <a:buNone/>
            </a:pPr>
            <a:r>
              <a:rPr lang="en-US" sz="1700" dirty="0">
                <a:solidFill>
                  <a:schemeClr val="tx1"/>
                </a:solidFill>
              </a:rPr>
              <a:t>Pack de 12 por WhatsApp; te avisamos antes de que se acabe.</a:t>
            </a:r>
            <a:endParaRPr lang="en-US" sz="1700" dirty="0"/>
          </a:p>
        </p:txBody>
      </p:sp>
      <p:sp>
        <p:nvSpPr>
          <p:cNvPr id="19" name="Shape 14"/>
          <p:cNvSpPr/>
          <p:nvPr/>
        </p:nvSpPr>
        <p:spPr>
          <a:xfrm>
            <a:off x="548640" y="534924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20" name="Text 15"/>
          <p:cNvSpPr txBox="1"/>
          <p:nvPr/>
        </p:nvSpPr>
        <p:spPr>
          <a:xfrm>
            <a:off x="822960" y="534924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Sin informe del laboratorio en enero: "El snack de lonchera que tu hijo sí se come" (plan B).</a:t>
            </a:r>
            <a:endParaRPr lang="en-US" sz="1400" dirty="0"/>
          </a:p>
        </p:txBody>
      </p:sp>
      <p:sp>
        <p:nvSpPr>
          <p:cNvPr id="21" name="Text 16"/>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T2_13, secciones 2.1 a 2.4 (estructura del héroe y el guía) y 4.3 (plan B).</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#13 MEZCLA DE MEDIOS · ESTRATEGIA TTL</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74 % cara a cara, 26 % digital, sin ATL</a:t>
            </a:r>
            <a:endParaRPr lang="en-US" sz="3400" dirty="0"/>
          </a:p>
        </p:txBody>
      </p:sp>
      <p:graphicFrame>
        <p:nvGraphicFramePr>
          <p:cNvPr id="4" name="Chart 0" descr=""/>
          <p:cNvGraphicFramePr/>
          <p:nvPr/>
        </p:nvGraphicFramePr>
        <p:xfrm>
          <a:off x="365760" y="1417320"/>
          <a:ext cx="56692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508760"/>
            <a:ext cx="5376672"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Shape 3"/>
          <p:cNvSpPr/>
          <p:nvPr/>
        </p:nvSpPr>
        <p:spPr>
          <a:xfrm>
            <a:off x="6263640" y="1618488"/>
            <a:ext cx="82296" cy="1152144"/>
          </a:xfrm>
          <a:prstGeom prst="rect">
            <a:avLst/>
          </a:prstGeom>
          <a:solidFill>
            <a:schemeClr val="accent1"/>
          </a:solidFill>
          <a:ln w="12700">
            <a:solidFill>
              <a:schemeClr val="accent1"/>
            </a:solidFill>
            <a:prstDash val="solid"/>
          </a:ln>
        </p:spPr>
      </p:sp>
      <p:sp>
        <p:nvSpPr>
          <p:cNvPr id="7" name="Text 4"/>
          <p:cNvSpPr txBox="1"/>
          <p:nvPr/>
        </p:nvSpPr>
        <p:spPr>
          <a:xfrm>
            <a:off x="6556248" y="1636776"/>
            <a:ext cx="4919472" cy="113385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PAGADOS</a:t>
            </a:r>
            <a:endParaRPr lang="en-US" sz="1400" dirty="0"/>
          </a:p>
          <a:p>
            <a:pPr indent="0" marL="0">
              <a:spcAft>
                <a:spcPts val="300"/>
              </a:spcAft>
              <a:buNone/>
            </a:pPr>
            <a:r>
              <a:rPr lang="en-US" sz="1400" dirty="0">
                <a:solidFill>
                  <a:schemeClr val="tx1"/>
                </a:solidFill>
              </a:rPr>
              <a:t>Pauta en Meta, influencers, ferias y material POP. Dan alcance y llevan al stand o al WhatsApp.</a:t>
            </a:r>
            <a:endParaRPr lang="en-US" sz="1400" dirty="0"/>
          </a:p>
        </p:txBody>
      </p:sp>
      <p:sp>
        <p:nvSpPr>
          <p:cNvPr id="8" name="Shape 5"/>
          <p:cNvSpPr/>
          <p:nvPr/>
        </p:nvSpPr>
        <p:spPr>
          <a:xfrm>
            <a:off x="6263640" y="3017520"/>
            <a:ext cx="5376672"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Shape 6"/>
          <p:cNvSpPr/>
          <p:nvPr/>
        </p:nvSpPr>
        <p:spPr>
          <a:xfrm>
            <a:off x="6263640" y="3127248"/>
            <a:ext cx="82296" cy="1152144"/>
          </a:xfrm>
          <a:prstGeom prst="rect">
            <a:avLst/>
          </a:prstGeom>
          <a:solidFill>
            <a:schemeClr val="accent2"/>
          </a:solidFill>
          <a:ln w="12700">
            <a:solidFill>
              <a:schemeClr val="accent2"/>
            </a:solidFill>
            <a:prstDash val="solid"/>
          </a:ln>
        </p:spPr>
      </p:sp>
      <p:sp>
        <p:nvSpPr>
          <p:cNvPr id="10" name="Text 7"/>
          <p:cNvSpPr txBox="1"/>
          <p:nvPr/>
        </p:nvSpPr>
        <p:spPr>
          <a:xfrm>
            <a:off x="6556248" y="3145536"/>
            <a:ext cx="4919472" cy="113385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PROPIOS</a:t>
            </a:r>
            <a:endParaRPr lang="en-US" sz="1400" dirty="0"/>
          </a:p>
          <a:p>
            <a:pPr indent="0" marL="0">
              <a:spcAft>
                <a:spcPts val="300"/>
              </a:spcAft>
              <a:buNone/>
            </a:pPr>
            <a:r>
              <a:rPr lang="en-US" sz="1400" dirty="0">
                <a:solidFill>
                  <a:schemeClr val="tx1"/>
                </a:solidFill>
              </a:rPr>
              <a:t>Envase con QR, app, WhatsApp Business, Instagram y el stand. Dan la segunda prueba y la recompra.</a:t>
            </a:r>
            <a:endParaRPr lang="en-US" sz="1400" dirty="0"/>
          </a:p>
        </p:txBody>
      </p:sp>
      <p:sp>
        <p:nvSpPr>
          <p:cNvPr id="11" name="Shape 8"/>
          <p:cNvSpPr/>
          <p:nvPr/>
        </p:nvSpPr>
        <p:spPr>
          <a:xfrm>
            <a:off x="6263640" y="4526280"/>
            <a:ext cx="5376672"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2" name="Shape 9"/>
          <p:cNvSpPr/>
          <p:nvPr/>
        </p:nvSpPr>
        <p:spPr>
          <a:xfrm>
            <a:off x="6263640" y="4636008"/>
            <a:ext cx="82296" cy="1152144"/>
          </a:xfrm>
          <a:prstGeom prst="rect">
            <a:avLst/>
          </a:prstGeom>
          <a:solidFill>
            <a:schemeClr val="accent4"/>
          </a:solidFill>
          <a:ln w="12700">
            <a:solidFill>
              <a:schemeClr val="accent4"/>
            </a:solidFill>
            <a:prstDash val="solid"/>
          </a:ln>
        </p:spPr>
      </p:sp>
      <p:sp>
        <p:nvSpPr>
          <p:cNvPr id="13" name="Text 10"/>
          <p:cNvSpPr txBox="1"/>
          <p:nvPr/>
        </p:nvSpPr>
        <p:spPr>
          <a:xfrm>
            <a:off x="6556248" y="4654296"/>
            <a:ext cx="4919472" cy="113385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GANADOS</a:t>
            </a:r>
            <a:endParaRPr lang="en-US" sz="1400" dirty="0"/>
          </a:p>
          <a:p>
            <a:pPr indent="0" marL="0">
              <a:spcAft>
                <a:spcPts val="300"/>
              </a:spcAft>
              <a:buNone/>
            </a:pPr>
            <a:r>
              <a:rPr lang="en-US" sz="1400" dirty="0">
                <a:solidFill>
                  <a:schemeClr val="tx1"/>
                </a:solidFill>
              </a:rPr>
              <a:t>Mamás embajadoras, pediatras, nutricionistas y chats del salón. Dan la confianza de "otro padre lo usa".</a:t>
            </a:r>
            <a:endParaRPr lang="en-US" sz="1400" dirty="0"/>
          </a:p>
        </p:txBody>
      </p:sp>
      <p:sp>
        <p:nvSpPr>
          <p:cNvPr id="14" name="Text 11"/>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Presupuesto-marketing-AndiBite.xlsx; HECHOS_v7; T2_13, sección 3.4 (BTL: muestras, degustación, POP, embajadoras, ferias y eventos).</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#14 ECOSISTEMA DIGITAL · DEL ANUNCIO A LA RECOMPRA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Todo lleva al stand y al WhatsApp</a:t>
            </a:r>
            <a:endParaRPr lang="en-US" sz="3400" dirty="0"/>
          </a:p>
        </p:txBody>
      </p:sp>
      <p:sp>
        <p:nvSpPr>
          <p:cNvPr id="4" name="Shape 2"/>
          <p:cNvSpPr/>
          <p:nvPr/>
        </p:nvSpPr>
        <p:spPr>
          <a:xfrm>
            <a:off x="548640" y="1554480"/>
            <a:ext cx="1463040" cy="361188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960120" y="178308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100938" y="1923898"/>
            <a:ext cx="358445" cy="358445"/>
          </a:xfrm>
          <a:prstGeom prst="rect">
            <a:avLst/>
          </a:prstGeom>
        </p:spPr>
      </p:pic>
      <p:sp>
        <p:nvSpPr>
          <p:cNvPr id="7" name="Text 4"/>
          <p:cNvSpPr txBox="1"/>
          <p:nvPr/>
        </p:nvSpPr>
        <p:spPr>
          <a:xfrm>
            <a:off x="640080" y="2560320"/>
            <a:ext cx="1280160" cy="502920"/>
          </a:xfrm>
          <a:prstGeom prst="rect">
            <a:avLst/>
          </a:prstGeom>
          <a:noFill/>
          <a:ln/>
        </p:spPr>
        <p:txBody>
          <a:bodyPr wrap="square" lIns="0" tIns="0" rIns="0" bIns="0" rtlCol="0" anchor="t"/>
          <a:lstStyle/>
          <a:p>
            <a:pPr algn="ctr" indent="0" marL="0">
              <a:buNone/>
            </a:pPr>
            <a:r>
              <a:rPr lang="en-US" sz="1400" b="1" dirty="0">
                <a:solidFill>
                  <a:schemeClr val="tx2"/>
                </a:solidFill>
              </a:rPr>
              <a:t>1. Ve el anuncio</a:t>
            </a:r>
            <a:endParaRPr lang="en-US" sz="1400" dirty="0"/>
          </a:p>
        </p:txBody>
      </p:sp>
      <p:sp>
        <p:nvSpPr>
          <p:cNvPr id="8" name="Text 5"/>
          <p:cNvSpPr txBox="1"/>
          <p:nvPr/>
        </p:nvSpPr>
        <p:spPr>
          <a:xfrm>
            <a:off x="658368" y="3108960"/>
            <a:ext cx="1243584" cy="1234440"/>
          </a:xfrm>
          <a:prstGeom prst="rect">
            <a:avLst/>
          </a:prstGeom>
          <a:noFill/>
          <a:ln/>
        </p:spPr>
        <p:txBody>
          <a:bodyPr wrap="square" lIns="0" tIns="0" rIns="0" bIns="0" rtlCol="0" anchor="t"/>
          <a:lstStyle/>
          <a:p>
            <a:pPr algn="ctr" indent="0" marL="0">
              <a:buNone/>
            </a:pPr>
            <a:r>
              <a:rPr lang="en-US" sz="1250" dirty="0">
                <a:solidFill>
                  <a:schemeClr val="tx1"/>
                </a:solidFill>
              </a:rPr>
              <a:t>Video de 15 a 20 s en Meta</a:t>
            </a:r>
            <a:endParaRPr lang="en-US" sz="1250" dirty="0"/>
          </a:p>
        </p:txBody>
      </p:sp>
      <p:sp>
        <p:nvSpPr>
          <p:cNvPr id="9" name="Text 6"/>
          <p:cNvSpPr txBox="1"/>
          <p:nvPr/>
        </p:nvSpPr>
        <p:spPr>
          <a:xfrm>
            <a:off x="640080" y="4389120"/>
            <a:ext cx="1280160" cy="640080"/>
          </a:xfrm>
          <a:prstGeom prst="rect">
            <a:avLst/>
          </a:prstGeom>
          <a:noFill/>
          <a:ln/>
        </p:spPr>
        <p:txBody>
          <a:bodyPr wrap="square" lIns="0" tIns="0" rIns="0" bIns="0" rtlCol="0" anchor="ctr"/>
          <a:lstStyle/>
          <a:p>
            <a:pPr algn="ctr" indent="0" marL="0">
              <a:buNone/>
            </a:pPr>
            <a:r>
              <a:rPr lang="en-US" sz="1150" b="1" i="1" dirty="0">
                <a:solidFill>
                  <a:schemeClr val="accent2"/>
                </a:solidFill>
              </a:rPr>
              <a:t>CTR 1 % o más</a:t>
            </a:r>
            <a:endParaRPr lang="en-US" sz="1150" dirty="0"/>
          </a:p>
        </p:txBody>
      </p:sp>
      <p:sp>
        <p:nvSpPr>
          <p:cNvPr id="10" name="Text 7"/>
          <p:cNvSpPr txBox="1"/>
          <p:nvPr/>
        </p:nvSpPr>
        <p:spPr>
          <a:xfrm>
            <a:off x="1993392"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11" name="Shape 8"/>
          <p:cNvSpPr/>
          <p:nvPr/>
        </p:nvSpPr>
        <p:spPr>
          <a:xfrm>
            <a:off x="2153412" y="1554480"/>
            <a:ext cx="1463040" cy="361188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2" name="Shape 9"/>
          <p:cNvSpPr/>
          <p:nvPr/>
        </p:nvSpPr>
        <p:spPr>
          <a:xfrm>
            <a:off x="2564892" y="1783080"/>
            <a:ext cx="640080" cy="64008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2705710" y="1923898"/>
            <a:ext cx="358445" cy="358445"/>
          </a:xfrm>
          <a:prstGeom prst="rect">
            <a:avLst/>
          </a:prstGeom>
        </p:spPr>
      </p:pic>
      <p:sp>
        <p:nvSpPr>
          <p:cNvPr id="14" name="Text 10"/>
          <p:cNvSpPr txBox="1"/>
          <p:nvPr/>
        </p:nvSpPr>
        <p:spPr>
          <a:xfrm>
            <a:off x="2244852" y="2560320"/>
            <a:ext cx="1280160" cy="502920"/>
          </a:xfrm>
          <a:prstGeom prst="rect">
            <a:avLst/>
          </a:prstGeom>
          <a:noFill/>
          <a:ln/>
        </p:spPr>
        <p:txBody>
          <a:bodyPr wrap="square" lIns="0" tIns="0" rIns="0" bIns="0" rtlCol="0" anchor="t"/>
          <a:lstStyle/>
          <a:p>
            <a:pPr algn="ctr" indent="0" marL="0">
              <a:buNone/>
            </a:pPr>
            <a:r>
              <a:rPr lang="en-US" sz="1400" b="1" dirty="0">
                <a:solidFill>
                  <a:schemeClr val="tx2"/>
                </a:solidFill>
              </a:rPr>
              <a:t>2. Escribe</a:t>
            </a:r>
            <a:endParaRPr lang="en-US" sz="1400" dirty="0"/>
          </a:p>
        </p:txBody>
      </p:sp>
      <p:sp>
        <p:nvSpPr>
          <p:cNvPr id="15" name="Text 11"/>
          <p:cNvSpPr txBox="1"/>
          <p:nvPr/>
        </p:nvSpPr>
        <p:spPr>
          <a:xfrm>
            <a:off x="2263140" y="3108960"/>
            <a:ext cx="1243584" cy="1234440"/>
          </a:xfrm>
          <a:prstGeom prst="rect">
            <a:avLst/>
          </a:prstGeom>
          <a:noFill/>
          <a:ln/>
        </p:spPr>
        <p:txBody>
          <a:bodyPr wrap="square" lIns="0" tIns="0" rIns="0" bIns="0" rtlCol="0" anchor="t"/>
          <a:lstStyle/>
          <a:p>
            <a:pPr algn="ctr" indent="0" marL="0">
              <a:buNone/>
            </a:pPr>
            <a:r>
              <a:rPr lang="en-US" sz="1250" dirty="0">
                <a:solidFill>
                  <a:schemeClr val="tx1"/>
                </a:solidFill>
              </a:rPr>
              <a:t>Botón "Enviar mensaje" a WhatsApp</a:t>
            </a:r>
            <a:endParaRPr lang="en-US" sz="1250" dirty="0"/>
          </a:p>
        </p:txBody>
      </p:sp>
      <p:sp>
        <p:nvSpPr>
          <p:cNvPr id="16" name="Text 12"/>
          <p:cNvSpPr txBox="1"/>
          <p:nvPr/>
        </p:nvSpPr>
        <p:spPr>
          <a:xfrm>
            <a:off x="2244852" y="4389120"/>
            <a:ext cx="1280160" cy="640080"/>
          </a:xfrm>
          <a:prstGeom prst="rect">
            <a:avLst/>
          </a:prstGeom>
          <a:noFill/>
          <a:ln/>
        </p:spPr>
        <p:txBody>
          <a:bodyPr wrap="square" lIns="0" tIns="0" rIns="0" bIns="0" rtlCol="0" anchor="ctr"/>
          <a:lstStyle/>
          <a:p>
            <a:pPr algn="ctr" indent="0" marL="0">
              <a:buNone/>
            </a:pPr>
            <a:r>
              <a:rPr lang="en-US" sz="1150" b="1" i="1" dirty="0">
                <a:solidFill>
                  <a:schemeClr val="accent2"/>
                </a:solidFill>
              </a:rPr>
              <a:t>Costo por conversación</a:t>
            </a:r>
            <a:endParaRPr lang="en-US" sz="1150" dirty="0"/>
          </a:p>
        </p:txBody>
      </p:sp>
      <p:sp>
        <p:nvSpPr>
          <p:cNvPr id="17" name="Text 13"/>
          <p:cNvSpPr txBox="1"/>
          <p:nvPr/>
        </p:nvSpPr>
        <p:spPr>
          <a:xfrm>
            <a:off x="3598164"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18" name="Shape 14"/>
          <p:cNvSpPr/>
          <p:nvPr/>
        </p:nvSpPr>
        <p:spPr>
          <a:xfrm>
            <a:off x="3758184" y="1554480"/>
            <a:ext cx="1463040" cy="3611880"/>
          </a:xfrm>
          <a:prstGeom prst="roundRect">
            <a:avLst>
              <a:gd name="adj" fmla="val 7500"/>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9" name="Shape 15"/>
          <p:cNvSpPr/>
          <p:nvPr/>
        </p:nvSpPr>
        <p:spPr>
          <a:xfrm>
            <a:off x="4169664" y="1783080"/>
            <a:ext cx="640080" cy="640080"/>
          </a:xfrm>
          <a:prstGeom prst="ellipse">
            <a:avLst/>
          </a:prstGeom>
          <a:solidFill>
            <a:schemeClr val="bg1"/>
          </a:solidFill>
          <a:ln w="12700">
            <a:solidFill>
              <a:schemeClr val="bg1"/>
            </a:solidFill>
            <a:prstDash val="solid"/>
          </a:ln>
        </p:spPr>
      </p:sp>
      <p:pic>
        <p:nvPicPr>
          <p:cNvPr id="20" name="Image 2" descr="preencoded.png">    </p:cNvPr>
          <p:cNvPicPr>
            <a:picLocks noChangeAspect="1"/>
          </p:cNvPicPr>
          <p:nvPr/>
        </p:nvPicPr>
        <p:blipFill>
          <a:blip r:embed="rId3"/>
          <a:stretch>
            <a:fillRect/>
          </a:stretch>
        </p:blipFill>
        <p:spPr>
          <a:xfrm>
            <a:off x="4310482" y="1923898"/>
            <a:ext cx="358445" cy="358445"/>
          </a:xfrm>
          <a:prstGeom prst="rect">
            <a:avLst/>
          </a:prstGeom>
        </p:spPr>
      </p:pic>
      <p:sp>
        <p:nvSpPr>
          <p:cNvPr id="21" name="Text 16"/>
          <p:cNvSpPr txBox="1"/>
          <p:nvPr/>
        </p:nvSpPr>
        <p:spPr>
          <a:xfrm>
            <a:off x="3849624" y="2560320"/>
            <a:ext cx="1280160" cy="502920"/>
          </a:xfrm>
          <a:prstGeom prst="rect">
            <a:avLst/>
          </a:prstGeom>
          <a:noFill/>
          <a:ln/>
        </p:spPr>
        <p:txBody>
          <a:bodyPr wrap="square" lIns="0" tIns="0" rIns="0" bIns="0" rtlCol="0" anchor="t"/>
          <a:lstStyle/>
          <a:p>
            <a:pPr algn="ctr" indent="0" marL="0">
              <a:buNone/>
            </a:pPr>
            <a:r>
              <a:rPr lang="en-US" sz="1400" b="1" dirty="0">
                <a:solidFill>
                  <a:schemeClr val="bg1"/>
                </a:solidFill>
              </a:rPr>
              <a:t>3. Prueba</a:t>
            </a:r>
            <a:endParaRPr lang="en-US" sz="1400" dirty="0"/>
          </a:p>
        </p:txBody>
      </p:sp>
      <p:sp>
        <p:nvSpPr>
          <p:cNvPr id="22" name="Text 17"/>
          <p:cNvSpPr txBox="1"/>
          <p:nvPr/>
        </p:nvSpPr>
        <p:spPr>
          <a:xfrm>
            <a:off x="3867912" y="3108960"/>
            <a:ext cx="1243584" cy="1234440"/>
          </a:xfrm>
          <a:prstGeom prst="rect">
            <a:avLst/>
          </a:prstGeom>
          <a:noFill/>
          <a:ln/>
        </p:spPr>
        <p:txBody>
          <a:bodyPr wrap="square" lIns="0" tIns="0" rIns="0" bIns="0" rtlCol="0" anchor="t"/>
          <a:lstStyle/>
          <a:p>
            <a:pPr algn="ctr" indent="0" marL="0">
              <a:buNone/>
            </a:pPr>
            <a:r>
              <a:rPr lang="en-US" sz="1250" dirty="0">
                <a:solidFill>
                  <a:schemeClr val="bg1"/>
                </a:solidFill>
              </a:rPr>
              <a:t>El hijo prueba en el stand y el padre compra</a:t>
            </a:r>
            <a:endParaRPr lang="en-US" sz="1250" dirty="0"/>
          </a:p>
        </p:txBody>
      </p:sp>
      <p:sp>
        <p:nvSpPr>
          <p:cNvPr id="23" name="Text 18"/>
          <p:cNvSpPr txBox="1"/>
          <p:nvPr/>
        </p:nvSpPr>
        <p:spPr>
          <a:xfrm>
            <a:off x="3849624" y="4389120"/>
            <a:ext cx="1280160" cy="640080"/>
          </a:xfrm>
          <a:prstGeom prst="rect">
            <a:avLst/>
          </a:prstGeom>
          <a:noFill/>
          <a:ln/>
        </p:spPr>
        <p:txBody>
          <a:bodyPr wrap="square" lIns="0" tIns="0" rIns="0" bIns="0" rtlCol="0" anchor="ctr"/>
          <a:lstStyle/>
          <a:p>
            <a:pPr algn="ctr" indent="0" marL="0">
              <a:buNone/>
            </a:pPr>
            <a:r>
              <a:rPr lang="en-US" sz="1150" b="1" i="1" dirty="0">
                <a:solidFill>
                  <a:schemeClr val="bg2"/>
                </a:solidFill>
              </a:rPr>
              <a:t>Brownies por día</a:t>
            </a:r>
            <a:endParaRPr lang="en-US" sz="1150" dirty="0"/>
          </a:p>
        </p:txBody>
      </p:sp>
      <p:sp>
        <p:nvSpPr>
          <p:cNvPr id="24" name="Text 19"/>
          <p:cNvSpPr txBox="1"/>
          <p:nvPr/>
        </p:nvSpPr>
        <p:spPr>
          <a:xfrm>
            <a:off x="5202936"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25" name="Shape 20"/>
          <p:cNvSpPr/>
          <p:nvPr/>
        </p:nvSpPr>
        <p:spPr>
          <a:xfrm>
            <a:off x="5362956" y="1554480"/>
            <a:ext cx="1463040" cy="361188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6" name="Shape 21"/>
          <p:cNvSpPr/>
          <p:nvPr/>
        </p:nvSpPr>
        <p:spPr>
          <a:xfrm>
            <a:off x="5774436" y="1783080"/>
            <a:ext cx="640080" cy="640080"/>
          </a:xfrm>
          <a:prstGeom prst="ellipse">
            <a:avLst/>
          </a:prstGeom>
          <a:solidFill>
            <a:schemeClr val="accent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5915254" y="1923898"/>
            <a:ext cx="358445" cy="358445"/>
          </a:xfrm>
          <a:prstGeom prst="rect">
            <a:avLst/>
          </a:prstGeom>
        </p:spPr>
      </p:pic>
      <p:sp>
        <p:nvSpPr>
          <p:cNvPr id="28" name="Text 22"/>
          <p:cNvSpPr txBox="1"/>
          <p:nvPr/>
        </p:nvSpPr>
        <p:spPr>
          <a:xfrm>
            <a:off x="5454396" y="2560320"/>
            <a:ext cx="1280160" cy="502920"/>
          </a:xfrm>
          <a:prstGeom prst="rect">
            <a:avLst/>
          </a:prstGeom>
          <a:noFill/>
          <a:ln/>
        </p:spPr>
        <p:txBody>
          <a:bodyPr wrap="square" lIns="0" tIns="0" rIns="0" bIns="0" rtlCol="0" anchor="t"/>
          <a:lstStyle/>
          <a:p>
            <a:pPr algn="ctr" indent="0" marL="0">
              <a:buNone/>
            </a:pPr>
            <a:r>
              <a:rPr lang="en-US" sz="1400" b="1" dirty="0">
                <a:solidFill>
                  <a:schemeClr val="tx2"/>
                </a:solidFill>
              </a:rPr>
              <a:t>4. Escanea</a:t>
            </a:r>
            <a:endParaRPr lang="en-US" sz="1400" dirty="0"/>
          </a:p>
        </p:txBody>
      </p:sp>
      <p:sp>
        <p:nvSpPr>
          <p:cNvPr id="29" name="Text 23"/>
          <p:cNvSpPr txBox="1"/>
          <p:nvPr/>
        </p:nvSpPr>
        <p:spPr>
          <a:xfrm>
            <a:off x="5472684" y="3108960"/>
            <a:ext cx="1243584" cy="1234440"/>
          </a:xfrm>
          <a:prstGeom prst="rect">
            <a:avLst/>
          </a:prstGeom>
          <a:noFill/>
          <a:ln/>
        </p:spPr>
        <p:txBody>
          <a:bodyPr wrap="square" lIns="0" tIns="0" rIns="0" bIns="0" rtlCol="0" anchor="t"/>
          <a:lstStyle/>
          <a:p>
            <a:pPr algn="ctr" indent="0" marL="0">
              <a:buNone/>
            </a:pPr>
            <a:r>
              <a:rPr lang="en-US" sz="1250" dirty="0">
                <a:solidFill>
                  <a:schemeClr val="tx1"/>
                </a:solidFill>
              </a:rPr>
              <a:t>"Mi lote": hierro y registro sanitario</a:t>
            </a:r>
            <a:endParaRPr lang="en-US" sz="1250" dirty="0"/>
          </a:p>
        </p:txBody>
      </p:sp>
      <p:sp>
        <p:nvSpPr>
          <p:cNvPr id="30" name="Text 24"/>
          <p:cNvSpPr txBox="1"/>
          <p:nvPr/>
        </p:nvSpPr>
        <p:spPr>
          <a:xfrm>
            <a:off x="5454396" y="4389120"/>
            <a:ext cx="1280160" cy="640080"/>
          </a:xfrm>
          <a:prstGeom prst="rect">
            <a:avLst/>
          </a:prstGeom>
          <a:noFill/>
          <a:ln/>
        </p:spPr>
        <p:txBody>
          <a:bodyPr wrap="square" lIns="0" tIns="0" rIns="0" bIns="0" rtlCol="0" anchor="ctr"/>
          <a:lstStyle/>
          <a:p>
            <a:pPr algn="ctr" indent="0" marL="0">
              <a:buNone/>
            </a:pPr>
            <a:r>
              <a:rPr lang="en-US" sz="1150" b="1" i="1" dirty="0">
                <a:solidFill>
                  <a:schemeClr val="accent2"/>
                </a:solidFill>
              </a:rPr>
              <a:t>30 % de envases</a:t>
            </a:r>
            <a:endParaRPr lang="en-US" sz="1150" dirty="0"/>
          </a:p>
        </p:txBody>
      </p:sp>
      <p:sp>
        <p:nvSpPr>
          <p:cNvPr id="31" name="Text 25"/>
          <p:cNvSpPr txBox="1"/>
          <p:nvPr/>
        </p:nvSpPr>
        <p:spPr>
          <a:xfrm>
            <a:off x="6807708"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32" name="Shape 26"/>
          <p:cNvSpPr/>
          <p:nvPr/>
        </p:nvSpPr>
        <p:spPr>
          <a:xfrm>
            <a:off x="6967728" y="1554480"/>
            <a:ext cx="1463040" cy="361188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3" name="Shape 27"/>
          <p:cNvSpPr/>
          <p:nvPr/>
        </p:nvSpPr>
        <p:spPr>
          <a:xfrm>
            <a:off x="7379208" y="1783080"/>
            <a:ext cx="640080" cy="640080"/>
          </a:xfrm>
          <a:prstGeom prst="ellipse">
            <a:avLst/>
          </a:prstGeom>
          <a:solidFill>
            <a:schemeClr val="accent1"/>
          </a:solidFill>
          <a:ln w="12700">
            <a:solidFill>
              <a:schemeClr val="accent1"/>
            </a:solidFill>
            <a:prstDash val="solid"/>
          </a:ln>
        </p:spPr>
      </p:sp>
      <p:pic>
        <p:nvPicPr>
          <p:cNvPr id="34" name="Image 4" descr="preencoded.png">    </p:cNvPr>
          <p:cNvPicPr>
            <a:picLocks noChangeAspect="1"/>
          </p:cNvPicPr>
          <p:nvPr/>
        </p:nvPicPr>
        <p:blipFill>
          <a:blip r:embed="rId5"/>
          <a:stretch>
            <a:fillRect/>
          </a:stretch>
        </p:blipFill>
        <p:spPr>
          <a:xfrm>
            <a:off x="7520026" y="1923898"/>
            <a:ext cx="358445" cy="358445"/>
          </a:xfrm>
          <a:prstGeom prst="rect">
            <a:avLst/>
          </a:prstGeom>
        </p:spPr>
      </p:pic>
      <p:sp>
        <p:nvSpPr>
          <p:cNvPr id="35" name="Text 28"/>
          <p:cNvSpPr txBox="1"/>
          <p:nvPr/>
        </p:nvSpPr>
        <p:spPr>
          <a:xfrm>
            <a:off x="7059168" y="2560320"/>
            <a:ext cx="1280160" cy="502920"/>
          </a:xfrm>
          <a:prstGeom prst="rect">
            <a:avLst/>
          </a:prstGeom>
          <a:noFill/>
          <a:ln/>
        </p:spPr>
        <p:txBody>
          <a:bodyPr wrap="square" lIns="0" tIns="0" rIns="0" bIns="0" rtlCol="0" anchor="t"/>
          <a:lstStyle/>
          <a:p>
            <a:pPr algn="ctr" indent="0" marL="0">
              <a:buNone/>
            </a:pPr>
            <a:r>
              <a:rPr lang="en-US" sz="1400" b="1" dirty="0">
                <a:solidFill>
                  <a:schemeClr val="tx2"/>
                </a:solidFill>
              </a:rPr>
              <a:t>5. Usa la app</a:t>
            </a:r>
            <a:endParaRPr lang="en-US" sz="1400" dirty="0"/>
          </a:p>
        </p:txBody>
      </p:sp>
      <p:sp>
        <p:nvSpPr>
          <p:cNvPr id="36" name="Text 29"/>
          <p:cNvSpPr txBox="1"/>
          <p:nvPr/>
        </p:nvSpPr>
        <p:spPr>
          <a:xfrm>
            <a:off x="7077456" y="3108960"/>
            <a:ext cx="1243584" cy="1234440"/>
          </a:xfrm>
          <a:prstGeom prst="rect">
            <a:avLst/>
          </a:prstGeom>
          <a:noFill/>
          <a:ln/>
        </p:spPr>
        <p:txBody>
          <a:bodyPr wrap="square" lIns="0" tIns="0" rIns="0" bIns="0" rtlCol="0" anchor="t"/>
          <a:lstStyle/>
          <a:p>
            <a:pPr algn="ctr" indent="0" marL="0">
              <a:buNone/>
            </a:pPr>
            <a:r>
              <a:rPr lang="en-US" sz="1250" dirty="0">
                <a:solidFill>
                  <a:schemeClr val="tx1"/>
                </a:solidFill>
              </a:rPr>
              <a:t>Plan de loncheras y semáforo de hierro</a:t>
            </a:r>
            <a:endParaRPr lang="en-US" sz="1250" dirty="0"/>
          </a:p>
        </p:txBody>
      </p:sp>
      <p:sp>
        <p:nvSpPr>
          <p:cNvPr id="37" name="Text 30"/>
          <p:cNvSpPr txBox="1"/>
          <p:nvPr/>
        </p:nvSpPr>
        <p:spPr>
          <a:xfrm>
            <a:off x="7059168" y="4389120"/>
            <a:ext cx="1280160" cy="640080"/>
          </a:xfrm>
          <a:prstGeom prst="rect">
            <a:avLst/>
          </a:prstGeom>
          <a:noFill/>
          <a:ln/>
        </p:spPr>
        <p:txBody>
          <a:bodyPr wrap="square" lIns="0" tIns="0" rIns="0" bIns="0" rtlCol="0" anchor="ctr"/>
          <a:lstStyle/>
          <a:p>
            <a:pPr algn="ctr" indent="0" marL="0">
              <a:buNone/>
            </a:pPr>
            <a:r>
              <a:rPr lang="en-US" sz="1150" b="1" i="1" dirty="0">
                <a:solidFill>
                  <a:schemeClr val="accent2"/>
                </a:solidFill>
              </a:rPr>
              <a:t>40 % de uso semanal</a:t>
            </a:r>
            <a:endParaRPr lang="en-US" sz="1150" dirty="0"/>
          </a:p>
        </p:txBody>
      </p:sp>
      <p:sp>
        <p:nvSpPr>
          <p:cNvPr id="38" name="Text 31"/>
          <p:cNvSpPr txBox="1"/>
          <p:nvPr/>
        </p:nvSpPr>
        <p:spPr>
          <a:xfrm>
            <a:off x="8412480"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39" name="Shape 32"/>
          <p:cNvSpPr/>
          <p:nvPr/>
        </p:nvSpPr>
        <p:spPr>
          <a:xfrm>
            <a:off x="8572500" y="1554480"/>
            <a:ext cx="1463040" cy="3611880"/>
          </a:xfrm>
          <a:prstGeom prst="roundRect">
            <a:avLst>
              <a:gd name="adj" fmla="val 7500"/>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40" name="Shape 33"/>
          <p:cNvSpPr/>
          <p:nvPr/>
        </p:nvSpPr>
        <p:spPr>
          <a:xfrm>
            <a:off x="8983980" y="1783080"/>
            <a:ext cx="640080" cy="640080"/>
          </a:xfrm>
          <a:prstGeom prst="ellipse">
            <a:avLst/>
          </a:prstGeom>
          <a:solidFill>
            <a:schemeClr val="bg1"/>
          </a:solidFill>
          <a:ln w="12700">
            <a:solidFill>
              <a:schemeClr val="bg1"/>
            </a:solidFill>
            <a:prstDash val="solid"/>
          </a:ln>
        </p:spPr>
      </p:sp>
      <p:pic>
        <p:nvPicPr>
          <p:cNvPr id="41" name="Image 5" descr="preencoded.png">    </p:cNvPr>
          <p:cNvPicPr>
            <a:picLocks noChangeAspect="1"/>
          </p:cNvPicPr>
          <p:nvPr/>
        </p:nvPicPr>
        <p:blipFill>
          <a:blip r:embed="rId6"/>
          <a:stretch>
            <a:fillRect/>
          </a:stretch>
        </p:blipFill>
        <p:spPr>
          <a:xfrm>
            <a:off x="9124798" y="1923898"/>
            <a:ext cx="358445" cy="358445"/>
          </a:xfrm>
          <a:prstGeom prst="rect">
            <a:avLst/>
          </a:prstGeom>
        </p:spPr>
      </p:pic>
      <p:sp>
        <p:nvSpPr>
          <p:cNvPr id="42" name="Text 34"/>
          <p:cNvSpPr txBox="1"/>
          <p:nvPr/>
        </p:nvSpPr>
        <p:spPr>
          <a:xfrm>
            <a:off x="8663940" y="2560320"/>
            <a:ext cx="1280160" cy="502920"/>
          </a:xfrm>
          <a:prstGeom prst="rect">
            <a:avLst/>
          </a:prstGeom>
          <a:noFill/>
          <a:ln/>
        </p:spPr>
        <p:txBody>
          <a:bodyPr wrap="square" lIns="0" tIns="0" rIns="0" bIns="0" rtlCol="0" anchor="t"/>
          <a:lstStyle/>
          <a:p>
            <a:pPr algn="ctr" indent="0" marL="0">
              <a:buNone/>
            </a:pPr>
            <a:r>
              <a:rPr lang="en-US" sz="1400" b="1" dirty="0">
                <a:solidFill>
                  <a:schemeClr val="bg1"/>
                </a:solidFill>
              </a:rPr>
              <a:t>6. Recompra</a:t>
            </a:r>
            <a:endParaRPr lang="en-US" sz="1400" dirty="0"/>
          </a:p>
        </p:txBody>
      </p:sp>
      <p:sp>
        <p:nvSpPr>
          <p:cNvPr id="43" name="Text 35"/>
          <p:cNvSpPr txBox="1"/>
          <p:nvPr/>
        </p:nvSpPr>
        <p:spPr>
          <a:xfrm>
            <a:off x="8682228" y="3108960"/>
            <a:ext cx="1243584" cy="1234440"/>
          </a:xfrm>
          <a:prstGeom prst="rect">
            <a:avLst/>
          </a:prstGeom>
          <a:noFill/>
          <a:ln/>
        </p:spPr>
        <p:txBody>
          <a:bodyPr wrap="square" lIns="0" tIns="0" rIns="0" bIns="0" rtlCol="0" anchor="t"/>
          <a:lstStyle/>
          <a:p>
            <a:pPr algn="ctr" indent="0" marL="0">
              <a:buNone/>
            </a:pPr>
            <a:r>
              <a:rPr lang="en-US" sz="1250" dirty="0">
                <a:solidFill>
                  <a:schemeClr val="bg1"/>
                </a:solidFill>
              </a:rPr>
              <a:t>La app avisa y pide en 1 clic</a:t>
            </a:r>
            <a:endParaRPr lang="en-US" sz="1250" dirty="0"/>
          </a:p>
        </p:txBody>
      </p:sp>
      <p:sp>
        <p:nvSpPr>
          <p:cNvPr id="44" name="Text 36"/>
          <p:cNvSpPr txBox="1"/>
          <p:nvPr/>
        </p:nvSpPr>
        <p:spPr>
          <a:xfrm>
            <a:off x="8663940" y="4389120"/>
            <a:ext cx="1280160" cy="640080"/>
          </a:xfrm>
          <a:prstGeom prst="rect">
            <a:avLst/>
          </a:prstGeom>
          <a:noFill/>
          <a:ln/>
        </p:spPr>
        <p:txBody>
          <a:bodyPr wrap="square" lIns="0" tIns="0" rIns="0" bIns="0" rtlCol="0" anchor="ctr"/>
          <a:lstStyle/>
          <a:p>
            <a:pPr algn="ctr" indent="0" marL="0">
              <a:buNone/>
            </a:pPr>
            <a:r>
              <a:rPr lang="en-US" sz="1150" b="1" i="1" dirty="0">
                <a:solidFill>
                  <a:schemeClr val="bg2"/>
                </a:solidFill>
              </a:rPr>
              <a:t>35 % de lo físico</a:t>
            </a:r>
            <a:endParaRPr lang="en-US" sz="1150" dirty="0"/>
          </a:p>
        </p:txBody>
      </p:sp>
      <p:sp>
        <p:nvSpPr>
          <p:cNvPr id="45" name="Text 37"/>
          <p:cNvSpPr txBox="1"/>
          <p:nvPr/>
        </p:nvSpPr>
        <p:spPr>
          <a:xfrm>
            <a:off x="10017252" y="3063240"/>
            <a:ext cx="178308"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46" name="Shape 38"/>
          <p:cNvSpPr/>
          <p:nvPr/>
        </p:nvSpPr>
        <p:spPr>
          <a:xfrm>
            <a:off x="10177272" y="1554480"/>
            <a:ext cx="1463040" cy="361188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7" name="Shape 39"/>
          <p:cNvSpPr/>
          <p:nvPr/>
        </p:nvSpPr>
        <p:spPr>
          <a:xfrm>
            <a:off x="10588752" y="1783080"/>
            <a:ext cx="640080" cy="640080"/>
          </a:xfrm>
          <a:prstGeom prst="ellipse">
            <a:avLst/>
          </a:prstGeom>
          <a:solidFill>
            <a:schemeClr val="accent1"/>
          </a:solidFill>
          <a:ln w="12700">
            <a:solidFill>
              <a:schemeClr val="accent1"/>
            </a:solidFill>
            <a:prstDash val="solid"/>
          </a:ln>
        </p:spPr>
      </p:sp>
      <p:pic>
        <p:nvPicPr>
          <p:cNvPr id="48" name="Image 6" descr="preencoded.png">    </p:cNvPr>
          <p:cNvPicPr>
            <a:picLocks noChangeAspect="1"/>
          </p:cNvPicPr>
          <p:nvPr/>
        </p:nvPicPr>
        <p:blipFill>
          <a:blip r:embed="rId7"/>
          <a:stretch>
            <a:fillRect/>
          </a:stretch>
        </p:blipFill>
        <p:spPr>
          <a:xfrm>
            <a:off x="10729570" y="1923898"/>
            <a:ext cx="358445" cy="358445"/>
          </a:xfrm>
          <a:prstGeom prst="rect">
            <a:avLst/>
          </a:prstGeom>
        </p:spPr>
      </p:pic>
      <p:sp>
        <p:nvSpPr>
          <p:cNvPr id="49" name="Text 40"/>
          <p:cNvSpPr txBox="1"/>
          <p:nvPr/>
        </p:nvSpPr>
        <p:spPr>
          <a:xfrm>
            <a:off x="10268712" y="2560320"/>
            <a:ext cx="1280160" cy="502920"/>
          </a:xfrm>
          <a:prstGeom prst="rect">
            <a:avLst/>
          </a:prstGeom>
          <a:noFill/>
          <a:ln/>
        </p:spPr>
        <p:txBody>
          <a:bodyPr wrap="square" lIns="0" tIns="0" rIns="0" bIns="0" rtlCol="0" anchor="t"/>
          <a:lstStyle/>
          <a:p>
            <a:pPr algn="ctr" indent="0" marL="0">
              <a:buNone/>
            </a:pPr>
            <a:r>
              <a:rPr lang="en-US" sz="1400" b="1" dirty="0">
                <a:solidFill>
                  <a:schemeClr val="tx2"/>
                </a:solidFill>
              </a:rPr>
              <a:t>7. Recomienda</a:t>
            </a:r>
            <a:endParaRPr lang="en-US" sz="1400" dirty="0"/>
          </a:p>
        </p:txBody>
      </p:sp>
      <p:sp>
        <p:nvSpPr>
          <p:cNvPr id="50" name="Text 41"/>
          <p:cNvSpPr txBox="1"/>
          <p:nvPr/>
        </p:nvSpPr>
        <p:spPr>
          <a:xfrm>
            <a:off x="10287000" y="3108960"/>
            <a:ext cx="1243584" cy="1234440"/>
          </a:xfrm>
          <a:prstGeom prst="rect">
            <a:avLst/>
          </a:prstGeom>
          <a:noFill/>
          <a:ln/>
        </p:spPr>
        <p:txBody>
          <a:bodyPr wrap="square" lIns="0" tIns="0" rIns="0" bIns="0" rtlCol="0" anchor="t"/>
          <a:lstStyle/>
          <a:p>
            <a:pPr algn="ctr" indent="0" marL="0">
              <a:buNone/>
            </a:pPr>
            <a:r>
              <a:rPr lang="en-US" sz="1250" dirty="0">
                <a:solidFill>
                  <a:schemeClr val="tx1"/>
                </a:solidFill>
              </a:rPr>
              <a:t>Código de embajadora en el salón</a:t>
            </a:r>
            <a:endParaRPr lang="en-US" sz="1250" dirty="0"/>
          </a:p>
        </p:txBody>
      </p:sp>
      <p:sp>
        <p:nvSpPr>
          <p:cNvPr id="51" name="Text 42"/>
          <p:cNvSpPr txBox="1"/>
          <p:nvPr/>
        </p:nvSpPr>
        <p:spPr>
          <a:xfrm>
            <a:off x="10268712" y="4389120"/>
            <a:ext cx="1280160" cy="640080"/>
          </a:xfrm>
          <a:prstGeom prst="rect">
            <a:avLst/>
          </a:prstGeom>
          <a:noFill/>
          <a:ln/>
        </p:spPr>
        <p:txBody>
          <a:bodyPr wrap="square" lIns="0" tIns="0" rIns="0" bIns="0" rtlCol="0" anchor="ctr"/>
          <a:lstStyle/>
          <a:p>
            <a:pPr algn="ctr" indent="0" marL="0">
              <a:buNone/>
            </a:pPr>
            <a:r>
              <a:rPr lang="en-US" sz="1150" b="1" i="1" dirty="0">
                <a:solidFill>
                  <a:schemeClr val="accent2"/>
                </a:solidFill>
              </a:rPr>
              <a:t>230 familias</a:t>
            </a:r>
            <a:endParaRPr lang="en-US" sz="1150" dirty="0"/>
          </a:p>
        </p:txBody>
      </p:sp>
      <p:sp>
        <p:nvSpPr>
          <p:cNvPr id="52" name="Shape 43"/>
          <p:cNvSpPr/>
          <p:nvPr/>
        </p:nvSpPr>
        <p:spPr>
          <a:xfrm>
            <a:off x="548640" y="539496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3" name="Text 44"/>
          <p:cNvSpPr txBox="1"/>
          <p:nvPr/>
        </p:nvSpPr>
        <p:spPr>
          <a:xfrm>
            <a:off x="822960" y="539496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El QR del envase une los dos mundos: primera compra en el stand y recompra por WhatsApp.</a:t>
            </a:r>
            <a:endParaRPr lang="en-US" sz="1400" dirty="0"/>
          </a:p>
        </p:txBody>
      </p:sp>
      <p:sp>
        <p:nvSpPr>
          <p:cNvPr id="54" name="Text 45"/>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T2_14, secciones 1 y 2; documento 09 (app "Andi, Misión Hierro"); metas de HECHOS_v7 y del documento 10.</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#14 META ADS EN VIDEO · 5-3-2 AIDA Y TESTIMONIOS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5 × 3 × 2 = 30 versiones por anuncio</a:t>
            </a:r>
            <a:endParaRPr lang="en-US" sz="3400" dirty="0"/>
          </a:p>
        </p:txBody>
      </p:sp>
      <p:sp>
        <p:nvSpPr>
          <p:cNvPr id="4" name="Shape 2"/>
          <p:cNvSpPr/>
          <p:nvPr/>
        </p:nvSpPr>
        <p:spPr>
          <a:xfrm>
            <a:off x="548640" y="1508760"/>
            <a:ext cx="3575304" cy="3657600"/>
          </a:xfrm>
          <a:prstGeom prst="roundRect">
            <a:avLst>
              <a:gd name="adj" fmla="val 30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691640"/>
            <a:ext cx="1280160" cy="1188720"/>
          </a:xfrm>
          <a:prstGeom prst="rect">
            <a:avLst/>
          </a:prstGeom>
          <a:noFill/>
          <a:ln/>
        </p:spPr>
        <p:txBody>
          <a:bodyPr wrap="square" lIns="0" tIns="0" rIns="0" bIns="0" rtlCol="0" anchor="ctr"/>
          <a:lstStyle/>
          <a:p>
            <a:pPr indent="0" marL="0">
              <a:buNone/>
            </a:pPr>
            <a:r>
              <a:rPr lang="en-US" sz="8000" b="1" dirty="0">
                <a:solidFill>
                  <a:schemeClr val="bg1"/>
                </a:solidFill>
              </a:rPr>
              <a:t>5</a:t>
            </a:r>
            <a:endParaRPr lang="en-US" sz="8000" dirty="0"/>
          </a:p>
        </p:txBody>
      </p:sp>
      <p:sp>
        <p:nvSpPr>
          <p:cNvPr id="6" name="Text 4"/>
          <p:cNvSpPr txBox="1"/>
          <p:nvPr/>
        </p:nvSpPr>
        <p:spPr>
          <a:xfrm>
            <a:off x="2011680" y="1828800"/>
            <a:ext cx="1929384" cy="1005840"/>
          </a:xfrm>
          <a:prstGeom prst="rect">
            <a:avLst/>
          </a:prstGeom>
          <a:noFill/>
          <a:ln/>
        </p:spPr>
        <p:txBody>
          <a:bodyPr wrap="square" lIns="0" tIns="0" rIns="0" bIns="0" rtlCol="0" anchor="ctr"/>
          <a:lstStyle/>
          <a:p>
            <a:pPr indent="0" marL="0">
              <a:buNone/>
            </a:pPr>
            <a:r>
              <a:rPr lang="en-US" sz="2000" b="1" dirty="0">
                <a:solidFill>
                  <a:schemeClr val="bg1"/>
                </a:solidFill>
              </a:rPr>
              <a:t>GANCHOS</a:t>
            </a:r>
            <a:endParaRPr lang="en-US" sz="1400" dirty="0"/>
          </a:p>
          <a:p>
            <a:pPr indent="0" marL="0">
              <a:buNone/>
            </a:pPr>
            <a:r>
              <a:rPr lang="en-US" sz="1300" i="1" dirty="0">
                <a:solidFill>
                  <a:schemeClr val="bg2"/>
                </a:solidFill>
              </a:rPr>
              <a:t>Atención · 0 a 3 s</a:t>
            </a:r>
            <a:endParaRPr lang="en-US" sz="1400" dirty="0"/>
          </a:p>
        </p:txBody>
      </p:sp>
      <p:sp>
        <p:nvSpPr>
          <p:cNvPr id="7" name="Text 5"/>
          <p:cNvSpPr txBox="1"/>
          <p:nvPr/>
        </p:nvSpPr>
        <p:spPr>
          <a:xfrm>
            <a:off x="822960" y="3108960"/>
            <a:ext cx="3026664" cy="1828800"/>
          </a:xfrm>
          <a:prstGeom prst="rect">
            <a:avLst/>
          </a:prstGeom>
          <a:noFill/>
          <a:ln/>
        </p:spPr>
        <p:txBody>
          <a:bodyPr wrap="square" lIns="0" tIns="0" rIns="0" bIns="0" rtlCol="0" anchor="t"/>
          <a:lstStyle/>
          <a:p>
            <a:pPr indent="0" marL="0">
              <a:buNone/>
            </a:pPr>
            <a:r>
              <a:rPr lang="en-US" sz="1600" dirty="0">
                <a:solidFill>
                  <a:schemeClr val="bg1"/>
                </a:solidFill>
              </a:rPr>
              <a:t>La lonchera que vuelve llena o vacía, el jueves a las 6 a. m., el QR del lote.</a:t>
            </a:r>
            <a:endParaRPr lang="en-US" sz="1600" dirty="0"/>
          </a:p>
        </p:txBody>
      </p:sp>
      <p:sp>
        <p:nvSpPr>
          <p:cNvPr id="8" name="Shape 6"/>
          <p:cNvSpPr/>
          <p:nvPr/>
        </p:nvSpPr>
        <p:spPr>
          <a:xfrm>
            <a:off x="4306824" y="1508760"/>
            <a:ext cx="3575304" cy="365760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4581144" y="1691640"/>
            <a:ext cx="1280160" cy="1188720"/>
          </a:xfrm>
          <a:prstGeom prst="rect">
            <a:avLst/>
          </a:prstGeom>
          <a:noFill/>
          <a:ln/>
        </p:spPr>
        <p:txBody>
          <a:bodyPr wrap="square" lIns="0" tIns="0" rIns="0" bIns="0" rtlCol="0" anchor="ctr"/>
          <a:lstStyle/>
          <a:p>
            <a:pPr indent="0" marL="0">
              <a:buNone/>
            </a:pPr>
            <a:r>
              <a:rPr lang="en-US" sz="8000" b="1" dirty="0">
                <a:solidFill>
                  <a:schemeClr val="accent1"/>
                </a:solidFill>
              </a:rPr>
              <a:t>3</a:t>
            </a:r>
            <a:endParaRPr lang="en-US" sz="8000" dirty="0"/>
          </a:p>
        </p:txBody>
      </p:sp>
      <p:sp>
        <p:nvSpPr>
          <p:cNvPr id="10" name="Text 8"/>
          <p:cNvSpPr txBox="1"/>
          <p:nvPr/>
        </p:nvSpPr>
        <p:spPr>
          <a:xfrm>
            <a:off x="5769864" y="1828800"/>
            <a:ext cx="1929384" cy="1005840"/>
          </a:xfrm>
          <a:prstGeom prst="rect">
            <a:avLst/>
          </a:prstGeom>
          <a:noFill/>
          <a:ln/>
        </p:spPr>
        <p:txBody>
          <a:bodyPr wrap="square" lIns="0" tIns="0" rIns="0" bIns="0" rtlCol="0" anchor="ctr"/>
          <a:lstStyle/>
          <a:p>
            <a:pPr indent="0" marL="0">
              <a:buNone/>
            </a:pPr>
            <a:r>
              <a:rPr lang="en-US" sz="2000" b="1" dirty="0">
                <a:solidFill>
                  <a:schemeClr val="tx2"/>
                </a:solidFill>
              </a:rPr>
              <a:t>CUERPOS</a:t>
            </a:r>
            <a:endParaRPr lang="en-US" sz="1400" dirty="0"/>
          </a:p>
          <a:p>
            <a:pPr indent="0" marL="0">
              <a:buNone/>
            </a:pPr>
            <a:r>
              <a:rPr lang="en-US" sz="1300" i="1" dirty="0">
                <a:solidFill>
                  <a:schemeClr val="accent2"/>
                </a:solidFill>
              </a:rPr>
              <a:t>Interés y deseo · 3 a 16 s</a:t>
            </a:r>
            <a:endParaRPr lang="en-US" sz="1400" dirty="0"/>
          </a:p>
        </p:txBody>
      </p:sp>
      <p:sp>
        <p:nvSpPr>
          <p:cNvPr id="11" name="Text 9"/>
          <p:cNvSpPr txBox="1"/>
          <p:nvPr/>
        </p:nvSpPr>
        <p:spPr>
          <a:xfrm>
            <a:off x="4581144" y="3108960"/>
            <a:ext cx="3026664" cy="1828800"/>
          </a:xfrm>
          <a:prstGeom prst="rect">
            <a:avLst/>
          </a:prstGeom>
          <a:noFill/>
          <a:ln/>
        </p:spPr>
        <p:txBody>
          <a:bodyPr wrap="square" lIns="0" tIns="0" rIns="0" bIns="0" rtlCol="0" anchor="t"/>
          <a:lstStyle/>
          <a:p>
            <a:pPr indent="0" marL="0">
              <a:buNone/>
            </a:pPr>
            <a:r>
              <a:rPr lang="en-US" sz="1600" dirty="0">
                <a:solidFill>
                  <a:schemeClr val="tx1"/>
                </a:solidFill>
              </a:rPr>
              <a:t>Qué es y por qué creer. Al menos un cuerpo es el testimonio de un padre real.</a:t>
            </a:r>
            <a:endParaRPr lang="en-US" sz="1600" dirty="0"/>
          </a:p>
        </p:txBody>
      </p:sp>
      <p:sp>
        <p:nvSpPr>
          <p:cNvPr id="12" name="Shape 10"/>
          <p:cNvSpPr/>
          <p:nvPr/>
        </p:nvSpPr>
        <p:spPr>
          <a:xfrm>
            <a:off x="8065008" y="1508760"/>
            <a:ext cx="3575304" cy="3657600"/>
          </a:xfrm>
          <a:prstGeom prst="roundRect">
            <a:avLst>
              <a:gd name="adj" fmla="val 30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8339328" y="1691640"/>
            <a:ext cx="1280160" cy="1188720"/>
          </a:xfrm>
          <a:prstGeom prst="rect">
            <a:avLst/>
          </a:prstGeom>
          <a:noFill/>
          <a:ln/>
        </p:spPr>
        <p:txBody>
          <a:bodyPr wrap="square" lIns="0" tIns="0" rIns="0" bIns="0" rtlCol="0" anchor="ctr"/>
          <a:lstStyle/>
          <a:p>
            <a:pPr indent="0" marL="0">
              <a:buNone/>
            </a:pPr>
            <a:r>
              <a:rPr lang="en-US" sz="8000" b="1" dirty="0">
                <a:solidFill>
                  <a:schemeClr val="accent1"/>
                </a:solidFill>
              </a:rPr>
              <a:t>2</a:t>
            </a:r>
            <a:endParaRPr lang="en-US" sz="8000" dirty="0"/>
          </a:p>
        </p:txBody>
      </p:sp>
      <p:sp>
        <p:nvSpPr>
          <p:cNvPr id="14" name="Text 12"/>
          <p:cNvSpPr txBox="1"/>
          <p:nvPr/>
        </p:nvSpPr>
        <p:spPr>
          <a:xfrm>
            <a:off x="9528048" y="1828800"/>
            <a:ext cx="1929384" cy="1005840"/>
          </a:xfrm>
          <a:prstGeom prst="rect">
            <a:avLst/>
          </a:prstGeom>
          <a:noFill/>
          <a:ln/>
        </p:spPr>
        <p:txBody>
          <a:bodyPr wrap="square" lIns="0" tIns="0" rIns="0" bIns="0" rtlCol="0" anchor="ctr"/>
          <a:lstStyle/>
          <a:p>
            <a:pPr indent="0" marL="0">
              <a:buNone/>
            </a:pPr>
            <a:r>
              <a:rPr lang="en-US" sz="2000" b="1" dirty="0">
                <a:solidFill>
                  <a:schemeClr val="tx2"/>
                </a:solidFill>
              </a:rPr>
              <a:t>CTA</a:t>
            </a:r>
            <a:endParaRPr lang="en-US" sz="1400" dirty="0"/>
          </a:p>
          <a:p>
            <a:pPr indent="0" marL="0">
              <a:buNone/>
            </a:pPr>
            <a:r>
              <a:rPr lang="en-US" sz="1300" i="1" dirty="0">
                <a:solidFill>
                  <a:schemeClr val="accent2"/>
                </a:solidFill>
              </a:rPr>
              <a:t>Acción · 16 a 20 s</a:t>
            </a:r>
            <a:endParaRPr lang="en-US" sz="1400" dirty="0"/>
          </a:p>
        </p:txBody>
      </p:sp>
      <p:sp>
        <p:nvSpPr>
          <p:cNvPr id="15" name="Text 13"/>
          <p:cNvSpPr txBox="1"/>
          <p:nvPr/>
        </p:nvSpPr>
        <p:spPr>
          <a:xfrm>
            <a:off x="8339328" y="3108960"/>
            <a:ext cx="3026664" cy="1828800"/>
          </a:xfrm>
          <a:prstGeom prst="rect">
            <a:avLst/>
          </a:prstGeom>
          <a:noFill/>
          <a:ln/>
        </p:spPr>
        <p:txBody>
          <a:bodyPr wrap="square" lIns="0" tIns="0" rIns="0" bIns="0" rtlCol="0" anchor="t"/>
          <a:lstStyle/>
          <a:p>
            <a:pPr indent="0" marL="0">
              <a:buNone/>
            </a:pPr>
            <a:r>
              <a:rPr lang="en-US" sz="1600" dirty="0">
                <a:solidFill>
                  <a:schemeClr val="tx1"/>
                </a:solidFill>
              </a:rPr>
              <a:t>Ir al stand este fin de semana o pedir por WhatsApp, con el mismo botón.</a:t>
            </a:r>
            <a:endParaRPr lang="en-US" sz="1600" dirty="0"/>
          </a:p>
        </p:txBody>
      </p:sp>
      <p:sp>
        <p:nvSpPr>
          <p:cNvPr id="16" name="Shape 14"/>
          <p:cNvSpPr/>
          <p:nvPr/>
        </p:nvSpPr>
        <p:spPr>
          <a:xfrm>
            <a:off x="548640" y="539496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7" name="Text 15"/>
          <p:cNvSpPr txBox="1"/>
          <p:nvPr/>
        </p:nvSpPr>
        <p:spPr>
          <a:xfrm>
            <a:off x="822960" y="539496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Se prueba en 3 rondas (ganchos, cuerpos, CTA) con la pauta de cada mes: S/5,050 en 2027, 50/50 A y B.</a:t>
            </a:r>
            <a:endParaRPr lang="en-US" sz="1400" dirty="0"/>
          </a:p>
        </p:txBody>
      </p:sp>
      <p:sp>
        <p:nvSpPr>
          <p:cNvPr id="18" name="Text 16"/>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Regla 5-3-2 según apuntes de Carlos de la sesión 09 (la explicación escrita aún no está en el Drive) [POR CONFIRMAR]; T2_14, secciones 3 y 4.</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#15 CALENDARIO DE CONTENIDO · OCT-2026 A DIC-2027</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Ninguna fecha clave sin piezas</a:t>
            </a:r>
            <a:endParaRPr lang="en-US" sz="3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143000"/>
                <a:gridCol w="2880360"/>
                <a:gridCol w="3291840"/>
                <a:gridCol w="1097280"/>
                <a:gridCol w="2679192"/>
              </a:tblGrid>
              <a:tr h="429768">
                <a:tc>
                  <a:txBody>
                    <a:bodyPr/>
                    <a:lstStyle/>
                    <a:p>
                      <a:pPr indent="0" marL="0">
                        <a:buNone/>
                      </a:pPr>
                      <a:r>
                        <a:rPr lang="en-US" sz="1200" b="1" dirty="0">
                          <a:solidFill>
                            <a:schemeClr val="bg1"/>
                          </a:solidFill>
                        </a:rPr>
                        <a:t>Mes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Fecha clave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Contenido principal</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Pauta 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Meta del mes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29768">
                <a:tc>
                  <a:txBody>
                    <a:bodyPr/>
                    <a:lstStyle/>
                    <a:p>
                      <a:pPr indent="0" marL="0">
                        <a:buNone/>
                      </a:pPr>
                      <a:r>
                        <a:rPr lang="en-US" sz="1200" b="1" dirty="0">
                          <a:solidFill>
                            <a:schemeClr val="tx2"/>
                          </a:solidFill>
                        </a:rPr>
                        <a:t>Oct-26</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Perfiles listos el 31-oct</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"Abre el laboratorio", en futuro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00" dirty="0">
                          <a:solidFill>
                            <a:schemeClr val="tx1"/>
                          </a:solidFill>
                        </a:rPr>
                        <a:t>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20 contactos en espera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200" b="1" dirty="0">
                          <a:solidFill>
                            <a:schemeClr val="tx2"/>
                          </a:solidFill>
                        </a:rPr>
                        <a:t>Nov-26</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Video "Vuelve vacía" (S/300)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 lonchera del jueves"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50 contactos en espera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2"/>
                          </a:solidFill>
                        </a:rPr>
                        <a:t>Dic-26</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40 influencers y expectativa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"En enero abrimos en Jockey Plaza"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00" dirty="0">
                          <a:solidFill>
                            <a:schemeClr val="tx1"/>
                          </a:solidFill>
                        </a:rPr>
                        <a:t>600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100 contactos; 500 seguidores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200" b="1" dirty="0">
                          <a:solidFill>
                            <a:schemeClr val="tx2"/>
                          </a:solidFill>
                        </a:rPr>
                        <a:t>Ene-27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Apertura de Jockey Plaza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"Ya abrimos" y "Escanea tu lote"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450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870 brownies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2"/>
                          </a:solidFill>
                        </a:rPr>
                        <a:t>Feb-27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Campaña escolar y punto 2</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"La lonchera de marzo"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00" dirty="0">
                          <a:solidFill>
                            <a:schemeClr val="tx1"/>
                          </a:solidFill>
                        </a:rPr>
                        <a:t>450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2,830 brownies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200" b="1" dirty="0">
                          <a:solidFill>
                            <a:schemeClr val="tx2"/>
                          </a:solidFill>
                        </a:rPr>
                        <a:t>Abr-27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Día del Niño Peruano (11-abr)</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Feria para padres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400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50 contactos en la feria</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2"/>
                          </a:solidFill>
                        </a:rPr>
                        <a:t>May y jun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Día de la Madre y del Padre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Caja de 3; "Papá, una mañana menos"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00" dirty="0">
                          <a:solidFill>
                            <a:schemeClr val="tx1"/>
                          </a:solidFill>
                        </a:rPr>
                        <a:t>450 y 450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4,304 y 4,038 brownies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200" b="1" dirty="0">
                          <a:solidFill>
                            <a:schemeClr val="tx2"/>
                          </a:solidFill>
                        </a:rPr>
                        <a:t>Ago-27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Punto 3 y Día del Niño (15-ago)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"Ya estamos en el punto 3"</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350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5,208 brownies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2"/>
                          </a:solidFill>
                        </a:rPr>
                        <a:t>Oct-27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Día Mundial de la Alimentación (16-oct)</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"Abre el laboratorio": todos los lotes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00" dirty="0">
                          <a:solidFill>
                            <a:schemeClr val="tx1"/>
                          </a:solidFill>
                        </a:rPr>
                        <a:t>400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00" dirty="0">
                          <a:solidFill>
                            <a:schemeClr val="tx1"/>
                          </a:solidFill>
                        </a:rPr>
                        <a:t>5 colegios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200" b="1" dirty="0">
                          <a:solidFill>
                            <a:schemeClr val="tx2"/>
                          </a:solidFill>
                        </a:rPr>
                        <a:t>Dic-27</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Navidad</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Cajas por pedido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500</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2,338 contactos; 4,000 seguidores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T2_15 (calendario mes a mes); documento 10, sección 6.4 (metas de contactos y seguidores, metas propuestas); Excel v7 (brownies).</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06</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Mezcla y ejecución</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7P · Presupuesto · Gantt · Control de KPI</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#16 LAS 7P · LA CAJA DE HERRAMIENTAS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Las 7P en una tabla</a:t>
            </a:r>
            <a:endParaRPr lang="en-US" sz="3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737360"/>
                <a:gridCol w="5486400"/>
                <a:gridCol w="3867912"/>
              </a:tblGrid>
              <a:tr h="603504">
                <a:tc>
                  <a:txBody>
                    <a:bodyPr/>
                    <a:lstStyle/>
                    <a:p>
                      <a:pPr indent="0" marL="0">
                        <a:buNone/>
                      </a:pPr>
                      <a:r>
                        <a:rPr lang="en-US" sz="1300" b="1" dirty="0">
                          <a:solidFill>
                            <a:schemeClr val="bg1"/>
                          </a:solidFill>
                        </a:rPr>
                        <a:t>P</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Qué decidimos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Dato clave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603504">
                <a:tc>
                  <a:txBody>
                    <a:bodyPr/>
                    <a:lstStyle/>
                    <a:p>
                      <a:pPr indent="0" marL="0">
                        <a:buNone/>
                      </a:pPr>
                      <a:r>
                        <a:rPr lang="en-US" sz="1300" b="1" dirty="0">
                          <a:solidFill>
                            <a:schemeClr val="accent1"/>
                          </a:solidFill>
                        </a:rPr>
                        <a:t>Producto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Mini brownie de 20 g con sangrecita; 3 sabores; 4 presentaciones; QR y app</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Hierro medido por lote (1.9 mg por brownie [POR CONFIRMAR])</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603504">
                <a:tc>
                  <a:txBody>
                    <a:bodyPr/>
                    <a:lstStyle/>
                    <a:p>
                      <a:pPr indent="0" marL="0">
                        <a:buNone/>
                      </a:pPr>
                      <a:r>
                        <a:rPr lang="en-US" sz="1300" b="1" dirty="0">
                          <a:solidFill>
                            <a:schemeClr val="accent1"/>
                          </a:solidFill>
                        </a:rPr>
                        <a:t>Precio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Pack de 6: S/27.90 en stand y S/26.90 por WhatsApp; sin descuentos ni suscripción</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S/4.16 a S/4.48 por brownie por WhatsApp</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chemeClr val="accent1"/>
                          </a:solidFill>
                        </a:rPr>
                        <a:t>Plaza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Venta física: 3 puntos, Plaza Vea, 5 colegios y 8 naturistas; WhatsApp solo recompra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A y B con esfuerzo parejo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603504">
                <a:tc>
                  <a:txBody>
                    <a:bodyPr/>
                    <a:lstStyle/>
                    <a:p>
                      <a:pPr indent="0" marL="0">
                        <a:buNone/>
                      </a:pPr>
                      <a:r>
                        <a:rPr lang="en-US" sz="1300" b="1" dirty="0">
                          <a:solidFill>
                            <a:schemeClr val="accent1"/>
                          </a:solidFill>
                        </a:rPr>
                        <a:t>Promoción</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Degustación, 2 ferias, 40 eventos, embajadoras, Meta y 40 influencers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BTL 74 % y digital 26 %, sin ATL</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chemeClr val="accent1"/>
                          </a:solidFill>
                        </a:rPr>
                        <a:t>Personas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Vendedores a S/90 por día, coordinadora a S/709 al mes, embajadoras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100 % capacitados antes de abrir</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603504">
                <a:tc>
                  <a:txBody>
                    <a:bodyPr/>
                    <a:lstStyle/>
                    <a:p>
                      <a:pPr indent="0" marL="0">
                        <a:buNone/>
                      </a:pPr>
                      <a:r>
                        <a:rPr lang="en-US" sz="1300" b="1" dirty="0">
                          <a:solidFill>
                            <a:schemeClr val="accent1"/>
                          </a:solidFill>
                        </a:rPr>
                        <a:t>Procesos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Degustación, compra, QR, app, contacto, aviso y recompra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30 % escaneado; 35 % de recompra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chemeClr val="accent1"/>
                          </a:solidFill>
                        </a:rPr>
                        <a:t>Evidencia física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Empaque con QR, informe del lote, registro sanitario, stand</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Informe de laboratorio publicado por lote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5" name="Text 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T2_16 (preguntas guía de las 7P de la sesión 09); HECHOS_v7; documento 10.</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#16 PRECIO · FRENTE A LA COMPETENCIA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Pack de 12: al nivel de Fika y Mamalama</a:t>
            </a:r>
            <a:endParaRPr lang="en-US" sz="3400" dirty="0"/>
          </a:p>
        </p:txBody>
      </p:sp>
      <p:graphicFrame>
        <p:nvGraphicFramePr>
          <p:cNvPr id="4" name="Chart 0" descr=""/>
          <p:cNvGraphicFramePr/>
          <p:nvPr/>
        </p:nvGraphicFramePr>
        <p:xfrm>
          <a:off x="365760" y="1417320"/>
          <a:ext cx="7589520" cy="4617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554480"/>
            <a:ext cx="3547872" cy="4343400"/>
          </a:xfrm>
          <a:prstGeom prst="roundRect">
            <a:avLst>
              <a:gd name="adj" fmla="val 309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321040" y="1783080"/>
            <a:ext cx="3108960" cy="3931920"/>
          </a:xfrm>
          <a:prstGeom prst="rect">
            <a:avLst/>
          </a:prstGeom>
          <a:noFill/>
          <a:ln/>
        </p:spPr>
        <p:txBody>
          <a:bodyPr wrap="square" lIns="0" tIns="0" rIns="0" bIns="0" rtlCol="0" anchor="t"/>
          <a:lstStyle/>
          <a:p>
            <a:pPr indent="0" marL="0">
              <a:spcAft>
                <a:spcPts val="1000"/>
              </a:spcAft>
              <a:buNone/>
            </a:pPr>
            <a:r>
              <a:rPr lang="en-US" sz="1200" b="1" spc="100" kern="0" dirty="0">
                <a:solidFill>
                  <a:schemeClr val="accent1"/>
                </a:solidFill>
              </a:rPr>
              <a:t>LECTURA</a:t>
            </a:r>
            <a:endParaRPr lang="en-US" sz="1400" dirty="0"/>
          </a:p>
          <a:p>
            <a:pPr marL="203200" indent="-203200">
              <a:spcAft>
                <a:spcPts val="1000"/>
              </a:spcAft>
              <a:buSzPct val="100000"/>
              <a:buChar char="•"/>
            </a:pPr>
            <a:r>
              <a:rPr lang="en-US" sz="1500" dirty="0">
                <a:solidFill>
                  <a:schemeClr val="tx1"/>
                </a:solidFill>
              </a:rPr>
              <a:t>Pack de 12 por WhatsApp: +4 % sobre Fika y +1 % sobre Mamalama.</a:t>
            </a:r>
            <a:endParaRPr lang="en-US" sz="1400" dirty="0"/>
          </a:p>
          <a:p>
            <a:pPr marL="203200" indent="-203200">
              <a:spcAft>
                <a:spcPts val="1000"/>
              </a:spcAft>
              <a:buSzPct val="100000"/>
              <a:buChar char="•"/>
            </a:pPr>
            <a:r>
              <a:rPr lang="en-US" sz="1500" dirty="0">
                <a:solidFill>
                  <a:schemeClr val="tx1"/>
                </a:solidFill>
              </a:rPr>
              <a:t>Frente a Nutri H, +30 % a +45 %: lo justifican el brownie y la medición por lote.</a:t>
            </a:r>
            <a:endParaRPr lang="en-US" sz="1400" dirty="0"/>
          </a:p>
          <a:p>
            <a:pPr marL="203200" indent="-203200">
              <a:spcAft>
                <a:spcPts val="1000"/>
              </a:spcAft>
              <a:buSzPct val="100000"/>
              <a:buChar char="•"/>
            </a:pPr>
            <a:r>
              <a:rPr lang="en-US" sz="1500" dirty="0">
                <a:solidFill>
                  <a:schemeClr val="tx1"/>
                </a:solidFill>
              </a:rPr>
              <a:t>Al padre B se le muestra primero el pack de 12.</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Tiendas oficiales, Wong y Plaza Vea, 19-oct-2026 (T2_02); precios de AndiBite de HECHOS_v7; T2_16, sección 2.3. * Peso de Forticao [POR CONFIRMAR].</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#17 PRESUPUESTO · INVERSIÓN POR CANAL</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S/24,544 en 15 meses, sin cambiar los S/900</a:t>
            </a:r>
            <a:endParaRPr lang="en-US" sz="3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4297680"/>
                <a:gridCol w="1188720"/>
              </a:tblGrid>
              <a:tr h="429768">
                <a:tc>
                  <a:txBody>
                    <a:bodyPr/>
                    <a:lstStyle/>
                    <a:p>
                      <a:pPr indent="0" marL="0">
                        <a:buNone/>
                      </a:pPr>
                      <a:r>
                        <a:rPr lang="en-US" sz="1300" b="1" dirty="0">
                          <a:solidFill>
                            <a:schemeClr val="bg1"/>
                          </a:solidFill>
                        </a:rPr>
                        <a:t>BTL (cara a cara)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29768">
                <a:tc>
                  <a:txBody>
                    <a:bodyPr/>
                    <a:lstStyle/>
                    <a:p>
                      <a:pPr indent="0" marL="0">
                        <a:buNone/>
                      </a:pPr>
                      <a:r>
                        <a:rPr lang="en-US" sz="1300" dirty="0">
                          <a:solidFill>
                            <a:schemeClr val="tx1"/>
                          </a:solidFill>
                        </a:rPr>
                        <a:t>Vendedores en ferias y eventos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4,140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dirty="0">
                          <a:solidFill>
                            <a:schemeClr val="tx1"/>
                          </a:solidFill>
                        </a:rPr>
                        <a:t>Ferias pagadas (stand)</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3,600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300" dirty="0">
                          <a:solidFill>
                            <a:schemeClr val="tx1"/>
                          </a:solidFill>
                        </a:rPr>
                        <a:t>Aporte a 40 eventos sin costo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2,800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dirty="0">
                          <a:solidFill>
                            <a:schemeClr val="tx1"/>
                          </a:solidFill>
                        </a:rPr>
                        <a:t>Mamás embajadoras (premio al padre)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2,400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300" dirty="0">
                          <a:solidFill>
                            <a:schemeClr val="tx1"/>
                          </a:solidFill>
                        </a:rPr>
                        <a:t>Material de stand y POP</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2,300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dirty="0">
                          <a:solidFill>
                            <a:schemeClr val="tx1"/>
                          </a:solidFill>
                        </a:rPr>
                        <a:t>Degustaciones extra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1,750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300" dirty="0">
                          <a:solidFill>
                            <a:schemeClr val="tx1"/>
                          </a:solidFill>
                        </a:rPr>
                        <a:t>600 muestras de lanzamiento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1,146</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b="1" dirty="0">
                          <a:solidFill>
                            <a:schemeClr val="accent1"/>
                          </a:solidFill>
                        </a:rPr>
                        <a:t>Total BTL · 74 %</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b="1" dirty="0">
                          <a:solidFill>
                            <a:schemeClr val="accent1"/>
                          </a:solidFill>
                        </a:rPr>
                        <a:t>18,136</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153912" y="1463040"/>
          <a:ext cx="5486400" cy="914400"/>
        </p:xfrm>
        <a:graphic>
          <a:graphicData uri="http://schemas.openxmlformats.org/drawingml/2006/table">
            <a:tbl>
              <a:tblPr/>
              <a:tblGrid>
                <a:gridCol w="4297680"/>
                <a:gridCol w="1188720"/>
              </a:tblGrid>
              <a:tr h="429768">
                <a:tc>
                  <a:txBody>
                    <a:bodyPr/>
                    <a:lstStyle/>
                    <a:p>
                      <a:pPr indent="0" marL="0">
                        <a:buNone/>
                      </a:pPr>
                      <a:r>
                        <a:rPr lang="en-US" sz="1300" b="1" dirty="0">
                          <a:solidFill>
                            <a:schemeClr val="bg1"/>
                          </a:solidFill>
                        </a:rPr>
                        <a:t>Digital</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29768">
                <a:tc>
                  <a:txBody>
                    <a:bodyPr/>
                    <a:lstStyle/>
                    <a:p>
                      <a:pPr indent="0" marL="0">
                        <a:buNone/>
                      </a:pPr>
                      <a:r>
                        <a:rPr lang="en-US" sz="1300" dirty="0">
                          <a:solidFill>
                            <a:schemeClr val="tx1"/>
                          </a:solidFill>
                        </a:rPr>
                        <a:t>Pauta en Meta 2027 (50/50 A y B)</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5,050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dirty="0">
                          <a:solidFill>
                            <a:schemeClr val="tx1"/>
                          </a:solidFill>
                        </a:rPr>
                        <a:t>Pauta de expectativa (dic-2026)</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600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300" dirty="0">
                          <a:solidFill>
                            <a:schemeClr val="tx1"/>
                          </a:solidFill>
                        </a:rPr>
                        <a:t>Influencers (40 packs)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dirty="0">
                          <a:solidFill>
                            <a:schemeClr val="tx1"/>
                          </a:solidFill>
                        </a:rPr>
                        <a:t>458</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29768">
                <a:tc>
                  <a:txBody>
                    <a:bodyPr/>
                    <a:lstStyle/>
                    <a:p>
                      <a:pPr indent="0" marL="0">
                        <a:buNone/>
                      </a:pPr>
                      <a:r>
                        <a:rPr lang="en-US" sz="1300" dirty="0">
                          <a:solidFill>
                            <a:schemeClr val="tx1"/>
                          </a:solidFill>
                        </a:rPr>
                        <a:t>Video de lanzamiento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300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chemeClr val="accent1"/>
                          </a:solidFill>
                        </a:rPr>
                        <a:t>Total digital · 26 %</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r" indent="0" marL="0">
                        <a:buNone/>
                      </a:pPr>
                      <a:r>
                        <a:rPr lang="en-US" sz="1300" b="1" dirty="0">
                          <a:solidFill>
                            <a:schemeClr val="accent1"/>
                          </a:solidFill>
                        </a:rPr>
                        <a:t>6,408</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6" name="Shape 2"/>
          <p:cNvSpPr/>
          <p:nvPr/>
        </p:nvSpPr>
        <p:spPr>
          <a:xfrm>
            <a:off x="6153912" y="4206240"/>
            <a:ext cx="5486400" cy="1783080"/>
          </a:xfrm>
          <a:prstGeom prst="roundRect">
            <a:avLst>
              <a:gd name="adj" fmla="val 6154"/>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7" name="Text 3"/>
          <p:cNvSpPr txBox="1"/>
          <p:nvPr/>
        </p:nvSpPr>
        <p:spPr>
          <a:xfrm>
            <a:off x="6428232" y="4389120"/>
            <a:ext cx="4937760" cy="141732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TOTAL DEL PLAN · OCT-2026 A DIC-2027</a:t>
            </a:r>
            <a:endParaRPr lang="en-US" sz="1400" dirty="0"/>
          </a:p>
          <a:p>
            <a:pPr indent="0" marL="0">
              <a:spcAft>
                <a:spcPts val="400"/>
              </a:spcAft>
              <a:buNone/>
            </a:pPr>
            <a:r>
              <a:rPr lang="en-US" sz="3200" b="1" dirty="0">
                <a:solidFill>
                  <a:schemeClr val="bg1"/>
                </a:solidFill>
              </a:rPr>
              <a:t>S/24,544</a:t>
            </a:r>
            <a:endParaRPr lang="en-US" sz="1400" dirty="0"/>
          </a:p>
          <a:p>
            <a:pPr indent="0" marL="0">
              <a:spcAft>
                <a:spcPts val="400"/>
              </a:spcAft>
              <a:buNone/>
            </a:pPr>
            <a:r>
              <a:rPr lang="en-US" sz="1300" dirty="0">
                <a:solidFill>
                  <a:schemeClr val="accent5"/>
                </a:solidFill>
              </a:rPr>
              <a:t>S/900 al mes (S/10,800) + lanzamiento S/3,204 + ferias S/4,140 + eventos S/6,400.</a:t>
            </a:r>
            <a:endParaRPr lang="en-US" sz="1400" dirty="0"/>
          </a:p>
        </p:txBody>
      </p:sp>
      <p:sp>
        <p:nvSpPr>
          <p:cNvPr id="8"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Presupuesto-marketing-AndiBite.xlsx (hoja que marca "Cuadra"); HECHOS_v7; T2_17, sección 1. Sin ATL (S/0).</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#17 PRESUPUESTO · POR TIPO DE MEDIO Y POR FASE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Promociones y RR. PP. llevan el 59 %</a:t>
            </a:r>
            <a:endParaRPr lang="en-US" sz="3400" dirty="0"/>
          </a:p>
        </p:txBody>
      </p:sp>
      <p:graphicFrame>
        <p:nvGraphicFramePr>
          <p:cNvPr id="4" name="Chart 0" descr=""/>
          <p:cNvGraphicFramePr/>
          <p:nvPr/>
        </p:nvGraphicFramePr>
        <p:xfrm>
          <a:off x="365760" y="141732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508760"/>
            <a:ext cx="3867912" cy="4480560"/>
          </a:xfrm>
          <a:prstGeom prst="roundRect">
            <a:avLst>
              <a:gd name="adj" fmla="val 283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046720" y="1691640"/>
            <a:ext cx="338328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POR FASE</a:t>
            </a:r>
            <a:endParaRPr lang="en-US" sz="1200" dirty="0"/>
          </a:p>
        </p:txBody>
      </p:sp>
      <p:sp>
        <p:nvSpPr>
          <p:cNvPr id="7" name="Text 4"/>
          <p:cNvSpPr txBox="1"/>
          <p:nvPr/>
        </p:nvSpPr>
        <p:spPr>
          <a:xfrm>
            <a:off x="8046720" y="2103120"/>
            <a:ext cx="2011680" cy="777240"/>
          </a:xfrm>
          <a:prstGeom prst="rect">
            <a:avLst/>
          </a:prstGeom>
          <a:noFill/>
          <a:ln/>
        </p:spPr>
        <p:txBody>
          <a:bodyPr wrap="square" lIns="0" tIns="0" rIns="0" bIns="0" rtlCol="0" anchor="ctr"/>
          <a:lstStyle/>
          <a:p>
            <a:pPr indent="0" marL="0">
              <a:buNone/>
            </a:pPr>
            <a:r>
              <a:rPr lang="en-US" sz="1500" b="1" dirty="0">
                <a:solidFill>
                  <a:schemeClr val="tx2"/>
                </a:solidFill>
              </a:rPr>
              <a:t>Prelanzamiento</a:t>
            </a:r>
            <a:endParaRPr lang="en-US" sz="1400" dirty="0"/>
          </a:p>
          <a:p>
            <a:pPr indent="0" marL="0">
              <a:buNone/>
            </a:pPr>
            <a:r>
              <a:rPr lang="en-US" sz="1200" dirty="0">
                <a:solidFill>
                  <a:schemeClr val="accent2"/>
                </a:solidFill>
              </a:rPr>
              <a:t>Oct-dic 2026</a:t>
            </a:r>
            <a:endParaRPr lang="en-US" sz="1400" dirty="0"/>
          </a:p>
        </p:txBody>
      </p:sp>
      <p:sp>
        <p:nvSpPr>
          <p:cNvPr id="8" name="Text 5"/>
          <p:cNvSpPr txBox="1"/>
          <p:nvPr/>
        </p:nvSpPr>
        <p:spPr>
          <a:xfrm>
            <a:off x="9966960" y="2103120"/>
            <a:ext cx="1463040" cy="777240"/>
          </a:xfrm>
          <a:prstGeom prst="rect">
            <a:avLst/>
          </a:prstGeom>
          <a:noFill/>
          <a:ln/>
        </p:spPr>
        <p:txBody>
          <a:bodyPr wrap="square" lIns="0" tIns="0" rIns="0" bIns="0" rtlCol="0" anchor="ctr"/>
          <a:lstStyle/>
          <a:p>
            <a:pPr algn="r" indent="0" marL="0">
              <a:buNone/>
            </a:pPr>
            <a:r>
              <a:rPr lang="en-US" sz="2000" b="1" dirty="0">
                <a:solidFill>
                  <a:schemeClr val="accent1"/>
                </a:solidFill>
              </a:rPr>
              <a:t>S/1,758</a:t>
            </a:r>
            <a:endParaRPr lang="en-US" sz="2000" dirty="0"/>
          </a:p>
        </p:txBody>
      </p:sp>
      <p:sp>
        <p:nvSpPr>
          <p:cNvPr id="9" name="Text 6"/>
          <p:cNvSpPr txBox="1"/>
          <p:nvPr/>
        </p:nvSpPr>
        <p:spPr>
          <a:xfrm>
            <a:off x="8046720" y="3044952"/>
            <a:ext cx="2011680" cy="777240"/>
          </a:xfrm>
          <a:prstGeom prst="rect">
            <a:avLst/>
          </a:prstGeom>
          <a:noFill/>
          <a:ln/>
        </p:spPr>
        <p:txBody>
          <a:bodyPr wrap="square" lIns="0" tIns="0" rIns="0" bIns="0" rtlCol="0" anchor="ctr"/>
          <a:lstStyle/>
          <a:p>
            <a:pPr indent="0" marL="0">
              <a:buNone/>
            </a:pPr>
            <a:r>
              <a:rPr lang="en-US" sz="1500" b="1" dirty="0">
                <a:solidFill>
                  <a:schemeClr val="tx2"/>
                </a:solidFill>
              </a:rPr>
              <a:t>Lanzamiento</a:t>
            </a:r>
            <a:endParaRPr lang="en-US" sz="1400" dirty="0"/>
          </a:p>
          <a:p>
            <a:pPr indent="0" marL="0">
              <a:buNone/>
            </a:pPr>
            <a:r>
              <a:rPr lang="en-US" sz="1200" dirty="0">
                <a:solidFill>
                  <a:schemeClr val="accent2"/>
                </a:solidFill>
              </a:rPr>
              <a:t>Ene-feb 2027</a:t>
            </a:r>
            <a:endParaRPr lang="en-US" sz="1400" dirty="0"/>
          </a:p>
        </p:txBody>
      </p:sp>
      <p:sp>
        <p:nvSpPr>
          <p:cNvPr id="10" name="Text 7"/>
          <p:cNvSpPr txBox="1"/>
          <p:nvPr/>
        </p:nvSpPr>
        <p:spPr>
          <a:xfrm>
            <a:off x="9966960" y="3044952"/>
            <a:ext cx="1463040" cy="777240"/>
          </a:xfrm>
          <a:prstGeom prst="rect">
            <a:avLst/>
          </a:prstGeom>
          <a:noFill/>
          <a:ln/>
        </p:spPr>
        <p:txBody>
          <a:bodyPr wrap="square" lIns="0" tIns="0" rIns="0" bIns="0" rtlCol="0" anchor="ctr"/>
          <a:lstStyle/>
          <a:p>
            <a:pPr algn="r" indent="0" marL="0">
              <a:buNone/>
            </a:pPr>
            <a:r>
              <a:rPr lang="en-US" sz="2000" b="1" dirty="0">
                <a:solidFill>
                  <a:schemeClr val="accent1"/>
                </a:solidFill>
              </a:rPr>
              <a:t>S/5,796</a:t>
            </a:r>
            <a:endParaRPr lang="en-US" sz="2000" dirty="0"/>
          </a:p>
        </p:txBody>
      </p:sp>
      <p:sp>
        <p:nvSpPr>
          <p:cNvPr id="11" name="Text 8"/>
          <p:cNvSpPr txBox="1"/>
          <p:nvPr/>
        </p:nvSpPr>
        <p:spPr>
          <a:xfrm>
            <a:off x="8046720" y="3986784"/>
            <a:ext cx="2011680" cy="777240"/>
          </a:xfrm>
          <a:prstGeom prst="rect">
            <a:avLst/>
          </a:prstGeom>
          <a:noFill/>
          <a:ln/>
        </p:spPr>
        <p:txBody>
          <a:bodyPr wrap="square" lIns="0" tIns="0" rIns="0" bIns="0" rtlCol="0" anchor="ctr"/>
          <a:lstStyle/>
          <a:p>
            <a:pPr indent="0" marL="0">
              <a:buNone/>
            </a:pPr>
            <a:r>
              <a:rPr lang="en-US" sz="1500" b="1" dirty="0">
                <a:solidFill>
                  <a:schemeClr val="tx2"/>
                </a:solidFill>
              </a:rPr>
              <a:t>Crecer</a:t>
            </a:r>
            <a:endParaRPr lang="en-US" sz="1400" dirty="0"/>
          </a:p>
          <a:p>
            <a:pPr indent="0" marL="0">
              <a:buNone/>
            </a:pPr>
            <a:r>
              <a:rPr lang="en-US" sz="1200" dirty="0">
                <a:solidFill>
                  <a:schemeClr val="accent2"/>
                </a:solidFill>
              </a:rPr>
              <a:t>Mar-jul 2027</a:t>
            </a:r>
            <a:endParaRPr lang="en-US" sz="1400" dirty="0"/>
          </a:p>
        </p:txBody>
      </p:sp>
      <p:sp>
        <p:nvSpPr>
          <p:cNvPr id="12" name="Text 9"/>
          <p:cNvSpPr txBox="1"/>
          <p:nvPr/>
        </p:nvSpPr>
        <p:spPr>
          <a:xfrm>
            <a:off x="9966960" y="3986784"/>
            <a:ext cx="1463040" cy="777240"/>
          </a:xfrm>
          <a:prstGeom prst="rect">
            <a:avLst/>
          </a:prstGeom>
          <a:noFill/>
          <a:ln/>
        </p:spPr>
        <p:txBody>
          <a:bodyPr wrap="square" lIns="0" tIns="0" rIns="0" bIns="0" rtlCol="0" anchor="ctr"/>
          <a:lstStyle/>
          <a:p>
            <a:pPr algn="r" indent="0" marL="0">
              <a:buNone/>
            </a:pPr>
            <a:r>
              <a:rPr lang="en-US" sz="2000" b="1" dirty="0">
                <a:solidFill>
                  <a:schemeClr val="accent1"/>
                </a:solidFill>
              </a:rPr>
              <a:t>S/9,770</a:t>
            </a:r>
            <a:endParaRPr lang="en-US" sz="2000" dirty="0"/>
          </a:p>
        </p:txBody>
      </p:sp>
      <p:sp>
        <p:nvSpPr>
          <p:cNvPr id="13" name="Text 10"/>
          <p:cNvSpPr txBox="1"/>
          <p:nvPr/>
        </p:nvSpPr>
        <p:spPr>
          <a:xfrm>
            <a:off x="8046720" y="4928616"/>
            <a:ext cx="2011680" cy="777240"/>
          </a:xfrm>
          <a:prstGeom prst="rect">
            <a:avLst/>
          </a:prstGeom>
          <a:noFill/>
          <a:ln/>
        </p:spPr>
        <p:txBody>
          <a:bodyPr wrap="square" lIns="0" tIns="0" rIns="0" bIns="0" rtlCol="0" anchor="ctr"/>
          <a:lstStyle/>
          <a:p>
            <a:pPr indent="0" marL="0">
              <a:buNone/>
            </a:pPr>
            <a:r>
              <a:rPr lang="en-US" sz="1500" b="1" dirty="0">
                <a:solidFill>
                  <a:schemeClr val="tx2"/>
                </a:solidFill>
              </a:rPr>
              <a:t>Expandir</a:t>
            </a:r>
            <a:endParaRPr lang="en-US" sz="1400" dirty="0"/>
          </a:p>
          <a:p>
            <a:pPr indent="0" marL="0">
              <a:buNone/>
            </a:pPr>
            <a:r>
              <a:rPr lang="en-US" sz="1200" dirty="0">
                <a:solidFill>
                  <a:schemeClr val="accent2"/>
                </a:solidFill>
              </a:rPr>
              <a:t>Ago-dic 2027</a:t>
            </a:r>
            <a:endParaRPr lang="en-US" sz="1400" dirty="0"/>
          </a:p>
        </p:txBody>
      </p:sp>
      <p:sp>
        <p:nvSpPr>
          <p:cNvPr id="14" name="Text 11"/>
          <p:cNvSpPr txBox="1"/>
          <p:nvPr/>
        </p:nvSpPr>
        <p:spPr>
          <a:xfrm>
            <a:off x="9966960" y="4928616"/>
            <a:ext cx="1463040" cy="777240"/>
          </a:xfrm>
          <a:prstGeom prst="rect">
            <a:avLst/>
          </a:prstGeom>
          <a:noFill/>
          <a:ln/>
        </p:spPr>
        <p:txBody>
          <a:bodyPr wrap="square" lIns="0" tIns="0" rIns="0" bIns="0" rtlCol="0" anchor="ctr"/>
          <a:lstStyle/>
          <a:p>
            <a:pPr algn="r" indent="0" marL="0">
              <a:buNone/>
            </a:pPr>
            <a:r>
              <a:rPr lang="en-US" sz="2000" b="1" dirty="0">
                <a:solidFill>
                  <a:schemeClr val="accent1"/>
                </a:solidFill>
              </a:rPr>
              <a:t>S/7,220</a:t>
            </a:r>
            <a:endParaRPr lang="en-US" sz="2000" dirty="0"/>
          </a:p>
        </p:txBody>
      </p:sp>
      <p:sp>
        <p:nvSpPr>
          <p:cNvPr id="15" name="Text 12"/>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Presupuesto-marketing-AndiBite.xlsx (mezcla de promoción y serie mensual); T2_17, secciones 1.1 y 1.4; T2_18, sección 3.</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#17 CPA Y ROAS · PROMPT 4 DE LA CLASE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La pauta trae contactos; la recompra paga</a:t>
            </a:r>
            <a:endParaRPr lang="en-US" sz="3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108960"/>
                <a:gridCol w="2377440"/>
                <a:gridCol w="5605272"/>
              </a:tblGrid>
              <a:tr h="548640">
                <a:tc>
                  <a:txBody>
                    <a:bodyPr/>
                    <a:lstStyle/>
                    <a:p>
                      <a:pPr indent="0" marL="0">
                        <a:buNone/>
                      </a:pPr>
                      <a:r>
                        <a:rPr lang="en-US" sz="1300" b="1" dirty="0">
                          <a:solidFill>
                            <a:schemeClr val="bg1"/>
                          </a:solidFill>
                        </a:rPr>
                        <a:t>Métrica estimada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Valor calculado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Interpretación</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2"/>
                          </a:solidFill>
                        </a:rPr>
                        <a:t>Impresiones de la pauta 2027</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300" b="1" dirty="0">
                          <a:solidFill>
                            <a:schemeClr val="accent1"/>
                          </a:solidFill>
                        </a:rPr>
                        <a:t>397,920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S/5,050 a adultos de 30 a 45 en Lima Top y Moderna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548640">
                <a:tc>
                  <a:txBody>
                    <a:bodyPr/>
                    <a:lstStyle/>
                    <a:p>
                      <a:pPr indent="0" marL="0">
                        <a:buNone/>
                      </a:pPr>
                      <a:r>
                        <a:rPr lang="en-US" sz="1300" b="1" dirty="0">
                          <a:solidFill>
                            <a:schemeClr val="tx2"/>
                          </a:solidFill>
                        </a:rPr>
                        <a:t>Clics y CTR</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accent1"/>
                          </a:solidFill>
                        </a:rPr>
                        <a:t>4,090 · 1.03 %</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CTR en la zona normal de Meta [POR CONFIRMAR]</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2"/>
                          </a:solidFill>
                        </a:rPr>
                        <a:t>Contactos de WhatsApp</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300" b="1" dirty="0">
                          <a:solidFill>
                            <a:schemeClr val="accent1"/>
                          </a:solidFill>
                        </a:rPr>
                        <a:t>613 (409 a 1,022)</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Contactos extra: la meta de 2,300 no depende de la pauta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548640">
                <a:tc>
                  <a:txBody>
                    <a:bodyPr/>
                    <a:lstStyle/>
                    <a:p>
                      <a:pPr indent="0" marL="0">
                        <a:buNone/>
                      </a:pPr>
                      <a:r>
                        <a:rPr lang="en-US" sz="1300" b="1" dirty="0">
                          <a:solidFill>
                            <a:schemeClr val="tx2"/>
                          </a:solidFill>
                        </a:rPr>
                        <a:t>CPA por contacto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accent1"/>
                          </a:solidFill>
                        </a:rPr>
                        <a:t>S/8.23</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Línea base con promedios; la meta es S/5 o menos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2"/>
                          </a:solidFill>
                        </a:rPr>
                        <a:t>CPA por cliente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300" b="1" dirty="0">
                          <a:solidFill>
                            <a:schemeClr val="accent1"/>
                          </a:solidFill>
                        </a:rPr>
                        <a:t>S/41.16</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00" dirty="0">
                          <a:solidFill>
                            <a:schemeClr val="tx1"/>
                          </a:solidFill>
                        </a:rPr>
                        <a:t>Cuesta unas 4 veces lo que deja un pedido (S/10.45)</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548640">
                <a:tc>
                  <a:txBody>
                    <a:bodyPr/>
                    <a:lstStyle/>
                    <a:p>
                      <a:pPr indent="0" marL="0">
                        <a:buNone/>
                      </a:pPr>
                      <a:r>
                        <a:rPr lang="en-US" sz="1300" b="1" dirty="0">
                          <a:solidFill>
                            <a:schemeClr val="tx2"/>
                          </a:solidFill>
                        </a:rPr>
                        <a:t>ROAS del primer pedido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accent1"/>
                          </a:solidFill>
                        </a:rPr>
                        <a:t>0.72</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Normal en marca nueva: el valor está en la recompra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44068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44068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Supuestos: CPM US$3.70 y CPC US$0.36 (Perú), S/3.43 por dólar, 15 % de los clics escribe y 1 de cada 5 compra.</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AdAmigo, 18-oct-2026 (CPM y CPC de Perú); BCRP, 15-oct-2026 (tipo de cambio); Excel v7; T2_17, sección 2 (prompt 4, revisado).</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#17 ROI DE MARKETING · SENSIBILIDAD</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ROI de marketing de 74 %</a:t>
            </a:r>
            <a:endParaRPr lang="en-US" sz="3400" dirty="0"/>
          </a:p>
        </p:txBody>
      </p:sp>
      <p:sp>
        <p:nvSpPr>
          <p:cNvPr id="4" name="Shape 2"/>
          <p:cNvSpPr/>
          <p:nvPr/>
        </p:nvSpPr>
        <p:spPr>
          <a:xfrm>
            <a:off x="548640" y="1508760"/>
            <a:ext cx="3931920" cy="4480560"/>
          </a:xfrm>
          <a:prstGeom prst="roundRect">
            <a:avLst>
              <a:gd name="adj" fmla="val 27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691640"/>
            <a:ext cx="3383280" cy="4114800"/>
          </a:xfrm>
          <a:prstGeom prst="rect">
            <a:avLst/>
          </a:prstGeom>
          <a:noFill/>
          <a:ln/>
        </p:spPr>
        <p:txBody>
          <a:bodyPr wrap="square" lIns="0" tIns="0" rIns="0" bIns="0" rtlCol="0" anchor="ctr"/>
          <a:lstStyle/>
          <a:p>
            <a:pPr indent="0" marL="0">
              <a:spcAft>
                <a:spcPts val="400"/>
              </a:spcAft>
              <a:buNone/>
            </a:pPr>
            <a:r>
              <a:rPr lang="en-US" sz="1200" b="1" spc="100" kern="0" dirty="0">
                <a:solidFill>
                  <a:schemeClr val="accent3"/>
                </a:solidFill>
              </a:rPr>
              <a:t>ROI DE MARKETING</a:t>
            </a:r>
            <a:endParaRPr lang="en-US" sz="1400" dirty="0"/>
          </a:p>
          <a:p>
            <a:pPr indent="0" marL="0">
              <a:spcAft>
                <a:spcPts val="400"/>
              </a:spcAft>
              <a:buNone/>
            </a:pPr>
            <a:r>
              <a:rPr lang="en-US" sz="6600" b="1" dirty="0">
                <a:solidFill>
                  <a:schemeClr val="bg1"/>
                </a:solidFill>
              </a:rPr>
              <a:t>74 %</a:t>
            </a:r>
            <a:endParaRPr lang="en-US" sz="1400" dirty="0"/>
          </a:p>
          <a:p>
            <a:pPr indent="0" marL="0">
              <a:spcAft>
                <a:spcPts val="400"/>
              </a:spcAft>
              <a:buNone/>
            </a:pPr>
            <a:r>
              <a:rPr lang="en-US" sz="1450" dirty="0">
                <a:solidFill>
                  <a:schemeClr val="accent5"/>
                </a:solidFill>
              </a:rPr>
              <a:t>Si el marketing explica el 75 % de la contribución: (S/42,618 − S/24,544) ÷ S/24,544.</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663440" y="1508760"/>
          <a:ext cx="6976872" cy="914400"/>
        </p:xfrm>
        <a:graphic>
          <a:graphicData uri="http://schemas.openxmlformats.org/drawingml/2006/table">
            <a:tbl>
              <a:tblPr/>
              <a:tblGrid>
                <a:gridCol w="4937760"/>
                <a:gridCol w="2039112"/>
              </a:tblGrid>
              <a:tr h="457200">
                <a:tc>
                  <a:txBody>
                    <a:bodyPr/>
                    <a:lstStyle/>
                    <a:p>
                      <a:pPr indent="0" marL="0">
                        <a:buNone/>
                      </a:pPr>
                      <a:r>
                        <a:rPr lang="en-US" sz="1400" b="1" dirty="0">
                          <a:solidFill>
                            <a:schemeClr val="bg1"/>
                          </a:solidFill>
                        </a:rPr>
                        <a:t>Atribución al marketing</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ROI</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100 % (techo)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400" dirty="0">
                          <a:solidFill>
                            <a:schemeClr val="tx1"/>
                          </a:solidFill>
                        </a:rPr>
                        <a:t>132 %</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400" b="1" dirty="0">
                          <a:solidFill>
                            <a:schemeClr val="accent1"/>
                          </a:solidFill>
                        </a:rPr>
                        <a:t>75 % (cifra principal)</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accent1"/>
                          </a:solidFill>
                        </a:rPr>
                        <a:t>74 %</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50 %</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400" dirty="0">
                          <a:solidFill>
                            <a:schemeClr val="tx1"/>
                          </a:solidFill>
                        </a:rPr>
                        <a:t>16 %</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400" dirty="0">
                          <a:solidFill>
                            <a:schemeClr val="tx1"/>
                          </a:solidFill>
                        </a:rPr>
                        <a:t>43 % (equilibrio)</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0 %</a:t>
                      </a:r>
                      <a:endParaRPr lang="en-US" sz="14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7" name="Shape 4"/>
          <p:cNvSpPr/>
          <p:nvPr/>
        </p:nvSpPr>
        <p:spPr>
          <a:xfrm>
            <a:off x="4663440" y="3977640"/>
            <a:ext cx="6976872"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Shape 5"/>
          <p:cNvSpPr/>
          <p:nvPr/>
        </p:nvSpPr>
        <p:spPr>
          <a:xfrm>
            <a:off x="4663440" y="4087368"/>
            <a:ext cx="82296" cy="1792224"/>
          </a:xfrm>
          <a:prstGeom prst="rect">
            <a:avLst/>
          </a:prstGeom>
          <a:solidFill>
            <a:schemeClr val="accent2"/>
          </a:solidFill>
          <a:ln w="12700">
            <a:solidFill>
              <a:schemeClr val="accent2"/>
            </a:solidFill>
            <a:prstDash val="solid"/>
          </a:ln>
        </p:spPr>
      </p:sp>
      <p:sp>
        <p:nvSpPr>
          <p:cNvPr id="9" name="Text 6"/>
          <p:cNvSpPr txBox="1"/>
          <p:nvPr/>
        </p:nvSpPr>
        <p:spPr>
          <a:xfrm>
            <a:off x="4956048" y="4105656"/>
            <a:ext cx="6519672" cy="1773936"/>
          </a:xfrm>
          <a:prstGeom prst="rect">
            <a:avLst/>
          </a:prstGeom>
          <a:noFill/>
          <a:ln/>
        </p:spPr>
        <p:txBody>
          <a:bodyPr wrap="square" lIns="0" tIns="0" rIns="0" bIns="0" rtlCol="0" anchor="t"/>
          <a:lstStyle/>
          <a:p>
            <a:pPr indent="0" marL="0">
              <a:spcAft>
                <a:spcPts val="300"/>
              </a:spcAft>
              <a:buNone/>
            </a:pPr>
            <a:r>
              <a:rPr lang="en-US" sz="1200" b="1" spc="100" kern="0" dirty="0">
                <a:solidFill>
                  <a:schemeClr val="accent1"/>
                </a:solidFill>
              </a:rPr>
              <a:t>ROI DEL NEGOCIO (OTRO INDICADOR)</a:t>
            </a:r>
            <a:endParaRPr lang="en-US" sz="1400" dirty="0"/>
          </a:p>
          <a:p>
            <a:pPr indent="0" marL="0">
              <a:spcAft>
                <a:spcPts val="300"/>
              </a:spcAft>
              <a:buNone/>
            </a:pPr>
            <a:r>
              <a:rPr lang="en-US" sz="1500" dirty="0">
                <a:solidFill>
                  <a:schemeClr val="tx1"/>
                </a:solidFill>
              </a:rPr>
              <a:t>Utilidad neta ÷ aporte de los socios: S/10,379 ÷ S/25,000 = 41.5 % en 2027. La inversión de S/40,876 se recupera en el mes 23.</a:t>
            </a:r>
            <a:endParaRPr lang="en-US" sz="1400" dirty="0"/>
          </a:p>
        </p:txBody>
      </p:sp>
      <p:sp>
        <p:nvSpPr>
          <p:cNvPr id="10" name="Text 7"/>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Excel v7, hojas Resumen y Proyeccion (contribución después de stands S/56,824); Presupuesto-marketing-AndiBite.xlsx; T2_17, sección 3.</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#18 DIAGRAMA DE GANTT · 15 MESES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Qué hacemos cada mes</a:t>
            </a:r>
            <a:endParaRPr lang="en-US" sz="3400" dirty="0"/>
          </a:p>
        </p:txBody>
      </p:sp>
      <p:pic>
        <p:nvPicPr>
          <p:cNvPr id="4" name="Image 0" descr="../../img/gantt-marketing.jpg">    </p:cNvPr>
          <p:cNvPicPr>
            <a:picLocks noChangeAspect="1"/>
          </p:cNvPicPr>
          <p:nvPr/>
        </p:nvPicPr>
        <p:blipFill>
          <a:blip r:embed="rId1"/>
          <a:stretch>
            <a:fillRect/>
          </a:stretch>
        </p:blipFill>
        <p:spPr>
          <a:xfrm>
            <a:off x="548640" y="1463040"/>
            <a:ext cx="8001000" cy="4498848"/>
          </a:xfrm>
          <a:prstGeom prst="rect">
            <a:avLst/>
          </a:prstGeom>
        </p:spPr>
      </p:pic>
      <p:sp>
        <p:nvSpPr>
          <p:cNvPr id="5" name="Shape 2"/>
          <p:cNvSpPr/>
          <p:nvPr/>
        </p:nvSpPr>
        <p:spPr>
          <a:xfrm>
            <a:off x="8732520" y="1463040"/>
            <a:ext cx="2907792" cy="4498848"/>
          </a:xfrm>
          <a:prstGeom prst="roundRect">
            <a:avLst>
              <a:gd name="adj" fmla="val 3774"/>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961120" y="1645920"/>
            <a:ext cx="2514600" cy="4160520"/>
          </a:xfrm>
          <a:prstGeom prst="rect">
            <a:avLst/>
          </a:prstGeom>
          <a:noFill/>
          <a:ln/>
        </p:spPr>
        <p:txBody>
          <a:bodyPr wrap="square" lIns="0" tIns="0" rIns="0" bIns="0" rtlCol="0" anchor="t"/>
          <a:lstStyle/>
          <a:p>
            <a:pPr indent="0" marL="0">
              <a:spcAft>
                <a:spcPts val="600"/>
              </a:spcAft>
              <a:buNone/>
            </a:pPr>
            <a:r>
              <a:rPr lang="en-US" sz="1200" b="1" spc="100" kern="0" dirty="0">
                <a:solidFill>
                  <a:schemeClr val="accent1"/>
                </a:solidFill>
              </a:rPr>
              <a:t>HITOS</a:t>
            </a:r>
            <a:endParaRPr lang="en-US" sz="1400" dirty="0"/>
          </a:p>
          <a:p>
            <a:pPr indent="0" marL="0">
              <a:spcAft>
                <a:spcPts val="600"/>
              </a:spcAft>
              <a:buNone/>
            </a:pPr>
            <a:r>
              <a:rPr lang="en-US" sz="1350" b="1" dirty="0">
                <a:solidFill>
                  <a:schemeClr val="accent1"/>
                </a:solidFill>
              </a:rPr>
              <a:t>H1 </a:t>
            </a:r>
            <a:pPr indent="0" marL="0">
              <a:spcAft>
                <a:spcPts val="600"/>
              </a:spcAft>
              <a:buNone/>
            </a:pPr>
            <a:r>
              <a:rPr lang="en-US" sz="1350" dirty="0">
                <a:solidFill>
                  <a:schemeClr val="tx1"/>
                </a:solidFill>
              </a:rPr>
              <a:t>Jockey Plaza, ene</a:t>
            </a:r>
            <a:endParaRPr lang="en-US" sz="1400" dirty="0"/>
          </a:p>
          <a:p>
            <a:pPr indent="0" marL="0">
              <a:spcAft>
                <a:spcPts val="600"/>
              </a:spcAft>
              <a:buNone/>
            </a:pPr>
            <a:r>
              <a:rPr lang="en-US" sz="1350" b="1" dirty="0">
                <a:solidFill>
                  <a:schemeClr val="accent1"/>
                </a:solidFill>
              </a:rPr>
              <a:t>H2 </a:t>
            </a:r>
            <a:pPr indent="0" marL="0">
              <a:spcAft>
                <a:spcPts val="600"/>
              </a:spcAft>
              <a:buNone/>
            </a:pPr>
            <a:r>
              <a:rPr lang="en-US" sz="1350" dirty="0">
                <a:solidFill>
                  <a:schemeClr val="tx1"/>
                </a:solidFill>
              </a:rPr>
              <a:t>Punto 2, feb</a:t>
            </a:r>
            <a:endParaRPr lang="en-US" sz="1400" dirty="0"/>
          </a:p>
          <a:p>
            <a:pPr indent="0" marL="0">
              <a:spcAft>
                <a:spcPts val="600"/>
              </a:spcAft>
              <a:buNone/>
            </a:pPr>
            <a:r>
              <a:rPr lang="en-US" sz="1350" b="1" dirty="0">
                <a:solidFill>
                  <a:schemeClr val="accent1"/>
                </a:solidFill>
              </a:rPr>
              <a:t>H3 </a:t>
            </a:r>
            <a:pPr indent="0" marL="0">
              <a:spcAft>
                <a:spcPts val="600"/>
              </a:spcAft>
              <a:buNone/>
            </a:pPr>
            <a:r>
              <a:rPr lang="en-US" sz="1350" dirty="0">
                <a:solidFill>
                  <a:schemeClr val="tx1"/>
                </a:solidFill>
              </a:rPr>
              <a:t>Punto 3, ago</a:t>
            </a:r>
            <a:endParaRPr lang="en-US" sz="1400" dirty="0"/>
          </a:p>
          <a:p>
            <a:pPr indent="0" marL="0">
              <a:spcAft>
                <a:spcPts val="600"/>
              </a:spcAft>
              <a:buNone/>
            </a:pPr>
            <a:r>
              <a:rPr lang="en-US" sz="1350" b="1" dirty="0">
                <a:solidFill>
                  <a:schemeClr val="accent1"/>
                </a:solidFill>
              </a:rPr>
              <a:t>H4 </a:t>
            </a:r>
            <a:pPr indent="0" marL="0">
              <a:spcAft>
                <a:spcPts val="600"/>
              </a:spcAft>
              <a:buNone/>
            </a:pPr>
            <a:r>
              <a:rPr lang="en-US" sz="1350" dirty="0">
                <a:solidFill>
                  <a:schemeClr val="tx1"/>
                </a:solidFill>
              </a:rPr>
              <a:t>Feria escolar, feb</a:t>
            </a:r>
            <a:endParaRPr lang="en-US" sz="1400" dirty="0"/>
          </a:p>
          <a:p>
            <a:pPr indent="0" marL="0">
              <a:spcAft>
                <a:spcPts val="600"/>
              </a:spcAft>
              <a:buNone/>
            </a:pPr>
            <a:r>
              <a:rPr lang="en-US" sz="1350" b="1" dirty="0">
                <a:solidFill>
                  <a:schemeClr val="accent1"/>
                </a:solidFill>
              </a:rPr>
              <a:t>H5 </a:t>
            </a:r>
            <a:pPr indent="0" marL="0">
              <a:spcAft>
                <a:spcPts val="600"/>
              </a:spcAft>
              <a:buNone/>
            </a:pPr>
            <a:r>
              <a:rPr lang="en-US" sz="1350" dirty="0">
                <a:solidFill>
                  <a:schemeClr val="tx1"/>
                </a:solidFill>
              </a:rPr>
              <a:t>Día del Niño, 11-abr</a:t>
            </a:r>
            <a:endParaRPr lang="en-US" sz="1400" dirty="0"/>
          </a:p>
          <a:p>
            <a:pPr indent="0" marL="0">
              <a:spcAft>
                <a:spcPts val="600"/>
              </a:spcAft>
              <a:buNone/>
            </a:pPr>
            <a:r>
              <a:rPr lang="en-US" sz="1350" b="1" dirty="0">
                <a:solidFill>
                  <a:schemeClr val="accent1"/>
                </a:solidFill>
              </a:rPr>
              <a:t>H6 </a:t>
            </a:r>
            <a:pPr indent="0" marL="0">
              <a:spcAft>
                <a:spcPts val="600"/>
              </a:spcAft>
              <a:buNone/>
            </a:pPr>
            <a:r>
              <a:rPr lang="en-US" sz="1350" dirty="0">
                <a:solidFill>
                  <a:schemeClr val="tx1"/>
                </a:solidFill>
              </a:rPr>
              <a:t>Día de la Madre, 9-may</a:t>
            </a:r>
            <a:endParaRPr lang="en-US" sz="1400" dirty="0"/>
          </a:p>
          <a:p>
            <a:pPr indent="0" marL="0">
              <a:spcAft>
                <a:spcPts val="600"/>
              </a:spcAft>
              <a:buNone/>
            </a:pPr>
            <a:r>
              <a:rPr lang="en-US" sz="1350" b="1" dirty="0">
                <a:solidFill>
                  <a:schemeClr val="accent1"/>
                </a:solidFill>
              </a:rPr>
              <a:t>H7 </a:t>
            </a:r>
            <a:pPr indent="0" marL="0">
              <a:spcAft>
                <a:spcPts val="600"/>
              </a:spcAft>
              <a:buNone/>
            </a:pPr>
            <a:r>
              <a:rPr lang="en-US" sz="1350" dirty="0">
                <a:solidFill>
                  <a:schemeClr val="tx1"/>
                </a:solidFill>
              </a:rPr>
              <a:t>Día del Padre, 20-jun</a:t>
            </a:r>
            <a:endParaRPr lang="en-US" sz="1400" dirty="0"/>
          </a:p>
          <a:p>
            <a:pPr indent="0" marL="0">
              <a:spcAft>
                <a:spcPts val="600"/>
              </a:spcAft>
              <a:buNone/>
            </a:pPr>
            <a:r>
              <a:rPr lang="en-US" sz="1350" b="1" dirty="0">
                <a:solidFill>
                  <a:schemeClr val="accent1"/>
                </a:solidFill>
              </a:rPr>
              <a:t>H8 </a:t>
            </a:r>
            <a:pPr indent="0" marL="0">
              <a:spcAft>
                <a:spcPts val="600"/>
              </a:spcAft>
              <a:buNone/>
            </a:pPr>
            <a:r>
              <a:rPr lang="en-US" sz="1350" dirty="0">
                <a:solidFill>
                  <a:schemeClr val="tx1"/>
                </a:solidFill>
              </a:rPr>
              <a:t>Día del Niño, 15-ago</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Diapositiva 37 de la TC5-8 (cronograma); T2_18 (12 actividades, responsables e hitos). Fechas de malls y ferias [POR CONFIRMAR].</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#19 CONTROL DE KPI · TABLERO DE CADA DOMINGO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semáforo de los domingos</a:t>
            </a:r>
            <a:endParaRPr lang="en-US" sz="3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788920"/>
                <a:gridCol w="1600200"/>
                <a:gridCol w="1600200"/>
                <a:gridCol w="1783080"/>
                <a:gridCol w="1874520"/>
                <a:gridCol w="1444752"/>
              </a:tblGrid>
              <a:tr h="475488">
                <a:tc>
                  <a:txBody>
                    <a:bodyPr/>
                    <a:lstStyle/>
                    <a:p>
                      <a:pPr indent="0" marL="0">
                        <a:buNone/>
                      </a:pPr>
                      <a:r>
                        <a:rPr lang="en-US" sz="1250" b="1" dirty="0">
                          <a:solidFill>
                            <a:schemeClr val="bg1"/>
                          </a:solidFill>
                        </a:rPr>
                        <a:t>KPI</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Meta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Verde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Amarillo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accent3"/>
                    </a:solidFill>
                  </a:tcPr>
                </a:tc>
                <a:tc>
                  <a:txBody>
                    <a:bodyPr/>
                    <a:lstStyle/>
                    <a:p>
                      <a:pPr algn="ctr" indent="0" marL="0">
                        <a:buNone/>
                      </a:pPr>
                      <a:r>
                        <a:rPr lang="en-US" sz="1200" b="1" dirty="0">
                          <a:solidFill>
                            <a:schemeClr val="bg1"/>
                          </a:solidFill>
                        </a:rPr>
                        <a:t>Rojo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Quién</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75488">
                <a:tc>
                  <a:txBody>
                    <a:bodyPr/>
                    <a:lstStyle/>
                    <a:p>
                      <a:pPr indent="0" marL="0">
                        <a:buNone/>
                      </a:pPr>
                      <a:r>
                        <a:rPr lang="en-US" sz="1250" b="1" dirty="0">
                          <a:solidFill>
                            <a:schemeClr val="tx2"/>
                          </a:solidFill>
                        </a:rPr>
                        <a:t>Brownies por día por punto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80 a 90</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Meta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65 a la meta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Menos de 65</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Carlos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75488">
                <a:tc>
                  <a:txBody>
                    <a:bodyPr/>
                    <a:lstStyle/>
                    <a:p>
                      <a:pPr indent="0" marL="0">
                        <a:buNone/>
                      </a:pPr>
                      <a:r>
                        <a:rPr lang="en-US" sz="1250" b="1" dirty="0">
                          <a:solidFill>
                            <a:schemeClr val="tx2"/>
                          </a:solidFill>
                        </a:rPr>
                        <a:t>Ventas acumuladas frente al Excel</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100 %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100 %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88 a 100 %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Menos de 88 %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Carlos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2"/>
                          </a:solidFill>
                        </a:rPr>
                        <a:t>Recompra por WhatsApp</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35 % del físico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35 %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20 a 35 %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Menos de 20 %</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Coordinadora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75488">
                <a:tc>
                  <a:txBody>
                    <a:bodyPr/>
                    <a:lstStyle/>
                    <a:p>
                      <a:pPr indent="0" marL="0">
                        <a:buNone/>
                      </a:pPr>
                      <a:r>
                        <a:rPr lang="en-US" sz="1250" b="1" dirty="0">
                          <a:solidFill>
                            <a:schemeClr val="tx2"/>
                          </a:solidFill>
                        </a:rPr>
                        <a:t>Familias por embajadoras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5 por semana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5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3 a 4</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Menos de 3</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Coordinadora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2"/>
                          </a:solidFill>
                        </a:rPr>
                        <a:t>Envases escaneados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30 % en el año</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Meta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Hasta 5 puntos menos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Más de 5 puntos menos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Angie</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75488">
                <a:tc>
                  <a:txBody>
                    <a:bodyPr/>
                    <a:lstStyle/>
                    <a:p>
                      <a:pPr indent="0" marL="0">
                        <a:buNone/>
                      </a:pPr>
                      <a:r>
                        <a:rPr lang="en-US" sz="1250" b="1" dirty="0">
                          <a:solidFill>
                            <a:schemeClr val="tx2"/>
                          </a:solidFill>
                        </a:rPr>
                        <a:t>Costo por contacto en Meta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S/5</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S/5 o menos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S/5 a S/8</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Más de S/8</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Angie</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2"/>
                          </a:solidFill>
                        </a:rPr>
                        <a:t>Caja del mes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S/2,545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S/2,545 o más</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S/1,000 a 2,545</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algn="ctr" indent="0" marL="0">
                        <a:buNone/>
                      </a:pPr>
                      <a:r>
                        <a:rPr lang="en-US" sz="1250" dirty="0">
                          <a:solidFill>
                            <a:schemeClr val="tx1"/>
                          </a:solidFill>
                        </a:rPr>
                        <a:t>Menos de S/1,000</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250" dirty="0">
                          <a:solidFill>
                            <a:schemeClr val="tx1"/>
                          </a:solidFill>
                        </a:rPr>
                        <a:t>Adela</a:t>
                      </a:r>
                      <a:endParaRPr lang="en-US" sz="12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bl>
          </a:graphicData>
        </a:graphic>
      </p:graphicFrame>
      <p:sp>
        <p:nvSpPr>
          <p:cNvPr id="5" name="Shape 2"/>
          <p:cNvSpPr/>
          <p:nvPr/>
        </p:nvSpPr>
        <p:spPr>
          <a:xfrm>
            <a:off x="548640" y="544068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822960" y="544068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Cada domingo, 30 minutos: cada rojo termina con una acción, un responsable y una fecha.</a:t>
            </a:r>
            <a:endParaRPr lang="en-US" sz="1400" dirty="0"/>
          </a:p>
        </p:txBody>
      </p:sp>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T2_19 (17 KPI y tablero de 12 filas; semáforo propuesto); documento 10, sección 8; Excel v7 (caja mínima S/2,545 en febrero).</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07</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Caso</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Resumen del caso NutriSmart</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#20 RESUMEN DEL CASO NUTRISMART</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[PENDIENTE: caso NutriSmart]</a:t>
            </a:r>
            <a:endParaRPr lang="en-US" sz="3400" dirty="0"/>
          </a:p>
        </p:txBody>
      </p:sp>
      <p:sp>
        <p:nvSpPr>
          <p:cNvPr id="4" name="APRENDIZAJE_1"/>
          <p:cNvSpPr/>
          <p:nvPr/>
        </p:nvSpPr>
        <p:spPr>
          <a:xfrm>
            <a:off x="548640" y="1554480"/>
            <a:ext cx="3575304" cy="3794760"/>
          </a:xfrm>
          <a:prstGeom prst="roundRect">
            <a:avLst>
              <a:gd name="adj" fmla="val 3836"/>
            </a:avLst>
          </a:prstGeom>
          <a:solidFill>
            <a:srgbClr val="F0E2CF"/>
          </a:solidFill>
          <a:ln w="19050">
            <a:solidFill>
              <a:schemeClr val="accent5"/>
            </a:solidFill>
            <a:prstDash val="dash"/>
          </a:ln>
        </p:spPr>
      </p:sp>
      <p:sp>
        <p:nvSpPr>
          <p:cNvPr id="5" name="Text 3"/>
          <p:cNvSpPr txBox="1"/>
          <p:nvPr/>
        </p:nvSpPr>
        <p:spPr>
          <a:xfrm>
            <a:off x="822960" y="1828800"/>
            <a:ext cx="3026664" cy="3246120"/>
          </a:xfrm>
          <a:prstGeom prst="rect">
            <a:avLst/>
          </a:prstGeom>
          <a:noFill/>
          <a:ln/>
        </p:spPr>
        <p:txBody>
          <a:bodyPr wrap="square" lIns="0" tIns="0" rIns="0" bIns="0" rtlCol="0" anchor="t"/>
          <a:lstStyle/>
          <a:p>
            <a:pPr indent="0" marL="0">
              <a:spcAft>
                <a:spcPts val="1000"/>
              </a:spcAft>
              <a:buNone/>
            </a:pPr>
            <a:r>
              <a:rPr lang="en-US" sz="1400" b="1" spc="100" kern="0" dirty="0">
                <a:solidFill>
                  <a:schemeClr val="accent1"/>
                </a:solidFill>
              </a:rPr>
              <a:t>APRENDIZAJE 1</a:t>
            </a:r>
            <a:endParaRPr lang="en-US" sz="1400" dirty="0"/>
          </a:p>
          <a:p>
            <a:pPr indent="0" marL="0">
              <a:spcAft>
                <a:spcPts val="1000"/>
              </a:spcAft>
              <a:buNone/>
            </a:pPr>
            <a:r>
              <a:rPr lang="en-US" sz="1800" b="1" dirty="0">
                <a:solidFill>
                  <a:schemeClr val="tx2"/>
                </a:solidFill>
              </a:rPr>
              <a:t>[POR CONFIRMAR]</a:t>
            </a:r>
            <a:endParaRPr lang="en-US" sz="1400" dirty="0"/>
          </a:p>
          <a:p>
            <a:pPr marL="203200" indent="-203200">
              <a:spcAft>
                <a:spcPts val="1000"/>
              </a:spcAft>
              <a:buSzPct val="100000"/>
              <a:buChar char="•"/>
            </a:pPr>
            <a:r>
              <a:rPr lang="en-US" sz="1400" dirty="0">
                <a:solidFill>
                  <a:schemeClr val="accent2"/>
                </a:solidFill>
              </a:rPr>
              <a:t>Qué hizo NutriSmart</a:t>
            </a:r>
            <a:endParaRPr lang="en-US" sz="1400" dirty="0"/>
          </a:p>
          <a:p>
            <a:pPr marL="203200" indent="-203200">
              <a:spcAft>
                <a:spcPts val="1000"/>
              </a:spcAft>
              <a:buSzPct val="100000"/>
              <a:buChar char="•"/>
            </a:pPr>
            <a:r>
              <a:rPr lang="en-US" sz="1400" dirty="0">
                <a:solidFill>
                  <a:schemeClr val="accent2"/>
                </a:solidFill>
              </a:rPr>
              <a:t>Qué aplicamos en AndiBite</a:t>
            </a:r>
            <a:endParaRPr lang="en-US" sz="1400" dirty="0"/>
          </a:p>
        </p:txBody>
      </p:sp>
      <p:sp>
        <p:nvSpPr>
          <p:cNvPr id="6" name="APRENDIZAJE_2"/>
          <p:cNvSpPr/>
          <p:nvPr/>
        </p:nvSpPr>
        <p:spPr>
          <a:xfrm>
            <a:off x="4306824" y="1554480"/>
            <a:ext cx="3575304" cy="3794760"/>
          </a:xfrm>
          <a:prstGeom prst="roundRect">
            <a:avLst>
              <a:gd name="adj" fmla="val 3836"/>
            </a:avLst>
          </a:prstGeom>
          <a:solidFill>
            <a:srgbClr val="F0E2CF"/>
          </a:solidFill>
          <a:ln w="19050">
            <a:solidFill>
              <a:schemeClr val="accent5"/>
            </a:solidFill>
            <a:prstDash val="dash"/>
          </a:ln>
        </p:spPr>
      </p:sp>
      <p:sp>
        <p:nvSpPr>
          <p:cNvPr id="7" name="Text 5"/>
          <p:cNvSpPr txBox="1"/>
          <p:nvPr/>
        </p:nvSpPr>
        <p:spPr>
          <a:xfrm>
            <a:off x="4581144" y="1828800"/>
            <a:ext cx="3026664" cy="3246120"/>
          </a:xfrm>
          <a:prstGeom prst="rect">
            <a:avLst/>
          </a:prstGeom>
          <a:noFill/>
          <a:ln/>
        </p:spPr>
        <p:txBody>
          <a:bodyPr wrap="square" lIns="0" tIns="0" rIns="0" bIns="0" rtlCol="0" anchor="t"/>
          <a:lstStyle/>
          <a:p>
            <a:pPr indent="0" marL="0">
              <a:spcAft>
                <a:spcPts val="1000"/>
              </a:spcAft>
              <a:buNone/>
            </a:pPr>
            <a:r>
              <a:rPr lang="en-US" sz="1400" b="1" spc="100" kern="0" dirty="0">
                <a:solidFill>
                  <a:schemeClr val="accent1"/>
                </a:solidFill>
              </a:rPr>
              <a:t>APRENDIZAJE 2</a:t>
            </a:r>
            <a:endParaRPr lang="en-US" sz="1400" dirty="0"/>
          </a:p>
          <a:p>
            <a:pPr indent="0" marL="0">
              <a:spcAft>
                <a:spcPts val="1000"/>
              </a:spcAft>
              <a:buNone/>
            </a:pPr>
            <a:r>
              <a:rPr lang="en-US" sz="1800" b="1" dirty="0">
                <a:solidFill>
                  <a:schemeClr val="tx2"/>
                </a:solidFill>
              </a:rPr>
              <a:t>[POR CONFIRMAR]</a:t>
            </a:r>
            <a:endParaRPr lang="en-US" sz="1400" dirty="0"/>
          </a:p>
          <a:p>
            <a:pPr marL="203200" indent="-203200">
              <a:spcAft>
                <a:spcPts val="1000"/>
              </a:spcAft>
              <a:buSzPct val="100000"/>
              <a:buChar char="•"/>
            </a:pPr>
            <a:r>
              <a:rPr lang="en-US" sz="1400" dirty="0">
                <a:solidFill>
                  <a:schemeClr val="accent2"/>
                </a:solidFill>
              </a:rPr>
              <a:t>Qué hizo NutriSmart</a:t>
            </a:r>
            <a:endParaRPr lang="en-US" sz="1400" dirty="0"/>
          </a:p>
          <a:p>
            <a:pPr marL="203200" indent="-203200">
              <a:spcAft>
                <a:spcPts val="1000"/>
              </a:spcAft>
              <a:buSzPct val="100000"/>
              <a:buChar char="•"/>
            </a:pPr>
            <a:r>
              <a:rPr lang="en-US" sz="1400" dirty="0">
                <a:solidFill>
                  <a:schemeClr val="accent2"/>
                </a:solidFill>
              </a:rPr>
              <a:t>Qué aplicamos en AndiBite</a:t>
            </a:r>
            <a:endParaRPr lang="en-US" sz="1400" dirty="0"/>
          </a:p>
        </p:txBody>
      </p:sp>
      <p:sp>
        <p:nvSpPr>
          <p:cNvPr id="8" name="APRENDIZAJE_3"/>
          <p:cNvSpPr/>
          <p:nvPr/>
        </p:nvSpPr>
        <p:spPr>
          <a:xfrm>
            <a:off x="8065008" y="1554480"/>
            <a:ext cx="3575304" cy="3794760"/>
          </a:xfrm>
          <a:prstGeom prst="roundRect">
            <a:avLst>
              <a:gd name="adj" fmla="val 3836"/>
            </a:avLst>
          </a:prstGeom>
          <a:solidFill>
            <a:srgbClr val="F0E2CF"/>
          </a:solidFill>
          <a:ln w="19050">
            <a:solidFill>
              <a:schemeClr val="accent5"/>
            </a:solidFill>
            <a:prstDash val="dash"/>
          </a:ln>
        </p:spPr>
      </p:sp>
      <p:sp>
        <p:nvSpPr>
          <p:cNvPr id="9" name="Text 7"/>
          <p:cNvSpPr txBox="1"/>
          <p:nvPr/>
        </p:nvSpPr>
        <p:spPr>
          <a:xfrm>
            <a:off x="8339328" y="1828800"/>
            <a:ext cx="3026664" cy="3246120"/>
          </a:xfrm>
          <a:prstGeom prst="rect">
            <a:avLst/>
          </a:prstGeom>
          <a:noFill/>
          <a:ln/>
        </p:spPr>
        <p:txBody>
          <a:bodyPr wrap="square" lIns="0" tIns="0" rIns="0" bIns="0" rtlCol="0" anchor="t"/>
          <a:lstStyle/>
          <a:p>
            <a:pPr indent="0" marL="0">
              <a:spcAft>
                <a:spcPts val="1000"/>
              </a:spcAft>
              <a:buNone/>
            </a:pPr>
            <a:r>
              <a:rPr lang="en-US" sz="1400" b="1" spc="100" kern="0" dirty="0">
                <a:solidFill>
                  <a:schemeClr val="accent1"/>
                </a:solidFill>
              </a:rPr>
              <a:t>APRENDIZAJE 3</a:t>
            </a:r>
            <a:endParaRPr lang="en-US" sz="1400" dirty="0"/>
          </a:p>
          <a:p>
            <a:pPr indent="0" marL="0">
              <a:spcAft>
                <a:spcPts val="1000"/>
              </a:spcAft>
              <a:buNone/>
            </a:pPr>
            <a:r>
              <a:rPr lang="en-US" sz="1800" b="1" dirty="0">
                <a:solidFill>
                  <a:schemeClr val="tx2"/>
                </a:solidFill>
              </a:rPr>
              <a:t>[POR CONFIRMAR]</a:t>
            </a:r>
            <a:endParaRPr lang="en-US" sz="1400" dirty="0"/>
          </a:p>
          <a:p>
            <a:pPr marL="203200" indent="-203200">
              <a:spcAft>
                <a:spcPts val="1000"/>
              </a:spcAft>
              <a:buSzPct val="100000"/>
              <a:buChar char="•"/>
            </a:pPr>
            <a:r>
              <a:rPr lang="en-US" sz="1400" dirty="0">
                <a:solidFill>
                  <a:schemeClr val="accent2"/>
                </a:solidFill>
              </a:rPr>
              <a:t>Qué hizo NutriSmart</a:t>
            </a:r>
            <a:endParaRPr lang="en-US" sz="1400" dirty="0"/>
          </a:p>
          <a:p>
            <a:pPr marL="203200" indent="-203200">
              <a:spcAft>
                <a:spcPts val="1000"/>
              </a:spcAft>
              <a:buSzPct val="100000"/>
              <a:buChar char="•"/>
            </a:pPr>
            <a:r>
              <a:rPr lang="en-US" sz="1400" dirty="0">
                <a:solidFill>
                  <a:schemeClr val="accent2"/>
                </a:solidFill>
              </a:rPr>
              <a:t>Qué aplicamos en AndiBite</a:t>
            </a:r>
            <a:endParaRPr lang="en-US" sz="1400" dirty="0"/>
          </a:p>
        </p:txBody>
      </p:sp>
      <p:sp>
        <p:nvSpPr>
          <p:cNvPr id="10" name="Shape 8"/>
          <p:cNvSpPr/>
          <p:nvPr/>
        </p:nvSpPr>
        <p:spPr>
          <a:xfrm>
            <a:off x="548640" y="5486400"/>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822960" y="5486400"/>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Pendiente: el caso NutriSmart no está en el Drive (la clase lo marca como faltante).</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#21 RESUMEN EJECUTIVO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plan en una diapositiva</a:t>
            </a:r>
            <a:endParaRPr lang="en-US" sz="3400" dirty="0"/>
          </a:p>
        </p:txBody>
      </p:sp>
      <p:sp>
        <p:nvSpPr>
          <p:cNvPr id="4" name="Shape 2"/>
          <p:cNvSpPr/>
          <p:nvPr/>
        </p:nvSpPr>
        <p:spPr>
          <a:xfrm>
            <a:off x="548640" y="1463040"/>
            <a:ext cx="3575304"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645920"/>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1"/>
                </a:solidFill>
              </a:rPr>
              <a:t>PROBLEMA</a:t>
            </a:r>
            <a:endParaRPr lang="en-US" sz="1400" dirty="0"/>
          </a:p>
          <a:p>
            <a:pPr indent="0" marL="0">
              <a:spcAft>
                <a:spcPts val="400"/>
              </a:spcAft>
              <a:buNone/>
            </a:pPr>
            <a:r>
              <a:rPr lang="en-US" sz="3000" b="1" dirty="0">
                <a:solidFill>
                  <a:schemeClr val="tx2"/>
                </a:solidFill>
              </a:rPr>
              <a:t>24.0 %</a:t>
            </a:r>
            <a:endParaRPr lang="en-US" sz="1400" dirty="0"/>
          </a:p>
          <a:p>
            <a:pPr indent="0" marL="0">
              <a:spcAft>
                <a:spcPts val="400"/>
              </a:spcAft>
              <a:buNone/>
            </a:pPr>
            <a:r>
              <a:rPr lang="en-US" sz="1300" dirty="0">
                <a:solidFill>
                  <a:schemeClr val="tx1"/>
                </a:solidFill>
              </a:rPr>
              <a:t>de los niños de 6 a 35 meses de Lima tiene anemia, y lo que tiene hierro vuelve en la lonchera.</a:t>
            </a:r>
            <a:endParaRPr lang="en-US" sz="1400" dirty="0"/>
          </a:p>
        </p:txBody>
      </p:sp>
      <p:sp>
        <p:nvSpPr>
          <p:cNvPr id="6" name="Shape 4"/>
          <p:cNvSpPr/>
          <p:nvPr/>
        </p:nvSpPr>
        <p:spPr>
          <a:xfrm>
            <a:off x="4306824" y="1463040"/>
            <a:ext cx="3575304"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5"/>
          <p:cNvSpPr txBox="1"/>
          <p:nvPr/>
        </p:nvSpPr>
        <p:spPr>
          <a:xfrm>
            <a:off x="4581144" y="1645920"/>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1"/>
                </a:solidFill>
              </a:rPr>
              <a:t>PRODUCTO</a:t>
            </a:r>
            <a:endParaRPr lang="en-US" sz="1400" dirty="0"/>
          </a:p>
          <a:p>
            <a:pPr indent="0" marL="0">
              <a:spcAft>
                <a:spcPts val="400"/>
              </a:spcAft>
              <a:buNone/>
            </a:pPr>
            <a:r>
              <a:rPr lang="en-US" sz="3000" b="1" dirty="0">
                <a:solidFill>
                  <a:schemeClr val="tx2"/>
                </a:solidFill>
              </a:rPr>
              <a:t>20 g</a:t>
            </a:r>
            <a:endParaRPr lang="en-US" sz="1400" dirty="0"/>
          </a:p>
          <a:p>
            <a:pPr indent="0" marL="0">
              <a:spcAft>
                <a:spcPts val="400"/>
              </a:spcAft>
              <a:buNone/>
            </a:pPr>
            <a:r>
              <a:rPr lang="en-US" sz="1300" dirty="0">
                <a:solidFill>
                  <a:schemeClr val="tx1"/>
                </a:solidFill>
              </a:rPr>
              <a:t>mini brownie con sangrecita de res, 3 sabores, hierro medido por lote y app con QR.</a:t>
            </a:r>
            <a:endParaRPr lang="en-US" sz="1400" dirty="0"/>
          </a:p>
        </p:txBody>
      </p:sp>
      <p:sp>
        <p:nvSpPr>
          <p:cNvPr id="8" name="Shape 6"/>
          <p:cNvSpPr/>
          <p:nvPr/>
        </p:nvSpPr>
        <p:spPr>
          <a:xfrm>
            <a:off x="8065008" y="1463040"/>
            <a:ext cx="3575304"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7"/>
          <p:cNvSpPr txBox="1"/>
          <p:nvPr/>
        </p:nvSpPr>
        <p:spPr>
          <a:xfrm>
            <a:off x="8339328" y="1645920"/>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1"/>
                </a:solidFill>
              </a:rPr>
              <a:t>PÚBLICO</a:t>
            </a:r>
            <a:endParaRPr lang="en-US" sz="1400" dirty="0"/>
          </a:p>
          <a:p>
            <a:pPr indent="0" marL="0">
              <a:spcAft>
                <a:spcPts val="400"/>
              </a:spcAft>
              <a:buNone/>
            </a:pPr>
            <a:r>
              <a:rPr lang="en-US" sz="3000" b="1" dirty="0">
                <a:solidFill>
                  <a:schemeClr val="tx2"/>
                </a:solidFill>
              </a:rPr>
              <a:t>46,000</a:t>
            </a:r>
            <a:endParaRPr lang="en-US" sz="1400" dirty="0"/>
          </a:p>
          <a:p>
            <a:pPr indent="0" marL="0">
              <a:spcAft>
                <a:spcPts val="400"/>
              </a:spcAft>
              <a:buNone/>
            </a:pPr>
            <a:r>
              <a:rPr lang="en-US" sz="1300" dirty="0">
                <a:solidFill>
                  <a:schemeClr val="tx1"/>
                </a:solidFill>
              </a:rPr>
              <a:t>hogares A/B en el núcleo. Claudia (A) y Rodrigo (B), con esfuerzo parejo.</a:t>
            </a:r>
            <a:endParaRPr lang="en-US" sz="1400" dirty="0"/>
          </a:p>
        </p:txBody>
      </p:sp>
      <p:sp>
        <p:nvSpPr>
          <p:cNvPr id="10" name="Shape 8"/>
          <p:cNvSpPr/>
          <p:nvPr/>
        </p:nvSpPr>
        <p:spPr>
          <a:xfrm>
            <a:off x="548640" y="3767328"/>
            <a:ext cx="3575304"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Text 9"/>
          <p:cNvSpPr txBox="1"/>
          <p:nvPr/>
        </p:nvSpPr>
        <p:spPr>
          <a:xfrm>
            <a:off x="822960" y="3950208"/>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1"/>
                </a:solidFill>
              </a:rPr>
              <a:t>CAMPAÑA</a:t>
            </a:r>
            <a:endParaRPr lang="en-US" sz="1400" dirty="0"/>
          </a:p>
          <a:p>
            <a:pPr indent="0" marL="0">
              <a:spcAft>
                <a:spcPts val="400"/>
              </a:spcAft>
              <a:buNone/>
            </a:pPr>
            <a:r>
              <a:rPr lang="en-US" sz="3000" b="1" dirty="0">
                <a:solidFill>
                  <a:schemeClr val="tx2"/>
                </a:solidFill>
              </a:rPr>
              <a:t>S/24,544</a:t>
            </a:r>
            <a:endParaRPr lang="en-US" sz="1400" dirty="0"/>
          </a:p>
          <a:p>
            <a:pPr indent="0" marL="0">
              <a:spcAft>
                <a:spcPts val="400"/>
              </a:spcAft>
              <a:buNone/>
            </a:pPr>
            <a:r>
              <a:rPr lang="en-US" sz="1300" dirty="0">
                <a:solidFill>
                  <a:schemeClr val="tx1"/>
                </a:solidFill>
              </a:rPr>
              <a:t>en 15 meses: "Vuelve vacía", 74 % BTL y 26 % digital, sin ATL.</a:t>
            </a:r>
            <a:endParaRPr lang="en-US" sz="1400" dirty="0"/>
          </a:p>
        </p:txBody>
      </p:sp>
      <p:sp>
        <p:nvSpPr>
          <p:cNvPr id="12" name="Shape 10"/>
          <p:cNvSpPr/>
          <p:nvPr/>
        </p:nvSpPr>
        <p:spPr>
          <a:xfrm>
            <a:off x="4306824" y="3767328"/>
            <a:ext cx="3575304"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4581144" y="3950208"/>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1"/>
                </a:solidFill>
              </a:rPr>
              <a:t>METAS 2027</a:t>
            </a:r>
            <a:endParaRPr lang="en-US" sz="1400" dirty="0"/>
          </a:p>
          <a:p>
            <a:pPr indent="0" marL="0">
              <a:spcAft>
                <a:spcPts val="400"/>
              </a:spcAft>
              <a:buNone/>
            </a:pPr>
            <a:r>
              <a:rPr lang="en-US" sz="3000" b="1" dirty="0">
                <a:solidFill>
                  <a:schemeClr val="tx2"/>
                </a:solidFill>
              </a:rPr>
              <a:t>52,331</a:t>
            </a:r>
            <a:endParaRPr lang="en-US" sz="1400" dirty="0"/>
          </a:p>
          <a:p>
            <a:pPr indent="0" marL="0">
              <a:spcAft>
                <a:spcPts val="400"/>
              </a:spcAft>
              <a:buNone/>
            </a:pPr>
            <a:r>
              <a:rPr lang="en-US" sz="1300" dirty="0">
                <a:solidFill>
                  <a:schemeClr val="tx1"/>
                </a:solidFill>
              </a:rPr>
              <a:t>brownies y S/244,728 con IGV; 35 % de recompra y 5 colegios.</a:t>
            </a:r>
            <a:endParaRPr lang="en-US" sz="1400" dirty="0"/>
          </a:p>
        </p:txBody>
      </p:sp>
      <p:sp>
        <p:nvSpPr>
          <p:cNvPr id="14" name="Shape 12"/>
          <p:cNvSpPr/>
          <p:nvPr/>
        </p:nvSpPr>
        <p:spPr>
          <a:xfrm>
            <a:off x="8065008" y="3767328"/>
            <a:ext cx="3575304" cy="2194560"/>
          </a:xfrm>
          <a:prstGeom prst="roundRect">
            <a:avLst>
              <a:gd name="adj" fmla="val 5000"/>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5" name="Text 13"/>
          <p:cNvSpPr txBox="1"/>
          <p:nvPr/>
        </p:nvSpPr>
        <p:spPr>
          <a:xfrm>
            <a:off x="8339328" y="3950208"/>
            <a:ext cx="3026664" cy="18288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3"/>
                </a:solidFill>
              </a:rPr>
              <a:t>RETORNO</a:t>
            </a:r>
            <a:endParaRPr lang="en-US" sz="1400" dirty="0"/>
          </a:p>
          <a:p>
            <a:pPr indent="0" marL="0">
              <a:spcAft>
                <a:spcPts val="400"/>
              </a:spcAft>
              <a:buNone/>
            </a:pPr>
            <a:r>
              <a:rPr lang="en-US" sz="3000" b="1" dirty="0">
                <a:solidFill>
                  <a:schemeClr val="bg1"/>
                </a:solidFill>
              </a:rPr>
              <a:t>74 %</a:t>
            </a:r>
            <a:endParaRPr lang="en-US" sz="1400" dirty="0"/>
          </a:p>
          <a:p>
            <a:pPr indent="0" marL="0">
              <a:spcAft>
                <a:spcPts val="400"/>
              </a:spcAft>
              <a:buNone/>
            </a:pPr>
            <a:r>
              <a:rPr lang="en-US" sz="1300" dirty="0">
                <a:solidFill>
                  <a:schemeClr val="accent5"/>
                </a:solidFill>
              </a:rPr>
              <a:t>de ROI de marketing (75 % de atribución). ROI del negocio: 41.5 %. Recupero en el mes 23.</a:t>
            </a:r>
            <a:endParaRPr lang="en-US" sz="1400" dirty="0"/>
          </a:p>
        </p:txBody>
      </p:sp>
      <p:sp>
        <p:nvSpPr>
          <p:cNvPr id="16" name="Text 1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T2_21; HECHOS_v7; Excel v7; Presupuesto-marketing-AndiBite.xlsx; INEI, ENDES 2024; T2_17, sección 3.</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#21 CIERRE · CONCLUSIONES Y RIESGOS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laboratorio es la base del plan</a:t>
            </a:r>
            <a:endParaRPr lang="en-US" sz="3400" dirty="0"/>
          </a:p>
        </p:txBody>
      </p:sp>
      <p:sp>
        <p:nvSpPr>
          <p:cNvPr id="4" name="Shape 2"/>
          <p:cNvSpPr/>
          <p:nvPr/>
        </p:nvSpPr>
        <p:spPr>
          <a:xfrm>
            <a:off x="548640" y="1508760"/>
            <a:ext cx="4754880" cy="4480560"/>
          </a:xfrm>
          <a:prstGeom prst="roundRect">
            <a:avLst>
              <a:gd name="adj" fmla="val 244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737360"/>
            <a:ext cx="4206240" cy="4069080"/>
          </a:xfrm>
          <a:prstGeom prst="rect">
            <a:avLst/>
          </a:prstGeom>
          <a:noFill/>
          <a:ln/>
        </p:spPr>
        <p:txBody>
          <a:bodyPr wrap="square" lIns="0" tIns="0" rIns="0" bIns="0" rtlCol="0" anchor="t"/>
          <a:lstStyle/>
          <a:p>
            <a:pPr indent="0" marL="0">
              <a:spcAft>
                <a:spcPts val="1400"/>
              </a:spcAft>
              <a:buNone/>
            </a:pPr>
            <a:r>
              <a:rPr lang="en-US" sz="1200" b="1" spc="100" kern="0" dirty="0">
                <a:solidFill>
                  <a:schemeClr val="accent3"/>
                </a:solidFill>
              </a:rPr>
              <a:t>3 CONCLUSIONES</a:t>
            </a:r>
            <a:endParaRPr lang="en-US" sz="1400" dirty="0"/>
          </a:p>
          <a:p>
            <a:pPr marL="203200" indent="-203200">
              <a:spcAft>
                <a:spcPts val="1400"/>
              </a:spcAft>
              <a:buSzPct val="100000"/>
              <a:buChar char="•"/>
            </a:pPr>
            <a:r>
              <a:rPr lang="en-US" sz="1600" dirty="0">
                <a:solidFill>
                  <a:schemeClr val="bg1"/>
                </a:solidFill>
              </a:rPr>
              <a:t>Una sola línea: insight, posicionamiento, campaña y KPI.</a:t>
            </a:r>
            <a:endParaRPr lang="en-US" sz="1400" dirty="0"/>
          </a:p>
          <a:p>
            <a:pPr marL="203200" indent="-203200">
              <a:spcAft>
                <a:spcPts val="1400"/>
              </a:spcAft>
              <a:buSzPct val="100000"/>
              <a:buChar char="•"/>
            </a:pPr>
            <a:r>
              <a:rPr lang="en-US" sz="1600" dirty="0">
                <a:solidFill>
                  <a:schemeClr val="bg1"/>
                </a:solidFill>
              </a:rPr>
              <a:t>Sin informe del lote no hay "hierro medido" ni colegios (17.5 % del año 1).</a:t>
            </a:r>
            <a:endParaRPr lang="en-US" sz="1400" dirty="0"/>
          </a:p>
          <a:p>
            <a:pPr marL="203200" indent="-203200">
              <a:spcAft>
                <a:spcPts val="1400"/>
              </a:spcAft>
              <a:buSzPct val="100000"/>
              <a:buChar char="•"/>
            </a:pPr>
            <a:r>
              <a:rPr lang="en-US" sz="1600" dirty="0">
                <a:solidFill>
                  <a:schemeClr val="bg1"/>
                </a:solidFill>
              </a:rPr>
              <a:t>La venta física manda; el marketing es chico y medible.</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532120" y="1508760"/>
          <a:ext cx="6108192" cy="914400"/>
        </p:xfrm>
        <a:graphic>
          <a:graphicData uri="http://schemas.openxmlformats.org/drawingml/2006/table">
            <a:tbl>
              <a:tblPr/>
              <a:tblGrid>
                <a:gridCol w="2651760"/>
                <a:gridCol w="3456432"/>
              </a:tblGrid>
              <a:tr h="914400">
                <a:tc>
                  <a:txBody>
                    <a:bodyPr/>
                    <a:lstStyle/>
                    <a:p>
                      <a:pPr indent="0" marL="0">
                        <a:buNone/>
                      </a:pPr>
                      <a:r>
                        <a:rPr lang="en-US" sz="1350" b="1" dirty="0">
                          <a:solidFill>
                            <a:schemeClr val="bg1"/>
                          </a:solidFill>
                        </a:rPr>
                        <a:t>Riesgo</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Plan B</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914400">
                <a:tc>
                  <a:txBody>
                    <a:bodyPr/>
                    <a:lstStyle/>
                    <a:p>
                      <a:pPr indent="0" marL="0">
                        <a:buNone/>
                      </a:pPr>
                      <a:r>
                        <a:rPr lang="en-US" sz="1350" b="1" dirty="0">
                          <a:solidFill>
                            <a:schemeClr val="tx2"/>
                          </a:solidFill>
                        </a:rPr>
                        <a:t>El laboratorio no confirma "sin octógono"</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50" dirty="0">
                          <a:solidFill>
                            <a:schemeClr val="tx1"/>
                          </a:solidFill>
                        </a:rPr>
                        <a:t>El mensaje es el hierro medido; esos brownies van a eventos y naturistas</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914400">
                <a:tc>
                  <a:txBody>
                    <a:bodyPr/>
                    <a:lstStyle/>
                    <a:p>
                      <a:pPr indent="0" marL="0">
                        <a:buNone/>
                      </a:pPr>
                      <a:r>
                        <a:rPr lang="en-US" sz="1350" b="1" dirty="0">
                          <a:solidFill>
                            <a:schemeClr val="tx2"/>
                          </a:solidFill>
                        </a:rPr>
                        <a:t>Los stands venden 20 % menos</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50" dirty="0">
                          <a:solidFill>
                            <a:schemeClr val="tx1"/>
                          </a:solidFill>
                        </a:rPr>
                        <a:t>Línea de crédito de S/3,000 solo si la caja baja de S/1,000</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914400">
                <a:tc>
                  <a:txBody>
                    <a:bodyPr/>
                    <a:lstStyle/>
                    <a:p>
                      <a:pPr indent="0" marL="0">
                        <a:buNone/>
                      </a:pPr>
                      <a:r>
                        <a:rPr lang="en-US" sz="1350" b="1" dirty="0">
                          <a:solidFill>
                            <a:schemeClr val="tx2"/>
                          </a:solidFill>
                        </a:rPr>
                        <a:t>La pauta cuesta más de S/8 por contacto</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c>
                  <a:txBody>
                    <a:bodyPr/>
                    <a:lstStyle/>
                    <a:p>
                      <a:pPr indent="0" marL="0">
                        <a:buNone/>
                      </a:pPr>
                      <a:r>
                        <a:rPr lang="en-US" sz="1350" dirty="0">
                          <a:solidFill>
                            <a:schemeClr val="tx1"/>
                          </a:solidFill>
                        </a:rPr>
                        <a:t>Rondas 5-3-2; si sigue 2 meses, soles a degustación</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914400">
                <a:tc>
                  <a:txBody>
                    <a:bodyPr/>
                    <a:lstStyle/>
                    <a:p>
                      <a:pPr indent="0" marL="0">
                        <a:buNone/>
                      </a:pPr>
                      <a:r>
                        <a:rPr lang="en-US" sz="1350" b="1" dirty="0">
                          <a:solidFill>
                            <a:schemeClr val="tx2"/>
                          </a:solidFill>
                        </a:rPr>
                        <a:t>Rechazo al saber que tiene sangrecita</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50" dirty="0">
                          <a:solidFill>
                            <a:schemeClr val="tx1"/>
                          </a:solidFill>
                        </a:rPr>
                        <a:t>Primero se prueba y después se cuenta</a:t>
                      </a:r>
                      <a:endParaRPr lang="en-US" sz="135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053328"/>
            <a:ext cx="9784080" cy="329184"/>
          </a:xfrm>
          <a:prstGeom prst="rect">
            <a:avLst/>
          </a:prstGeom>
          <a:noFill/>
          <a:ln/>
        </p:spPr>
        <p:txBody>
          <a:bodyPr wrap="square" lIns="0" tIns="0" rIns="0" bIns="0" rtlCol="0" anchor="b"/>
          <a:lstStyle/>
          <a:p>
            <a:pPr indent="0" marL="0">
              <a:buNone/>
            </a:pPr>
            <a:r>
              <a:rPr lang="en-US" sz="1000" dirty="0">
                <a:solidFill>
                  <a:schemeClr val="accent2"/>
                </a:solidFill>
              </a:rPr>
              <a:t>Fuente: T2_21, secciones 4.1 y 4.3; documento 10 (riesgos); T2_06; T2_19.</a:t>
            </a:r>
            <a:endParaRPr lang="en-US" sz="10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731520" y="822960"/>
            <a:ext cx="676656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SLOGAN</a:t>
            </a:r>
            <a:endParaRPr lang="en-US" sz="1300" dirty="0"/>
          </a:p>
        </p:txBody>
      </p:sp>
      <p:sp>
        <p:nvSpPr>
          <p:cNvPr id="3" name="Text 0"/>
          <p:cNvSpPr/>
          <p:nvPr>
            <p:ph idx="100" type="title" hasCustomPrompt="1"/>
          </p:nvPr>
        </p:nvSpPr>
        <p:spPr>
          <a:xfrm>
            <a:off x="731520" y="1234440"/>
            <a:ext cx="6766560" cy="1463040"/>
          </a:xfrm>
          <a:prstGeom prst="rect">
            <a:avLst/>
          </a:prstGeom>
          <a:noFill/>
          <a:ln/>
        </p:spPr>
        <p:txBody>
          <a:bodyPr wrap="square" lIns="0" tIns="0" rIns="0" bIns="0" rtlCol="0" anchor="t"/>
          <a:lstStyle/>
          <a:p>
            <a:pPr algn="l" indent="0" marL="0">
              <a:buNone/>
            </a:pPr>
            <a:r>
              <a:rPr lang="en-US" sz="4800" b="1" dirty="0">
                <a:solidFill>
                  <a:schemeClr val="bg2"/>
                </a:solidFill>
              </a:rPr>
              <a:t>Hierro medido. Sabor a brownie.</a:t>
            </a:r>
            <a:endParaRPr lang="en-US" sz="4800" dirty="0"/>
          </a:p>
        </p:txBody>
      </p:sp>
      <p:sp>
        <p:nvSpPr>
          <p:cNvPr id="4" name="Text 2"/>
          <p:cNvSpPr txBox="1"/>
          <p:nvPr/>
        </p:nvSpPr>
        <p:spPr>
          <a:xfrm>
            <a:off x="731520" y="3108960"/>
            <a:ext cx="6766560" cy="914400"/>
          </a:xfrm>
          <a:prstGeom prst="rect">
            <a:avLst/>
          </a:prstGeom>
          <a:noFill/>
          <a:ln/>
        </p:spPr>
        <p:txBody>
          <a:bodyPr wrap="square" lIns="0" tIns="0" rIns="0" bIns="0" rtlCol="0" anchor="t"/>
          <a:lstStyle/>
          <a:p>
            <a:pPr indent="0" marL="0">
              <a:buNone/>
            </a:pPr>
            <a:r>
              <a:rPr lang="en-US" sz="2400" b="1" dirty="0">
                <a:solidFill>
                  <a:schemeClr val="accent5"/>
                </a:solidFill>
              </a:rPr>
              <a:t>Su prueba: la lonchera vacía. La tuya: el informe de su lote.</a:t>
            </a:r>
            <a:endParaRPr lang="en-US" sz="2400" dirty="0"/>
          </a:p>
        </p:txBody>
      </p:sp>
      <p:sp>
        <p:nvSpPr>
          <p:cNvPr id="5" name="Text 3"/>
          <p:cNvSpPr txBox="1"/>
          <p:nvPr/>
        </p:nvSpPr>
        <p:spPr>
          <a:xfrm>
            <a:off x="731520" y="5120640"/>
            <a:ext cx="6766560" cy="365760"/>
          </a:xfrm>
          <a:prstGeom prst="rect">
            <a:avLst/>
          </a:prstGeom>
          <a:noFill/>
          <a:ln/>
        </p:spPr>
        <p:txBody>
          <a:bodyPr wrap="square" lIns="0" tIns="0" rIns="0" bIns="0" rtlCol="0" anchor="t"/>
          <a:lstStyle/>
          <a:p>
            <a:pPr indent="0" marL="0">
              <a:buNone/>
            </a:pPr>
            <a:r>
              <a:rPr lang="en-US" sz="1600" dirty="0">
                <a:solidFill>
                  <a:schemeClr val="bg2"/>
                </a:solidFill>
              </a:rPr>
              <a:t>Gracias · Grupo 2 · AndiBite</a:t>
            </a:r>
            <a:endParaRPr lang="en-US" sz="1600" dirty="0"/>
          </a:p>
        </p:txBody>
      </p:sp>
      <p:pic>
        <p:nvPicPr>
          <p:cNvPr id="6" name="Image 0" descr="img/B1_frente.jpg">    </p:cNvPr>
          <p:cNvPicPr>
            <a:picLocks noChangeAspect="1"/>
          </p:cNvPicPr>
          <p:nvPr/>
        </p:nvPicPr>
        <p:blipFill>
          <a:blip r:embed="rId1"/>
          <a:stretch>
            <a:fillRect/>
          </a:stretch>
        </p:blipFill>
        <p:spPr>
          <a:xfrm rot="-180000">
            <a:off x="8001000" y="548640"/>
            <a:ext cx="4023360" cy="5596128"/>
          </a:xfrm>
          <a:prstGeom prst="rect">
            <a:avLst/>
          </a:prstGeom>
        </p:spPr>
      </p:pic>
    </p:spTree>
  </p:cSld>
  <p:clrMapOvr>
    <a:masterClrMapping/>
  </p:clrMapOvr>
</p:sld>
</file>

<file path=ppt/theme/theme1.xml><?xml version="1.0" encoding="utf-8"?>
<a:theme xmlns:a="http://schemas.openxmlformats.org/drawingml/2006/main" name="AndiBite">
  <a:themeElements>
    <a:clrScheme name="AndiBite">
      <a:dk1>
        <a:srgbClr val="3B1A14"/>
      </a:dk1>
      <a:lt1>
        <a:srgbClr val="FFFFFF"/>
      </a:lt1>
      <a:dk2>
        <a:srgbClr val="4A2018"/>
      </a:dk2>
      <a:lt2>
        <a:srgbClr val="FBF3E8"/>
      </a:lt2>
      <a:accent1>
        <a:srgbClr val="BA4036"/>
      </a:accent1>
      <a:accent2>
        <a:srgbClr val="6B3A2A"/>
      </a:accent2>
      <a:accent3>
        <a:srgbClr val="E3A33B"/>
      </a:accent3>
      <a:accent4>
        <a:srgbClr val="7C8A3A"/>
      </a:accent4>
      <a:accent5>
        <a:srgbClr val="D9B48F"/>
      </a:accent5>
      <a:accent6>
        <a:srgbClr val="8A1C2B"/>
      </a:accent6>
      <a:hlink>
        <a:srgbClr val="BA4036"/>
      </a:hlink>
      <a:folHlink>
        <a:srgbClr val="8A1C2B"/>
      </a:folHlink>
    </a:clrScheme>
    <a:fontScheme name="AndiB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AndiBite — T2 Plan de marketing</dc:title>
  <dc:subject>PptxGenJS Presentation</dc:subject>
  <dc:creator>Grupo 2</dc:creator>
  <cp:lastModifiedBy>Grupo 2</cp:lastModifiedBy>
  <cp:revision>1</cp:revision>
  <dcterms:created xsi:type="dcterms:W3CDTF">2026-10-19T02:17:43Z</dcterms:created>
  <dcterms:modified xsi:type="dcterms:W3CDTF">2026-10-19T02:17:43Z</dcterms:modified>
</cp:coreProperties>
</file>