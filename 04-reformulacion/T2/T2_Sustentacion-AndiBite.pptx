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cfa4d14-20e3-a5dc-c846-5fc4cc7a3dc9}">
          <p14:sldIdLst>
            <p14:sldId id="256"/>
            <p14:sldId id="257"/>
            <p14:sldId id="258"/>
          </p14:sldIdLst>
        </p14:section>
        <p14:section name="1 · Canvas" id="{d1e4386a-8932-642c-306c-b9f01c1dabc3}">
          <p14:sldIdLst>
            <p14:sldId id="259"/>
            <p14:sldId id="260"/>
            <p14:sldId id="261"/>
            <p14:sldId id="262"/>
          </p14:sldIdLst>
        </p14:section>
        <p14:section name="2 · Digital" id="{b297da24-fb1d-f41b-f191-ffc96f7fb8b7}">
          <p14:sldIdLst>
            <p14:sldId id="263"/>
            <p14:sldId id="264"/>
            <p14:sldId id="265"/>
            <p14:sldId id="266"/>
            <p14:sldId id="267"/>
          </p14:sldIdLst>
        </p14:section>
        <p14:section name="3 · Investigación" id="{24f13dcb-4144-cf6d-7866-6e8a9e1daf55}">
          <p14:sldIdLst>
            <p14:sldId id="268"/>
            <p14:sldId id="269"/>
            <p14:sldId id="270"/>
            <p14:sldId id="271"/>
            <p14:sldId id="272"/>
            <p14:sldId id="273"/>
            <p14:sldId id="274"/>
            <p14:sldId id="275"/>
            <p14:sldId id="276"/>
          </p14:sldIdLst>
        </p14:section>
        <p14:section name="4 · Marketing" id="{aeb945b2-10aa-bc6e-5c03-3a936ec076ec}">
          <p14:sldIdLst>
            <p14:sldId id="277"/>
            <p14:sldId id="278"/>
            <p14:sldId id="279"/>
            <p14:sldId id="280"/>
            <p14:sldId id="281"/>
            <p14:sldId id="282"/>
          </p14:sldIdLst>
        </p14:section>
        <p14:section name="Cierre" id="{a91c3bb3-cfdb-c410-5ae8-2e4def960611}">
          <p14:sldIdLst>
            <p14:sldId id="283"/>
          </p14:sldIdLst>
        </p14:section>
        <p14:section name="Anexos" id="{fd149300-a88a-616b-0c51-44a7836968c4}">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25 segundos).
Buenos días, profesora Paola Zevallos y jurado. Somos el Grupo 2 y presentamos AndiBite, un mini brownie de 20 gramos con sangrecita de res y el hierro medido en cada lote. Vamos en el orden de la rúbrica: Canvas, transformación digital, investigación cualitativa y la primera etapa del plan de marketing. Cada uno de los cinco sustenta una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30 segundos).
Uno de cada cuatro niños de 6 a 35 meses de Lima tiene anemia, según la ENDES 2024. Nuestro público tiene hijos de 4 a 11 años, así que este dato muestra el contexto, no a nuestros clientes. [Clic] En las entrevistas apareció el problema que sí sienten los padres: lo que tiene hierro regresa intacto en la lonchera.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40 segundos).
Empezamos como AndyBites, con 10 entrevistas a mamás de Lima Norte. [Clic] En el focus 1 ganó el brownie, y en la degustación el sabor convenció, pero el precio que se podía cobrar no alcanzaba para el negocio. [Clic] Por eso en el T1 pasamos a AndiBite y a padres A y B. [Clic] Hoy presentamos el plan de marketing con las cifras del modelo v7. El proyecto se corrigió con evidencia, no por intuición.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5 segundos).
Primera parte: el modelo de negocio en el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50 segundos).
Este es el Canvas completo. Al centro, la propuesta: hierro medido con sabor a brownie. A la derecha, para quién y cómo llegamos: padres A y B que leen etiquetas, stands donde el niño prueba y WhatsApp para volver. A la izquierda, cómo lo hacemos sin planta propia: maquila, laboratorio y proveedor de sangrecita. Abajo, los números: S/1.64 de costo por brownie y S/244,728 de ventas en el año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40 segundos).
Los bloques encajan. El cliente A y B lee etiquetas, por eso la propuesta es el hierro medido. El canal es el stand, porque sin la prueba del niño no hay compra. El ingreso sale de S/4.48 por brownie y de que el 35 % vuelva por WhatsApp. Y el costo lo permite: 58 a 66 % de margen bruto en el stand, con un marketing de S/0.44 por brownie.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35 segundos).
La propuesta cabe en una línea: él ve un brownie y tú ves el hierro medido de su lote. Nos diferencian tres cosas: medimos y publicamos el hierro de cada lote, usamos un formato que el niño ya pide y se prueba antes de comprar. Ojo: el valor de 1.9 mg es un cálculo y lo confirmará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5 segundos).
Segunda parte: cómo la tecnología mejora y diferencia el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35 segundos).
Nuestro territorio es "Medido, no prometido". Cada envase trae un QR único. El laboratorio analiza el lote y el resultado aparece en la app: cada lote de enero a junio y cada 2 meses desde julio. El padre no tiene que creernos: lo 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45 segundos).
Esto no es una maqueta: es el prototipo que funciona. Primera pantalla: el hierro del lote. Segunda: el semáforo de hierro de la semana. Tercera: el plan de loncheras con IA de Gemini. Cuarta: Misión Hierro, el modo niños con 4 juegos, que abre el padre con candado y no tiene compras ni publicidad, por la Ley 30021. Si hay tiempo, lo mostramos en vivo desde un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40 segundos).
[Clic] Al padre le da confianza, porque ve el dato, y le ahorra tiempo: la app avisa cuando se acaba el pack y pide por WhatsApp en un clic. [Clic] Al negocio le da la recompra, que es el 35 % de lo vendido en físico, y datos de cada escaneo, por solo S/0.04 por código. [Clic] Y nos diferencia: de los 7 competidores que revisamos, ninguno publica su análisis por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40 segundos).
El ecosistema tiene una regla: todo lleva al stand para la primera compra y al WhatsApp para la recompra. El anuncio en Meta lleva al WhatsApp; de ahí, al stand, donde el niño prueba y el padre compra. El QR abre el lote en la app, y la app avisa cuando se acaba el pack: así vuelve el 35 %. La meta es que se escanee el 30 % de los envases en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(unos 5 segundos).
Tercera parte: la investigación cualitativa del prototipo.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(unos 35 segundos).
Hicimos cuatro cosas: 10 entrevistas a profundidad, un focus group virtual con 6 participantes, una degustación del prototipo con 4 madres y un store check en La Molina con precios en línea. Aquí están las capturas de dos entrevistas; los videos están en YouTube y en el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(unos 40 segundos).
Tres frases reales. [Clic] Mateo le dijo a su mamá que los nuggets de sangrecita olían feo y parecían carbón: el rechazo es sensorial y también social. [Clic] Adriana, en el focus, pidió más productos como la barrita de sangrecita que su hijo sí aceptó. [Clic] Y Rubelis eligió el brownie para "engañar" a su hija con algo que le gusta. Ojo: esa palabra es de ella; la marca nunca dice "engañar".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(unos 30 segundos).
Primer hallazgo: lo saludable vuelve intacto. Las mamás saben que la sangrecita y el hígado tienen hierro; el problema es el olor, el color y la textura. Y algo importante para la comunicación: nadie usó la palabra "anemia". Hablan de hierro y de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Angie (unos 35 segundos).
Segundo hallazgo: cuando la sangrecita se ve, el niño la rechaza; cuando va escondida en algo dulce, la acepta. La barrita de sangrecita le gustó al hijo de Adriana a la primera, y Lourdes nos dijo que, para su hija, una barrita saludable "es chocolate". Por eso el brownie de cacao es el formato 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Patricia (unos 35 segundos).
Tercer hallazgo, ya con el prototipo real y el empaque impreso: las 4 madres probaron los mini brownies y destacaron que no se percibe ni el sabor ni el olor de la sangrecita; se siente como un postre de chocolate. Aquí están las 4 madres con la bolsa kraft.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Patricia (unos 40 segundos).
En la degustación el sabor pasó la prueba. El precio es otra historia: el precio objetivo para padres A y B es de S/26 a S/28 por el pack de 6, y es una hipótesis que estamos validando. [Clic] Lo mediremos con una encuesta a 30 padres, con el método Van Westendorp y después de que prueben: la meta es una mediana de S/4.48 por brownie o más.
Si preguntan: en la degustación las madres dijeron S/10 por la bolsa de 6; ese precio no cubre el costo de S/1.64 por brownie y es una de las razones del cambio al segmento A/B, donde el precio se valida con la encuesta.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Patricia (unos 35 segundos).
[Clic] Lo más valorado: que el niño lo pida, que no se note la sangrecita, el sabor a chocolate y una porción lista para la mochila. [Clic] Lo que debemos mejorar: validar el precio en el segmento A y B; probarlo con niños y no solo con adultos; medir el hierro en laboratorio; y hablar de hierro, no de anemia, porque nadie usa esa palabra.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Patricia (unos 40 segundos).
La aceptación inicial, con honestidad: en el focus 1 el brownie sacó 2 de 5 votos, empatado con la trufa. [Clic] Lo elegimos porque se puede replicar con horno, moldes y balanza; [clic] porque el chocolate esconde la sangrecita; [clic] y porque su precio cabía en lo que declararon en las entrevistas. Lo que sigue: completar la degustación, la prueba con 20 niños por sabor y la encuesta a 30 padres para validar el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5 segundos).
Cuarta parte: la primera etapa del plan de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(unos 40 segundos).
El mercado objetivo son padres de 32 a 45 años, NSE A y B, con hijos de 4 a 11 en colegio privado. Les hablamos con el mismo esfuerzo a dos personas. Claudia, del segmento A, lee etiquetas y quiere evidencia. Rodrigo, del segmento B, quiere resolver la mañana y mira el precio por brownie. Como 7 de cada 10 hogares A/B son B, Rodrigo pesa tanto como Claudia.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(unos 45 segundos).
El posicionamiento: para padres A y B que quieren que su hijo coma hierro sin pelear, AndiBite es el mini brownie que el niño sí se come, porque cada lote se analiza y se ve en la app. En el mapa, el eje horizontal es el precio por 20 gramos y el vertical, la evidencia que el padre puede verificar. Estamos casi solos arriba a la derecha, con Nutri H en el borde. El riesgo es el precio, y por eso el informe del laboratorio es la base del posicionamiento.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(unos 45 segundos).
El mercado va de lo grande a lo que podemos vender. Hay 932,000 hogares con loncheras con snack en Lima. [Clic] De ellos, 168,000 son A/B con niños de 4 a 11. [Clic] Nuestro núcleo son 46,000 hogares de Lima Top y Lima Moderna, que valen S/17.3 millones al año. [Clic] La meta del año 1, S/244,728 con 52,331 brownies, es solo el 1.4 % del núcleo. Los supuestos: S/4.48 por brownie, 35 % de recompra y 180 días de clase con 40 % de loncheras con snack.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(unos 35 segundos).
El precio se comunica por brownie: S/4.65 en el pack de 6 del stand, S/4.48 por WhatsApp y S/4.16 en el pack de 12, que es el que le mostramos primero a Rodrigo. La venta es cara a cara: el 43 % sale de los stands, el 18 % es recompra por WhatsApp, y luego colegios, ferias y naturistas.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(unos 35 segundos).
[Clic] En noviembre: el primer análisis de hierro y octógono, y los resultados completos de la degustación. [Clic] En diciembre, el prelanzamiento: 100 contactos en lista de espera, 40 packs para influencers y S/600 de pauta de expectativa. [Clic] Y el 2 y 3 de enero abrimos el punto 1 en el Jockey Plaza. Las fechas del laboratorio y del mall están por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(unos 25 segundos).
En la lonchera de cada día, el niño da su prueba y el padre tiene la suya: el informe de su lote. Hierro medido. Sabor a brownie. Muchas gracias; quedamos atentos a sus preguntas. (Los anexos con presupuesto, KPI, ROI y FODA cruzado están después de esta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(anexo, solo si preguntan) (unos 30 segundos).
El plan cuesta S/24,544 en 15 meses. Mantiene los S/900 al mes y suma el lanzamiento, las 2 ferias pagadas y los 40 eventos. El 74 % es BTL, porque la venta es cara a 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Adela (anexo, solo si preguntan) (unos 30 segundos).
Cada domingo revisamos estos KPI con semáforo. Los más importantes son los brownies por día en cada punto, con un mínimo de 65, y la recompra del 35 %.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Carlos (anexo, solo si preguntan) (unos 30 segundos).
Usamos dos ROI con su nombre. El del negocio es 41.5 %: la utilidad neta sobre el aporte de los socios. El de marketing es 74 % si el marketing explica 3 de cada 4 soles de la contribución; se paga solo si explica al menos el 43 %.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Diana (anexo, solo si preguntan) (unos 30 segundos).
El FODA cruzado da cuatro tipos de estrategia, y todas ya tienen una acción en el plan: colegios y recompra para explotar; degustación y embajadoras para superar; el dato del lote para proteger; y validar en puntos propios con un control de caja para mitigar.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246120"/>
            <a:ext cx="6766560" cy="77724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
        <p:nvSpPr>
          <p:cNvPr id="3" name="Text 0"/>
          <p:cNvSpPr/>
          <p:nvPr>
            <p:ph idx="101" type="body" hasCustomPrompt="1"/>
          </p:nvPr>
        </p:nvSpPr>
        <p:spPr>
          <a:xfrm>
            <a:off x="731520" y="4069080"/>
            <a:ext cx="6766560" cy="7315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IERRE">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34440"/>
            <a:ext cx="6766560" cy="14630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6949440" cy="1417320"/>
          </a:xfrm>
          <a:prstGeom prst="rect">
            <a:avLst/>
          </a:prstGeom>
          <a:noFill/>
          <a:ln/>
        </p:spPr>
        <p:txBody>
          <a:bodyPr wrap="square" rtlCol="0"/>
          <a:lstStyle>
            <a:lvl1pPr algn="l" indent="0" marL="0">
              <a:buNone/>
              <a:defRPr lang="en-US" sz="4400" b="1" dirty="0">
                <a:solidFill>
                  <a:schemeClr val="bg2"/>
                </a:solidFill>
              </a:defRPr>
            </a:lvl1pPr>
          </a:lstStyle>
          <a:p>
            <a:pPr algn="l" indent="0" marL="0">
              <a:buNone/>
            </a:pPr>
            <a:endParaRPr lang="en-US" sz="4400" dirty="0"/>
          </a:p>
        </p:txBody>
      </p:sp>
      <p:sp>
        <p:nvSpPr>
          <p:cNvPr id="3" name="Text 0"/>
          <p:cNvSpPr/>
          <p:nvPr>
            <p:ph idx="101" type="body" hasCustomPrompt="1"/>
          </p:nvPr>
        </p:nvSpPr>
        <p:spPr>
          <a:xfrm>
            <a:off x="731520" y="4069080"/>
            <a:ext cx="6949440" cy="11887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pic>
        <p:nvPicPr>
          <p:cNvPr id="4" name="Image 0" descr="img/logo_light.png">    </p:cNvPr>
          <p:cNvPicPr>
            <a:picLocks noChangeAspect="1"/>
          </p:cNvPicPr>
          <p:nvPr/>
        </p:nvPicPr>
        <p:blipFill>
          <a:blip r:embed="rId1"/>
          <a:stretch>
            <a:fillRect/>
          </a:stretch>
        </p:blipFill>
        <p:spPr>
          <a:xfrm>
            <a:off x="731520" y="5989320"/>
            <a:ext cx="1325880" cy="4572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BF3E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455664"/>
            <a:ext cx="7315200" cy="256032"/>
          </a:xfrm>
          <a:prstGeom prst="rect">
            <a:avLst/>
          </a:prstGeom>
          <a:noFill/>
          <a:ln/>
        </p:spPr>
        <p:txBody>
          <a:bodyPr wrap="square" lIns="0" tIns="0" rIns="0" bIns="0" rtlCol="0" anchor="ctr"/>
          <a:lstStyle/>
          <a:p>
            <a:pPr indent="0" marL="0">
              <a:buNone/>
            </a:pPr>
            <a:r>
              <a:rPr lang="en-US" sz="1000" dirty="0">
                <a:solidFill>
                  <a:schemeClr val="accent2"/>
                </a:solidFill>
              </a:rPr>
              <a:t>AndiBite · Grupo 2 · T2 Plan de marketing</a:t>
            </a:r>
            <a:endParaRPr lang="en-US" sz="1000" dirty="0"/>
          </a:p>
        </p:txBody>
      </p:sp>
      <p:pic>
        <p:nvPicPr>
          <p:cNvPr id="5" name="Image 0" descr="img/logo_color.png">    </p:cNvPr>
          <p:cNvPicPr>
            <a:picLocks noChangeAspect="1"/>
          </p:cNvPicPr>
          <p:nvPr/>
        </p:nvPicPr>
        <p:blipFill>
          <a:blip r:embed="rId1"/>
          <a:stretch>
            <a:fillRect/>
          </a:stretch>
        </p:blipFill>
        <p:spPr>
          <a:xfrm>
            <a:off x="10469880" y="6391656"/>
            <a:ext cx="868680" cy="297180"/>
          </a:xfrm>
          <a:prstGeom prst="rect">
            <a:avLst/>
          </a:prstGeom>
        </p:spPr>
      </p:pic>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ARO">
    <p:bg>
      <p:bgPr>
        <a:solidFill>
          <a:srgbClr val="FBF3E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SCURO">
    <p:bg>
      <p:bgPr>
        <a:solidFill>
          <a:srgbClr val="4A201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IMPIO">
    <p:bg>
      <p:bgPr>
        <a:solidFill>
          <a:srgbClr val="4A2018"/>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OTO">
    <p:bg>
      <p:bgPr>
        <a:solidFill>
          <a:srgbClr val="4A20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2.jpg"/><Relationship Id="rId3" Type="http://schemas.openxmlformats.org/officeDocument/2006/relationships/slideLayout" Target="../slideLayouts/slideLayout8.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004-1.png"/><Relationship Id="rId3" Type="http://schemas.openxmlformats.org/officeDocument/2006/relationships/slideLayout" Target="../slideLayouts/slideLayout8.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6.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1004-1.png"/><Relationship Id="rId3" Type="http://schemas.openxmlformats.org/officeDocument/2006/relationships/slideLayout" Target="../slideLayouts/slideLayout8.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8-1.png"/><Relationship Id="rId4" Type="http://schemas.openxmlformats.org/officeDocument/2006/relationships/image" Target="../media/image-9-4.jpg"/><Relationship Id="rId5" Type="http://schemas.openxmlformats.org/officeDocument/2006/relationships/slideLayout" Target="../slideLayouts/slideLayout7.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6.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7-3.png"/><Relationship Id="rId4" Type="http://schemas.openxmlformats.org/officeDocument/2006/relationships/image" Target="../media/image-9-1.png"/><Relationship Id="rId5" Type="http://schemas.openxmlformats.org/officeDocument/2006/relationships/image" Target="../media/image-8-1.png"/><Relationship Id="rId6" Type="http://schemas.openxmlformats.org/officeDocument/2006/relationships/slideLayout" Target="../slideLayouts/slideLayout7.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004-1.png"/><Relationship Id="rId3" Type="http://schemas.openxmlformats.org/officeDocument/2006/relationships/slideLayout" Target="../slideLayouts/slideLayout8.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7-4.png"/><Relationship Id="rId4" Type="http://schemas.openxmlformats.org/officeDocument/2006/relationships/slideLayout" Target="../slideLayouts/slideLayout6.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6.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6.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004-1.png"/><Relationship Id="rId3" Type="http://schemas.openxmlformats.org/officeDocument/2006/relationships/slideLayout" Target="../slideLayouts/slideLayout8.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2.jpg"/><Relationship Id="rId3" Type="http://schemas.openxmlformats.org/officeDocument/2006/relationships/slideLayout" Target="../slideLayouts/slideLayout8.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logo_light.png">    </p:cNvPr>
          <p:cNvPicPr>
            <a:picLocks noChangeAspect="1"/>
          </p:cNvPicPr>
          <p:nvPr/>
        </p:nvPicPr>
        <p:blipFill>
          <a:blip r:embed="rId1"/>
          <a:stretch>
            <a:fillRect/>
          </a:stretch>
        </p:blipFill>
        <p:spPr>
          <a:xfrm>
            <a:off x="731520" y="777240"/>
            <a:ext cx="4754880" cy="1623060"/>
          </a:xfrm>
          <a:prstGeom prst="rect">
            <a:avLst/>
          </a:prstGeom>
        </p:spPr>
      </p:pic>
      <p:sp>
        <p:nvSpPr>
          <p:cNvPr id="3" name="Text 0"/>
          <p:cNvSpPr txBox="1"/>
          <p:nvPr/>
        </p:nvSpPr>
        <p:spPr>
          <a:xfrm>
            <a:off x="731520" y="2697480"/>
            <a:ext cx="6949440" cy="1325880"/>
          </a:xfrm>
          <a:prstGeom prst="rect">
            <a:avLst/>
          </a:prstGeom>
          <a:noFill/>
          <a:ln/>
        </p:spPr>
        <p:txBody>
          <a:bodyPr wrap="square" lIns="0" tIns="0" rIns="0" bIns="0" rtlCol="0" anchor="t"/>
          <a:lstStyle/>
          <a:p>
            <a:pPr indent="0" marL="0">
              <a:buNone/>
            </a:pPr>
            <a:r>
              <a:rPr lang="en-US" sz="4000" b="1" dirty="0">
                <a:solidFill>
                  <a:srgbClr val="FBF3E8"/>
                </a:solidFill>
              </a:rPr>
              <a:t>Hierro medido. Sabor a brownie.</a:t>
            </a:r>
            <a:endParaRPr lang="en-US" sz="4000" dirty="0"/>
          </a:p>
        </p:txBody>
      </p:sp>
      <p:sp>
        <p:nvSpPr>
          <p:cNvPr id="4" name="Text 1"/>
          <p:cNvSpPr txBox="1"/>
          <p:nvPr/>
        </p:nvSpPr>
        <p:spPr>
          <a:xfrm>
            <a:off x="731520" y="4069080"/>
            <a:ext cx="6766560" cy="868680"/>
          </a:xfrm>
          <a:prstGeom prst="rect">
            <a:avLst/>
          </a:prstGeom>
          <a:noFill/>
          <a:ln/>
        </p:spPr>
        <p:txBody>
          <a:bodyPr wrap="square" lIns="0" tIns="0" rIns="0" bIns="0" rtlCol="0" anchor="t"/>
          <a:lstStyle/>
          <a:p>
            <a:pPr indent="0" marL="0">
              <a:buNone/>
            </a:pPr>
            <a:r>
              <a:rPr lang="en-US" sz="2400" dirty="0">
                <a:solidFill>
                  <a:srgbClr val="D9B48F"/>
                </a:solidFill>
              </a:rPr>
              <a:t>Mini brownie de 20 g con sangrecita y el hierro medido por lote.</a:t>
            </a:r>
            <a:endParaRPr lang="en-US" sz="2400" dirty="0"/>
          </a:p>
        </p:txBody>
      </p:sp>
      <p:sp>
        <p:nvSpPr>
          <p:cNvPr id="5" name="Text 2"/>
          <p:cNvSpPr txBox="1"/>
          <p:nvPr/>
        </p:nvSpPr>
        <p:spPr>
          <a:xfrm>
            <a:off x="731520" y="5120640"/>
            <a:ext cx="6949440" cy="292608"/>
          </a:xfrm>
          <a:prstGeom prst="rect">
            <a:avLst/>
          </a:prstGeom>
          <a:noFill/>
          <a:ln/>
        </p:spPr>
        <p:txBody>
          <a:bodyPr wrap="square" lIns="0" tIns="0" rIns="0" bIns="0" rtlCol="0" anchor="t"/>
          <a:lstStyle/>
          <a:p>
            <a:pPr indent="0" marL="0">
              <a:buNone/>
            </a:pPr>
            <a:r>
              <a:rPr lang="en-US" sz="1400" b="1" spc="200" kern="0" dirty="0">
                <a:solidFill>
                  <a:srgbClr val="E3A33B"/>
                </a:solidFill>
              </a:rPr>
              <a:t>SUSTENTACIÓN T2 · PROYECTO EXPOINNOVA</a:t>
            </a:r>
            <a:endParaRPr lang="en-US" sz="1400" dirty="0"/>
          </a:p>
        </p:txBody>
      </p:sp>
      <p:sp>
        <p:nvSpPr>
          <p:cNvPr id="6" name="Text 3"/>
          <p:cNvSpPr txBox="1"/>
          <p:nvPr/>
        </p:nvSpPr>
        <p:spPr>
          <a:xfrm>
            <a:off x="731520" y="5468112"/>
            <a:ext cx="7132320" cy="292608"/>
          </a:xfrm>
          <a:prstGeom prst="rect">
            <a:avLst/>
          </a:prstGeom>
          <a:noFill/>
          <a:ln/>
        </p:spPr>
        <p:txBody>
          <a:bodyPr wrap="square" lIns="0" tIns="0" rIns="0" bIns="0" rtlCol="0" anchor="t"/>
          <a:lstStyle/>
          <a:p>
            <a:pPr indent="0" marL="0">
              <a:buNone/>
            </a:pPr>
            <a:r>
              <a:rPr lang="en-US" sz="1400" dirty="0">
                <a:solidFill>
                  <a:srgbClr val="FBF3E8"/>
                </a:solidFill>
              </a:rPr>
              <a:t>Grupo 2 · Diana Ayoso · Carlos Inga · Angie Blas · Patricia Cárdenas · Adela Robles</a:t>
            </a:r>
            <a:endParaRPr lang="en-US" sz="1400" dirty="0"/>
          </a:p>
        </p:txBody>
      </p:sp>
      <p:sp>
        <p:nvSpPr>
          <p:cNvPr id="7" name="Text 4"/>
          <p:cNvSpPr txBox="1"/>
          <p:nvPr/>
        </p:nvSpPr>
        <p:spPr>
          <a:xfrm>
            <a:off x="731520" y="5797296"/>
            <a:ext cx="7132320" cy="274320"/>
          </a:xfrm>
          <a:prstGeom prst="rect">
            <a:avLst/>
          </a:prstGeom>
          <a:noFill/>
          <a:ln/>
        </p:spPr>
        <p:txBody>
          <a:bodyPr wrap="square" lIns="0" tIns="0" rIns="0" bIns="0" rtlCol="0" anchor="t"/>
          <a:lstStyle/>
          <a:p>
            <a:pPr indent="0" marL="0">
              <a:buNone/>
            </a:pPr>
            <a:r>
              <a:rPr lang="en-US" sz="1200" dirty="0">
                <a:solidFill>
                  <a:srgbClr val="D9B48F"/>
                </a:solidFill>
              </a:rPr>
              <a:t>Desarrollo y lanzamiento de nuevos productos · Prof. Paola Zevallos · Octubre de 2026</a:t>
            </a:r>
            <a:endParaRPr lang="en-US" sz="1200" dirty="0"/>
          </a:p>
        </p:txBody>
      </p:sp>
      <p:pic>
        <p:nvPicPr>
          <p:cNvPr id="8" name="Image 1" descr="img/deck/empaque_frente.jpg">    </p:cNvPr>
          <p:cNvPicPr>
            <a:picLocks noChangeAspect="1"/>
          </p:cNvPicPr>
          <p:nvPr/>
        </p:nvPicPr>
        <p:blipFill>
          <a:blip r:embed="rId2"/>
          <a:stretch>
            <a:fillRect/>
          </a:stretch>
        </p:blipFill>
        <p:spPr>
          <a:xfrm rot="240000">
            <a:off x="8001000" y="666293"/>
            <a:ext cx="3840480" cy="53425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48640"/>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EL PROBLEMA</a:t>
            </a:r>
            <a:endParaRPr lang="en-US" sz="1400" dirty="0"/>
          </a:p>
        </p:txBody>
      </p:sp>
      <p:sp>
        <p:nvSpPr>
          <p:cNvPr id="3" name="Text 1"/>
          <p:cNvSpPr txBox="1"/>
          <p:nvPr/>
        </p:nvSpPr>
        <p:spPr>
          <a:xfrm>
            <a:off x="548640" y="868680"/>
            <a:ext cx="6035040" cy="1828800"/>
          </a:xfrm>
          <a:prstGeom prst="rect">
            <a:avLst/>
          </a:prstGeom>
          <a:noFill/>
          <a:ln/>
        </p:spPr>
        <p:txBody>
          <a:bodyPr wrap="square" lIns="0" tIns="0" rIns="0" bIns="0" rtlCol="0" anchor="t"/>
          <a:lstStyle/>
          <a:p>
            <a:pPr indent="0" marL="0">
              <a:buNone/>
            </a:pPr>
            <a:r>
              <a:rPr lang="en-US" sz="12000" b="1" dirty="0">
                <a:solidFill>
                  <a:srgbClr val="E3A33B"/>
                </a:solidFill>
              </a:rPr>
              <a:t>24 %</a:t>
            </a:r>
            <a:endParaRPr lang="en-US" sz="12000" dirty="0"/>
          </a:p>
        </p:txBody>
      </p:sp>
      <p:sp>
        <p:nvSpPr>
          <p:cNvPr id="4" name="Text 2"/>
          <p:cNvSpPr txBox="1"/>
          <p:nvPr/>
        </p:nvSpPr>
        <p:spPr>
          <a:xfrm>
            <a:off x="548640" y="2743200"/>
            <a:ext cx="5852160" cy="1005840"/>
          </a:xfrm>
          <a:prstGeom prst="rect">
            <a:avLst/>
          </a:prstGeom>
          <a:noFill/>
          <a:ln/>
        </p:spPr>
        <p:txBody>
          <a:bodyPr wrap="square" lIns="0" tIns="0" rIns="0" bIns="0" rtlCol="0" anchor="t"/>
          <a:lstStyle/>
          <a:p>
            <a:pPr indent="0" marL="0">
              <a:buNone/>
            </a:pPr>
            <a:r>
              <a:rPr lang="en-US" sz="2800" dirty="0">
                <a:solidFill>
                  <a:srgbClr val="FBF3E8"/>
                </a:solidFill>
              </a:rPr>
              <a:t>de los niños de 6 a 35 meses de Lima tiene anemia.</a:t>
            </a:r>
            <a:endParaRPr lang="en-US" sz="2800" dirty="0"/>
          </a:p>
        </p:txBody>
      </p:sp>
      <p:sp>
        <p:nvSpPr>
          <p:cNvPr id="5" name="anim_frase"/>
          <p:cNvSpPr txBox="1"/>
          <p:nvPr/>
        </p:nvSpPr>
        <p:spPr>
          <a:xfrm>
            <a:off x="548640" y="4069080"/>
            <a:ext cx="5852160" cy="1097280"/>
          </a:xfrm>
          <a:prstGeom prst="rect">
            <a:avLst/>
          </a:prstGeom>
          <a:noFill/>
          <a:ln/>
        </p:spPr>
        <p:txBody>
          <a:bodyPr wrap="square" lIns="0" tIns="0" rIns="0" bIns="0" rtlCol="0" anchor="t"/>
          <a:lstStyle/>
          <a:p>
            <a:pPr indent="0" marL="0">
              <a:buNone/>
            </a:pPr>
            <a:r>
              <a:rPr lang="en-US" sz="3000" b="1" dirty="0">
                <a:solidFill>
                  <a:srgbClr val="D9B48F"/>
                </a:solidFill>
              </a:rPr>
              <a:t>Y lo que tiene hierro vuelve intacto en la lonchera.</a:t>
            </a:r>
            <a:endParaRPr lang="en-US" sz="3000" dirty="0"/>
          </a:p>
        </p:txBody>
      </p:sp>
      <p:sp>
        <p:nvSpPr>
          <p:cNvPr id="6" name="Text 4"/>
          <p:cNvSpPr txBox="1"/>
          <p:nvPr/>
        </p:nvSpPr>
        <p:spPr>
          <a:xfrm>
            <a:off x="548640" y="5852160"/>
            <a:ext cx="5943600" cy="548640"/>
          </a:xfrm>
          <a:prstGeom prst="rect">
            <a:avLst/>
          </a:prstGeom>
          <a:noFill/>
          <a:ln/>
        </p:spPr>
        <p:txBody>
          <a:bodyPr wrap="square" lIns="0" tIns="0" rIns="0" bIns="0" rtlCol="0" anchor="b"/>
          <a:lstStyle/>
          <a:p>
            <a:pPr indent="0" marL="0">
              <a:buNone/>
            </a:pPr>
            <a:r>
              <a:rPr lang="en-US" sz="1100" dirty="0">
                <a:solidFill>
                  <a:srgbClr val="D9B48F"/>
                </a:solidFill>
              </a:rPr>
              <a:t>Fuente: INEI, ENDES 2024, criterio OMS 2024, Lima Metropolitana (presentado ante la MCLCP, agosto de 2025). La lonchera que vuelve: 10 entrevistas a profundidad, semanas 1 a 4.</a:t>
            </a:r>
            <a:endParaRPr lang="en-US" sz="1100" dirty="0"/>
          </a:p>
        </p:txBody>
      </p:sp>
      <p:sp>
        <p:nvSpPr>
          <p:cNvPr id="7" name="IMAGEN_1"/>
          <p:cNvSpPr/>
          <p:nvPr/>
        </p:nvSpPr>
        <p:spPr>
          <a:xfrm>
            <a:off x="6766560" y="0"/>
            <a:ext cx="5425135" cy="6858000"/>
          </a:xfrm>
          <a:prstGeom prst="rect">
            <a:avLst>
              <a:gd name="adj" fmla="val 2528"/>
            </a:avLst>
          </a:prstGeom>
          <a:solidFill>
            <a:srgbClr val="5E2C22"/>
          </a:solidFill>
          <a:ln w="19050">
            <a:solidFill>
              <a:srgbClr val="D9B48F"/>
            </a:solidFill>
            <a:prstDash val="dash"/>
          </a:ln>
        </p:spPr>
      </p:sp>
      <p:pic>
        <p:nvPicPr>
          <p:cNvPr id="8" name="Image 0" descr="preencoded.png">    </p:cNvPr>
          <p:cNvPicPr>
            <a:picLocks noChangeAspect="1"/>
          </p:cNvPicPr>
          <p:nvPr/>
        </p:nvPicPr>
        <p:blipFill>
          <a:blip r:embed="rId1"/>
          <a:stretch>
            <a:fillRect/>
          </a:stretch>
        </p:blipFill>
        <p:spPr>
          <a:xfrm>
            <a:off x="9159088" y="2560320"/>
            <a:ext cx="640080" cy="640080"/>
          </a:xfrm>
          <a:prstGeom prst="rect">
            <a:avLst/>
          </a:prstGeom>
        </p:spPr>
      </p:pic>
      <p:sp>
        <p:nvSpPr>
          <p:cNvPr id="9" name="Text 6"/>
          <p:cNvSpPr txBox="1"/>
          <p:nvPr/>
        </p:nvSpPr>
        <p:spPr>
          <a:xfrm>
            <a:off x="6995160" y="3337560"/>
            <a:ext cx="4967935" cy="1005840"/>
          </a:xfrm>
          <a:prstGeom prst="rect">
            <a:avLst/>
          </a:prstGeom>
          <a:noFill/>
          <a:ln/>
        </p:spPr>
        <p:txBody>
          <a:bodyPr wrap="square" lIns="0" tIns="0" rIns="0" bIns="0" rtlCol="0" anchor="t"/>
          <a:lstStyle/>
          <a:p>
            <a:pPr algn="ctr" indent="0" marL="0">
              <a:buNone/>
            </a:pPr>
            <a:r>
              <a:rPr lang="en-US" sz="2000" b="1" dirty="0">
                <a:solidFill>
                  <a:srgbClr val="FBF3E8"/>
                </a:solidFill>
              </a:rPr>
              <a:t>IMAGEN 1</a:t>
            </a:r>
            <a:endParaRPr lang="en-US" sz="1400" dirty="0"/>
          </a:p>
          <a:p>
            <a:pPr algn="ctr" indent="0" marL="0">
              <a:buNone/>
            </a:pPr>
            <a:r>
              <a:rPr lang="en-US" sz="1400" dirty="0">
                <a:solidFill>
                  <a:srgbClr val="FBF3E8"/>
                </a:solidFill>
              </a:rPr>
              <a:t>Manos armando la lonchera de la mañana (generada)</a:t>
            </a:r>
            <a:endParaRPr lang="en-US" sz="14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DE DÓNDE VENIMOS</a:t>
            </a:r>
            <a:endParaRPr lang="en-US" sz="1400" dirty="0"/>
          </a:p>
        </p:txBody>
      </p:sp>
      <p:sp>
        <p:nvSpPr>
          <p:cNvPr id="3" name="Text 1"/>
          <p:cNvSpPr txBox="1"/>
          <p:nvPr/>
        </p:nvSpPr>
        <p:spPr>
          <a:xfrm>
            <a:off x="548640" y="603504"/>
            <a:ext cx="11091672" cy="1234440"/>
          </a:xfrm>
          <a:prstGeom prst="rect">
            <a:avLst/>
          </a:prstGeom>
          <a:noFill/>
          <a:ln/>
        </p:spPr>
        <p:txBody>
          <a:bodyPr wrap="square" lIns="0" tIns="0" rIns="0" bIns="0" rtlCol="0" anchor="t"/>
          <a:lstStyle/>
          <a:p>
            <a:pPr indent="0" marL="0">
              <a:buNone/>
            </a:pPr>
            <a:r>
              <a:rPr lang="en-US" sz="4000" b="1" dirty="0">
                <a:solidFill>
                  <a:srgbClr val="4A2018"/>
                </a:solidFill>
              </a:rPr>
              <a:t>Corregimos el rumbo con evidencia</a:t>
            </a:r>
            <a:endParaRPr lang="en-US" sz="4000" dirty="0"/>
          </a:p>
        </p:txBody>
      </p:sp>
      <p:sp>
        <p:nvSpPr>
          <p:cNvPr id="4" name="Shape 2"/>
          <p:cNvSpPr/>
          <p:nvPr/>
        </p:nvSpPr>
        <p:spPr>
          <a:xfrm>
            <a:off x="914400" y="2926080"/>
            <a:ext cx="10332720" cy="0"/>
          </a:xfrm>
          <a:prstGeom prst="line">
            <a:avLst/>
          </a:prstGeom>
          <a:noFill/>
          <a:ln w="38100">
            <a:solidFill>
              <a:srgbClr val="D9B48F"/>
            </a:solidFill>
            <a:prstDash val="solid"/>
          </a:ln>
        </p:spPr>
      </p:sp>
      <p:sp>
        <p:nvSpPr>
          <p:cNvPr id="5" name="Text 3"/>
          <p:cNvSpPr txBox="1"/>
          <p:nvPr/>
        </p:nvSpPr>
        <p:spPr>
          <a:xfrm>
            <a:off x="365760" y="2148840"/>
            <a:ext cx="2743200" cy="457200"/>
          </a:xfrm>
          <a:prstGeom prst="rect">
            <a:avLst/>
          </a:prstGeom>
          <a:noFill/>
          <a:ln/>
        </p:spPr>
        <p:txBody>
          <a:bodyPr wrap="square" lIns="0" tIns="0" rIns="0" bIns="0" rtlCol="0" anchor="b"/>
          <a:lstStyle/>
          <a:p>
            <a:pPr algn="ctr" indent="0" marL="0">
              <a:buNone/>
            </a:pPr>
            <a:r>
              <a:rPr lang="en-US" sz="1400" b="1" spc="100" kern="0" dirty="0">
                <a:solidFill>
                  <a:srgbClr val="BA4036"/>
                </a:solidFill>
              </a:rPr>
              <a:t>SEMANAS 1 A 4</a:t>
            </a:r>
            <a:endParaRPr lang="en-US" sz="1400" dirty="0"/>
          </a:p>
        </p:txBody>
      </p:sp>
      <p:sp>
        <p:nvSpPr>
          <p:cNvPr id="6" name="Shape 4"/>
          <p:cNvSpPr/>
          <p:nvPr/>
        </p:nvSpPr>
        <p:spPr>
          <a:xfrm>
            <a:off x="1527048" y="2715768"/>
            <a:ext cx="420624" cy="420624"/>
          </a:xfrm>
          <a:prstGeom prst="ellipse">
            <a:avLst/>
          </a:prstGeom>
          <a:solidFill>
            <a:srgbClr val="6B3A2A"/>
          </a:solidFill>
          <a:ln w="38100">
            <a:solidFill>
              <a:srgbClr val="FBF3E8"/>
            </a:solidFill>
            <a:prstDash val="solid"/>
          </a:ln>
        </p:spPr>
      </p:sp>
      <p:sp>
        <p:nvSpPr>
          <p:cNvPr id="7" name="hito0"/>
          <p:cNvSpPr txBox="1"/>
          <p:nvPr/>
        </p:nvSpPr>
        <p:spPr>
          <a:xfrm>
            <a:off x="365760" y="3337560"/>
            <a:ext cx="2743200" cy="1371600"/>
          </a:xfrm>
          <a:prstGeom prst="rect">
            <a:avLst/>
          </a:prstGeom>
          <a:noFill/>
          <a:ln/>
        </p:spPr>
        <p:txBody>
          <a:bodyPr wrap="square" lIns="0" tIns="0" rIns="0" bIns="0" rtlCol="0" anchor="t"/>
          <a:lstStyle/>
          <a:p>
            <a:pPr algn="ctr" indent="0" marL="0">
              <a:buNone/>
            </a:pPr>
            <a:r>
              <a:rPr lang="en-US" sz="2400" b="1" dirty="0">
                <a:solidFill>
                  <a:srgbClr val="4A2018"/>
                </a:solidFill>
              </a:rPr>
              <a:t>AndyBites</a:t>
            </a:r>
            <a:endParaRPr lang="en-US" sz="2400" dirty="0"/>
          </a:p>
          <a:p>
            <a:pPr algn="ctr" indent="0" marL="0">
              <a:buNone/>
            </a:pPr>
            <a:r>
              <a:rPr lang="en-US" sz="2400" dirty="0">
                <a:solidFill>
                  <a:srgbClr val="3B1A14"/>
                </a:solidFill>
              </a:rPr>
              <a:t>mamás de Lima Norte, NSE C/B</a:t>
            </a:r>
            <a:endParaRPr lang="en-US" sz="2400" dirty="0"/>
          </a:p>
        </p:txBody>
      </p:sp>
      <p:sp>
        <p:nvSpPr>
          <p:cNvPr id="8" name="Text 6"/>
          <p:cNvSpPr txBox="1"/>
          <p:nvPr/>
        </p:nvSpPr>
        <p:spPr>
          <a:xfrm>
            <a:off x="3200400" y="2148840"/>
            <a:ext cx="2743200" cy="457200"/>
          </a:xfrm>
          <a:prstGeom prst="rect">
            <a:avLst/>
          </a:prstGeom>
          <a:noFill/>
          <a:ln/>
        </p:spPr>
        <p:txBody>
          <a:bodyPr wrap="square" lIns="0" tIns="0" rIns="0" bIns="0" rtlCol="0" anchor="b"/>
          <a:lstStyle/>
          <a:p>
            <a:pPr algn="ctr" indent="0" marL="0">
              <a:buNone/>
            </a:pPr>
            <a:r>
              <a:rPr lang="en-US" sz="1400" b="1" spc="100" kern="0" dirty="0">
                <a:solidFill>
                  <a:srgbClr val="BA4036"/>
                </a:solidFill>
              </a:rPr>
              <a:t>FOCUS 1 Y DEGUSTACIÓN</a:t>
            </a:r>
            <a:endParaRPr lang="en-US" sz="1400" dirty="0"/>
          </a:p>
        </p:txBody>
      </p:sp>
      <p:sp>
        <p:nvSpPr>
          <p:cNvPr id="9" name="Shape 7"/>
          <p:cNvSpPr/>
          <p:nvPr/>
        </p:nvSpPr>
        <p:spPr>
          <a:xfrm>
            <a:off x="4361688" y="2715768"/>
            <a:ext cx="420624" cy="420624"/>
          </a:xfrm>
          <a:prstGeom prst="ellipse">
            <a:avLst/>
          </a:prstGeom>
          <a:solidFill>
            <a:srgbClr val="6B3A2A"/>
          </a:solidFill>
          <a:ln w="38100">
            <a:solidFill>
              <a:srgbClr val="FBF3E8"/>
            </a:solidFill>
            <a:prstDash val="solid"/>
          </a:ln>
        </p:spPr>
      </p:sp>
      <p:sp>
        <p:nvSpPr>
          <p:cNvPr id="10" name="anim_hito1"/>
          <p:cNvSpPr txBox="1"/>
          <p:nvPr/>
        </p:nvSpPr>
        <p:spPr>
          <a:xfrm>
            <a:off x="3200400" y="3337560"/>
            <a:ext cx="2743200" cy="1371600"/>
          </a:xfrm>
          <a:prstGeom prst="rect">
            <a:avLst/>
          </a:prstGeom>
          <a:noFill/>
          <a:ln/>
        </p:spPr>
        <p:txBody>
          <a:bodyPr wrap="square" lIns="0" tIns="0" rIns="0" bIns="0" rtlCol="0" anchor="t"/>
          <a:lstStyle/>
          <a:p>
            <a:pPr algn="ctr" indent="0" marL="0">
              <a:buNone/>
            </a:pPr>
            <a:r>
              <a:rPr lang="en-US" sz="2400" b="1" dirty="0">
                <a:solidFill>
                  <a:srgbClr val="4A2018"/>
                </a:solidFill>
              </a:rPr>
              <a:t>Gana el brownie</a:t>
            </a:r>
            <a:endParaRPr lang="en-US" sz="2400" dirty="0"/>
          </a:p>
          <a:p>
            <a:pPr algn="ctr" indent="0" marL="0">
              <a:buNone/>
            </a:pPr>
            <a:r>
              <a:rPr lang="en-US" sz="2400" dirty="0">
                <a:solidFill>
                  <a:srgbClr val="3B1A14"/>
                </a:solidFill>
              </a:rPr>
              <a:t>el sabor convence; el precio, no</a:t>
            </a:r>
            <a:endParaRPr lang="en-US" sz="2400" dirty="0"/>
          </a:p>
        </p:txBody>
      </p:sp>
      <p:sp>
        <p:nvSpPr>
          <p:cNvPr id="11" name="Text 9"/>
          <p:cNvSpPr txBox="1"/>
          <p:nvPr/>
        </p:nvSpPr>
        <p:spPr>
          <a:xfrm>
            <a:off x="6035040" y="2148840"/>
            <a:ext cx="2743200" cy="457200"/>
          </a:xfrm>
          <a:prstGeom prst="rect">
            <a:avLst/>
          </a:prstGeom>
          <a:noFill/>
          <a:ln/>
        </p:spPr>
        <p:txBody>
          <a:bodyPr wrap="square" lIns="0" tIns="0" rIns="0" bIns="0" rtlCol="0" anchor="b"/>
          <a:lstStyle/>
          <a:p>
            <a:pPr algn="ctr" indent="0" marL="0">
              <a:buNone/>
            </a:pPr>
            <a:r>
              <a:rPr lang="en-US" sz="1400" b="1" spc="100" kern="0" dirty="0">
                <a:solidFill>
                  <a:srgbClr val="BA4036"/>
                </a:solidFill>
              </a:rPr>
              <a:t>T1 · OCTUBRE 2026</a:t>
            </a:r>
            <a:endParaRPr lang="en-US" sz="1400" dirty="0"/>
          </a:p>
        </p:txBody>
      </p:sp>
      <p:sp>
        <p:nvSpPr>
          <p:cNvPr id="12" name="Shape 10"/>
          <p:cNvSpPr/>
          <p:nvPr/>
        </p:nvSpPr>
        <p:spPr>
          <a:xfrm>
            <a:off x="7196328" y="2715768"/>
            <a:ext cx="420624" cy="420624"/>
          </a:xfrm>
          <a:prstGeom prst="ellipse">
            <a:avLst/>
          </a:prstGeom>
          <a:solidFill>
            <a:srgbClr val="BA4036"/>
          </a:solidFill>
          <a:ln w="38100">
            <a:solidFill>
              <a:srgbClr val="FBF3E8"/>
            </a:solidFill>
            <a:prstDash val="solid"/>
          </a:ln>
        </p:spPr>
      </p:sp>
      <p:sp>
        <p:nvSpPr>
          <p:cNvPr id="13" name="anim_hito2"/>
          <p:cNvSpPr txBox="1"/>
          <p:nvPr/>
        </p:nvSpPr>
        <p:spPr>
          <a:xfrm>
            <a:off x="6035040" y="3337560"/>
            <a:ext cx="2743200" cy="1371600"/>
          </a:xfrm>
          <a:prstGeom prst="rect">
            <a:avLst/>
          </a:prstGeom>
          <a:noFill/>
          <a:ln/>
        </p:spPr>
        <p:txBody>
          <a:bodyPr wrap="square" lIns="0" tIns="0" rIns="0" bIns="0" rtlCol="0" anchor="t"/>
          <a:lstStyle/>
          <a:p>
            <a:pPr algn="ctr" indent="0" marL="0">
              <a:buNone/>
            </a:pPr>
            <a:r>
              <a:rPr lang="en-US" sz="2400" b="1" dirty="0">
                <a:solidFill>
                  <a:srgbClr val="4A2018"/>
                </a:solidFill>
              </a:rPr>
              <a:t>AndiBite</a:t>
            </a:r>
            <a:endParaRPr lang="en-US" sz="2400" dirty="0"/>
          </a:p>
          <a:p>
            <a:pPr algn="ctr" indent="0" marL="0">
              <a:buNone/>
            </a:pPr>
            <a:r>
              <a:rPr lang="en-US" sz="2400" dirty="0">
                <a:solidFill>
                  <a:srgbClr val="3B1A14"/>
                </a:solidFill>
              </a:rPr>
              <a:t>padres NSE A y B</a:t>
            </a:r>
            <a:endParaRPr lang="en-US" sz="2400" dirty="0"/>
          </a:p>
        </p:txBody>
      </p:sp>
      <p:sp>
        <p:nvSpPr>
          <p:cNvPr id="14" name="Text 12"/>
          <p:cNvSpPr txBox="1"/>
          <p:nvPr/>
        </p:nvSpPr>
        <p:spPr>
          <a:xfrm>
            <a:off x="8869680" y="2148840"/>
            <a:ext cx="2743200" cy="457200"/>
          </a:xfrm>
          <a:prstGeom prst="rect">
            <a:avLst/>
          </a:prstGeom>
          <a:noFill/>
          <a:ln/>
        </p:spPr>
        <p:txBody>
          <a:bodyPr wrap="square" lIns="0" tIns="0" rIns="0" bIns="0" rtlCol="0" anchor="b"/>
          <a:lstStyle/>
          <a:p>
            <a:pPr algn="ctr" indent="0" marL="0">
              <a:buNone/>
            </a:pPr>
            <a:r>
              <a:rPr lang="en-US" sz="1400" b="1" spc="100" kern="0" dirty="0">
                <a:solidFill>
                  <a:srgbClr val="BA4036"/>
                </a:solidFill>
              </a:rPr>
              <a:t>HOY · T2</a:t>
            </a:r>
            <a:endParaRPr lang="en-US" sz="1400" dirty="0"/>
          </a:p>
        </p:txBody>
      </p:sp>
      <p:sp>
        <p:nvSpPr>
          <p:cNvPr id="15" name="Shape 13"/>
          <p:cNvSpPr/>
          <p:nvPr/>
        </p:nvSpPr>
        <p:spPr>
          <a:xfrm>
            <a:off x="9985248" y="2670048"/>
            <a:ext cx="512064" cy="512064"/>
          </a:xfrm>
          <a:prstGeom prst="ellipse">
            <a:avLst/>
          </a:prstGeom>
          <a:solidFill>
            <a:srgbClr val="BA4036"/>
          </a:solidFill>
          <a:ln w="38100">
            <a:solidFill>
              <a:srgbClr val="FBF3E8"/>
            </a:solidFill>
            <a:prstDash val="solid"/>
          </a:ln>
        </p:spPr>
      </p:sp>
      <p:sp>
        <p:nvSpPr>
          <p:cNvPr id="16" name="anim_hito3"/>
          <p:cNvSpPr txBox="1"/>
          <p:nvPr/>
        </p:nvSpPr>
        <p:spPr>
          <a:xfrm>
            <a:off x="8869680" y="3337560"/>
            <a:ext cx="2743200" cy="1371600"/>
          </a:xfrm>
          <a:prstGeom prst="rect">
            <a:avLst/>
          </a:prstGeom>
          <a:noFill/>
          <a:ln/>
        </p:spPr>
        <p:txBody>
          <a:bodyPr wrap="square" lIns="0" tIns="0" rIns="0" bIns="0" rtlCol="0" anchor="t"/>
          <a:lstStyle/>
          <a:p>
            <a:pPr algn="ctr" indent="0" marL="0">
              <a:buNone/>
            </a:pPr>
            <a:r>
              <a:rPr lang="en-US" sz="2400" b="1" dirty="0">
                <a:solidFill>
                  <a:srgbClr val="4A2018"/>
                </a:solidFill>
              </a:rPr>
              <a:t>Plan de marketing</a:t>
            </a:r>
            <a:endParaRPr lang="en-US" sz="2400" dirty="0"/>
          </a:p>
          <a:p>
            <a:pPr algn="ctr" indent="0" marL="0">
              <a:buNone/>
            </a:pPr>
            <a:r>
              <a:rPr lang="en-US" sz="2400" dirty="0">
                <a:solidFill>
                  <a:srgbClr val="3B1A14"/>
                </a:solidFill>
              </a:rPr>
              <a:t>con el modelo v7</a:t>
            </a:r>
            <a:endParaRPr lang="en-US" sz="2400" dirty="0"/>
          </a:p>
        </p:txBody>
      </p:sp>
      <p:sp>
        <p:nvSpPr>
          <p:cNvPr id="17" name="Text 15"/>
          <p:cNvSpPr txBox="1"/>
          <p:nvPr/>
        </p:nvSpPr>
        <p:spPr>
          <a:xfrm>
            <a:off x="548640" y="5074920"/>
            <a:ext cx="11091672" cy="502920"/>
          </a:xfrm>
          <a:prstGeom prst="rect">
            <a:avLst/>
          </a:prstGeom>
          <a:noFill/>
          <a:ln/>
        </p:spPr>
        <p:txBody>
          <a:bodyPr wrap="square" lIns="0" tIns="0" rIns="0" bIns="0" rtlCol="0" anchor="t"/>
          <a:lstStyle/>
          <a:p>
            <a:pPr algn="ctr" indent="0" marL="0">
              <a:buNone/>
            </a:pPr>
            <a:r>
              <a:rPr lang="en-US" sz="2400" i="1" dirty="0">
                <a:solidFill>
                  <a:srgbClr val="6B3A2A"/>
                </a:solidFill>
              </a:rPr>
              <a:t>El cambio de público no fue de gusto: lo pidió la evidencia.</a:t>
            </a:r>
            <a:endParaRPr lang="en-US" sz="2400" dirty="0"/>
          </a:p>
        </p:txBody>
      </p:sp>
      <p:sp>
        <p:nvSpPr>
          <p:cNvPr id="18" name="Text 16"/>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01-contexto (semanas 1 a 4 y focus 1); láminas de la degustación (Canva del grupo); T1, documento 07; HECHOS_v7.</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685800"/>
            <a:ext cx="3657600" cy="1737360"/>
          </a:xfrm>
          <a:prstGeom prst="rect">
            <a:avLst/>
          </a:prstGeom>
          <a:noFill/>
          <a:ln/>
        </p:spPr>
        <p:txBody>
          <a:bodyPr wrap="square" lIns="0" tIns="0" rIns="0" bIns="0" rtlCol="0" anchor="t"/>
          <a:lstStyle/>
          <a:p>
            <a:pPr indent="0" marL="0">
              <a:buNone/>
            </a:pPr>
            <a:r>
              <a:rPr lang="en-US" sz="12000" b="1" dirty="0">
                <a:solidFill>
                  <a:srgbClr val="E3A33B"/>
                </a:solidFill>
              </a:rPr>
              <a:t>01</a:t>
            </a:r>
            <a:endParaRPr lang="en-US" sz="12000" dirty="0"/>
          </a:p>
        </p:txBody>
      </p:sp>
      <p:sp>
        <p:nvSpPr>
          <p:cNvPr id="3" name="Text 1"/>
          <p:cNvSpPr txBox="1"/>
          <p:nvPr/>
        </p:nvSpPr>
        <p:spPr>
          <a:xfrm>
            <a:off x="731520" y="2560320"/>
            <a:ext cx="7040880" cy="1463040"/>
          </a:xfrm>
          <a:prstGeom prst="rect">
            <a:avLst/>
          </a:prstGeom>
          <a:noFill/>
          <a:ln/>
        </p:spPr>
        <p:txBody>
          <a:bodyPr wrap="square" lIns="0" tIns="0" rIns="0" bIns="0" rtlCol="0" anchor="b"/>
          <a:lstStyle/>
          <a:p>
            <a:pPr indent="0" marL="0">
              <a:buNone/>
            </a:pPr>
            <a:r>
              <a:rPr lang="en-US" sz="4400" b="1" dirty="0">
                <a:solidFill>
                  <a:srgbClr val="FBF3E8"/>
                </a:solidFill>
              </a:rPr>
              <a:t>Modelo de negocio Canvas</a:t>
            </a:r>
            <a:endParaRPr lang="en-US" sz="4400" dirty="0"/>
          </a:p>
        </p:txBody>
      </p:sp>
      <p:sp>
        <p:nvSpPr>
          <p:cNvPr id="4" name="Text 2"/>
          <p:cNvSpPr txBox="1"/>
          <p:nvPr/>
        </p:nvSpPr>
        <p:spPr>
          <a:xfrm>
            <a:off x="731520" y="4160520"/>
            <a:ext cx="7040880" cy="914400"/>
          </a:xfrm>
          <a:prstGeom prst="rect">
            <a:avLst/>
          </a:prstGeom>
          <a:noFill/>
          <a:ln/>
        </p:spPr>
        <p:txBody>
          <a:bodyPr wrap="square" lIns="0" tIns="0" rIns="0" bIns="0" rtlCol="0" anchor="t"/>
          <a:lstStyle/>
          <a:p>
            <a:pPr indent="0" marL="0">
              <a:buNone/>
            </a:pPr>
            <a:r>
              <a:rPr lang="en-US" sz="2400" dirty="0">
                <a:solidFill>
                  <a:srgbClr val="D9B48F"/>
                </a:solidFill>
              </a:rPr>
              <a:t>9 bloques que se sostienen entre sí</a:t>
            </a:r>
            <a:endParaRPr lang="en-US" sz="2400" dirty="0"/>
          </a:p>
        </p:txBody>
      </p:sp>
      <p:sp>
        <p:nvSpPr>
          <p:cNvPr id="5" name="Shape 3"/>
          <p:cNvSpPr/>
          <p:nvPr/>
        </p:nvSpPr>
        <p:spPr>
          <a:xfrm>
            <a:off x="8092440" y="1417320"/>
            <a:ext cx="3657600" cy="3657600"/>
          </a:xfrm>
          <a:prstGeom prst="ellipse">
            <a:avLst/>
          </a:prstGeom>
          <a:solidFill>
            <a:srgbClr val="6B3A2A"/>
          </a:solidFill>
          <a:ln w="12700">
            <a:solidFill>
              <a:srgbClr val="6B3A2A"/>
            </a:solidFill>
            <a:prstDash val="solid"/>
          </a:ln>
        </p:spPr>
      </p:sp>
      <p:pic>
        <p:nvPicPr>
          <p:cNvPr id="6" name="Image 0" descr="preencoded.png">    </p:cNvPr>
          <p:cNvPicPr>
            <a:picLocks noChangeAspect="1"/>
          </p:cNvPicPr>
          <p:nvPr/>
        </p:nvPicPr>
        <p:blipFill>
          <a:blip r:embed="rId1"/>
          <a:stretch>
            <a:fillRect/>
          </a:stretch>
        </p:blipFill>
        <p:spPr>
          <a:xfrm>
            <a:off x="9052560" y="2377440"/>
            <a:ext cx="1737360" cy="1737360"/>
          </a:xfrm>
          <a:prstGeom prst="rect">
            <a:avLst/>
          </a:prstGeom>
        </p:spPr>
      </p:pic>
      <p:pic>
        <p:nvPicPr>
          <p:cNvPr id="7" name="Image 1" descr="img/logo_light.png">    </p:cNvPr>
          <p:cNvPicPr>
            <a:picLocks noChangeAspect="1"/>
          </p:cNvPicPr>
          <p:nvPr/>
        </p:nvPicPr>
        <p:blipFill>
          <a:blip r:embed="rId2"/>
          <a:stretch>
            <a:fillRect/>
          </a:stretch>
        </p:blipFill>
        <p:spPr>
          <a:xfrm>
            <a:off x="731520" y="5989320"/>
            <a:ext cx="1325880" cy="4526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BUSINESS MODEL CANVAS · 9 BLOQUES</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Nueve bloques, una sola promesa</a:t>
            </a:r>
            <a:endParaRPr lang="en-US" sz="4000" dirty="0"/>
          </a:p>
        </p:txBody>
      </p:sp>
      <p:sp>
        <p:nvSpPr>
          <p:cNvPr id="4" name="Text 2"/>
          <p:cNvSpPr/>
          <p:nvPr/>
        </p:nvSpPr>
        <p:spPr>
          <a:xfrm>
            <a:off x="548640" y="1371600"/>
            <a:ext cx="2145182" cy="3291840"/>
          </a:xfrm>
          <a:prstGeom prst="roundRect">
            <a:avLst>
              <a:gd name="adj" fmla="val 3410"/>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8 · SOCIOS CLAVE</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Maquila, laboratorio, proveedor de sangrecita y malls</a:t>
            </a:r>
            <a:endParaRPr lang="en-US" sz="1200" dirty="0"/>
          </a:p>
        </p:txBody>
      </p:sp>
      <p:sp>
        <p:nvSpPr>
          <p:cNvPr id="5" name="Text 3"/>
          <p:cNvSpPr/>
          <p:nvPr/>
        </p:nvSpPr>
        <p:spPr>
          <a:xfrm>
            <a:off x="2785262" y="1371600"/>
            <a:ext cx="2145182" cy="1600200"/>
          </a:xfrm>
          <a:prstGeom prst="roundRect">
            <a:avLst>
              <a:gd name="adj" fmla="val 457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7 · ACTIVIDADES</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Medir y publicar el hierro; vender en stand</a:t>
            </a:r>
            <a:endParaRPr lang="en-US" sz="1200" dirty="0"/>
          </a:p>
        </p:txBody>
      </p:sp>
      <p:sp>
        <p:nvSpPr>
          <p:cNvPr id="6" name="Text 4"/>
          <p:cNvSpPr/>
          <p:nvPr/>
        </p:nvSpPr>
        <p:spPr>
          <a:xfrm>
            <a:off x="2785262" y="3063240"/>
            <a:ext cx="2145182" cy="1600200"/>
          </a:xfrm>
          <a:prstGeom prst="roundRect">
            <a:avLst>
              <a:gd name="adj" fmla="val 457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6 · RECURSOS</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Receta que esconde la sangrecita; app y marca</a:t>
            </a:r>
            <a:endParaRPr lang="en-US" sz="1200" dirty="0"/>
          </a:p>
        </p:txBody>
      </p:sp>
      <p:sp>
        <p:nvSpPr>
          <p:cNvPr id="7" name="Text 5"/>
          <p:cNvSpPr/>
          <p:nvPr/>
        </p:nvSpPr>
        <p:spPr>
          <a:xfrm>
            <a:off x="5021885" y="1371600"/>
            <a:ext cx="2145182" cy="3291840"/>
          </a:xfrm>
          <a:prstGeom prst="roundRect">
            <a:avLst>
              <a:gd name="adj" fmla="val 3410"/>
            </a:avLst>
          </a:prstGeom>
          <a:solidFill>
            <a:srgbClr val="4A2018"/>
          </a:solidFill>
          <a:ln>
            <a:solidFill>
              <a:srgbClr val="4A2018"/>
            </a:solidFill>
          </a:ln>
        </p:spPr>
        <p:txBody>
          <a:bodyPr wrap="square" lIns="114300" tIns="114300" rIns="114300" bIns="114300" rtlCol="0" anchor="t"/>
          <a:lstStyle/>
          <a:p>
            <a:pPr indent="0" marL="0">
              <a:spcAft>
                <a:spcPts val="400"/>
              </a:spcAft>
              <a:buNone/>
            </a:pPr>
            <a:r>
              <a:rPr lang="en-US" sz="1200" b="1" spc="100" kern="0" dirty="0">
                <a:solidFill>
                  <a:srgbClr val="E3A33B"/>
                </a:solidFill>
                <a:latin typeface="Calibri" pitchFamily="34" charset="0"/>
                <a:ea typeface="Calibri" pitchFamily="34" charset="-122"/>
                <a:cs typeface="Calibri" pitchFamily="34" charset="-120"/>
              </a:rPr>
              <a:t>2 · PROPUESTA DE VALOR</a:t>
            </a:r>
            <a:endParaRPr lang="en-US" sz="1200" dirty="0"/>
          </a:p>
          <a:p>
            <a:pPr indent="0" marL="0">
              <a:spcAft>
                <a:spcPts val="1000"/>
              </a:spcAft>
              <a:buNone/>
            </a:pPr>
            <a:r>
              <a:rPr lang="en-US" sz="2600" b="1" dirty="0">
                <a:solidFill>
                  <a:srgbClr val="FBF3E8"/>
                </a:solidFill>
                <a:latin typeface="Calibri" pitchFamily="34" charset="0"/>
                <a:ea typeface="Calibri" pitchFamily="34" charset="-122"/>
                <a:cs typeface="Calibri" pitchFamily="34" charset="-120"/>
              </a:rPr>
              <a:t>Hierro medido. Sabor a brownie.</a:t>
            </a:r>
            <a:endParaRPr lang="en-US" sz="1200" dirty="0"/>
          </a:p>
          <a:p>
            <a:pPr indent="0" marL="0">
              <a:spcAft>
                <a:spcPts val="400"/>
              </a:spcAft>
              <a:buNone/>
            </a:pPr>
            <a:r>
              <a:rPr lang="en-US" sz="2000" dirty="0">
                <a:solidFill>
                  <a:srgbClr val="D9B48F"/>
                </a:solidFill>
                <a:latin typeface="Calibri" pitchFamily="34" charset="0"/>
                <a:ea typeface="Calibri" pitchFamily="34" charset="-122"/>
                <a:cs typeface="Calibri" pitchFamily="34" charset="-120"/>
              </a:rPr>
              <a:t>El snack de lonchera que tu hijo sí se come</a:t>
            </a:r>
            <a:endParaRPr lang="en-US" sz="1200" dirty="0"/>
          </a:p>
        </p:txBody>
      </p:sp>
      <p:sp>
        <p:nvSpPr>
          <p:cNvPr id="8" name="Text 6"/>
          <p:cNvSpPr/>
          <p:nvPr/>
        </p:nvSpPr>
        <p:spPr>
          <a:xfrm>
            <a:off x="7258507" y="1371600"/>
            <a:ext cx="2145182" cy="1600200"/>
          </a:xfrm>
          <a:prstGeom prst="roundRect">
            <a:avLst>
              <a:gd name="adj" fmla="val 457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4 · RELACIÓN</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Degustación cara a cara; aviso de recompra</a:t>
            </a:r>
            <a:endParaRPr lang="en-US" sz="1200" dirty="0"/>
          </a:p>
        </p:txBody>
      </p:sp>
      <p:sp>
        <p:nvSpPr>
          <p:cNvPr id="9" name="Text 7"/>
          <p:cNvSpPr/>
          <p:nvPr/>
        </p:nvSpPr>
        <p:spPr>
          <a:xfrm>
            <a:off x="7258507" y="3063240"/>
            <a:ext cx="2145182" cy="1600200"/>
          </a:xfrm>
          <a:prstGeom prst="roundRect">
            <a:avLst>
              <a:gd name="adj" fmla="val 457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3 · CANALES</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Stands 43 %, WhatsApp 18 %, colegios 17.5 %</a:t>
            </a:r>
            <a:endParaRPr lang="en-US" sz="1200" dirty="0"/>
          </a:p>
        </p:txBody>
      </p:sp>
      <p:sp>
        <p:nvSpPr>
          <p:cNvPr id="10" name="Text 8"/>
          <p:cNvSpPr/>
          <p:nvPr/>
        </p:nvSpPr>
        <p:spPr>
          <a:xfrm>
            <a:off x="9495130" y="1371600"/>
            <a:ext cx="2145182" cy="3291840"/>
          </a:xfrm>
          <a:prstGeom prst="roundRect">
            <a:avLst>
              <a:gd name="adj" fmla="val 3410"/>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1 · SEGMENTOS</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Padres A y B que leen etiquetas: 46,000 hogares núcleo</a:t>
            </a:r>
            <a:endParaRPr lang="en-US" sz="1200" dirty="0"/>
          </a:p>
        </p:txBody>
      </p:sp>
      <p:sp>
        <p:nvSpPr>
          <p:cNvPr id="11" name="Text 9"/>
          <p:cNvSpPr/>
          <p:nvPr/>
        </p:nvSpPr>
        <p:spPr>
          <a:xfrm>
            <a:off x="548640" y="4754880"/>
            <a:ext cx="5500116" cy="1417320"/>
          </a:xfrm>
          <a:prstGeom prst="roundRect">
            <a:avLst>
              <a:gd name="adj" fmla="val 516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9 · ESTRUCTURA DE COSTOS</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S/1.64 por brownie, sin planta propia · marketing S/24,544 en 15 meses</a:t>
            </a:r>
            <a:endParaRPr lang="en-US" sz="1200" dirty="0"/>
          </a:p>
        </p:txBody>
      </p:sp>
      <p:sp>
        <p:nvSpPr>
          <p:cNvPr id="12" name="Text 10"/>
          <p:cNvSpPr/>
          <p:nvPr/>
        </p:nvSpPr>
        <p:spPr>
          <a:xfrm>
            <a:off x="6140196" y="4754880"/>
            <a:ext cx="5500116" cy="1417320"/>
          </a:xfrm>
          <a:prstGeom prst="roundRect">
            <a:avLst>
              <a:gd name="adj" fmla="val 5161"/>
            </a:avLst>
          </a:prstGeom>
          <a:solidFill>
            <a:srgbClr val="FFFFFF"/>
          </a:solidFill>
          <a:ln>
            <a:solidFill>
              <a:srgbClr val="FFFFFF"/>
            </a:solidFill>
          </a:ln>
        </p:spPr>
        <p:txBody>
          <a:bodyPr wrap="square" lIns="114300" tIns="114300" rIns="114300" bIns="114300" rtlCol="0" anchor="t"/>
          <a:lstStyle/>
          <a:p>
            <a:pPr indent="0" marL="0">
              <a:spcAft>
                <a:spcPts val="400"/>
              </a:spcAft>
              <a:buNone/>
            </a:pPr>
            <a:r>
              <a:rPr lang="en-US" sz="1200" b="1" spc="100" kern="0" dirty="0">
                <a:solidFill>
                  <a:srgbClr val="BA4036"/>
                </a:solidFill>
                <a:latin typeface="Calibri" pitchFamily="34" charset="0"/>
                <a:ea typeface="Calibri" pitchFamily="34" charset="-122"/>
                <a:cs typeface="Calibri" pitchFamily="34" charset="-120"/>
              </a:rPr>
              <a:t>5 · FUENTES DE INGRESO</a:t>
            </a:r>
            <a:endParaRPr lang="en-US" sz="1200" dirty="0"/>
          </a:p>
          <a:p>
            <a:pPr indent="0" marL="0">
              <a:spcAft>
                <a:spcPts val="400"/>
              </a:spcAft>
              <a:buNone/>
            </a:pPr>
            <a:r>
              <a:rPr lang="en-US" sz="2000" dirty="0">
                <a:solidFill>
                  <a:srgbClr val="3B1A14"/>
                </a:solidFill>
                <a:latin typeface="Calibri" pitchFamily="34" charset="0"/>
                <a:ea typeface="Calibri" pitchFamily="34" charset="-122"/>
                <a:cs typeface="Calibri" pitchFamily="34" charset="-120"/>
              </a:rPr>
              <a:t>Pack de 6: S/27.90 en stand y S/26.90 por WhatsApp · año 1: S/244,728</a:t>
            </a:r>
            <a:endParaRPr lang="en-US" sz="1200" dirty="0"/>
          </a:p>
        </p:txBody>
      </p:sp>
      <p:sp>
        <p:nvSpPr>
          <p:cNvPr id="13" name="Text 11"/>
          <p:cNvSpPr txBox="1"/>
          <p:nvPr/>
        </p:nvSpPr>
        <p:spPr>
          <a:xfrm>
            <a:off x="548640" y="6144768"/>
            <a:ext cx="10698480" cy="274320"/>
          </a:xfrm>
          <a:prstGeom prst="rect">
            <a:avLst/>
          </a:prstGeom>
          <a:noFill/>
          <a:ln/>
        </p:spPr>
        <p:txBody>
          <a:bodyPr wrap="square" lIns="0" tIns="0" rIns="0" bIns="0" rtlCol="0" anchor="b"/>
          <a:lstStyle/>
          <a:p>
            <a:pPr indent="0" marL="0">
              <a:buNone/>
            </a:pPr>
            <a:r>
              <a:rPr lang="en-US" sz="1100" dirty="0">
                <a:solidFill>
                  <a:srgbClr val="6B3A2A"/>
                </a:solidFill>
              </a:rPr>
              <a:t>Fuente: T2_01 (Canvas del T1 con cifras del modelo v7) y HECHOS_v7. Ventas con IGV.</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COHERENCIA DEL CANVAS</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FBF3E8"/>
                </a:solidFill>
              </a:rPr>
              <a:t>La cadena cierra: del cliente al costo</a:t>
            </a:r>
            <a:endParaRPr lang="en-US" sz="4000" dirty="0"/>
          </a:p>
        </p:txBody>
      </p:sp>
      <p:sp>
        <p:nvSpPr>
          <p:cNvPr id="4" name="Shape 2"/>
          <p:cNvSpPr/>
          <p:nvPr/>
        </p:nvSpPr>
        <p:spPr>
          <a:xfrm>
            <a:off x="548640" y="1783080"/>
            <a:ext cx="2011680" cy="54864"/>
          </a:xfrm>
          <a:prstGeom prst="rect">
            <a:avLst/>
          </a:prstGeom>
          <a:solidFill>
            <a:srgbClr val="E3A33B"/>
          </a:solidFill>
          <a:ln w="12700">
            <a:solidFill>
              <a:srgbClr val="E3A33B"/>
            </a:solidFill>
            <a:prstDash val="solid"/>
          </a:ln>
        </p:spPr>
      </p:sp>
      <p:sp>
        <p:nvSpPr>
          <p:cNvPr id="5" name="Text 3"/>
          <p:cNvSpPr txBox="1"/>
          <p:nvPr/>
        </p:nvSpPr>
        <p:spPr>
          <a:xfrm>
            <a:off x="548640" y="1965960"/>
            <a:ext cx="2011680" cy="292608"/>
          </a:xfrm>
          <a:prstGeom prst="rect">
            <a:avLst/>
          </a:prstGeom>
          <a:noFill/>
          <a:ln/>
        </p:spPr>
        <p:txBody>
          <a:bodyPr wrap="square" lIns="0" tIns="0" rIns="0" bIns="0" rtlCol="0" anchor="t"/>
          <a:lstStyle/>
          <a:p>
            <a:pPr indent="0" marL="0">
              <a:buNone/>
            </a:pPr>
            <a:r>
              <a:rPr lang="en-US" sz="1400" b="1" spc="100" kern="0" dirty="0">
                <a:solidFill>
                  <a:srgbClr val="E3A33B"/>
                </a:solidFill>
              </a:rPr>
              <a:t>CLIENTE</a:t>
            </a:r>
            <a:endParaRPr lang="en-US" sz="1400" dirty="0"/>
          </a:p>
        </p:txBody>
      </p:sp>
      <p:sp>
        <p:nvSpPr>
          <p:cNvPr id="6" name="Text 4"/>
          <p:cNvSpPr txBox="1"/>
          <p:nvPr/>
        </p:nvSpPr>
        <p:spPr>
          <a:xfrm>
            <a:off x="548640" y="2286000"/>
            <a:ext cx="2103120" cy="777240"/>
          </a:xfrm>
          <a:prstGeom prst="rect">
            <a:avLst/>
          </a:prstGeom>
          <a:noFill/>
          <a:ln/>
        </p:spPr>
        <p:txBody>
          <a:bodyPr wrap="square" lIns="0" tIns="0" rIns="0" bIns="0" rtlCol="0" anchor="t"/>
          <a:lstStyle/>
          <a:p>
            <a:pPr indent="0" marL="0">
              <a:buNone/>
            </a:pPr>
            <a:r>
              <a:rPr lang="en-US" sz="4000" b="1" dirty="0">
                <a:solidFill>
                  <a:srgbClr val="FBF3E8"/>
                </a:solidFill>
              </a:rPr>
              <a:t>46,000</a:t>
            </a:r>
            <a:endParaRPr lang="en-US" sz="4000" dirty="0"/>
          </a:p>
        </p:txBody>
      </p:sp>
      <p:sp>
        <p:nvSpPr>
          <p:cNvPr id="7" name="Text 5"/>
          <p:cNvSpPr txBox="1"/>
          <p:nvPr/>
        </p:nvSpPr>
        <p:spPr>
          <a:xfrm>
            <a:off x="548640" y="3154680"/>
            <a:ext cx="2011680" cy="1554480"/>
          </a:xfrm>
          <a:prstGeom prst="rect">
            <a:avLst/>
          </a:prstGeom>
          <a:noFill/>
          <a:ln/>
        </p:spPr>
        <p:txBody>
          <a:bodyPr wrap="square" lIns="0" tIns="0" rIns="0" bIns="0" rtlCol="0" anchor="t"/>
          <a:lstStyle/>
          <a:p>
            <a:pPr indent="0" marL="0">
              <a:buNone/>
            </a:pPr>
            <a:r>
              <a:rPr lang="en-US" sz="2400" dirty="0">
                <a:solidFill>
                  <a:srgbClr val="D9B48F"/>
                </a:solidFill>
              </a:rPr>
              <a:t>hogares A/B núcleo</a:t>
            </a:r>
            <a:endParaRPr lang="en-US" sz="2400" dirty="0"/>
          </a:p>
        </p:txBody>
      </p:sp>
      <p:sp>
        <p:nvSpPr>
          <p:cNvPr id="8" name="Shape 6"/>
          <p:cNvSpPr/>
          <p:nvPr/>
        </p:nvSpPr>
        <p:spPr>
          <a:xfrm>
            <a:off x="2606040" y="1682496"/>
            <a:ext cx="164592" cy="256032"/>
          </a:xfrm>
          <a:prstGeom prst="chevron">
            <a:avLst/>
          </a:prstGeom>
          <a:solidFill>
            <a:srgbClr val="E3A33B"/>
          </a:solidFill>
          <a:ln w="12700">
            <a:solidFill>
              <a:srgbClr val="E3A33B"/>
            </a:solidFill>
            <a:prstDash val="solid"/>
          </a:ln>
        </p:spPr>
      </p:sp>
      <p:sp>
        <p:nvSpPr>
          <p:cNvPr id="9" name="Shape 7"/>
          <p:cNvSpPr/>
          <p:nvPr/>
        </p:nvSpPr>
        <p:spPr>
          <a:xfrm>
            <a:off x="2818638" y="1783080"/>
            <a:ext cx="2011680" cy="54864"/>
          </a:xfrm>
          <a:prstGeom prst="rect">
            <a:avLst/>
          </a:prstGeom>
          <a:solidFill>
            <a:srgbClr val="E3A33B"/>
          </a:solidFill>
          <a:ln w="12700">
            <a:solidFill>
              <a:srgbClr val="E3A33B"/>
            </a:solidFill>
            <a:prstDash val="solid"/>
          </a:ln>
        </p:spPr>
      </p:sp>
      <p:sp>
        <p:nvSpPr>
          <p:cNvPr id="10" name="Text 8"/>
          <p:cNvSpPr txBox="1"/>
          <p:nvPr/>
        </p:nvSpPr>
        <p:spPr>
          <a:xfrm>
            <a:off x="2818638" y="1965960"/>
            <a:ext cx="2011680" cy="292608"/>
          </a:xfrm>
          <a:prstGeom prst="rect">
            <a:avLst/>
          </a:prstGeom>
          <a:noFill/>
          <a:ln/>
        </p:spPr>
        <p:txBody>
          <a:bodyPr wrap="square" lIns="0" tIns="0" rIns="0" bIns="0" rtlCol="0" anchor="t"/>
          <a:lstStyle/>
          <a:p>
            <a:pPr indent="0" marL="0">
              <a:buNone/>
            </a:pPr>
            <a:r>
              <a:rPr lang="en-US" sz="1400" b="1" spc="100" kern="0" dirty="0">
                <a:solidFill>
                  <a:srgbClr val="E3A33B"/>
                </a:solidFill>
              </a:rPr>
              <a:t>PROPUESTA</a:t>
            </a:r>
            <a:endParaRPr lang="en-US" sz="1400" dirty="0"/>
          </a:p>
        </p:txBody>
      </p:sp>
      <p:sp>
        <p:nvSpPr>
          <p:cNvPr id="11" name="Text 9"/>
          <p:cNvSpPr txBox="1"/>
          <p:nvPr/>
        </p:nvSpPr>
        <p:spPr>
          <a:xfrm>
            <a:off x="2818638" y="2286000"/>
            <a:ext cx="2103120" cy="777240"/>
          </a:xfrm>
          <a:prstGeom prst="rect">
            <a:avLst/>
          </a:prstGeom>
          <a:noFill/>
          <a:ln/>
        </p:spPr>
        <p:txBody>
          <a:bodyPr wrap="square" lIns="0" tIns="0" rIns="0" bIns="0" rtlCol="0" anchor="t"/>
          <a:lstStyle/>
          <a:p>
            <a:pPr indent="0" marL="0">
              <a:buNone/>
            </a:pPr>
            <a:r>
              <a:rPr lang="en-US" sz="4000" b="1" dirty="0">
                <a:solidFill>
                  <a:srgbClr val="FBF3E8"/>
                </a:solidFill>
              </a:rPr>
              <a:t>Medido</a:t>
            </a:r>
            <a:endParaRPr lang="en-US" sz="4000" dirty="0"/>
          </a:p>
        </p:txBody>
      </p:sp>
      <p:sp>
        <p:nvSpPr>
          <p:cNvPr id="12" name="Text 10"/>
          <p:cNvSpPr txBox="1"/>
          <p:nvPr/>
        </p:nvSpPr>
        <p:spPr>
          <a:xfrm>
            <a:off x="2818638" y="3154680"/>
            <a:ext cx="2011680" cy="1554480"/>
          </a:xfrm>
          <a:prstGeom prst="rect">
            <a:avLst/>
          </a:prstGeom>
          <a:noFill/>
          <a:ln/>
        </p:spPr>
        <p:txBody>
          <a:bodyPr wrap="square" lIns="0" tIns="0" rIns="0" bIns="0" rtlCol="0" anchor="t"/>
          <a:lstStyle/>
          <a:p>
            <a:pPr indent="0" marL="0">
              <a:buNone/>
            </a:pPr>
            <a:r>
              <a:rPr lang="en-US" sz="2400" dirty="0">
                <a:solidFill>
                  <a:srgbClr val="D9B48F"/>
                </a:solidFill>
              </a:rPr>
              <a:t>hierro por lote, visible en la app</a:t>
            </a:r>
            <a:endParaRPr lang="en-US" sz="2400" dirty="0"/>
          </a:p>
        </p:txBody>
      </p:sp>
      <p:sp>
        <p:nvSpPr>
          <p:cNvPr id="13" name="Shape 11"/>
          <p:cNvSpPr/>
          <p:nvPr/>
        </p:nvSpPr>
        <p:spPr>
          <a:xfrm>
            <a:off x="4876038" y="1682496"/>
            <a:ext cx="164592" cy="256032"/>
          </a:xfrm>
          <a:prstGeom prst="chevron">
            <a:avLst/>
          </a:prstGeom>
          <a:solidFill>
            <a:srgbClr val="E3A33B"/>
          </a:solidFill>
          <a:ln w="12700">
            <a:solidFill>
              <a:srgbClr val="E3A33B"/>
            </a:solidFill>
            <a:prstDash val="solid"/>
          </a:ln>
        </p:spPr>
      </p:sp>
      <p:sp>
        <p:nvSpPr>
          <p:cNvPr id="14" name="Shape 12"/>
          <p:cNvSpPr/>
          <p:nvPr/>
        </p:nvSpPr>
        <p:spPr>
          <a:xfrm>
            <a:off x="5088636" y="1783080"/>
            <a:ext cx="2011680" cy="54864"/>
          </a:xfrm>
          <a:prstGeom prst="rect">
            <a:avLst/>
          </a:prstGeom>
          <a:solidFill>
            <a:srgbClr val="E3A33B"/>
          </a:solidFill>
          <a:ln w="12700">
            <a:solidFill>
              <a:srgbClr val="E3A33B"/>
            </a:solidFill>
            <a:prstDash val="solid"/>
          </a:ln>
        </p:spPr>
      </p:sp>
      <p:sp>
        <p:nvSpPr>
          <p:cNvPr id="15" name="Text 13"/>
          <p:cNvSpPr txBox="1"/>
          <p:nvPr/>
        </p:nvSpPr>
        <p:spPr>
          <a:xfrm>
            <a:off x="5088636" y="1965960"/>
            <a:ext cx="2011680" cy="292608"/>
          </a:xfrm>
          <a:prstGeom prst="rect">
            <a:avLst/>
          </a:prstGeom>
          <a:noFill/>
          <a:ln/>
        </p:spPr>
        <p:txBody>
          <a:bodyPr wrap="square" lIns="0" tIns="0" rIns="0" bIns="0" rtlCol="0" anchor="t"/>
          <a:lstStyle/>
          <a:p>
            <a:pPr indent="0" marL="0">
              <a:buNone/>
            </a:pPr>
            <a:r>
              <a:rPr lang="en-US" sz="1400" b="1" spc="100" kern="0" dirty="0">
                <a:solidFill>
                  <a:srgbClr val="E3A33B"/>
                </a:solidFill>
              </a:rPr>
              <a:t>CANAL</a:t>
            </a:r>
            <a:endParaRPr lang="en-US" sz="1400" dirty="0"/>
          </a:p>
        </p:txBody>
      </p:sp>
      <p:sp>
        <p:nvSpPr>
          <p:cNvPr id="16" name="Text 14"/>
          <p:cNvSpPr txBox="1"/>
          <p:nvPr/>
        </p:nvSpPr>
        <p:spPr>
          <a:xfrm>
            <a:off x="5088636" y="2286000"/>
            <a:ext cx="2103120" cy="777240"/>
          </a:xfrm>
          <a:prstGeom prst="rect">
            <a:avLst/>
          </a:prstGeom>
          <a:noFill/>
          <a:ln/>
        </p:spPr>
        <p:txBody>
          <a:bodyPr wrap="square" lIns="0" tIns="0" rIns="0" bIns="0" rtlCol="0" anchor="t"/>
          <a:lstStyle/>
          <a:p>
            <a:pPr indent="0" marL="0">
              <a:buNone/>
            </a:pPr>
            <a:r>
              <a:rPr lang="en-US" sz="4000" b="1" dirty="0">
                <a:solidFill>
                  <a:srgbClr val="FBF3E8"/>
                </a:solidFill>
              </a:rPr>
              <a:t>43 %</a:t>
            </a:r>
            <a:endParaRPr lang="en-US" sz="4000" dirty="0"/>
          </a:p>
        </p:txBody>
      </p:sp>
      <p:sp>
        <p:nvSpPr>
          <p:cNvPr id="17" name="Text 15"/>
          <p:cNvSpPr txBox="1"/>
          <p:nvPr/>
        </p:nvSpPr>
        <p:spPr>
          <a:xfrm>
            <a:off x="5088636" y="3154680"/>
            <a:ext cx="2011680" cy="1554480"/>
          </a:xfrm>
          <a:prstGeom prst="rect">
            <a:avLst/>
          </a:prstGeom>
          <a:noFill/>
          <a:ln/>
        </p:spPr>
        <p:txBody>
          <a:bodyPr wrap="square" lIns="0" tIns="0" rIns="0" bIns="0" rtlCol="0" anchor="t"/>
          <a:lstStyle/>
          <a:p>
            <a:pPr indent="0" marL="0">
              <a:buNone/>
            </a:pPr>
            <a:r>
              <a:rPr lang="en-US" sz="2400" dirty="0">
                <a:solidFill>
                  <a:srgbClr val="D9B48F"/>
                </a:solidFill>
              </a:rPr>
              <a:t>en stands, donde el niño prueba</a:t>
            </a:r>
            <a:endParaRPr lang="en-US" sz="2400" dirty="0"/>
          </a:p>
        </p:txBody>
      </p:sp>
      <p:sp>
        <p:nvSpPr>
          <p:cNvPr id="18" name="Shape 16"/>
          <p:cNvSpPr/>
          <p:nvPr/>
        </p:nvSpPr>
        <p:spPr>
          <a:xfrm>
            <a:off x="7146036" y="1682496"/>
            <a:ext cx="164592" cy="256032"/>
          </a:xfrm>
          <a:prstGeom prst="chevron">
            <a:avLst/>
          </a:prstGeom>
          <a:solidFill>
            <a:srgbClr val="E3A33B"/>
          </a:solidFill>
          <a:ln w="12700">
            <a:solidFill>
              <a:srgbClr val="E3A33B"/>
            </a:solidFill>
            <a:prstDash val="solid"/>
          </a:ln>
        </p:spPr>
      </p:sp>
      <p:sp>
        <p:nvSpPr>
          <p:cNvPr id="19" name="Shape 17"/>
          <p:cNvSpPr/>
          <p:nvPr/>
        </p:nvSpPr>
        <p:spPr>
          <a:xfrm>
            <a:off x="7358634" y="1783080"/>
            <a:ext cx="2011680" cy="54864"/>
          </a:xfrm>
          <a:prstGeom prst="rect">
            <a:avLst/>
          </a:prstGeom>
          <a:solidFill>
            <a:srgbClr val="E3A33B"/>
          </a:solidFill>
          <a:ln w="12700">
            <a:solidFill>
              <a:srgbClr val="E3A33B"/>
            </a:solidFill>
            <a:prstDash val="solid"/>
          </a:ln>
        </p:spPr>
      </p:sp>
      <p:sp>
        <p:nvSpPr>
          <p:cNvPr id="20" name="Text 18"/>
          <p:cNvSpPr txBox="1"/>
          <p:nvPr/>
        </p:nvSpPr>
        <p:spPr>
          <a:xfrm>
            <a:off x="7358634" y="1965960"/>
            <a:ext cx="2011680" cy="292608"/>
          </a:xfrm>
          <a:prstGeom prst="rect">
            <a:avLst/>
          </a:prstGeom>
          <a:noFill/>
          <a:ln/>
        </p:spPr>
        <p:txBody>
          <a:bodyPr wrap="square" lIns="0" tIns="0" rIns="0" bIns="0" rtlCol="0" anchor="t"/>
          <a:lstStyle/>
          <a:p>
            <a:pPr indent="0" marL="0">
              <a:buNone/>
            </a:pPr>
            <a:r>
              <a:rPr lang="en-US" sz="1400" b="1" spc="100" kern="0" dirty="0">
                <a:solidFill>
                  <a:srgbClr val="E3A33B"/>
                </a:solidFill>
              </a:rPr>
              <a:t>INGRESO</a:t>
            </a:r>
            <a:endParaRPr lang="en-US" sz="1400" dirty="0"/>
          </a:p>
        </p:txBody>
      </p:sp>
      <p:sp>
        <p:nvSpPr>
          <p:cNvPr id="21" name="Text 19"/>
          <p:cNvSpPr txBox="1"/>
          <p:nvPr/>
        </p:nvSpPr>
        <p:spPr>
          <a:xfrm>
            <a:off x="7358634" y="2286000"/>
            <a:ext cx="2103120" cy="777240"/>
          </a:xfrm>
          <a:prstGeom prst="rect">
            <a:avLst/>
          </a:prstGeom>
          <a:noFill/>
          <a:ln/>
        </p:spPr>
        <p:txBody>
          <a:bodyPr wrap="square" lIns="0" tIns="0" rIns="0" bIns="0" rtlCol="0" anchor="t"/>
          <a:lstStyle/>
          <a:p>
            <a:pPr indent="0" marL="0">
              <a:buNone/>
            </a:pPr>
            <a:r>
              <a:rPr lang="en-US" sz="4000" b="1" dirty="0">
                <a:solidFill>
                  <a:srgbClr val="FBF3E8"/>
                </a:solidFill>
              </a:rPr>
              <a:t>S/4.48</a:t>
            </a:r>
            <a:endParaRPr lang="en-US" sz="4000" dirty="0"/>
          </a:p>
        </p:txBody>
      </p:sp>
      <p:sp>
        <p:nvSpPr>
          <p:cNvPr id="22" name="Text 20"/>
          <p:cNvSpPr txBox="1"/>
          <p:nvPr/>
        </p:nvSpPr>
        <p:spPr>
          <a:xfrm>
            <a:off x="7358634" y="3154680"/>
            <a:ext cx="2011680" cy="1554480"/>
          </a:xfrm>
          <a:prstGeom prst="rect">
            <a:avLst/>
          </a:prstGeom>
          <a:noFill/>
          <a:ln/>
        </p:spPr>
        <p:txBody>
          <a:bodyPr wrap="square" lIns="0" tIns="0" rIns="0" bIns="0" rtlCol="0" anchor="t"/>
          <a:lstStyle/>
          <a:p>
            <a:pPr indent="0" marL="0">
              <a:buNone/>
            </a:pPr>
            <a:r>
              <a:rPr lang="en-US" sz="2400" dirty="0">
                <a:solidFill>
                  <a:srgbClr val="D9B48F"/>
                </a:solidFill>
              </a:rPr>
              <a:t>por brownie; 35 % vuelve por WhatsApp</a:t>
            </a:r>
            <a:endParaRPr lang="en-US" sz="2400" dirty="0"/>
          </a:p>
        </p:txBody>
      </p:sp>
      <p:sp>
        <p:nvSpPr>
          <p:cNvPr id="23" name="Shape 21"/>
          <p:cNvSpPr/>
          <p:nvPr/>
        </p:nvSpPr>
        <p:spPr>
          <a:xfrm>
            <a:off x="9416034" y="1682496"/>
            <a:ext cx="164592" cy="256032"/>
          </a:xfrm>
          <a:prstGeom prst="chevron">
            <a:avLst/>
          </a:prstGeom>
          <a:solidFill>
            <a:srgbClr val="E3A33B"/>
          </a:solidFill>
          <a:ln w="12700">
            <a:solidFill>
              <a:srgbClr val="E3A33B"/>
            </a:solidFill>
            <a:prstDash val="solid"/>
          </a:ln>
        </p:spPr>
      </p:sp>
      <p:sp>
        <p:nvSpPr>
          <p:cNvPr id="24" name="Shape 22"/>
          <p:cNvSpPr/>
          <p:nvPr/>
        </p:nvSpPr>
        <p:spPr>
          <a:xfrm>
            <a:off x="9628632" y="1783080"/>
            <a:ext cx="2011680" cy="54864"/>
          </a:xfrm>
          <a:prstGeom prst="rect">
            <a:avLst/>
          </a:prstGeom>
          <a:solidFill>
            <a:srgbClr val="E3A33B"/>
          </a:solidFill>
          <a:ln w="12700">
            <a:solidFill>
              <a:srgbClr val="E3A33B"/>
            </a:solidFill>
            <a:prstDash val="solid"/>
          </a:ln>
        </p:spPr>
      </p:sp>
      <p:sp>
        <p:nvSpPr>
          <p:cNvPr id="25" name="Text 23"/>
          <p:cNvSpPr txBox="1"/>
          <p:nvPr/>
        </p:nvSpPr>
        <p:spPr>
          <a:xfrm>
            <a:off x="9628632" y="1965960"/>
            <a:ext cx="2011680" cy="292608"/>
          </a:xfrm>
          <a:prstGeom prst="rect">
            <a:avLst/>
          </a:prstGeom>
          <a:noFill/>
          <a:ln/>
        </p:spPr>
        <p:txBody>
          <a:bodyPr wrap="square" lIns="0" tIns="0" rIns="0" bIns="0" rtlCol="0" anchor="t"/>
          <a:lstStyle/>
          <a:p>
            <a:pPr indent="0" marL="0">
              <a:buNone/>
            </a:pPr>
            <a:r>
              <a:rPr lang="en-US" sz="1400" b="1" spc="100" kern="0" dirty="0">
                <a:solidFill>
                  <a:srgbClr val="E3A33B"/>
                </a:solidFill>
              </a:rPr>
              <a:t>COSTO</a:t>
            </a:r>
            <a:endParaRPr lang="en-US" sz="1400" dirty="0"/>
          </a:p>
        </p:txBody>
      </p:sp>
      <p:sp>
        <p:nvSpPr>
          <p:cNvPr id="26" name="Text 24"/>
          <p:cNvSpPr txBox="1"/>
          <p:nvPr/>
        </p:nvSpPr>
        <p:spPr>
          <a:xfrm>
            <a:off x="9628632" y="2286000"/>
            <a:ext cx="2103120" cy="777240"/>
          </a:xfrm>
          <a:prstGeom prst="rect">
            <a:avLst/>
          </a:prstGeom>
          <a:noFill/>
          <a:ln/>
        </p:spPr>
        <p:txBody>
          <a:bodyPr wrap="square" lIns="0" tIns="0" rIns="0" bIns="0" rtlCol="0" anchor="t"/>
          <a:lstStyle/>
          <a:p>
            <a:pPr indent="0" marL="0">
              <a:buNone/>
            </a:pPr>
            <a:r>
              <a:rPr lang="en-US" sz="3600" b="1" dirty="0">
                <a:solidFill>
                  <a:srgbClr val="FBF3E8"/>
                </a:solidFill>
              </a:rPr>
              <a:t>58 a 66 %</a:t>
            </a:r>
            <a:endParaRPr lang="en-US" sz="3600" dirty="0"/>
          </a:p>
        </p:txBody>
      </p:sp>
      <p:sp>
        <p:nvSpPr>
          <p:cNvPr id="27" name="Text 25"/>
          <p:cNvSpPr txBox="1"/>
          <p:nvPr/>
        </p:nvSpPr>
        <p:spPr>
          <a:xfrm>
            <a:off x="9628632" y="3154680"/>
            <a:ext cx="2011680" cy="1554480"/>
          </a:xfrm>
          <a:prstGeom prst="rect">
            <a:avLst/>
          </a:prstGeom>
          <a:noFill/>
          <a:ln/>
        </p:spPr>
        <p:txBody>
          <a:bodyPr wrap="square" lIns="0" tIns="0" rIns="0" bIns="0" rtlCol="0" anchor="t"/>
          <a:lstStyle/>
          <a:p>
            <a:pPr indent="0" marL="0">
              <a:buNone/>
            </a:pPr>
            <a:r>
              <a:rPr lang="en-US" sz="2400" dirty="0">
                <a:solidFill>
                  <a:srgbClr val="D9B48F"/>
                </a:solidFill>
              </a:rPr>
              <a:t>de margen bruto en el stand</a:t>
            </a:r>
            <a:endParaRPr lang="en-US" sz="2400" dirty="0"/>
          </a:p>
        </p:txBody>
      </p:sp>
      <p:sp>
        <p:nvSpPr>
          <p:cNvPr id="28" name="Text 26"/>
          <p:cNvSpPr/>
          <p:nvPr/>
        </p:nvSpPr>
        <p:spPr>
          <a:xfrm>
            <a:off x="548640" y="4983480"/>
            <a:ext cx="11091672" cy="731520"/>
          </a:xfrm>
          <a:prstGeom prst="roundRect">
            <a:avLst>
              <a:gd name="adj" fmla="val 50000"/>
            </a:avLst>
          </a:prstGeom>
          <a:solidFill>
            <a:srgbClr val="6B3A2A"/>
          </a:solidFill>
          <a:ln>
            <a:solidFill>
              <a:srgbClr val="6B3A2A"/>
            </a:solidFill>
          </a:ln>
        </p:spPr>
        <p:txBody>
          <a:bodyPr wrap="square" lIns="152400" tIns="152400" rIns="152400" bIns="152400" rtlCol="0" anchor="ctr"/>
          <a:lstStyle/>
          <a:p>
            <a:pPr algn="ctr" indent="0" marL="0">
              <a:buNone/>
            </a:pPr>
            <a:r>
              <a:rPr lang="en-US" sz="2400" b="1" dirty="0">
                <a:solidFill>
                  <a:srgbClr val="FBF3E8"/>
                </a:solidFill>
                <a:latin typeface="Calibri" pitchFamily="34" charset="0"/>
                <a:ea typeface="Calibri" pitchFamily="34" charset="-122"/>
                <a:cs typeface="Calibri" pitchFamily="34" charset="-120"/>
              </a:rPr>
              <a:t>Todo con S/24,544 de marketing en 15 meses: S/0.44 por brownie.</a:t>
            </a:r>
            <a:endParaRPr lang="en-US" sz="2400" dirty="0"/>
          </a:p>
        </p:txBody>
      </p:sp>
      <p:sp>
        <p:nvSpPr>
          <p:cNvPr id="29" name="Text 27"/>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D9B48F"/>
                </a:solidFill>
              </a:rPr>
              <a:t>Fuente: HECHOS_v7 y Excel v7: S/4.48 = pack de 6 por WhatsApp (S/26.90 ÷ 6); costo S/1.64 por brownie; margen bruto en stand; T2_17 (presupuesto de marketing, oct-2026 a dic-2027).</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548640"/>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PROPUESTA DE VALOR</a:t>
            </a:r>
            <a:endParaRPr lang="en-US" sz="1400" dirty="0"/>
          </a:p>
        </p:txBody>
      </p:sp>
      <p:sp>
        <p:nvSpPr>
          <p:cNvPr id="3" name="Text 1"/>
          <p:cNvSpPr txBox="1"/>
          <p:nvPr/>
        </p:nvSpPr>
        <p:spPr>
          <a:xfrm>
            <a:off x="548640" y="868680"/>
            <a:ext cx="6583680" cy="2011680"/>
          </a:xfrm>
          <a:prstGeom prst="rect">
            <a:avLst/>
          </a:prstGeom>
          <a:noFill/>
          <a:ln/>
        </p:spPr>
        <p:txBody>
          <a:bodyPr wrap="square" lIns="0" tIns="0" rIns="0" bIns="0" rtlCol="0" anchor="t"/>
          <a:lstStyle/>
          <a:p>
            <a:pPr indent="0" marL="0">
              <a:buNone/>
            </a:pPr>
            <a:r>
              <a:rPr lang="en-US" sz="4000" b="1" dirty="0">
                <a:solidFill>
                  <a:srgbClr val="4A2018"/>
                </a:solidFill>
              </a:rPr>
              <a:t>“Él ve un brownie. Tú ves el hierro medido de su lote.”</a:t>
            </a:r>
            <a:endParaRPr lang="en-US" sz="4000" dirty="0"/>
          </a:p>
        </p:txBody>
      </p:sp>
      <p:sp>
        <p:nvSpPr>
          <p:cNvPr id="4" name="Shape 2"/>
          <p:cNvSpPr/>
          <p:nvPr/>
        </p:nvSpPr>
        <p:spPr>
          <a:xfrm>
            <a:off x="548640" y="3154680"/>
            <a:ext cx="685800" cy="685800"/>
          </a:xfrm>
          <a:prstGeom prst="ellipse">
            <a:avLst/>
          </a:prstGeom>
          <a:solidFill>
            <a:srgbClr val="BA4036"/>
          </a:solidFill>
          <a:ln w="12700">
            <a:solidFill>
              <a:srgbClr val="BA4036"/>
            </a:solidFill>
            <a:prstDash val="solid"/>
          </a:ln>
        </p:spPr>
      </p:sp>
      <p:pic>
        <p:nvPicPr>
          <p:cNvPr id="5" name="Image 0" descr="preencoded.png">    </p:cNvPr>
          <p:cNvPicPr>
            <a:picLocks noChangeAspect="1"/>
          </p:cNvPicPr>
          <p:nvPr/>
        </p:nvPicPr>
        <p:blipFill>
          <a:blip r:embed="rId1"/>
          <a:stretch>
            <a:fillRect/>
          </a:stretch>
        </p:blipFill>
        <p:spPr>
          <a:xfrm>
            <a:off x="713232" y="3319272"/>
            <a:ext cx="356616" cy="356616"/>
          </a:xfrm>
          <a:prstGeom prst="rect">
            <a:avLst/>
          </a:prstGeom>
        </p:spPr>
      </p:pic>
      <p:sp>
        <p:nvSpPr>
          <p:cNvPr id="6" name="Text 3"/>
          <p:cNvSpPr txBox="1"/>
          <p:nvPr/>
        </p:nvSpPr>
        <p:spPr>
          <a:xfrm>
            <a:off x="1463040" y="3154680"/>
            <a:ext cx="5669280" cy="685800"/>
          </a:xfrm>
          <a:prstGeom prst="rect">
            <a:avLst/>
          </a:prstGeom>
          <a:noFill/>
          <a:ln/>
        </p:spPr>
        <p:txBody>
          <a:bodyPr wrap="square" lIns="0" tIns="0" rIns="0" bIns="0" rtlCol="0" anchor="ctr"/>
          <a:lstStyle/>
          <a:p>
            <a:pPr indent="0" marL="0">
              <a:buNone/>
            </a:pPr>
            <a:r>
              <a:rPr lang="en-US" sz="2400" dirty="0">
                <a:solidFill>
                  <a:srgbClr val="3B1A14"/>
                </a:solidFill>
              </a:rPr>
              <a:t>Hierro medido por lote y publicado en la app</a:t>
            </a:r>
            <a:endParaRPr lang="en-US" sz="2400" dirty="0"/>
          </a:p>
        </p:txBody>
      </p:sp>
      <p:sp>
        <p:nvSpPr>
          <p:cNvPr id="7" name="Shape 4"/>
          <p:cNvSpPr/>
          <p:nvPr/>
        </p:nvSpPr>
        <p:spPr>
          <a:xfrm>
            <a:off x="548640" y="4069080"/>
            <a:ext cx="685800" cy="685800"/>
          </a:xfrm>
          <a:prstGeom prst="ellipse">
            <a:avLst/>
          </a:prstGeom>
          <a:solidFill>
            <a:srgbClr val="BA4036"/>
          </a:solidFill>
          <a:ln w="12700">
            <a:solidFill>
              <a:srgbClr val="BA4036"/>
            </a:solidFill>
            <a:prstDash val="solid"/>
          </a:ln>
        </p:spPr>
      </p:sp>
      <p:pic>
        <p:nvPicPr>
          <p:cNvPr id="8" name="Image 1" descr="preencoded.png">    </p:cNvPr>
          <p:cNvPicPr>
            <a:picLocks noChangeAspect="1"/>
          </p:cNvPicPr>
          <p:nvPr/>
        </p:nvPicPr>
        <p:blipFill>
          <a:blip r:embed="rId2"/>
          <a:stretch>
            <a:fillRect/>
          </a:stretch>
        </p:blipFill>
        <p:spPr>
          <a:xfrm>
            <a:off x="713232" y="4233672"/>
            <a:ext cx="356616" cy="356616"/>
          </a:xfrm>
          <a:prstGeom prst="rect">
            <a:avLst/>
          </a:prstGeom>
        </p:spPr>
      </p:pic>
      <p:sp>
        <p:nvSpPr>
          <p:cNvPr id="9" name="Text 5"/>
          <p:cNvSpPr txBox="1"/>
          <p:nvPr/>
        </p:nvSpPr>
        <p:spPr>
          <a:xfrm>
            <a:off x="1463040" y="4069080"/>
            <a:ext cx="5669280" cy="685800"/>
          </a:xfrm>
          <a:prstGeom prst="rect">
            <a:avLst/>
          </a:prstGeom>
          <a:noFill/>
          <a:ln/>
        </p:spPr>
        <p:txBody>
          <a:bodyPr wrap="square" lIns="0" tIns="0" rIns="0" bIns="0" rtlCol="0" anchor="ctr"/>
          <a:lstStyle/>
          <a:p>
            <a:pPr indent="0" marL="0">
              <a:buNone/>
            </a:pPr>
            <a:r>
              <a:rPr lang="en-US" sz="2400" dirty="0">
                <a:solidFill>
                  <a:srgbClr val="3B1A14"/>
                </a:solidFill>
              </a:rPr>
              <a:t>Un formato que el niño ya pide</a:t>
            </a:r>
            <a:endParaRPr lang="en-US" sz="2400" dirty="0"/>
          </a:p>
        </p:txBody>
      </p:sp>
      <p:sp>
        <p:nvSpPr>
          <p:cNvPr id="10" name="Shape 6"/>
          <p:cNvSpPr/>
          <p:nvPr/>
        </p:nvSpPr>
        <p:spPr>
          <a:xfrm>
            <a:off x="548640" y="4983480"/>
            <a:ext cx="685800" cy="685800"/>
          </a:xfrm>
          <a:prstGeom prst="ellipse">
            <a:avLst/>
          </a:prstGeom>
          <a:solidFill>
            <a:srgbClr val="BA4036"/>
          </a:solidFill>
          <a:ln w="12700">
            <a:solidFill>
              <a:srgbClr val="BA4036"/>
            </a:solidFill>
            <a:prstDash val="solid"/>
          </a:ln>
        </p:spPr>
      </p:sp>
      <p:pic>
        <p:nvPicPr>
          <p:cNvPr id="11" name="Image 2" descr="preencoded.png">    </p:cNvPr>
          <p:cNvPicPr>
            <a:picLocks noChangeAspect="1"/>
          </p:cNvPicPr>
          <p:nvPr/>
        </p:nvPicPr>
        <p:blipFill>
          <a:blip r:embed="rId3"/>
          <a:stretch>
            <a:fillRect/>
          </a:stretch>
        </p:blipFill>
        <p:spPr>
          <a:xfrm>
            <a:off x="713232" y="5148072"/>
            <a:ext cx="356616" cy="356616"/>
          </a:xfrm>
          <a:prstGeom prst="rect">
            <a:avLst/>
          </a:prstGeom>
        </p:spPr>
      </p:pic>
      <p:sp>
        <p:nvSpPr>
          <p:cNvPr id="12" name="Text 7"/>
          <p:cNvSpPr txBox="1"/>
          <p:nvPr/>
        </p:nvSpPr>
        <p:spPr>
          <a:xfrm>
            <a:off x="1463040" y="4983480"/>
            <a:ext cx="5669280" cy="685800"/>
          </a:xfrm>
          <a:prstGeom prst="rect">
            <a:avLst/>
          </a:prstGeom>
          <a:noFill/>
          <a:ln/>
        </p:spPr>
        <p:txBody>
          <a:bodyPr wrap="square" lIns="0" tIns="0" rIns="0" bIns="0" rtlCol="0" anchor="ctr"/>
          <a:lstStyle/>
          <a:p>
            <a:pPr indent="0" marL="0">
              <a:buNone/>
            </a:pPr>
            <a:r>
              <a:rPr lang="en-US" sz="2400" dirty="0">
                <a:solidFill>
                  <a:srgbClr val="3B1A14"/>
                </a:solidFill>
              </a:rPr>
              <a:t>Se prueba en el stand antes de comprar</a:t>
            </a:r>
            <a:endParaRPr lang="en-US" sz="2400" dirty="0"/>
          </a:p>
        </p:txBody>
      </p:sp>
      <p:sp>
        <p:nvSpPr>
          <p:cNvPr id="13" name="Text 8"/>
          <p:cNvSpPr txBox="1"/>
          <p:nvPr/>
        </p:nvSpPr>
        <p:spPr>
          <a:xfrm>
            <a:off x="548640" y="6053328"/>
            <a:ext cx="6583680" cy="457200"/>
          </a:xfrm>
          <a:prstGeom prst="rect">
            <a:avLst/>
          </a:prstGeom>
          <a:noFill/>
          <a:ln/>
        </p:spPr>
        <p:txBody>
          <a:bodyPr wrap="square" lIns="0" tIns="0" rIns="0" bIns="0" rtlCol="0" anchor="b"/>
          <a:lstStyle/>
          <a:p>
            <a:pPr indent="0" marL="0">
              <a:buNone/>
            </a:pPr>
            <a:r>
              <a:rPr lang="en-US" sz="1100" dirty="0">
                <a:solidFill>
                  <a:srgbClr val="6B3A2A"/>
                </a:solidFill>
              </a:rPr>
              <a:t>Fuente: T2_10 (diferenciación) y documento 10 (mensaje al padre A). El hierro por brownie (unos 1.9 mg) está [POR CONFIRMAR en laboratorio].</a:t>
            </a:r>
            <a:endParaRPr lang="en-US" sz="1100" dirty="0"/>
          </a:p>
        </p:txBody>
      </p:sp>
      <p:sp>
        <p:nvSpPr>
          <p:cNvPr id="14" name="IMAGEN_2"/>
          <p:cNvSpPr/>
          <p:nvPr/>
        </p:nvSpPr>
        <p:spPr>
          <a:xfrm>
            <a:off x="7498080" y="0"/>
            <a:ext cx="4693615" cy="6858000"/>
          </a:xfrm>
          <a:prstGeom prst="rect">
            <a:avLst>
              <a:gd name="adj" fmla="val 2922"/>
            </a:avLst>
          </a:prstGeom>
          <a:solidFill>
            <a:srgbClr val="F0E2CF"/>
          </a:solidFill>
          <a:ln w="19050">
            <a:solidFill>
              <a:srgbClr val="D9B48F"/>
            </a:solidFill>
            <a:prstDash val="dash"/>
          </a:ln>
        </p:spPr>
      </p:sp>
      <p:pic>
        <p:nvPicPr>
          <p:cNvPr id="15" name="Image 3" descr="preencoded.png">    </p:cNvPr>
          <p:cNvPicPr>
            <a:picLocks noChangeAspect="1"/>
          </p:cNvPicPr>
          <p:nvPr/>
        </p:nvPicPr>
        <p:blipFill>
          <a:blip r:embed="rId4"/>
          <a:stretch>
            <a:fillRect/>
          </a:stretch>
        </p:blipFill>
        <p:spPr>
          <a:xfrm>
            <a:off x="9524848" y="2560320"/>
            <a:ext cx="640080" cy="640080"/>
          </a:xfrm>
          <a:prstGeom prst="rect">
            <a:avLst/>
          </a:prstGeom>
        </p:spPr>
      </p:pic>
      <p:sp>
        <p:nvSpPr>
          <p:cNvPr id="16" name="Text 10"/>
          <p:cNvSpPr txBox="1"/>
          <p:nvPr/>
        </p:nvSpPr>
        <p:spPr>
          <a:xfrm>
            <a:off x="7726680" y="3337560"/>
            <a:ext cx="4236415" cy="1005840"/>
          </a:xfrm>
          <a:prstGeom prst="rect">
            <a:avLst/>
          </a:prstGeom>
          <a:noFill/>
          <a:ln/>
        </p:spPr>
        <p:txBody>
          <a:bodyPr wrap="square" lIns="0" tIns="0" rIns="0" bIns="0" rtlCol="0" anchor="t"/>
          <a:lstStyle/>
          <a:p>
            <a:pPr algn="ctr" indent="0" marL="0">
              <a:buNone/>
            </a:pPr>
            <a:r>
              <a:rPr lang="en-US" sz="2000" b="1" dirty="0">
                <a:solidFill>
                  <a:srgbClr val="6B3A2A"/>
                </a:solidFill>
              </a:rPr>
              <a:t>IMAGEN 2</a:t>
            </a:r>
            <a:endParaRPr lang="en-US" sz="1400" dirty="0"/>
          </a:p>
          <a:p>
            <a:pPr algn="ctr" indent="0" marL="0">
              <a:buNone/>
            </a:pPr>
            <a:r>
              <a:rPr lang="en-US" sz="1400" dirty="0">
                <a:solidFill>
                  <a:srgbClr val="6B3A2A"/>
                </a:solidFill>
              </a:rPr>
              <a:t>Lonchera kraft con el mini brownie (foto real o generada)</a:t>
            </a:r>
            <a:endParaRPr lang="en-US" sz="14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685800"/>
            <a:ext cx="3657600" cy="1737360"/>
          </a:xfrm>
          <a:prstGeom prst="rect">
            <a:avLst/>
          </a:prstGeom>
          <a:noFill/>
          <a:ln/>
        </p:spPr>
        <p:txBody>
          <a:bodyPr wrap="square" lIns="0" tIns="0" rIns="0" bIns="0" rtlCol="0" anchor="t"/>
          <a:lstStyle/>
          <a:p>
            <a:pPr indent="0" marL="0">
              <a:buNone/>
            </a:pPr>
            <a:r>
              <a:rPr lang="en-US" sz="12000" b="1" dirty="0">
                <a:solidFill>
                  <a:srgbClr val="E3A33B"/>
                </a:solidFill>
              </a:rPr>
              <a:t>02</a:t>
            </a:r>
            <a:endParaRPr lang="en-US" sz="12000" dirty="0"/>
          </a:p>
        </p:txBody>
      </p:sp>
      <p:sp>
        <p:nvSpPr>
          <p:cNvPr id="3" name="Text 1"/>
          <p:cNvSpPr txBox="1"/>
          <p:nvPr/>
        </p:nvSpPr>
        <p:spPr>
          <a:xfrm>
            <a:off x="731520" y="2560320"/>
            <a:ext cx="7040880" cy="1463040"/>
          </a:xfrm>
          <a:prstGeom prst="rect">
            <a:avLst/>
          </a:prstGeom>
          <a:noFill/>
          <a:ln/>
        </p:spPr>
        <p:txBody>
          <a:bodyPr wrap="square" lIns="0" tIns="0" rIns="0" bIns="0" rtlCol="0" anchor="b"/>
          <a:lstStyle/>
          <a:p>
            <a:pPr indent="0" marL="0">
              <a:buNone/>
            </a:pPr>
            <a:r>
              <a:rPr lang="en-US" sz="4400" b="1" dirty="0">
                <a:solidFill>
                  <a:srgbClr val="FBF3E8"/>
                </a:solidFill>
              </a:rPr>
              <a:t>Transformación digital</a:t>
            </a:r>
            <a:endParaRPr lang="en-US" sz="4400" dirty="0"/>
          </a:p>
        </p:txBody>
      </p:sp>
      <p:sp>
        <p:nvSpPr>
          <p:cNvPr id="4" name="Text 2"/>
          <p:cNvSpPr txBox="1"/>
          <p:nvPr/>
        </p:nvSpPr>
        <p:spPr>
          <a:xfrm>
            <a:off x="731520" y="4160520"/>
            <a:ext cx="7040880" cy="914400"/>
          </a:xfrm>
          <a:prstGeom prst="rect">
            <a:avLst/>
          </a:prstGeom>
          <a:noFill/>
          <a:ln/>
        </p:spPr>
        <p:txBody>
          <a:bodyPr wrap="square" lIns="0" tIns="0" rIns="0" bIns="0" rtlCol="0" anchor="t"/>
          <a:lstStyle/>
          <a:p>
            <a:pPr indent="0" marL="0">
              <a:buNone/>
            </a:pPr>
            <a:r>
              <a:rPr lang="en-US" sz="2400" dirty="0">
                <a:solidFill>
                  <a:srgbClr val="D9B48F"/>
                </a:solidFill>
              </a:rPr>
              <a:t>La app hace visible lo que medimos</a:t>
            </a:r>
            <a:endParaRPr lang="en-US" sz="2400" dirty="0"/>
          </a:p>
        </p:txBody>
      </p:sp>
      <p:sp>
        <p:nvSpPr>
          <p:cNvPr id="5" name="Shape 3"/>
          <p:cNvSpPr/>
          <p:nvPr/>
        </p:nvSpPr>
        <p:spPr>
          <a:xfrm>
            <a:off x="8092440" y="1417320"/>
            <a:ext cx="3657600" cy="3657600"/>
          </a:xfrm>
          <a:prstGeom prst="ellipse">
            <a:avLst/>
          </a:prstGeom>
          <a:solidFill>
            <a:srgbClr val="6B3A2A"/>
          </a:solidFill>
          <a:ln w="12700">
            <a:solidFill>
              <a:srgbClr val="6B3A2A"/>
            </a:solidFill>
            <a:prstDash val="solid"/>
          </a:ln>
        </p:spPr>
      </p:sp>
      <p:pic>
        <p:nvPicPr>
          <p:cNvPr id="6" name="Image 0" descr="preencoded.png">    </p:cNvPr>
          <p:cNvPicPr>
            <a:picLocks noChangeAspect="1"/>
          </p:cNvPicPr>
          <p:nvPr/>
        </p:nvPicPr>
        <p:blipFill>
          <a:blip r:embed="rId1"/>
          <a:stretch>
            <a:fillRect/>
          </a:stretch>
        </p:blipFill>
        <p:spPr>
          <a:xfrm>
            <a:off x="9052560" y="2377440"/>
            <a:ext cx="1737360" cy="1737360"/>
          </a:xfrm>
          <a:prstGeom prst="rect">
            <a:avLst/>
          </a:prstGeom>
        </p:spPr>
      </p:pic>
      <p:pic>
        <p:nvPicPr>
          <p:cNvPr id="7" name="Image 1" descr="img/logo_light.png">    </p:cNvPr>
          <p:cNvPicPr>
            <a:picLocks noChangeAspect="1"/>
          </p:cNvPicPr>
          <p:nvPr/>
        </p:nvPicPr>
        <p:blipFill>
          <a:blip r:embed="rId2"/>
          <a:stretch>
            <a:fillRect/>
          </a:stretch>
        </p:blipFill>
        <p:spPr>
          <a:xfrm>
            <a:off x="731520" y="5989320"/>
            <a:ext cx="1325880" cy="4526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INNOVACIÓN</a:t>
            </a:r>
            <a:endParaRPr lang="en-US" sz="1400" dirty="0"/>
          </a:p>
        </p:txBody>
      </p:sp>
      <p:sp>
        <p:nvSpPr>
          <p:cNvPr id="3" name="Text 1"/>
          <p:cNvSpPr txBox="1"/>
          <p:nvPr/>
        </p:nvSpPr>
        <p:spPr>
          <a:xfrm>
            <a:off x="548640" y="603504"/>
            <a:ext cx="7680960" cy="777240"/>
          </a:xfrm>
          <a:prstGeom prst="rect">
            <a:avLst/>
          </a:prstGeom>
          <a:noFill/>
          <a:ln/>
        </p:spPr>
        <p:txBody>
          <a:bodyPr wrap="square" lIns="0" tIns="0" rIns="0" bIns="0" rtlCol="0" anchor="t"/>
          <a:lstStyle/>
          <a:p>
            <a:pPr indent="0" marL="0">
              <a:buNone/>
            </a:pPr>
            <a:r>
              <a:rPr lang="en-US" sz="4400" b="1" dirty="0">
                <a:solidFill>
                  <a:srgbClr val="FBF3E8"/>
                </a:solidFill>
              </a:rPr>
              <a:t>Medido, no prometido</a:t>
            </a:r>
            <a:endParaRPr lang="en-US" sz="4400" dirty="0"/>
          </a:p>
        </p:txBody>
      </p:sp>
      <p:sp>
        <p:nvSpPr>
          <p:cNvPr id="4" name="Text 2"/>
          <p:cNvSpPr txBox="1"/>
          <p:nvPr/>
        </p:nvSpPr>
        <p:spPr>
          <a:xfrm>
            <a:off x="548640" y="1417320"/>
            <a:ext cx="7680960" cy="502920"/>
          </a:xfrm>
          <a:prstGeom prst="rect">
            <a:avLst/>
          </a:prstGeom>
          <a:noFill/>
          <a:ln/>
        </p:spPr>
        <p:txBody>
          <a:bodyPr wrap="square" lIns="0" tIns="0" rIns="0" bIns="0" rtlCol="0" anchor="t"/>
          <a:lstStyle/>
          <a:p>
            <a:pPr indent="0" marL="0">
              <a:buNone/>
            </a:pPr>
            <a:r>
              <a:rPr lang="en-US" sz="2600" dirty="0">
                <a:solidFill>
                  <a:srgbClr val="D9B48F"/>
                </a:solidFill>
              </a:rPr>
              <a:t>El QR de cada envase abre el análisis de su lote.</a:t>
            </a:r>
            <a:endParaRPr lang="en-US" sz="2600" dirty="0"/>
          </a:p>
        </p:txBody>
      </p:sp>
      <p:sp>
        <p:nvSpPr>
          <p:cNvPr id="5" name="Shape 3"/>
          <p:cNvSpPr/>
          <p:nvPr/>
        </p:nvSpPr>
        <p:spPr>
          <a:xfrm>
            <a:off x="822960" y="2514600"/>
            <a:ext cx="1280160" cy="1280160"/>
          </a:xfrm>
          <a:prstGeom prst="ellipse">
            <a:avLst/>
          </a:prstGeom>
          <a:solidFill>
            <a:srgbClr val="6B3A2A"/>
          </a:solidFill>
          <a:ln w="12700">
            <a:solidFill>
              <a:srgbClr val="6B3A2A"/>
            </a:solidFill>
            <a:prstDash val="solid"/>
          </a:ln>
        </p:spPr>
      </p:sp>
      <p:pic>
        <p:nvPicPr>
          <p:cNvPr id="6" name="Image 0" descr="preencoded.png">    </p:cNvPr>
          <p:cNvPicPr>
            <a:picLocks noChangeAspect="1"/>
          </p:cNvPicPr>
          <p:nvPr/>
        </p:nvPicPr>
        <p:blipFill>
          <a:blip r:embed="rId1"/>
          <a:stretch>
            <a:fillRect/>
          </a:stretch>
        </p:blipFill>
        <p:spPr>
          <a:xfrm>
            <a:off x="1130198" y="2821838"/>
            <a:ext cx="665683" cy="665683"/>
          </a:xfrm>
          <a:prstGeom prst="rect">
            <a:avLst/>
          </a:prstGeom>
        </p:spPr>
      </p:pic>
      <p:sp>
        <p:nvSpPr>
          <p:cNvPr id="7" name="Text 4"/>
          <p:cNvSpPr txBox="1"/>
          <p:nvPr/>
        </p:nvSpPr>
        <p:spPr>
          <a:xfrm>
            <a:off x="274320" y="3931920"/>
            <a:ext cx="2377440" cy="822960"/>
          </a:xfrm>
          <a:prstGeom prst="rect">
            <a:avLst/>
          </a:prstGeom>
          <a:noFill/>
          <a:ln/>
        </p:spPr>
        <p:txBody>
          <a:bodyPr wrap="square" lIns="0" tIns="0" rIns="0" bIns="0" rtlCol="0" anchor="t"/>
          <a:lstStyle/>
          <a:p>
            <a:pPr algn="ctr" indent="0" marL="0">
              <a:buNone/>
            </a:pPr>
            <a:r>
              <a:rPr lang="en-US" sz="2400" b="1" dirty="0">
                <a:solidFill>
                  <a:srgbClr val="FBF3E8"/>
                </a:solidFill>
              </a:rPr>
              <a:t>QR único en cada envase</a:t>
            </a:r>
            <a:endParaRPr lang="en-US" sz="2400" dirty="0"/>
          </a:p>
        </p:txBody>
      </p:sp>
      <p:sp>
        <p:nvSpPr>
          <p:cNvPr id="8" name="Shape 5"/>
          <p:cNvSpPr/>
          <p:nvPr/>
        </p:nvSpPr>
        <p:spPr>
          <a:xfrm>
            <a:off x="2240280" y="3154680"/>
            <a:ext cx="1143000" cy="0"/>
          </a:xfrm>
          <a:prstGeom prst="line">
            <a:avLst/>
          </a:prstGeom>
          <a:noFill/>
          <a:ln w="28575">
            <a:solidFill>
              <a:srgbClr val="E3A33B"/>
            </a:solidFill>
            <a:prstDash val="solid"/>
            <a:tailEnd type="triangle"/>
          </a:ln>
        </p:spPr>
      </p:sp>
      <p:sp>
        <p:nvSpPr>
          <p:cNvPr id="9" name="Shape 6"/>
          <p:cNvSpPr/>
          <p:nvPr/>
        </p:nvSpPr>
        <p:spPr>
          <a:xfrm>
            <a:off x="3520440" y="2514600"/>
            <a:ext cx="1280160" cy="1280160"/>
          </a:xfrm>
          <a:prstGeom prst="ellipse">
            <a:avLst/>
          </a:prstGeom>
          <a:solidFill>
            <a:srgbClr val="6B3A2A"/>
          </a:solidFill>
          <a:ln w="12700">
            <a:solidFill>
              <a:srgbClr val="6B3A2A"/>
            </a:solidFill>
            <a:prstDash val="solid"/>
          </a:ln>
        </p:spPr>
      </p:sp>
      <p:pic>
        <p:nvPicPr>
          <p:cNvPr id="10" name="Image 1" descr="preencoded.png">    </p:cNvPr>
          <p:cNvPicPr>
            <a:picLocks noChangeAspect="1"/>
          </p:cNvPicPr>
          <p:nvPr/>
        </p:nvPicPr>
        <p:blipFill>
          <a:blip r:embed="rId2"/>
          <a:stretch>
            <a:fillRect/>
          </a:stretch>
        </p:blipFill>
        <p:spPr>
          <a:xfrm>
            <a:off x="3827678" y="2821838"/>
            <a:ext cx="665683" cy="665683"/>
          </a:xfrm>
          <a:prstGeom prst="rect">
            <a:avLst/>
          </a:prstGeom>
        </p:spPr>
      </p:pic>
      <p:sp>
        <p:nvSpPr>
          <p:cNvPr id="11" name="Text 7"/>
          <p:cNvSpPr txBox="1"/>
          <p:nvPr/>
        </p:nvSpPr>
        <p:spPr>
          <a:xfrm>
            <a:off x="2971800" y="3931920"/>
            <a:ext cx="2377440" cy="822960"/>
          </a:xfrm>
          <a:prstGeom prst="rect">
            <a:avLst/>
          </a:prstGeom>
          <a:noFill/>
          <a:ln/>
        </p:spPr>
        <p:txBody>
          <a:bodyPr wrap="square" lIns="0" tIns="0" rIns="0" bIns="0" rtlCol="0" anchor="t"/>
          <a:lstStyle/>
          <a:p>
            <a:pPr algn="ctr" indent="0" marL="0">
              <a:buNone/>
            </a:pPr>
            <a:r>
              <a:rPr lang="en-US" sz="2400" b="1" dirty="0">
                <a:solidFill>
                  <a:srgbClr val="FBF3E8"/>
                </a:solidFill>
              </a:rPr>
              <a:t>Análisis de laboratorio</a:t>
            </a:r>
            <a:endParaRPr lang="en-US" sz="2400" dirty="0"/>
          </a:p>
        </p:txBody>
      </p:sp>
      <p:sp>
        <p:nvSpPr>
          <p:cNvPr id="12" name="Shape 8"/>
          <p:cNvSpPr/>
          <p:nvPr/>
        </p:nvSpPr>
        <p:spPr>
          <a:xfrm>
            <a:off x="4937760" y="3154680"/>
            <a:ext cx="1143000" cy="0"/>
          </a:xfrm>
          <a:prstGeom prst="line">
            <a:avLst/>
          </a:prstGeom>
          <a:noFill/>
          <a:ln w="28575">
            <a:solidFill>
              <a:srgbClr val="E3A33B"/>
            </a:solidFill>
            <a:prstDash val="solid"/>
            <a:tailEnd type="triangle"/>
          </a:ln>
        </p:spPr>
      </p:sp>
      <p:sp>
        <p:nvSpPr>
          <p:cNvPr id="13" name="Shape 9"/>
          <p:cNvSpPr/>
          <p:nvPr/>
        </p:nvSpPr>
        <p:spPr>
          <a:xfrm>
            <a:off x="6217920" y="2514600"/>
            <a:ext cx="1280160" cy="1280160"/>
          </a:xfrm>
          <a:prstGeom prst="ellipse">
            <a:avLst/>
          </a:prstGeom>
          <a:solidFill>
            <a:srgbClr val="6B3A2A"/>
          </a:solidFill>
          <a:ln w="12700">
            <a:solidFill>
              <a:srgbClr val="6B3A2A"/>
            </a:solidFill>
            <a:prstDash val="solid"/>
          </a:ln>
        </p:spPr>
      </p:sp>
      <p:pic>
        <p:nvPicPr>
          <p:cNvPr id="14" name="Image 2" descr="preencoded.png">    </p:cNvPr>
          <p:cNvPicPr>
            <a:picLocks noChangeAspect="1"/>
          </p:cNvPicPr>
          <p:nvPr/>
        </p:nvPicPr>
        <p:blipFill>
          <a:blip r:embed="rId3"/>
          <a:stretch>
            <a:fillRect/>
          </a:stretch>
        </p:blipFill>
        <p:spPr>
          <a:xfrm>
            <a:off x="6525158" y="2821838"/>
            <a:ext cx="665683" cy="665683"/>
          </a:xfrm>
          <a:prstGeom prst="rect">
            <a:avLst/>
          </a:prstGeom>
        </p:spPr>
      </p:pic>
      <p:sp>
        <p:nvSpPr>
          <p:cNvPr id="15" name="Text 10"/>
          <p:cNvSpPr txBox="1"/>
          <p:nvPr/>
        </p:nvSpPr>
        <p:spPr>
          <a:xfrm>
            <a:off x="5669280" y="3931920"/>
            <a:ext cx="2377440" cy="822960"/>
          </a:xfrm>
          <a:prstGeom prst="rect">
            <a:avLst/>
          </a:prstGeom>
          <a:noFill/>
          <a:ln/>
        </p:spPr>
        <p:txBody>
          <a:bodyPr wrap="square" lIns="0" tIns="0" rIns="0" bIns="0" rtlCol="0" anchor="t"/>
          <a:lstStyle/>
          <a:p>
            <a:pPr algn="ctr" indent="0" marL="0">
              <a:buNone/>
            </a:pPr>
            <a:r>
              <a:rPr lang="en-US" sz="2400" b="1" dirty="0">
                <a:solidFill>
                  <a:srgbClr val="FBF3E8"/>
                </a:solidFill>
              </a:rPr>
              <a:t>Resultado en la app</a:t>
            </a:r>
            <a:endParaRPr lang="en-US" sz="2400" dirty="0"/>
          </a:p>
        </p:txBody>
      </p:sp>
      <p:sp>
        <p:nvSpPr>
          <p:cNvPr id="16" name="Text 11"/>
          <p:cNvSpPr txBox="1"/>
          <p:nvPr/>
        </p:nvSpPr>
        <p:spPr>
          <a:xfrm>
            <a:off x="548640" y="5029200"/>
            <a:ext cx="7680960" cy="457200"/>
          </a:xfrm>
          <a:prstGeom prst="rect">
            <a:avLst/>
          </a:prstGeom>
          <a:noFill/>
          <a:ln/>
        </p:spPr>
        <p:txBody>
          <a:bodyPr wrap="square" lIns="0" tIns="0" rIns="0" bIns="0" rtlCol="0" anchor="t"/>
          <a:lstStyle/>
          <a:p>
            <a:pPr indent="0" marL="0">
              <a:buNone/>
            </a:pPr>
            <a:r>
              <a:rPr lang="en-US" sz="2400" dirty="0">
                <a:solidFill>
                  <a:srgbClr val="D9B48F"/>
                </a:solidFill>
              </a:rPr>
              <a:t>Cada lote de enero a junio; cada 2 meses desde julio.</a:t>
            </a:r>
            <a:endParaRPr lang="en-US" sz="2400" dirty="0"/>
          </a:p>
        </p:txBody>
      </p:sp>
      <p:pic>
        <p:nvPicPr>
          <p:cNvPr id="17" name="Image 3" descr="img/deck/app_15-inicio_oscuro.jpg">    </p:cNvPr>
          <p:cNvPicPr>
            <a:picLocks noChangeAspect="1"/>
          </p:cNvPicPr>
          <p:nvPr/>
        </p:nvPicPr>
        <p:blipFill>
          <a:blip r:embed="rId4"/>
          <a:stretch>
            <a:fillRect/>
          </a:stretch>
        </p:blipFill>
        <p:spPr>
          <a:xfrm>
            <a:off x="8597323" y="411480"/>
            <a:ext cx="2922154" cy="5897880"/>
          </a:xfrm>
          <a:prstGeom prst="rect">
            <a:avLst/>
          </a:prstGeom>
        </p:spPr>
      </p:pic>
      <p:sp>
        <p:nvSpPr>
          <p:cNvPr id="18" name="Text 12"/>
          <p:cNvSpPr txBox="1"/>
          <p:nvPr/>
        </p:nvSpPr>
        <p:spPr>
          <a:xfrm>
            <a:off x="548640" y="6053328"/>
            <a:ext cx="7680960" cy="457200"/>
          </a:xfrm>
          <a:prstGeom prst="rect">
            <a:avLst/>
          </a:prstGeom>
          <a:noFill/>
          <a:ln/>
        </p:spPr>
        <p:txBody>
          <a:bodyPr wrap="square" lIns="0" tIns="0" rIns="0" bIns="0" rtlCol="0" anchor="b"/>
          <a:lstStyle/>
          <a:p>
            <a:pPr indent="0" marL="0">
              <a:buNone/>
            </a:pPr>
            <a:r>
              <a:rPr lang="en-US" sz="1100" dirty="0">
                <a:solidFill>
                  <a:srgbClr val="D9B48F"/>
                </a:solidFill>
              </a:rPr>
              <a:t>Fuente: HECHOS_v7 (frecuencia del análisis; S/0.04 por código impreso); T2_10; prototipo app-andi-mision-hierro/ (pantalla de inicio, datos DEMO).</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PROTOTIPO FUNCIONAL · APP ANDI, MISIÓN HIERRO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La app ya funciona: cuatro pantallas reales</a:t>
            </a:r>
            <a:endParaRPr lang="en-US" sz="4000" dirty="0"/>
          </a:p>
        </p:txBody>
      </p:sp>
      <p:pic>
        <p:nvPicPr>
          <p:cNvPr id="4" name="Image 0" descr="img/deck/app_05-lote.jpg">    </p:cNvPr>
          <p:cNvPicPr>
            <a:picLocks noChangeAspect="1"/>
          </p:cNvPicPr>
          <p:nvPr/>
        </p:nvPicPr>
        <p:blipFill>
          <a:blip r:embed="rId1"/>
          <a:stretch>
            <a:fillRect/>
          </a:stretch>
        </p:blipFill>
        <p:spPr>
          <a:xfrm>
            <a:off x="927069" y="1371600"/>
            <a:ext cx="2016059" cy="4069080"/>
          </a:xfrm>
          <a:prstGeom prst="rect">
            <a:avLst/>
          </a:prstGeom>
        </p:spPr>
      </p:pic>
      <p:sp>
        <p:nvSpPr>
          <p:cNvPr id="5" name="Text 2"/>
          <p:cNvSpPr txBox="1"/>
          <p:nvPr/>
        </p:nvSpPr>
        <p:spPr>
          <a:xfrm>
            <a:off x="548640" y="5486400"/>
            <a:ext cx="2772918" cy="457200"/>
          </a:xfrm>
          <a:prstGeom prst="rect">
            <a:avLst/>
          </a:prstGeom>
          <a:noFill/>
          <a:ln/>
        </p:spPr>
        <p:txBody>
          <a:bodyPr wrap="square" lIns="0" tIns="0" rIns="0" bIns="0" rtlCol="0" anchor="t"/>
          <a:lstStyle/>
          <a:p>
            <a:pPr algn="ctr" indent="0" marL="0">
              <a:buNone/>
            </a:pPr>
            <a:r>
              <a:rPr lang="en-US" sz="2400" b="1" dirty="0">
                <a:solidFill>
                  <a:srgbClr val="4A2018"/>
                </a:solidFill>
              </a:rPr>
              <a:t>Hierro del lote</a:t>
            </a:r>
            <a:endParaRPr lang="en-US" sz="2400" dirty="0"/>
          </a:p>
        </p:txBody>
      </p:sp>
      <p:pic>
        <p:nvPicPr>
          <p:cNvPr id="6" name="Image 1" descr="img/deck/app_08-semaforo.jpg">    </p:cNvPr>
          <p:cNvPicPr>
            <a:picLocks noChangeAspect="1"/>
          </p:cNvPicPr>
          <p:nvPr/>
        </p:nvPicPr>
        <p:blipFill>
          <a:blip r:embed="rId2"/>
          <a:stretch>
            <a:fillRect/>
          </a:stretch>
        </p:blipFill>
        <p:spPr>
          <a:xfrm>
            <a:off x="3699987" y="1371600"/>
            <a:ext cx="2016059" cy="4069080"/>
          </a:xfrm>
          <a:prstGeom prst="rect">
            <a:avLst/>
          </a:prstGeom>
        </p:spPr>
      </p:pic>
      <p:sp>
        <p:nvSpPr>
          <p:cNvPr id="7" name="Text 3"/>
          <p:cNvSpPr txBox="1"/>
          <p:nvPr/>
        </p:nvSpPr>
        <p:spPr>
          <a:xfrm>
            <a:off x="3321558" y="5486400"/>
            <a:ext cx="2772918" cy="457200"/>
          </a:xfrm>
          <a:prstGeom prst="rect">
            <a:avLst/>
          </a:prstGeom>
          <a:noFill/>
          <a:ln/>
        </p:spPr>
        <p:txBody>
          <a:bodyPr wrap="square" lIns="0" tIns="0" rIns="0" bIns="0" rtlCol="0" anchor="t"/>
          <a:lstStyle/>
          <a:p>
            <a:pPr algn="ctr" indent="0" marL="0">
              <a:buNone/>
            </a:pPr>
            <a:r>
              <a:rPr lang="en-US" sz="2400" b="1" dirty="0">
                <a:solidFill>
                  <a:srgbClr val="4A2018"/>
                </a:solidFill>
              </a:rPr>
              <a:t>Semáforo semanal</a:t>
            </a:r>
            <a:endParaRPr lang="en-US" sz="2400" dirty="0"/>
          </a:p>
        </p:txBody>
      </p:sp>
      <p:pic>
        <p:nvPicPr>
          <p:cNvPr id="8" name="Image 2" descr="img/deck/app_10-loncheras-plan.jpg">    </p:cNvPr>
          <p:cNvPicPr>
            <a:picLocks noChangeAspect="1"/>
          </p:cNvPicPr>
          <p:nvPr/>
        </p:nvPicPr>
        <p:blipFill>
          <a:blip r:embed="rId3"/>
          <a:stretch>
            <a:fillRect/>
          </a:stretch>
        </p:blipFill>
        <p:spPr>
          <a:xfrm>
            <a:off x="6472905" y="1371600"/>
            <a:ext cx="2016059" cy="4069080"/>
          </a:xfrm>
          <a:prstGeom prst="rect">
            <a:avLst/>
          </a:prstGeom>
        </p:spPr>
      </p:pic>
      <p:sp>
        <p:nvSpPr>
          <p:cNvPr id="9" name="Text 4"/>
          <p:cNvSpPr txBox="1"/>
          <p:nvPr/>
        </p:nvSpPr>
        <p:spPr>
          <a:xfrm>
            <a:off x="6094476" y="5486400"/>
            <a:ext cx="2772918" cy="457200"/>
          </a:xfrm>
          <a:prstGeom prst="rect">
            <a:avLst/>
          </a:prstGeom>
          <a:noFill/>
          <a:ln/>
        </p:spPr>
        <p:txBody>
          <a:bodyPr wrap="square" lIns="0" tIns="0" rIns="0" bIns="0" rtlCol="0" anchor="t"/>
          <a:lstStyle/>
          <a:p>
            <a:pPr algn="ctr" indent="0" marL="0">
              <a:buNone/>
            </a:pPr>
            <a:r>
              <a:rPr lang="en-US" sz="2400" b="1" dirty="0">
                <a:solidFill>
                  <a:srgbClr val="4A2018"/>
                </a:solidFill>
              </a:rPr>
              <a:t>Loncheras con IA</a:t>
            </a:r>
            <a:endParaRPr lang="en-US" sz="2400" dirty="0"/>
          </a:p>
        </p:txBody>
      </p:sp>
      <p:pic>
        <p:nvPicPr>
          <p:cNvPr id="10" name="Image 3" descr="img/deck/app_21-ninos-mapa.jpg">    </p:cNvPr>
          <p:cNvPicPr>
            <a:picLocks noChangeAspect="1"/>
          </p:cNvPicPr>
          <p:nvPr/>
        </p:nvPicPr>
        <p:blipFill>
          <a:blip r:embed="rId4"/>
          <a:stretch>
            <a:fillRect/>
          </a:stretch>
        </p:blipFill>
        <p:spPr>
          <a:xfrm>
            <a:off x="9245823" y="1371600"/>
            <a:ext cx="2016059" cy="4069080"/>
          </a:xfrm>
          <a:prstGeom prst="rect">
            <a:avLst/>
          </a:prstGeom>
        </p:spPr>
      </p:pic>
      <p:sp>
        <p:nvSpPr>
          <p:cNvPr id="11" name="Text 5"/>
          <p:cNvSpPr txBox="1"/>
          <p:nvPr/>
        </p:nvSpPr>
        <p:spPr>
          <a:xfrm>
            <a:off x="8867394" y="5486400"/>
            <a:ext cx="2772918" cy="457200"/>
          </a:xfrm>
          <a:prstGeom prst="rect">
            <a:avLst/>
          </a:prstGeom>
          <a:noFill/>
          <a:ln/>
        </p:spPr>
        <p:txBody>
          <a:bodyPr wrap="square" lIns="0" tIns="0" rIns="0" bIns="0" rtlCol="0" anchor="t"/>
          <a:lstStyle/>
          <a:p>
            <a:pPr algn="ctr" indent="0" marL="0">
              <a:buNone/>
            </a:pPr>
            <a:r>
              <a:rPr lang="en-US" sz="2400" b="1" dirty="0">
                <a:solidFill>
                  <a:srgbClr val="4A2018"/>
                </a:solidFill>
              </a:rPr>
              <a:t>Misión Hierro</a:t>
            </a:r>
            <a:endParaRPr lang="en-US" sz="2400" dirty="0"/>
          </a:p>
        </p:txBody>
      </p:sp>
      <p:sp>
        <p:nvSpPr>
          <p:cNvPr id="12" name="Text 6"/>
          <p:cNvSpPr txBox="1"/>
          <p:nvPr/>
        </p:nvSpPr>
        <p:spPr>
          <a:xfrm>
            <a:off x="548640" y="5989320"/>
            <a:ext cx="10698480" cy="411480"/>
          </a:xfrm>
          <a:prstGeom prst="rect">
            <a:avLst/>
          </a:prstGeom>
          <a:noFill/>
          <a:ln/>
        </p:spPr>
        <p:txBody>
          <a:bodyPr wrap="square" lIns="0" tIns="0" rIns="0" bIns="0" rtlCol="0" anchor="b"/>
          <a:lstStyle/>
          <a:p>
            <a:pPr indent="0" marL="0">
              <a:buNone/>
            </a:pPr>
            <a:r>
              <a:rPr lang="en-US" sz="1100" dirty="0">
                <a:solidFill>
                  <a:srgbClr val="6B3A2A"/>
                </a:solidFill>
              </a:rPr>
              <a:t>Fuente: Capturas del prototipo app-andi-mision-hierro/ con lotes DEMO: el 1.9 mg de la pantalla es un cálculo [POR CONFIRMAR en laboratorio]. Modo niños sin compras ni publicidad (Ley 30021, art. 8); datos solo en el teléfono (Ley 29733).</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VALOR QUE GENERA LA TECNOLOGÍA</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La tecnología crea valor en tres frentes</a:t>
            </a:r>
            <a:endParaRPr lang="en-US" sz="4000" dirty="0"/>
          </a:p>
        </p:txBody>
      </p:sp>
      <p:sp>
        <p:nvSpPr>
          <p:cNvPr id="4" name="anim_valor1"/>
          <p:cNvSpPr/>
          <p:nvPr/>
        </p:nvSpPr>
        <p:spPr>
          <a:xfrm>
            <a:off x="548640" y="1508760"/>
            <a:ext cx="11091672" cy="1280160"/>
          </a:xfrm>
          <a:prstGeom prst="roundRect">
            <a:avLst>
              <a:gd name="adj" fmla="val 8571"/>
            </a:avLst>
          </a:prstGeom>
          <a:solidFill>
            <a:srgbClr val="FFFFFF"/>
          </a:solidFill>
          <a:ln>
            <a:solidFill>
              <a:srgbClr val="FFFFFF"/>
            </a:solidFill>
          </a:ln>
        </p:spPr>
        <p:txBody>
          <a:bodyPr wrap="square" lIns="228600" tIns="228600" rIns="228600" bIns="228600" rtlCol="0" anchor="ctr"/>
          <a:lstStyle/>
          <a:p>
            <a:pPr indent="0" marL="0">
              <a:buNone/>
            </a:pPr>
            <a:r>
              <a:rPr lang="en-US" sz="1400" b="1" spc="200" kern="0" dirty="0">
                <a:solidFill>
                  <a:srgbClr val="BA4036"/>
                </a:solidFill>
                <a:latin typeface="Calibri" pitchFamily="34" charset="0"/>
                <a:ea typeface="Calibri" pitchFamily="34" charset="-122"/>
                <a:cs typeface="Calibri" pitchFamily="34" charset="-120"/>
              </a:rPr>
              <a:t>AL PADRE</a:t>
            </a:r>
            <a:endParaRPr lang="en-US" sz="1400" dirty="0"/>
          </a:p>
          <a:p>
            <a:pPr indent="0" marL="0">
              <a:buNone/>
            </a:pPr>
            <a:r>
              <a:rPr lang="en-US" sz="3000" b="1" dirty="0">
                <a:solidFill>
                  <a:srgbClr val="4A2018"/>
                </a:solidFill>
                <a:latin typeface="Calibri" pitchFamily="34" charset="0"/>
                <a:ea typeface="Calibri" pitchFamily="34" charset="-122"/>
                <a:cs typeface="Calibri" pitchFamily="34" charset="-120"/>
              </a:rPr>
              <a:t>Ve el hierro de su lote y recompra en 1 clic</a:t>
            </a:r>
            <a:endParaRPr lang="en-US" sz="1400" dirty="0"/>
          </a:p>
        </p:txBody>
      </p:sp>
      <p:sp>
        <p:nvSpPr>
          <p:cNvPr id="5" name="anim_valor2"/>
          <p:cNvSpPr/>
          <p:nvPr/>
        </p:nvSpPr>
        <p:spPr>
          <a:xfrm>
            <a:off x="548640" y="2971800"/>
            <a:ext cx="11091672" cy="1280160"/>
          </a:xfrm>
          <a:prstGeom prst="roundRect">
            <a:avLst>
              <a:gd name="adj" fmla="val 8571"/>
            </a:avLst>
          </a:prstGeom>
          <a:solidFill>
            <a:srgbClr val="4A2018"/>
          </a:solidFill>
          <a:ln>
            <a:solidFill>
              <a:srgbClr val="4A2018"/>
            </a:solidFill>
          </a:ln>
        </p:spPr>
        <p:txBody>
          <a:bodyPr wrap="square" lIns="228600" tIns="228600" rIns="228600" bIns="228600" rtlCol="0" anchor="ctr"/>
          <a:lstStyle/>
          <a:p>
            <a:pPr indent="0" marL="0">
              <a:buNone/>
            </a:pPr>
            <a:r>
              <a:rPr lang="en-US" sz="1400" b="1" spc="200" kern="0" dirty="0">
                <a:solidFill>
                  <a:srgbClr val="E3A33B"/>
                </a:solidFill>
                <a:latin typeface="Calibri" pitchFamily="34" charset="0"/>
                <a:ea typeface="Calibri" pitchFamily="34" charset="-122"/>
                <a:cs typeface="Calibri" pitchFamily="34" charset="-120"/>
              </a:rPr>
              <a:t>AL NEGOCIO</a:t>
            </a:r>
            <a:endParaRPr lang="en-US" sz="1400" dirty="0"/>
          </a:p>
          <a:p>
            <a:pPr indent="0" marL="0">
              <a:buNone/>
            </a:pPr>
            <a:r>
              <a:rPr lang="en-US" sz="3000" b="1" dirty="0">
                <a:solidFill>
                  <a:srgbClr val="FBF3E8"/>
                </a:solidFill>
                <a:latin typeface="Calibri" pitchFamily="34" charset="0"/>
                <a:ea typeface="Calibri" pitchFamily="34" charset="-122"/>
                <a:cs typeface="Calibri" pitchFamily="34" charset="-120"/>
              </a:rPr>
              <a:t>35 % de recompra · datos de cada escaneo · S/0.04 por código</a:t>
            </a:r>
            <a:endParaRPr lang="en-US" sz="1400" dirty="0"/>
          </a:p>
        </p:txBody>
      </p:sp>
      <p:sp>
        <p:nvSpPr>
          <p:cNvPr id="6" name="anim_valor3"/>
          <p:cNvSpPr/>
          <p:nvPr/>
        </p:nvSpPr>
        <p:spPr>
          <a:xfrm>
            <a:off x="548640" y="4434840"/>
            <a:ext cx="11091672" cy="1280160"/>
          </a:xfrm>
          <a:prstGeom prst="roundRect">
            <a:avLst>
              <a:gd name="adj" fmla="val 8571"/>
            </a:avLst>
          </a:prstGeom>
          <a:solidFill>
            <a:srgbClr val="FFFFFF"/>
          </a:solidFill>
          <a:ln>
            <a:solidFill>
              <a:srgbClr val="FFFFFF"/>
            </a:solidFill>
          </a:ln>
        </p:spPr>
        <p:txBody>
          <a:bodyPr wrap="square" lIns="228600" tIns="228600" rIns="228600" bIns="228600" rtlCol="0" anchor="ctr"/>
          <a:lstStyle/>
          <a:p>
            <a:pPr indent="0" marL="0">
              <a:buNone/>
            </a:pPr>
            <a:r>
              <a:rPr lang="en-US" sz="1400" b="1" spc="200" kern="0" dirty="0">
                <a:solidFill>
                  <a:srgbClr val="BA4036"/>
                </a:solidFill>
                <a:latin typeface="Calibri" pitchFamily="34" charset="0"/>
                <a:ea typeface="Calibri" pitchFamily="34" charset="-122"/>
                <a:cs typeface="Calibri" pitchFamily="34" charset="-120"/>
              </a:rPr>
              <a:t>FRENTE A LA COMPETENCIA</a:t>
            </a:r>
            <a:endParaRPr lang="en-US" sz="1400" dirty="0"/>
          </a:p>
          <a:p>
            <a:pPr indent="0" marL="0">
              <a:buNone/>
            </a:pPr>
            <a:r>
              <a:rPr lang="en-US" sz="3000" b="1" dirty="0">
                <a:solidFill>
                  <a:srgbClr val="4A2018"/>
                </a:solidFill>
                <a:latin typeface="Calibri" pitchFamily="34" charset="0"/>
                <a:ea typeface="Calibri" pitchFamily="34" charset="-122"/>
                <a:cs typeface="Calibri" pitchFamily="34" charset="-120"/>
              </a:rPr>
              <a:t>Ningún competidor revisado publica su análisis por lote</a:t>
            </a:r>
            <a:endParaRPr lang="en-US" sz="1400" dirty="0"/>
          </a:p>
        </p:txBody>
      </p:sp>
      <p:sp>
        <p:nvSpPr>
          <p:cNvPr id="7" name="Text 5"/>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HECHOS_v7 (recompra = 35 % de lo vendido en físico; S/0.04 por código); T2_10, matriz de 7 competidores (tiendas oficiales, 19-oct-2026); T2_14.</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ECOSISTEMA DIGITAL</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FBF3E8"/>
                </a:solidFill>
              </a:rPr>
              <a:t>Todo lleva al stand y al WhatsApp</a:t>
            </a:r>
            <a:endParaRPr lang="en-US" sz="4000" dirty="0"/>
          </a:p>
        </p:txBody>
      </p:sp>
      <p:sp>
        <p:nvSpPr>
          <p:cNvPr id="4" name="Shape 2"/>
          <p:cNvSpPr/>
          <p:nvPr/>
        </p:nvSpPr>
        <p:spPr>
          <a:xfrm>
            <a:off x="937260" y="1691640"/>
            <a:ext cx="1051560" cy="1051560"/>
          </a:xfrm>
          <a:prstGeom prst="ellipse">
            <a:avLst/>
          </a:prstGeom>
          <a:solidFill>
            <a:srgbClr val="6B3A2A"/>
          </a:solidFill>
          <a:ln w="12700">
            <a:solidFill>
              <a:srgbClr val="6B3A2A"/>
            </a:solidFill>
            <a:prstDash val="solid"/>
          </a:ln>
        </p:spPr>
      </p:sp>
      <p:pic>
        <p:nvPicPr>
          <p:cNvPr id="5" name="Image 0" descr="preencoded.png">    </p:cNvPr>
          <p:cNvPicPr>
            <a:picLocks noChangeAspect="1"/>
          </p:cNvPicPr>
          <p:nvPr/>
        </p:nvPicPr>
        <p:blipFill>
          <a:blip r:embed="rId1"/>
          <a:stretch>
            <a:fillRect/>
          </a:stretch>
        </p:blipFill>
        <p:spPr>
          <a:xfrm>
            <a:off x="1189634" y="1944014"/>
            <a:ext cx="546811" cy="546811"/>
          </a:xfrm>
          <a:prstGeom prst="rect">
            <a:avLst/>
          </a:prstGeom>
        </p:spPr>
      </p:pic>
      <p:sp>
        <p:nvSpPr>
          <p:cNvPr id="6" name="Text 3"/>
          <p:cNvSpPr txBox="1"/>
          <p:nvPr/>
        </p:nvSpPr>
        <p:spPr>
          <a:xfrm>
            <a:off x="365760" y="2816352"/>
            <a:ext cx="2194560" cy="438912"/>
          </a:xfrm>
          <a:prstGeom prst="rect">
            <a:avLst/>
          </a:prstGeom>
          <a:noFill/>
          <a:ln/>
        </p:spPr>
        <p:txBody>
          <a:bodyPr wrap="square" lIns="0" tIns="0" rIns="0" bIns="0" rtlCol="0" anchor="t"/>
          <a:lstStyle/>
          <a:p>
            <a:pPr algn="ctr" indent="0" marL="0">
              <a:buNone/>
            </a:pPr>
            <a:r>
              <a:rPr lang="en-US" sz="2400" b="1" dirty="0">
                <a:solidFill>
                  <a:srgbClr val="FBF3E8"/>
                </a:solidFill>
              </a:rPr>
              <a:t>Meta Ads</a:t>
            </a:r>
            <a:endParaRPr lang="en-US" sz="2400" dirty="0"/>
          </a:p>
        </p:txBody>
      </p:sp>
      <p:sp>
        <p:nvSpPr>
          <p:cNvPr id="7" name="Text 4"/>
          <p:cNvSpPr txBox="1"/>
          <p:nvPr/>
        </p:nvSpPr>
        <p:spPr>
          <a:xfrm>
            <a:off x="365760" y="3246120"/>
            <a:ext cx="2194560" cy="292608"/>
          </a:xfrm>
          <a:prstGeom prst="rect">
            <a:avLst/>
          </a:prstGeom>
          <a:noFill/>
          <a:ln/>
        </p:spPr>
        <p:txBody>
          <a:bodyPr wrap="square" lIns="0" tIns="0" rIns="0" bIns="0" rtlCol="0" anchor="t"/>
          <a:lstStyle/>
          <a:p>
            <a:pPr algn="ctr" indent="0" marL="0">
              <a:buNone/>
            </a:pPr>
            <a:r>
              <a:rPr lang="en-US" sz="1300" b="1" spc="100" kern="0" dirty="0">
                <a:solidFill>
                  <a:srgbClr val="E3A33B"/>
                </a:solidFill>
              </a:rPr>
              <a:t>VIDEO PARA ADULTOS</a:t>
            </a:r>
            <a:endParaRPr lang="en-US" sz="1300" dirty="0"/>
          </a:p>
        </p:txBody>
      </p:sp>
      <p:sp>
        <p:nvSpPr>
          <p:cNvPr id="8" name="Shape 5"/>
          <p:cNvSpPr/>
          <p:nvPr/>
        </p:nvSpPr>
        <p:spPr>
          <a:xfrm>
            <a:off x="2098548" y="2217420"/>
            <a:ext cx="1042416" cy="0"/>
          </a:xfrm>
          <a:prstGeom prst="line">
            <a:avLst/>
          </a:prstGeom>
          <a:noFill/>
          <a:ln w="28575">
            <a:solidFill>
              <a:srgbClr val="E3A33B"/>
            </a:solidFill>
            <a:prstDash val="solid"/>
            <a:tailEnd type="triangle"/>
          </a:ln>
        </p:spPr>
      </p:sp>
      <p:sp>
        <p:nvSpPr>
          <p:cNvPr id="9" name="Shape 6"/>
          <p:cNvSpPr/>
          <p:nvPr/>
        </p:nvSpPr>
        <p:spPr>
          <a:xfrm>
            <a:off x="3250692" y="1691640"/>
            <a:ext cx="1051560" cy="1051560"/>
          </a:xfrm>
          <a:prstGeom prst="ellipse">
            <a:avLst/>
          </a:prstGeom>
          <a:solidFill>
            <a:srgbClr val="6B3A2A"/>
          </a:solidFill>
          <a:ln w="12700">
            <a:solidFill>
              <a:srgbClr val="6B3A2A"/>
            </a:solidFill>
            <a:prstDash val="solid"/>
          </a:ln>
        </p:spPr>
      </p:sp>
      <p:pic>
        <p:nvPicPr>
          <p:cNvPr id="10" name="Image 1" descr="preencoded.png">    </p:cNvPr>
          <p:cNvPicPr>
            <a:picLocks noChangeAspect="1"/>
          </p:cNvPicPr>
          <p:nvPr/>
        </p:nvPicPr>
        <p:blipFill>
          <a:blip r:embed="rId2"/>
          <a:stretch>
            <a:fillRect/>
          </a:stretch>
        </p:blipFill>
        <p:spPr>
          <a:xfrm>
            <a:off x="3503066" y="1944014"/>
            <a:ext cx="546811" cy="546811"/>
          </a:xfrm>
          <a:prstGeom prst="rect">
            <a:avLst/>
          </a:prstGeom>
        </p:spPr>
      </p:pic>
      <p:sp>
        <p:nvSpPr>
          <p:cNvPr id="11" name="Text 7"/>
          <p:cNvSpPr txBox="1"/>
          <p:nvPr/>
        </p:nvSpPr>
        <p:spPr>
          <a:xfrm>
            <a:off x="2679192" y="2816352"/>
            <a:ext cx="2194560" cy="438912"/>
          </a:xfrm>
          <a:prstGeom prst="rect">
            <a:avLst/>
          </a:prstGeom>
          <a:noFill/>
          <a:ln/>
        </p:spPr>
        <p:txBody>
          <a:bodyPr wrap="square" lIns="0" tIns="0" rIns="0" bIns="0" rtlCol="0" anchor="t"/>
          <a:lstStyle/>
          <a:p>
            <a:pPr algn="ctr" indent="0" marL="0">
              <a:buNone/>
            </a:pPr>
            <a:r>
              <a:rPr lang="en-US" sz="2400" b="1" dirty="0">
                <a:solidFill>
                  <a:srgbClr val="FBF3E8"/>
                </a:solidFill>
              </a:rPr>
              <a:t>WhatsApp</a:t>
            </a:r>
            <a:endParaRPr lang="en-US" sz="2400" dirty="0"/>
          </a:p>
        </p:txBody>
      </p:sp>
      <p:sp>
        <p:nvSpPr>
          <p:cNvPr id="12" name="Text 8"/>
          <p:cNvSpPr txBox="1"/>
          <p:nvPr/>
        </p:nvSpPr>
        <p:spPr>
          <a:xfrm>
            <a:off x="2679192" y="3246120"/>
            <a:ext cx="2194560" cy="292608"/>
          </a:xfrm>
          <a:prstGeom prst="rect">
            <a:avLst/>
          </a:prstGeom>
          <a:noFill/>
          <a:ln/>
        </p:spPr>
        <p:txBody>
          <a:bodyPr wrap="square" lIns="0" tIns="0" rIns="0" bIns="0" rtlCol="0" anchor="t"/>
          <a:lstStyle/>
          <a:p>
            <a:pPr algn="ctr" indent="0" marL="0">
              <a:buNone/>
            </a:pPr>
            <a:r>
              <a:rPr lang="en-US" sz="1300" b="1" spc="100" kern="0" dirty="0">
                <a:solidFill>
                  <a:srgbClr val="E3A33B"/>
                </a:solidFill>
              </a:rPr>
              <a:t>PRIMER CONTACTO</a:t>
            </a:r>
            <a:endParaRPr lang="en-US" sz="1300" dirty="0"/>
          </a:p>
        </p:txBody>
      </p:sp>
      <p:sp>
        <p:nvSpPr>
          <p:cNvPr id="13" name="Shape 9"/>
          <p:cNvSpPr/>
          <p:nvPr/>
        </p:nvSpPr>
        <p:spPr>
          <a:xfrm>
            <a:off x="4411980" y="2217420"/>
            <a:ext cx="1042416" cy="0"/>
          </a:xfrm>
          <a:prstGeom prst="line">
            <a:avLst/>
          </a:prstGeom>
          <a:noFill/>
          <a:ln w="28575">
            <a:solidFill>
              <a:srgbClr val="E3A33B"/>
            </a:solidFill>
            <a:prstDash val="solid"/>
            <a:tailEnd type="triangle"/>
          </a:ln>
        </p:spPr>
      </p:sp>
      <p:sp>
        <p:nvSpPr>
          <p:cNvPr id="14" name="Shape 10"/>
          <p:cNvSpPr/>
          <p:nvPr/>
        </p:nvSpPr>
        <p:spPr>
          <a:xfrm>
            <a:off x="5564124" y="1691640"/>
            <a:ext cx="1051560" cy="1051560"/>
          </a:xfrm>
          <a:prstGeom prst="ellipse">
            <a:avLst/>
          </a:prstGeom>
          <a:solidFill>
            <a:srgbClr val="BA4036"/>
          </a:solidFill>
          <a:ln w="12700">
            <a:solidFill>
              <a:srgbClr val="BA4036"/>
            </a:solidFill>
            <a:prstDash val="solid"/>
          </a:ln>
        </p:spPr>
      </p:sp>
      <p:pic>
        <p:nvPicPr>
          <p:cNvPr id="15" name="Image 2" descr="preencoded.png">    </p:cNvPr>
          <p:cNvPicPr>
            <a:picLocks noChangeAspect="1"/>
          </p:cNvPicPr>
          <p:nvPr/>
        </p:nvPicPr>
        <p:blipFill>
          <a:blip r:embed="rId3"/>
          <a:stretch>
            <a:fillRect/>
          </a:stretch>
        </p:blipFill>
        <p:spPr>
          <a:xfrm>
            <a:off x="5816498" y="1944014"/>
            <a:ext cx="546811" cy="546811"/>
          </a:xfrm>
          <a:prstGeom prst="rect">
            <a:avLst/>
          </a:prstGeom>
        </p:spPr>
      </p:pic>
      <p:sp>
        <p:nvSpPr>
          <p:cNvPr id="16" name="Text 11"/>
          <p:cNvSpPr txBox="1"/>
          <p:nvPr/>
        </p:nvSpPr>
        <p:spPr>
          <a:xfrm>
            <a:off x="4992624" y="2816352"/>
            <a:ext cx="2194560" cy="438912"/>
          </a:xfrm>
          <a:prstGeom prst="rect">
            <a:avLst/>
          </a:prstGeom>
          <a:noFill/>
          <a:ln/>
        </p:spPr>
        <p:txBody>
          <a:bodyPr wrap="square" lIns="0" tIns="0" rIns="0" bIns="0" rtlCol="0" anchor="t"/>
          <a:lstStyle/>
          <a:p>
            <a:pPr algn="ctr" indent="0" marL="0">
              <a:buNone/>
            </a:pPr>
            <a:r>
              <a:rPr lang="en-US" sz="2400" b="1" dirty="0">
                <a:solidFill>
                  <a:srgbClr val="FBF3E8"/>
                </a:solidFill>
              </a:rPr>
              <a:t>Stand</a:t>
            </a:r>
            <a:endParaRPr lang="en-US" sz="2400" dirty="0"/>
          </a:p>
        </p:txBody>
      </p:sp>
      <p:sp>
        <p:nvSpPr>
          <p:cNvPr id="17" name="Text 12"/>
          <p:cNvSpPr txBox="1"/>
          <p:nvPr/>
        </p:nvSpPr>
        <p:spPr>
          <a:xfrm>
            <a:off x="4992624" y="3246120"/>
            <a:ext cx="2194560" cy="292608"/>
          </a:xfrm>
          <a:prstGeom prst="rect">
            <a:avLst/>
          </a:prstGeom>
          <a:noFill/>
          <a:ln/>
        </p:spPr>
        <p:txBody>
          <a:bodyPr wrap="square" lIns="0" tIns="0" rIns="0" bIns="0" rtlCol="0" anchor="t"/>
          <a:lstStyle/>
          <a:p>
            <a:pPr algn="ctr" indent="0" marL="0">
              <a:buNone/>
            </a:pPr>
            <a:r>
              <a:rPr lang="en-US" sz="1300" b="1" spc="100" kern="0" dirty="0">
                <a:solidFill>
                  <a:srgbClr val="E3A33B"/>
                </a:solidFill>
              </a:rPr>
              <a:t>PRUEBA Y COMPRA</a:t>
            </a:r>
            <a:endParaRPr lang="en-US" sz="1300" dirty="0"/>
          </a:p>
        </p:txBody>
      </p:sp>
      <p:sp>
        <p:nvSpPr>
          <p:cNvPr id="18" name="Shape 13"/>
          <p:cNvSpPr/>
          <p:nvPr/>
        </p:nvSpPr>
        <p:spPr>
          <a:xfrm>
            <a:off x="6725412" y="2217420"/>
            <a:ext cx="1042416" cy="0"/>
          </a:xfrm>
          <a:prstGeom prst="line">
            <a:avLst/>
          </a:prstGeom>
          <a:noFill/>
          <a:ln w="28575">
            <a:solidFill>
              <a:srgbClr val="E3A33B"/>
            </a:solidFill>
            <a:prstDash val="solid"/>
            <a:tailEnd type="triangle"/>
          </a:ln>
        </p:spPr>
      </p:sp>
      <p:sp>
        <p:nvSpPr>
          <p:cNvPr id="19" name="Shape 14"/>
          <p:cNvSpPr/>
          <p:nvPr/>
        </p:nvSpPr>
        <p:spPr>
          <a:xfrm>
            <a:off x="7877556" y="1691640"/>
            <a:ext cx="1051560" cy="1051560"/>
          </a:xfrm>
          <a:prstGeom prst="ellipse">
            <a:avLst/>
          </a:prstGeom>
          <a:solidFill>
            <a:srgbClr val="6B3A2A"/>
          </a:solidFill>
          <a:ln w="12700">
            <a:solidFill>
              <a:srgbClr val="6B3A2A"/>
            </a:solidFill>
            <a:prstDash val="solid"/>
          </a:ln>
        </p:spPr>
      </p:sp>
      <p:pic>
        <p:nvPicPr>
          <p:cNvPr id="20" name="Image 3" descr="preencoded.png">    </p:cNvPr>
          <p:cNvPicPr>
            <a:picLocks noChangeAspect="1"/>
          </p:cNvPicPr>
          <p:nvPr/>
        </p:nvPicPr>
        <p:blipFill>
          <a:blip r:embed="rId4"/>
          <a:stretch>
            <a:fillRect/>
          </a:stretch>
        </p:blipFill>
        <p:spPr>
          <a:xfrm>
            <a:off x="8129930" y="1944014"/>
            <a:ext cx="546811" cy="546811"/>
          </a:xfrm>
          <a:prstGeom prst="rect">
            <a:avLst/>
          </a:prstGeom>
        </p:spPr>
      </p:pic>
      <p:sp>
        <p:nvSpPr>
          <p:cNvPr id="21" name="Text 15"/>
          <p:cNvSpPr txBox="1"/>
          <p:nvPr/>
        </p:nvSpPr>
        <p:spPr>
          <a:xfrm>
            <a:off x="7306056" y="2816352"/>
            <a:ext cx="2194560" cy="438912"/>
          </a:xfrm>
          <a:prstGeom prst="rect">
            <a:avLst/>
          </a:prstGeom>
          <a:noFill/>
          <a:ln/>
        </p:spPr>
        <p:txBody>
          <a:bodyPr wrap="square" lIns="0" tIns="0" rIns="0" bIns="0" rtlCol="0" anchor="t"/>
          <a:lstStyle/>
          <a:p>
            <a:pPr algn="ctr" indent="0" marL="0">
              <a:buNone/>
            </a:pPr>
            <a:r>
              <a:rPr lang="en-US" sz="2400" b="1" dirty="0">
                <a:solidFill>
                  <a:srgbClr val="FBF3E8"/>
                </a:solidFill>
              </a:rPr>
              <a:t>QR del envase</a:t>
            </a:r>
            <a:endParaRPr lang="en-US" sz="2400" dirty="0"/>
          </a:p>
        </p:txBody>
      </p:sp>
      <p:sp>
        <p:nvSpPr>
          <p:cNvPr id="22" name="Text 16"/>
          <p:cNvSpPr txBox="1"/>
          <p:nvPr/>
        </p:nvSpPr>
        <p:spPr>
          <a:xfrm>
            <a:off x="7306056" y="3246120"/>
            <a:ext cx="2194560" cy="292608"/>
          </a:xfrm>
          <a:prstGeom prst="rect">
            <a:avLst/>
          </a:prstGeom>
          <a:noFill/>
          <a:ln/>
        </p:spPr>
        <p:txBody>
          <a:bodyPr wrap="square" lIns="0" tIns="0" rIns="0" bIns="0" rtlCol="0" anchor="t"/>
          <a:lstStyle/>
          <a:p>
            <a:pPr algn="ctr" indent="0" marL="0">
              <a:buNone/>
            </a:pPr>
            <a:r>
              <a:rPr lang="en-US" sz="1300" b="1" spc="100" kern="0" dirty="0">
                <a:solidFill>
                  <a:srgbClr val="E3A33B"/>
                </a:solidFill>
              </a:rPr>
              <a:t>ABRE SU LOTE</a:t>
            </a:r>
            <a:endParaRPr lang="en-US" sz="1300" dirty="0"/>
          </a:p>
        </p:txBody>
      </p:sp>
      <p:sp>
        <p:nvSpPr>
          <p:cNvPr id="23" name="Shape 17"/>
          <p:cNvSpPr/>
          <p:nvPr/>
        </p:nvSpPr>
        <p:spPr>
          <a:xfrm>
            <a:off x="9038844" y="2217420"/>
            <a:ext cx="1042416" cy="0"/>
          </a:xfrm>
          <a:prstGeom prst="line">
            <a:avLst/>
          </a:prstGeom>
          <a:noFill/>
          <a:ln w="28575">
            <a:solidFill>
              <a:srgbClr val="E3A33B"/>
            </a:solidFill>
            <a:prstDash val="solid"/>
            <a:tailEnd type="triangle"/>
          </a:ln>
        </p:spPr>
      </p:sp>
      <p:sp>
        <p:nvSpPr>
          <p:cNvPr id="24" name="Shape 18"/>
          <p:cNvSpPr/>
          <p:nvPr/>
        </p:nvSpPr>
        <p:spPr>
          <a:xfrm>
            <a:off x="10190988" y="1691640"/>
            <a:ext cx="1051560" cy="1051560"/>
          </a:xfrm>
          <a:prstGeom prst="ellipse">
            <a:avLst/>
          </a:prstGeom>
          <a:solidFill>
            <a:srgbClr val="6B3A2A"/>
          </a:solidFill>
          <a:ln w="12700">
            <a:solidFill>
              <a:srgbClr val="6B3A2A"/>
            </a:solidFill>
            <a:prstDash val="solid"/>
          </a:ln>
        </p:spPr>
      </p:sp>
      <p:pic>
        <p:nvPicPr>
          <p:cNvPr id="25" name="Image 4" descr="preencoded.png">    </p:cNvPr>
          <p:cNvPicPr>
            <a:picLocks noChangeAspect="1"/>
          </p:cNvPicPr>
          <p:nvPr/>
        </p:nvPicPr>
        <p:blipFill>
          <a:blip r:embed="rId5"/>
          <a:stretch>
            <a:fillRect/>
          </a:stretch>
        </p:blipFill>
        <p:spPr>
          <a:xfrm>
            <a:off x="10443362" y="1944014"/>
            <a:ext cx="546811" cy="546811"/>
          </a:xfrm>
          <a:prstGeom prst="rect">
            <a:avLst/>
          </a:prstGeom>
        </p:spPr>
      </p:pic>
      <p:sp>
        <p:nvSpPr>
          <p:cNvPr id="26" name="Text 19"/>
          <p:cNvSpPr txBox="1"/>
          <p:nvPr/>
        </p:nvSpPr>
        <p:spPr>
          <a:xfrm>
            <a:off x="9619488" y="2816352"/>
            <a:ext cx="2194560" cy="438912"/>
          </a:xfrm>
          <a:prstGeom prst="rect">
            <a:avLst/>
          </a:prstGeom>
          <a:noFill/>
          <a:ln/>
        </p:spPr>
        <p:txBody>
          <a:bodyPr wrap="square" lIns="0" tIns="0" rIns="0" bIns="0" rtlCol="0" anchor="t"/>
          <a:lstStyle/>
          <a:p>
            <a:pPr algn="ctr" indent="0" marL="0">
              <a:buNone/>
            </a:pPr>
            <a:r>
              <a:rPr lang="en-US" sz="2400" b="1" dirty="0">
                <a:solidFill>
                  <a:srgbClr val="FBF3E8"/>
                </a:solidFill>
              </a:rPr>
              <a:t>App Andi</a:t>
            </a:r>
            <a:endParaRPr lang="en-US" sz="2400" dirty="0"/>
          </a:p>
        </p:txBody>
      </p:sp>
      <p:sp>
        <p:nvSpPr>
          <p:cNvPr id="27" name="Text 20"/>
          <p:cNvSpPr txBox="1"/>
          <p:nvPr/>
        </p:nvSpPr>
        <p:spPr>
          <a:xfrm>
            <a:off x="9619488" y="3246120"/>
            <a:ext cx="2194560" cy="292608"/>
          </a:xfrm>
          <a:prstGeom prst="rect">
            <a:avLst/>
          </a:prstGeom>
          <a:noFill/>
          <a:ln/>
        </p:spPr>
        <p:txBody>
          <a:bodyPr wrap="square" lIns="0" tIns="0" rIns="0" bIns="0" rtlCol="0" anchor="t"/>
          <a:lstStyle/>
          <a:p>
            <a:pPr algn="ctr" indent="0" marL="0">
              <a:buNone/>
            </a:pPr>
            <a:r>
              <a:rPr lang="en-US" sz="1300" b="1" spc="100" kern="0" dirty="0">
                <a:solidFill>
                  <a:srgbClr val="E3A33B"/>
                </a:solidFill>
              </a:rPr>
              <a:t>AVISA LA RECOMPRA</a:t>
            </a:r>
            <a:endParaRPr lang="en-US" sz="1300" dirty="0"/>
          </a:p>
        </p:txBody>
      </p:sp>
      <p:sp>
        <p:nvSpPr>
          <p:cNvPr id="28" name="Shape 21"/>
          <p:cNvSpPr/>
          <p:nvPr/>
        </p:nvSpPr>
        <p:spPr>
          <a:xfrm>
            <a:off x="10716768" y="3657600"/>
            <a:ext cx="0" cy="411480"/>
          </a:xfrm>
          <a:prstGeom prst="line">
            <a:avLst/>
          </a:prstGeom>
          <a:noFill/>
          <a:ln w="28575">
            <a:solidFill>
              <a:srgbClr val="E3A33B"/>
            </a:solidFill>
            <a:prstDash val="solid"/>
          </a:ln>
        </p:spPr>
      </p:sp>
      <p:sp>
        <p:nvSpPr>
          <p:cNvPr id="29" name="Shape 22"/>
          <p:cNvSpPr/>
          <p:nvPr/>
        </p:nvSpPr>
        <p:spPr>
          <a:xfrm>
            <a:off x="3776472" y="4069080"/>
            <a:ext cx="6940296" cy="0"/>
          </a:xfrm>
          <a:prstGeom prst="line">
            <a:avLst/>
          </a:prstGeom>
          <a:noFill/>
          <a:ln w="28575">
            <a:solidFill>
              <a:srgbClr val="E3A33B"/>
            </a:solidFill>
            <a:prstDash val="solid"/>
          </a:ln>
        </p:spPr>
      </p:sp>
      <p:sp>
        <p:nvSpPr>
          <p:cNvPr id="30" name="Shape 23"/>
          <p:cNvSpPr/>
          <p:nvPr/>
        </p:nvSpPr>
        <p:spPr>
          <a:xfrm>
            <a:off x="3776472" y="3657600"/>
            <a:ext cx="0" cy="411480"/>
          </a:xfrm>
          <a:prstGeom prst="line">
            <a:avLst/>
          </a:prstGeom>
          <a:noFill/>
          <a:ln w="28575">
            <a:solidFill>
              <a:srgbClr val="E3A33B"/>
            </a:solidFill>
            <a:prstDash val="solid"/>
            <a:headEnd type="triangle"/>
          </a:ln>
        </p:spPr>
      </p:sp>
      <p:sp>
        <p:nvSpPr>
          <p:cNvPr id="31" name="Text 24"/>
          <p:cNvSpPr txBox="1"/>
          <p:nvPr/>
        </p:nvSpPr>
        <p:spPr>
          <a:xfrm>
            <a:off x="3776472" y="4160520"/>
            <a:ext cx="6940296" cy="411480"/>
          </a:xfrm>
          <a:prstGeom prst="rect">
            <a:avLst/>
          </a:prstGeom>
          <a:noFill/>
          <a:ln/>
        </p:spPr>
        <p:txBody>
          <a:bodyPr wrap="square" lIns="0" tIns="0" rIns="0" bIns="0" rtlCol="0" anchor="t"/>
          <a:lstStyle/>
          <a:p>
            <a:pPr algn="ctr" indent="0" marL="0">
              <a:buNone/>
            </a:pPr>
            <a:r>
              <a:rPr lang="en-US" sz="2400" b="1" dirty="0">
                <a:solidFill>
                  <a:srgbClr val="E3A33B"/>
                </a:solidFill>
              </a:rPr>
              <a:t>Recompra en 1 clic: 35 % de lo vendido en físico</a:t>
            </a:r>
            <a:endParaRPr lang="en-US" sz="2400" dirty="0"/>
          </a:p>
        </p:txBody>
      </p:sp>
      <p:sp>
        <p:nvSpPr>
          <p:cNvPr id="32" name="Text 25"/>
          <p:cNvSpPr txBox="1"/>
          <p:nvPr/>
        </p:nvSpPr>
        <p:spPr>
          <a:xfrm>
            <a:off x="548640" y="4617720"/>
            <a:ext cx="2743200" cy="1234440"/>
          </a:xfrm>
          <a:prstGeom prst="rect">
            <a:avLst/>
          </a:prstGeom>
          <a:noFill/>
          <a:ln/>
        </p:spPr>
        <p:txBody>
          <a:bodyPr wrap="square" lIns="0" tIns="0" rIns="0" bIns="0" rtlCol="0" anchor="t"/>
          <a:lstStyle/>
          <a:p>
            <a:pPr indent="0" marL="0">
              <a:buNone/>
            </a:pPr>
            <a:r>
              <a:rPr lang="en-US" sz="8000" b="1" dirty="0">
                <a:solidFill>
                  <a:srgbClr val="FBF3E8"/>
                </a:solidFill>
              </a:rPr>
              <a:t>30 %</a:t>
            </a:r>
            <a:endParaRPr lang="en-US" sz="8000" dirty="0"/>
          </a:p>
        </p:txBody>
      </p:sp>
      <p:sp>
        <p:nvSpPr>
          <p:cNvPr id="33" name="Text 26"/>
          <p:cNvSpPr txBox="1"/>
          <p:nvPr/>
        </p:nvSpPr>
        <p:spPr>
          <a:xfrm>
            <a:off x="2880360" y="4937760"/>
            <a:ext cx="5943600" cy="731520"/>
          </a:xfrm>
          <a:prstGeom prst="rect">
            <a:avLst/>
          </a:prstGeom>
          <a:noFill/>
          <a:ln/>
        </p:spPr>
        <p:txBody>
          <a:bodyPr wrap="square" lIns="0" tIns="0" rIns="0" bIns="0" rtlCol="0" anchor="ctr"/>
          <a:lstStyle/>
          <a:p>
            <a:pPr indent="0" marL="0">
              <a:buNone/>
            </a:pPr>
            <a:r>
              <a:rPr lang="en-US" sz="2400" dirty="0">
                <a:solidFill>
                  <a:srgbClr val="D9B48F"/>
                </a:solidFill>
              </a:rPr>
              <a:t>de los envases escaneados: meta de 2027</a:t>
            </a:r>
            <a:endParaRPr lang="en-US" sz="2400" dirty="0"/>
          </a:p>
        </p:txBody>
      </p:sp>
      <p:sp>
        <p:nvSpPr>
          <p:cNvPr id="34" name="Text 27"/>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D9B48F"/>
                </a:solidFill>
              </a:rPr>
              <a:t>Fuente: T2_14, secciones 1 y 2 (mapa y recorrido del cliente); HECHOS_v7 (meta de escaneo y recompra). Pauta en Meta: S/5,050 en 2027, 50/50 entre A y B.</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685800"/>
            <a:ext cx="3657600" cy="1737360"/>
          </a:xfrm>
          <a:prstGeom prst="rect">
            <a:avLst/>
          </a:prstGeom>
          <a:noFill/>
          <a:ln/>
        </p:spPr>
        <p:txBody>
          <a:bodyPr wrap="square" lIns="0" tIns="0" rIns="0" bIns="0" rtlCol="0" anchor="t"/>
          <a:lstStyle/>
          <a:p>
            <a:pPr indent="0" marL="0">
              <a:buNone/>
            </a:pPr>
            <a:r>
              <a:rPr lang="en-US" sz="12000" b="1" dirty="0">
                <a:solidFill>
                  <a:srgbClr val="E3A33B"/>
                </a:solidFill>
              </a:rPr>
              <a:t>03</a:t>
            </a:r>
            <a:endParaRPr lang="en-US" sz="12000" dirty="0"/>
          </a:p>
        </p:txBody>
      </p:sp>
      <p:sp>
        <p:nvSpPr>
          <p:cNvPr id="3" name="Text 1"/>
          <p:cNvSpPr txBox="1"/>
          <p:nvPr/>
        </p:nvSpPr>
        <p:spPr>
          <a:xfrm>
            <a:off x="731520" y="2560320"/>
            <a:ext cx="7040880" cy="1463040"/>
          </a:xfrm>
          <a:prstGeom prst="rect">
            <a:avLst/>
          </a:prstGeom>
          <a:noFill/>
          <a:ln/>
        </p:spPr>
        <p:txBody>
          <a:bodyPr wrap="square" lIns="0" tIns="0" rIns="0" bIns="0" rtlCol="0" anchor="b"/>
          <a:lstStyle/>
          <a:p>
            <a:pPr indent="0" marL="0">
              <a:buNone/>
            </a:pPr>
            <a:r>
              <a:rPr lang="en-US" sz="4400" b="1" dirty="0">
                <a:solidFill>
                  <a:srgbClr val="FBF3E8"/>
                </a:solidFill>
              </a:rPr>
              <a:t>Investigación cualitativa</a:t>
            </a:r>
            <a:endParaRPr lang="en-US" sz="4400" dirty="0"/>
          </a:p>
        </p:txBody>
      </p:sp>
      <p:sp>
        <p:nvSpPr>
          <p:cNvPr id="4" name="Text 2"/>
          <p:cNvSpPr txBox="1"/>
          <p:nvPr/>
        </p:nvSpPr>
        <p:spPr>
          <a:xfrm>
            <a:off x="731520" y="4160520"/>
            <a:ext cx="7040880" cy="914400"/>
          </a:xfrm>
          <a:prstGeom prst="rect">
            <a:avLst/>
          </a:prstGeom>
          <a:noFill/>
          <a:ln/>
        </p:spPr>
        <p:txBody>
          <a:bodyPr wrap="square" lIns="0" tIns="0" rIns="0" bIns="0" rtlCol="0" anchor="t"/>
          <a:lstStyle/>
          <a:p>
            <a:pPr indent="0" marL="0">
              <a:buNone/>
            </a:pPr>
            <a:r>
              <a:rPr lang="en-US" sz="2400" dirty="0">
                <a:solidFill>
                  <a:srgbClr val="D9B48F"/>
                </a:solidFill>
              </a:rPr>
              <a:t>Lo que escuchamos y probamos con las familias</a:t>
            </a:r>
            <a:endParaRPr lang="en-US" sz="2400" dirty="0"/>
          </a:p>
        </p:txBody>
      </p:sp>
      <p:sp>
        <p:nvSpPr>
          <p:cNvPr id="5" name="Shape 3"/>
          <p:cNvSpPr/>
          <p:nvPr/>
        </p:nvSpPr>
        <p:spPr>
          <a:xfrm>
            <a:off x="8092440" y="1417320"/>
            <a:ext cx="3657600" cy="3657600"/>
          </a:xfrm>
          <a:prstGeom prst="ellipse">
            <a:avLst/>
          </a:prstGeom>
          <a:solidFill>
            <a:srgbClr val="6B3A2A"/>
          </a:solidFill>
          <a:ln w="12700">
            <a:solidFill>
              <a:srgbClr val="6B3A2A"/>
            </a:solidFill>
            <a:prstDash val="solid"/>
          </a:ln>
        </p:spPr>
      </p:sp>
      <p:pic>
        <p:nvPicPr>
          <p:cNvPr id="6" name="Image 0" descr="preencoded.png">    </p:cNvPr>
          <p:cNvPicPr>
            <a:picLocks noChangeAspect="1"/>
          </p:cNvPicPr>
          <p:nvPr/>
        </p:nvPicPr>
        <p:blipFill>
          <a:blip r:embed="rId1"/>
          <a:stretch>
            <a:fillRect/>
          </a:stretch>
        </p:blipFill>
        <p:spPr>
          <a:xfrm>
            <a:off x="9052560" y="2377440"/>
            <a:ext cx="1737360" cy="1737360"/>
          </a:xfrm>
          <a:prstGeom prst="rect">
            <a:avLst/>
          </a:prstGeom>
        </p:spPr>
      </p:pic>
      <p:pic>
        <p:nvPicPr>
          <p:cNvPr id="7" name="Image 1" descr="img/logo_light.png">    </p:cNvPr>
          <p:cNvPicPr>
            <a:picLocks noChangeAspect="1"/>
          </p:cNvPicPr>
          <p:nvPr/>
        </p:nvPicPr>
        <p:blipFill>
          <a:blip r:embed="rId2"/>
          <a:stretch>
            <a:fillRect/>
          </a:stretch>
        </p:blipFill>
        <p:spPr>
          <a:xfrm>
            <a:off x="731520" y="5989320"/>
            <a:ext cx="1325880" cy="4526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EVIDENCIA DEL TRABAJO DE CAMPO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Escuchamos y probamos antes de decidir</a:t>
            </a:r>
            <a:endParaRPr lang="en-US" sz="4000" dirty="0"/>
          </a:p>
        </p:txBody>
      </p:sp>
      <p:sp>
        <p:nvSpPr>
          <p:cNvPr id="4" name="Text 2"/>
          <p:cNvSpPr txBox="1"/>
          <p:nvPr/>
        </p:nvSpPr>
        <p:spPr>
          <a:xfrm>
            <a:off x="548640" y="1463040"/>
            <a:ext cx="2468880" cy="1143000"/>
          </a:xfrm>
          <a:prstGeom prst="rect">
            <a:avLst/>
          </a:prstGeom>
          <a:noFill/>
          <a:ln/>
        </p:spPr>
        <p:txBody>
          <a:bodyPr wrap="square" lIns="0" tIns="0" rIns="0" bIns="0" rtlCol="0" anchor="t"/>
          <a:lstStyle/>
          <a:p>
            <a:pPr indent="0" marL="0">
              <a:buNone/>
            </a:pPr>
            <a:r>
              <a:rPr lang="en-US" sz="8000" b="1" dirty="0">
                <a:solidFill>
                  <a:srgbClr val="BA4036"/>
                </a:solidFill>
              </a:rPr>
              <a:t>10</a:t>
            </a:r>
            <a:endParaRPr lang="en-US" sz="8000" dirty="0"/>
          </a:p>
        </p:txBody>
      </p:sp>
      <p:sp>
        <p:nvSpPr>
          <p:cNvPr id="5" name="Text 3"/>
          <p:cNvSpPr txBox="1"/>
          <p:nvPr/>
        </p:nvSpPr>
        <p:spPr>
          <a:xfrm>
            <a:off x="548640" y="2606040"/>
            <a:ext cx="2468880" cy="960120"/>
          </a:xfrm>
          <a:prstGeom prst="rect">
            <a:avLst/>
          </a:prstGeom>
          <a:noFill/>
          <a:ln/>
        </p:spPr>
        <p:txBody>
          <a:bodyPr wrap="square" lIns="0" tIns="0" rIns="0" bIns="0" rtlCol="0" anchor="t"/>
          <a:lstStyle/>
          <a:p>
            <a:pPr indent="0" marL="0">
              <a:buNone/>
            </a:pPr>
            <a:r>
              <a:rPr lang="en-US" sz="2400" dirty="0">
                <a:solidFill>
                  <a:srgbClr val="3B1A14"/>
                </a:solidFill>
              </a:rPr>
              <a:t>entrevistas a profundidad</a:t>
            </a:r>
            <a:endParaRPr lang="en-US" sz="2400" dirty="0"/>
          </a:p>
        </p:txBody>
      </p:sp>
      <p:sp>
        <p:nvSpPr>
          <p:cNvPr id="6" name="Text 4"/>
          <p:cNvSpPr txBox="1"/>
          <p:nvPr/>
        </p:nvSpPr>
        <p:spPr>
          <a:xfrm>
            <a:off x="3154680" y="1463040"/>
            <a:ext cx="2468880" cy="1143000"/>
          </a:xfrm>
          <a:prstGeom prst="rect">
            <a:avLst/>
          </a:prstGeom>
          <a:noFill/>
          <a:ln/>
        </p:spPr>
        <p:txBody>
          <a:bodyPr wrap="square" lIns="0" tIns="0" rIns="0" bIns="0" rtlCol="0" anchor="t"/>
          <a:lstStyle/>
          <a:p>
            <a:pPr indent="0" marL="0">
              <a:buNone/>
            </a:pPr>
            <a:r>
              <a:rPr lang="en-US" sz="8000" b="1" dirty="0">
                <a:solidFill>
                  <a:srgbClr val="BA4036"/>
                </a:solidFill>
              </a:rPr>
              <a:t>6</a:t>
            </a:r>
            <a:endParaRPr lang="en-US" sz="8000" dirty="0"/>
          </a:p>
        </p:txBody>
      </p:sp>
      <p:sp>
        <p:nvSpPr>
          <p:cNvPr id="7" name="Text 5"/>
          <p:cNvSpPr txBox="1"/>
          <p:nvPr/>
        </p:nvSpPr>
        <p:spPr>
          <a:xfrm>
            <a:off x="3154680" y="2606040"/>
            <a:ext cx="2468880" cy="960120"/>
          </a:xfrm>
          <a:prstGeom prst="rect">
            <a:avLst/>
          </a:prstGeom>
          <a:noFill/>
          <a:ln/>
        </p:spPr>
        <p:txBody>
          <a:bodyPr wrap="square" lIns="0" tIns="0" rIns="0" bIns="0" rtlCol="0" anchor="t"/>
          <a:lstStyle/>
          <a:p>
            <a:pPr indent="0" marL="0">
              <a:buNone/>
            </a:pPr>
            <a:r>
              <a:rPr lang="en-US" sz="2400" dirty="0">
                <a:solidFill>
                  <a:srgbClr val="3B1A14"/>
                </a:solidFill>
              </a:rPr>
              <a:t>participantes en el focus 1</a:t>
            </a:r>
            <a:endParaRPr lang="en-US" sz="2400" dirty="0"/>
          </a:p>
        </p:txBody>
      </p:sp>
      <p:sp>
        <p:nvSpPr>
          <p:cNvPr id="8" name="Text 6"/>
          <p:cNvSpPr txBox="1"/>
          <p:nvPr/>
        </p:nvSpPr>
        <p:spPr>
          <a:xfrm>
            <a:off x="548640" y="3749040"/>
            <a:ext cx="2468880" cy="1143000"/>
          </a:xfrm>
          <a:prstGeom prst="rect">
            <a:avLst/>
          </a:prstGeom>
          <a:noFill/>
          <a:ln/>
        </p:spPr>
        <p:txBody>
          <a:bodyPr wrap="square" lIns="0" tIns="0" rIns="0" bIns="0" rtlCol="0" anchor="t"/>
          <a:lstStyle/>
          <a:p>
            <a:pPr indent="0" marL="0">
              <a:buNone/>
            </a:pPr>
            <a:r>
              <a:rPr lang="en-US" sz="8000" b="1" dirty="0">
                <a:solidFill>
                  <a:srgbClr val="BA4036"/>
                </a:solidFill>
              </a:rPr>
              <a:t>4</a:t>
            </a:r>
            <a:endParaRPr lang="en-US" sz="8000" dirty="0"/>
          </a:p>
        </p:txBody>
      </p:sp>
      <p:sp>
        <p:nvSpPr>
          <p:cNvPr id="9" name="Text 7"/>
          <p:cNvSpPr txBox="1"/>
          <p:nvPr/>
        </p:nvSpPr>
        <p:spPr>
          <a:xfrm>
            <a:off x="548640" y="4892040"/>
            <a:ext cx="2468880" cy="960120"/>
          </a:xfrm>
          <a:prstGeom prst="rect">
            <a:avLst/>
          </a:prstGeom>
          <a:noFill/>
          <a:ln/>
        </p:spPr>
        <p:txBody>
          <a:bodyPr wrap="square" lIns="0" tIns="0" rIns="0" bIns="0" rtlCol="0" anchor="t"/>
          <a:lstStyle/>
          <a:p>
            <a:pPr indent="0" marL="0">
              <a:buNone/>
            </a:pPr>
            <a:r>
              <a:rPr lang="en-US" sz="2400" dirty="0">
                <a:solidFill>
                  <a:srgbClr val="3B1A14"/>
                </a:solidFill>
              </a:rPr>
              <a:t>madres probaron el prototipo</a:t>
            </a:r>
            <a:endParaRPr lang="en-US" sz="2400" dirty="0"/>
          </a:p>
        </p:txBody>
      </p:sp>
      <p:sp>
        <p:nvSpPr>
          <p:cNvPr id="10" name="Text 8"/>
          <p:cNvSpPr txBox="1"/>
          <p:nvPr/>
        </p:nvSpPr>
        <p:spPr>
          <a:xfrm>
            <a:off x="3154680" y="3749040"/>
            <a:ext cx="2468880" cy="1143000"/>
          </a:xfrm>
          <a:prstGeom prst="rect">
            <a:avLst/>
          </a:prstGeom>
          <a:noFill/>
          <a:ln/>
        </p:spPr>
        <p:txBody>
          <a:bodyPr wrap="square" lIns="0" tIns="0" rIns="0" bIns="0" rtlCol="0" anchor="t"/>
          <a:lstStyle/>
          <a:p>
            <a:pPr indent="0" marL="0">
              <a:buNone/>
            </a:pPr>
            <a:r>
              <a:rPr lang="en-US" sz="8000" b="1" dirty="0">
                <a:solidFill>
                  <a:srgbClr val="BA4036"/>
                </a:solidFill>
              </a:rPr>
              <a:t>1</a:t>
            </a:r>
            <a:endParaRPr lang="en-US" sz="8000" dirty="0"/>
          </a:p>
        </p:txBody>
      </p:sp>
      <p:sp>
        <p:nvSpPr>
          <p:cNvPr id="11" name="Text 9"/>
          <p:cNvSpPr txBox="1"/>
          <p:nvPr/>
        </p:nvSpPr>
        <p:spPr>
          <a:xfrm>
            <a:off x="3154680" y="4892040"/>
            <a:ext cx="2468880" cy="960120"/>
          </a:xfrm>
          <a:prstGeom prst="rect">
            <a:avLst/>
          </a:prstGeom>
          <a:noFill/>
          <a:ln/>
        </p:spPr>
        <p:txBody>
          <a:bodyPr wrap="square" lIns="0" tIns="0" rIns="0" bIns="0" rtlCol="0" anchor="t"/>
          <a:lstStyle/>
          <a:p>
            <a:pPr indent="0" marL="0">
              <a:buNone/>
            </a:pPr>
            <a:r>
              <a:rPr lang="en-US" sz="2400" dirty="0">
                <a:solidFill>
                  <a:srgbClr val="3B1A14"/>
                </a:solidFill>
              </a:rPr>
              <a:t>store check en La Molina</a:t>
            </a:r>
            <a:endParaRPr lang="en-US" sz="2400" dirty="0"/>
          </a:p>
        </p:txBody>
      </p:sp>
      <p:pic>
        <p:nvPicPr>
          <p:cNvPr id="12" name="Image 0" descr="img/deck/entrevista_1.jpg">    </p:cNvPr>
          <p:cNvPicPr>
            <a:picLocks noChangeAspect="1"/>
          </p:cNvPicPr>
          <p:nvPr/>
        </p:nvPicPr>
        <p:blipFill>
          <a:blip r:embed="rId1"/>
          <a:stretch>
            <a:fillRect/>
          </a:stretch>
        </p:blipFill>
        <p:spPr>
          <a:xfrm>
            <a:off x="5852160" y="1466251"/>
            <a:ext cx="2798064" cy="1749226"/>
          </a:xfrm>
          <a:prstGeom prst="rect">
            <a:avLst/>
          </a:prstGeom>
        </p:spPr>
      </p:pic>
      <p:pic>
        <p:nvPicPr>
          <p:cNvPr id="13" name="Image 1" descr="img/deck/entrevista_2.jpg">    </p:cNvPr>
          <p:cNvPicPr>
            <a:picLocks noChangeAspect="1"/>
          </p:cNvPicPr>
          <p:nvPr/>
        </p:nvPicPr>
        <p:blipFill>
          <a:blip r:embed="rId2"/>
          <a:stretch>
            <a:fillRect/>
          </a:stretch>
        </p:blipFill>
        <p:spPr>
          <a:xfrm>
            <a:off x="8842248" y="1466035"/>
            <a:ext cx="2798064" cy="1749658"/>
          </a:xfrm>
          <a:prstGeom prst="rect">
            <a:avLst/>
          </a:prstGeom>
        </p:spPr>
      </p:pic>
      <p:sp>
        <p:nvSpPr>
          <p:cNvPr id="14" name="Text 10"/>
          <p:cNvSpPr txBox="1"/>
          <p:nvPr/>
        </p:nvSpPr>
        <p:spPr>
          <a:xfrm>
            <a:off x="5852160" y="3246120"/>
            <a:ext cx="2798064" cy="274320"/>
          </a:xfrm>
          <a:prstGeom prst="rect">
            <a:avLst/>
          </a:prstGeom>
          <a:noFill/>
          <a:ln/>
        </p:spPr>
        <p:txBody>
          <a:bodyPr wrap="square" lIns="0" tIns="0" rIns="0" bIns="0" rtlCol="0" anchor="t"/>
          <a:lstStyle/>
          <a:p>
            <a:pPr algn="ctr" indent="0" marL="0">
              <a:buNone/>
            </a:pPr>
            <a:r>
              <a:rPr lang="en-US" sz="1200" dirty="0">
                <a:solidFill>
                  <a:srgbClr val="6B3A2A"/>
                </a:solidFill>
              </a:rPr>
              <a:t>Entrevista en casa</a:t>
            </a:r>
            <a:endParaRPr lang="en-US" sz="1200" dirty="0"/>
          </a:p>
        </p:txBody>
      </p:sp>
      <p:sp>
        <p:nvSpPr>
          <p:cNvPr id="15" name="Text 11"/>
          <p:cNvSpPr txBox="1"/>
          <p:nvPr/>
        </p:nvSpPr>
        <p:spPr>
          <a:xfrm>
            <a:off x="8842248" y="3246120"/>
            <a:ext cx="2798064" cy="274320"/>
          </a:xfrm>
          <a:prstGeom prst="rect">
            <a:avLst/>
          </a:prstGeom>
          <a:noFill/>
          <a:ln/>
        </p:spPr>
        <p:txBody>
          <a:bodyPr wrap="square" lIns="0" tIns="0" rIns="0" bIns="0" rtlCol="0" anchor="t"/>
          <a:lstStyle/>
          <a:p>
            <a:pPr algn="ctr" indent="0" marL="0">
              <a:buNone/>
            </a:pPr>
            <a:r>
              <a:rPr lang="en-US" sz="1200" dirty="0">
                <a:solidFill>
                  <a:srgbClr val="6B3A2A"/>
                </a:solidFill>
              </a:rPr>
              <a:t>Entrevista en oficina</a:t>
            </a:r>
            <a:endParaRPr lang="en-US" sz="1200" dirty="0"/>
          </a:p>
        </p:txBody>
      </p:sp>
      <p:sp>
        <p:nvSpPr>
          <p:cNvPr id="16" name="IMAGEN_3"/>
          <p:cNvSpPr/>
          <p:nvPr/>
        </p:nvSpPr>
        <p:spPr>
          <a:xfrm>
            <a:off x="5852160" y="3657600"/>
            <a:ext cx="5788152" cy="2240280"/>
          </a:xfrm>
          <a:prstGeom prst="roundRect">
            <a:avLst>
              <a:gd name="adj" fmla="val 6122"/>
            </a:avLst>
          </a:prstGeom>
          <a:solidFill>
            <a:srgbClr val="F0E2CF"/>
          </a:solidFill>
          <a:ln w="19050">
            <a:solidFill>
              <a:srgbClr val="D9B48F"/>
            </a:solidFill>
            <a:prstDash val="dash"/>
          </a:ln>
        </p:spPr>
      </p:sp>
      <p:pic>
        <p:nvPicPr>
          <p:cNvPr id="17" name="Image 2" descr="preencoded.png">    </p:cNvPr>
          <p:cNvPicPr>
            <a:picLocks noChangeAspect="1"/>
          </p:cNvPicPr>
          <p:nvPr/>
        </p:nvPicPr>
        <p:blipFill>
          <a:blip r:embed="rId3"/>
          <a:stretch>
            <a:fillRect/>
          </a:stretch>
        </p:blipFill>
        <p:spPr>
          <a:xfrm>
            <a:off x="8426196" y="3909060"/>
            <a:ext cx="640080" cy="640080"/>
          </a:xfrm>
          <a:prstGeom prst="rect">
            <a:avLst/>
          </a:prstGeom>
        </p:spPr>
      </p:pic>
      <p:sp>
        <p:nvSpPr>
          <p:cNvPr id="18" name="Text 13"/>
          <p:cNvSpPr txBox="1"/>
          <p:nvPr/>
        </p:nvSpPr>
        <p:spPr>
          <a:xfrm>
            <a:off x="6080760" y="4686300"/>
            <a:ext cx="5330952" cy="1005840"/>
          </a:xfrm>
          <a:prstGeom prst="rect">
            <a:avLst/>
          </a:prstGeom>
          <a:noFill/>
          <a:ln/>
        </p:spPr>
        <p:txBody>
          <a:bodyPr wrap="square" lIns="0" tIns="0" rIns="0" bIns="0" rtlCol="0" anchor="t"/>
          <a:lstStyle/>
          <a:p>
            <a:pPr algn="ctr" indent="0" marL="0">
              <a:buNone/>
            </a:pPr>
            <a:r>
              <a:rPr lang="en-US" sz="2000" b="1" dirty="0">
                <a:solidFill>
                  <a:srgbClr val="6B3A2A"/>
                </a:solidFill>
              </a:rPr>
              <a:t>IMAGEN 3</a:t>
            </a:r>
            <a:endParaRPr lang="en-US" sz="1400" dirty="0"/>
          </a:p>
          <a:p>
            <a:pPr algn="ctr" indent="0" marL="0">
              <a:buNone/>
            </a:pPr>
            <a:r>
              <a:rPr lang="en-US" sz="1400" dirty="0">
                <a:solidFill>
                  <a:srgbClr val="6B3A2A"/>
                </a:solidFill>
              </a:rPr>
              <a:t>Captura del focus 1 virtual (foto real)</a:t>
            </a:r>
            <a:endParaRPr lang="en-US" sz="1400" dirty="0"/>
          </a:p>
        </p:txBody>
      </p:sp>
      <p:sp>
        <p:nvSpPr>
          <p:cNvPr id="19" name="Text 14"/>
          <p:cNvSpPr txBox="1"/>
          <p:nvPr/>
        </p:nvSpPr>
        <p:spPr>
          <a:xfrm>
            <a:off x="548640" y="5989320"/>
            <a:ext cx="10698480" cy="411480"/>
          </a:xfrm>
          <a:prstGeom prst="rect">
            <a:avLst/>
          </a:prstGeom>
          <a:noFill/>
          <a:ln/>
        </p:spPr>
        <p:txBody>
          <a:bodyPr wrap="square" lIns="0" tIns="0" rIns="0" bIns="0" rtlCol="0" anchor="b"/>
          <a:lstStyle/>
          <a:p>
            <a:pPr indent="0" marL="0">
              <a:buNone/>
            </a:pPr>
            <a:r>
              <a:rPr lang="en-US" sz="1100" dirty="0">
                <a:solidFill>
                  <a:srgbClr val="6B3A2A"/>
                </a:solidFill>
              </a:rPr>
              <a:t>Fuente: 01-contexto/03 y 04 (entrevistas y focus 1 virtual con mamás de Lima Norte, NSE C/B); láminas de la degustación (Canva del grupo); 03-entregables/07 (store check). Videos de 2 entrevistas en YouTube y en el Drive [enlace POR CONFIRMAR].</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LO QUE NOS DIJERON</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FBF3E8"/>
                </a:solidFill>
              </a:rPr>
              <a:t>Las mamás ya buscan cómo esconder el hierro</a:t>
            </a:r>
            <a:endParaRPr lang="en-US" sz="4000" dirty="0"/>
          </a:p>
        </p:txBody>
      </p:sp>
      <p:sp>
        <p:nvSpPr>
          <p:cNvPr id="4" name="Text 2"/>
          <p:cNvSpPr txBox="1"/>
          <p:nvPr/>
        </p:nvSpPr>
        <p:spPr>
          <a:xfrm>
            <a:off x="320040" y="1143000"/>
            <a:ext cx="1280160" cy="1737360"/>
          </a:xfrm>
          <a:prstGeom prst="rect">
            <a:avLst/>
          </a:prstGeom>
          <a:noFill/>
          <a:ln/>
        </p:spPr>
        <p:txBody>
          <a:bodyPr wrap="square" lIns="0" tIns="0" rIns="0" bIns="0" rtlCol="0" anchor="t"/>
          <a:lstStyle/>
          <a:p>
            <a:pPr indent="0" marL="0">
              <a:buNone/>
            </a:pPr>
            <a:r>
              <a:rPr lang="en-US" sz="16000" b="1" dirty="0">
                <a:solidFill>
                  <a:srgbClr val="E3A33B"/>
                </a:solidFill>
              </a:rPr>
              <a:t>“</a:t>
            </a:r>
            <a:endParaRPr lang="en-US" sz="16000" dirty="0"/>
          </a:p>
        </p:txBody>
      </p:sp>
      <p:sp>
        <p:nvSpPr>
          <p:cNvPr id="5" name="anim_cita1"/>
          <p:cNvSpPr txBox="1"/>
          <p:nvPr/>
        </p:nvSpPr>
        <p:spPr>
          <a:xfrm>
            <a:off x="1463040" y="1600200"/>
            <a:ext cx="10149840" cy="1325880"/>
          </a:xfrm>
          <a:prstGeom prst="rect">
            <a:avLst/>
          </a:prstGeom>
          <a:noFill/>
          <a:ln/>
        </p:spPr>
        <p:txBody>
          <a:bodyPr wrap="square" lIns="0" tIns="0" rIns="0" bIns="0" rtlCol="0" anchor="ctr"/>
          <a:lstStyle/>
          <a:p>
            <a:pPr indent="0" marL="0">
              <a:spcAft>
                <a:spcPts val="400"/>
              </a:spcAft>
              <a:buNone/>
            </a:pPr>
            <a:r>
              <a:rPr lang="en-US" sz="2800" b="1" i="1" dirty="0">
                <a:solidFill>
                  <a:srgbClr val="FBF3E8"/>
                </a:solidFill>
              </a:rPr>
              <a:t>“Mamá, eso olía feo y mis amigos me dijeron que parecía carbón.”</a:t>
            </a:r>
            <a:endParaRPr lang="en-US" sz="1400" dirty="0"/>
          </a:p>
          <a:p>
            <a:pPr indent="0" marL="0">
              <a:spcAft>
                <a:spcPts val="400"/>
              </a:spcAft>
              <a:buNone/>
            </a:pPr>
            <a:r>
              <a:rPr lang="en-US" sz="1400" dirty="0">
                <a:solidFill>
                  <a:srgbClr val="D9B48F"/>
                </a:solidFill>
              </a:rPr>
              <a:t>Mateo, 7 años, sobre unos nuggets de sangrecita (lo cuenta Lucero, su mamá; entrevista)</a:t>
            </a:r>
            <a:endParaRPr lang="en-US" sz="1400" dirty="0"/>
          </a:p>
        </p:txBody>
      </p:sp>
      <p:sp>
        <p:nvSpPr>
          <p:cNvPr id="6" name="anim_cita2"/>
          <p:cNvSpPr txBox="1"/>
          <p:nvPr/>
        </p:nvSpPr>
        <p:spPr>
          <a:xfrm>
            <a:off x="1463040" y="3063240"/>
            <a:ext cx="10149840" cy="1325880"/>
          </a:xfrm>
          <a:prstGeom prst="rect">
            <a:avLst/>
          </a:prstGeom>
          <a:noFill/>
          <a:ln/>
        </p:spPr>
        <p:txBody>
          <a:bodyPr wrap="square" lIns="0" tIns="0" rIns="0" bIns="0" rtlCol="0" anchor="ctr"/>
          <a:lstStyle/>
          <a:p>
            <a:pPr indent="0" marL="0">
              <a:spcAft>
                <a:spcPts val="400"/>
              </a:spcAft>
              <a:buNone/>
            </a:pPr>
            <a:r>
              <a:rPr lang="en-US" sz="2800" b="1" i="1" dirty="0">
                <a:solidFill>
                  <a:srgbClr val="FBF3E8"/>
                </a:solidFill>
              </a:rPr>
              <a:t>“Deberían haber más productos así.”</a:t>
            </a:r>
            <a:endParaRPr lang="en-US" sz="1400" dirty="0"/>
          </a:p>
          <a:p>
            <a:pPr indent="0" marL="0">
              <a:spcAft>
                <a:spcPts val="400"/>
              </a:spcAft>
              <a:buNone/>
            </a:pPr>
            <a:r>
              <a:rPr lang="en-US" sz="1400" dirty="0">
                <a:solidFill>
                  <a:srgbClr val="D9B48F"/>
                </a:solidFill>
              </a:rPr>
              <a:t>Adriana, focus 1, sobre una barrita de sangrecita que su hijo aceptó</a:t>
            </a:r>
            <a:endParaRPr lang="en-US" sz="1400" dirty="0"/>
          </a:p>
        </p:txBody>
      </p:sp>
      <p:sp>
        <p:nvSpPr>
          <p:cNvPr id="7" name="anim_cita3"/>
          <p:cNvSpPr txBox="1"/>
          <p:nvPr/>
        </p:nvSpPr>
        <p:spPr>
          <a:xfrm>
            <a:off x="1463040" y="4526280"/>
            <a:ext cx="10149840" cy="1325880"/>
          </a:xfrm>
          <a:prstGeom prst="rect">
            <a:avLst/>
          </a:prstGeom>
          <a:noFill/>
          <a:ln/>
        </p:spPr>
        <p:txBody>
          <a:bodyPr wrap="square" lIns="0" tIns="0" rIns="0" bIns="0" rtlCol="0" anchor="ctr"/>
          <a:lstStyle/>
          <a:p>
            <a:pPr indent="0" marL="0">
              <a:spcAft>
                <a:spcPts val="400"/>
              </a:spcAft>
              <a:buNone/>
            </a:pPr>
            <a:r>
              <a:rPr lang="en-US" sz="2800" b="1" i="1" dirty="0">
                <a:solidFill>
                  <a:srgbClr val="FBF3E8"/>
                </a:solidFill>
              </a:rPr>
              <a:t>Eligió el brownie para “engañar” a su hija con algo que le gusta.</a:t>
            </a:r>
            <a:endParaRPr lang="en-US" sz="1400" dirty="0"/>
          </a:p>
          <a:p>
            <a:pPr indent="0" marL="0">
              <a:spcAft>
                <a:spcPts val="400"/>
              </a:spcAft>
              <a:buNone/>
            </a:pPr>
            <a:r>
              <a:rPr lang="en-US" sz="1400" dirty="0">
                <a:solidFill>
                  <a:srgbClr val="D9B48F"/>
                </a:solidFill>
              </a:rPr>
              <a:t>Rubelis, focus 1, al explicar su voto</a:t>
            </a:r>
            <a:endParaRPr lang="en-US" sz="1400" dirty="0"/>
          </a:p>
        </p:txBody>
      </p:sp>
      <p:sp>
        <p:nvSpPr>
          <p:cNvPr id="8" name="Text 6"/>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D9B48F"/>
                </a:solidFill>
              </a:rPr>
              <a:t>Fuente: 01-contexto/03 (entrevista a Lucero Carrera, Los Olivos) y 04 (focus 1, transcripción focus.docx).</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IMAGEN_4"/>
          <p:cNvSpPr/>
          <p:nvPr/>
        </p:nvSpPr>
        <p:spPr>
          <a:xfrm>
            <a:off x="0" y="0"/>
            <a:ext cx="12191695" cy="6858000"/>
          </a:xfrm>
          <a:prstGeom prst="rect">
            <a:avLst>
              <a:gd name="adj" fmla="val 2000"/>
            </a:avLst>
          </a:prstGeom>
          <a:solidFill>
            <a:srgbClr val="5E2C22"/>
          </a:solidFill>
          <a:ln w="19050">
            <a:solidFill>
              <a:srgbClr val="D9B48F"/>
            </a:solidFill>
            <a:prstDash val="dash"/>
          </a:ln>
        </p:spPr>
      </p:sp>
      <p:pic>
        <p:nvPicPr>
          <p:cNvPr id="3" name="Image 0" descr="preencoded.png">    </p:cNvPr>
          <p:cNvPicPr>
            <a:picLocks noChangeAspect="1"/>
          </p:cNvPicPr>
          <p:nvPr/>
        </p:nvPicPr>
        <p:blipFill>
          <a:blip r:embed="rId1"/>
          <a:stretch>
            <a:fillRect/>
          </a:stretch>
        </p:blipFill>
        <p:spPr>
          <a:xfrm>
            <a:off x="9372600" y="2560320"/>
            <a:ext cx="640080" cy="640080"/>
          </a:xfrm>
          <a:prstGeom prst="rect">
            <a:avLst/>
          </a:prstGeom>
        </p:spPr>
      </p:pic>
      <p:sp>
        <p:nvSpPr>
          <p:cNvPr id="4" name="Text 1"/>
          <p:cNvSpPr txBox="1"/>
          <p:nvPr/>
        </p:nvSpPr>
        <p:spPr>
          <a:xfrm>
            <a:off x="7452360" y="3337560"/>
            <a:ext cx="4480560" cy="1005840"/>
          </a:xfrm>
          <a:prstGeom prst="rect">
            <a:avLst/>
          </a:prstGeom>
          <a:noFill/>
          <a:ln/>
        </p:spPr>
        <p:txBody>
          <a:bodyPr wrap="square" lIns="0" tIns="0" rIns="0" bIns="0" rtlCol="0" anchor="t"/>
          <a:lstStyle/>
          <a:p>
            <a:pPr algn="ctr" indent="0" marL="0">
              <a:buNone/>
            </a:pPr>
            <a:r>
              <a:rPr lang="en-US" sz="2000" b="1" dirty="0">
                <a:solidFill>
                  <a:srgbClr val="FBF3E8"/>
                </a:solidFill>
              </a:rPr>
              <a:t>IMAGEN 4</a:t>
            </a:r>
            <a:endParaRPr lang="en-US" sz="1400" dirty="0"/>
          </a:p>
          <a:p>
            <a:pPr algn="ctr" indent="0" marL="0">
              <a:buNone/>
            </a:pPr>
            <a:r>
              <a:rPr lang="en-US" sz="1400" dirty="0">
                <a:solidFill>
                  <a:srgbClr val="FBF3E8"/>
                </a:solidFill>
              </a:rPr>
              <a:t>Lonchera que vuelve intacta (generada, a sangre completa)</a:t>
            </a:r>
            <a:endParaRPr lang="en-US" sz="1400" dirty="0"/>
          </a:p>
        </p:txBody>
      </p:sp>
      <p:sp>
        <p:nvSpPr>
          <p:cNvPr id="5" name="Text 2"/>
          <p:cNvSpPr txBox="1"/>
          <p:nvPr/>
        </p:nvSpPr>
        <p:spPr>
          <a:xfrm>
            <a:off x="548640" y="1417320"/>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HALLAZGO 1</a:t>
            </a:r>
            <a:endParaRPr lang="en-US" sz="1400" dirty="0"/>
          </a:p>
        </p:txBody>
      </p:sp>
      <p:sp>
        <p:nvSpPr>
          <p:cNvPr id="6" name="Text 3"/>
          <p:cNvSpPr txBox="1"/>
          <p:nvPr/>
        </p:nvSpPr>
        <p:spPr>
          <a:xfrm>
            <a:off x="548640" y="1783080"/>
            <a:ext cx="6400800" cy="1508760"/>
          </a:xfrm>
          <a:prstGeom prst="rect">
            <a:avLst/>
          </a:prstGeom>
          <a:noFill/>
          <a:ln/>
        </p:spPr>
        <p:txBody>
          <a:bodyPr wrap="square" lIns="0" tIns="0" rIns="0" bIns="0" rtlCol="0" anchor="t"/>
          <a:lstStyle/>
          <a:p>
            <a:pPr indent="0" marL="0">
              <a:buNone/>
            </a:pPr>
            <a:r>
              <a:rPr lang="en-US" sz="4400" b="1" dirty="0">
                <a:solidFill>
                  <a:srgbClr val="FBF3E8"/>
                </a:solidFill>
              </a:rPr>
              <a:t>Lo saludable vuelve intacto</a:t>
            </a:r>
            <a:endParaRPr lang="en-US" sz="4400" dirty="0"/>
          </a:p>
        </p:txBody>
      </p:sp>
      <p:sp>
        <p:nvSpPr>
          <p:cNvPr id="7" name="Text 4"/>
          <p:cNvSpPr txBox="1"/>
          <p:nvPr/>
        </p:nvSpPr>
        <p:spPr>
          <a:xfrm>
            <a:off x="548640" y="3429000"/>
            <a:ext cx="6217920" cy="1188720"/>
          </a:xfrm>
          <a:prstGeom prst="rect">
            <a:avLst/>
          </a:prstGeom>
          <a:noFill/>
          <a:ln/>
        </p:spPr>
        <p:txBody>
          <a:bodyPr wrap="square" lIns="0" tIns="0" rIns="0" bIns="0" rtlCol="0" anchor="t"/>
          <a:lstStyle/>
          <a:p>
            <a:pPr indent="0" marL="0">
              <a:buNone/>
            </a:pPr>
            <a:r>
              <a:rPr lang="en-US" sz="2600" dirty="0">
                <a:solidFill>
                  <a:srgbClr val="FBF3E8"/>
                </a:solidFill>
              </a:rPr>
              <a:t>La barrera no es saber: es el olor, el color y la textura.</a:t>
            </a:r>
            <a:endParaRPr lang="en-US" sz="2600" dirty="0"/>
          </a:p>
        </p:txBody>
      </p:sp>
      <p:sp>
        <p:nvSpPr>
          <p:cNvPr id="8" name="Text 5"/>
          <p:cNvSpPr txBox="1"/>
          <p:nvPr/>
        </p:nvSpPr>
        <p:spPr>
          <a:xfrm>
            <a:off x="548640" y="5760720"/>
            <a:ext cx="6400800" cy="548640"/>
          </a:xfrm>
          <a:prstGeom prst="rect">
            <a:avLst/>
          </a:prstGeom>
          <a:noFill/>
          <a:ln/>
        </p:spPr>
        <p:txBody>
          <a:bodyPr wrap="square" lIns="0" tIns="0" rIns="0" bIns="0" rtlCol="0" anchor="b"/>
          <a:lstStyle/>
          <a:p>
            <a:pPr indent="0" marL="0">
              <a:buNone/>
            </a:pPr>
            <a:r>
              <a:rPr lang="en-US" sz="1100" dirty="0">
                <a:solidFill>
                  <a:srgbClr val="D9B48F"/>
                </a:solidFill>
              </a:rPr>
              <a:t>Fuente: 10 entrevistas a profundidad (semanas 1 a 4): nuggets de sangrecita, puré de espinaca con sangrecita y galletas «sin azúcar» que «parecían cartón». Nadie dijo «anemia».</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HALLAZGO 2</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La sangrecita se acepta escondida en algo dulce</a:t>
            </a:r>
            <a:endParaRPr lang="en-US" sz="4000" dirty="0"/>
          </a:p>
        </p:txBody>
      </p:sp>
      <p:sp>
        <p:nvSpPr>
          <p:cNvPr id="4" name="Shape 2"/>
          <p:cNvSpPr/>
          <p:nvPr/>
        </p:nvSpPr>
        <p:spPr>
          <a:xfrm>
            <a:off x="548640" y="1600200"/>
            <a:ext cx="5436108" cy="4297680"/>
          </a:xfrm>
          <a:prstGeom prst="roundRect">
            <a:avLst>
              <a:gd name="adj" fmla="val 3191"/>
            </a:avLst>
          </a:prstGeom>
          <a:solidFill>
            <a:srgbClr val="EEDFCC"/>
          </a:solidFill>
          <a:ln w="12700">
            <a:solidFill>
              <a:srgbClr val="EEDFCC"/>
            </a:solidFill>
            <a:prstDash val="solid"/>
          </a:ln>
        </p:spPr>
      </p:sp>
      <p:sp>
        <p:nvSpPr>
          <p:cNvPr id="5" name="Shape 3"/>
          <p:cNvSpPr/>
          <p:nvPr/>
        </p:nvSpPr>
        <p:spPr>
          <a:xfrm>
            <a:off x="6204204" y="1600200"/>
            <a:ext cx="5436108" cy="4297680"/>
          </a:xfrm>
          <a:prstGeom prst="roundRect">
            <a:avLst>
              <a:gd name="adj" fmla="val 3191"/>
            </a:avLst>
          </a:prstGeom>
          <a:solidFill>
            <a:srgbClr val="4A2018"/>
          </a:solidFill>
          <a:ln w="12700">
            <a:solidFill>
              <a:srgbClr val="4A2018"/>
            </a:solidFill>
            <a:prstDash val="solid"/>
          </a:ln>
        </p:spPr>
      </p:sp>
      <p:sp>
        <p:nvSpPr>
          <p:cNvPr id="6" name="Shape 4"/>
          <p:cNvSpPr/>
          <p:nvPr/>
        </p:nvSpPr>
        <p:spPr>
          <a:xfrm>
            <a:off x="914400" y="1920240"/>
            <a:ext cx="868680" cy="868680"/>
          </a:xfrm>
          <a:prstGeom prst="ellipse">
            <a:avLst/>
          </a:prstGeom>
          <a:solidFill>
            <a:srgbClr val="BA4036"/>
          </a:solidFill>
          <a:ln w="12700">
            <a:solidFill>
              <a:srgbClr val="BA4036"/>
            </a:solidFill>
            <a:prstDash val="solid"/>
          </a:ln>
        </p:spPr>
      </p:sp>
      <p:pic>
        <p:nvPicPr>
          <p:cNvPr id="7" name="Image 0" descr="preencoded.png">    </p:cNvPr>
          <p:cNvPicPr>
            <a:picLocks noChangeAspect="1"/>
          </p:cNvPicPr>
          <p:nvPr/>
        </p:nvPicPr>
        <p:blipFill>
          <a:blip r:embed="rId1"/>
          <a:stretch>
            <a:fillRect/>
          </a:stretch>
        </p:blipFill>
        <p:spPr>
          <a:xfrm>
            <a:off x="1122883" y="2128723"/>
            <a:ext cx="451714" cy="451714"/>
          </a:xfrm>
          <a:prstGeom prst="rect">
            <a:avLst/>
          </a:prstGeom>
        </p:spPr>
      </p:pic>
      <p:sp>
        <p:nvSpPr>
          <p:cNvPr id="8" name="Text 5"/>
          <p:cNvSpPr txBox="1"/>
          <p:nvPr/>
        </p:nvSpPr>
        <p:spPr>
          <a:xfrm>
            <a:off x="1965960" y="1920240"/>
            <a:ext cx="3790188" cy="868680"/>
          </a:xfrm>
          <a:prstGeom prst="rect">
            <a:avLst/>
          </a:prstGeom>
          <a:noFill/>
          <a:ln/>
        </p:spPr>
        <p:txBody>
          <a:bodyPr wrap="square" lIns="0" tIns="0" rIns="0" bIns="0" rtlCol="0" anchor="ctr"/>
          <a:lstStyle/>
          <a:p>
            <a:pPr indent="0" marL="0">
              <a:buNone/>
            </a:pPr>
            <a:r>
              <a:rPr lang="en-US" sz="3600" b="1" dirty="0">
                <a:solidFill>
                  <a:srgbClr val="4A2018"/>
                </a:solidFill>
              </a:rPr>
              <a:t>Visible: no</a:t>
            </a:r>
            <a:endParaRPr lang="en-US" sz="3600" dirty="0"/>
          </a:p>
        </p:txBody>
      </p:sp>
      <p:sp>
        <p:nvSpPr>
          <p:cNvPr id="9" name="Text 6"/>
          <p:cNvSpPr txBox="1"/>
          <p:nvPr/>
        </p:nvSpPr>
        <p:spPr>
          <a:xfrm>
            <a:off x="914400" y="3063240"/>
            <a:ext cx="4704588" cy="1143000"/>
          </a:xfrm>
          <a:prstGeom prst="rect">
            <a:avLst/>
          </a:prstGeom>
          <a:noFill/>
          <a:ln/>
        </p:spPr>
        <p:txBody>
          <a:bodyPr wrap="square" lIns="0" tIns="0" rIns="0" bIns="0" rtlCol="0" anchor="t"/>
          <a:lstStyle/>
          <a:p>
            <a:pPr indent="0" marL="0">
              <a:buNone/>
            </a:pPr>
            <a:r>
              <a:rPr lang="en-US" sz="2400" dirty="0">
                <a:solidFill>
                  <a:srgbClr val="3B1A14"/>
                </a:solidFill>
              </a:rPr>
              <a:t>Nuggets y puré con sangrecita terminaron en la basura.</a:t>
            </a:r>
            <a:endParaRPr lang="en-US" sz="2400" dirty="0"/>
          </a:p>
        </p:txBody>
      </p:sp>
      <p:sp>
        <p:nvSpPr>
          <p:cNvPr id="10" name="Text 7"/>
          <p:cNvSpPr txBox="1"/>
          <p:nvPr/>
        </p:nvSpPr>
        <p:spPr>
          <a:xfrm>
            <a:off x="914400" y="4343400"/>
            <a:ext cx="4704588" cy="1188720"/>
          </a:xfrm>
          <a:prstGeom prst="rect">
            <a:avLst/>
          </a:prstGeom>
          <a:noFill/>
          <a:ln/>
        </p:spPr>
        <p:txBody>
          <a:bodyPr wrap="square" lIns="0" tIns="0" rIns="0" bIns="0" rtlCol="0" anchor="t"/>
          <a:lstStyle/>
          <a:p>
            <a:pPr indent="0" marL="0">
              <a:buNone/>
            </a:pPr>
            <a:r>
              <a:rPr lang="en-US" sz="2400" i="1" dirty="0">
                <a:solidFill>
                  <a:srgbClr val="6B3A2A"/>
                </a:solidFill>
              </a:rPr>
              <a:t>“Era un ingrediente recomendado, pero no le gustó.” Rubi</a:t>
            </a:r>
            <a:endParaRPr lang="en-US" sz="2400" dirty="0"/>
          </a:p>
        </p:txBody>
      </p:sp>
      <p:sp>
        <p:nvSpPr>
          <p:cNvPr id="11" name="Shape 8"/>
          <p:cNvSpPr/>
          <p:nvPr/>
        </p:nvSpPr>
        <p:spPr>
          <a:xfrm>
            <a:off x="6569964" y="1920240"/>
            <a:ext cx="868680" cy="868680"/>
          </a:xfrm>
          <a:prstGeom prst="ellipse">
            <a:avLst/>
          </a:prstGeom>
          <a:solidFill>
            <a:srgbClr val="7C8A3A"/>
          </a:solidFill>
          <a:ln w="12700">
            <a:solidFill>
              <a:srgbClr val="7C8A3A"/>
            </a:solidFill>
            <a:prstDash val="solid"/>
          </a:ln>
        </p:spPr>
      </p:sp>
      <p:pic>
        <p:nvPicPr>
          <p:cNvPr id="12" name="Image 1" descr="preencoded.png">    </p:cNvPr>
          <p:cNvPicPr>
            <a:picLocks noChangeAspect="1"/>
          </p:cNvPicPr>
          <p:nvPr/>
        </p:nvPicPr>
        <p:blipFill>
          <a:blip r:embed="rId2"/>
          <a:stretch>
            <a:fillRect/>
          </a:stretch>
        </p:blipFill>
        <p:spPr>
          <a:xfrm>
            <a:off x="6778447" y="2128723"/>
            <a:ext cx="451714" cy="451714"/>
          </a:xfrm>
          <a:prstGeom prst="rect">
            <a:avLst/>
          </a:prstGeom>
        </p:spPr>
      </p:pic>
      <p:sp>
        <p:nvSpPr>
          <p:cNvPr id="13" name="Text 9"/>
          <p:cNvSpPr txBox="1"/>
          <p:nvPr/>
        </p:nvSpPr>
        <p:spPr>
          <a:xfrm>
            <a:off x="7621524" y="1920240"/>
            <a:ext cx="3790188" cy="868680"/>
          </a:xfrm>
          <a:prstGeom prst="rect">
            <a:avLst/>
          </a:prstGeom>
          <a:noFill/>
          <a:ln/>
        </p:spPr>
        <p:txBody>
          <a:bodyPr wrap="square" lIns="0" tIns="0" rIns="0" bIns="0" rtlCol="0" anchor="ctr"/>
          <a:lstStyle/>
          <a:p>
            <a:pPr indent="0" marL="0">
              <a:buNone/>
            </a:pPr>
            <a:r>
              <a:rPr lang="en-US" sz="3600" b="1" dirty="0">
                <a:solidFill>
                  <a:srgbClr val="FBF3E8"/>
                </a:solidFill>
              </a:rPr>
              <a:t>Escondida: sí</a:t>
            </a:r>
            <a:endParaRPr lang="en-US" sz="3600" dirty="0"/>
          </a:p>
        </p:txBody>
      </p:sp>
      <p:sp>
        <p:nvSpPr>
          <p:cNvPr id="14" name="Text 10"/>
          <p:cNvSpPr txBox="1"/>
          <p:nvPr/>
        </p:nvSpPr>
        <p:spPr>
          <a:xfrm>
            <a:off x="6569964" y="3063240"/>
            <a:ext cx="4704588" cy="1143000"/>
          </a:xfrm>
          <a:prstGeom prst="rect">
            <a:avLst/>
          </a:prstGeom>
          <a:noFill/>
          <a:ln/>
        </p:spPr>
        <p:txBody>
          <a:bodyPr wrap="square" lIns="0" tIns="0" rIns="0" bIns="0" rtlCol="0" anchor="t"/>
          <a:lstStyle/>
          <a:p>
            <a:pPr indent="0" marL="0">
              <a:buNone/>
            </a:pPr>
            <a:r>
              <a:rPr lang="en-US" sz="2400" dirty="0">
                <a:solidFill>
                  <a:srgbClr val="FBF3E8"/>
                </a:solidFill>
              </a:rPr>
              <a:t>Una barrita de sangrecita «le gustó a la primera» al hijo de Adriana.</a:t>
            </a:r>
            <a:endParaRPr lang="en-US" sz="2400" dirty="0"/>
          </a:p>
        </p:txBody>
      </p:sp>
      <p:sp>
        <p:nvSpPr>
          <p:cNvPr id="15" name="Text 11"/>
          <p:cNvSpPr txBox="1"/>
          <p:nvPr/>
        </p:nvSpPr>
        <p:spPr>
          <a:xfrm>
            <a:off x="6569964" y="4343400"/>
            <a:ext cx="4704588" cy="1188720"/>
          </a:xfrm>
          <a:prstGeom prst="rect">
            <a:avLst/>
          </a:prstGeom>
          <a:noFill/>
          <a:ln/>
        </p:spPr>
        <p:txBody>
          <a:bodyPr wrap="square" lIns="0" tIns="0" rIns="0" bIns="0" rtlCol="0" anchor="t"/>
          <a:lstStyle/>
          <a:p>
            <a:pPr indent="0" marL="0">
              <a:buNone/>
            </a:pPr>
            <a:r>
              <a:rPr lang="en-US" sz="2400" i="1" dirty="0">
                <a:solidFill>
                  <a:srgbClr val="D9B48F"/>
                </a:solidFill>
              </a:rPr>
              <a:t>“Para ella eso es chocolate.” Lourdes</a:t>
            </a:r>
            <a:endParaRPr lang="en-US" sz="2400" dirty="0"/>
          </a:p>
        </p:txBody>
      </p:sp>
      <p:sp>
        <p:nvSpPr>
          <p:cNvPr id="16" name="Text 12"/>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01-contexto/03 (entrevistas a Rubi Arcos y Lourdes) y 04 (focus 1: Adriana, resumen de la transcripción).</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17</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HALLAZGO 3 · DEGUSTACIÓN DEL PROTOTIPO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Degustación con 4 madres: no se nota la sangrecita</a:t>
            </a:r>
            <a:endParaRPr lang="en-US" sz="4000" dirty="0"/>
          </a:p>
        </p:txBody>
      </p:sp>
      <p:pic>
        <p:nvPicPr>
          <p:cNvPr id="4" name="Image 0" descr="img/deck/degustacion_1.jpg">    </p:cNvPr>
          <p:cNvPicPr>
            <a:picLocks noChangeAspect="1"/>
          </p:cNvPicPr>
          <p:nvPr/>
        </p:nvPicPr>
        <p:blipFill>
          <a:blip r:embed="rId1"/>
          <a:stretch>
            <a:fillRect/>
          </a:stretch>
        </p:blipFill>
        <p:spPr>
          <a:xfrm>
            <a:off x="813816" y="1508760"/>
            <a:ext cx="2468880" cy="3291840"/>
          </a:xfrm>
          <a:prstGeom prst="rect">
            <a:avLst/>
          </a:prstGeom>
        </p:spPr>
      </p:pic>
      <p:pic>
        <p:nvPicPr>
          <p:cNvPr id="5" name="Image 1" descr="img/deck/degustacion_2.jpg">    </p:cNvPr>
          <p:cNvPicPr>
            <a:picLocks noChangeAspect="1"/>
          </p:cNvPicPr>
          <p:nvPr/>
        </p:nvPicPr>
        <p:blipFill>
          <a:blip r:embed="rId2"/>
          <a:stretch>
            <a:fillRect/>
          </a:stretch>
        </p:blipFill>
        <p:spPr>
          <a:xfrm>
            <a:off x="3511296" y="1508760"/>
            <a:ext cx="2468880" cy="3288901"/>
          </a:xfrm>
          <a:prstGeom prst="rect">
            <a:avLst/>
          </a:prstGeom>
        </p:spPr>
      </p:pic>
      <p:pic>
        <p:nvPicPr>
          <p:cNvPr id="6" name="Image 2" descr="img/deck/degustacion_3.jpg">    </p:cNvPr>
          <p:cNvPicPr>
            <a:picLocks noChangeAspect="1"/>
          </p:cNvPicPr>
          <p:nvPr/>
        </p:nvPicPr>
        <p:blipFill>
          <a:blip r:embed="rId3"/>
          <a:stretch>
            <a:fillRect/>
          </a:stretch>
        </p:blipFill>
        <p:spPr>
          <a:xfrm>
            <a:off x="6208776" y="1508760"/>
            <a:ext cx="2468880" cy="3287766"/>
          </a:xfrm>
          <a:prstGeom prst="rect">
            <a:avLst/>
          </a:prstGeom>
        </p:spPr>
      </p:pic>
      <p:pic>
        <p:nvPicPr>
          <p:cNvPr id="7" name="Image 3" descr="img/deck/degustacion_4.jpg">    </p:cNvPr>
          <p:cNvPicPr>
            <a:picLocks noChangeAspect="1"/>
          </p:cNvPicPr>
          <p:nvPr/>
        </p:nvPicPr>
        <p:blipFill>
          <a:blip r:embed="rId4"/>
          <a:stretch>
            <a:fillRect/>
          </a:stretch>
        </p:blipFill>
        <p:spPr>
          <a:xfrm>
            <a:off x="8906256" y="1508760"/>
            <a:ext cx="2468880" cy="3291840"/>
          </a:xfrm>
          <a:prstGeom prst="rect">
            <a:avLst/>
          </a:prstGeom>
        </p:spPr>
      </p:pic>
      <p:sp>
        <p:nvSpPr>
          <p:cNvPr id="8" name="Text 2"/>
          <p:cNvSpPr txBox="1"/>
          <p:nvPr/>
        </p:nvSpPr>
        <p:spPr>
          <a:xfrm>
            <a:off x="548640" y="5029200"/>
            <a:ext cx="11091672" cy="548640"/>
          </a:xfrm>
          <a:prstGeom prst="rect">
            <a:avLst/>
          </a:prstGeom>
          <a:noFill/>
          <a:ln/>
        </p:spPr>
        <p:txBody>
          <a:bodyPr wrap="square" lIns="0" tIns="0" rIns="0" bIns="0" rtlCol="0" anchor="t"/>
          <a:lstStyle/>
          <a:p>
            <a:pPr algn="ctr" indent="0" marL="0">
              <a:buNone/>
            </a:pPr>
            <a:r>
              <a:rPr lang="en-US" sz="2800" b="1" dirty="0">
                <a:solidFill>
                  <a:srgbClr val="4A2018"/>
                </a:solidFill>
              </a:rPr>
              <a:t>Sabe a postre de chocolate, sin olor ni sabor a sangrecita.</a:t>
            </a:r>
            <a:endParaRPr lang="en-US" sz="2800" dirty="0"/>
          </a:p>
        </p:txBody>
      </p:sp>
      <p:sp>
        <p:nvSpPr>
          <p:cNvPr id="9" name="Text 3"/>
          <p:cNvSpPr txBox="1"/>
          <p:nvPr/>
        </p:nvSpPr>
        <p:spPr>
          <a:xfrm>
            <a:off x="548640" y="5943600"/>
            <a:ext cx="10698480" cy="457200"/>
          </a:xfrm>
          <a:prstGeom prst="rect">
            <a:avLst/>
          </a:prstGeom>
          <a:noFill/>
          <a:ln/>
        </p:spPr>
        <p:txBody>
          <a:bodyPr wrap="square" lIns="0" tIns="0" rIns="0" bIns="0" rtlCol="0" anchor="b"/>
          <a:lstStyle/>
          <a:p>
            <a:pPr indent="0" marL="0">
              <a:buNone/>
            </a:pPr>
            <a:r>
              <a:rPr lang="en-US" sz="1100" dirty="0">
                <a:solidFill>
                  <a:srgbClr val="6B3A2A"/>
                </a:solidFill>
              </a:rPr>
              <a:t>Fuente: Lámina «Desarrollo de la moderación» (Canva del grupo): «no se percibe el sabor ni el olor a la sangrecita». Fotos: las 4 madres con el empaque impreso (bolsa kraft).</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18</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HALLAZGO 4 · PRECIO</a:t>
            </a:r>
            <a:endParaRPr lang="en-US" sz="1400" dirty="0"/>
          </a:p>
        </p:txBody>
      </p:sp>
      <p:sp>
        <p:nvSpPr>
          <p:cNvPr id="3" name="Text 1"/>
          <p:cNvSpPr txBox="1"/>
          <p:nvPr/>
        </p:nvSpPr>
        <p:spPr>
          <a:xfrm>
            <a:off x="548640" y="603504"/>
            <a:ext cx="11091672" cy="1234440"/>
          </a:xfrm>
          <a:prstGeom prst="rect">
            <a:avLst/>
          </a:prstGeom>
          <a:noFill/>
          <a:ln/>
        </p:spPr>
        <p:txBody>
          <a:bodyPr wrap="square" lIns="0" tIns="0" rIns="0" bIns="0" rtlCol="0" anchor="t"/>
          <a:lstStyle/>
          <a:p>
            <a:pPr indent="0" marL="0">
              <a:buNone/>
            </a:pPr>
            <a:r>
              <a:rPr lang="en-US" sz="4000" b="1" dirty="0">
                <a:solidFill>
                  <a:srgbClr val="FBF3E8"/>
                </a:solidFill>
              </a:rPr>
              <a:t>El sabor pasó la prueba; el precio se valida en A y B</a:t>
            </a:r>
            <a:endParaRPr lang="en-US" sz="4000" dirty="0"/>
          </a:p>
        </p:txBody>
      </p:sp>
      <p:sp>
        <p:nvSpPr>
          <p:cNvPr id="4" name="Text 2"/>
          <p:cNvSpPr txBox="1"/>
          <p:nvPr/>
        </p:nvSpPr>
        <p:spPr>
          <a:xfrm>
            <a:off x="548640" y="1874520"/>
            <a:ext cx="6583680" cy="1371600"/>
          </a:xfrm>
          <a:prstGeom prst="rect">
            <a:avLst/>
          </a:prstGeom>
          <a:noFill/>
          <a:ln/>
        </p:spPr>
        <p:txBody>
          <a:bodyPr wrap="square" lIns="0" tIns="0" rIns="0" bIns="0" rtlCol="0" anchor="t"/>
          <a:lstStyle/>
          <a:p>
            <a:pPr indent="0" marL="0">
              <a:buNone/>
            </a:pPr>
            <a:r>
              <a:rPr lang="en-US" sz="9600" b="1" dirty="0">
                <a:solidFill>
                  <a:srgbClr val="E3A33B"/>
                </a:solidFill>
              </a:rPr>
              <a:t>S/26 a 28</a:t>
            </a:r>
            <a:endParaRPr lang="en-US" sz="9600" dirty="0"/>
          </a:p>
        </p:txBody>
      </p:sp>
      <p:sp>
        <p:nvSpPr>
          <p:cNvPr id="5" name="Text 3"/>
          <p:cNvSpPr txBox="1"/>
          <p:nvPr/>
        </p:nvSpPr>
        <p:spPr>
          <a:xfrm>
            <a:off x="548640" y="3246120"/>
            <a:ext cx="6766560" cy="868680"/>
          </a:xfrm>
          <a:prstGeom prst="rect">
            <a:avLst/>
          </a:prstGeom>
          <a:noFill/>
          <a:ln/>
        </p:spPr>
        <p:txBody>
          <a:bodyPr wrap="square" lIns="0" tIns="0" rIns="0" bIns="0" rtlCol="0" anchor="t"/>
          <a:lstStyle/>
          <a:p>
            <a:pPr indent="0" marL="0">
              <a:buNone/>
            </a:pPr>
            <a:r>
              <a:rPr lang="en-US" sz="2800" dirty="0">
                <a:solidFill>
                  <a:srgbClr val="FBF3E8"/>
                </a:solidFill>
              </a:rPr>
              <a:t>precio objetivo del pack de 6 en A y B</a:t>
            </a:r>
            <a:endParaRPr lang="en-US" sz="2800" dirty="0"/>
          </a:p>
        </p:txBody>
      </p:sp>
      <p:sp>
        <p:nvSpPr>
          <p:cNvPr id="6" name="Text 4"/>
          <p:cNvSpPr/>
          <p:nvPr/>
        </p:nvSpPr>
        <p:spPr>
          <a:xfrm>
            <a:off x="7589520" y="2057400"/>
            <a:ext cx="4050792" cy="548640"/>
          </a:xfrm>
          <a:prstGeom prst="roundRect">
            <a:avLst>
              <a:gd name="adj" fmla="val 50000"/>
            </a:avLst>
          </a:prstGeom>
          <a:solidFill>
            <a:srgbClr val="E3A33B"/>
          </a:solidFill>
          <a:ln>
            <a:solidFill>
              <a:srgbClr val="E3A33B"/>
            </a:solidFill>
          </a:ln>
        </p:spPr>
        <p:txBody>
          <a:bodyPr wrap="square" lIns="50800" tIns="50800" rIns="50800" bIns="50800" rtlCol="0" anchor="ctr"/>
          <a:lstStyle/>
          <a:p>
            <a:pPr algn="ctr" indent="0" marL="0">
              <a:buNone/>
            </a:pPr>
            <a:r>
              <a:rPr lang="en-US" sz="1600" b="1" spc="200" kern="0" dirty="0">
                <a:solidFill>
                  <a:srgbClr val="4A2018"/>
                </a:solidFill>
                <a:latin typeface="Calibri" pitchFamily="34" charset="0"/>
                <a:ea typeface="Calibri" pitchFamily="34" charset="-122"/>
                <a:cs typeface="Calibri" pitchFamily="34" charset="-120"/>
              </a:rPr>
              <a:t>HIPÓTESIS EN VALIDACIÓN</a:t>
            </a:r>
            <a:endParaRPr lang="en-US" sz="1600" dirty="0"/>
          </a:p>
        </p:txBody>
      </p:sp>
      <p:sp>
        <p:nvSpPr>
          <p:cNvPr id="7" name="Text 5"/>
          <p:cNvSpPr txBox="1"/>
          <p:nvPr/>
        </p:nvSpPr>
        <p:spPr>
          <a:xfrm>
            <a:off x="7589520" y="2788920"/>
            <a:ext cx="4050792" cy="1280160"/>
          </a:xfrm>
          <a:prstGeom prst="rect">
            <a:avLst/>
          </a:prstGeom>
          <a:noFill/>
          <a:ln/>
        </p:spPr>
        <p:txBody>
          <a:bodyPr wrap="square" lIns="0" tIns="0" rIns="0" bIns="0" rtlCol="0" anchor="t"/>
          <a:lstStyle/>
          <a:p>
            <a:pPr indent="0" marL="0">
              <a:buNone/>
            </a:pPr>
            <a:r>
              <a:rPr lang="en-US" sz="2400" b="1" dirty="0">
                <a:solidFill>
                  <a:srgbClr val="FBF3E8"/>
                </a:solidFill>
              </a:rPr>
              <a:t>Encuesta a 30 padres</a:t>
            </a:r>
            <a:endParaRPr lang="en-US" sz="2400" dirty="0"/>
          </a:p>
          <a:p>
            <a:pPr indent="0" marL="0">
              <a:buNone/>
            </a:pPr>
            <a:r>
              <a:rPr lang="en-US" sz="2400" dirty="0">
                <a:solidFill>
                  <a:srgbClr val="D9B48F"/>
                </a:solidFill>
              </a:rPr>
              <a:t>método Van Westendorp, después de probar</a:t>
            </a:r>
            <a:endParaRPr lang="en-US" sz="2400" dirty="0"/>
          </a:p>
        </p:txBody>
      </p:sp>
      <p:sp>
        <p:nvSpPr>
          <p:cNvPr id="8" name="anim_meta"/>
          <p:cNvSpPr/>
          <p:nvPr/>
        </p:nvSpPr>
        <p:spPr>
          <a:xfrm>
            <a:off x="548640" y="4480560"/>
            <a:ext cx="11091672" cy="960120"/>
          </a:xfrm>
          <a:prstGeom prst="roundRect">
            <a:avLst>
              <a:gd name="adj" fmla="val 11429"/>
            </a:avLst>
          </a:prstGeom>
          <a:solidFill>
            <a:srgbClr val="6B3A2A"/>
          </a:solidFill>
          <a:ln>
            <a:solidFill>
              <a:srgbClr val="6B3A2A"/>
            </a:solidFill>
          </a:ln>
        </p:spPr>
        <p:txBody>
          <a:bodyPr wrap="square" lIns="152400" tIns="152400" rIns="152400" bIns="152400" rtlCol="0" anchor="ctr"/>
          <a:lstStyle/>
          <a:p>
            <a:pPr algn="ctr" indent="0" marL="0">
              <a:buNone/>
            </a:pPr>
            <a:r>
              <a:rPr lang="en-US" sz="2400" b="1" dirty="0">
                <a:solidFill>
                  <a:srgbClr val="FBF3E8"/>
                </a:solidFill>
                <a:latin typeface="Calibri" pitchFamily="34" charset="0"/>
                <a:ea typeface="Calibri" pitchFamily="34" charset="-122"/>
                <a:cs typeface="Calibri" pitchFamily="34" charset="-120"/>
              </a:rPr>
              <a:t>Meta: que la mediana de «caro, pero lo compraría» llegue a S/4.48 por brownie.</a:t>
            </a:r>
            <a:endParaRPr lang="en-US" sz="2400" dirty="0"/>
          </a:p>
        </p:txBody>
      </p:sp>
      <p:sp>
        <p:nvSpPr>
          <p:cNvPr id="9" name="Text 7"/>
          <p:cNvSpPr txBox="1"/>
          <p:nvPr/>
        </p:nvSpPr>
        <p:spPr>
          <a:xfrm>
            <a:off x="548640" y="5852160"/>
            <a:ext cx="10698480" cy="548640"/>
          </a:xfrm>
          <a:prstGeom prst="rect">
            <a:avLst/>
          </a:prstGeom>
          <a:noFill/>
          <a:ln/>
        </p:spPr>
        <p:txBody>
          <a:bodyPr wrap="square" lIns="0" tIns="0" rIns="0" bIns="0" rtlCol="0" anchor="b"/>
          <a:lstStyle/>
          <a:p>
            <a:pPr indent="0" marL="0">
              <a:buNone/>
            </a:pPr>
            <a:r>
              <a:rPr lang="en-US" sz="1100" dirty="0">
                <a:solidFill>
                  <a:srgbClr val="D9B48F"/>
                </a:solidFill>
              </a:rPr>
              <a:t>Fuente: Precios del plan con IGV: pack de 6 a S/26.90 por WhatsApp y S/27.90 en el stand (HECHOS_v7). Encuesta y métrica: documento 07, sección 2.7 [POR CONFIRMAR: aún no se aplica]. Nada de esto está validado todavía.</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19</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CARACTERÍSTICAS</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Lo que más valoraron y lo que debemos mejorar</a:t>
            </a:r>
            <a:endParaRPr lang="en-US" sz="4000" dirty="0"/>
          </a:p>
        </p:txBody>
      </p:sp>
      <p:sp>
        <p:nvSpPr>
          <p:cNvPr id="4" name="Shape 2"/>
          <p:cNvSpPr/>
          <p:nvPr/>
        </p:nvSpPr>
        <p:spPr>
          <a:xfrm>
            <a:off x="548640" y="1645920"/>
            <a:ext cx="5362956" cy="73152"/>
          </a:xfrm>
          <a:prstGeom prst="rect">
            <a:avLst/>
          </a:prstGeom>
          <a:solidFill>
            <a:srgbClr val="7C8A3A"/>
          </a:solidFill>
          <a:ln w="12700">
            <a:solidFill>
              <a:srgbClr val="7C8A3A"/>
            </a:solidFill>
            <a:prstDash val="solid"/>
          </a:ln>
        </p:spPr>
      </p:sp>
      <p:sp>
        <p:nvSpPr>
          <p:cNvPr id="5" name="Shape 3"/>
          <p:cNvSpPr/>
          <p:nvPr/>
        </p:nvSpPr>
        <p:spPr>
          <a:xfrm>
            <a:off x="6277356" y="1645920"/>
            <a:ext cx="5362956" cy="73152"/>
          </a:xfrm>
          <a:prstGeom prst="rect">
            <a:avLst/>
          </a:prstGeom>
          <a:solidFill>
            <a:srgbClr val="BA4036"/>
          </a:solidFill>
          <a:ln w="12700">
            <a:solidFill>
              <a:srgbClr val="BA4036"/>
            </a:solidFill>
            <a:prstDash val="solid"/>
          </a:ln>
        </p:spPr>
      </p:sp>
      <p:sp>
        <p:nvSpPr>
          <p:cNvPr id="6" name="anim_valorado"/>
          <p:cNvSpPr txBox="1"/>
          <p:nvPr/>
        </p:nvSpPr>
        <p:spPr>
          <a:xfrm>
            <a:off x="548640" y="1874520"/>
            <a:ext cx="5362956" cy="3840480"/>
          </a:xfrm>
          <a:prstGeom prst="rect">
            <a:avLst/>
          </a:prstGeom>
          <a:noFill/>
          <a:ln/>
        </p:spPr>
        <p:txBody>
          <a:bodyPr wrap="square" lIns="0" tIns="0" rIns="0" bIns="0" rtlCol="0" anchor="t"/>
          <a:lstStyle/>
          <a:p>
            <a:pPr indent="0" marL="0">
              <a:spcAft>
                <a:spcPts val="1000"/>
              </a:spcAft>
              <a:buNone/>
            </a:pPr>
            <a:r>
              <a:rPr lang="en-US" sz="1600" b="1" spc="200" kern="0" dirty="0">
                <a:solidFill>
                  <a:srgbClr val="7C8A3A"/>
                </a:solidFill>
              </a:rPr>
              <a:t>LO MÁS VALORADO</a:t>
            </a:r>
            <a:endParaRPr lang="en-US" sz="1400" dirty="0"/>
          </a:p>
          <a:p>
            <a:pPr marL="355600" indent="-355600">
              <a:spcAft>
                <a:spcPts val="2200"/>
              </a:spcAft>
              <a:buSzPct val="100000"/>
              <a:buChar char="✓"/>
            </a:pPr>
            <a:r>
              <a:rPr lang="en-US" sz="2800" dirty="0">
                <a:solidFill>
                  <a:srgbClr val="3B1A14"/>
                </a:solidFill>
              </a:rPr>
              <a:t>Que el niño lo pida</a:t>
            </a:r>
            <a:endParaRPr lang="en-US" sz="1400" dirty="0"/>
          </a:p>
          <a:p>
            <a:pPr marL="355600" indent="-355600">
              <a:spcAft>
                <a:spcPts val="2200"/>
              </a:spcAft>
              <a:buSzPct val="100000"/>
              <a:buChar char="✓"/>
            </a:pPr>
            <a:r>
              <a:rPr lang="en-US" sz="2800" dirty="0">
                <a:solidFill>
                  <a:srgbClr val="3B1A14"/>
                </a:solidFill>
              </a:rPr>
              <a:t>No se nota la sangrecita</a:t>
            </a:r>
            <a:endParaRPr lang="en-US" sz="1400" dirty="0"/>
          </a:p>
          <a:p>
            <a:pPr marL="355600" indent="-355600">
              <a:spcAft>
                <a:spcPts val="2200"/>
              </a:spcAft>
              <a:buSzPct val="100000"/>
              <a:buChar char="✓"/>
            </a:pPr>
            <a:r>
              <a:rPr lang="en-US" sz="2800" dirty="0">
                <a:solidFill>
                  <a:srgbClr val="3B1A14"/>
                </a:solidFill>
              </a:rPr>
              <a:t>Sabor a chocolate</a:t>
            </a:r>
            <a:endParaRPr lang="en-US" sz="1400" dirty="0"/>
          </a:p>
          <a:p>
            <a:pPr marL="355600" indent="-355600">
              <a:spcAft>
                <a:spcPts val="2200"/>
              </a:spcAft>
              <a:buSzPct val="100000"/>
              <a:buChar char="✓"/>
            </a:pPr>
            <a:r>
              <a:rPr lang="en-US" sz="2800" dirty="0">
                <a:solidFill>
                  <a:srgbClr val="3B1A14"/>
                </a:solidFill>
              </a:rPr>
              <a:t>Porción lista para la mochila</a:t>
            </a:r>
            <a:endParaRPr lang="en-US" sz="1400" dirty="0"/>
          </a:p>
        </p:txBody>
      </p:sp>
      <p:sp>
        <p:nvSpPr>
          <p:cNvPr id="7" name="anim_mejorar"/>
          <p:cNvSpPr txBox="1"/>
          <p:nvPr/>
        </p:nvSpPr>
        <p:spPr>
          <a:xfrm>
            <a:off x="6277356" y="1874520"/>
            <a:ext cx="5362956" cy="3840480"/>
          </a:xfrm>
          <a:prstGeom prst="rect">
            <a:avLst/>
          </a:prstGeom>
          <a:noFill/>
          <a:ln/>
        </p:spPr>
        <p:txBody>
          <a:bodyPr wrap="square" lIns="0" tIns="0" rIns="0" bIns="0" rtlCol="0" anchor="t"/>
          <a:lstStyle/>
          <a:p>
            <a:pPr indent="0" marL="0">
              <a:spcAft>
                <a:spcPts val="1000"/>
              </a:spcAft>
              <a:buNone/>
            </a:pPr>
            <a:r>
              <a:rPr lang="en-US" sz="1600" b="1" spc="200" kern="0" dirty="0">
                <a:solidFill>
                  <a:srgbClr val="BA4036"/>
                </a:solidFill>
              </a:rPr>
              <a:t>POR MEJORAR</a:t>
            </a:r>
            <a:endParaRPr lang="en-US" sz="1400" dirty="0"/>
          </a:p>
          <a:p>
            <a:pPr marL="355600" indent="-355600">
              <a:spcAft>
                <a:spcPts val="2200"/>
              </a:spcAft>
              <a:buSzPct val="100000"/>
              <a:buChar char="→"/>
            </a:pPr>
            <a:r>
              <a:rPr lang="en-US" sz="2800" dirty="0">
                <a:solidFill>
                  <a:srgbClr val="3B1A14"/>
                </a:solidFill>
              </a:rPr>
              <a:t>Validar el precio en A y B</a:t>
            </a:r>
            <a:endParaRPr lang="en-US" sz="1400" dirty="0"/>
          </a:p>
          <a:p>
            <a:pPr marL="355600" indent="-355600">
              <a:spcAft>
                <a:spcPts val="2200"/>
              </a:spcAft>
              <a:buSzPct val="100000"/>
              <a:buChar char="→"/>
            </a:pPr>
            <a:r>
              <a:rPr lang="en-US" sz="2800" dirty="0">
                <a:solidFill>
                  <a:srgbClr val="3B1A14"/>
                </a:solidFill>
              </a:rPr>
              <a:t>Probarlo con niños, no solo adultos</a:t>
            </a:r>
            <a:endParaRPr lang="en-US" sz="1400" dirty="0"/>
          </a:p>
          <a:p>
            <a:pPr marL="355600" indent="-355600">
              <a:spcAft>
                <a:spcPts val="2200"/>
              </a:spcAft>
              <a:buSzPct val="100000"/>
              <a:buChar char="→"/>
            </a:pPr>
            <a:r>
              <a:rPr lang="en-US" sz="2800" dirty="0">
                <a:solidFill>
                  <a:srgbClr val="3B1A14"/>
                </a:solidFill>
              </a:rPr>
              <a:t>Medir el hierro en laboratorio</a:t>
            </a:r>
            <a:endParaRPr lang="en-US" sz="1400" dirty="0"/>
          </a:p>
          <a:p>
            <a:pPr marL="355600" indent="-355600">
              <a:spcAft>
                <a:spcPts val="2200"/>
              </a:spcAft>
              <a:buSzPct val="100000"/>
              <a:buChar char="→"/>
            </a:pPr>
            <a:r>
              <a:rPr lang="en-US" sz="2800" dirty="0">
                <a:solidFill>
                  <a:srgbClr val="3B1A14"/>
                </a:solidFill>
              </a:rPr>
              <a:t>Hablar de hierro, no de anemia</a:t>
            </a:r>
            <a:endParaRPr lang="en-US" sz="1400" dirty="0"/>
          </a:p>
        </p:txBody>
      </p:sp>
      <p:sp>
        <p:nvSpPr>
          <p:cNvPr id="8" name="Text 6"/>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Entrevistas y focus 1 (01-contexto/03 y 04); degustación (láminas del Canva del grupo); T1, sección 2.6; HECHOS_v7 («sin la prueba del niño no hay compra»).</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20</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ACEPTACIÓN INICIAL</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El brownie empató y lo elegimos por viabilidad</a:t>
            </a:r>
            <a:endParaRPr lang="en-US" sz="4000" dirty="0"/>
          </a:p>
        </p:txBody>
      </p:sp>
      <p:sp>
        <p:nvSpPr>
          <p:cNvPr id="4" name="Text 2"/>
          <p:cNvSpPr txBox="1"/>
          <p:nvPr/>
        </p:nvSpPr>
        <p:spPr>
          <a:xfrm>
            <a:off x="548640" y="1783080"/>
            <a:ext cx="4389120" cy="1234440"/>
          </a:xfrm>
          <a:prstGeom prst="rect">
            <a:avLst/>
          </a:prstGeom>
          <a:noFill/>
          <a:ln/>
        </p:spPr>
        <p:txBody>
          <a:bodyPr wrap="square" lIns="0" tIns="0" rIns="0" bIns="0" rtlCol="0" anchor="t"/>
          <a:lstStyle/>
          <a:p>
            <a:pPr indent="0" marL="0">
              <a:buNone/>
            </a:pPr>
            <a:r>
              <a:rPr lang="en-US" sz="8800" b="1" dirty="0">
                <a:solidFill>
                  <a:srgbClr val="BA4036"/>
                </a:solidFill>
              </a:rPr>
              <a:t>2 de 5</a:t>
            </a:r>
            <a:endParaRPr lang="en-US" sz="8800" dirty="0"/>
          </a:p>
        </p:txBody>
      </p:sp>
      <p:sp>
        <p:nvSpPr>
          <p:cNvPr id="5" name="Text 3"/>
          <p:cNvSpPr txBox="1"/>
          <p:nvPr/>
        </p:nvSpPr>
        <p:spPr>
          <a:xfrm>
            <a:off x="548640" y="2971800"/>
            <a:ext cx="4754880" cy="457200"/>
          </a:xfrm>
          <a:prstGeom prst="rect">
            <a:avLst/>
          </a:prstGeom>
          <a:noFill/>
          <a:ln/>
        </p:spPr>
        <p:txBody>
          <a:bodyPr wrap="square" lIns="0" tIns="0" rIns="0" bIns="0" rtlCol="0" anchor="t"/>
          <a:lstStyle/>
          <a:p>
            <a:pPr indent="0" marL="0">
              <a:buNone/>
            </a:pPr>
            <a:r>
              <a:rPr lang="en-US" sz="2400" dirty="0">
                <a:solidFill>
                  <a:srgbClr val="3B1A14"/>
                </a:solidFill>
              </a:rPr>
              <a:t>votos: empate con la trufa</a:t>
            </a:r>
            <a:endParaRPr lang="en-US" sz="2400" dirty="0"/>
          </a:p>
        </p:txBody>
      </p:sp>
      <p:sp>
        <p:nvSpPr>
          <p:cNvPr id="6" name="Text 4"/>
          <p:cNvSpPr txBox="1"/>
          <p:nvPr/>
        </p:nvSpPr>
        <p:spPr>
          <a:xfrm>
            <a:off x="548640" y="3611880"/>
            <a:ext cx="1280160" cy="411480"/>
          </a:xfrm>
          <a:prstGeom prst="rect">
            <a:avLst/>
          </a:prstGeom>
          <a:noFill/>
          <a:ln/>
        </p:spPr>
        <p:txBody>
          <a:bodyPr wrap="square" lIns="0" tIns="0" rIns="0" bIns="0" rtlCol="0" anchor="ctr"/>
          <a:lstStyle/>
          <a:p>
            <a:pPr indent="0" marL="0">
              <a:buNone/>
            </a:pPr>
            <a:r>
              <a:rPr lang="en-US" sz="2000" b="1" dirty="0">
                <a:solidFill>
                  <a:srgbClr val="4A2018"/>
                </a:solidFill>
              </a:rPr>
              <a:t>Brownie</a:t>
            </a:r>
            <a:endParaRPr lang="en-US" sz="2000" dirty="0"/>
          </a:p>
        </p:txBody>
      </p:sp>
      <p:sp>
        <p:nvSpPr>
          <p:cNvPr id="7" name="Shape 5"/>
          <p:cNvSpPr/>
          <p:nvPr/>
        </p:nvSpPr>
        <p:spPr>
          <a:xfrm>
            <a:off x="1874520" y="3675888"/>
            <a:ext cx="2377440" cy="292608"/>
          </a:xfrm>
          <a:prstGeom prst="rect">
            <a:avLst/>
          </a:prstGeom>
          <a:solidFill>
            <a:srgbClr val="BA4036"/>
          </a:solidFill>
          <a:ln w="12700">
            <a:solidFill>
              <a:srgbClr val="BA4036"/>
            </a:solidFill>
            <a:prstDash val="solid"/>
          </a:ln>
        </p:spPr>
      </p:sp>
      <p:sp>
        <p:nvSpPr>
          <p:cNvPr id="8" name="Text 6"/>
          <p:cNvSpPr txBox="1"/>
          <p:nvPr/>
        </p:nvSpPr>
        <p:spPr>
          <a:xfrm>
            <a:off x="4343400" y="3611880"/>
            <a:ext cx="457200" cy="411480"/>
          </a:xfrm>
          <a:prstGeom prst="rect">
            <a:avLst/>
          </a:prstGeom>
          <a:noFill/>
          <a:ln/>
        </p:spPr>
        <p:txBody>
          <a:bodyPr wrap="square" lIns="0" tIns="0" rIns="0" bIns="0" rtlCol="0" anchor="ctr"/>
          <a:lstStyle/>
          <a:p>
            <a:pPr indent="0" marL="0">
              <a:buNone/>
            </a:pPr>
            <a:r>
              <a:rPr lang="en-US" sz="2000" b="1" dirty="0">
                <a:solidFill>
                  <a:srgbClr val="4A2018"/>
                </a:solidFill>
              </a:rPr>
              <a:t>2</a:t>
            </a:r>
            <a:endParaRPr lang="en-US" sz="2000" dirty="0"/>
          </a:p>
        </p:txBody>
      </p:sp>
      <p:sp>
        <p:nvSpPr>
          <p:cNvPr id="9" name="Text 7"/>
          <p:cNvSpPr txBox="1"/>
          <p:nvPr/>
        </p:nvSpPr>
        <p:spPr>
          <a:xfrm>
            <a:off x="548640" y="4114800"/>
            <a:ext cx="1280160" cy="411480"/>
          </a:xfrm>
          <a:prstGeom prst="rect">
            <a:avLst/>
          </a:prstGeom>
          <a:noFill/>
          <a:ln/>
        </p:spPr>
        <p:txBody>
          <a:bodyPr wrap="square" lIns="0" tIns="0" rIns="0" bIns="0" rtlCol="0" anchor="ctr"/>
          <a:lstStyle/>
          <a:p>
            <a:pPr indent="0" marL="0">
              <a:buNone/>
            </a:pPr>
            <a:r>
              <a:rPr lang="en-US" sz="2000" b="1" dirty="0">
                <a:solidFill>
                  <a:srgbClr val="4A2018"/>
                </a:solidFill>
              </a:rPr>
              <a:t>Trufa</a:t>
            </a:r>
            <a:endParaRPr lang="en-US" sz="2000" dirty="0"/>
          </a:p>
        </p:txBody>
      </p:sp>
      <p:sp>
        <p:nvSpPr>
          <p:cNvPr id="10" name="Shape 8"/>
          <p:cNvSpPr/>
          <p:nvPr/>
        </p:nvSpPr>
        <p:spPr>
          <a:xfrm>
            <a:off x="1874520" y="4178808"/>
            <a:ext cx="2377440" cy="292608"/>
          </a:xfrm>
          <a:prstGeom prst="rect">
            <a:avLst/>
          </a:prstGeom>
          <a:solidFill>
            <a:srgbClr val="6B3A2A"/>
          </a:solidFill>
          <a:ln w="12700">
            <a:solidFill>
              <a:srgbClr val="6B3A2A"/>
            </a:solidFill>
            <a:prstDash val="solid"/>
          </a:ln>
        </p:spPr>
      </p:sp>
      <p:sp>
        <p:nvSpPr>
          <p:cNvPr id="11" name="Text 9"/>
          <p:cNvSpPr txBox="1"/>
          <p:nvPr/>
        </p:nvSpPr>
        <p:spPr>
          <a:xfrm>
            <a:off x="4343400" y="4114800"/>
            <a:ext cx="457200" cy="411480"/>
          </a:xfrm>
          <a:prstGeom prst="rect">
            <a:avLst/>
          </a:prstGeom>
          <a:noFill/>
          <a:ln/>
        </p:spPr>
        <p:txBody>
          <a:bodyPr wrap="square" lIns="0" tIns="0" rIns="0" bIns="0" rtlCol="0" anchor="ctr"/>
          <a:lstStyle/>
          <a:p>
            <a:pPr indent="0" marL="0">
              <a:buNone/>
            </a:pPr>
            <a:r>
              <a:rPr lang="en-US" sz="2000" b="1" dirty="0">
                <a:solidFill>
                  <a:srgbClr val="4A2018"/>
                </a:solidFill>
              </a:rPr>
              <a:t>2</a:t>
            </a:r>
            <a:endParaRPr lang="en-US" sz="2000" dirty="0"/>
          </a:p>
        </p:txBody>
      </p:sp>
      <p:sp>
        <p:nvSpPr>
          <p:cNvPr id="12" name="Text 10"/>
          <p:cNvSpPr txBox="1"/>
          <p:nvPr/>
        </p:nvSpPr>
        <p:spPr>
          <a:xfrm>
            <a:off x="548640" y="4617720"/>
            <a:ext cx="1280160" cy="411480"/>
          </a:xfrm>
          <a:prstGeom prst="rect">
            <a:avLst/>
          </a:prstGeom>
          <a:noFill/>
          <a:ln/>
        </p:spPr>
        <p:txBody>
          <a:bodyPr wrap="square" lIns="0" tIns="0" rIns="0" bIns="0" rtlCol="0" anchor="ctr"/>
          <a:lstStyle/>
          <a:p>
            <a:pPr indent="0" marL="0">
              <a:buNone/>
            </a:pPr>
            <a:r>
              <a:rPr lang="en-US" sz="2000" b="1" dirty="0">
                <a:solidFill>
                  <a:srgbClr val="4A2018"/>
                </a:solidFill>
              </a:rPr>
              <a:t>Wafer</a:t>
            </a:r>
            <a:endParaRPr lang="en-US" sz="2000" dirty="0"/>
          </a:p>
        </p:txBody>
      </p:sp>
      <p:sp>
        <p:nvSpPr>
          <p:cNvPr id="13" name="Shape 11"/>
          <p:cNvSpPr/>
          <p:nvPr/>
        </p:nvSpPr>
        <p:spPr>
          <a:xfrm>
            <a:off x="1874520" y="4681728"/>
            <a:ext cx="1188720" cy="292608"/>
          </a:xfrm>
          <a:prstGeom prst="rect">
            <a:avLst/>
          </a:prstGeom>
          <a:solidFill>
            <a:srgbClr val="D9B48F"/>
          </a:solidFill>
          <a:ln w="12700">
            <a:solidFill>
              <a:srgbClr val="D9B48F"/>
            </a:solidFill>
            <a:prstDash val="solid"/>
          </a:ln>
        </p:spPr>
      </p:sp>
      <p:sp>
        <p:nvSpPr>
          <p:cNvPr id="14" name="Text 12"/>
          <p:cNvSpPr txBox="1"/>
          <p:nvPr/>
        </p:nvSpPr>
        <p:spPr>
          <a:xfrm>
            <a:off x="3154680" y="4617720"/>
            <a:ext cx="457200" cy="411480"/>
          </a:xfrm>
          <a:prstGeom prst="rect">
            <a:avLst/>
          </a:prstGeom>
          <a:noFill/>
          <a:ln/>
        </p:spPr>
        <p:txBody>
          <a:bodyPr wrap="square" lIns="0" tIns="0" rIns="0" bIns="0" rtlCol="0" anchor="ctr"/>
          <a:lstStyle/>
          <a:p>
            <a:pPr indent="0" marL="0">
              <a:buNone/>
            </a:pPr>
            <a:r>
              <a:rPr lang="en-US" sz="2000" b="1" dirty="0">
                <a:solidFill>
                  <a:srgbClr val="4A2018"/>
                </a:solidFill>
              </a:rPr>
              <a:t>1</a:t>
            </a:r>
            <a:endParaRPr lang="en-US" sz="2000" dirty="0"/>
          </a:p>
        </p:txBody>
      </p:sp>
      <p:sp>
        <p:nvSpPr>
          <p:cNvPr id="15" name="Text 13"/>
          <p:cNvSpPr txBox="1"/>
          <p:nvPr/>
        </p:nvSpPr>
        <p:spPr>
          <a:xfrm>
            <a:off x="5852160" y="1828800"/>
            <a:ext cx="5760720" cy="320040"/>
          </a:xfrm>
          <a:prstGeom prst="rect">
            <a:avLst/>
          </a:prstGeom>
          <a:noFill/>
          <a:ln/>
        </p:spPr>
        <p:txBody>
          <a:bodyPr wrap="square" lIns="0" tIns="0" rIns="0" bIns="0" rtlCol="0" anchor="t"/>
          <a:lstStyle/>
          <a:p>
            <a:pPr indent="0" marL="0">
              <a:buNone/>
            </a:pPr>
            <a:r>
              <a:rPr lang="en-US" sz="1600" b="1" spc="200" kern="0" dirty="0">
                <a:solidFill>
                  <a:srgbClr val="BA4036"/>
                </a:solidFill>
              </a:rPr>
              <a:t>POR QUÉ EL BROWNIE</a:t>
            </a:r>
            <a:endParaRPr lang="en-US" sz="1600" dirty="0"/>
          </a:p>
        </p:txBody>
      </p:sp>
      <p:sp>
        <p:nvSpPr>
          <p:cNvPr id="16" name="anim_razon1"/>
          <p:cNvSpPr/>
          <p:nvPr/>
        </p:nvSpPr>
        <p:spPr>
          <a:xfrm>
            <a:off x="5852160" y="2240280"/>
            <a:ext cx="5788152" cy="749808"/>
          </a:xfrm>
          <a:prstGeom prst="roundRect">
            <a:avLst>
              <a:gd name="adj" fmla="val 14634"/>
            </a:avLst>
          </a:prstGeom>
          <a:solidFill>
            <a:srgbClr val="FFFFFF"/>
          </a:solidFill>
          <a:ln>
            <a:solidFill>
              <a:srgbClr val="FFFFFF"/>
            </a:solidFill>
          </a:ln>
        </p:spPr>
        <p:txBody>
          <a:bodyPr wrap="square" lIns="177800" tIns="177800" rIns="177800" bIns="177800" rtlCol="0" anchor="ctr"/>
          <a:lstStyle/>
          <a:p>
            <a:pPr indent="0" marL="0">
              <a:buNone/>
            </a:pPr>
            <a:r>
              <a:rPr lang="en-US" sz="2600" b="1" dirty="0">
                <a:solidFill>
                  <a:srgbClr val="BA4036"/>
                </a:solidFill>
                <a:latin typeface="Calibri" pitchFamily="34" charset="0"/>
                <a:ea typeface="Calibri" pitchFamily="34" charset="-122"/>
                <a:cs typeface="Calibri" pitchFamily="34" charset="-120"/>
              </a:rPr>
              <a:t>1   </a:t>
            </a:r>
            <a:pPr indent="0" marL="0">
              <a:buNone/>
            </a:pPr>
            <a:r>
              <a:rPr lang="en-US" sz="2400" dirty="0">
                <a:solidFill>
                  <a:srgbClr val="3B1A14"/>
                </a:solidFill>
                <a:latin typeface="Calibri" pitchFamily="34" charset="0"/>
                <a:ea typeface="Calibri" pitchFamily="34" charset="-122"/>
                <a:cs typeface="Calibri" pitchFamily="34" charset="-120"/>
              </a:rPr>
              <a:t>Se hace con horno, moldes y balanza</a:t>
            </a:r>
            <a:endParaRPr lang="en-US" sz="2600" dirty="0"/>
          </a:p>
        </p:txBody>
      </p:sp>
      <p:sp>
        <p:nvSpPr>
          <p:cNvPr id="17" name="anim_razon2"/>
          <p:cNvSpPr/>
          <p:nvPr/>
        </p:nvSpPr>
        <p:spPr>
          <a:xfrm>
            <a:off x="5852160" y="3136392"/>
            <a:ext cx="5788152" cy="749808"/>
          </a:xfrm>
          <a:prstGeom prst="roundRect">
            <a:avLst>
              <a:gd name="adj" fmla="val 14634"/>
            </a:avLst>
          </a:prstGeom>
          <a:solidFill>
            <a:srgbClr val="FFFFFF"/>
          </a:solidFill>
          <a:ln>
            <a:solidFill>
              <a:srgbClr val="FFFFFF"/>
            </a:solidFill>
          </a:ln>
        </p:spPr>
        <p:txBody>
          <a:bodyPr wrap="square" lIns="177800" tIns="177800" rIns="177800" bIns="177800" rtlCol="0" anchor="ctr"/>
          <a:lstStyle/>
          <a:p>
            <a:pPr indent="0" marL="0">
              <a:buNone/>
            </a:pPr>
            <a:r>
              <a:rPr lang="en-US" sz="2600" b="1" dirty="0">
                <a:solidFill>
                  <a:srgbClr val="BA4036"/>
                </a:solidFill>
                <a:latin typeface="Calibri" pitchFamily="34" charset="0"/>
                <a:ea typeface="Calibri" pitchFamily="34" charset="-122"/>
                <a:cs typeface="Calibri" pitchFamily="34" charset="-120"/>
              </a:rPr>
              <a:t>2   </a:t>
            </a:r>
            <a:pPr indent="0" marL="0">
              <a:buNone/>
            </a:pPr>
            <a:r>
              <a:rPr lang="en-US" sz="2400" dirty="0">
                <a:solidFill>
                  <a:srgbClr val="3B1A14"/>
                </a:solidFill>
                <a:latin typeface="Calibri" pitchFamily="34" charset="0"/>
                <a:ea typeface="Calibri" pitchFamily="34" charset="-122"/>
                <a:cs typeface="Calibri" pitchFamily="34" charset="-120"/>
              </a:rPr>
              <a:t>El chocolate esconde la sangrecita</a:t>
            </a:r>
            <a:endParaRPr lang="en-US" sz="2600" dirty="0"/>
          </a:p>
        </p:txBody>
      </p:sp>
      <p:sp>
        <p:nvSpPr>
          <p:cNvPr id="18" name="anim_razon3"/>
          <p:cNvSpPr/>
          <p:nvPr/>
        </p:nvSpPr>
        <p:spPr>
          <a:xfrm>
            <a:off x="5852160" y="4032504"/>
            <a:ext cx="5788152" cy="749808"/>
          </a:xfrm>
          <a:prstGeom prst="roundRect">
            <a:avLst>
              <a:gd name="adj" fmla="val 14634"/>
            </a:avLst>
          </a:prstGeom>
          <a:solidFill>
            <a:srgbClr val="FFFFFF"/>
          </a:solidFill>
          <a:ln>
            <a:solidFill>
              <a:srgbClr val="FFFFFF"/>
            </a:solidFill>
          </a:ln>
        </p:spPr>
        <p:txBody>
          <a:bodyPr wrap="square" lIns="177800" tIns="177800" rIns="177800" bIns="177800" rtlCol="0" anchor="ctr"/>
          <a:lstStyle/>
          <a:p>
            <a:pPr indent="0" marL="0">
              <a:buNone/>
            </a:pPr>
            <a:r>
              <a:rPr lang="en-US" sz="2600" b="1" dirty="0">
                <a:solidFill>
                  <a:srgbClr val="BA4036"/>
                </a:solidFill>
                <a:latin typeface="Calibri" pitchFamily="34" charset="0"/>
                <a:ea typeface="Calibri" pitchFamily="34" charset="-122"/>
                <a:cs typeface="Calibri" pitchFamily="34" charset="-120"/>
              </a:rPr>
              <a:t>3   </a:t>
            </a:r>
            <a:pPr indent="0" marL="0">
              <a:buNone/>
            </a:pPr>
            <a:r>
              <a:rPr lang="en-US" sz="2400" dirty="0">
                <a:solidFill>
                  <a:srgbClr val="3B1A14"/>
                </a:solidFill>
                <a:latin typeface="Calibri" pitchFamily="34" charset="0"/>
                <a:ea typeface="Calibri" pitchFamily="34" charset="-122"/>
                <a:cs typeface="Calibri" pitchFamily="34" charset="-120"/>
              </a:rPr>
              <a:t>Su precio cabía en lo declarado</a:t>
            </a:r>
            <a:endParaRPr lang="en-US" sz="2600" dirty="0"/>
          </a:p>
        </p:txBody>
      </p:sp>
      <p:sp>
        <p:nvSpPr>
          <p:cNvPr id="19" name="Text 17"/>
          <p:cNvSpPr/>
          <p:nvPr/>
        </p:nvSpPr>
        <p:spPr>
          <a:xfrm>
            <a:off x="548640" y="5257800"/>
            <a:ext cx="11091672" cy="658368"/>
          </a:xfrm>
          <a:prstGeom prst="roundRect">
            <a:avLst>
              <a:gd name="adj" fmla="val 50000"/>
            </a:avLst>
          </a:prstGeom>
          <a:solidFill>
            <a:srgbClr val="4A2018"/>
          </a:solidFill>
          <a:ln>
            <a:solidFill>
              <a:srgbClr val="4A2018"/>
            </a:solidFill>
          </a:ln>
        </p:spPr>
        <p:txBody>
          <a:bodyPr wrap="square" lIns="152400" tIns="152400" rIns="152400" bIns="152400" rtlCol="0" anchor="ctr"/>
          <a:lstStyle/>
          <a:p>
            <a:pPr algn="ctr" indent="0" marL="0">
              <a:buNone/>
            </a:pPr>
            <a:r>
              <a:rPr lang="en-US" sz="2400" b="1" dirty="0">
                <a:solidFill>
                  <a:srgbClr val="FBF3E8"/>
                </a:solidFill>
                <a:latin typeface="Calibri" pitchFamily="34" charset="0"/>
                <a:ea typeface="Calibri" pitchFamily="34" charset="-122"/>
                <a:cs typeface="Calibri" pitchFamily="34" charset="-120"/>
              </a:rPr>
              <a:t>Sigue: degustación completa, prueba con 20 niños y encuesta a 30 padres.</a:t>
            </a:r>
            <a:endParaRPr lang="en-US" sz="2400" dirty="0"/>
          </a:p>
        </p:txBody>
      </p:sp>
      <p:sp>
        <p:nvSpPr>
          <p:cNvPr id="20" name="Text 18"/>
          <p:cNvSpPr txBox="1"/>
          <p:nvPr/>
        </p:nvSpPr>
        <p:spPr>
          <a:xfrm>
            <a:off x="548640" y="5989320"/>
            <a:ext cx="10698480" cy="411480"/>
          </a:xfrm>
          <a:prstGeom prst="rect">
            <a:avLst/>
          </a:prstGeom>
          <a:noFill/>
          <a:ln/>
        </p:spPr>
        <p:txBody>
          <a:bodyPr wrap="square" lIns="0" tIns="0" rIns="0" bIns="0" rtlCol="0" anchor="b"/>
          <a:lstStyle/>
          <a:p>
            <a:pPr indent="0" marL="0">
              <a:buNone/>
            </a:pPr>
            <a:r>
              <a:rPr lang="en-US" sz="1100" dirty="0">
                <a:solidFill>
                  <a:srgbClr val="6B3A2A"/>
                </a:solidFill>
              </a:rPr>
              <a:t>Fuente: 01-contexto/04 (focus 1 virtual, sin degustación: 6 participantes, votaron 5) y 01 (por qué ganó el brownie; S/2.50 a 5 por porción en las entrevistas); T1, sección 2.6 (meta: 75 % en caritas 4 y 5).</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21</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685800"/>
            <a:ext cx="3657600" cy="1737360"/>
          </a:xfrm>
          <a:prstGeom prst="rect">
            <a:avLst/>
          </a:prstGeom>
          <a:noFill/>
          <a:ln/>
        </p:spPr>
        <p:txBody>
          <a:bodyPr wrap="square" lIns="0" tIns="0" rIns="0" bIns="0" rtlCol="0" anchor="t"/>
          <a:lstStyle/>
          <a:p>
            <a:pPr indent="0" marL="0">
              <a:buNone/>
            </a:pPr>
            <a:r>
              <a:rPr lang="en-US" sz="12000" b="1" dirty="0">
                <a:solidFill>
                  <a:srgbClr val="E3A33B"/>
                </a:solidFill>
              </a:rPr>
              <a:t>04</a:t>
            </a:r>
            <a:endParaRPr lang="en-US" sz="12000" dirty="0"/>
          </a:p>
        </p:txBody>
      </p:sp>
      <p:sp>
        <p:nvSpPr>
          <p:cNvPr id="3" name="Text 1"/>
          <p:cNvSpPr txBox="1"/>
          <p:nvPr/>
        </p:nvSpPr>
        <p:spPr>
          <a:xfrm>
            <a:off x="731520" y="2560320"/>
            <a:ext cx="7040880" cy="1463040"/>
          </a:xfrm>
          <a:prstGeom prst="rect">
            <a:avLst/>
          </a:prstGeom>
          <a:noFill/>
          <a:ln/>
        </p:spPr>
        <p:txBody>
          <a:bodyPr wrap="square" lIns="0" tIns="0" rIns="0" bIns="0" rtlCol="0" anchor="b"/>
          <a:lstStyle/>
          <a:p>
            <a:pPr indent="0" marL="0">
              <a:buNone/>
            </a:pPr>
            <a:r>
              <a:rPr lang="en-US" sz="4400" b="1" dirty="0">
                <a:solidFill>
                  <a:srgbClr val="FBF3E8"/>
                </a:solidFill>
              </a:rPr>
              <a:t>Plan de marketing: etapa 1</a:t>
            </a:r>
            <a:endParaRPr lang="en-US" sz="4400" dirty="0"/>
          </a:p>
        </p:txBody>
      </p:sp>
      <p:sp>
        <p:nvSpPr>
          <p:cNvPr id="4" name="Text 2"/>
          <p:cNvSpPr txBox="1"/>
          <p:nvPr/>
        </p:nvSpPr>
        <p:spPr>
          <a:xfrm>
            <a:off x="731520" y="4160520"/>
            <a:ext cx="7040880" cy="914400"/>
          </a:xfrm>
          <a:prstGeom prst="rect">
            <a:avLst/>
          </a:prstGeom>
          <a:noFill/>
          <a:ln/>
        </p:spPr>
        <p:txBody>
          <a:bodyPr wrap="square" lIns="0" tIns="0" rIns="0" bIns="0" rtlCol="0" anchor="t"/>
          <a:lstStyle/>
          <a:p>
            <a:pPr indent="0" marL="0">
              <a:buNone/>
            </a:pPr>
            <a:r>
              <a:rPr lang="en-US" sz="2400" dirty="0">
                <a:solidFill>
                  <a:srgbClr val="D9B48F"/>
                </a:solidFill>
              </a:rPr>
              <a:t>Mercado, propuesta, posicionamiento y tamaño</a:t>
            </a:r>
            <a:endParaRPr lang="en-US" sz="2400" dirty="0"/>
          </a:p>
        </p:txBody>
      </p:sp>
      <p:sp>
        <p:nvSpPr>
          <p:cNvPr id="5" name="Shape 3"/>
          <p:cNvSpPr/>
          <p:nvPr/>
        </p:nvSpPr>
        <p:spPr>
          <a:xfrm>
            <a:off x="8092440" y="1417320"/>
            <a:ext cx="3657600" cy="3657600"/>
          </a:xfrm>
          <a:prstGeom prst="ellipse">
            <a:avLst/>
          </a:prstGeom>
          <a:solidFill>
            <a:srgbClr val="6B3A2A"/>
          </a:solidFill>
          <a:ln w="12700">
            <a:solidFill>
              <a:srgbClr val="6B3A2A"/>
            </a:solidFill>
            <a:prstDash val="solid"/>
          </a:ln>
        </p:spPr>
      </p:sp>
      <p:pic>
        <p:nvPicPr>
          <p:cNvPr id="6" name="Image 0" descr="preencoded.png">    </p:cNvPr>
          <p:cNvPicPr>
            <a:picLocks noChangeAspect="1"/>
          </p:cNvPicPr>
          <p:nvPr/>
        </p:nvPicPr>
        <p:blipFill>
          <a:blip r:embed="rId1"/>
          <a:stretch>
            <a:fillRect/>
          </a:stretch>
        </p:blipFill>
        <p:spPr>
          <a:xfrm>
            <a:off x="9052560" y="2377440"/>
            <a:ext cx="1737360" cy="1737360"/>
          </a:xfrm>
          <a:prstGeom prst="rect">
            <a:avLst/>
          </a:prstGeom>
        </p:spPr>
      </p:pic>
      <p:pic>
        <p:nvPicPr>
          <p:cNvPr id="7" name="Image 1" descr="img/logo_light.png">    </p:cNvPr>
          <p:cNvPicPr>
            <a:picLocks noChangeAspect="1"/>
          </p:cNvPicPr>
          <p:nvPr/>
        </p:nvPicPr>
        <p:blipFill>
          <a:blip r:embed="rId2"/>
          <a:stretch>
            <a:fillRect/>
          </a:stretch>
        </p:blipFill>
        <p:spPr>
          <a:xfrm>
            <a:off x="731520" y="5989320"/>
            <a:ext cx="1325880" cy="4526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MERCADO OBJETIVO · A Y B CON ESFUERZO PAREJO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Le hablamos a dos padres: Claudia y Rodrigo</a:t>
            </a:r>
            <a:endParaRPr lang="en-US" sz="4000" dirty="0"/>
          </a:p>
        </p:txBody>
      </p:sp>
      <p:sp>
        <p:nvSpPr>
          <p:cNvPr id="4" name="Shape 2"/>
          <p:cNvSpPr/>
          <p:nvPr/>
        </p:nvSpPr>
        <p:spPr>
          <a:xfrm>
            <a:off x="548640" y="1463040"/>
            <a:ext cx="5408676" cy="4526280"/>
          </a:xfrm>
          <a:prstGeom prst="roundRect">
            <a:avLst>
              <a:gd name="adj" fmla="val 3030"/>
            </a:avLst>
          </a:prstGeom>
          <a:solidFill>
            <a:srgbClr val="E8CDB3"/>
          </a:solidFill>
          <a:ln w="12700">
            <a:solidFill>
              <a:srgbClr val="E8CDB3"/>
            </a:solidFill>
            <a:prstDash val="solid"/>
          </a:ln>
        </p:spPr>
      </p:sp>
      <p:sp>
        <p:nvSpPr>
          <p:cNvPr id="5" name="Shape 3"/>
          <p:cNvSpPr/>
          <p:nvPr/>
        </p:nvSpPr>
        <p:spPr>
          <a:xfrm>
            <a:off x="548640" y="1463040"/>
            <a:ext cx="5408676" cy="1005840"/>
          </a:xfrm>
          <a:prstGeom prst="roundRect">
            <a:avLst>
              <a:gd name="adj" fmla="val 13636"/>
            </a:avLst>
          </a:prstGeom>
          <a:solidFill>
            <a:srgbClr val="8A1C2B"/>
          </a:solidFill>
          <a:ln w="12700">
            <a:solidFill>
              <a:srgbClr val="8A1C2B"/>
            </a:solidFill>
            <a:prstDash val="solid"/>
          </a:ln>
        </p:spPr>
      </p:sp>
      <p:sp>
        <p:nvSpPr>
          <p:cNvPr id="6" name="Shape 4"/>
          <p:cNvSpPr/>
          <p:nvPr/>
        </p:nvSpPr>
        <p:spPr>
          <a:xfrm>
            <a:off x="548640" y="2011680"/>
            <a:ext cx="5408676" cy="457200"/>
          </a:xfrm>
          <a:prstGeom prst="rect">
            <a:avLst/>
          </a:prstGeom>
          <a:solidFill>
            <a:srgbClr val="8A1C2B"/>
          </a:solidFill>
          <a:ln w="12700">
            <a:solidFill>
              <a:srgbClr val="8A1C2B"/>
            </a:solidFill>
            <a:prstDash val="solid"/>
          </a:ln>
        </p:spPr>
      </p:sp>
      <p:sp>
        <p:nvSpPr>
          <p:cNvPr id="7" name="Shape 5"/>
          <p:cNvSpPr/>
          <p:nvPr/>
        </p:nvSpPr>
        <p:spPr>
          <a:xfrm>
            <a:off x="777240" y="1645920"/>
            <a:ext cx="658368" cy="658368"/>
          </a:xfrm>
          <a:prstGeom prst="ellipse">
            <a:avLst/>
          </a:prstGeom>
          <a:solidFill>
            <a:srgbClr val="FBF3E8"/>
          </a:solidFill>
          <a:ln w="12700">
            <a:solidFill>
              <a:srgbClr val="FBF3E8"/>
            </a:solidFill>
            <a:prstDash val="solid"/>
          </a:ln>
        </p:spPr>
      </p:sp>
      <p:sp>
        <p:nvSpPr>
          <p:cNvPr id="8" name="Text 6"/>
          <p:cNvSpPr txBox="1"/>
          <p:nvPr/>
        </p:nvSpPr>
        <p:spPr>
          <a:xfrm>
            <a:off x="777240" y="1645920"/>
            <a:ext cx="658368" cy="658368"/>
          </a:xfrm>
          <a:prstGeom prst="rect">
            <a:avLst/>
          </a:prstGeom>
          <a:noFill/>
          <a:ln/>
        </p:spPr>
        <p:txBody>
          <a:bodyPr wrap="square" lIns="0" tIns="0" rIns="0" bIns="0" rtlCol="0" anchor="ctr"/>
          <a:lstStyle/>
          <a:p>
            <a:pPr algn="ctr" indent="0" marL="0">
              <a:buNone/>
            </a:pPr>
            <a:r>
              <a:rPr lang="en-US" sz="2800" b="1" dirty="0">
                <a:solidFill>
                  <a:srgbClr val="8A1C2B"/>
                </a:solidFill>
              </a:rPr>
              <a:t>C</a:t>
            </a:r>
            <a:endParaRPr lang="en-US" sz="2800" dirty="0"/>
          </a:p>
        </p:txBody>
      </p:sp>
      <p:sp>
        <p:nvSpPr>
          <p:cNvPr id="9" name="Text 7"/>
          <p:cNvSpPr txBox="1"/>
          <p:nvPr/>
        </p:nvSpPr>
        <p:spPr>
          <a:xfrm>
            <a:off x="1600200" y="1581912"/>
            <a:ext cx="4219956" cy="822960"/>
          </a:xfrm>
          <a:prstGeom prst="rect">
            <a:avLst/>
          </a:prstGeom>
          <a:noFill/>
          <a:ln/>
        </p:spPr>
        <p:txBody>
          <a:bodyPr wrap="square" lIns="0" tIns="0" rIns="0" bIns="0" rtlCol="0" anchor="ctr"/>
          <a:lstStyle/>
          <a:p>
            <a:pPr indent="0" marL="0">
              <a:buNone/>
            </a:pPr>
            <a:r>
              <a:rPr lang="en-US" sz="2600" b="1" dirty="0">
                <a:solidFill>
                  <a:srgbClr val="FBF3E8"/>
                </a:solidFill>
              </a:rPr>
              <a:t>Claudia Mendoza</a:t>
            </a:r>
            <a:endParaRPr lang="en-US" sz="1400" dirty="0"/>
          </a:p>
          <a:p>
            <a:pPr indent="0" marL="0">
              <a:buNone/>
            </a:pPr>
            <a:r>
              <a:rPr lang="en-US" sz="1500" i="1" dirty="0">
                <a:solidFill>
                  <a:srgbClr val="E3A33B"/>
                </a:solidFill>
              </a:rPr>
              <a:t>Segmento A · la Guardiana del Hierro</a:t>
            </a:r>
            <a:endParaRPr lang="en-US" sz="1400" dirty="0"/>
          </a:p>
        </p:txBody>
      </p:sp>
      <p:sp>
        <p:nvSpPr>
          <p:cNvPr id="10" name="Text 8"/>
          <p:cNvSpPr txBox="1"/>
          <p:nvPr/>
        </p:nvSpPr>
        <p:spPr>
          <a:xfrm>
            <a:off x="822960" y="2606040"/>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EDAD Y DISTRITO</a:t>
            </a:r>
            <a:endParaRPr lang="en-US" sz="1200" dirty="0"/>
          </a:p>
        </p:txBody>
      </p:sp>
      <p:sp>
        <p:nvSpPr>
          <p:cNvPr id="11" name="Text 9"/>
          <p:cNvSpPr txBox="1"/>
          <p:nvPr/>
        </p:nvSpPr>
        <p:spPr>
          <a:xfrm>
            <a:off x="2423160" y="2606040"/>
            <a:ext cx="3351276" cy="457200"/>
          </a:xfrm>
          <a:prstGeom prst="rect">
            <a:avLst/>
          </a:prstGeom>
          <a:noFill/>
          <a:ln/>
        </p:spPr>
        <p:txBody>
          <a:bodyPr wrap="square" lIns="0" tIns="0" rIns="0" bIns="0" rtlCol="0" anchor="ctr"/>
          <a:lstStyle/>
          <a:p>
            <a:pPr indent="0" marL="0">
              <a:buNone/>
            </a:pPr>
            <a:r>
              <a:rPr lang="en-US" sz="1700" dirty="0">
                <a:solidFill>
                  <a:srgbClr val="3B1A14"/>
                </a:solidFill>
              </a:rPr>
              <a:t>38 años · San Borja (Lima Top)</a:t>
            </a:r>
            <a:endParaRPr lang="en-US" sz="1700" dirty="0"/>
          </a:p>
        </p:txBody>
      </p:sp>
      <p:sp>
        <p:nvSpPr>
          <p:cNvPr id="12" name="Shape 10"/>
          <p:cNvSpPr/>
          <p:nvPr/>
        </p:nvSpPr>
        <p:spPr>
          <a:xfrm>
            <a:off x="822960" y="3090672"/>
            <a:ext cx="4860036" cy="0"/>
          </a:xfrm>
          <a:prstGeom prst="line">
            <a:avLst/>
          </a:prstGeom>
          <a:noFill/>
          <a:ln w="9525">
            <a:solidFill>
              <a:srgbClr val="CDB698"/>
            </a:solidFill>
            <a:prstDash val="solid"/>
          </a:ln>
        </p:spPr>
      </p:sp>
      <p:sp>
        <p:nvSpPr>
          <p:cNvPr id="13" name="Text 11"/>
          <p:cNvSpPr txBox="1"/>
          <p:nvPr/>
        </p:nvSpPr>
        <p:spPr>
          <a:xfrm>
            <a:off x="822960" y="3118104"/>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OCUPACIÓN</a:t>
            </a:r>
            <a:endParaRPr lang="en-US" sz="1200" dirty="0"/>
          </a:p>
        </p:txBody>
      </p:sp>
      <p:sp>
        <p:nvSpPr>
          <p:cNvPr id="14" name="Text 12"/>
          <p:cNvSpPr txBox="1"/>
          <p:nvPr/>
        </p:nvSpPr>
        <p:spPr>
          <a:xfrm>
            <a:off x="2423160" y="3118104"/>
            <a:ext cx="3351276" cy="457200"/>
          </a:xfrm>
          <a:prstGeom prst="rect">
            <a:avLst/>
          </a:prstGeom>
          <a:noFill/>
          <a:ln/>
        </p:spPr>
        <p:txBody>
          <a:bodyPr wrap="square" lIns="0" tIns="0" rIns="0" bIns="0" rtlCol="0" anchor="ctr"/>
          <a:lstStyle/>
          <a:p>
            <a:pPr indent="0" marL="0">
              <a:buNone/>
            </a:pPr>
            <a:r>
              <a:rPr lang="en-US" sz="1700" dirty="0">
                <a:solidFill>
                  <a:srgbClr val="3B1A14"/>
                </a:solidFill>
              </a:rPr>
              <a:t>Abogada · 2 hijos de 7 y 4</a:t>
            </a:r>
            <a:endParaRPr lang="en-US" sz="1700" dirty="0"/>
          </a:p>
        </p:txBody>
      </p:sp>
      <p:sp>
        <p:nvSpPr>
          <p:cNvPr id="15" name="Shape 13"/>
          <p:cNvSpPr/>
          <p:nvPr/>
        </p:nvSpPr>
        <p:spPr>
          <a:xfrm>
            <a:off x="822960" y="3602736"/>
            <a:ext cx="4860036" cy="0"/>
          </a:xfrm>
          <a:prstGeom prst="line">
            <a:avLst/>
          </a:prstGeom>
          <a:noFill/>
          <a:ln w="9525">
            <a:solidFill>
              <a:srgbClr val="CDB698"/>
            </a:solidFill>
            <a:prstDash val="solid"/>
          </a:ln>
        </p:spPr>
      </p:sp>
      <p:sp>
        <p:nvSpPr>
          <p:cNvPr id="16" name="Text 14"/>
          <p:cNvSpPr txBox="1"/>
          <p:nvPr/>
        </p:nvSpPr>
        <p:spPr>
          <a:xfrm>
            <a:off x="822960" y="3630168"/>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HOGAR</a:t>
            </a:r>
            <a:endParaRPr lang="en-US" sz="1200" dirty="0"/>
          </a:p>
        </p:txBody>
      </p:sp>
      <p:sp>
        <p:nvSpPr>
          <p:cNvPr id="17" name="Text 15"/>
          <p:cNvSpPr txBox="1"/>
          <p:nvPr/>
        </p:nvSpPr>
        <p:spPr>
          <a:xfrm>
            <a:off x="2423160" y="3630168"/>
            <a:ext cx="3351276" cy="457200"/>
          </a:xfrm>
          <a:prstGeom prst="rect">
            <a:avLst/>
          </a:prstGeom>
          <a:noFill/>
          <a:ln/>
        </p:spPr>
        <p:txBody>
          <a:bodyPr wrap="square" lIns="0" tIns="0" rIns="0" bIns="0" rtlCol="0" anchor="ctr"/>
          <a:lstStyle/>
          <a:p>
            <a:pPr indent="0" marL="0">
              <a:buNone/>
            </a:pPr>
            <a:r>
              <a:rPr lang="en-US" sz="1700" dirty="0">
                <a:solidFill>
                  <a:srgbClr val="3B1A14"/>
                </a:solidFill>
              </a:rPr>
              <a:t>S/13,500 al mes</a:t>
            </a:r>
            <a:endParaRPr lang="en-US" sz="1700" dirty="0"/>
          </a:p>
        </p:txBody>
      </p:sp>
      <p:sp>
        <p:nvSpPr>
          <p:cNvPr id="18" name="Shape 16"/>
          <p:cNvSpPr/>
          <p:nvPr/>
        </p:nvSpPr>
        <p:spPr>
          <a:xfrm>
            <a:off x="822960" y="4114800"/>
            <a:ext cx="4860036" cy="0"/>
          </a:xfrm>
          <a:prstGeom prst="line">
            <a:avLst/>
          </a:prstGeom>
          <a:noFill/>
          <a:ln w="9525">
            <a:solidFill>
              <a:srgbClr val="CDB698"/>
            </a:solidFill>
            <a:prstDash val="solid"/>
          </a:ln>
        </p:spPr>
      </p:sp>
      <p:sp>
        <p:nvSpPr>
          <p:cNvPr id="19" name="Text 17"/>
          <p:cNvSpPr txBox="1"/>
          <p:nvPr/>
        </p:nvSpPr>
        <p:spPr>
          <a:xfrm>
            <a:off x="822960" y="4142232"/>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COMPRA EN</a:t>
            </a:r>
            <a:endParaRPr lang="en-US" sz="1200" dirty="0"/>
          </a:p>
        </p:txBody>
      </p:sp>
      <p:sp>
        <p:nvSpPr>
          <p:cNvPr id="20" name="Text 18"/>
          <p:cNvSpPr txBox="1"/>
          <p:nvPr/>
        </p:nvSpPr>
        <p:spPr>
          <a:xfrm>
            <a:off x="2423160" y="4142232"/>
            <a:ext cx="3351276" cy="457200"/>
          </a:xfrm>
          <a:prstGeom prst="rect">
            <a:avLst/>
          </a:prstGeom>
          <a:noFill/>
          <a:ln/>
        </p:spPr>
        <p:txBody>
          <a:bodyPr wrap="square" lIns="0" tIns="0" rIns="0" bIns="0" rtlCol="0" anchor="ctr"/>
          <a:lstStyle/>
          <a:p>
            <a:pPr indent="0" marL="0">
              <a:buNone/>
            </a:pPr>
            <a:r>
              <a:rPr lang="en-US" sz="1700" dirty="0">
                <a:solidFill>
                  <a:srgbClr val="3B1A14"/>
                </a:solidFill>
              </a:rPr>
              <a:t>Wong, Flora &amp; Fauna e Instagram</a:t>
            </a:r>
            <a:endParaRPr lang="en-US" sz="1700" dirty="0"/>
          </a:p>
        </p:txBody>
      </p:sp>
      <p:sp>
        <p:nvSpPr>
          <p:cNvPr id="21" name="Shape 19"/>
          <p:cNvSpPr/>
          <p:nvPr/>
        </p:nvSpPr>
        <p:spPr>
          <a:xfrm>
            <a:off x="822960" y="4626864"/>
            <a:ext cx="4860036" cy="0"/>
          </a:xfrm>
          <a:prstGeom prst="line">
            <a:avLst/>
          </a:prstGeom>
          <a:noFill/>
          <a:ln w="9525">
            <a:solidFill>
              <a:srgbClr val="CDB698"/>
            </a:solidFill>
            <a:prstDash val="solid"/>
          </a:ln>
        </p:spPr>
      </p:sp>
      <p:sp>
        <p:nvSpPr>
          <p:cNvPr id="22" name="Text 20"/>
          <p:cNvSpPr txBox="1"/>
          <p:nvPr/>
        </p:nvSpPr>
        <p:spPr>
          <a:xfrm>
            <a:off x="822960" y="4654296"/>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PAGARÍA</a:t>
            </a:r>
            <a:endParaRPr lang="en-US" sz="1200" dirty="0"/>
          </a:p>
        </p:txBody>
      </p:sp>
      <p:sp>
        <p:nvSpPr>
          <p:cNvPr id="23" name="Text 21"/>
          <p:cNvSpPr txBox="1"/>
          <p:nvPr/>
        </p:nvSpPr>
        <p:spPr>
          <a:xfrm>
            <a:off x="2423160" y="4654296"/>
            <a:ext cx="3351276" cy="457200"/>
          </a:xfrm>
          <a:prstGeom prst="rect">
            <a:avLst/>
          </a:prstGeom>
          <a:noFill/>
          <a:ln/>
        </p:spPr>
        <p:txBody>
          <a:bodyPr wrap="square" lIns="0" tIns="0" rIns="0" bIns="0" rtlCol="0" anchor="ctr"/>
          <a:lstStyle/>
          <a:p>
            <a:pPr indent="0" marL="0">
              <a:buNone/>
            </a:pPr>
            <a:r>
              <a:rPr lang="en-US" sz="1700" dirty="0">
                <a:solidFill>
                  <a:srgbClr val="3B1A14"/>
                </a:solidFill>
              </a:rPr>
              <a:t>S/24 a 30 por el pack de 6</a:t>
            </a:r>
            <a:endParaRPr lang="en-US" sz="1700" dirty="0"/>
          </a:p>
        </p:txBody>
      </p:sp>
      <p:sp>
        <p:nvSpPr>
          <p:cNvPr id="24" name="Shape 22"/>
          <p:cNvSpPr/>
          <p:nvPr/>
        </p:nvSpPr>
        <p:spPr>
          <a:xfrm>
            <a:off x="822960" y="5138928"/>
            <a:ext cx="4860036" cy="0"/>
          </a:xfrm>
          <a:prstGeom prst="line">
            <a:avLst/>
          </a:prstGeom>
          <a:noFill/>
          <a:ln w="9525">
            <a:solidFill>
              <a:srgbClr val="CDB698"/>
            </a:solidFill>
            <a:prstDash val="solid"/>
          </a:ln>
        </p:spPr>
      </p:sp>
      <p:sp>
        <p:nvSpPr>
          <p:cNvPr id="25" name="Text 23"/>
          <p:cNvSpPr txBox="1"/>
          <p:nvPr/>
        </p:nvSpPr>
        <p:spPr>
          <a:xfrm>
            <a:off x="822960" y="5230368"/>
            <a:ext cx="4860036" cy="658368"/>
          </a:xfrm>
          <a:prstGeom prst="rect">
            <a:avLst/>
          </a:prstGeom>
          <a:noFill/>
          <a:ln/>
        </p:spPr>
        <p:txBody>
          <a:bodyPr wrap="square" lIns="0" tIns="0" rIns="0" bIns="0" rtlCol="0" anchor="ctr"/>
          <a:lstStyle/>
          <a:p>
            <a:pPr algn="ctr" indent="0" marL="0">
              <a:buNone/>
            </a:pPr>
            <a:r>
              <a:rPr lang="en-US" sz="2000" b="1" i="1" dirty="0">
                <a:solidFill>
                  <a:srgbClr val="4A2018"/>
                </a:solidFill>
              </a:rPr>
              <a:t>“Todo lo que le hace bien, mi hijo lo escupe.”</a:t>
            </a:r>
            <a:endParaRPr lang="en-US" sz="2000" dirty="0"/>
          </a:p>
        </p:txBody>
      </p:sp>
      <p:sp>
        <p:nvSpPr>
          <p:cNvPr id="26" name="Shape 24"/>
          <p:cNvSpPr/>
          <p:nvPr/>
        </p:nvSpPr>
        <p:spPr>
          <a:xfrm>
            <a:off x="6231636" y="1463040"/>
            <a:ext cx="5408676" cy="4526280"/>
          </a:xfrm>
          <a:prstGeom prst="roundRect">
            <a:avLst>
              <a:gd name="adj" fmla="val 3030"/>
            </a:avLst>
          </a:prstGeom>
          <a:solidFill>
            <a:srgbClr val="E8CDB3"/>
          </a:solidFill>
          <a:ln w="12700">
            <a:solidFill>
              <a:srgbClr val="E8CDB3"/>
            </a:solidFill>
            <a:prstDash val="solid"/>
          </a:ln>
        </p:spPr>
      </p:sp>
      <p:sp>
        <p:nvSpPr>
          <p:cNvPr id="27" name="Shape 25"/>
          <p:cNvSpPr/>
          <p:nvPr/>
        </p:nvSpPr>
        <p:spPr>
          <a:xfrm>
            <a:off x="6231636" y="1463040"/>
            <a:ext cx="5408676" cy="1005840"/>
          </a:xfrm>
          <a:prstGeom prst="roundRect">
            <a:avLst>
              <a:gd name="adj" fmla="val 13636"/>
            </a:avLst>
          </a:prstGeom>
          <a:solidFill>
            <a:srgbClr val="8A1C2B"/>
          </a:solidFill>
          <a:ln w="12700">
            <a:solidFill>
              <a:srgbClr val="8A1C2B"/>
            </a:solidFill>
            <a:prstDash val="solid"/>
          </a:ln>
        </p:spPr>
      </p:sp>
      <p:sp>
        <p:nvSpPr>
          <p:cNvPr id="28" name="Shape 26"/>
          <p:cNvSpPr/>
          <p:nvPr/>
        </p:nvSpPr>
        <p:spPr>
          <a:xfrm>
            <a:off x="6231636" y="2011680"/>
            <a:ext cx="5408676" cy="457200"/>
          </a:xfrm>
          <a:prstGeom prst="rect">
            <a:avLst/>
          </a:prstGeom>
          <a:solidFill>
            <a:srgbClr val="8A1C2B"/>
          </a:solidFill>
          <a:ln w="12700">
            <a:solidFill>
              <a:srgbClr val="8A1C2B"/>
            </a:solidFill>
            <a:prstDash val="solid"/>
          </a:ln>
        </p:spPr>
      </p:sp>
      <p:sp>
        <p:nvSpPr>
          <p:cNvPr id="29" name="Shape 27"/>
          <p:cNvSpPr/>
          <p:nvPr/>
        </p:nvSpPr>
        <p:spPr>
          <a:xfrm>
            <a:off x="6460236" y="1645920"/>
            <a:ext cx="658368" cy="658368"/>
          </a:xfrm>
          <a:prstGeom prst="ellipse">
            <a:avLst/>
          </a:prstGeom>
          <a:solidFill>
            <a:srgbClr val="FBF3E8"/>
          </a:solidFill>
          <a:ln w="12700">
            <a:solidFill>
              <a:srgbClr val="FBF3E8"/>
            </a:solidFill>
            <a:prstDash val="solid"/>
          </a:ln>
        </p:spPr>
      </p:sp>
      <p:sp>
        <p:nvSpPr>
          <p:cNvPr id="30" name="Text 28"/>
          <p:cNvSpPr txBox="1"/>
          <p:nvPr/>
        </p:nvSpPr>
        <p:spPr>
          <a:xfrm>
            <a:off x="6460236" y="1645920"/>
            <a:ext cx="658368" cy="658368"/>
          </a:xfrm>
          <a:prstGeom prst="rect">
            <a:avLst/>
          </a:prstGeom>
          <a:noFill/>
          <a:ln/>
        </p:spPr>
        <p:txBody>
          <a:bodyPr wrap="square" lIns="0" tIns="0" rIns="0" bIns="0" rtlCol="0" anchor="ctr"/>
          <a:lstStyle/>
          <a:p>
            <a:pPr algn="ctr" indent="0" marL="0">
              <a:buNone/>
            </a:pPr>
            <a:r>
              <a:rPr lang="en-US" sz="2800" b="1" dirty="0">
                <a:solidFill>
                  <a:srgbClr val="8A1C2B"/>
                </a:solidFill>
              </a:rPr>
              <a:t>R</a:t>
            </a:r>
            <a:endParaRPr lang="en-US" sz="2800" dirty="0"/>
          </a:p>
        </p:txBody>
      </p:sp>
      <p:sp>
        <p:nvSpPr>
          <p:cNvPr id="31" name="Text 29"/>
          <p:cNvSpPr txBox="1"/>
          <p:nvPr/>
        </p:nvSpPr>
        <p:spPr>
          <a:xfrm>
            <a:off x="7283196" y="1581912"/>
            <a:ext cx="4219956" cy="822960"/>
          </a:xfrm>
          <a:prstGeom prst="rect">
            <a:avLst/>
          </a:prstGeom>
          <a:noFill/>
          <a:ln/>
        </p:spPr>
        <p:txBody>
          <a:bodyPr wrap="square" lIns="0" tIns="0" rIns="0" bIns="0" rtlCol="0" anchor="ctr"/>
          <a:lstStyle/>
          <a:p>
            <a:pPr indent="0" marL="0">
              <a:buNone/>
            </a:pPr>
            <a:r>
              <a:rPr lang="en-US" sz="2600" b="1" dirty="0">
                <a:solidFill>
                  <a:srgbClr val="FBF3E8"/>
                </a:solidFill>
              </a:rPr>
              <a:t>Rodrigo Salazar</a:t>
            </a:r>
            <a:endParaRPr lang="en-US" sz="1400" dirty="0"/>
          </a:p>
          <a:p>
            <a:pPr indent="0" marL="0">
              <a:buNone/>
            </a:pPr>
            <a:r>
              <a:rPr lang="en-US" sz="1500" i="1" dirty="0">
                <a:solidFill>
                  <a:srgbClr val="E3A33B"/>
                </a:solidFill>
              </a:rPr>
              <a:t>Segmento B · el Resolutivo</a:t>
            </a:r>
            <a:endParaRPr lang="en-US" sz="1400" dirty="0"/>
          </a:p>
        </p:txBody>
      </p:sp>
      <p:sp>
        <p:nvSpPr>
          <p:cNvPr id="32" name="Text 30"/>
          <p:cNvSpPr txBox="1"/>
          <p:nvPr/>
        </p:nvSpPr>
        <p:spPr>
          <a:xfrm>
            <a:off x="6505956" y="2606040"/>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EDAD Y DISTRITO</a:t>
            </a:r>
            <a:endParaRPr lang="en-US" sz="1200" dirty="0"/>
          </a:p>
        </p:txBody>
      </p:sp>
      <p:sp>
        <p:nvSpPr>
          <p:cNvPr id="33" name="Text 31"/>
          <p:cNvSpPr txBox="1"/>
          <p:nvPr/>
        </p:nvSpPr>
        <p:spPr>
          <a:xfrm>
            <a:off x="8106156" y="2606040"/>
            <a:ext cx="3351276" cy="457200"/>
          </a:xfrm>
          <a:prstGeom prst="rect">
            <a:avLst/>
          </a:prstGeom>
          <a:noFill/>
          <a:ln/>
        </p:spPr>
        <p:txBody>
          <a:bodyPr wrap="square" lIns="0" tIns="0" rIns="0" bIns="0" rtlCol="0" anchor="ctr"/>
          <a:lstStyle/>
          <a:p>
            <a:pPr indent="0" marL="0">
              <a:buNone/>
            </a:pPr>
            <a:r>
              <a:rPr lang="en-US" sz="1700" dirty="0">
                <a:solidFill>
                  <a:srgbClr val="3B1A14"/>
                </a:solidFill>
              </a:rPr>
              <a:t>40 años · San Miguel (Lima Moderna)</a:t>
            </a:r>
            <a:endParaRPr lang="en-US" sz="1700" dirty="0"/>
          </a:p>
        </p:txBody>
      </p:sp>
      <p:sp>
        <p:nvSpPr>
          <p:cNvPr id="34" name="Shape 32"/>
          <p:cNvSpPr/>
          <p:nvPr/>
        </p:nvSpPr>
        <p:spPr>
          <a:xfrm>
            <a:off x="6505956" y="3090672"/>
            <a:ext cx="4860036" cy="0"/>
          </a:xfrm>
          <a:prstGeom prst="line">
            <a:avLst/>
          </a:prstGeom>
          <a:noFill/>
          <a:ln w="9525">
            <a:solidFill>
              <a:srgbClr val="CDB698"/>
            </a:solidFill>
            <a:prstDash val="solid"/>
          </a:ln>
        </p:spPr>
      </p:sp>
      <p:sp>
        <p:nvSpPr>
          <p:cNvPr id="35" name="Text 33"/>
          <p:cNvSpPr txBox="1"/>
          <p:nvPr/>
        </p:nvSpPr>
        <p:spPr>
          <a:xfrm>
            <a:off x="6505956" y="3118104"/>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OCUPACIÓN</a:t>
            </a:r>
            <a:endParaRPr lang="en-US" sz="1200" dirty="0"/>
          </a:p>
        </p:txBody>
      </p:sp>
      <p:sp>
        <p:nvSpPr>
          <p:cNvPr id="36" name="Text 34"/>
          <p:cNvSpPr txBox="1"/>
          <p:nvPr/>
        </p:nvSpPr>
        <p:spPr>
          <a:xfrm>
            <a:off x="8106156" y="3118104"/>
            <a:ext cx="3351276" cy="457200"/>
          </a:xfrm>
          <a:prstGeom prst="rect">
            <a:avLst/>
          </a:prstGeom>
          <a:noFill/>
          <a:ln/>
        </p:spPr>
        <p:txBody>
          <a:bodyPr wrap="square" lIns="0" tIns="0" rIns="0" bIns="0" rtlCol="0" anchor="ctr"/>
          <a:lstStyle/>
          <a:p>
            <a:pPr indent="0" marL="0">
              <a:buNone/>
            </a:pPr>
            <a:r>
              <a:rPr lang="en-US" sz="1700" dirty="0">
                <a:solidFill>
                  <a:srgbClr val="3B1A14"/>
                </a:solidFill>
              </a:rPr>
              <a:t>Jefe de logística · 2 hijos de 9 y 6</a:t>
            </a:r>
            <a:endParaRPr lang="en-US" sz="1700" dirty="0"/>
          </a:p>
        </p:txBody>
      </p:sp>
      <p:sp>
        <p:nvSpPr>
          <p:cNvPr id="37" name="Shape 35"/>
          <p:cNvSpPr/>
          <p:nvPr/>
        </p:nvSpPr>
        <p:spPr>
          <a:xfrm>
            <a:off x="6505956" y="3602736"/>
            <a:ext cx="4860036" cy="0"/>
          </a:xfrm>
          <a:prstGeom prst="line">
            <a:avLst/>
          </a:prstGeom>
          <a:noFill/>
          <a:ln w="9525">
            <a:solidFill>
              <a:srgbClr val="CDB698"/>
            </a:solidFill>
            <a:prstDash val="solid"/>
          </a:ln>
        </p:spPr>
      </p:sp>
      <p:sp>
        <p:nvSpPr>
          <p:cNvPr id="38" name="Text 36"/>
          <p:cNvSpPr txBox="1"/>
          <p:nvPr/>
        </p:nvSpPr>
        <p:spPr>
          <a:xfrm>
            <a:off x="6505956" y="3630168"/>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HOGAR</a:t>
            </a:r>
            <a:endParaRPr lang="en-US" sz="1200" dirty="0"/>
          </a:p>
        </p:txBody>
      </p:sp>
      <p:sp>
        <p:nvSpPr>
          <p:cNvPr id="39" name="Text 37"/>
          <p:cNvSpPr txBox="1"/>
          <p:nvPr/>
        </p:nvSpPr>
        <p:spPr>
          <a:xfrm>
            <a:off x="8106156" y="3630168"/>
            <a:ext cx="3351276" cy="457200"/>
          </a:xfrm>
          <a:prstGeom prst="rect">
            <a:avLst/>
          </a:prstGeom>
          <a:noFill/>
          <a:ln/>
        </p:spPr>
        <p:txBody>
          <a:bodyPr wrap="square" lIns="0" tIns="0" rIns="0" bIns="0" rtlCol="0" anchor="ctr"/>
          <a:lstStyle/>
          <a:p>
            <a:pPr indent="0" marL="0">
              <a:buNone/>
            </a:pPr>
            <a:r>
              <a:rPr lang="en-US" sz="1700" dirty="0">
                <a:solidFill>
                  <a:srgbClr val="3B1A14"/>
                </a:solidFill>
              </a:rPr>
              <a:t>Unos S/8,500 al mes</a:t>
            </a:r>
            <a:endParaRPr lang="en-US" sz="1700" dirty="0"/>
          </a:p>
        </p:txBody>
      </p:sp>
      <p:sp>
        <p:nvSpPr>
          <p:cNvPr id="40" name="Shape 38"/>
          <p:cNvSpPr/>
          <p:nvPr/>
        </p:nvSpPr>
        <p:spPr>
          <a:xfrm>
            <a:off x="6505956" y="4114800"/>
            <a:ext cx="4860036" cy="0"/>
          </a:xfrm>
          <a:prstGeom prst="line">
            <a:avLst/>
          </a:prstGeom>
          <a:noFill/>
          <a:ln w="9525">
            <a:solidFill>
              <a:srgbClr val="CDB698"/>
            </a:solidFill>
            <a:prstDash val="solid"/>
          </a:ln>
        </p:spPr>
      </p:sp>
      <p:sp>
        <p:nvSpPr>
          <p:cNvPr id="41" name="Text 39"/>
          <p:cNvSpPr txBox="1"/>
          <p:nvPr/>
        </p:nvSpPr>
        <p:spPr>
          <a:xfrm>
            <a:off x="6505956" y="4142232"/>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COMPRA EN</a:t>
            </a:r>
            <a:endParaRPr lang="en-US" sz="1200" dirty="0"/>
          </a:p>
        </p:txBody>
      </p:sp>
      <p:sp>
        <p:nvSpPr>
          <p:cNvPr id="42" name="Text 40"/>
          <p:cNvSpPr txBox="1"/>
          <p:nvPr/>
        </p:nvSpPr>
        <p:spPr>
          <a:xfrm>
            <a:off x="8106156" y="4142232"/>
            <a:ext cx="3351276" cy="457200"/>
          </a:xfrm>
          <a:prstGeom prst="rect">
            <a:avLst/>
          </a:prstGeom>
          <a:noFill/>
          <a:ln/>
        </p:spPr>
        <p:txBody>
          <a:bodyPr wrap="square" lIns="0" tIns="0" rIns="0" bIns="0" rtlCol="0" anchor="ctr"/>
          <a:lstStyle/>
          <a:p>
            <a:pPr indent="0" marL="0">
              <a:buNone/>
            </a:pPr>
            <a:r>
              <a:rPr lang="en-US" sz="1700" dirty="0">
                <a:solidFill>
                  <a:srgbClr val="3B1A14"/>
                </a:solidFill>
              </a:rPr>
              <a:t>Plaza Vea, apps y WhatsApp</a:t>
            </a:r>
            <a:endParaRPr lang="en-US" sz="1700" dirty="0"/>
          </a:p>
        </p:txBody>
      </p:sp>
      <p:sp>
        <p:nvSpPr>
          <p:cNvPr id="43" name="Shape 41"/>
          <p:cNvSpPr/>
          <p:nvPr/>
        </p:nvSpPr>
        <p:spPr>
          <a:xfrm>
            <a:off x="6505956" y="4626864"/>
            <a:ext cx="4860036" cy="0"/>
          </a:xfrm>
          <a:prstGeom prst="line">
            <a:avLst/>
          </a:prstGeom>
          <a:noFill/>
          <a:ln w="9525">
            <a:solidFill>
              <a:srgbClr val="CDB698"/>
            </a:solidFill>
            <a:prstDash val="solid"/>
          </a:ln>
        </p:spPr>
      </p:sp>
      <p:sp>
        <p:nvSpPr>
          <p:cNvPr id="44" name="Text 42"/>
          <p:cNvSpPr txBox="1"/>
          <p:nvPr/>
        </p:nvSpPr>
        <p:spPr>
          <a:xfrm>
            <a:off x="6505956" y="4654296"/>
            <a:ext cx="1600200" cy="457200"/>
          </a:xfrm>
          <a:prstGeom prst="rect">
            <a:avLst/>
          </a:prstGeom>
          <a:noFill/>
          <a:ln/>
        </p:spPr>
        <p:txBody>
          <a:bodyPr wrap="square" lIns="0" tIns="0" rIns="0" bIns="0" rtlCol="0" anchor="ctr"/>
          <a:lstStyle/>
          <a:p>
            <a:pPr indent="0" marL="0">
              <a:buNone/>
            </a:pPr>
            <a:r>
              <a:rPr lang="en-US" sz="1200" b="1" spc="100" kern="0" dirty="0">
                <a:solidFill>
                  <a:srgbClr val="8A1C2B"/>
                </a:solidFill>
              </a:rPr>
              <a:t>PAGARÍA</a:t>
            </a:r>
            <a:endParaRPr lang="en-US" sz="1200" dirty="0"/>
          </a:p>
        </p:txBody>
      </p:sp>
      <p:sp>
        <p:nvSpPr>
          <p:cNvPr id="45" name="Text 43"/>
          <p:cNvSpPr txBox="1"/>
          <p:nvPr/>
        </p:nvSpPr>
        <p:spPr>
          <a:xfrm>
            <a:off x="8106156" y="4654296"/>
            <a:ext cx="3351276" cy="457200"/>
          </a:xfrm>
          <a:prstGeom prst="rect">
            <a:avLst/>
          </a:prstGeom>
          <a:noFill/>
          <a:ln/>
        </p:spPr>
        <p:txBody>
          <a:bodyPr wrap="square" lIns="0" tIns="0" rIns="0" bIns="0" rtlCol="0" anchor="ctr"/>
          <a:lstStyle/>
          <a:p>
            <a:pPr indent="0" marL="0">
              <a:buNone/>
            </a:pPr>
            <a:r>
              <a:rPr lang="en-US" sz="1700" dirty="0">
                <a:solidFill>
                  <a:srgbClr val="3B1A14"/>
                </a:solidFill>
              </a:rPr>
              <a:t>S/18 a 24 por 6; mira el precio por brownie</a:t>
            </a:r>
            <a:endParaRPr lang="en-US" sz="1700" dirty="0"/>
          </a:p>
        </p:txBody>
      </p:sp>
      <p:sp>
        <p:nvSpPr>
          <p:cNvPr id="46" name="Shape 44"/>
          <p:cNvSpPr/>
          <p:nvPr/>
        </p:nvSpPr>
        <p:spPr>
          <a:xfrm>
            <a:off x="6505956" y="5138928"/>
            <a:ext cx="4860036" cy="0"/>
          </a:xfrm>
          <a:prstGeom prst="line">
            <a:avLst/>
          </a:prstGeom>
          <a:noFill/>
          <a:ln w="9525">
            <a:solidFill>
              <a:srgbClr val="CDB698"/>
            </a:solidFill>
            <a:prstDash val="solid"/>
          </a:ln>
        </p:spPr>
      </p:sp>
      <p:sp>
        <p:nvSpPr>
          <p:cNvPr id="47" name="Text 45"/>
          <p:cNvSpPr txBox="1"/>
          <p:nvPr/>
        </p:nvSpPr>
        <p:spPr>
          <a:xfrm>
            <a:off x="6505956" y="5230368"/>
            <a:ext cx="4860036" cy="658368"/>
          </a:xfrm>
          <a:prstGeom prst="rect">
            <a:avLst/>
          </a:prstGeom>
          <a:noFill/>
          <a:ln/>
        </p:spPr>
        <p:txBody>
          <a:bodyPr wrap="square" lIns="0" tIns="0" rIns="0" bIns="0" rtlCol="0" anchor="ctr"/>
          <a:lstStyle/>
          <a:p>
            <a:pPr algn="ctr" indent="0" marL="0">
              <a:buNone/>
            </a:pPr>
            <a:r>
              <a:rPr lang="en-US" sz="2000" b="1" i="1" dirty="0">
                <a:solidFill>
                  <a:srgbClr val="4A2018"/>
                </a:solidFill>
              </a:rPr>
              <a:t>“No me vendas salud, véndeme una mañana menos.”</a:t>
            </a:r>
            <a:endParaRPr lang="en-US" sz="2000" dirty="0"/>
          </a:p>
        </p:txBody>
      </p:sp>
      <p:sp>
        <p:nvSpPr>
          <p:cNvPr id="48" name="Text 46"/>
          <p:cNvSpPr txBox="1"/>
          <p:nvPr/>
        </p:nvSpPr>
        <p:spPr>
          <a:xfrm>
            <a:off x="548640" y="6035040"/>
            <a:ext cx="10698480" cy="384048"/>
          </a:xfrm>
          <a:prstGeom prst="rect">
            <a:avLst/>
          </a:prstGeom>
          <a:noFill/>
          <a:ln/>
        </p:spPr>
        <p:txBody>
          <a:bodyPr wrap="square" lIns="0" tIns="0" rIns="0" bIns="0" rtlCol="0" anchor="b"/>
          <a:lstStyle/>
          <a:p>
            <a:pPr indent="0" marL="0">
              <a:buNone/>
            </a:pPr>
            <a:r>
              <a:rPr lang="en-US" sz="1100" dirty="0">
                <a:solidFill>
                  <a:srgbClr val="6B3A2A"/>
                </a:solidFill>
              </a:rPr>
              <a:t>Fuente: HECHOS_v7 y T2_09. Padres de 32 a 45 años, NSE A y B, con hijos de 4 a 11 en colegio privado; 7 de cada 10 hogares A/B son B (APEIM 2025). Fichas representativas: las frases no son textuales.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23</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PROPUESTA DE VALOR Y POSICIONAMIENTO PRELIMINAR</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Casi solos en «premium con prueba»</a:t>
            </a:r>
            <a:endParaRPr lang="en-US" sz="4000" dirty="0"/>
          </a:p>
        </p:txBody>
      </p:sp>
      <p:sp>
        <p:nvSpPr>
          <p:cNvPr id="4" name="Shape 2"/>
          <p:cNvSpPr/>
          <p:nvPr/>
        </p:nvSpPr>
        <p:spPr>
          <a:xfrm>
            <a:off x="1325880" y="1554480"/>
            <a:ext cx="6035040" cy="3931920"/>
          </a:xfrm>
          <a:prstGeom prst="rect">
            <a:avLst/>
          </a:prstGeom>
          <a:solidFill>
            <a:srgbClr val="FFFFFF"/>
          </a:solidFill>
          <a:ln w="9525">
            <a:solidFill>
              <a:srgbClr val="D9B48F"/>
            </a:solidFill>
            <a:prstDash val="solid"/>
          </a:ln>
        </p:spPr>
      </p:sp>
      <p:sp>
        <p:nvSpPr>
          <p:cNvPr id="5" name="Shape 3"/>
          <p:cNvSpPr/>
          <p:nvPr/>
        </p:nvSpPr>
        <p:spPr>
          <a:xfrm>
            <a:off x="4142232" y="1554480"/>
            <a:ext cx="0" cy="3931920"/>
          </a:xfrm>
          <a:prstGeom prst="line">
            <a:avLst/>
          </a:prstGeom>
          <a:noFill/>
          <a:ln w="15875">
            <a:solidFill>
              <a:srgbClr val="D9B48F"/>
            </a:solidFill>
            <a:prstDash val="dash"/>
          </a:ln>
        </p:spPr>
      </p:sp>
      <p:sp>
        <p:nvSpPr>
          <p:cNvPr id="6" name="Shape 4"/>
          <p:cNvSpPr/>
          <p:nvPr/>
        </p:nvSpPr>
        <p:spPr>
          <a:xfrm>
            <a:off x="1325880" y="3520440"/>
            <a:ext cx="6035040" cy="0"/>
          </a:xfrm>
          <a:prstGeom prst="line">
            <a:avLst/>
          </a:prstGeom>
          <a:noFill/>
          <a:ln w="15875">
            <a:solidFill>
              <a:srgbClr val="D9B48F"/>
            </a:solidFill>
            <a:prstDash val="dash"/>
          </a:ln>
        </p:spPr>
      </p:sp>
      <p:sp>
        <p:nvSpPr>
          <p:cNvPr id="7" name="Text 5"/>
          <p:cNvSpPr txBox="1"/>
          <p:nvPr/>
        </p:nvSpPr>
        <p:spPr>
          <a:xfrm>
            <a:off x="1362456"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S/1.50</a:t>
            </a:r>
            <a:endParaRPr lang="en-US" sz="1100" dirty="0"/>
          </a:p>
        </p:txBody>
      </p:sp>
      <p:sp>
        <p:nvSpPr>
          <p:cNvPr id="8" name="Text 6"/>
          <p:cNvSpPr txBox="1"/>
          <p:nvPr/>
        </p:nvSpPr>
        <p:spPr>
          <a:xfrm>
            <a:off x="2167128"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S/2.00</a:t>
            </a:r>
            <a:endParaRPr lang="en-US" sz="1100" dirty="0"/>
          </a:p>
        </p:txBody>
      </p:sp>
      <p:sp>
        <p:nvSpPr>
          <p:cNvPr id="9" name="Text 7"/>
          <p:cNvSpPr txBox="1"/>
          <p:nvPr/>
        </p:nvSpPr>
        <p:spPr>
          <a:xfrm>
            <a:off x="2971800"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S/2.50</a:t>
            </a:r>
            <a:endParaRPr lang="en-US" sz="1100" dirty="0"/>
          </a:p>
        </p:txBody>
      </p:sp>
      <p:sp>
        <p:nvSpPr>
          <p:cNvPr id="10" name="Text 8"/>
          <p:cNvSpPr txBox="1"/>
          <p:nvPr/>
        </p:nvSpPr>
        <p:spPr>
          <a:xfrm>
            <a:off x="3776472"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S/3.00</a:t>
            </a:r>
            <a:endParaRPr lang="en-US" sz="1100" dirty="0"/>
          </a:p>
        </p:txBody>
      </p:sp>
      <p:sp>
        <p:nvSpPr>
          <p:cNvPr id="11" name="Text 9"/>
          <p:cNvSpPr txBox="1"/>
          <p:nvPr/>
        </p:nvSpPr>
        <p:spPr>
          <a:xfrm>
            <a:off x="4581144"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S/3.50</a:t>
            </a:r>
            <a:endParaRPr lang="en-US" sz="1100" dirty="0"/>
          </a:p>
        </p:txBody>
      </p:sp>
      <p:sp>
        <p:nvSpPr>
          <p:cNvPr id="12" name="Text 10"/>
          <p:cNvSpPr txBox="1"/>
          <p:nvPr/>
        </p:nvSpPr>
        <p:spPr>
          <a:xfrm>
            <a:off x="5385816"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S/4.00</a:t>
            </a:r>
            <a:endParaRPr lang="en-US" sz="1100" dirty="0"/>
          </a:p>
        </p:txBody>
      </p:sp>
      <p:sp>
        <p:nvSpPr>
          <p:cNvPr id="13" name="Text 11"/>
          <p:cNvSpPr txBox="1"/>
          <p:nvPr/>
        </p:nvSpPr>
        <p:spPr>
          <a:xfrm>
            <a:off x="6190488"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S/4.50</a:t>
            </a:r>
            <a:endParaRPr lang="en-US" sz="1100" dirty="0"/>
          </a:p>
        </p:txBody>
      </p:sp>
      <p:sp>
        <p:nvSpPr>
          <p:cNvPr id="14" name="Text 12"/>
          <p:cNvSpPr txBox="1"/>
          <p:nvPr/>
        </p:nvSpPr>
        <p:spPr>
          <a:xfrm>
            <a:off x="6995160" y="5522976"/>
            <a:ext cx="731520" cy="219456"/>
          </a:xfrm>
          <a:prstGeom prst="rect">
            <a:avLst/>
          </a:prstGeom>
          <a:noFill/>
          <a:ln/>
        </p:spPr>
        <p:txBody>
          <a:bodyPr wrap="square" lIns="0" tIns="0" rIns="0" bIns="0" rtlCol="0" anchor="t"/>
          <a:lstStyle/>
          <a:p>
            <a:pPr algn="ctr" indent="0" marL="0">
              <a:buNone/>
            </a:pPr>
            <a:r>
              <a:rPr lang="en-US" sz="1100" dirty="0">
                <a:solidFill>
                  <a:srgbClr val="6B3A2A"/>
                </a:solidFill>
              </a:rPr>
              <a:t>S/5.00</a:t>
            </a:r>
            <a:endParaRPr lang="en-US" sz="1100" dirty="0"/>
          </a:p>
        </p:txBody>
      </p:sp>
      <p:sp>
        <p:nvSpPr>
          <p:cNvPr id="15" name="Text 13"/>
          <p:cNvSpPr txBox="1"/>
          <p:nvPr/>
        </p:nvSpPr>
        <p:spPr>
          <a:xfrm>
            <a:off x="1033272" y="4983480"/>
            <a:ext cx="201168" cy="219456"/>
          </a:xfrm>
          <a:prstGeom prst="rect">
            <a:avLst/>
          </a:prstGeom>
          <a:noFill/>
          <a:ln/>
        </p:spPr>
        <p:txBody>
          <a:bodyPr wrap="square" lIns="0" tIns="0" rIns="0" bIns="0" rtlCol="0" anchor="t"/>
          <a:lstStyle/>
          <a:p>
            <a:pPr algn="r" indent="0" marL="0">
              <a:buNone/>
            </a:pPr>
            <a:r>
              <a:rPr lang="en-US" sz="1100" dirty="0">
                <a:solidFill>
                  <a:srgbClr val="6B3A2A"/>
                </a:solidFill>
              </a:rPr>
              <a:t>1</a:t>
            </a:r>
            <a:endParaRPr lang="en-US" sz="1100" dirty="0"/>
          </a:p>
        </p:txBody>
      </p:sp>
      <p:sp>
        <p:nvSpPr>
          <p:cNvPr id="16" name="Text 14"/>
          <p:cNvSpPr txBox="1"/>
          <p:nvPr/>
        </p:nvSpPr>
        <p:spPr>
          <a:xfrm>
            <a:off x="1033272" y="4197096"/>
            <a:ext cx="201168" cy="219456"/>
          </a:xfrm>
          <a:prstGeom prst="rect">
            <a:avLst/>
          </a:prstGeom>
          <a:noFill/>
          <a:ln/>
        </p:spPr>
        <p:txBody>
          <a:bodyPr wrap="square" lIns="0" tIns="0" rIns="0" bIns="0" rtlCol="0" anchor="t"/>
          <a:lstStyle/>
          <a:p>
            <a:pPr algn="r" indent="0" marL="0">
              <a:buNone/>
            </a:pPr>
            <a:r>
              <a:rPr lang="en-US" sz="1100" dirty="0">
                <a:solidFill>
                  <a:srgbClr val="6B3A2A"/>
                </a:solidFill>
              </a:rPr>
              <a:t>2</a:t>
            </a:r>
            <a:endParaRPr lang="en-US" sz="1100" dirty="0"/>
          </a:p>
        </p:txBody>
      </p:sp>
      <p:sp>
        <p:nvSpPr>
          <p:cNvPr id="17" name="Text 15"/>
          <p:cNvSpPr txBox="1"/>
          <p:nvPr/>
        </p:nvSpPr>
        <p:spPr>
          <a:xfrm>
            <a:off x="1033272" y="3410712"/>
            <a:ext cx="201168" cy="219456"/>
          </a:xfrm>
          <a:prstGeom prst="rect">
            <a:avLst/>
          </a:prstGeom>
          <a:noFill/>
          <a:ln/>
        </p:spPr>
        <p:txBody>
          <a:bodyPr wrap="square" lIns="0" tIns="0" rIns="0" bIns="0" rtlCol="0" anchor="t"/>
          <a:lstStyle/>
          <a:p>
            <a:pPr algn="r" indent="0" marL="0">
              <a:buNone/>
            </a:pPr>
            <a:r>
              <a:rPr lang="en-US" sz="1100" dirty="0">
                <a:solidFill>
                  <a:srgbClr val="6B3A2A"/>
                </a:solidFill>
              </a:rPr>
              <a:t>3</a:t>
            </a:r>
            <a:endParaRPr lang="en-US" sz="1100" dirty="0"/>
          </a:p>
        </p:txBody>
      </p:sp>
      <p:sp>
        <p:nvSpPr>
          <p:cNvPr id="18" name="Text 16"/>
          <p:cNvSpPr txBox="1"/>
          <p:nvPr/>
        </p:nvSpPr>
        <p:spPr>
          <a:xfrm>
            <a:off x="1033272" y="2624328"/>
            <a:ext cx="201168" cy="219456"/>
          </a:xfrm>
          <a:prstGeom prst="rect">
            <a:avLst/>
          </a:prstGeom>
          <a:noFill/>
          <a:ln/>
        </p:spPr>
        <p:txBody>
          <a:bodyPr wrap="square" lIns="0" tIns="0" rIns="0" bIns="0" rtlCol="0" anchor="t"/>
          <a:lstStyle/>
          <a:p>
            <a:pPr algn="r" indent="0" marL="0">
              <a:buNone/>
            </a:pPr>
            <a:r>
              <a:rPr lang="en-US" sz="1100" dirty="0">
                <a:solidFill>
                  <a:srgbClr val="6B3A2A"/>
                </a:solidFill>
              </a:rPr>
              <a:t>4</a:t>
            </a:r>
            <a:endParaRPr lang="en-US" sz="1100" dirty="0"/>
          </a:p>
        </p:txBody>
      </p:sp>
      <p:sp>
        <p:nvSpPr>
          <p:cNvPr id="19" name="Text 17"/>
          <p:cNvSpPr txBox="1"/>
          <p:nvPr/>
        </p:nvSpPr>
        <p:spPr>
          <a:xfrm>
            <a:off x="1033272" y="1837944"/>
            <a:ext cx="201168" cy="219456"/>
          </a:xfrm>
          <a:prstGeom prst="rect">
            <a:avLst/>
          </a:prstGeom>
          <a:noFill/>
          <a:ln/>
        </p:spPr>
        <p:txBody>
          <a:bodyPr wrap="square" lIns="0" tIns="0" rIns="0" bIns="0" rtlCol="0" anchor="t"/>
          <a:lstStyle/>
          <a:p>
            <a:pPr algn="r" indent="0" marL="0">
              <a:buNone/>
            </a:pPr>
            <a:r>
              <a:rPr lang="en-US" sz="1100" dirty="0">
                <a:solidFill>
                  <a:srgbClr val="6B3A2A"/>
                </a:solidFill>
              </a:rPr>
              <a:t>5</a:t>
            </a:r>
            <a:endParaRPr lang="en-US" sz="1100" dirty="0"/>
          </a:p>
        </p:txBody>
      </p:sp>
      <p:sp>
        <p:nvSpPr>
          <p:cNvPr id="20" name="Text 18"/>
          <p:cNvSpPr txBox="1"/>
          <p:nvPr/>
        </p:nvSpPr>
        <p:spPr>
          <a:xfrm>
            <a:off x="1325880" y="5760720"/>
            <a:ext cx="6035040" cy="256032"/>
          </a:xfrm>
          <a:prstGeom prst="rect">
            <a:avLst/>
          </a:prstGeom>
          <a:noFill/>
          <a:ln/>
        </p:spPr>
        <p:txBody>
          <a:bodyPr wrap="square" lIns="0" tIns="0" rIns="0" bIns="0" rtlCol="0" anchor="t"/>
          <a:lstStyle/>
          <a:p>
            <a:pPr algn="ctr" indent="0" marL="0">
              <a:buNone/>
            </a:pPr>
            <a:r>
              <a:rPr lang="en-US" sz="1300" b="1" dirty="0">
                <a:solidFill>
                  <a:srgbClr val="4A2018"/>
                </a:solidFill>
              </a:rPr>
              <a:t>Precio por 20 g (S/ con IGV)</a:t>
            </a:r>
            <a:endParaRPr lang="en-US" sz="1300" dirty="0"/>
          </a:p>
        </p:txBody>
      </p:sp>
      <p:sp>
        <p:nvSpPr>
          <p:cNvPr id="21" name="Text 19"/>
          <p:cNvSpPr txBox="1"/>
          <p:nvPr/>
        </p:nvSpPr>
        <p:spPr>
          <a:xfrm rot="16200000">
            <a:off x="-1097280" y="3392424"/>
            <a:ext cx="3931920" cy="256032"/>
          </a:xfrm>
          <a:prstGeom prst="rect">
            <a:avLst/>
          </a:prstGeom>
          <a:noFill/>
          <a:ln/>
        </p:spPr>
        <p:txBody>
          <a:bodyPr wrap="square" lIns="0" tIns="0" rIns="0" bIns="0" rtlCol="0" anchor="t"/>
          <a:lstStyle/>
          <a:p>
            <a:pPr algn="ctr" indent="0" marL="0">
              <a:buNone/>
            </a:pPr>
            <a:r>
              <a:rPr lang="en-US" sz="1300" b="1" dirty="0">
                <a:solidFill>
                  <a:srgbClr val="4A2018"/>
                </a:solidFill>
              </a:rPr>
              <a:t>Evidencia que el padre puede verificar (1 a 5)</a:t>
            </a:r>
            <a:endParaRPr lang="en-US" sz="1300" dirty="0"/>
          </a:p>
        </p:txBody>
      </p:sp>
      <p:sp>
        <p:nvSpPr>
          <p:cNvPr id="22" name="Text 20"/>
          <p:cNvSpPr txBox="1"/>
          <p:nvPr/>
        </p:nvSpPr>
        <p:spPr>
          <a:xfrm>
            <a:off x="1417320" y="1627632"/>
            <a:ext cx="2743200" cy="237744"/>
          </a:xfrm>
          <a:prstGeom prst="rect">
            <a:avLst/>
          </a:prstGeom>
          <a:noFill/>
          <a:ln/>
        </p:spPr>
        <p:txBody>
          <a:bodyPr wrap="square" lIns="0" tIns="0" rIns="0" bIns="0" rtlCol="0" anchor="t"/>
          <a:lstStyle/>
          <a:p>
            <a:pPr algn="l" indent="0" marL="0">
              <a:buNone/>
            </a:pPr>
            <a:r>
              <a:rPr lang="en-US" sz="1200" b="1" spc="100" kern="0" dirty="0">
                <a:solidFill>
                  <a:srgbClr val="6B3A2A"/>
                </a:solidFill>
              </a:rPr>
              <a:t>PRECIO BAJO CON PRUEBA: VACÍO</a:t>
            </a:r>
            <a:endParaRPr lang="en-US" sz="1200" dirty="0"/>
          </a:p>
        </p:txBody>
      </p:sp>
      <p:sp>
        <p:nvSpPr>
          <p:cNvPr id="23" name="Text 21"/>
          <p:cNvSpPr txBox="1"/>
          <p:nvPr/>
        </p:nvSpPr>
        <p:spPr>
          <a:xfrm>
            <a:off x="4526280" y="1627632"/>
            <a:ext cx="2743200" cy="237744"/>
          </a:xfrm>
          <a:prstGeom prst="rect">
            <a:avLst/>
          </a:prstGeom>
          <a:noFill/>
          <a:ln/>
        </p:spPr>
        <p:txBody>
          <a:bodyPr wrap="square" lIns="0" tIns="0" rIns="0" bIns="0" rtlCol="0" anchor="t"/>
          <a:lstStyle/>
          <a:p>
            <a:pPr algn="r" indent="0" marL="0">
              <a:buNone/>
            </a:pPr>
            <a:r>
              <a:rPr lang="en-US" sz="1200" b="1" spc="100" kern="0" dirty="0">
                <a:solidFill>
                  <a:srgbClr val="6B3A2A"/>
                </a:solidFill>
              </a:rPr>
              <a:t>PREMIUM CON PRUEBA</a:t>
            </a:r>
            <a:endParaRPr lang="en-US" sz="1200" dirty="0"/>
          </a:p>
        </p:txBody>
      </p:sp>
      <p:sp>
        <p:nvSpPr>
          <p:cNvPr id="24" name="Text 22"/>
          <p:cNvSpPr txBox="1"/>
          <p:nvPr/>
        </p:nvSpPr>
        <p:spPr>
          <a:xfrm>
            <a:off x="1417320" y="5175504"/>
            <a:ext cx="2743200" cy="237744"/>
          </a:xfrm>
          <a:prstGeom prst="rect">
            <a:avLst/>
          </a:prstGeom>
          <a:noFill/>
          <a:ln/>
        </p:spPr>
        <p:txBody>
          <a:bodyPr wrap="square" lIns="0" tIns="0" rIns="0" bIns="0" rtlCol="0" anchor="t"/>
          <a:lstStyle/>
          <a:p>
            <a:pPr algn="l" indent="0" marL="0">
              <a:buNone/>
            </a:pPr>
            <a:r>
              <a:rPr lang="en-US" sz="1200" b="1" spc="100" kern="0" dirty="0">
                <a:solidFill>
                  <a:srgbClr val="6B3A2A"/>
                </a:solidFill>
              </a:rPr>
              <a:t>MASIVO</a:t>
            </a:r>
            <a:endParaRPr lang="en-US" sz="1200" dirty="0"/>
          </a:p>
        </p:txBody>
      </p:sp>
      <p:sp>
        <p:nvSpPr>
          <p:cNvPr id="25" name="Text 23"/>
          <p:cNvSpPr txBox="1"/>
          <p:nvPr/>
        </p:nvSpPr>
        <p:spPr>
          <a:xfrm>
            <a:off x="4526280" y="5175504"/>
            <a:ext cx="2743200" cy="237744"/>
          </a:xfrm>
          <a:prstGeom prst="rect">
            <a:avLst/>
          </a:prstGeom>
          <a:noFill/>
          <a:ln/>
        </p:spPr>
        <p:txBody>
          <a:bodyPr wrap="square" lIns="0" tIns="0" rIns="0" bIns="0" rtlCol="0" anchor="t"/>
          <a:lstStyle/>
          <a:p>
            <a:pPr algn="r" indent="0" marL="0">
              <a:buNone/>
            </a:pPr>
            <a:r>
              <a:rPr lang="en-US" sz="1200" b="1" spc="100" kern="0" dirty="0">
                <a:solidFill>
                  <a:srgbClr val="6B3A2A"/>
                </a:solidFill>
              </a:rPr>
              <a:t>PREMIUM SIN PRUEBA</a:t>
            </a:r>
            <a:endParaRPr lang="en-US" sz="1200" dirty="0"/>
          </a:p>
        </p:txBody>
      </p:sp>
      <p:sp>
        <p:nvSpPr>
          <p:cNvPr id="26" name="Shape 24"/>
          <p:cNvSpPr/>
          <p:nvPr/>
        </p:nvSpPr>
        <p:spPr>
          <a:xfrm>
            <a:off x="6009071" y="2679192"/>
            <a:ext cx="788579" cy="109728"/>
          </a:xfrm>
          <a:prstGeom prst="roundRect">
            <a:avLst>
              <a:gd name="adj" fmla="val 50000"/>
            </a:avLst>
          </a:prstGeom>
          <a:solidFill>
            <a:srgbClr val="EBD9C6"/>
          </a:solidFill>
          <a:ln w="12700">
            <a:solidFill>
              <a:srgbClr val="EBD9C6"/>
            </a:solidFill>
            <a:prstDash val="solid"/>
          </a:ln>
        </p:spPr>
      </p:sp>
      <p:sp>
        <p:nvSpPr>
          <p:cNvPr id="27" name="Shape 25"/>
          <p:cNvSpPr/>
          <p:nvPr/>
        </p:nvSpPr>
        <p:spPr>
          <a:xfrm>
            <a:off x="4946904" y="4251960"/>
            <a:ext cx="1078260" cy="109728"/>
          </a:xfrm>
          <a:prstGeom prst="roundRect">
            <a:avLst>
              <a:gd name="adj" fmla="val 50000"/>
            </a:avLst>
          </a:prstGeom>
          <a:solidFill>
            <a:srgbClr val="EBD9C6"/>
          </a:solidFill>
          <a:ln w="12700">
            <a:solidFill>
              <a:srgbClr val="EBD9C6"/>
            </a:solidFill>
            <a:prstDash val="solid"/>
          </a:ln>
        </p:spPr>
      </p:sp>
      <p:sp>
        <p:nvSpPr>
          <p:cNvPr id="28" name="Shape 26"/>
          <p:cNvSpPr/>
          <p:nvPr/>
        </p:nvSpPr>
        <p:spPr>
          <a:xfrm>
            <a:off x="6524061" y="2093976"/>
            <a:ext cx="0" cy="493776"/>
          </a:xfrm>
          <a:prstGeom prst="line">
            <a:avLst/>
          </a:prstGeom>
          <a:noFill/>
          <a:ln w="19050">
            <a:solidFill>
              <a:srgbClr val="BA4036"/>
            </a:solidFill>
            <a:prstDash val="dash"/>
          </a:ln>
        </p:spPr>
      </p:sp>
      <p:sp>
        <p:nvSpPr>
          <p:cNvPr id="29" name="Shape 27"/>
          <p:cNvSpPr/>
          <p:nvPr/>
        </p:nvSpPr>
        <p:spPr>
          <a:xfrm>
            <a:off x="6386901" y="1810512"/>
            <a:ext cx="274320" cy="274320"/>
          </a:xfrm>
          <a:prstGeom prst="ellipse">
            <a:avLst/>
          </a:prstGeom>
          <a:solidFill>
            <a:srgbClr val="FFFFFF"/>
          </a:solidFill>
          <a:ln w="25400">
            <a:solidFill>
              <a:srgbClr val="BA4036"/>
            </a:solidFill>
            <a:prstDash val="solid"/>
          </a:ln>
        </p:spPr>
      </p:sp>
      <p:sp>
        <p:nvSpPr>
          <p:cNvPr id="30" name="Shape 28"/>
          <p:cNvSpPr/>
          <p:nvPr/>
        </p:nvSpPr>
        <p:spPr>
          <a:xfrm>
            <a:off x="6377757" y="2587752"/>
            <a:ext cx="292608" cy="292608"/>
          </a:xfrm>
          <a:prstGeom prst="ellipse">
            <a:avLst/>
          </a:prstGeom>
          <a:solidFill>
            <a:srgbClr val="BA4036"/>
          </a:solidFill>
          <a:ln w="6350">
            <a:solidFill>
              <a:srgbClr val="BA4036"/>
            </a:solidFill>
            <a:prstDash val="solid"/>
          </a:ln>
        </p:spPr>
      </p:sp>
      <p:sp>
        <p:nvSpPr>
          <p:cNvPr id="31" name="Shape 29"/>
          <p:cNvSpPr/>
          <p:nvPr/>
        </p:nvSpPr>
        <p:spPr>
          <a:xfrm>
            <a:off x="4363517" y="2633472"/>
            <a:ext cx="201168" cy="201168"/>
          </a:xfrm>
          <a:prstGeom prst="ellipse">
            <a:avLst/>
          </a:prstGeom>
          <a:solidFill>
            <a:srgbClr val="4A2018"/>
          </a:solidFill>
          <a:ln w="6350">
            <a:solidFill>
              <a:srgbClr val="4A2018"/>
            </a:solidFill>
            <a:prstDash val="solid"/>
          </a:ln>
        </p:spPr>
      </p:sp>
      <p:sp>
        <p:nvSpPr>
          <p:cNvPr id="32" name="Shape 30"/>
          <p:cNvSpPr/>
          <p:nvPr/>
        </p:nvSpPr>
        <p:spPr>
          <a:xfrm>
            <a:off x="5650992" y="3419856"/>
            <a:ext cx="201168" cy="201168"/>
          </a:xfrm>
          <a:prstGeom prst="ellipse">
            <a:avLst/>
          </a:prstGeom>
          <a:solidFill>
            <a:srgbClr val="4A2018"/>
          </a:solidFill>
          <a:ln w="6350">
            <a:solidFill>
              <a:srgbClr val="4A2018"/>
            </a:solidFill>
            <a:prstDash val="solid"/>
          </a:ln>
        </p:spPr>
      </p:sp>
      <p:sp>
        <p:nvSpPr>
          <p:cNvPr id="33" name="Shape 31"/>
          <p:cNvSpPr/>
          <p:nvPr/>
        </p:nvSpPr>
        <p:spPr>
          <a:xfrm>
            <a:off x="5811926" y="4206240"/>
            <a:ext cx="201168" cy="201168"/>
          </a:xfrm>
          <a:prstGeom prst="ellipse">
            <a:avLst/>
          </a:prstGeom>
          <a:solidFill>
            <a:srgbClr val="4A2018"/>
          </a:solidFill>
          <a:ln w="6350">
            <a:solidFill>
              <a:srgbClr val="4A2018"/>
            </a:solidFill>
            <a:prstDash val="solid"/>
          </a:ln>
        </p:spPr>
      </p:sp>
      <p:sp>
        <p:nvSpPr>
          <p:cNvPr id="34" name="Shape 32"/>
          <p:cNvSpPr/>
          <p:nvPr/>
        </p:nvSpPr>
        <p:spPr>
          <a:xfrm>
            <a:off x="1901220" y="4206240"/>
            <a:ext cx="201168" cy="201168"/>
          </a:xfrm>
          <a:prstGeom prst="ellipse">
            <a:avLst/>
          </a:prstGeom>
          <a:solidFill>
            <a:srgbClr val="4A2018"/>
          </a:solidFill>
          <a:ln w="6350">
            <a:solidFill>
              <a:srgbClr val="4A2018"/>
            </a:solidFill>
            <a:prstDash val="solid"/>
          </a:ln>
        </p:spPr>
      </p:sp>
      <p:sp>
        <p:nvSpPr>
          <p:cNvPr id="35" name="Shape 33"/>
          <p:cNvSpPr/>
          <p:nvPr/>
        </p:nvSpPr>
        <p:spPr>
          <a:xfrm>
            <a:off x="5377404" y="4206240"/>
            <a:ext cx="201168" cy="201168"/>
          </a:xfrm>
          <a:prstGeom prst="ellipse">
            <a:avLst/>
          </a:prstGeom>
          <a:solidFill>
            <a:srgbClr val="FFFFFF"/>
          </a:solidFill>
          <a:ln w="25400">
            <a:solidFill>
              <a:srgbClr val="4A2018"/>
            </a:solidFill>
            <a:prstDash val="dash"/>
          </a:ln>
        </p:spPr>
      </p:sp>
      <p:sp>
        <p:nvSpPr>
          <p:cNvPr id="36" name="Shape 34"/>
          <p:cNvSpPr/>
          <p:nvPr/>
        </p:nvSpPr>
        <p:spPr>
          <a:xfrm>
            <a:off x="2609332" y="3419856"/>
            <a:ext cx="201168" cy="201168"/>
          </a:xfrm>
          <a:prstGeom prst="ellipse">
            <a:avLst/>
          </a:prstGeom>
          <a:solidFill>
            <a:srgbClr val="FFFFFF"/>
          </a:solidFill>
          <a:ln w="25400">
            <a:solidFill>
              <a:srgbClr val="4A2018"/>
            </a:solidFill>
            <a:prstDash val="dash"/>
          </a:ln>
        </p:spPr>
      </p:sp>
      <p:sp>
        <p:nvSpPr>
          <p:cNvPr id="37" name="Shape 35"/>
          <p:cNvSpPr/>
          <p:nvPr/>
        </p:nvSpPr>
        <p:spPr>
          <a:xfrm>
            <a:off x="4085173" y="4233672"/>
            <a:ext cx="146304" cy="146304"/>
          </a:xfrm>
          <a:prstGeom prst="ellipse">
            <a:avLst/>
          </a:prstGeom>
          <a:solidFill>
            <a:srgbClr val="A08C80"/>
          </a:solidFill>
          <a:ln w="6350">
            <a:solidFill>
              <a:srgbClr val="A08C80"/>
            </a:solidFill>
            <a:prstDash val="solid"/>
          </a:ln>
        </p:spPr>
      </p:sp>
      <p:sp>
        <p:nvSpPr>
          <p:cNvPr id="38" name="Shape 36"/>
          <p:cNvSpPr/>
          <p:nvPr/>
        </p:nvSpPr>
        <p:spPr>
          <a:xfrm>
            <a:off x="1944746" y="5020056"/>
            <a:ext cx="146304" cy="146304"/>
          </a:xfrm>
          <a:prstGeom prst="ellipse">
            <a:avLst/>
          </a:prstGeom>
          <a:solidFill>
            <a:srgbClr val="A08C80"/>
          </a:solidFill>
          <a:ln w="6350">
            <a:solidFill>
              <a:srgbClr val="A08C80"/>
            </a:solidFill>
            <a:prstDash val="solid"/>
          </a:ln>
        </p:spPr>
      </p:sp>
      <p:sp>
        <p:nvSpPr>
          <p:cNvPr id="39" name="Text 37"/>
          <p:cNvSpPr txBox="1"/>
          <p:nvPr/>
        </p:nvSpPr>
        <p:spPr>
          <a:xfrm>
            <a:off x="3735141" y="1828800"/>
            <a:ext cx="2606040" cy="237744"/>
          </a:xfrm>
          <a:prstGeom prst="rect">
            <a:avLst/>
          </a:prstGeom>
          <a:noFill/>
          <a:ln/>
        </p:spPr>
        <p:txBody>
          <a:bodyPr wrap="square" lIns="0" tIns="0" rIns="0" bIns="0" rtlCol="0" anchor="t"/>
          <a:lstStyle/>
          <a:p>
            <a:pPr algn="r" indent="0" marL="0">
              <a:buNone/>
            </a:pPr>
            <a:r>
              <a:rPr lang="en-US" sz="1300" b="1" dirty="0">
                <a:solidFill>
                  <a:srgbClr val="BA4036"/>
                </a:solidFill>
              </a:rPr>
              <a:t>Meta: con el informe del laboratorio</a:t>
            </a:r>
            <a:endParaRPr lang="en-US" sz="1300" dirty="0"/>
          </a:p>
        </p:txBody>
      </p:sp>
      <p:sp>
        <p:nvSpPr>
          <p:cNvPr id="40" name="Text 38"/>
          <p:cNvSpPr txBox="1"/>
          <p:nvPr/>
        </p:nvSpPr>
        <p:spPr>
          <a:xfrm>
            <a:off x="5061021" y="2916936"/>
            <a:ext cx="1371600" cy="237744"/>
          </a:xfrm>
          <a:prstGeom prst="rect">
            <a:avLst/>
          </a:prstGeom>
          <a:noFill/>
          <a:ln/>
        </p:spPr>
        <p:txBody>
          <a:bodyPr wrap="square" lIns="0" tIns="0" rIns="0" bIns="0" rtlCol="0" anchor="t"/>
          <a:lstStyle/>
          <a:p>
            <a:pPr algn="r" indent="0" marL="0">
              <a:buNone/>
            </a:pPr>
            <a:r>
              <a:rPr lang="en-US" sz="1400" b="1" dirty="0">
                <a:solidFill>
                  <a:srgbClr val="BA4036"/>
                </a:solidFill>
              </a:rPr>
              <a:t>AndiBite hoy</a:t>
            </a:r>
            <a:endParaRPr lang="en-US" sz="1400" dirty="0"/>
          </a:p>
        </p:txBody>
      </p:sp>
      <p:sp>
        <p:nvSpPr>
          <p:cNvPr id="41" name="Text 39"/>
          <p:cNvSpPr txBox="1"/>
          <p:nvPr/>
        </p:nvSpPr>
        <p:spPr>
          <a:xfrm>
            <a:off x="3503981" y="2615184"/>
            <a:ext cx="822960" cy="237744"/>
          </a:xfrm>
          <a:prstGeom prst="rect">
            <a:avLst/>
          </a:prstGeom>
          <a:noFill/>
          <a:ln/>
        </p:spPr>
        <p:txBody>
          <a:bodyPr wrap="square" lIns="0" tIns="0" rIns="0" bIns="0" rtlCol="0" anchor="t"/>
          <a:lstStyle/>
          <a:p>
            <a:pPr algn="r" indent="0" marL="0">
              <a:buNone/>
            </a:pPr>
            <a:r>
              <a:rPr lang="en-US" sz="1300" dirty="0">
                <a:solidFill>
                  <a:srgbClr val="3B1A14"/>
                </a:solidFill>
              </a:rPr>
              <a:t>Nutri H</a:t>
            </a:r>
            <a:endParaRPr lang="en-US" sz="1300" dirty="0"/>
          </a:p>
        </p:txBody>
      </p:sp>
      <p:sp>
        <p:nvSpPr>
          <p:cNvPr id="42" name="Text 40"/>
          <p:cNvSpPr txBox="1"/>
          <p:nvPr/>
        </p:nvSpPr>
        <p:spPr>
          <a:xfrm>
            <a:off x="5020056" y="3227832"/>
            <a:ext cx="594360" cy="237744"/>
          </a:xfrm>
          <a:prstGeom prst="rect">
            <a:avLst/>
          </a:prstGeom>
          <a:noFill/>
          <a:ln/>
        </p:spPr>
        <p:txBody>
          <a:bodyPr wrap="square" lIns="0" tIns="0" rIns="0" bIns="0" rtlCol="0" anchor="t"/>
          <a:lstStyle/>
          <a:p>
            <a:pPr algn="r" indent="0" marL="0">
              <a:buNone/>
            </a:pPr>
            <a:r>
              <a:rPr lang="en-US" sz="1300" dirty="0">
                <a:solidFill>
                  <a:srgbClr val="3B1A14"/>
                </a:solidFill>
              </a:rPr>
              <a:t>Fika</a:t>
            </a:r>
            <a:endParaRPr lang="en-US" sz="1300" dirty="0"/>
          </a:p>
        </p:txBody>
      </p:sp>
      <p:sp>
        <p:nvSpPr>
          <p:cNvPr id="43" name="Text 41"/>
          <p:cNvSpPr txBox="1"/>
          <p:nvPr/>
        </p:nvSpPr>
        <p:spPr>
          <a:xfrm>
            <a:off x="2856220" y="3401568"/>
            <a:ext cx="1737360" cy="237744"/>
          </a:xfrm>
          <a:prstGeom prst="rect">
            <a:avLst/>
          </a:prstGeom>
          <a:noFill/>
          <a:ln/>
        </p:spPr>
        <p:txBody>
          <a:bodyPr wrap="square" lIns="0" tIns="0" rIns="0" bIns="0" rtlCol="0" anchor="t"/>
          <a:lstStyle/>
          <a:p>
            <a:pPr indent="0" marL="0">
              <a:buNone/>
            </a:pPr>
            <a:r>
              <a:rPr lang="en-US" sz="1300" dirty="0">
                <a:solidFill>
                  <a:srgbClr val="3B1A14"/>
                </a:solidFill>
              </a:rPr>
              <a:t>La Purita*</a:t>
            </a:r>
            <a:endParaRPr lang="en-US" sz="1300" dirty="0"/>
          </a:p>
        </p:txBody>
      </p:sp>
      <p:sp>
        <p:nvSpPr>
          <p:cNvPr id="44" name="Text 42"/>
          <p:cNvSpPr txBox="1"/>
          <p:nvPr/>
        </p:nvSpPr>
        <p:spPr>
          <a:xfrm>
            <a:off x="4334988" y="3977640"/>
            <a:ext cx="1005840" cy="237744"/>
          </a:xfrm>
          <a:prstGeom prst="rect">
            <a:avLst/>
          </a:prstGeom>
          <a:noFill/>
          <a:ln/>
        </p:spPr>
        <p:txBody>
          <a:bodyPr wrap="square" lIns="0" tIns="0" rIns="0" bIns="0" rtlCol="0" anchor="t"/>
          <a:lstStyle/>
          <a:p>
            <a:pPr algn="r" indent="0" marL="0">
              <a:buNone/>
            </a:pPr>
            <a:r>
              <a:rPr lang="en-US" sz="1300" dirty="0">
                <a:solidFill>
                  <a:srgbClr val="3B1A14"/>
                </a:solidFill>
              </a:rPr>
              <a:t>Forticao*</a:t>
            </a:r>
            <a:endParaRPr lang="en-US" sz="1300" dirty="0"/>
          </a:p>
        </p:txBody>
      </p:sp>
      <p:sp>
        <p:nvSpPr>
          <p:cNvPr id="45" name="Text 43"/>
          <p:cNvSpPr txBox="1"/>
          <p:nvPr/>
        </p:nvSpPr>
        <p:spPr>
          <a:xfrm>
            <a:off x="5546750" y="4443984"/>
            <a:ext cx="1097280" cy="237744"/>
          </a:xfrm>
          <a:prstGeom prst="rect">
            <a:avLst/>
          </a:prstGeom>
          <a:noFill/>
          <a:ln/>
        </p:spPr>
        <p:txBody>
          <a:bodyPr wrap="square" lIns="0" tIns="0" rIns="0" bIns="0" rtlCol="0" anchor="t"/>
          <a:lstStyle/>
          <a:p>
            <a:pPr indent="0" marL="0">
              <a:buNone/>
            </a:pPr>
            <a:r>
              <a:rPr lang="en-US" sz="1300" dirty="0">
                <a:solidFill>
                  <a:srgbClr val="3B1A14"/>
                </a:solidFill>
              </a:rPr>
              <a:t>Mamalama</a:t>
            </a:r>
            <a:endParaRPr lang="en-US" sz="1300" dirty="0"/>
          </a:p>
        </p:txBody>
      </p:sp>
      <p:sp>
        <p:nvSpPr>
          <p:cNvPr id="46" name="Text 44"/>
          <p:cNvSpPr txBox="1"/>
          <p:nvPr/>
        </p:nvSpPr>
        <p:spPr>
          <a:xfrm>
            <a:off x="2148108" y="4187952"/>
            <a:ext cx="1737360" cy="237744"/>
          </a:xfrm>
          <a:prstGeom prst="rect">
            <a:avLst/>
          </a:prstGeom>
          <a:noFill/>
          <a:ln/>
        </p:spPr>
        <p:txBody>
          <a:bodyPr wrap="square" lIns="0" tIns="0" rIns="0" bIns="0" rtlCol="0" anchor="t"/>
          <a:lstStyle/>
          <a:p>
            <a:pPr indent="0" marL="0">
              <a:buNone/>
            </a:pPr>
            <a:r>
              <a:rPr lang="en-US" sz="1300" dirty="0">
                <a:solidFill>
                  <a:srgbClr val="3B1A14"/>
                </a:solidFill>
              </a:rPr>
              <a:t>Bimbo Nutra Bien</a:t>
            </a:r>
            <a:endParaRPr lang="en-US" sz="1300" dirty="0"/>
          </a:p>
        </p:txBody>
      </p:sp>
      <p:sp>
        <p:nvSpPr>
          <p:cNvPr id="47" name="Text 45"/>
          <p:cNvSpPr txBox="1"/>
          <p:nvPr/>
        </p:nvSpPr>
        <p:spPr>
          <a:xfrm>
            <a:off x="2466685" y="4361688"/>
            <a:ext cx="1554480" cy="237744"/>
          </a:xfrm>
          <a:prstGeom prst="rect">
            <a:avLst/>
          </a:prstGeom>
          <a:noFill/>
          <a:ln/>
        </p:spPr>
        <p:txBody>
          <a:bodyPr wrap="square" lIns="0" tIns="0" rIns="0" bIns="0" rtlCol="0" anchor="t"/>
          <a:lstStyle/>
          <a:p>
            <a:pPr algn="r" indent="0" marL="0">
              <a:buNone/>
            </a:pPr>
            <a:r>
              <a:rPr lang="en-US" sz="1300" dirty="0">
                <a:solidFill>
                  <a:srgbClr val="6B3A2A"/>
                </a:solidFill>
              </a:rPr>
              <a:t>Siete Dragones</a:t>
            </a:r>
            <a:endParaRPr lang="en-US" sz="1300" dirty="0"/>
          </a:p>
        </p:txBody>
      </p:sp>
      <p:sp>
        <p:nvSpPr>
          <p:cNvPr id="48" name="Text 46"/>
          <p:cNvSpPr txBox="1"/>
          <p:nvPr/>
        </p:nvSpPr>
        <p:spPr>
          <a:xfrm>
            <a:off x="2164202" y="4974336"/>
            <a:ext cx="1737360" cy="237744"/>
          </a:xfrm>
          <a:prstGeom prst="rect">
            <a:avLst/>
          </a:prstGeom>
          <a:noFill/>
          <a:ln/>
        </p:spPr>
        <p:txBody>
          <a:bodyPr wrap="square" lIns="0" tIns="0" rIns="0" bIns="0" rtlCol="0" anchor="t"/>
          <a:lstStyle/>
          <a:p>
            <a:pPr indent="0" marL="0">
              <a:buNone/>
            </a:pPr>
            <a:r>
              <a:rPr lang="en-US" sz="1300" dirty="0">
                <a:solidFill>
                  <a:srgbClr val="6B3A2A"/>
                </a:solidFill>
              </a:rPr>
              <a:t>Little Bites</a:t>
            </a:r>
            <a:endParaRPr lang="en-US" sz="1300" dirty="0"/>
          </a:p>
        </p:txBody>
      </p:sp>
      <p:sp>
        <p:nvSpPr>
          <p:cNvPr id="49" name="Text 47"/>
          <p:cNvSpPr txBox="1"/>
          <p:nvPr/>
        </p:nvSpPr>
        <p:spPr>
          <a:xfrm>
            <a:off x="8001000" y="1600200"/>
            <a:ext cx="3657600" cy="292608"/>
          </a:xfrm>
          <a:prstGeom prst="rect">
            <a:avLst/>
          </a:prstGeom>
          <a:noFill/>
          <a:ln/>
        </p:spPr>
        <p:txBody>
          <a:bodyPr wrap="square" lIns="0" tIns="0" rIns="0" bIns="0" rtlCol="0" anchor="t"/>
          <a:lstStyle/>
          <a:p>
            <a:pPr indent="0" marL="0">
              <a:buNone/>
            </a:pPr>
            <a:r>
              <a:rPr lang="en-US" sz="1400" b="1" spc="200" kern="0" dirty="0">
                <a:solidFill>
                  <a:srgbClr val="BA4036"/>
                </a:solidFill>
              </a:rPr>
              <a:t>SLOGAN</a:t>
            </a:r>
            <a:endParaRPr lang="en-US" sz="1400" dirty="0"/>
          </a:p>
        </p:txBody>
      </p:sp>
      <p:sp>
        <p:nvSpPr>
          <p:cNvPr id="50" name="Text 48"/>
          <p:cNvSpPr txBox="1"/>
          <p:nvPr/>
        </p:nvSpPr>
        <p:spPr>
          <a:xfrm>
            <a:off x="8001000" y="1920240"/>
            <a:ext cx="3657600" cy="1371600"/>
          </a:xfrm>
          <a:prstGeom prst="rect">
            <a:avLst/>
          </a:prstGeom>
          <a:noFill/>
          <a:ln/>
        </p:spPr>
        <p:txBody>
          <a:bodyPr wrap="square" lIns="0" tIns="0" rIns="0" bIns="0" rtlCol="0" anchor="t"/>
          <a:lstStyle/>
          <a:p>
            <a:pPr indent="0" marL="0">
              <a:buNone/>
            </a:pPr>
            <a:r>
              <a:rPr lang="en-US" sz="3400" b="1" dirty="0">
                <a:solidFill>
                  <a:srgbClr val="4A2018"/>
                </a:solidFill>
              </a:rPr>
              <a:t>Hierro medido. Sabor a brownie.</a:t>
            </a:r>
            <a:endParaRPr lang="en-US" sz="3400" dirty="0"/>
          </a:p>
        </p:txBody>
      </p:sp>
      <p:sp>
        <p:nvSpPr>
          <p:cNvPr id="51" name="Text 49"/>
          <p:cNvSpPr txBox="1"/>
          <p:nvPr/>
        </p:nvSpPr>
        <p:spPr>
          <a:xfrm>
            <a:off x="8001000" y="3429000"/>
            <a:ext cx="3657600" cy="868680"/>
          </a:xfrm>
          <a:prstGeom prst="rect">
            <a:avLst/>
          </a:prstGeom>
          <a:noFill/>
          <a:ln/>
        </p:spPr>
        <p:txBody>
          <a:bodyPr wrap="square" lIns="0" tIns="0" rIns="0" bIns="0" rtlCol="0" anchor="t"/>
          <a:lstStyle/>
          <a:p>
            <a:pPr indent="0" marL="0">
              <a:buNone/>
            </a:pPr>
            <a:r>
              <a:rPr lang="en-US" sz="2400" dirty="0">
                <a:solidFill>
                  <a:srgbClr val="6B3A2A"/>
                </a:solidFill>
              </a:rPr>
              <a:t>Territorio: «Medido, no prometido».</a:t>
            </a:r>
            <a:endParaRPr lang="en-US" sz="2400" dirty="0"/>
          </a:p>
        </p:txBody>
      </p:sp>
      <p:sp>
        <p:nvSpPr>
          <p:cNvPr id="52" name="Text 50"/>
          <p:cNvSpPr txBox="1"/>
          <p:nvPr/>
        </p:nvSpPr>
        <p:spPr>
          <a:xfrm>
            <a:off x="8001000" y="4434840"/>
            <a:ext cx="3657600" cy="868680"/>
          </a:xfrm>
          <a:prstGeom prst="rect">
            <a:avLst/>
          </a:prstGeom>
          <a:noFill/>
          <a:ln/>
        </p:spPr>
        <p:txBody>
          <a:bodyPr wrap="square" lIns="0" tIns="0" rIns="0" bIns="0" rtlCol="0" anchor="t"/>
          <a:lstStyle/>
          <a:p>
            <a:pPr indent="0" marL="0">
              <a:buNone/>
            </a:pPr>
            <a:r>
              <a:rPr lang="en-US" sz="2400" b="1" dirty="0">
                <a:solidFill>
                  <a:srgbClr val="BA4036"/>
                </a:solidFill>
              </a:rPr>
              <a:t>Riesgo: estamos entre los más caros por 20 g.</a:t>
            </a:r>
            <a:endParaRPr lang="en-US" sz="2400" dirty="0"/>
          </a:p>
        </p:txBody>
      </p:sp>
      <p:sp>
        <p:nvSpPr>
          <p:cNvPr id="53" name="Text 51"/>
          <p:cNvSpPr txBox="1"/>
          <p:nvPr/>
        </p:nvSpPr>
        <p:spPr>
          <a:xfrm>
            <a:off x="548640" y="5989320"/>
            <a:ext cx="10698480" cy="411480"/>
          </a:xfrm>
          <a:prstGeom prst="rect">
            <a:avLst/>
          </a:prstGeom>
          <a:noFill/>
          <a:ln/>
        </p:spPr>
        <p:txBody>
          <a:bodyPr wrap="square" lIns="0" tIns="0" rIns="0" bIns="0" rtlCol="0" anchor="b"/>
          <a:lstStyle/>
          <a:p>
            <a:pPr indent="0" marL="0">
              <a:buNone/>
            </a:pPr>
            <a:r>
              <a:rPr lang="en-US" sz="1100" dirty="0">
                <a:solidFill>
                  <a:srgbClr val="6B3A2A"/>
                </a:solidFill>
              </a:rPr>
              <a:t>Fuente: Precios por 20 g de T2_02 (tiendas oficiales, 19-oct-2026); escala de evidencia de T2_10, sección 6. * Peso supuesto [POR CONFIRMAR]. En gris, marcas de referencia. Hoy AndiBite está en 4; sube a 5 con el primer informe del laboratorio.</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24</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ESTIMACIÓN INICIAL DEL MERCADO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FBF3E8"/>
                </a:solidFill>
              </a:rPr>
              <a:t>Para el año 1 basta el 1.4 % del núcleo</a:t>
            </a:r>
            <a:endParaRPr lang="en-US" sz="4000" dirty="0"/>
          </a:p>
        </p:txBody>
      </p:sp>
      <p:sp>
        <p:nvSpPr>
          <p:cNvPr id="4" name="nivel0"/>
          <p:cNvSpPr/>
          <p:nvPr/>
        </p:nvSpPr>
        <p:spPr>
          <a:xfrm>
            <a:off x="548640" y="1554480"/>
            <a:ext cx="7315200" cy="914400"/>
          </a:xfrm>
          <a:prstGeom prst="roundRect">
            <a:avLst>
              <a:gd name="adj" fmla="val 10000"/>
            </a:avLst>
          </a:prstGeom>
          <a:solidFill>
            <a:srgbClr val="7A4434"/>
          </a:solidFill>
          <a:ln>
            <a:solidFill>
              <a:srgbClr val="7A4434"/>
            </a:solidFill>
          </a:ln>
        </p:spPr>
        <p:txBody>
          <a:bodyPr wrap="square" lIns="50800" tIns="50800" rIns="50800" bIns="50800" rtlCol="0" anchor="ctr"/>
          <a:lstStyle/>
          <a:p>
            <a:pPr algn="ctr" indent="0" marL="0">
              <a:buNone/>
            </a:pPr>
            <a:r>
              <a:rPr lang="en-US" sz="2800" b="1" dirty="0">
                <a:solidFill>
                  <a:srgbClr val="FBF3E8"/>
                </a:solidFill>
                <a:latin typeface="Calibri" pitchFamily="34" charset="0"/>
                <a:ea typeface="Calibri" pitchFamily="34" charset="-122"/>
                <a:cs typeface="Calibri" pitchFamily="34" charset="-120"/>
              </a:rPr>
              <a:t>932,000 hogares</a:t>
            </a:r>
            <a:endParaRPr lang="en-US" sz="2800" dirty="0"/>
          </a:p>
          <a:p>
            <a:pPr algn="ctr" indent="0" marL="0">
              <a:buNone/>
            </a:pPr>
            <a:r>
              <a:rPr lang="en-US" sz="1600" dirty="0">
                <a:solidFill>
                  <a:srgbClr val="D9B48F"/>
                </a:solidFill>
                <a:latin typeface="Calibri" pitchFamily="34" charset="0"/>
                <a:ea typeface="Calibri" pitchFamily="34" charset="-122"/>
                <a:cs typeface="Calibri" pitchFamily="34" charset="-120"/>
              </a:rPr>
              <a:t>Mercado total · S/130.9 millones al año</a:t>
            </a:r>
            <a:endParaRPr lang="en-US" sz="2800" dirty="0"/>
          </a:p>
        </p:txBody>
      </p:sp>
      <p:sp>
        <p:nvSpPr>
          <p:cNvPr id="5" name="anim_nivel1"/>
          <p:cNvSpPr/>
          <p:nvPr/>
        </p:nvSpPr>
        <p:spPr>
          <a:xfrm>
            <a:off x="1143000" y="2578608"/>
            <a:ext cx="6126480" cy="914400"/>
          </a:xfrm>
          <a:prstGeom prst="roundRect">
            <a:avLst>
              <a:gd name="adj" fmla="val 10000"/>
            </a:avLst>
          </a:prstGeom>
          <a:solidFill>
            <a:srgbClr val="6B3A2A"/>
          </a:solidFill>
          <a:ln>
            <a:solidFill>
              <a:srgbClr val="6B3A2A"/>
            </a:solidFill>
          </a:ln>
        </p:spPr>
        <p:txBody>
          <a:bodyPr wrap="square" lIns="50800" tIns="50800" rIns="50800" bIns="50800" rtlCol="0" anchor="ctr"/>
          <a:lstStyle/>
          <a:p>
            <a:pPr algn="ctr" indent="0" marL="0">
              <a:buNone/>
            </a:pPr>
            <a:r>
              <a:rPr lang="en-US" sz="2800" b="1" dirty="0">
                <a:solidFill>
                  <a:srgbClr val="FBF3E8"/>
                </a:solidFill>
                <a:latin typeface="Calibri" pitchFamily="34" charset="0"/>
                <a:ea typeface="Calibri" pitchFamily="34" charset="-122"/>
                <a:cs typeface="Calibri" pitchFamily="34" charset="-120"/>
              </a:rPr>
              <a:t>168,000 hogares A/B</a:t>
            </a:r>
            <a:endParaRPr lang="en-US" sz="2800" dirty="0"/>
          </a:p>
          <a:p>
            <a:pPr algn="ctr" indent="0" marL="0">
              <a:buNone/>
            </a:pPr>
            <a:r>
              <a:rPr lang="en-US" sz="1600" dirty="0">
                <a:solidFill>
                  <a:srgbClr val="D9B48F"/>
                </a:solidFill>
                <a:latin typeface="Calibri" pitchFamily="34" charset="0"/>
                <a:ea typeface="Calibri" pitchFamily="34" charset="-122"/>
                <a:cs typeface="Calibri" pitchFamily="34" charset="-120"/>
              </a:rPr>
              <a:t>Al que apuntamos: toda Lima · S/62.8 millones</a:t>
            </a:r>
            <a:endParaRPr lang="en-US" sz="2800" dirty="0"/>
          </a:p>
        </p:txBody>
      </p:sp>
      <p:sp>
        <p:nvSpPr>
          <p:cNvPr id="6" name="anim_nivel2"/>
          <p:cNvSpPr/>
          <p:nvPr/>
        </p:nvSpPr>
        <p:spPr>
          <a:xfrm>
            <a:off x="1737360" y="3602736"/>
            <a:ext cx="4937760" cy="914400"/>
          </a:xfrm>
          <a:prstGeom prst="roundRect">
            <a:avLst>
              <a:gd name="adj" fmla="val 10000"/>
            </a:avLst>
          </a:prstGeom>
          <a:solidFill>
            <a:srgbClr val="BA4036"/>
          </a:solidFill>
          <a:ln>
            <a:solidFill>
              <a:srgbClr val="BA4036"/>
            </a:solidFill>
          </a:ln>
        </p:spPr>
        <p:txBody>
          <a:bodyPr wrap="square" lIns="50800" tIns="50800" rIns="50800" bIns="50800" rtlCol="0" anchor="ctr"/>
          <a:lstStyle/>
          <a:p>
            <a:pPr algn="ctr" indent="0" marL="0">
              <a:buNone/>
            </a:pPr>
            <a:r>
              <a:rPr lang="en-US" sz="2800" b="1" dirty="0">
                <a:solidFill>
                  <a:srgbClr val="FBF3E8"/>
                </a:solidFill>
                <a:latin typeface="Calibri" pitchFamily="34" charset="0"/>
                <a:ea typeface="Calibri" pitchFamily="34" charset="-122"/>
                <a:cs typeface="Calibri" pitchFamily="34" charset="-120"/>
              </a:rPr>
              <a:t>46,000 hogares núcleo</a:t>
            </a:r>
            <a:endParaRPr lang="en-US" sz="2800" dirty="0"/>
          </a:p>
          <a:p>
            <a:pPr algn="ctr" indent="0" marL="0">
              <a:buNone/>
            </a:pPr>
            <a:r>
              <a:rPr lang="en-US" sz="1600" dirty="0">
                <a:solidFill>
                  <a:srgbClr val="F6DCD3"/>
                </a:solidFill>
                <a:latin typeface="Calibri" pitchFamily="34" charset="0"/>
                <a:ea typeface="Calibri" pitchFamily="34" charset="-122"/>
                <a:cs typeface="Calibri" pitchFamily="34" charset="-120"/>
              </a:rPr>
              <a:t>Lima Top y Moderna · S/17.3 millones</a:t>
            </a:r>
            <a:endParaRPr lang="en-US" sz="2800" dirty="0"/>
          </a:p>
        </p:txBody>
      </p:sp>
      <p:sp>
        <p:nvSpPr>
          <p:cNvPr id="7" name="anim_nivel3"/>
          <p:cNvSpPr/>
          <p:nvPr/>
        </p:nvSpPr>
        <p:spPr>
          <a:xfrm>
            <a:off x="2331720" y="4626864"/>
            <a:ext cx="3749040" cy="914400"/>
          </a:xfrm>
          <a:prstGeom prst="roundRect">
            <a:avLst>
              <a:gd name="adj" fmla="val 10000"/>
            </a:avLst>
          </a:prstGeom>
          <a:solidFill>
            <a:srgbClr val="E3A33B"/>
          </a:solidFill>
          <a:ln>
            <a:solidFill>
              <a:srgbClr val="E3A33B"/>
            </a:solidFill>
          </a:ln>
        </p:spPr>
        <p:txBody>
          <a:bodyPr wrap="square" lIns="50800" tIns="50800" rIns="50800" bIns="50800" rtlCol="0" anchor="ctr"/>
          <a:lstStyle/>
          <a:p>
            <a:pPr algn="ctr" indent="0" marL="0">
              <a:buNone/>
            </a:pPr>
            <a:r>
              <a:rPr lang="en-US" sz="2800" b="1" dirty="0">
                <a:solidFill>
                  <a:srgbClr val="4A2018"/>
                </a:solidFill>
                <a:latin typeface="Calibri" pitchFamily="34" charset="0"/>
                <a:ea typeface="Calibri" pitchFamily="34" charset="-122"/>
                <a:cs typeface="Calibri" pitchFamily="34" charset="-120"/>
              </a:rPr>
              <a:t>S/244,728</a:t>
            </a:r>
            <a:endParaRPr lang="en-US" sz="2800" dirty="0"/>
          </a:p>
          <a:p>
            <a:pPr algn="ctr" indent="0" marL="0">
              <a:buNone/>
            </a:pPr>
            <a:r>
              <a:rPr lang="en-US" sz="1600" dirty="0">
                <a:solidFill>
                  <a:srgbClr val="4A2018"/>
                </a:solidFill>
                <a:latin typeface="Calibri" pitchFamily="34" charset="0"/>
                <a:ea typeface="Calibri" pitchFamily="34" charset="-122"/>
                <a:cs typeface="Calibri" pitchFamily="34" charset="-120"/>
              </a:rPr>
              <a:t>Año 1 · 52,331 brownies</a:t>
            </a:r>
            <a:endParaRPr lang="en-US" sz="2800" dirty="0"/>
          </a:p>
        </p:txBody>
      </p:sp>
      <p:sp>
        <p:nvSpPr>
          <p:cNvPr id="8" name="Text 6"/>
          <p:cNvSpPr txBox="1"/>
          <p:nvPr/>
        </p:nvSpPr>
        <p:spPr>
          <a:xfrm>
            <a:off x="8229600" y="1600200"/>
            <a:ext cx="3410712" cy="292608"/>
          </a:xfrm>
          <a:prstGeom prst="rect">
            <a:avLst/>
          </a:prstGeom>
          <a:noFill/>
          <a:ln/>
        </p:spPr>
        <p:txBody>
          <a:bodyPr wrap="square" lIns="0" tIns="0" rIns="0" bIns="0" rtlCol="0" anchor="t"/>
          <a:lstStyle/>
          <a:p>
            <a:pPr indent="0" marL="0">
              <a:buNone/>
            </a:pPr>
            <a:r>
              <a:rPr lang="en-US" sz="1400" b="1" spc="200" kern="0" dirty="0">
                <a:solidFill>
                  <a:srgbClr val="E3A33B"/>
                </a:solidFill>
              </a:rPr>
              <a:t>SUPUESTOS</a:t>
            </a:r>
            <a:endParaRPr lang="en-US" sz="1400" dirty="0"/>
          </a:p>
        </p:txBody>
      </p:sp>
      <p:sp>
        <p:nvSpPr>
          <p:cNvPr id="9" name="Text 7"/>
          <p:cNvSpPr txBox="1"/>
          <p:nvPr/>
        </p:nvSpPr>
        <p:spPr>
          <a:xfrm>
            <a:off x="8229600" y="1965960"/>
            <a:ext cx="3410712" cy="3566160"/>
          </a:xfrm>
          <a:prstGeom prst="rect">
            <a:avLst/>
          </a:prstGeom>
          <a:noFill/>
          <a:ln/>
        </p:spPr>
        <p:txBody>
          <a:bodyPr wrap="square" lIns="0" tIns="0" rIns="0" bIns="0" rtlCol="0" anchor="t"/>
          <a:lstStyle/>
          <a:p>
            <a:pPr indent="0" marL="0">
              <a:spcAft>
                <a:spcPts val="1400"/>
              </a:spcAft>
              <a:buNone/>
            </a:pPr>
            <a:r>
              <a:rPr lang="en-US" sz="2400" dirty="0">
                <a:solidFill>
                  <a:srgbClr val="FBF3E8"/>
                </a:solidFill>
              </a:rPr>
              <a:t>S/4.48 por brownie</a:t>
            </a:r>
            <a:endParaRPr lang="en-US" sz="2400" dirty="0"/>
          </a:p>
          <a:p>
            <a:pPr indent="0" marL="0">
              <a:spcAft>
                <a:spcPts val="1400"/>
              </a:spcAft>
              <a:buNone/>
            </a:pPr>
            <a:r>
              <a:rPr lang="en-US" sz="2400" dirty="0">
                <a:solidFill>
                  <a:srgbClr val="FBF3E8"/>
                </a:solidFill>
              </a:rPr>
              <a:t>35 % vuelve por WhatsApp</a:t>
            </a:r>
            <a:endParaRPr lang="en-US" sz="2400" dirty="0"/>
          </a:p>
          <a:p>
            <a:pPr indent="0" marL="0">
              <a:spcAft>
                <a:spcPts val="1400"/>
              </a:spcAft>
              <a:buNone/>
            </a:pPr>
            <a:r>
              <a:rPr lang="en-US" sz="2400" dirty="0">
                <a:solidFill>
                  <a:srgbClr val="FBF3E8"/>
                </a:solidFill>
              </a:rPr>
              <a:t>180 días × 40 % de loncheras</a:t>
            </a:r>
            <a:endParaRPr lang="en-US" sz="2400" dirty="0"/>
          </a:p>
          <a:p>
            <a:pPr indent="0" marL="0">
              <a:spcAft>
                <a:spcPts val="1400"/>
              </a:spcAft>
              <a:buNone/>
            </a:pPr>
            <a:r>
              <a:rPr lang="en-US" sz="2400" dirty="0">
                <a:solidFill>
                  <a:srgbClr val="FBF3E8"/>
                </a:solidFill>
              </a:rPr>
              <a:t>Meta: 1.4 % del núcleo</a:t>
            </a:r>
            <a:endParaRPr lang="en-US" sz="2400" dirty="0"/>
          </a:p>
        </p:txBody>
      </p:sp>
      <p:sp>
        <p:nvSpPr>
          <p:cNvPr id="10" name="Text 8"/>
          <p:cNvSpPr txBox="1"/>
          <p:nvPr/>
        </p:nvSpPr>
        <p:spPr>
          <a:xfrm>
            <a:off x="548640" y="5806440"/>
            <a:ext cx="10698480" cy="594360"/>
          </a:xfrm>
          <a:prstGeom prst="rect">
            <a:avLst/>
          </a:prstGeom>
          <a:noFill/>
          <a:ln/>
        </p:spPr>
        <p:txBody>
          <a:bodyPr wrap="square" lIns="0" tIns="0" rIns="0" bIns="0" rtlCol="0" anchor="b"/>
          <a:lstStyle/>
          <a:p>
            <a:pPr indent="0" marL="0">
              <a:buNone/>
            </a:pPr>
            <a:r>
              <a:rPr lang="en-US" sz="1100" dirty="0">
                <a:solidFill>
                  <a:srgbClr val="D9B48F"/>
                </a:solidFill>
              </a:rPr>
              <a:t>Fuente: T2_05, sección 2 (documento 04: APEIM 2025, Kantar 2025) y Excel v7. Ocasiones = niños de 4 a 11 × 180 días de clase × 40 % de loncheras con horneado o barrita; valor a S/4.00 por unidad (S/1.50 en el total). Con −5 % por el Censo 2025, la meta es el 1.5 % [HIPÓTESIS].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25</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PRECIO Y CANALES</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Precio claro por brownie y venta cara a cara</a:t>
            </a:r>
            <a:endParaRPr lang="en-US" sz="4000" dirty="0"/>
          </a:p>
        </p:txBody>
      </p:sp>
      <p:sp>
        <p:nvSpPr>
          <p:cNvPr id="4" name="Text 2"/>
          <p:cNvSpPr txBox="1"/>
          <p:nvPr/>
        </p:nvSpPr>
        <p:spPr>
          <a:xfrm>
            <a:off x="548640" y="1645920"/>
            <a:ext cx="2331720" cy="914400"/>
          </a:xfrm>
          <a:prstGeom prst="rect">
            <a:avLst/>
          </a:prstGeom>
          <a:noFill/>
          <a:ln/>
        </p:spPr>
        <p:txBody>
          <a:bodyPr wrap="square" lIns="0" tIns="0" rIns="0" bIns="0" rtlCol="0" anchor="ctr"/>
          <a:lstStyle/>
          <a:p>
            <a:pPr indent="0" marL="0">
              <a:buNone/>
            </a:pPr>
            <a:r>
              <a:rPr lang="en-US" sz="4800" b="1" dirty="0">
                <a:solidFill>
                  <a:srgbClr val="BA4036"/>
                </a:solidFill>
              </a:rPr>
              <a:t>S/4.65</a:t>
            </a:r>
            <a:endParaRPr lang="en-US" sz="4800" dirty="0"/>
          </a:p>
        </p:txBody>
      </p:sp>
      <p:sp>
        <p:nvSpPr>
          <p:cNvPr id="5" name="Text 3"/>
          <p:cNvSpPr txBox="1"/>
          <p:nvPr/>
        </p:nvSpPr>
        <p:spPr>
          <a:xfrm>
            <a:off x="2926080" y="1645920"/>
            <a:ext cx="2651760" cy="914400"/>
          </a:xfrm>
          <a:prstGeom prst="rect">
            <a:avLst/>
          </a:prstGeom>
          <a:noFill/>
          <a:ln/>
        </p:spPr>
        <p:txBody>
          <a:bodyPr wrap="square" lIns="0" tIns="0" rIns="0" bIns="0" rtlCol="0" anchor="ctr"/>
          <a:lstStyle/>
          <a:p>
            <a:pPr indent="0" marL="0">
              <a:buNone/>
            </a:pPr>
            <a:r>
              <a:rPr lang="en-US" sz="2400" dirty="0">
                <a:solidFill>
                  <a:srgbClr val="3B1A14"/>
                </a:solidFill>
              </a:rPr>
              <a:t>pack de 6 en el stand (S/27.90)</a:t>
            </a:r>
            <a:endParaRPr lang="en-US" sz="2400" dirty="0"/>
          </a:p>
        </p:txBody>
      </p:sp>
      <p:sp>
        <p:nvSpPr>
          <p:cNvPr id="6" name="Text 4"/>
          <p:cNvSpPr txBox="1"/>
          <p:nvPr/>
        </p:nvSpPr>
        <p:spPr>
          <a:xfrm>
            <a:off x="548640" y="2971800"/>
            <a:ext cx="2331720" cy="914400"/>
          </a:xfrm>
          <a:prstGeom prst="rect">
            <a:avLst/>
          </a:prstGeom>
          <a:noFill/>
          <a:ln/>
        </p:spPr>
        <p:txBody>
          <a:bodyPr wrap="square" lIns="0" tIns="0" rIns="0" bIns="0" rtlCol="0" anchor="ctr"/>
          <a:lstStyle/>
          <a:p>
            <a:pPr indent="0" marL="0">
              <a:buNone/>
            </a:pPr>
            <a:r>
              <a:rPr lang="en-US" sz="4800" b="1" dirty="0">
                <a:solidFill>
                  <a:srgbClr val="BA4036"/>
                </a:solidFill>
              </a:rPr>
              <a:t>S/4.48</a:t>
            </a:r>
            <a:endParaRPr lang="en-US" sz="4800" dirty="0"/>
          </a:p>
        </p:txBody>
      </p:sp>
      <p:sp>
        <p:nvSpPr>
          <p:cNvPr id="7" name="Text 5"/>
          <p:cNvSpPr txBox="1"/>
          <p:nvPr/>
        </p:nvSpPr>
        <p:spPr>
          <a:xfrm>
            <a:off x="2926080" y="2971800"/>
            <a:ext cx="2651760" cy="914400"/>
          </a:xfrm>
          <a:prstGeom prst="rect">
            <a:avLst/>
          </a:prstGeom>
          <a:noFill/>
          <a:ln/>
        </p:spPr>
        <p:txBody>
          <a:bodyPr wrap="square" lIns="0" tIns="0" rIns="0" bIns="0" rtlCol="0" anchor="ctr"/>
          <a:lstStyle/>
          <a:p>
            <a:pPr indent="0" marL="0">
              <a:buNone/>
            </a:pPr>
            <a:r>
              <a:rPr lang="en-US" sz="2400" dirty="0">
                <a:solidFill>
                  <a:srgbClr val="3B1A14"/>
                </a:solidFill>
              </a:rPr>
              <a:t>pack de 6 por WhatsApp (S/26.90)</a:t>
            </a:r>
            <a:endParaRPr lang="en-US" sz="2400" dirty="0"/>
          </a:p>
        </p:txBody>
      </p:sp>
      <p:sp>
        <p:nvSpPr>
          <p:cNvPr id="8" name="Text 6"/>
          <p:cNvSpPr txBox="1"/>
          <p:nvPr/>
        </p:nvSpPr>
        <p:spPr>
          <a:xfrm>
            <a:off x="548640" y="4297680"/>
            <a:ext cx="2331720" cy="914400"/>
          </a:xfrm>
          <a:prstGeom prst="rect">
            <a:avLst/>
          </a:prstGeom>
          <a:noFill/>
          <a:ln/>
        </p:spPr>
        <p:txBody>
          <a:bodyPr wrap="square" lIns="0" tIns="0" rIns="0" bIns="0" rtlCol="0" anchor="ctr"/>
          <a:lstStyle/>
          <a:p>
            <a:pPr indent="0" marL="0">
              <a:buNone/>
            </a:pPr>
            <a:r>
              <a:rPr lang="en-US" sz="4800" b="1" dirty="0">
                <a:solidFill>
                  <a:srgbClr val="BA4036"/>
                </a:solidFill>
              </a:rPr>
              <a:t>S/4.16</a:t>
            </a:r>
            <a:endParaRPr lang="en-US" sz="4800" dirty="0"/>
          </a:p>
        </p:txBody>
      </p:sp>
      <p:sp>
        <p:nvSpPr>
          <p:cNvPr id="9" name="Text 7"/>
          <p:cNvSpPr txBox="1"/>
          <p:nvPr/>
        </p:nvSpPr>
        <p:spPr>
          <a:xfrm>
            <a:off x="2926080" y="4297680"/>
            <a:ext cx="2651760" cy="914400"/>
          </a:xfrm>
          <a:prstGeom prst="rect">
            <a:avLst/>
          </a:prstGeom>
          <a:noFill/>
          <a:ln/>
        </p:spPr>
        <p:txBody>
          <a:bodyPr wrap="square" lIns="0" tIns="0" rIns="0" bIns="0" rtlCol="0" anchor="ctr"/>
          <a:lstStyle/>
          <a:p>
            <a:pPr indent="0" marL="0">
              <a:buNone/>
            </a:pPr>
            <a:r>
              <a:rPr lang="en-US" sz="2400" dirty="0">
                <a:solidFill>
                  <a:srgbClr val="3B1A14"/>
                </a:solidFill>
              </a:rPr>
              <a:t>pack de 12 por WhatsApp (S/49.90)</a:t>
            </a:r>
            <a:endParaRPr lang="en-US" sz="2400" dirty="0"/>
          </a:p>
        </p:txBody>
      </p:sp>
      <p:sp>
        <p:nvSpPr>
          <p:cNvPr id="10" name="Text 8"/>
          <p:cNvSpPr txBox="1"/>
          <p:nvPr/>
        </p:nvSpPr>
        <p:spPr>
          <a:xfrm>
            <a:off x="6172200" y="1645920"/>
            <a:ext cx="5468112" cy="292608"/>
          </a:xfrm>
          <a:prstGeom prst="rect">
            <a:avLst/>
          </a:prstGeom>
          <a:noFill/>
          <a:ln/>
        </p:spPr>
        <p:txBody>
          <a:bodyPr wrap="square" lIns="0" tIns="0" rIns="0" bIns="0" rtlCol="0" anchor="t"/>
          <a:lstStyle/>
          <a:p>
            <a:pPr indent="0" marL="0">
              <a:buNone/>
            </a:pPr>
            <a:r>
              <a:rPr lang="en-US" sz="1400" b="1" spc="200" kern="0" dirty="0">
                <a:solidFill>
                  <a:srgbClr val="BA4036"/>
                </a:solidFill>
              </a:rPr>
              <a:t>BROWNIES DEL AÑO 1 POR CANAL</a:t>
            </a:r>
            <a:endParaRPr lang="en-US" sz="1400" dirty="0"/>
          </a:p>
        </p:txBody>
      </p:sp>
      <p:sp>
        <p:nvSpPr>
          <p:cNvPr id="11" name="Text 9"/>
          <p:cNvSpPr txBox="1"/>
          <p:nvPr/>
        </p:nvSpPr>
        <p:spPr>
          <a:xfrm>
            <a:off x="6172200" y="2103120"/>
            <a:ext cx="1874520" cy="548640"/>
          </a:xfrm>
          <a:prstGeom prst="rect">
            <a:avLst/>
          </a:prstGeom>
          <a:noFill/>
          <a:ln/>
        </p:spPr>
        <p:txBody>
          <a:bodyPr wrap="square" lIns="0" tIns="0" rIns="0" bIns="0" rtlCol="0" anchor="ctr"/>
          <a:lstStyle/>
          <a:p>
            <a:pPr indent="0" marL="0">
              <a:buNone/>
            </a:pPr>
            <a:r>
              <a:rPr lang="en-US" sz="2000" b="1" dirty="0">
                <a:solidFill>
                  <a:srgbClr val="4A2018"/>
                </a:solidFill>
              </a:rPr>
              <a:t>Stands</a:t>
            </a:r>
            <a:endParaRPr lang="en-US" sz="2000" dirty="0"/>
          </a:p>
        </p:txBody>
      </p:sp>
      <p:sp>
        <p:nvSpPr>
          <p:cNvPr id="12" name="Shape 10"/>
          <p:cNvSpPr/>
          <p:nvPr/>
        </p:nvSpPr>
        <p:spPr>
          <a:xfrm>
            <a:off x="8092440" y="2212848"/>
            <a:ext cx="2514600" cy="329184"/>
          </a:xfrm>
          <a:prstGeom prst="rect">
            <a:avLst/>
          </a:prstGeom>
          <a:solidFill>
            <a:srgbClr val="BA4036"/>
          </a:solidFill>
          <a:ln w="12700">
            <a:solidFill>
              <a:srgbClr val="BA4036"/>
            </a:solidFill>
            <a:prstDash val="solid"/>
          </a:ln>
        </p:spPr>
      </p:sp>
      <p:sp>
        <p:nvSpPr>
          <p:cNvPr id="13" name="Text 11"/>
          <p:cNvSpPr txBox="1"/>
          <p:nvPr/>
        </p:nvSpPr>
        <p:spPr>
          <a:xfrm>
            <a:off x="10698480" y="2103120"/>
            <a:ext cx="1005840" cy="548640"/>
          </a:xfrm>
          <a:prstGeom prst="rect">
            <a:avLst/>
          </a:prstGeom>
          <a:noFill/>
          <a:ln/>
        </p:spPr>
        <p:txBody>
          <a:bodyPr wrap="square" lIns="0" tIns="0" rIns="0" bIns="0" rtlCol="0" anchor="ctr"/>
          <a:lstStyle/>
          <a:p>
            <a:pPr indent="0" marL="0">
              <a:buNone/>
            </a:pPr>
            <a:r>
              <a:rPr lang="en-US" sz="2000" b="1" dirty="0">
                <a:solidFill>
                  <a:srgbClr val="4A2018"/>
                </a:solidFill>
              </a:rPr>
              <a:t>43 %</a:t>
            </a:r>
            <a:endParaRPr lang="en-US" sz="2000" dirty="0"/>
          </a:p>
        </p:txBody>
      </p:sp>
      <p:sp>
        <p:nvSpPr>
          <p:cNvPr id="14" name="Text 12"/>
          <p:cNvSpPr txBox="1"/>
          <p:nvPr/>
        </p:nvSpPr>
        <p:spPr>
          <a:xfrm>
            <a:off x="6172200" y="2816352"/>
            <a:ext cx="1874520" cy="548640"/>
          </a:xfrm>
          <a:prstGeom prst="rect">
            <a:avLst/>
          </a:prstGeom>
          <a:noFill/>
          <a:ln/>
        </p:spPr>
        <p:txBody>
          <a:bodyPr wrap="square" lIns="0" tIns="0" rIns="0" bIns="0" rtlCol="0" anchor="ctr"/>
          <a:lstStyle/>
          <a:p>
            <a:pPr indent="0" marL="0">
              <a:buNone/>
            </a:pPr>
            <a:r>
              <a:rPr lang="en-US" sz="2000" b="1" dirty="0">
                <a:solidFill>
                  <a:srgbClr val="4A2018"/>
                </a:solidFill>
              </a:rPr>
              <a:t>WhatsApp</a:t>
            </a:r>
            <a:endParaRPr lang="en-US" sz="2000" dirty="0"/>
          </a:p>
        </p:txBody>
      </p:sp>
      <p:sp>
        <p:nvSpPr>
          <p:cNvPr id="15" name="Shape 13"/>
          <p:cNvSpPr/>
          <p:nvPr/>
        </p:nvSpPr>
        <p:spPr>
          <a:xfrm>
            <a:off x="8092440" y="2926080"/>
            <a:ext cx="1052623" cy="329184"/>
          </a:xfrm>
          <a:prstGeom prst="rect">
            <a:avLst/>
          </a:prstGeom>
          <a:solidFill>
            <a:srgbClr val="6B3A2A"/>
          </a:solidFill>
          <a:ln w="12700">
            <a:solidFill>
              <a:srgbClr val="6B3A2A"/>
            </a:solidFill>
            <a:prstDash val="solid"/>
          </a:ln>
        </p:spPr>
      </p:sp>
      <p:sp>
        <p:nvSpPr>
          <p:cNvPr id="16" name="Text 14"/>
          <p:cNvSpPr txBox="1"/>
          <p:nvPr/>
        </p:nvSpPr>
        <p:spPr>
          <a:xfrm>
            <a:off x="9236503" y="2816352"/>
            <a:ext cx="1005840" cy="548640"/>
          </a:xfrm>
          <a:prstGeom prst="rect">
            <a:avLst/>
          </a:prstGeom>
          <a:noFill/>
          <a:ln/>
        </p:spPr>
        <p:txBody>
          <a:bodyPr wrap="square" lIns="0" tIns="0" rIns="0" bIns="0" rtlCol="0" anchor="ctr"/>
          <a:lstStyle/>
          <a:p>
            <a:pPr indent="0" marL="0">
              <a:buNone/>
            </a:pPr>
            <a:r>
              <a:rPr lang="en-US" sz="2000" b="1" dirty="0">
                <a:solidFill>
                  <a:srgbClr val="4A2018"/>
                </a:solidFill>
              </a:rPr>
              <a:t>18 %</a:t>
            </a:r>
            <a:endParaRPr lang="en-US" sz="2000" dirty="0"/>
          </a:p>
        </p:txBody>
      </p:sp>
      <p:sp>
        <p:nvSpPr>
          <p:cNvPr id="17" name="Text 15"/>
          <p:cNvSpPr txBox="1"/>
          <p:nvPr/>
        </p:nvSpPr>
        <p:spPr>
          <a:xfrm>
            <a:off x="6172200" y="3529584"/>
            <a:ext cx="1874520" cy="548640"/>
          </a:xfrm>
          <a:prstGeom prst="rect">
            <a:avLst/>
          </a:prstGeom>
          <a:noFill/>
          <a:ln/>
        </p:spPr>
        <p:txBody>
          <a:bodyPr wrap="square" lIns="0" tIns="0" rIns="0" bIns="0" rtlCol="0" anchor="ctr"/>
          <a:lstStyle/>
          <a:p>
            <a:pPr indent="0" marL="0">
              <a:buNone/>
            </a:pPr>
            <a:r>
              <a:rPr lang="en-US" sz="2000" b="1" dirty="0">
                <a:solidFill>
                  <a:srgbClr val="4A2018"/>
                </a:solidFill>
              </a:rPr>
              <a:t>Colegios</a:t>
            </a:r>
            <a:endParaRPr lang="en-US" sz="2000" dirty="0"/>
          </a:p>
        </p:txBody>
      </p:sp>
      <p:sp>
        <p:nvSpPr>
          <p:cNvPr id="18" name="Shape 16"/>
          <p:cNvSpPr/>
          <p:nvPr/>
        </p:nvSpPr>
        <p:spPr>
          <a:xfrm>
            <a:off x="8092440" y="3639312"/>
            <a:ext cx="1023384" cy="329184"/>
          </a:xfrm>
          <a:prstGeom prst="rect">
            <a:avLst/>
          </a:prstGeom>
          <a:solidFill>
            <a:srgbClr val="6B3A2A"/>
          </a:solidFill>
          <a:ln w="12700">
            <a:solidFill>
              <a:srgbClr val="6B3A2A"/>
            </a:solidFill>
            <a:prstDash val="solid"/>
          </a:ln>
        </p:spPr>
      </p:sp>
      <p:sp>
        <p:nvSpPr>
          <p:cNvPr id="19" name="Text 17"/>
          <p:cNvSpPr txBox="1"/>
          <p:nvPr/>
        </p:nvSpPr>
        <p:spPr>
          <a:xfrm>
            <a:off x="9207264" y="3529584"/>
            <a:ext cx="1005840" cy="548640"/>
          </a:xfrm>
          <a:prstGeom prst="rect">
            <a:avLst/>
          </a:prstGeom>
          <a:noFill/>
          <a:ln/>
        </p:spPr>
        <p:txBody>
          <a:bodyPr wrap="square" lIns="0" tIns="0" rIns="0" bIns="0" rtlCol="0" anchor="ctr"/>
          <a:lstStyle/>
          <a:p>
            <a:pPr indent="0" marL="0">
              <a:buNone/>
            </a:pPr>
            <a:r>
              <a:rPr lang="en-US" sz="2000" b="1" dirty="0">
                <a:solidFill>
                  <a:srgbClr val="4A2018"/>
                </a:solidFill>
              </a:rPr>
              <a:t>17.5 %</a:t>
            </a:r>
            <a:endParaRPr lang="en-US" sz="2000" dirty="0"/>
          </a:p>
        </p:txBody>
      </p:sp>
      <p:sp>
        <p:nvSpPr>
          <p:cNvPr id="20" name="Text 18"/>
          <p:cNvSpPr txBox="1"/>
          <p:nvPr/>
        </p:nvSpPr>
        <p:spPr>
          <a:xfrm>
            <a:off x="6172200" y="4242816"/>
            <a:ext cx="1874520" cy="548640"/>
          </a:xfrm>
          <a:prstGeom prst="rect">
            <a:avLst/>
          </a:prstGeom>
          <a:noFill/>
          <a:ln/>
        </p:spPr>
        <p:txBody>
          <a:bodyPr wrap="square" lIns="0" tIns="0" rIns="0" bIns="0" rtlCol="0" anchor="ctr"/>
          <a:lstStyle/>
          <a:p>
            <a:pPr indent="0" marL="0">
              <a:buNone/>
            </a:pPr>
            <a:r>
              <a:rPr lang="en-US" sz="2000" b="1" dirty="0">
                <a:solidFill>
                  <a:srgbClr val="4A2018"/>
                </a:solidFill>
              </a:rPr>
              <a:t>Ferias y eventos</a:t>
            </a:r>
            <a:endParaRPr lang="en-US" sz="2000" dirty="0"/>
          </a:p>
        </p:txBody>
      </p:sp>
      <p:sp>
        <p:nvSpPr>
          <p:cNvPr id="21" name="Shape 19"/>
          <p:cNvSpPr/>
          <p:nvPr/>
        </p:nvSpPr>
        <p:spPr>
          <a:xfrm>
            <a:off x="8092440" y="4352544"/>
            <a:ext cx="818707" cy="329184"/>
          </a:xfrm>
          <a:prstGeom prst="rect">
            <a:avLst/>
          </a:prstGeom>
          <a:solidFill>
            <a:srgbClr val="6B3A2A"/>
          </a:solidFill>
          <a:ln w="12700">
            <a:solidFill>
              <a:srgbClr val="6B3A2A"/>
            </a:solidFill>
            <a:prstDash val="solid"/>
          </a:ln>
        </p:spPr>
      </p:sp>
      <p:sp>
        <p:nvSpPr>
          <p:cNvPr id="22" name="Text 20"/>
          <p:cNvSpPr txBox="1"/>
          <p:nvPr/>
        </p:nvSpPr>
        <p:spPr>
          <a:xfrm>
            <a:off x="9002587" y="4242816"/>
            <a:ext cx="1005840" cy="548640"/>
          </a:xfrm>
          <a:prstGeom prst="rect">
            <a:avLst/>
          </a:prstGeom>
          <a:noFill/>
          <a:ln/>
        </p:spPr>
        <p:txBody>
          <a:bodyPr wrap="square" lIns="0" tIns="0" rIns="0" bIns="0" rtlCol="0" anchor="ctr"/>
          <a:lstStyle/>
          <a:p>
            <a:pPr indent="0" marL="0">
              <a:buNone/>
            </a:pPr>
            <a:r>
              <a:rPr lang="en-US" sz="2000" b="1" dirty="0">
                <a:solidFill>
                  <a:srgbClr val="4A2018"/>
                </a:solidFill>
              </a:rPr>
              <a:t>14 %</a:t>
            </a:r>
            <a:endParaRPr lang="en-US" sz="2000" dirty="0"/>
          </a:p>
        </p:txBody>
      </p:sp>
      <p:sp>
        <p:nvSpPr>
          <p:cNvPr id="23" name="Text 21"/>
          <p:cNvSpPr txBox="1"/>
          <p:nvPr/>
        </p:nvSpPr>
        <p:spPr>
          <a:xfrm>
            <a:off x="6172200" y="4956048"/>
            <a:ext cx="1874520" cy="548640"/>
          </a:xfrm>
          <a:prstGeom prst="rect">
            <a:avLst/>
          </a:prstGeom>
          <a:noFill/>
          <a:ln/>
        </p:spPr>
        <p:txBody>
          <a:bodyPr wrap="square" lIns="0" tIns="0" rIns="0" bIns="0" rtlCol="0" anchor="ctr"/>
          <a:lstStyle/>
          <a:p>
            <a:pPr indent="0" marL="0">
              <a:buNone/>
            </a:pPr>
            <a:r>
              <a:rPr lang="en-US" sz="2000" b="1" dirty="0">
                <a:solidFill>
                  <a:srgbClr val="4A2018"/>
                </a:solidFill>
              </a:rPr>
              <a:t>Naturistas</a:t>
            </a:r>
            <a:endParaRPr lang="en-US" sz="2000" dirty="0"/>
          </a:p>
        </p:txBody>
      </p:sp>
      <p:sp>
        <p:nvSpPr>
          <p:cNvPr id="24" name="Shape 22"/>
          <p:cNvSpPr/>
          <p:nvPr/>
        </p:nvSpPr>
        <p:spPr>
          <a:xfrm>
            <a:off x="8092440" y="5065776"/>
            <a:ext cx="409353" cy="329184"/>
          </a:xfrm>
          <a:prstGeom prst="rect">
            <a:avLst/>
          </a:prstGeom>
          <a:solidFill>
            <a:srgbClr val="6B3A2A"/>
          </a:solidFill>
          <a:ln w="12700">
            <a:solidFill>
              <a:srgbClr val="6B3A2A"/>
            </a:solidFill>
            <a:prstDash val="solid"/>
          </a:ln>
        </p:spPr>
      </p:sp>
      <p:sp>
        <p:nvSpPr>
          <p:cNvPr id="25" name="Text 23"/>
          <p:cNvSpPr txBox="1"/>
          <p:nvPr/>
        </p:nvSpPr>
        <p:spPr>
          <a:xfrm>
            <a:off x="8593233" y="4956048"/>
            <a:ext cx="1005840" cy="548640"/>
          </a:xfrm>
          <a:prstGeom prst="rect">
            <a:avLst/>
          </a:prstGeom>
          <a:noFill/>
          <a:ln/>
        </p:spPr>
        <p:txBody>
          <a:bodyPr wrap="square" lIns="0" tIns="0" rIns="0" bIns="0" rtlCol="0" anchor="ctr"/>
          <a:lstStyle/>
          <a:p>
            <a:pPr indent="0" marL="0">
              <a:buNone/>
            </a:pPr>
            <a:r>
              <a:rPr lang="en-US" sz="2000" b="1" dirty="0">
                <a:solidFill>
                  <a:srgbClr val="4A2018"/>
                </a:solidFill>
              </a:rPr>
              <a:t>7 %</a:t>
            </a:r>
            <a:endParaRPr lang="en-US" sz="2000" dirty="0"/>
          </a:p>
        </p:txBody>
      </p:sp>
      <p:sp>
        <p:nvSpPr>
          <p:cNvPr id="26" name="Text 24"/>
          <p:cNvSpPr txBox="1"/>
          <p:nvPr/>
        </p:nvSpPr>
        <p:spPr>
          <a:xfrm>
            <a:off x="548640" y="5989320"/>
            <a:ext cx="10698480" cy="411480"/>
          </a:xfrm>
          <a:prstGeom prst="rect">
            <a:avLst/>
          </a:prstGeom>
          <a:noFill/>
          <a:ln/>
        </p:spPr>
        <p:txBody>
          <a:bodyPr wrap="square" lIns="0" tIns="0" rIns="0" bIns="0" rtlCol="0" anchor="b"/>
          <a:lstStyle/>
          <a:p>
            <a:pPr indent="0" marL="0">
              <a:buNone/>
            </a:pPr>
            <a:r>
              <a:rPr lang="en-US" sz="1100" dirty="0">
                <a:solidFill>
                  <a:srgbClr val="6B3A2A"/>
                </a:solidFill>
              </a:rPr>
              <a:t>Fuente: HECHOS_v7 (precios con IGV, que no se cambian; brownies por canal del Excel v7). Competencia por 20 g: Fika S/4.00, Mamalama S/4.10, Nutri H S/3.20 (T2_02). Sin suscripción: WhatsApp es solo para recompra.</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26</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E3A33B"/>
                </a:solidFill>
              </a:rPr>
              <a:t>PRÓXIMOS 90 DÍAS</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FBF3E8"/>
                </a:solidFill>
              </a:rPr>
              <a:t>Tres hitos hasta abrir el primer stand</a:t>
            </a:r>
            <a:endParaRPr lang="en-US" sz="4000" dirty="0"/>
          </a:p>
        </p:txBody>
      </p:sp>
      <p:sp>
        <p:nvSpPr>
          <p:cNvPr id="4" name="Shape 2"/>
          <p:cNvSpPr/>
          <p:nvPr/>
        </p:nvSpPr>
        <p:spPr>
          <a:xfrm>
            <a:off x="914400" y="2148840"/>
            <a:ext cx="10332720" cy="0"/>
          </a:xfrm>
          <a:prstGeom prst="line">
            <a:avLst/>
          </a:prstGeom>
          <a:noFill/>
          <a:ln w="38100">
            <a:solidFill>
              <a:srgbClr val="6B3A2A"/>
            </a:solidFill>
            <a:prstDash val="solid"/>
          </a:ln>
        </p:spPr>
      </p:sp>
      <p:sp>
        <p:nvSpPr>
          <p:cNvPr id="5" name="Shape 3"/>
          <p:cNvSpPr/>
          <p:nvPr/>
        </p:nvSpPr>
        <p:spPr>
          <a:xfrm>
            <a:off x="640080" y="1938528"/>
            <a:ext cx="420624" cy="420624"/>
          </a:xfrm>
          <a:prstGeom prst="ellipse">
            <a:avLst/>
          </a:prstGeom>
          <a:solidFill>
            <a:srgbClr val="E3A33B"/>
          </a:solidFill>
          <a:ln w="38100">
            <a:solidFill>
              <a:srgbClr val="4A2018"/>
            </a:solidFill>
            <a:prstDash val="solid"/>
          </a:ln>
        </p:spPr>
      </p:sp>
      <p:sp>
        <p:nvSpPr>
          <p:cNvPr id="6" name="anim_paso1"/>
          <p:cNvSpPr txBox="1"/>
          <p:nvPr/>
        </p:nvSpPr>
        <p:spPr>
          <a:xfrm>
            <a:off x="640080" y="2606040"/>
            <a:ext cx="3337560" cy="2926080"/>
          </a:xfrm>
          <a:prstGeom prst="rect">
            <a:avLst/>
          </a:prstGeom>
          <a:noFill/>
          <a:ln/>
        </p:spPr>
        <p:txBody>
          <a:bodyPr wrap="square" lIns="0" tIns="0" rIns="0" bIns="0" rtlCol="0" anchor="t"/>
          <a:lstStyle/>
          <a:p>
            <a:pPr indent="0" marL="0">
              <a:spcAft>
                <a:spcPts val="800"/>
              </a:spcAft>
              <a:buNone/>
            </a:pPr>
            <a:r>
              <a:rPr lang="en-US" sz="1500" b="1" spc="100" kern="0" dirty="0">
                <a:solidFill>
                  <a:srgbClr val="E3A33B"/>
                </a:solidFill>
              </a:rPr>
              <a:t>NOVIEMBRE 2026</a:t>
            </a:r>
            <a:endParaRPr lang="en-US" sz="1400" dirty="0"/>
          </a:p>
          <a:p>
            <a:pPr indent="0" marL="0">
              <a:spcAft>
                <a:spcPts val="800"/>
              </a:spcAft>
              <a:buNone/>
            </a:pPr>
            <a:r>
              <a:rPr lang="en-US" sz="3000" b="1" dirty="0">
                <a:solidFill>
                  <a:srgbClr val="FBF3E8"/>
                </a:solidFill>
              </a:rPr>
              <a:t>Laboratorio y degustación</a:t>
            </a:r>
            <a:endParaRPr lang="en-US" sz="1400" dirty="0"/>
          </a:p>
          <a:p>
            <a:pPr indent="0" marL="0">
              <a:buNone/>
            </a:pPr>
            <a:r>
              <a:rPr lang="en-US" sz="2400" dirty="0">
                <a:solidFill>
                  <a:srgbClr val="D9B48F"/>
                </a:solidFill>
              </a:rPr>
              <a:t>Hierro y octógono medidos; resultados completos</a:t>
            </a:r>
            <a:endParaRPr lang="en-US" sz="1400" dirty="0"/>
          </a:p>
        </p:txBody>
      </p:sp>
      <p:sp>
        <p:nvSpPr>
          <p:cNvPr id="7" name="Shape 5"/>
          <p:cNvSpPr/>
          <p:nvPr/>
        </p:nvSpPr>
        <p:spPr>
          <a:xfrm>
            <a:off x="4425696" y="1938528"/>
            <a:ext cx="420624" cy="420624"/>
          </a:xfrm>
          <a:prstGeom prst="ellipse">
            <a:avLst/>
          </a:prstGeom>
          <a:solidFill>
            <a:srgbClr val="E3A33B"/>
          </a:solidFill>
          <a:ln w="38100">
            <a:solidFill>
              <a:srgbClr val="4A2018"/>
            </a:solidFill>
            <a:prstDash val="solid"/>
          </a:ln>
        </p:spPr>
      </p:sp>
      <p:sp>
        <p:nvSpPr>
          <p:cNvPr id="8" name="anim_paso2"/>
          <p:cNvSpPr txBox="1"/>
          <p:nvPr/>
        </p:nvSpPr>
        <p:spPr>
          <a:xfrm>
            <a:off x="4425696" y="2606040"/>
            <a:ext cx="3337560" cy="2926080"/>
          </a:xfrm>
          <a:prstGeom prst="rect">
            <a:avLst/>
          </a:prstGeom>
          <a:noFill/>
          <a:ln/>
        </p:spPr>
        <p:txBody>
          <a:bodyPr wrap="square" lIns="0" tIns="0" rIns="0" bIns="0" rtlCol="0" anchor="t"/>
          <a:lstStyle/>
          <a:p>
            <a:pPr indent="0" marL="0">
              <a:spcAft>
                <a:spcPts val="800"/>
              </a:spcAft>
              <a:buNone/>
            </a:pPr>
            <a:r>
              <a:rPr lang="en-US" sz="1500" b="1" spc="100" kern="0" dirty="0">
                <a:solidFill>
                  <a:srgbClr val="E3A33B"/>
                </a:solidFill>
              </a:rPr>
              <a:t>DICIEMBRE 2026</a:t>
            </a:r>
            <a:endParaRPr lang="en-US" sz="1400" dirty="0"/>
          </a:p>
          <a:p>
            <a:pPr indent="0" marL="0">
              <a:spcAft>
                <a:spcPts val="800"/>
              </a:spcAft>
              <a:buNone/>
            </a:pPr>
            <a:r>
              <a:rPr lang="en-US" sz="3000" b="1" dirty="0">
                <a:solidFill>
                  <a:srgbClr val="FBF3E8"/>
                </a:solidFill>
              </a:rPr>
              <a:t>Prelanzamiento</a:t>
            </a:r>
            <a:endParaRPr lang="en-US" sz="1400" dirty="0"/>
          </a:p>
          <a:p>
            <a:pPr indent="0" marL="0">
              <a:buNone/>
            </a:pPr>
            <a:r>
              <a:rPr lang="en-US" sz="2400" dirty="0">
                <a:solidFill>
                  <a:srgbClr val="D9B48F"/>
                </a:solidFill>
              </a:rPr>
              <a:t>100 contactos en espera y pauta de S/600</a:t>
            </a:r>
            <a:endParaRPr lang="en-US" sz="1400" dirty="0"/>
          </a:p>
        </p:txBody>
      </p:sp>
      <p:sp>
        <p:nvSpPr>
          <p:cNvPr id="9" name="Shape 7"/>
          <p:cNvSpPr/>
          <p:nvPr/>
        </p:nvSpPr>
        <p:spPr>
          <a:xfrm>
            <a:off x="8211312" y="1938528"/>
            <a:ext cx="420624" cy="420624"/>
          </a:xfrm>
          <a:prstGeom prst="ellipse">
            <a:avLst/>
          </a:prstGeom>
          <a:solidFill>
            <a:srgbClr val="E3A33B"/>
          </a:solidFill>
          <a:ln w="38100">
            <a:solidFill>
              <a:srgbClr val="4A2018"/>
            </a:solidFill>
            <a:prstDash val="solid"/>
          </a:ln>
        </p:spPr>
      </p:sp>
      <p:sp>
        <p:nvSpPr>
          <p:cNvPr id="10" name="anim_paso3"/>
          <p:cNvSpPr txBox="1"/>
          <p:nvPr/>
        </p:nvSpPr>
        <p:spPr>
          <a:xfrm>
            <a:off x="8211312" y="2606040"/>
            <a:ext cx="3337560" cy="2926080"/>
          </a:xfrm>
          <a:prstGeom prst="rect">
            <a:avLst/>
          </a:prstGeom>
          <a:noFill/>
          <a:ln/>
        </p:spPr>
        <p:txBody>
          <a:bodyPr wrap="square" lIns="0" tIns="0" rIns="0" bIns="0" rtlCol="0" anchor="t"/>
          <a:lstStyle/>
          <a:p>
            <a:pPr indent="0" marL="0">
              <a:spcAft>
                <a:spcPts val="800"/>
              </a:spcAft>
              <a:buNone/>
            </a:pPr>
            <a:r>
              <a:rPr lang="en-US" sz="1500" b="1" spc="100" kern="0" dirty="0">
                <a:solidFill>
                  <a:srgbClr val="E3A33B"/>
                </a:solidFill>
              </a:rPr>
              <a:t>2 Y 3 DE ENERO 2027</a:t>
            </a:r>
            <a:endParaRPr lang="en-US" sz="1400" dirty="0"/>
          </a:p>
          <a:p>
            <a:pPr indent="0" marL="0">
              <a:spcAft>
                <a:spcPts val="800"/>
              </a:spcAft>
              <a:buNone/>
            </a:pPr>
            <a:r>
              <a:rPr lang="en-US" sz="3000" b="1" dirty="0">
                <a:solidFill>
                  <a:srgbClr val="FBF3E8"/>
                </a:solidFill>
              </a:rPr>
              <a:t>Abre Jockey Plaza</a:t>
            </a:r>
            <a:endParaRPr lang="en-US" sz="1400" dirty="0"/>
          </a:p>
          <a:p>
            <a:pPr indent="0" marL="0">
              <a:buNone/>
            </a:pPr>
            <a:r>
              <a:rPr lang="en-US" sz="2400" dirty="0">
                <a:solidFill>
                  <a:srgbClr val="D9B48F"/>
                </a:solidFill>
              </a:rPr>
              <a:t>Punto 1 con vendedores capacitados</a:t>
            </a:r>
            <a:endParaRPr lang="en-US" sz="1400" dirty="0"/>
          </a:p>
        </p:txBody>
      </p:sp>
      <p:sp>
        <p:nvSpPr>
          <p:cNvPr id="11" name="Text 9"/>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D9B48F"/>
                </a:solidFill>
              </a:rPr>
              <a:t>Fuente: T2_21, sección 4.2 (Gantt #18); HECHOS_v7 (prelanzamiento de S/1,758: oct-dic 2026). Fecha del primer informe del laboratorio y apertura del 2-3 de enero [POR CONFIRMAR con el laboratorio y el mall].</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9B48F"/>
                </a:solidFill>
              </a:defRPr>
            </a:lvl1pPr>
          </a:lstStyle>
          <a:p>
            <a:pPr algn="r"/>
            <a:fld id="{F7021451-1387-4CA6-816F-3879F97B5CBC}" type="slidenum">
              <a:rPr b="0" lang="en-US"/>
              <a:t>27</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img/logo_light.png">    </p:cNvPr>
          <p:cNvPicPr>
            <a:picLocks noChangeAspect="1"/>
          </p:cNvPicPr>
          <p:nvPr/>
        </p:nvPicPr>
        <p:blipFill>
          <a:blip r:embed="rId1"/>
          <a:stretch>
            <a:fillRect/>
          </a:stretch>
        </p:blipFill>
        <p:spPr>
          <a:xfrm>
            <a:off x="731520" y="731520"/>
            <a:ext cx="3200400" cy="1092708"/>
          </a:xfrm>
          <a:prstGeom prst="rect">
            <a:avLst/>
          </a:prstGeom>
        </p:spPr>
      </p:pic>
      <p:sp>
        <p:nvSpPr>
          <p:cNvPr id="3" name="Text 0"/>
          <p:cNvSpPr txBox="1"/>
          <p:nvPr/>
        </p:nvSpPr>
        <p:spPr>
          <a:xfrm>
            <a:off x="731520" y="2103120"/>
            <a:ext cx="7040880" cy="1737360"/>
          </a:xfrm>
          <a:prstGeom prst="rect">
            <a:avLst/>
          </a:prstGeom>
          <a:noFill/>
          <a:ln/>
        </p:spPr>
        <p:txBody>
          <a:bodyPr wrap="square" lIns="0" tIns="0" rIns="0" bIns="0" rtlCol="0" anchor="t"/>
          <a:lstStyle/>
          <a:p>
            <a:pPr indent="0" marL="0">
              <a:buNone/>
            </a:pPr>
            <a:r>
              <a:rPr lang="en-US" sz="4800" b="1" dirty="0">
                <a:solidFill>
                  <a:srgbClr val="FBF3E8"/>
                </a:solidFill>
              </a:rPr>
              <a:t>Hierro medido.</a:t>
            </a:r>
            <a:endParaRPr lang="en-US" sz="4800" dirty="0"/>
          </a:p>
          <a:p>
            <a:pPr indent="0" marL="0">
              <a:buNone/>
            </a:pPr>
            <a:r>
              <a:rPr lang="en-US" sz="4800" b="1" dirty="0">
                <a:solidFill>
                  <a:srgbClr val="FBF3E8"/>
                </a:solidFill>
              </a:rPr>
              <a:t>Sabor a brownie.</a:t>
            </a:r>
            <a:endParaRPr lang="en-US" sz="4800" dirty="0"/>
          </a:p>
        </p:txBody>
      </p:sp>
      <p:sp>
        <p:nvSpPr>
          <p:cNvPr id="4" name="Text 1"/>
          <p:cNvSpPr txBox="1"/>
          <p:nvPr/>
        </p:nvSpPr>
        <p:spPr>
          <a:xfrm>
            <a:off x="731520" y="3977640"/>
            <a:ext cx="6766560" cy="914400"/>
          </a:xfrm>
          <a:prstGeom prst="rect">
            <a:avLst/>
          </a:prstGeom>
          <a:noFill/>
          <a:ln/>
        </p:spPr>
        <p:txBody>
          <a:bodyPr wrap="square" lIns="0" tIns="0" rIns="0" bIns="0" rtlCol="0" anchor="t"/>
          <a:lstStyle/>
          <a:p>
            <a:pPr indent="0" marL="0">
              <a:buNone/>
            </a:pPr>
            <a:r>
              <a:rPr lang="en-US" sz="2600" dirty="0">
                <a:solidFill>
                  <a:srgbClr val="D9B48F"/>
                </a:solidFill>
              </a:rPr>
              <a:t>Su prueba: la lonchera vacía. La tuya: el informe de su lote.</a:t>
            </a:r>
            <a:endParaRPr lang="en-US" sz="2600" dirty="0"/>
          </a:p>
        </p:txBody>
      </p:sp>
      <p:sp>
        <p:nvSpPr>
          <p:cNvPr id="5" name="Text 2"/>
          <p:cNvSpPr txBox="1"/>
          <p:nvPr/>
        </p:nvSpPr>
        <p:spPr>
          <a:xfrm>
            <a:off x="731520" y="5440680"/>
            <a:ext cx="7040880" cy="365760"/>
          </a:xfrm>
          <a:prstGeom prst="rect">
            <a:avLst/>
          </a:prstGeom>
          <a:noFill/>
          <a:ln/>
        </p:spPr>
        <p:txBody>
          <a:bodyPr wrap="square" lIns="0" tIns="0" rIns="0" bIns="0" rtlCol="0" anchor="t"/>
          <a:lstStyle/>
          <a:p>
            <a:pPr indent="0" marL="0">
              <a:buNone/>
            </a:pPr>
            <a:r>
              <a:rPr lang="en-US" sz="1800" dirty="0">
                <a:solidFill>
                  <a:srgbClr val="FBF3E8"/>
                </a:solidFill>
              </a:rPr>
              <a:t>Gracias · Grupo 2 · Diana, Carlos, Angie, Patricia y Adela</a:t>
            </a:r>
            <a:endParaRPr lang="en-US" sz="1800" dirty="0"/>
          </a:p>
        </p:txBody>
      </p:sp>
      <p:pic>
        <p:nvPicPr>
          <p:cNvPr id="6" name="Image 1" descr="img/deck/empaque_frente.jpg">    </p:cNvPr>
          <p:cNvPicPr>
            <a:picLocks noChangeAspect="1"/>
          </p:cNvPicPr>
          <p:nvPr/>
        </p:nvPicPr>
        <p:blipFill>
          <a:blip r:embed="rId2"/>
          <a:stretch>
            <a:fillRect/>
          </a:stretch>
        </p:blipFill>
        <p:spPr>
          <a:xfrm rot="-180000">
            <a:off x="8001000" y="666293"/>
            <a:ext cx="3840480" cy="53425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ANEXO 1 · PRESUPUESTO DE MARKETING</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S/24,544 de octubre de 2026 a diciembre de 2027</a:t>
            </a:r>
            <a:endParaRPr lang="en-US" sz="4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4023360"/>
                <a:gridCol w="914400"/>
                <a:gridCol w="822960"/>
              </a:tblGrid>
              <a:tr h="548640">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Tipo de medio</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r>
              <a:tr h="548640">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Publicidad (pauta en Meta, expectativa y video)</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5,950</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24 %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Ventas personales (vendedores en ferias y eventos)</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4,140</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17 %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548640">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Promociones (muestras, degustación, POP, embajadoras)</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7,596</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31 %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Relaciones públicas (influencers, ferias y eventos)</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6,858</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500" dirty="0">
                          <a:solidFill>
                            <a:srgbClr val="3B1A14"/>
                          </a:solidFill>
                          <a:latin typeface="Calibri" pitchFamily="34" charset="0"/>
                          <a:ea typeface="Calibri" pitchFamily="34" charset="-122"/>
                          <a:cs typeface="Calibri" pitchFamily="34" charset="-120"/>
                        </a:rPr>
                        <a:t>28 %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548640">
                <a:tc>
                  <a:txBody>
                    <a:bodyPr/>
                    <a:lstStyle/>
                    <a:p>
                      <a:pPr indent="0" marL="0">
                        <a:buNone/>
                      </a:pPr>
                      <a:r>
                        <a:rPr lang="en-US" sz="1500" b="1" dirty="0">
                          <a:solidFill>
                            <a:srgbClr val="3B1A14"/>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3B1A14"/>
                          </a:solidFill>
                          <a:latin typeface="Calibri" pitchFamily="34" charset="0"/>
                          <a:ea typeface="Calibri" pitchFamily="34" charset="-122"/>
                          <a:cs typeface="Calibri" pitchFamily="34" charset="-120"/>
                        </a:rPr>
                        <a:t>24,544</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3B1A14"/>
                          </a:solidFill>
                          <a:latin typeface="Calibri" pitchFamily="34" charset="0"/>
                          <a:ea typeface="Calibri" pitchFamily="34" charset="-122"/>
                          <a:cs typeface="Calibri" pitchFamily="34" charset="-120"/>
                        </a:rPr>
                        <a:t>100 %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537960" y="1600200"/>
          <a:ext cx="5102352" cy="914400"/>
        </p:xfrm>
        <a:graphic>
          <a:graphicData uri="http://schemas.openxmlformats.org/drawingml/2006/table">
            <a:tbl>
              <a:tblPr/>
              <a:tblGrid>
                <a:gridCol w="1325880"/>
                <a:gridCol w="1143000"/>
                <a:gridCol w="685800"/>
                <a:gridCol w="1947672"/>
              </a:tblGrid>
              <a:tr h="658368">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Fase</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Meses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Meta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r>
              <a:tr h="658368">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Prelanzamiento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Oct–dic 2026</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400" dirty="0">
                          <a:solidFill>
                            <a:srgbClr val="3B1A14"/>
                          </a:solidFill>
                          <a:latin typeface="Calibri" pitchFamily="34" charset="0"/>
                          <a:ea typeface="Calibri" pitchFamily="34" charset="-122"/>
                          <a:cs typeface="Calibri" pitchFamily="34" charset="-120"/>
                        </a:rPr>
                        <a:t>1,758</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100 contactos en espera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Lanzamiento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Ene–feb 2027</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400" dirty="0">
                          <a:solidFill>
                            <a:srgbClr val="3B1A14"/>
                          </a:solidFill>
                          <a:latin typeface="Calibri" pitchFamily="34" charset="0"/>
                          <a:ea typeface="Calibri" pitchFamily="34" charset="-122"/>
                          <a:cs typeface="Calibri" pitchFamily="34" charset="-120"/>
                        </a:rPr>
                        <a:t>5,796</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3,700 brownies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658368">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Crecer</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Mar–jul 2027</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algn="r" indent="0" marL="0">
                        <a:buNone/>
                      </a:pPr>
                      <a:r>
                        <a:rPr lang="en-US" sz="1400" dirty="0">
                          <a:solidFill>
                            <a:srgbClr val="3B1A14"/>
                          </a:solidFill>
                          <a:latin typeface="Calibri" pitchFamily="34" charset="0"/>
                          <a:ea typeface="Calibri" pitchFamily="34" charset="-122"/>
                          <a:cs typeface="Calibri" pitchFamily="34" charset="-120"/>
                        </a:rPr>
                        <a:t>9,770</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20,320 brownies; 3 colegios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Expandir</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Ago–dic 2027</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algn="r" indent="0" marL="0">
                        <a:buNone/>
                      </a:pPr>
                      <a:r>
                        <a:rPr lang="en-US" sz="1400" dirty="0">
                          <a:solidFill>
                            <a:srgbClr val="3B1A14"/>
                          </a:solidFill>
                          <a:latin typeface="Calibri" pitchFamily="34" charset="0"/>
                          <a:ea typeface="Calibri" pitchFamily="34" charset="-122"/>
                          <a:cs typeface="Calibri" pitchFamily="34" charset="-120"/>
                        </a:rPr>
                        <a:t>7,220</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28,311 brownies; unos 2,300 contactos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bl>
          </a:graphicData>
        </a:graphic>
      </p:graphicFrame>
      <p:sp>
        <p:nvSpPr>
          <p:cNvPr id="6" name="Text 2"/>
          <p:cNvSpPr/>
          <p:nvPr/>
        </p:nvSpPr>
        <p:spPr>
          <a:xfrm>
            <a:off x="548640" y="5120640"/>
            <a:ext cx="11091672" cy="731520"/>
          </a:xfrm>
          <a:prstGeom prst="roundRect">
            <a:avLst>
              <a:gd name="adj" fmla="val 15000"/>
            </a:avLst>
          </a:prstGeom>
          <a:solidFill>
            <a:srgbClr val="4A2018"/>
          </a:solidFill>
          <a:ln>
            <a:solidFill>
              <a:srgbClr val="4A2018"/>
            </a:solidFill>
          </a:ln>
        </p:spPr>
        <p:txBody>
          <a:bodyPr wrap="square" lIns="152400" tIns="152400" rIns="152400" bIns="152400" rtlCol="0" anchor="ctr"/>
          <a:lstStyle/>
          <a:p>
            <a:pPr algn="ctr" indent="0" marL="0">
              <a:buNone/>
            </a:pPr>
            <a:r>
              <a:rPr lang="en-US" sz="1600" dirty="0">
                <a:solidFill>
                  <a:srgbClr val="FBF3E8"/>
                </a:solidFill>
                <a:latin typeface="Calibri" pitchFamily="34" charset="0"/>
                <a:ea typeface="Calibri" pitchFamily="34" charset="-122"/>
                <a:cs typeface="Calibri" pitchFamily="34" charset="-120"/>
              </a:rPr>
              <a:t>S/900 al mes (S/700 de pauta, degustación y material + S/200 de embajadoras) · BTL 74 % y digital 26 %, sin ATL · S/0.44 por brownie en 2027</a:t>
            </a:r>
            <a:endParaRPr lang="en-US" sz="1600" dirty="0"/>
          </a:p>
        </p:txBody>
      </p:sp>
      <p:sp>
        <p:nvSpPr>
          <p:cNvPr id="7" name="Text 3"/>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T2_17, secciones 1.1 a 1.5; Presupuesto-marketing-AndiBite.xlsx; HECHOS_v7.</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29</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ANEXO 2 · CONTROL DE KPI</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KPI principales y qué hacemos si no se cumplen</a:t>
            </a:r>
            <a:endParaRPr lang="en-US" sz="4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834640"/>
                <a:gridCol w="2743200"/>
                <a:gridCol w="1828800"/>
                <a:gridCol w="3685032"/>
              </a:tblGrid>
              <a:tr h="475488">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Meta 2027</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Frecuencia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400" b="1" dirty="0">
                          <a:solidFill>
                            <a:srgbClr val="FBF3E8"/>
                          </a:solidFill>
                          <a:latin typeface="Calibri" pitchFamily="34" charset="0"/>
                          <a:ea typeface="Calibri" pitchFamily="34" charset="-122"/>
                          <a:cs typeface="Calibri" pitchFamily="34" charset="-120"/>
                        </a:rPr>
                        <a:t>Si no se cumple</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Brownies por día en cada punto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80 a 90; mínimo 65</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Cada fin de semana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Más degustación o cambiar de punto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Ventas con IGV</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S/244,728 en el año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Bajo 88 % del Excel: plan de −20 %</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Recompra por WhatsApp</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35 % de lo físico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Reforzar el aviso de la app antes que la pauta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Contactos con permiso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Unos 2,300 en diciembre</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Semanal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QR de WhatsApp en el cartel y la bolsa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Envases escaneados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30 % en el año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El vendedor escanea con el padre</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Familias por embajadoras</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230 en el año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Más salones o cambiar el premio (al padre)</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Colegios con quiosco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5 (2 A y 3 B)</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Sin «sin octógono» no hay quiosco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4A2018"/>
                          </a:solidFill>
                          <a:latin typeface="Calibri" pitchFamily="34" charset="0"/>
                          <a:ea typeface="Calibri" pitchFamily="34" charset="-122"/>
                          <a:cs typeface="Calibri" pitchFamily="34" charset="-120"/>
                        </a:rPr>
                        <a:t>Costo por contacto en Meta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S/5 o menos [META PROPUESTA]</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Mensual</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400" dirty="0">
                          <a:solidFill>
                            <a:srgbClr val="3B1A14"/>
                          </a:solidFill>
                          <a:latin typeface="Calibri" pitchFamily="34" charset="0"/>
                          <a:ea typeface="Calibri" pitchFamily="34" charset="-122"/>
                          <a:cs typeface="Calibri" pitchFamily="34" charset="-120"/>
                        </a:rPr>
                        <a:t>Más de S/8 por 2 meses: cambiar anuncio</a:t>
                      </a:r>
                      <a:endParaRPr lang="en-US" sz="14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bl>
          </a:graphicData>
        </a:graphic>
      </p:graphicFrame>
      <p:sp>
        <p:nvSpPr>
          <p:cNvPr id="5" name="Text 2"/>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T2_19, tabla de KPI (17 indicadores; aquí los 8 principales); HECHOS_v7.</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30</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ANEXO 3 · RETORNO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ROI del negocio de 42 % y ROI de marketing de 74 %</a:t>
            </a:r>
            <a:endParaRPr lang="en-US" sz="4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291840"/>
                <a:gridCol w="2011680"/>
                <a:gridCol w="5788152"/>
              </a:tblGrid>
              <a:tr h="621792">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Indicador</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Valor</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c>
                  <a:txBody>
                    <a:bodyPr/>
                    <a:lstStyle/>
                    <a:p>
                      <a:pPr indent="0" marL="0">
                        <a:buNone/>
                      </a:pPr>
                      <a:r>
                        <a:rPr lang="en-US" sz="1500" b="1" dirty="0">
                          <a:solidFill>
                            <a:srgbClr val="FBF3E8"/>
                          </a:solidFill>
                          <a:latin typeface="Calibri" pitchFamily="34" charset="0"/>
                          <a:ea typeface="Calibri" pitchFamily="34" charset="-122"/>
                          <a:cs typeface="Calibri" pitchFamily="34" charset="-120"/>
                        </a:rPr>
                        <a:t>Cómo se calcula</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4A2018"/>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ROI del negocio, año 1</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41.5 % (42 %)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Utilidad neta S/10,379 ÷ aporte de los socios S/25,000</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ROI de marketing (75 % atribuido)</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74 %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(S/56,824 × 75 % − S/24,544) ÷ S/24,544; piso 16 %, techo 132 %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Atribución mínima para no perder</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43 %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S/24,544 ÷ S/56,824 de contribución después de stands</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Resultado operativo, año 1</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S/13,423 (6.5 %)</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Excel v7; todos los meses ganan desde marzo</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Inversión inicial</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S/40,876</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Socios S/25,000 + préstamo S/16,000; se recupera en el mes 23</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FFFFF"/>
                    </a:solidFill>
                  </a:tcPr>
                </a:tc>
              </a:tr>
              <a:tr h="621792">
                <a:tc>
                  <a:txBody>
                    <a:bodyPr/>
                    <a:lstStyle/>
                    <a:p>
                      <a:pPr indent="0" marL="0">
                        <a:buNone/>
                      </a:pPr>
                      <a:r>
                        <a:rPr lang="en-US" sz="1500" b="1" dirty="0">
                          <a:solidFill>
                            <a:srgbClr val="4A2018"/>
                          </a:solidFill>
                          <a:latin typeface="Calibri" pitchFamily="34" charset="0"/>
                          <a:ea typeface="Calibri" pitchFamily="34" charset="-122"/>
                          <a:cs typeface="Calibri" pitchFamily="34" charset="-120"/>
                        </a:rPr>
                        <a:t>Año 2 (2028)</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b="1" dirty="0">
                          <a:solidFill>
                            <a:srgbClr val="BA4036"/>
                          </a:solidFill>
                          <a:latin typeface="Calibri" pitchFamily="34" charset="0"/>
                          <a:ea typeface="Calibri" pitchFamily="34" charset="-122"/>
                          <a:cs typeface="Calibri" pitchFamily="34" charset="-120"/>
                        </a:rPr>
                        <a:t>S/322,329</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c>
                  <a:txBody>
                    <a:bodyPr/>
                    <a:lstStyle/>
                    <a:p>
                      <a:pPr indent="0" marL="0">
                        <a:buNone/>
                      </a:pPr>
                      <a:r>
                        <a:rPr lang="en-US" sz="1500" dirty="0">
                          <a:solidFill>
                            <a:srgbClr val="3B1A14"/>
                          </a:solidFill>
                          <a:latin typeface="Calibri" pitchFamily="34" charset="0"/>
                          <a:ea typeface="Calibri" pitchFamily="34" charset="-122"/>
                          <a:cs typeface="Calibri" pitchFamily="34" charset="-120"/>
                        </a:rPr>
                        <a:t>70,452 brownies; utilidad neta de S/28,447</a:t>
                      </a:r>
                      <a:endParaRPr lang="en-US" sz="1500" dirty="0">
                        <a:latin typeface="Calibri" charset="0"/>
                        <a:ea typeface="Calibri" charset="0"/>
                        <a:cs typeface="Calibri" charset="0"/>
                      </a:endParaRPr>
                    </a:p>
                  </a:txBody>
                  <a:tcPr marL="64008" marR="64008" marT="64008" marB="64008" anchor="ctr">
                    <a:lnL w="9525" cap="flat" cmpd="sng" algn="ctr">
                      <a:solidFill>
                        <a:srgbClr val="E3D2BE"/>
                      </a:solidFill>
                      <a:prstDash val="solid"/>
                      <a:round/>
                      <a:headEnd type="none" w="med" len="med"/>
                      <a:tailEnd type="none" w="med" len="med"/>
                    </a:lnL>
                    <a:lnR w="9525" cap="flat" cmpd="sng" algn="ctr">
                      <a:solidFill>
                        <a:srgbClr val="E3D2BE"/>
                      </a:solidFill>
                      <a:prstDash val="solid"/>
                      <a:round/>
                      <a:headEnd type="none" w="med" len="med"/>
                      <a:tailEnd type="none" w="med" len="med"/>
                    </a:lnR>
                    <a:lnT w="9525" cap="flat" cmpd="sng" algn="ctr">
                      <a:solidFill>
                        <a:srgbClr val="E3D2BE"/>
                      </a:solidFill>
                      <a:prstDash val="solid"/>
                      <a:round/>
                      <a:headEnd type="none" w="med" len="med"/>
                      <a:tailEnd type="none" w="med" len="med"/>
                    </a:lnT>
                    <a:lnB w="9525" cap="flat" cmpd="sng" algn="ctr">
                      <a:solidFill>
                        <a:srgbClr val="E3D2BE"/>
                      </a:solidFill>
                      <a:prstDash val="solid"/>
                      <a:round/>
                      <a:headEnd type="none" w="med" len="med"/>
                      <a:tailEnd type="none" w="med" len="med"/>
                    </a:lnB>
                    <a:solidFill>
                      <a:srgbClr val="FBF3E8"/>
                    </a:solidFill>
                  </a:tcPr>
                </a:tc>
              </a:tr>
            </a:tbl>
          </a:graphicData>
        </a:graphic>
      </p:graphicFrame>
      <p:sp>
        <p:nvSpPr>
          <p:cNvPr id="5" name="Text 2"/>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T2_17, sección 3 (ROI con el prompt 4 de la clase); HECHOS_v7 y Excel v7. El ROI de marketing es un estimado que depende de la atribución.</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31</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t"/>
          <a:lstStyle/>
          <a:p>
            <a:pPr indent="0" marL="0">
              <a:buNone/>
            </a:pPr>
            <a:r>
              <a:rPr lang="en-US" sz="1400" b="1" spc="200" kern="0" dirty="0">
                <a:solidFill>
                  <a:srgbClr val="BA4036"/>
                </a:solidFill>
              </a:rPr>
              <a:t>ANEXO 4 · FODA CRUZADO</a:t>
            </a:r>
            <a:endParaRPr lang="en-US" sz="1400" dirty="0"/>
          </a:p>
        </p:txBody>
      </p:sp>
      <p:sp>
        <p:nvSpPr>
          <p:cNvPr id="3" name="Text 1"/>
          <p:cNvSpPr txBox="1"/>
          <p:nvPr/>
        </p:nvSpPr>
        <p:spPr>
          <a:xfrm>
            <a:off x="548640" y="603504"/>
            <a:ext cx="11091672" cy="685800"/>
          </a:xfrm>
          <a:prstGeom prst="rect">
            <a:avLst/>
          </a:prstGeom>
          <a:noFill/>
          <a:ln/>
        </p:spPr>
        <p:txBody>
          <a:bodyPr wrap="square" lIns="0" tIns="0" rIns="0" bIns="0" rtlCol="0" anchor="t"/>
          <a:lstStyle/>
          <a:p>
            <a:pPr indent="0" marL="0">
              <a:buNone/>
            </a:pPr>
            <a:r>
              <a:rPr lang="en-US" sz="4000" b="1" dirty="0">
                <a:solidFill>
                  <a:srgbClr val="4A2018"/>
                </a:solidFill>
              </a:rPr>
              <a:t>Cuatro estrategias que ya están en el plan</a:t>
            </a:r>
            <a:endParaRPr lang="en-US" sz="4000" dirty="0"/>
          </a:p>
        </p:txBody>
      </p:sp>
      <p:sp>
        <p:nvSpPr>
          <p:cNvPr id="4" name="Shape 2"/>
          <p:cNvSpPr/>
          <p:nvPr/>
        </p:nvSpPr>
        <p:spPr>
          <a:xfrm>
            <a:off x="548640" y="1463040"/>
            <a:ext cx="91440" cy="2057400"/>
          </a:xfrm>
          <a:prstGeom prst="rect">
            <a:avLst/>
          </a:prstGeom>
          <a:solidFill>
            <a:srgbClr val="7C8A3A"/>
          </a:solidFill>
          <a:ln w="12700">
            <a:solidFill>
              <a:srgbClr val="7C8A3A"/>
            </a:solidFill>
            <a:prstDash val="solid"/>
          </a:ln>
        </p:spPr>
      </p:sp>
      <p:sp>
        <p:nvSpPr>
          <p:cNvPr id="5" name="Text 3"/>
          <p:cNvSpPr/>
          <p:nvPr/>
        </p:nvSpPr>
        <p:spPr>
          <a:xfrm>
            <a:off x="640080" y="1463040"/>
            <a:ext cx="5340096" cy="2057400"/>
          </a:xfrm>
          <a:prstGeom prst="rect">
            <a:avLst>
              <a:gd name="adj" fmla="val 5333"/>
            </a:avLst>
          </a:prstGeom>
          <a:solidFill>
            <a:srgbClr val="FFFFFF"/>
          </a:solidFill>
          <a:ln>
            <a:solidFill>
              <a:srgbClr val="FFFFFF"/>
            </a:solidFill>
          </a:ln>
        </p:spPr>
        <p:txBody>
          <a:bodyPr wrap="square" lIns="177800" tIns="177800" rIns="177800" bIns="177800" rtlCol="0" anchor="t"/>
          <a:lstStyle/>
          <a:p>
            <a:pPr indent="0" marL="0">
              <a:spcAft>
                <a:spcPts val="600"/>
              </a:spcAft>
              <a:buNone/>
            </a:pPr>
            <a:r>
              <a:rPr lang="en-US" sz="1400" b="1" spc="200" kern="0" dirty="0">
                <a:solidFill>
                  <a:srgbClr val="BA4036"/>
                </a:solidFill>
                <a:latin typeface="Calibri" pitchFamily="34" charset="0"/>
                <a:ea typeface="Calibri" pitchFamily="34" charset="-122"/>
                <a:cs typeface="Calibri" pitchFamily="34" charset="-120"/>
              </a:rPr>
              <a:t>FO · EXPLOTAR</a:t>
            </a:r>
            <a:endParaRPr lang="en-US" sz="1400" dirty="0"/>
          </a:p>
          <a:p>
            <a:pPr indent="0" marL="0">
              <a:spcAft>
                <a:spcPts val="600"/>
              </a:spcAft>
              <a:buNone/>
            </a:pPr>
            <a:r>
              <a:rPr lang="en-US" sz="2000" dirty="0">
                <a:solidFill>
                  <a:srgbClr val="3B1A14"/>
                </a:solidFill>
                <a:latin typeface="Calibri" pitchFamily="34" charset="0"/>
                <a:ea typeface="Calibri" pitchFamily="34" charset="-122"/>
                <a:cs typeface="Calibri" pitchFamily="34" charset="-120"/>
              </a:rPr>
              <a:t>Quioscos de colegios con la versión sin octógono (meta: 5). Recompra por WhatsApp con el aviso de la app.</a:t>
            </a:r>
            <a:endParaRPr lang="en-US" sz="1400" dirty="0"/>
          </a:p>
        </p:txBody>
      </p:sp>
      <p:sp>
        <p:nvSpPr>
          <p:cNvPr id="6" name="Shape 4"/>
          <p:cNvSpPr/>
          <p:nvPr/>
        </p:nvSpPr>
        <p:spPr>
          <a:xfrm>
            <a:off x="6208776" y="1463040"/>
            <a:ext cx="91440" cy="2057400"/>
          </a:xfrm>
          <a:prstGeom prst="rect">
            <a:avLst/>
          </a:prstGeom>
          <a:solidFill>
            <a:srgbClr val="E3A33B"/>
          </a:solidFill>
          <a:ln w="12700">
            <a:solidFill>
              <a:srgbClr val="E3A33B"/>
            </a:solidFill>
            <a:prstDash val="solid"/>
          </a:ln>
        </p:spPr>
      </p:sp>
      <p:sp>
        <p:nvSpPr>
          <p:cNvPr id="7" name="Text 5"/>
          <p:cNvSpPr/>
          <p:nvPr/>
        </p:nvSpPr>
        <p:spPr>
          <a:xfrm>
            <a:off x="6300216" y="1463040"/>
            <a:ext cx="5340096" cy="2057400"/>
          </a:xfrm>
          <a:prstGeom prst="rect">
            <a:avLst>
              <a:gd name="adj" fmla="val 5333"/>
            </a:avLst>
          </a:prstGeom>
          <a:solidFill>
            <a:srgbClr val="FFFFFF"/>
          </a:solidFill>
          <a:ln>
            <a:solidFill>
              <a:srgbClr val="FFFFFF"/>
            </a:solidFill>
          </a:ln>
        </p:spPr>
        <p:txBody>
          <a:bodyPr wrap="square" lIns="177800" tIns="177800" rIns="177800" bIns="177800" rtlCol="0" anchor="t"/>
          <a:lstStyle/>
          <a:p>
            <a:pPr indent="0" marL="0">
              <a:spcAft>
                <a:spcPts val="600"/>
              </a:spcAft>
              <a:buNone/>
            </a:pPr>
            <a:r>
              <a:rPr lang="en-US" sz="1400" b="1" spc="200" kern="0" dirty="0">
                <a:solidFill>
                  <a:srgbClr val="BA4036"/>
                </a:solidFill>
                <a:latin typeface="Calibri" pitchFamily="34" charset="0"/>
                <a:ea typeface="Calibri" pitchFamily="34" charset="-122"/>
                <a:cs typeface="Calibri" pitchFamily="34" charset="-120"/>
              </a:rPr>
              <a:t>DO · SUPERAR</a:t>
            </a:r>
            <a:endParaRPr lang="en-US" sz="1400" dirty="0"/>
          </a:p>
          <a:p>
            <a:pPr indent="0" marL="0">
              <a:spcAft>
                <a:spcPts val="600"/>
              </a:spcAft>
              <a:buNone/>
            </a:pPr>
            <a:r>
              <a:rPr lang="en-US" sz="2000" dirty="0">
                <a:solidFill>
                  <a:srgbClr val="3B1A14"/>
                </a:solidFill>
                <a:latin typeface="Calibri" pitchFamily="34" charset="0"/>
                <a:ea typeface="Calibri" pitchFamily="34" charset="-122"/>
                <a:cs typeface="Calibri" pitchFamily="34" charset="-120"/>
              </a:rPr>
              <a:t>Degustación: el niño prueba y el padre decide. Mamás embajadoras: 230 familias nuevas.</a:t>
            </a:r>
            <a:endParaRPr lang="en-US" sz="1400" dirty="0"/>
          </a:p>
        </p:txBody>
      </p:sp>
      <p:sp>
        <p:nvSpPr>
          <p:cNvPr id="8" name="Shape 6"/>
          <p:cNvSpPr/>
          <p:nvPr/>
        </p:nvSpPr>
        <p:spPr>
          <a:xfrm>
            <a:off x="548640" y="3703320"/>
            <a:ext cx="91440" cy="2057400"/>
          </a:xfrm>
          <a:prstGeom prst="rect">
            <a:avLst/>
          </a:prstGeom>
          <a:solidFill>
            <a:srgbClr val="6B3A2A"/>
          </a:solidFill>
          <a:ln w="12700">
            <a:solidFill>
              <a:srgbClr val="6B3A2A"/>
            </a:solidFill>
            <a:prstDash val="solid"/>
          </a:ln>
        </p:spPr>
      </p:sp>
      <p:sp>
        <p:nvSpPr>
          <p:cNvPr id="9" name="Text 7"/>
          <p:cNvSpPr/>
          <p:nvPr/>
        </p:nvSpPr>
        <p:spPr>
          <a:xfrm>
            <a:off x="640080" y="3703320"/>
            <a:ext cx="5340096" cy="2057400"/>
          </a:xfrm>
          <a:prstGeom prst="rect">
            <a:avLst>
              <a:gd name="adj" fmla="val 5333"/>
            </a:avLst>
          </a:prstGeom>
          <a:solidFill>
            <a:srgbClr val="FFFFFF"/>
          </a:solidFill>
          <a:ln>
            <a:solidFill>
              <a:srgbClr val="FFFFFF"/>
            </a:solidFill>
          </a:ln>
        </p:spPr>
        <p:txBody>
          <a:bodyPr wrap="square" lIns="177800" tIns="177800" rIns="177800" bIns="177800" rtlCol="0" anchor="t"/>
          <a:lstStyle/>
          <a:p>
            <a:pPr indent="0" marL="0">
              <a:spcAft>
                <a:spcPts val="600"/>
              </a:spcAft>
              <a:buNone/>
            </a:pPr>
            <a:r>
              <a:rPr lang="en-US" sz="1400" b="1" spc="200" kern="0" dirty="0">
                <a:solidFill>
                  <a:srgbClr val="BA4036"/>
                </a:solidFill>
                <a:latin typeface="Calibri" pitchFamily="34" charset="0"/>
                <a:ea typeface="Calibri" pitchFamily="34" charset="-122"/>
                <a:cs typeface="Calibri" pitchFamily="34" charset="-120"/>
              </a:rPr>
              <a:t>FA · PROTEGER</a:t>
            </a:r>
            <a:endParaRPr lang="en-US" sz="1400" dirty="0"/>
          </a:p>
          <a:p>
            <a:pPr indent="0" marL="0">
              <a:spcAft>
                <a:spcPts val="600"/>
              </a:spcAft>
              <a:buNone/>
            </a:pPr>
            <a:r>
              <a:rPr lang="en-US" sz="2000" dirty="0">
                <a:solidFill>
                  <a:srgbClr val="3B1A14"/>
                </a:solidFill>
                <a:latin typeface="Calibri" pitchFamily="34" charset="0"/>
                <a:ea typeface="Calibri" pitchFamily="34" charset="-122"/>
                <a:cs typeface="Calibri" pitchFamily="34" charset="-120"/>
              </a:rPr>
              <a:t>Diferenciarse con el dato del lote, sin decir «combate la anemia». Costo de S/1.64 con maquila.</a:t>
            </a:r>
            <a:endParaRPr lang="en-US" sz="1400" dirty="0"/>
          </a:p>
        </p:txBody>
      </p:sp>
      <p:sp>
        <p:nvSpPr>
          <p:cNvPr id="10" name="Shape 8"/>
          <p:cNvSpPr/>
          <p:nvPr/>
        </p:nvSpPr>
        <p:spPr>
          <a:xfrm>
            <a:off x="6208776" y="3703320"/>
            <a:ext cx="91440" cy="2057400"/>
          </a:xfrm>
          <a:prstGeom prst="rect">
            <a:avLst/>
          </a:prstGeom>
          <a:solidFill>
            <a:srgbClr val="BA4036"/>
          </a:solidFill>
          <a:ln w="12700">
            <a:solidFill>
              <a:srgbClr val="BA4036"/>
            </a:solidFill>
            <a:prstDash val="solid"/>
          </a:ln>
        </p:spPr>
      </p:sp>
      <p:sp>
        <p:nvSpPr>
          <p:cNvPr id="11" name="Text 9"/>
          <p:cNvSpPr/>
          <p:nvPr/>
        </p:nvSpPr>
        <p:spPr>
          <a:xfrm>
            <a:off x="6300216" y="3703320"/>
            <a:ext cx="5340096" cy="2057400"/>
          </a:xfrm>
          <a:prstGeom prst="rect">
            <a:avLst>
              <a:gd name="adj" fmla="val 5333"/>
            </a:avLst>
          </a:prstGeom>
          <a:solidFill>
            <a:srgbClr val="FFFFFF"/>
          </a:solidFill>
          <a:ln>
            <a:solidFill>
              <a:srgbClr val="FFFFFF"/>
            </a:solidFill>
          </a:ln>
        </p:spPr>
        <p:txBody>
          <a:bodyPr wrap="square" lIns="177800" tIns="177800" rIns="177800" bIns="177800" rtlCol="0" anchor="t"/>
          <a:lstStyle/>
          <a:p>
            <a:pPr indent="0" marL="0">
              <a:spcAft>
                <a:spcPts val="600"/>
              </a:spcAft>
              <a:buNone/>
            </a:pPr>
            <a:r>
              <a:rPr lang="en-US" sz="1400" b="1" spc="200" kern="0" dirty="0">
                <a:solidFill>
                  <a:srgbClr val="BA4036"/>
                </a:solidFill>
                <a:latin typeface="Calibri" pitchFamily="34" charset="0"/>
                <a:ea typeface="Calibri" pitchFamily="34" charset="-122"/>
                <a:cs typeface="Calibri" pitchFamily="34" charset="-120"/>
              </a:rPr>
              <a:t>DA · MITIGAR</a:t>
            </a:r>
            <a:endParaRPr lang="en-US" sz="1400" dirty="0"/>
          </a:p>
          <a:p>
            <a:pPr indent="0" marL="0">
              <a:spcAft>
                <a:spcPts val="600"/>
              </a:spcAft>
              <a:buNone/>
            </a:pPr>
            <a:r>
              <a:rPr lang="en-US" sz="2000" dirty="0">
                <a:solidFill>
                  <a:srgbClr val="3B1A14"/>
                </a:solidFill>
                <a:latin typeface="Calibri" pitchFamily="34" charset="0"/>
                <a:ea typeface="Calibri" pitchFamily="34" charset="-122"/>
                <a:cs typeface="Calibri" pitchFamily="34" charset="-120"/>
              </a:rPr>
              <a:t>Validar en puntos propios antes de la góndola (año 2). Línea de crédito solo si la caja baja de S/1,000.</a:t>
            </a:r>
            <a:endParaRPr lang="en-US" sz="1400" dirty="0"/>
          </a:p>
        </p:txBody>
      </p:sp>
      <p:sp>
        <p:nvSpPr>
          <p:cNvPr id="12" name="Text 10"/>
          <p:cNvSpPr txBox="1"/>
          <p:nvPr/>
        </p:nvSpPr>
        <p:spPr>
          <a:xfrm>
            <a:off x="548640" y="6053328"/>
            <a:ext cx="10698480" cy="347472"/>
          </a:xfrm>
          <a:prstGeom prst="rect">
            <a:avLst/>
          </a:prstGeom>
          <a:noFill/>
          <a:ln/>
        </p:spPr>
        <p:txBody>
          <a:bodyPr wrap="square" lIns="0" tIns="0" rIns="0" bIns="0" rtlCol="0" anchor="b"/>
          <a:lstStyle/>
          <a:p>
            <a:pPr indent="0" marL="0">
              <a:buNone/>
            </a:pPr>
            <a:r>
              <a:rPr lang="en-US" sz="1100" dirty="0">
                <a:solidFill>
                  <a:srgbClr val="6B3A2A"/>
                </a:solidFill>
              </a:rPr>
              <a:t>Fuente: T2_04, sección 2 (FODA cruzado corregido); HECHOS_v7.</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3A2A"/>
                </a:solidFill>
              </a:defRPr>
            </a:lvl1pPr>
          </a:lstStyle>
          <a:p>
            <a:pPr algn="r"/>
            <a:fld id="{F7021451-1387-4CA6-816F-3879F97B5CBC}" type="slidenum">
              <a:rPr b="0" lang="en-US"/>
              <a:t>32</a:t>
            </a:fld>
            <a:endParaRPr lang="en-US"/>
          </a:p>
        </p:txBody>
      </p:sp>
    </p:spTree>
  </p:cSld>
  <p:clrMapOvr>
    <a:masterClrMapping/>
  </p:clrMapOvr>
  <mc:AlternateContent xmlns:mc="http://schemas.openxmlformats.org/markup-compatibility/2006">
    <mc:Choice xmlns:p14="http://schemas.microsoft.com/office/powerpoint/2010/main" Requires="p14">
      <p:transition spd="med" p14:dur="500">
        <p:fade/>
      </p:transition>
    </mc:Choice>
    <mc:Fallback>
      <p:transition spd="med">
        <p:fade/>
      </p:transition>
    </mc:Fallback>
  </mc:AlternateContent>
</p:sld>
</file>

<file path=ppt/theme/theme1.xml><?xml version="1.0" encoding="utf-8"?>
<a:theme xmlns:a="http://schemas.openxmlformats.org/drawingml/2006/main" name="AndiBite">
  <a:themeElements>
    <a:clrScheme name="AndiBite">
      <a:dk1>
        <a:srgbClr val="3B1A14"/>
      </a:dk1>
      <a:lt1>
        <a:srgbClr val="FFFFFF"/>
      </a:lt1>
      <a:dk2>
        <a:srgbClr val="4A2018"/>
      </a:dk2>
      <a:lt2>
        <a:srgbClr val="FBF3E8"/>
      </a:lt2>
      <a:accent1>
        <a:srgbClr val="BA4036"/>
      </a:accent1>
      <a:accent2>
        <a:srgbClr val="6B3A2A"/>
      </a:accent2>
      <a:accent3>
        <a:srgbClr val="E3A33B"/>
      </a:accent3>
      <a:accent4>
        <a:srgbClr val="7C8A3A"/>
      </a:accent4>
      <a:accent5>
        <a:srgbClr val="D9B48F"/>
      </a:accent5>
      <a:accent6>
        <a:srgbClr val="8A1C2B"/>
      </a:accent6>
      <a:hlink>
        <a:srgbClr val="BA4036"/>
      </a:hlink>
      <a:folHlink>
        <a:srgbClr val="8A1C2B"/>
      </a:folHlink>
    </a:clrScheme>
    <a:fontScheme name="AndiB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AndiBite · Sustentación T2</dc:title>
  <dc:subject>PptxGenJS Presentation</dc:subject>
  <dc:creator>Grupo 2</dc:creator>
  <cp:lastModifiedBy>Grupo 2</cp:lastModifiedBy>
  <cp:revision>1</cp:revision>
  <dcterms:created xsi:type="dcterms:W3CDTF">2026-10-19T03:52:20Z</dcterms:created>
  <dcterms:modified xsi:type="dcterms:W3CDTF">2026-10-19T03:52:20Z</dcterms:modified>
</cp:coreProperties>
</file>