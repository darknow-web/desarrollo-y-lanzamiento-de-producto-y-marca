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7.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0.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1.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4c795153-3cd4-c4a3-aadf-f844837d4321}">
          <p14:sldIdLst>
            <p14:sldId id="256"/>
            <p14:sldId id="257"/>
          </p14:sldIdLst>
        </p14:section>
        <p14:section name="TC5 · Cliente, mercado y canal" id="{4746032b-3452-395b-3386-825426b4530b}">
          <p14:sldIdLst>
            <p14:sldId id="258"/>
            <p14:sldId id="259"/>
            <p14:sldId id="260"/>
            <p14:sldId id="261"/>
            <p14:sldId id="262"/>
            <p14:sldId id="263"/>
            <p14:sldId id="264"/>
            <p14:sldId id="265"/>
            <p14:sldId id="266"/>
            <p14:sldId id="267"/>
          </p14:sldIdLst>
        </p14:section>
        <p14:section name="TC6 · Relación e ingresos" id="{8db1e8ed-3749-9f96-bd74-8ddf75eb184e}">
          <p14:sldIdLst>
            <p14:sldId id="268"/>
            <p14:sldId id="269"/>
            <p14:sldId id="270"/>
            <p14:sldId id="271"/>
            <p14:sldId id="272"/>
          </p14:sldIdLst>
        </p14:section>
        <p14:section name="TC7 · Canvas" id="{d9c34a8d-6b2f-16e9-aa2f-73bcbf15a391}">
          <p14:sldIdLst>
            <p14:sldId id="273"/>
            <p14:sldId id="274"/>
            <p14:sldId id="275"/>
            <p14:sldId id="276"/>
            <p14:sldId id="277"/>
            <p14:sldId id="278"/>
            <p14:sldId id="279"/>
            <p14:sldId id="280"/>
            <p14:sldId id="281"/>
          </p14:sldIdLst>
        </p14:section>
        <p14:section name="TC8 · Propuesta de valor" id="{49e6a841-7735-e0c3-ddf5-36f370b496e9}">
          <p14:sldIdLst>
            <p14:sldId id="282"/>
            <p14:sldId id="283"/>
            <p14:sldId id="284"/>
            <p14:sldId id="285"/>
            <p14:sldId id="286"/>
            <p14:sldId id="287"/>
          </p14:sldIdLst>
        </p14:section>
        <p14:section name="Cierre" id="{9798b3e6-4dcc-d621-3685-86124c6b2bc4}">
          <p14:sldIdLst>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Unidades del año 1 por canal</a:t>
            </a:r>
          </a:p>
        </c:rich>
      </c:tx>
      <c:layout/>
      <c:overlay val="0"/>
    </c:title>
    <c:autoTitleDeleted val="0"/>
    <c:plotArea>
      <c:layout/>
      <c:doughnutChart>
        <c:varyColors val="1"/>
        <c:ser>
          <c:idx val="0"/>
          <c:order val="0"/>
          <c:tx>
            <c:strRef>
              <c:f>Sheet1!$B$1</c:f>
              <c:strCache>
                <c:ptCount val="1"/>
                <c:pt idx="0">
                  <c:v>Unidades</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6B3A2A"/>
              </a:solidFill>
              <a:effectLst/>
            </c:spPr>
          </c:dPt>
          <c:dPt>
            <c:idx val="2"/>
            <c:bubble3D val="0"/>
            <c:spPr>
              <a:solidFill>
                <a:srgbClr val="E3A33B"/>
              </a:solidFill>
              <a:effectLst/>
            </c:spPr>
          </c:dPt>
          <c:dPt>
            <c:idx val="3"/>
            <c:bubble3D val="0"/>
            <c:spPr>
              <a:solidFill>
                <a:srgbClr val="7C8A3A"/>
              </a:solidFill>
              <a:effectLst/>
            </c:spPr>
          </c:dPt>
          <c:dPt>
            <c:idx val="4"/>
            <c:bubble3D val="0"/>
            <c:spPr>
              <a:solidFill>
                <a:srgbClr val="D9B48F"/>
              </a:solidFill>
              <a:effectLst/>
            </c:spPr>
          </c:dPt>
          <c:dLbls>
            <c:dLbl>
              <c:idx val="0"/>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4"/>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Stands y carritos</c:v>
                </c:pt>
                <c:pt idx="1">
                  <c:v>WhatsApp (recompra)</c:v>
                </c:pt>
                <c:pt idx="2">
                  <c:v>Ferias y eventos</c:v>
                </c:pt>
                <c:pt idx="3">
                  <c:v>Quioscos escolares</c:v>
                </c:pt>
                <c:pt idx="4">
                  <c:v>Tiendas naturistas</c:v>
                </c:pt>
              </c:strCache>
            </c:strRef>
          </c:cat>
          <c:val>
            <c:numRef>
              <c:f>Sheet1!$B$2:$B$6</c:f>
              <c:numCache>
                <c:ptCount val="5"/>
                <c:pt idx="0">
                  <c:v>22625</c:v>
                </c:pt>
                <c:pt idx="1">
                  <c:v>9176</c:v>
                </c:pt>
                <c:pt idx="2">
                  <c:v>8100</c:v>
                </c:pt>
                <c:pt idx="3">
                  <c:v>9165</c:v>
                </c:pt>
                <c:pt idx="4">
                  <c:v>3720</c:v>
                </c:pt>
              </c:numCache>
            </c:numRef>
          </c:val>
        </c:ser>
        <c:firstSliceAng val="0"/>
        <c:holeSize val="55"/>
      </c:doughnutChart>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Brownies vendidos al mes por canal (enero a diciembre de 2027)</a:t>
            </a:r>
          </a:p>
        </c:rich>
      </c:tx>
      <c:layout/>
      <c:overlay val="0"/>
    </c:title>
    <c:autoTitleDeleted val="0"/>
    <c:plotArea>
      <c:layout/>
      <c:barChart>
        <c:barDir val="col"/>
        <c:grouping val="stacked"/>
        <c:varyColors val="0"/>
        <c:ser>
          <c:idx val="0"/>
          <c:order val="0"/>
          <c:tx>
            <c:strRef>
              <c:f>Sheet1!$B$1</c:f>
              <c:strCache>
                <c:ptCount val="1"/>
                <c:pt idx="0">
                  <c:v>Stands y carritos</c:v>
                </c:pt>
              </c:strCache>
            </c:strRef>
          </c:tx>
          <c:spPr>
            <a:solidFill>
              <a:srgbClr val="BA4036"/>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450</c:v>
                </c:pt>
                <c:pt idx="1">
                  <c:v>1440</c:v>
                </c:pt>
                <c:pt idx="2">
                  <c:v>1800</c:v>
                </c:pt>
                <c:pt idx="3">
                  <c:v>1440</c:v>
                </c:pt>
                <c:pt idx="4">
                  <c:v>1530</c:v>
                </c:pt>
                <c:pt idx="5">
                  <c:v>1440</c:v>
                </c:pt>
                <c:pt idx="6">
                  <c:v>1700</c:v>
                </c:pt>
                <c:pt idx="7">
                  <c:v>2295</c:v>
                </c:pt>
                <c:pt idx="8">
                  <c:v>2430</c:v>
                </c:pt>
                <c:pt idx="9">
                  <c:v>2430</c:v>
                </c:pt>
                <c:pt idx="10">
                  <c:v>2430</c:v>
                </c:pt>
                <c:pt idx="11">
                  <c:v>3240</c:v>
                </c:pt>
              </c:numCache>
            </c:numRef>
          </c:val>
        </c:ser>
        <c:ser>
          <c:idx val="1"/>
          <c:order val="1"/>
          <c:tx>
            <c:strRef>
              <c:f>Sheet1!$C$1</c:f>
              <c:strCache>
                <c:ptCount val="1"/>
                <c:pt idx="0">
                  <c:v>Ferias y eventos</c:v>
                </c:pt>
              </c:strCache>
            </c:strRef>
          </c:tx>
          <c:spPr>
            <a:solidFill>
              <a:srgbClr val="E3A33B"/>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Sheet1!$C$2:$C$13</c:f>
              <c:numCache>
                <c:formatCode>General</c:formatCode>
                <c:ptCount val="12"/>
                <c:pt idx="0">
                  <c:v>150</c:v>
                </c:pt>
                <c:pt idx="1">
                  <c:v>1000</c:v>
                </c:pt>
                <c:pt idx="2">
                  <c:v>600</c:v>
                </c:pt>
                <c:pt idx="3">
                  <c:v>600</c:v>
                </c:pt>
                <c:pt idx="4">
                  <c:v>750</c:v>
                </c:pt>
                <c:pt idx="5">
                  <c:v>600</c:v>
                </c:pt>
                <c:pt idx="6">
                  <c:v>450</c:v>
                </c:pt>
                <c:pt idx="7">
                  <c:v>600</c:v>
                </c:pt>
                <c:pt idx="8">
                  <c:v>600</c:v>
                </c:pt>
                <c:pt idx="9">
                  <c:v>600</c:v>
                </c:pt>
                <c:pt idx="10">
                  <c:v>450</c:v>
                </c:pt>
                <c:pt idx="11">
                  <c:v>1700</c:v>
                </c:pt>
              </c:numCache>
            </c:numRef>
          </c:val>
        </c:ser>
        <c:ser>
          <c:idx val="2"/>
          <c:order val="2"/>
          <c:tx>
            <c:strRef>
              <c:f>Sheet1!$D$1</c:f>
              <c:strCache>
                <c:ptCount val="1"/>
                <c:pt idx="0">
                  <c:v>WhatsApp</c:v>
                </c:pt>
              </c:strCache>
            </c:strRef>
          </c:tx>
          <c:spPr>
            <a:solidFill>
              <a:srgbClr val="6B3A2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Sheet1!$D$2:$D$13</c:f>
              <c:numCache>
                <c:formatCode>General</c:formatCode>
                <c:ptCount val="12"/>
                <c:pt idx="0">
                  <c:v>150</c:v>
                </c:pt>
                <c:pt idx="1">
                  <c:v>210</c:v>
                </c:pt>
                <c:pt idx="2">
                  <c:v>854</c:v>
                </c:pt>
                <c:pt idx="3">
                  <c:v>840</c:v>
                </c:pt>
                <c:pt idx="4">
                  <c:v>714</c:v>
                </c:pt>
                <c:pt idx="5">
                  <c:v>798</c:v>
                </c:pt>
                <c:pt idx="6">
                  <c:v>714</c:v>
                </c:pt>
                <c:pt idx="7">
                  <c:v>753</c:v>
                </c:pt>
                <c:pt idx="8">
                  <c:v>1013</c:v>
                </c:pt>
                <c:pt idx="9">
                  <c:v>1061</c:v>
                </c:pt>
                <c:pt idx="10">
                  <c:v>1061</c:v>
                </c:pt>
                <c:pt idx="11">
                  <c:v>1008</c:v>
                </c:pt>
              </c:numCache>
            </c:numRef>
          </c:val>
        </c:ser>
        <c:ser>
          <c:idx val="3"/>
          <c:order val="3"/>
          <c:tx>
            <c:strRef>
              <c:f>Sheet1!$E$1</c:f>
              <c:strCache>
                <c:ptCount val="1"/>
                <c:pt idx="0">
                  <c:v>Colegios y naturistas</c:v>
                </c:pt>
              </c:strCache>
            </c:strRef>
          </c:tx>
          <c:spPr>
            <a:solidFill>
              <a:srgbClr val="7C8A3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Sheet1!$E$2:$E$13</c:f>
              <c:numCache>
                <c:formatCode>General</c:formatCode>
                <c:ptCount val="12"/>
                <c:pt idx="0">
                  <c:v>120</c:v>
                </c:pt>
                <c:pt idx="1">
                  <c:v>180</c:v>
                </c:pt>
                <c:pt idx="2">
                  <c:v>480</c:v>
                </c:pt>
                <c:pt idx="3">
                  <c:v>840</c:v>
                </c:pt>
                <c:pt idx="4">
                  <c:v>1065</c:v>
                </c:pt>
                <c:pt idx="5">
                  <c:v>1200</c:v>
                </c:pt>
                <c:pt idx="6">
                  <c:v>960</c:v>
                </c:pt>
                <c:pt idx="7">
                  <c:v>1560</c:v>
                </c:pt>
                <c:pt idx="8">
                  <c:v>1560</c:v>
                </c:pt>
                <c:pt idx="9">
                  <c:v>1920</c:v>
                </c:pt>
                <c:pt idx="10">
                  <c:v>1920</c:v>
                </c:pt>
                <c:pt idx="11">
                  <c:v>1080</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Ingresos por presentación</a:t>
            </a:r>
          </a:p>
        </c:rich>
      </c:tx>
      <c:layout/>
      <c:overlay val="0"/>
    </c:title>
    <c:autoTitleDeleted val="0"/>
    <c:plotArea>
      <c:layout/>
      <c:doughnutChart>
        <c:varyColors val="1"/>
        <c:ser>
          <c:idx val="0"/>
          <c:order val="0"/>
          <c:tx>
            <c:strRef>
              <c:f>Sheet1!$B$1</c:f>
              <c:strCache>
                <c:ptCount val="1"/>
                <c:pt idx="0">
                  <c:v>Ingreso</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6B3A2A"/>
              </a:solidFill>
              <a:effectLst/>
            </c:spPr>
          </c:dPt>
          <c:dPt>
            <c:idx val="2"/>
            <c:bubble3D val="0"/>
            <c:spPr>
              <a:solidFill>
                <a:srgbClr val="E3A33B"/>
              </a:solidFill>
              <a:effectLst/>
            </c:spPr>
          </c:dPt>
          <c:dLbls>
            <c:dLbl>
              <c:idx val="0"/>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Unidad</c:v>
                </c:pt>
                <c:pt idx="1">
                  <c:v>Pack de 6</c:v>
                </c:pt>
                <c:pt idx="2">
                  <c:v>Pack de 12</c:v>
                </c:pt>
              </c:strCache>
            </c:strRef>
          </c:cat>
          <c:val>
            <c:numRef>
              <c:f>Sheet1!$B$2:$B$4</c:f>
              <c:numCache>
                <c:ptCount val="3"/>
                <c:pt idx="0">
                  <c:v>146635</c:v>
                </c:pt>
                <c:pt idx="1">
                  <c:v>83556</c:v>
                </c:pt>
                <c:pt idx="2">
                  <c:v>16340</c:v>
                </c:pt>
              </c:numCache>
            </c:numRef>
          </c:val>
        </c:ser>
        <c:firstSliceAng val="0"/>
        <c:holeSize val="55"/>
      </c:doughnutChart>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Ventas mensuales con IGV (enero a diciembre de 2027)</a:t>
            </a:r>
          </a:p>
        </c:rich>
      </c:tx>
      <c:layout/>
      <c:overlay val="0"/>
    </c:title>
    <c:autoTitleDeleted val="0"/>
    <c:plotArea>
      <c:layout/>
      <c:barChart>
        <c:barDir val="col"/>
        <c:grouping val="clustered"/>
        <c:varyColors val="0"/>
        <c:ser>
          <c:idx val="0"/>
          <c:order val="0"/>
          <c:tx>
            <c:strRef>
              <c:f>Sheet1!$B$1</c:f>
              <c:strCache>
                <c:ptCount val="1"/>
                <c:pt idx="0">
                  <c:v>Ventas con IGV</c:v>
                </c:pt>
              </c:strCache>
            </c:strRef>
          </c:tx>
          <c:spPr>
            <a:solidFill>
              <a:srgbClr val="6B3A2A"/>
            </a:solidFill>
            <a:effectLst/>
          </c:spPr>
          <c:invertIfNegative val="0"/>
          <c:dLbls>
            <c:numFmt formatCode="0.0,&quot;k&quot;"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4286</c:v>
                </c:pt>
                <c:pt idx="1">
                  <c:v>14865</c:v>
                </c:pt>
                <c:pt idx="2">
                  <c:v>18280</c:v>
                </c:pt>
                <c:pt idx="3">
                  <c:v>17333</c:v>
                </c:pt>
                <c:pt idx="4">
                  <c:v>18784</c:v>
                </c:pt>
                <c:pt idx="5">
                  <c:v>18224</c:v>
                </c:pt>
                <c:pt idx="6">
                  <c:v>17710</c:v>
                </c:pt>
                <c:pt idx="7">
                  <c:v>23757</c:v>
                </c:pt>
                <c:pt idx="8">
                  <c:v>25620</c:v>
                </c:pt>
                <c:pt idx="9">
                  <c:v>26901</c:v>
                </c:pt>
                <c:pt idx="10">
                  <c:v>26062</c:v>
                </c:pt>
                <c:pt idx="11">
                  <c:v>34709</c:v>
                </c:pt>
              </c:numCache>
            </c:numRef>
          </c:val>
        </c:ser>
        <c:dLbls>
          <c:numFmt formatCode="0.0,&quot;k&quot;"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Costo de producción del pack de 6 (S/ sin IGV)</a:t>
            </a:r>
          </a:p>
        </c:rich>
      </c:tx>
      <c:layout/>
      <c:overlay val="0"/>
    </c:title>
    <c:autoTitleDeleted val="0"/>
    <c:plotArea>
      <c:layout/>
      <c:barChart>
        <c:barDir val="bar"/>
        <c:grouping val="clustered"/>
        <c:varyColors val="0"/>
        <c:ser>
          <c:idx val="0"/>
          <c:order val="0"/>
          <c:tx>
            <c:strRef>
              <c:f>Sheet1!$B$1</c:f>
              <c:strCache>
                <c:ptCount val="1"/>
                <c:pt idx="0">
                  <c:v>S/ por pack</c:v>
                </c:pt>
              </c:strCache>
            </c:strRef>
          </c:tx>
          <c:spPr>
            <a:solidFill>
              <a:srgbClr val="6B3A2A"/>
            </a:solidFill>
            <a:effectLst/>
          </c:spPr>
          <c:invertIfNegative val="0"/>
          <c:dLbls>
            <c:numFmt formatCode="&quot;S/&quot;0.00" sourceLinked="0"/>
            <c:txPr>
              <a:bodyPr/>
              <a:lstStyle/>
              <a:p>
                <a:pPr>
                  <a:defRPr b="0" i="0" strike="noStrike" sz="1300" u="none">
                    <a:solidFill>
                      <a:srgbClr val="3B1A14"/>
                    </a:solidFill>
                    <a:latin typeface="+mn-lt"/>
                  </a:defRPr>
                </a:pPr>
              </a:p>
            </c:txPr>
            <c:showLegendKey val="0"/>
            <c:showVal val="1"/>
            <c:showCatName val="0"/>
            <c:showSerName val="0"/>
            <c:showPercent val="0"/>
            <c:showBubbleSize val="0"/>
            <c:showLeaderLines val="0"/>
          </c:dLbls>
          <c:cat>
            <c:multiLvlStrRef>
              <c:f>Sheet1!$A$2:$A$6</c:f>
              <c:multiLvlStrCache>
                <c:ptCount val="5"/>
                <c:lvl>
                  <c:pt idx="0">
                    <c:v>Merma</c:v>
                  </c:pt>
                  <c:pt idx="1">
                    <c:v>Calidad, transporte y almacén</c:v>
                  </c:pt>
                  <c:pt idx="2">
                    <c:v>Empaque y etiquetas</c:v>
                  </c:pt>
                  <c:pt idx="3">
                    <c:v>Insumos</c:v>
                  </c:pt>
                  <c:pt idx="4">
                    <c:v>Maquila</c:v>
                  </c:pt>
                </c:lvl>
              </c:multiLvlStrCache>
            </c:multiLvlStrRef>
          </c:cat>
          <c:val>
            <c:numRef>
              <c:f>Sheet1!$B$2:$B$6</c:f>
              <c:numCache>
                <c:formatCode>General</c:formatCode>
                <c:ptCount val="5"/>
                <c:pt idx="0">
                  <c:v>0.41</c:v>
                </c:pt>
                <c:pt idx="1">
                  <c:v>1.41</c:v>
                </c:pt>
                <c:pt idx="2">
                  <c:v>1.83</c:v>
                </c:pt>
                <c:pt idx="3">
                  <c:v>3.63</c:v>
                </c:pt>
                <c:pt idx="4">
                  <c:v>2.7</c:v>
                </c:pt>
              </c:numCache>
            </c:numRef>
          </c:val>
        </c:ser>
        <c:dLbls>
          <c:numFmt formatCode="&quot;S/&quot;0.00" sourceLinked="0"/>
          <c:txPr>
            <a:bodyPr/>
            <a:lstStyle/>
            <a:p>
              <a:pPr>
                <a:defRPr b="0" i="0" strike="noStrike" sz="1300" u="none">
                  <a:solidFill>
                    <a:srgbClr val="3B1A1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A dónde va el precio</a:t>
            </a:r>
          </a:p>
        </c:rich>
      </c:tx>
      <c:layout/>
      <c:overlay val="0"/>
    </c:title>
    <c:autoTitleDeleted val="0"/>
    <c:plotArea>
      <c:layout/>
      <c:barChart>
        <c:barDir val="col"/>
        <c:grouping val="stacked"/>
        <c:varyColors val="0"/>
        <c:ser>
          <c:idx val="0"/>
          <c:order val="0"/>
          <c:tx>
            <c:strRef>
              <c:f>Sheet1!$B$1</c:f>
              <c:strCache>
                <c:ptCount val="1"/>
                <c:pt idx="0">
                  <c:v>Producción</c:v>
                </c:pt>
              </c:strCache>
            </c:strRef>
          </c:tx>
          <c:spPr>
            <a:solidFill>
              <a:srgbClr val="6B3A2A"/>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Pack de 6 en stand</c:v>
                  </c:pt>
                </c:lvl>
              </c:multiLvlStrCache>
            </c:multiLvlStrRef>
          </c:cat>
          <c:val>
            <c:numRef>
              <c:f>Sheet1!$B$2:$B$2</c:f>
              <c:numCache>
                <c:formatCode>General</c:formatCode>
                <c:ptCount val="1"/>
                <c:pt idx="0">
                  <c:v>9.98</c:v>
                </c:pt>
              </c:numCache>
            </c:numRef>
          </c:val>
        </c:ser>
        <c:ser>
          <c:idx val="1"/>
          <c:order val="1"/>
          <c:tx>
            <c:strRef>
              <c:f>Sheet1!$C$1</c:f>
              <c:strCache>
                <c:ptCount val="1"/>
                <c:pt idx="0">
                  <c:v>Degustación, pasarela y renta</c:v>
                </c:pt>
              </c:strCache>
            </c:strRef>
          </c:tx>
          <c:spPr>
            <a:solidFill>
              <a:srgbClr val="D9B48F"/>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Pack de 6 en stand</c:v>
                  </c:pt>
                </c:lvl>
              </c:multiLvlStrCache>
            </c:multiLvlStrRef>
          </c:cat>
          <c:val>
            <c:numRef>
              <c:f>Sheet1!$C$2:$C$2</c:f>
              <c:numCache>
                <c:formatCode>General</c:formatCode>
                <c:ptCount val="1"/>
                <c:pt idx="0">
                  <c:v>2.69</c:v>
                </c:pt>
              </c:numCache>
            </c:numRef>
          </c:val>
        </c:ser>
        <c:ser>
          <c:idx val="2"/>
          <c:order val="2"/>
          <c:tx>
            <c:strRef>
              <c:f>Sheet1!$D$1</c:f>
              <c:strCache>
                <c:ptCount val="1"/>
                <c:pt idx="0">
                  <c:v>Contribución</c:v>
                </c:pt>
              </c:strCache>
            </c:strRef>
          </c:tx>
          <c:spPr>
            <a:solidFill>
              <a:srgbClr val="BA4036"/>
            </a:solidFill>
            <a:effectLst/>
          </c:spPr>
          <c:invertIfNegative val="0"/>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Pack de 6 en stand</c:v>
                  </c:pt>
                </c:lvl>
              </c:multiLvlStrCache>
            </c:multiLvlStrRef>
          </c:cat>
          <c:val>
            <c:numRef>
              <c:f>Sheet1!$D$2:$D$2</c:f>
              <c:numCache>
                <c:formatCode>General</c:formatCode>
                <c:ptCount val="1"/>
                <c:pt idx="0">
                  <c:v>10.97</c:v>
                </c:pt>
              </c:numCache>
            </c:numRef>
          </c:val>
        </c:ser>
        <c:dLbls>
          <c:numFmt formatCode="&quot;S/&quot;0.0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Inversión inicial: S/45,358</a:t>
            </a:r>
          </a:p>
        </c:rich>
      </c:tx>
      <c:layout/>
      <c:overlay val="0"/>
    </c:title>
    <c:autoTitleDeleted val="0"/>
    <c:plotArea>
      <c:layout/>
      <c:doughnutChart>
        <c:varyColors val="1"/>
        <c:ser>
          <c:idx val="0"/>
          <c:order val="0"/>
          <c:tx>
            <c:strRef>
              <c:f>Sheet1!$B$1</c:f>
              <c:strCache>
                <c:ptCount val="1"/>
                <c:pt idx="0">
                  <c:v>Inversión</c:v>
                </c:pt>
              </c:strCache>
            </c:strRef>
          </c:tx>
          <c:spPr>
            <a:solidFill>
              <a:schemeClr val="accent1"/>
            </a:solidFill>
            <a:ln w="9525" cap="flat">
              <a:solidFill>
                <a:srgbClr val="F9F9F9"/>
              </a:solidFill>
              <a:prstDash val="solid"/>
              <a:round/>
            </a:ln>
            <a:effectLst/>
          </c:spPr>
          <c:dPt>
            <c:idx val="0"/>
            <c:bubble3D val="0"/>
            <c:spPr>
              <a:solidFill>
                <a:srgbClr val="6B3A2A"/>
              </a:solidFill>
              <a:effectLst/>
            </c:spPr>
          </c:dPt>
          <c:dPt>
            <c:idx val="1"/>
            <c:bubble3D val="0"/>
            <c:spPr>
              <a:solidFill>
                <a:srgbClr val="E3A33B"/>
              </a:solidFill>
              <a:effectLst/>
            </c:spPr>
          </c:dPt>
          <c:dPt>
            <c:idx val="2"/>
            <c:bubble3D val="0"/>
            <c:spPr>
              <a:solidFill>
                <a:srgbClr val="BA4036"/>
              </a:solidFill>
              <a:effectLst/>
            </c:spPr>
          </c:dPt>
          <c:dPt>
            <c:idx val="3"/>
            <c:bubble3D val="0"/>
            <c:spPr>
              <a:solidFill>
                <a:srgbClr val="7C8A3A"/>
              </a:solidFill>
              <a:effectLst/>
            </c:spPr>
          </c:dPt>
          <c:dPt>
            <c:idx val="4"/>
            <c:bubble3D val="0"/>
            <c:spPr>
              <a:solidFill>
                <a:srgbClr val="D9B48F"/>
              </a:solidFill>
              <a:effectLst/>
            </c:spPr>
          </c:dPt>
          <c:dPt>
            <c:idx val="5"/>
            <c:bubble3D val="0"/>
            <c:spPr>
              <a:solidFill>
                <a:srgbClr val="8A1C2B"/>
              </a:solidFill>
              <a:effectLst/>
            </c:spPr>
          </c:dPt>
          <c:dLbls>
            <c:dLbl>
              <c:idx val="0"/>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2"/>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3"/>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4"/>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dLbl>
              <c:idx val="5"/>
              <c:numFmt formatCode="0%" sourceLinked="0"/>
              <c:spPr/>
              <c:txPr>
                <a:bodyPr/>
                <a:lstStyle/>
                <a:p>
                  <a:pPr>
                    <a:defRPr sz="11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Arranque</c:v>
                </c:pt>
                <c:pt idx="1">
                  <c:v>Equipos y 1 carrito</c:v>
                </c:pt>
                <c:pt idx="2">
                  <c:v>Documentos y permisos</c:v>
                </c:pt>
                <c:pt idx="3">
                  <c:v>Desarrollo del producto</c:v>
                </c:pt>
                <c:pt idx="4">
                  <c:v>Imprevistos</c:v>
                </c:pt>
                <c:pt idx="5">
                  <c:v>Marca y app</c:v>
                </c:pt>
              </c:strCache>
            </c:strRef>
          </c:cat>
          <c:val>
            <c:numRef>
              <c:f>Sheet1!$B$2:$B$7</c:f>
              <c:numCache>
                <c:ptCount val="6"/>
                <c:pt idx="0">
                  <c:v>19155</c:v>
                </c:pt>
                <c:pt idx="1">
                  <c:v>4838</c:v>
                </c:pt>
                <c:pt idx="2">
                  <c:v>6251</c:v>
                </c:pt>
                <c:pt idx="3">
                  <c:v>3741</c:v>
                </c:pt>
                <c:pt idx="4">
                  <c:v>4123</c:v>
                </c:pt>
                <c:pt idx="5">
                  <c:v>7250</c:v>
                </c:pt>
              </c:numCache>
            </c:numRef>
          </c:val>
        </c:ser>
        <c:firstSliceAng val="0"/>
        <c:holeSize val="50"/>
      </c:doughnutChart>
      <c:spPr>
        <a:noFill/>
        <a:ln>
          <a:noFill/>
        </a:ln>
        <a:effectLst/>
      </c:spPr>
    </c:plotArea>
    <c:legend>
      <c:legendPos val="b"/>
      <c:overlay val="0"/>
      <c:txPr>
        <a:bodyPr/>
        <a:lstStyle/>
        <a:p>
          <a:pPr>
            <a:defRPr sz="10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Costos de operar al mes (promedio): S/6,576</a:t>
            </a:r>
          </a:p>
        </c:rich>
      </c:tx>
      <c:layout/>
      <c:overlay val="0"/>
    </c:title>
    <c:autoTitleDeleted val="0"/>
    <c:plotArea>
      <c:layout/>
      <c:doughnutChart>
        <c:varyColors val="1"/>
        <c:ser>
          <c:idx val="0"/>
          <c:order val="0"/>
          <c:tx>
            <c:strRef>
              <c:f>Sheet1!$B$1</c:f>
              <c:strCache>
                <c:ptCount val="1"/>
                <c:pt idx="0">
                  <c:v>Costos</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8A1C2B"/>
              </a:solidFill>
              <a:effectLst/>
            </c:spPr>
          </c:dPt>
          <c:dPt>
            <c:idx val="2"/>
            <c:bubble3D val="0"/>
            <c:spPr>
              <a:solidFill>
                <a:srgbClr val="6B3A2A"/>
              </a:solidFill>
              <a:effectLst/>
            </c:spPr>
          </c:dPt>
          <c:dPt>
            <c:idx val="3"/>
            <c:bubble3D val="0"/>
            <c:spPr>
              <a:solidFill>
                <a:srgbClr val="E3A33B"/>
              </a:solidFill>
              <a:effectLst/>
            </c:spPr>
          </c:dPt>
          <c:dPt>
            <c:idx val="4"/>
            <c:bubble3D val="0"/>
            <c:spPr>
              <a:solidFill>
                <a:srgbClr val="D9B48F"/>
              </a:solidFill>
              <a:effectLst/>
            </c:spPr>
          </c:dPt>
          <c:dPt>
            <c:idx val="5"/>
            <c:bubble3D val="0"/>
            <c:spPr>
              <a:solidFill>
                <a:srgbClr val="7C8A3A"/>
              </a:solidFill>
              <a:effectLst/>
            </c:spPr>
          </c:dPt>
          <c:dPt>
            <c:idx val="6"/>
            <c:bubble3D val="0"/>
            <c:spPr>
              <a:solidFill>
                <a:srgbClr val="4F7CAC"/>
              </a:solidFill>
              <a:effectLst/>
            </c:spPr>
          </c:dPt>
          <c:dPt>
            <c:idx val="7"/>
            <c:bubble3D val="0"/>
            <c:spPr>
              <a:solidFill>
                <a:srgbClr val="B9A089"/>
              </a:solidFill>
              <a:effectLst/>
            </c:spPr>
          </c:dPt>
          <c:dLbls>
            <c:dLbl>
              <c:idx val="0"/>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1"/>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2"/>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3"/>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4"/>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5"/>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6"/>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dLbl>
              <c:idx val="7"/>
              <c:numFmt formatCode="&quot;S/&quot;#,##0" sourceLinked="0"/>
              <c:spPr/>
              <c:txPr>
                <a:bodyPr/>
                <a:lstStyle/>
                <a:p>
                  <a:pPr>
                    <a:defRPr sz="1000" b="1" i="0" u="none" strike="noStrike">
                      <a:solidFill>
                        <a:srgbClr val="FFFFFF"/>
                      </a:solidFill>
                      <a:latin typeface="+mn-lt"/>
                    </a:defRPr>
                  </a:pPr>
                </a:p>
              </c:txPr>
              <c:showLegendKey val="0"/>
              <c:showVal val="1"/>
              <c:showCatName val="0"/>
              <c:showSerName val="0"/>
              <c:showPercent val="0"/>
              <c:showBubbleSize val="0"/>
            </c:dLbl>
            <c:numFmt formatCode="&quot;S/&quot;#,##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Sheet1!$A$2:$A$9</c:f>
              <c:strCache>
                <c:ptCount val="8"/>
                <c:pt idx="0">
                  <c:v>Vendedores de stand</c:v>
                </c:pt>
                <c:pt idx="1">
                  <c:v>Espacio de stands</c:v>
                </c:pt>
                <c:pt idx="2">
                  <c:v>Marketing</c:v>
                </c:pt>
                <c:pt idx="3">
                  <c:v>Administración</c:v>
                </c:pt>
                <c:pt idx="4">
                  <c:v>Coordinador</c:v>
                </c:pt>
                <c:pt idx="5">
                  <c:v>Ferias</c:v>
                </c:pt>
                <c:pt idx="6">
                  <c:v>App Andi</c:v>
                </c:pt>
                <c:pt idx="7">
                  <c:v>Depreciación</c:v>
                </c:pt>
              </c:strCache>
            </c:strRef>
          </c:cat>
          <c:val>
            <c:numRef>
              <c:f>Sheet1!$B$2:$B$9</c:f>
              <c:numCache>
                <c:ptCount val="8"/>
                <c:pt idx="0">
                  <c:v>1973</c:v>
                </c:pt>
                <c:pt idx="1">
                  <c:v>1400</c:v>
                </c:pt>
                <c:pt idx="2">
                  <c:v>900</c:v>
                </c:pt>
                <c:pt idx="3">
                  <c:v>760</c:v>
                </c:pt>
                <c:pt idx="4">
                  <c:v>709</c:v>
                </c:pt>
                <c:pt idx="5">
                  <c:v>450</c:v>
                </c:pt>
                <c:pt idx="6">
                  <c:v>250</c:v>
                </c:pt>
                <c:pt idx="7">
                  <c:v>134</c:v>
                </c:pt>
              </c:numCache>
            </c:numRef>
          </c:val>
        </c:ser>
        <c:firstSliceAng val="0"/>
        <c:holeSize val="50"/>
      </c:doughnutChart>
      <c:spPr>
        <a:noFill/>
        <a:ln>
          <a:noFill/>
        </a:ln>
        <a:effectLst/>
      </c:spPr>
    </c:plotArea>
    <c:legend>
      <c:legendPos val="b"/>
      <c:overlay val="0"/>
      <c:txPr>
        <a:bodyPr/>
        <a:lstStyle/>
        <a:p>
          <a:pPr>
            <a:defRPr sz="10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Brownies al mes frente al punto de equilibrio (2027)</a:t>
            </a:r>
          </a:p>
        </c:rich>
      </c:tx>
      <c:layout/>
      <c:overlay val="0"/>
    </c:title>
    <c:autoTitleDeleted val="0"/>
    <c:plotArea>
      <c:layout/>
      <c:barChart>
        <c:barDir val="col"/>
        <c:grouping val="clustered"/>
        <c:varyColors val="0"/>
        <c:ser>
          <c:idx val="0"/>
          <c:order val="0"/>
          <c:tx>
            <c:strRef>
              <c:f>Sheet1!$B$1</c:f>
              <c:strCache>
                <c:ptCount val="1"/>
                <c:pt idx="0">
                  <c:v>Brownies vendidos</c:v>
                </c:pt>
              </c:strCache>
            </c:strRef>
          </c:tx>
          <c:spPr>
            <a:solidFill>
              <a:srgbClr val="6B3A2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870</c:v>
                </c:pt>
                <c:pt idx="1">
                  <c:v>2830</c:v>
                </c:pt>
                <c:pt idx="2">
                  <c:v>3734</c:v>
                </c:pt>
                <c:pt idx="3">
                  <c:v>3720</c:v>
                </c:pt>
                <c:pt idx="4">
                  <c:v>4059</c:v>
                </c:pt>
                <c:pt idx="5">
                  <c:v>4038</c:v>
                </c:pt>
                <c:pt idx="6">
                  <c:v>3824</c:v>
                </c:pt>
                <c:pt idx="7">
                  <c:v>5208</c:v>
                </c:pt>
                <c:pt idx="8">
                  <c:v>5603</c:v>
                </c:pt>
                <c:pt idx="9">
                  <c:v>6011</c:v>
                </c:pt>
                <c:pt idx="10">
                  <c:v>5861</c:v>
                </c:pt>
                <c:pt idx="11">
                  <c:v>7028</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Punto de equilibrio (3,035)</c:v>
                </c:pt>
              </c:strCache>
            </c:strRef>
          </c:tx>
          <c:spPr>
            <a:solidFill>
              <a:srgbClr val="BA4036"/>
            </a:solidFill>
            <a:ln w="38100" cap="flat">
              <a:solidFill>
                <a:srgbClr val="BA4036"/>
              </a:solidFill>
              <a:prstDash val="solid"/>
              <a:round/>
            </a:ln>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marker>
            <c:symbol val="none"/>
            <c:size val="6"/>
            <c:spPr>
              <a:solidFill>
                <a:srgbClr val="BA4036"/>
              </a:solidFill>
              <a:ln w="9525" cap="flat">
                <a:solidFill>
                  <a:srgbClr val="BA4036"/>
                </a:solidFill>
                <a:prstDash val="solid"/>
                <a:round/>
              </a:ln>
              <a:effectLst/>
            </c:spPr>
          </c:marker>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Sheet1!$C$2:$C$13</c:f>
              <c:numCache>
                <c:formatCode>General</c:formatCode>
                <c:ptCount val="12"/>
                <c:pt idx="0">
                  <c:v>3035</c:v>
                </c:pt>
                <c:pt idx="1">
                  <c:v>3035</c:v>
                </c:pt>
                <c:pt idx="2">
                  <c:v>3035</c:v>
                </c:pt>
                <c:pt idx="3">
                  <c:v>3035</c:v>
                </c:pt>
                <c:pt idx="4">
                  <c:v>3035</c:v>
                </c:pt>
                <c:pt idx="5">
                  <c:v>3035</c:v>
                </c:pt>
                <c:pt idx="6">
                  <c:v>3035</c:v>
                </c:pt>
                <c:pt idx="7">
                  <c:v>3035</c:v>
                </c:pt>
                <c:pt idx="8">
                  <c:v>3035</c:v>
                </c:pt>
                <c:pt idx="9">
                  <c:v>3035</c:v>
                </c:pt>
                <c:pt idx="10">
                  <c:v>3035</c:v>
                </c:pt>
                <c:pt idx="11">
                  <c:v>3035</c:v>
                </c:pt>
              </c:numCache>
            </c:numRef>
          </c:val>
          <c:smooth val="0"/>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Resultado operativo mensual de 2027 (S/)</a:t>
            </a:r>
          </a:p>
        </c:rich>
      </c:tx>
      <c:layout/>
      <c:overlay val="0"/>
    </c:title>
    <c:autoTitleDeleted val="0"/>
    <c:plotArea>
      <c:layout/>
      <c:barChart>
        <c:barDir val="col"/>
        <c:grouping val="clustered"/>
        <c:varyColors val="0"/>
        <c:ser>
          <c:idx val="0"/>
          <c:order val="0"/>
          <c:tx>
            <c:strRef>
              <c:f>Sheet1!$B$1</c:f>
              <c:strCache>
                <c:ptCount val="1"/>
                <c:pt idx="0">
                  <c:v>Resultado operativo</c:v>
                </c:pt>
              </c:strCache>
            </c:strRef>
          </c:tx>
          <c:spPr>
            <a:solidFill>
              <a:srgbClr val="7C8A3A"/>
            </a:solidFill>
            <a:effectLst/>
          </c:spPr>
          <c:invertIfNegative val="0"/>
          <c:dLbls>
            <c:numFmt formatCode="#,##0"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dPt>
            <c:idx val="0"/>
            <c:invertIfNegative val="0"/>
            <c:bubble3D val="0"/>
            <c:spPr>
              <a:solidFill>
                <a:srgbClr val="BA4036"/>
              </a:solidFill>
              <a:effectLst/>
            </c:spPr>
          </c:dPt>
          <c:dPt>
            <c:idx val="1"/>
            <c:invertIfNegative val="0"/>
            <c:bubble3D val="0"/>
            <c:spPr>
              <a:solidFill>
                <a:srgbClr val="BA4036"/>
              </a:solidFill>
              <a:effectLst/>
            </c:spPr>
          </c:dPt>
          <c:dPt>
            <c:idx val="2"/>
            <c:invertIfNegative val="0"/>
            <c:bubble3D val="0"/>
            <c:spPr>
              <a:solidFill>
                <a:srgbClr val="7C8A3A"/>
              </a:solidFill>
              <a:effectLst/>
            </c:spPr>
          </c:dPt>
          <c:dPt>
            <c:idx val="3"/>
            <c:invertIfNegative val="0"/>
            <c:bubble3D val="0"/>
            <c:spPr>
              <a:solidFill>
                <a:srgbClr val="7C8A3A"/>
              </a:solidFill>
              <a:effectLst/>
            </c:spPr>
          </c:dPt>
          <c:dPt>
            <c:idx val="4"/>
            <c:invertIfNegative val="0"/>
            <c:bubble3D val="0"/>
            <c:spPr>
              <a:solidFill>
                <a:srgbClr val="7C8A3A"/>
              </a:solidFill>
              <a:effectLst/>
            </c:spPr>
          </c:dPt>
          <c:dPt>
            <c:idx val="5"/>
            <c:invertIfNegative val="0"/>
            <c:bubble3D val="0"/>
            <c:spPr>
              <a:solidFill>
                <a:srgbClr val="7C8A3A"/>
              </a:solidFill>
              <a:effectLst/>
            </c:spPr>
          </c:dPt>
          <c:dPt>
            <c:idx val="6"/>
            <c:invertIfNegative val="0"/>
            <c:bubble3D val="0"/>
            <c:spPr>
              <a:solidFill>
                <a:srgbClr val="7C8A3A"/>
              </a:solidFill>
              <a:effectLst/>
            </c:spPr>
          </c:dPt>
          <c:dPt>
            <c:idx val="7"/>
            <c:invertIfNegative val="0"/>
            <c:bubble3D val="0"/>
            <c:spPr>
              <a:solidFill>
                <a:srgbClr val="7C8A3A"/>
              </a:solidFill>
              <a:effectLst/>
            </c:spPr>
          </c:dPt>
          <c:dPt>
            <c:idx val="8"/>
            <c:invertIfNegative val="0"/>
            <c:bubble3D val="0"/>
            <c:spPr>
              <a:solidFill>
                <a:srgbClr val="7C8A3A"/>
              </a:solidFill>
              <a:effectLst/>
            </c:spPr>
          </c:dPt>
          <c:dPt>
            <c:idx val="9"/>
            <c:invertIfNegative val="0"/>
            <c:bubble3D val="0"/>
            <c:spPr>
              <a:solidFill>
                <a:srgbClr val="7C8A3A"/>
              </a:solidFill>
              <a:effectLst/>
            </c:spPr>
          </c:dPt>
          <c:dPt>
            <c:idx val="10"/>
            <c:invertIfNegative val="0"/>
            <c:bubble3D val="0"/>
            <c:spPr>
              <a:solidFill>
                <a:srgbClr val="7C8A3A"/>
              </a:solidFill>
              <a:effectLst/>
            </c:spPr>
          </c:dPt>
          <c:dPt>
            <c:idx val="11"/>
            <c:invertIfNegative val="0"/>
            <c:bubble3D val="0"/>
            <c:spPr>
              <a:solidFill>
                <a:srgbClr val="7C8A3A"/>
              </a:solidFill>
              <a:effectLst/>
            </c:spPr>
          </c:dPt>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-2456</c:v>
                </c:pt>
                <c:pt idx="1">
                  <c:v>-1004</c:v>
                </c:pt>
                <c:pt idx="2">
                  <c:v>1545</c:v>
                </c:pt>
                <c:pt idx="3">
                  <c:v>895</c:v>
                </c:pt>
                <c:pt idx="4">
                  <c:v>1508</c:v>
                </c:pt>
                <c:pt idx="5">
                  <c:v>1090</c:v>
                </c:pt>
                <c:pt idx="6">
                  <c:v>905</c:v>
                </c:pt>
                <c:pt idx="7">
                  <c:v>1947</c:v>
                </c:pt>
                <c:pt idx="8">
                  <c:v>2553</c:v>
                </c:pt>
                <c:pt idx="9">
                  <c:v>2843</c:v>
                </c:pt>
                <c:pt idx="10">
                  <c:v>2462</c:v>
                </c:pt>
                <c:pt idx="11">
                  <c:v>2565</c:v>
                </c:pt>
              </c:numCache>
            </c:numRef>
          </c:val>
        </c:ser>
        <c:dLbls>
          <c:numFmt formatCode="#,##0" sourceLinked="0"/>
          <c:txPr>
            <a:bodyPr/>
            <a:lstStyle/>
            <a:p>
              <a:pPr>
                <a:defRPr b="0" i="0" strike="noStrike" sz="1100" u="none">
                  <a:solidFill>
                    <a:srgbClr val="3B1A14"/>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Precio por 20 g (S/)</a:t>
            </a:r>
          </a:p>
        </c:rich>
      </c:tx>
      <c:layout/>
      <c:overlay val="0"/>
    </c:title>
    <c:autoTitleDeleted val="0"/>
    <c:plotArea>
      <c:layout/>
      <c:barChart>
        <c:barDir val="bar"/>
        <c:grouping val="stacked"/>
        <c:varyColors val="0"/>
        <c:ser>
          <c:idx val="0"/>
          <c:order val="0"/>
          <c:tx>
            <c:strRef>
              <c:f>Sheet1!$B$1</c:f>
              <c:strCache>
                <c:ptCount val="1"/>
                <c:pt idx="0">
                  <c:v>Competencia</c:v>
                </c:pt>
              </c:strCache>
            </c:strRef>
          </c:tx>
          <c:spPr>
            <a:solidFill>
              <a:srgbClr val="D9B48F"/>
            </a:solidFill>
            <a:effectLst/>
          </c:spPr>
          <c:invertIfNegative val="0"/>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Bimbo Nutra Bien</c:v>
                  </c:pt>
                  <c:pt idx="1">
                    <c:v>Siete Dragones</c:v>
                  </c:pt>
                  <c:pt idx="2">
                    <c:v>Nutri H</c:v>
                  </c:pt>
                  <c:pt idx="3">
                    <c:v>Fika</c:v>
                  </c:pt>
                  <c:pt idx="4">
                    <c:v>Mamalama</c:v>
                  </c:pt>
                  <c:pt idx="5">
                    <c:v>AndiBite pack de 12</c:v>
                  </c:pt>
                  <c:pt idx="6">
                    <c:v>AndiBite pack de 6</c:v>
                  </c:pt>
                </c:lvl>
              </c:multiLvlStrCache>
            </c:multiLvlStrRef>
          </c:cat>
          <c:val>
            <c:numRef>
              <c:f>Sheet1!$B$2:$B$8</c:f>
              <c:numCache>
                <c:formatCode>General</c:formatCode>
                <c:ptCount val="7"/>
                <c:pt idx="0">
                  <c:v>1.67</c:v>
                </c:pt>
                <c:pt idx="1">
                  <c:v>3.01</c:v>
                </c:pt>
                <c:pt idx="2">
                  <c:v>3.2</c:v>
                </c:pt>
                <c:pt idx="3">
                  <c:v>4</c:v>
                </c:pt>
                <c:pt idx="4">
                  <c:v>4.1</c:v>
                </c:pt>
                <c:pt idx="5">
                  <c:v>0</c:v>
                </c:pt>
                <c:pt idx="6">
                  <c:v>0</c:v>
                </c:pt>
              </c:numCache>
            </c:numRef>
          </c:val>
        </c:ser>
        <c:ser>
          <c:idx val="1"/>
          <c:order val="1"/>
          <c:tx>
            <c:strRef>
              <c:f>Sheet1!$C$1</c:f>
              <c:strCache>
                <c:ptCount val="1"/>
                <c:pt idx="0">
                  <c:v>AndiBite</c:v>
                </c:pt>
              </c:strCache>
            </c:strRef>
          </c:tx>
          <c:spPr>
            <a:solidFill>
              <a:srgbClr val="BA4036"/>
            </a:solidFill>
            <a:effectLst/>
          </c:spPr>
          <c:invertIfNegative val="0"/>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Bimbo Nutra Bien</c:v>
                  </c:pt>
                  <c:pt idx="1">
                    <c:v>Siete Dragones</c:v>
                  </c:pt>
                  <c:pt idx="2">
                    <c:v>Nutri H</c:v>
                  </c:pt>
                  <c:pt idx="3">
                    <c:v>Fika</c:v>
                  </c:pt>
                  <c:pt idx="4">
                    <c:v>Mamalama</c:v>
                  </c:pt>
                  <c:pt idx="5">
                    <c:v>AndiBite pack de 12</c:v>
                  </c:pt>
                  <c:pt idx="6">
                    <c:v>AndiBite pack de 6</c:v>
                  </c:pt>
                </c:lvl>
              </c:multiLvlStrCache>
            </c:multiLvlStrRef>
          </c:cat>
          <c:val>
            <c:numRef>
              <c:f>Sheet1!$C$2:$C$8</c:f>
              <c:numCache>
                <c:formatCode>General</c:formatCode>
                <c:ptCount val="7"/>
                <c:pt idx="0">
                  <c:v>0</c:v>
                </c:pt>
                <c:pt idx="1">
                  <c:v>0</c:v>
                </c:pt>
                <c:pt idx="2">
                  <c:v>0</c:v>
                </c:pt>
                <c:pt idx="3">
                  <c:v>0</c:v>
                </c:pt>
                <c:pt idx="4">
                  <c:v>0</c:v>
                </c:pt>
                <c:pt idx="5">
                  <c:v>4.16</c:v>
                </c:pt>
                <c:pt idx="6">
                  <c:v>4.48</c:v>
                </c:pt>
              </c:numCache>
            </c:numRef>
          </c:val>
        </c:ser>
        <c:dLbls>
          <c:numFmt formatCode="&quot;S/&quot;0.00;;;" sourceLinked="0"/>
          <c:txPr>
            <a:bodyPr/>
            <a:lstStyle/>
            <a:p>
              <a:pPr>
                <a:defRPr b="1" i="0" strike="noStrike" sz="1200" u="none">
                  <a:solidFill>
                    <a:srgbClr val="3B1A14"/>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los trabajos de campo 5 a 8 de AndiBite, el mini brownie de 20 g con sangrecita. Todo sale de la misma base: el público reformulado (padres conscientes y planificados, NSE A/B), el costeo con maquila y los precios confirmados por el equipo el 10 de octubre de 2026 (unidad a S/6.00 y pack de 6 a S/27.90 en el stand). La innovación tecnológica es la app Andi, Misión Hierro, que viene con cada envase.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cuatro trabajos se conectan: el cliente (TC5) define cómo nos relacionamos y cobramos (TC6); eso arma el Canvas con socios, recursos, actividades y costos (TC7); y todo se resume en el mapa de propuesta de valor (TC8).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5: arquetipo de cliente, buyer persona, tipos de mercado y selección del canal de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05: el público objetivo orienta (un rango de edad, NSE y distrito) y el arquetipo conecta (una persona con nombre, dolor y hábito). Regla de 3 de la clase: nombre, dolor y hábito. Le vendemos a Claudia, no a "madres de 32 a 45". Datos: APEIM 2025, CPI 2026 y documento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Partes esenciales de un arquetipo según la sesión 05: nombre, edad y ocupación; hábitos, frustraciones y valores; canales y comportamiento de compra. Guardiana del Hierro (la representa Claudia), El Resolutivo (Rodrigo) y El Prescriptor, que valida la marca ante los otros dos. Los porcentajes son el peso esperado de cada arquetipo en el volumen.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Claudia Mendoza Ríos, 38 años, San Borja (zona 7 de APEIM, 71.6 % de hogares A/B). Abogada corporativa, casada con Diego, hijos Matías (7) y Luciana (4); fue madre a los 31 y 34, como el 53.1 % de las madres de Lima que tienen hijos después de los 30. Ingreso familiar S/13,500 (hipótesis entre los promedios B y A de APEIM 2025). Objeciones: ¿no sabe a sangrecita?, ¿cuántos mg de hierro?, ¿tiene registro sanitario? Cómo le vendemos: degustación con el niño delante, hierro en mg y registro sanitario visibles.
IMAGEN 1 — prompt para Nano Banana (proporción 3:4):
Photorealistic editorial portrait of a 38-year-old Peruvian woman, a corporate lawyer from San Borja, Lima. Latin American mestiza features, shoulder-length dark brown hair, natural makeup, warm and confident half-smile. She wears a cream silk blouse under a camel blazer. She stands in a bright modern kitchen early in the morning, holding a child's school lunchbox in both hands. Soft window light from the left, background softly blurred with warm wood and cream tones and small accents of chocolate brown and brick red. Shot on an 85mm lens at f/2, shallow depth of field, natural skin texture, no retouched plastic look. Vertical 3:4 composition, waist-up framing, subject centered with some space above the head. No text, no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Rodrigo Salazar, 42 años, La Molina. Gerente de operaciones; su esposa viaja por trabajo y él arma las loncheras. Ingreso familiar S/18,000 (hipótesis, A2). No busca salud, busca resolver: un pack que dure la semana, que aguante la mochila y que pueda pedir por WhatsApp con recordatorio. El pack de 12 por WhatsApp a S/49.90 equivale a S/24.95 por cada 6, en el borde de lo que pagaría (S/18 a 24): lo que justifica la diferencia es que la app le arma las loncheras y le avisa antes de que se acabe el pack.
IMAGEN 2 — prompt para Nano Banana (proporción 3:4):
Photorealistic editorial portrait of a 42-year-old Peruvian man, an operations manager from La Molina, Lima. Short dark hair with a few grey strands, light stubble, friendly and practical expression, slightly hurried morning energy. He wears a navy quarter-zip sweater over a light blue shirt and a smartwatch. Early morning in a modern home kitchen: he holds his phone in one hand (a chat app on screen, not legible) while closing a child's school lunchbox with the other. Warm morning light, cream walls, wooden counter, small accents of chocolate brown and brick red. 85mm lens, f/2, shallow depth of field, natural skin texture. Vertical 3:4 composition, waist-up framing. No text, no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Tipos de mercado de la sesión 05: consumo, industrial, servicios, gobierno y global. AndiBite vende en el MERCADO DE CONSUMO: personas que compran para su familia y buscan conveniencia y confianza. Industrial y servicios no aplican. Gobierno (programas contra la anemia) y global (peruanos en el exterior) quedan como opción para el año 3, cuando haya volumen y registro de exportación. Dentro del consumo atacamos un nicho (NSE A/B de Lima Top y Moderna) con dos segmentos: salud verificable y ahorro de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Embudo del documento 04 (APEIM 2025, CPI 2026, INEI, Kantar). TAM: todas las loncheras con horneado o snack envasado de niños de 4 a 11 años en Lima y Callao (S/130.9 millones). SAM: niños de NSE A/B en toda Lima a precio premium (S/62.8 millones). Núcleo: NSE A/B de las zonas 6 y 7 de APEIM (S/17.3 millones). SOM del año 1 (enero a diciembre de 2027): 52,786 brownies y S/246,531 con IGV, vendidos sobre todo en stands, carritos y ferias; es apenas el 1.4 % del núcleo. Ajuste de -5 % por el Censo 2025 aplicado en el documento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cinco fases del canal según Osterwalder. Por indicación de la profesora, la venta física es el mejor escenario: el focus 1 mostró que sin prueba del niño no hay compra, y en el stand el niño prueba delante del padre. La compra se cierra en el stand (fase en rojo). En la posventa, el padre escanea el QR del envase, ve en la app el hierro medido de su lote y recibe el aviso de recompra, que abre WhatsApp con el pedido listo, sin suscripción. Canal directo (sesión 05: sin intermediarios, más esfuerzo y más control) frente a canal indirecto (minoristas que venden por nosotros). Unidades del año 1 (Excel, hoja Mensual): stands y carritos 22,625; WhatsApp 9,176; colegios 9,165; ferias 8,100; naturistas 3,720.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Criterios: margen por brownie (contribución por unidad del Excel antes de alquiler y personal: stand S/2.43, feria S/2.54, WhatsApp S/1.07, quiosco S/0.68, naturista S/0.61), control del mensaje, costo de entrada, alcance del segmento y prueba del niño, que según el focus 1 es la condición para comprar. La góndola del supermercado se queda con 20 a 40 % y paga a 30-90 días: entra en el año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Puntos de venta (documento 08): programas para emprendedores de Jockey Plaza, Larcomar (El Mercadito del Emprendedor) y La Rambla San Borja; carrito en la entrada de Wong o Vivanda; ferias navideñas (Bazar CCL, Navi Fest) y de campaña escolar; kermeses y cumpleaños. Plan: 1 punto en enero, 2 de febrero a julio y 3 de agosto a diciembre de 2027, solo fines de semana. Cada punto lo atiende un(a) vendedor(a) pagado(a) a S/90 por día; el espacio cuesta S/600 por punto al mes y el stand en feria, S/1,800.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6: relaciones con el cliente y los diferentes tipos de ingresos.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seis tipos de relación de Osterwalder y cómo los usa AndiBite. Las fuertes (asistencia personal en el stand, autoservicio y servicio automático con la app Andi, Misión Hierro, y comunidad de mamás embajadoras) sostienen la recompra; las de apoyo crecen con el volumen. La app calcula cuándo se acaba el pack según cuántos come el niño a la semana y avisa al padre (documento 09). Con los colegios y naturistas la relación es exclusiva: un socio responde por cada cuenta.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Captar: en el stand el niño prueba gratis delante del padre, que compra ahí mismo; la caja de 3 sabores (S/12) se lleva para la semana. Fidelizar: la app Andi, Misión Hierro avisa cuando el pack está por acabarse y abre WhatsApp con el pedido listo, sin suscripción; además da el semáforo de hierro y el plan de loncheras de la semana. Crecer: mamá embajadora por salón y paso al pack de 12. Metas del modelo: 80 brownies por día en cada punto, 35 % de lo vendido en físico vuelve por WhatsApp y 3 puntos de venta desde agosto de 2027.
IMAGEN 3 — prompt para Nano Banana (proporción 9:16 · adjuntar la foto del empaque):
Use the attached AndiBite package image only as a reference for the brand colors and the product. Top-down flat-lay photo of an open children's school lunchbox on a light wooden table: one mini chocolate brownie (about 5 x 3 cm, fudgy, dark cocoa color, crackly top) inside a small clear individual bag, fresh strawberries and banana slices in a small container, a reusable water bottle and a folded cloth napkin. Next to the lunchbox, the AndiBite stand-up pouch from the reference, slightly out of focus, label turned partly away. Soft natural morning light, clean food styling, warm palette of cream and chocolate brown with brick red accents. Vertical 9:16 composition, lunchbox centered, calm empty area at the top. Do not invent or rewrite any text on the package, no extra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Tipos de ingreso (Osterwalder): venta de activos en stands y carritos, en ferias y eventos, y por WhatsApp; y venta mayorista B2B. Porcentajes sobre las ventas con IGV del año 1 (S/246,531, enero a diciembre de 2027), hoja Proyeccion del Excel. Mecanismo de precio: fijo por lista, con descuento por volumen. Precios confirmados por el equipo el 10 de octubre de 2026: suben para cubrir la sangrecita en polvo, el análisis de hierro de cada lote y la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del Excel (hojas Proyeccion y Mensual). En el stand 6 de cada 10 brownies se venden sueltos a S/6.00, por eso la unidad trae el 59 % de los ingresos. Enero es el mes de arranque (un punto y vacaciones); en febrero entra la campaña escolar, en marzo los colegios, en agosto el tercer punto y diciembre sube con las 2 ferias navideñas.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7: asociaciones, recursos, actividades y costos; presentación del modelo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de las 3 C (sesión 07): una alianza es clave si cumple 2 o más: conecta con tu cliente, convierte valor en acción y complementa lo que no tienes. Todos los socios cumplen al menos 2. La planta y los proveedores no conectan con el cliente, pero convierten (producen) y complementan (planta con HACCP que no tenemos). Malls, supermercados y ferias cumplen las 3: tienen el público, permiten vender sin local propio y ponen el espacio. El proveedor de sangrecita de res en polvo liofilizada tiene registro sanitario, así que la planta no manipula sangre cruda. El desarrollador de la app y Google Cloud (servidor y IA del plan de loncheras) complementan lo digital, y la nutricionista y los pediatras conectan y validan.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de la sesión 07: un recurso es clave si respondes sí a 2 de 3 preguntas: si falta, ¿la idea no funciona?, ¿te diferencia?, ¿es difícil de copiar? La fórmula, la marca con registro sanitario y la app Andi, Misión Hierro con su base de clientes pasan las 3: la app junta el hierro medido de cada lote con los hábitos de compra de cada familia, algo que un competidor no copia rápido. Tipos: físicos, digitales, humanos, financieros e intangibles. La inversión inicial de S/45,358 está en la hoja Inversion del Excel: S/25,000 de los socios y un préstamo de S/20,500 en 24 cuotas.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08: toda actividad genera un costo. Tipos de actividad: producción, resolución de problemas y plataforma. Producir cuesta S/0.605 de insumos (sangrecita de res en polvo, comprada lista a S/300 por kg) y S/0.45 de maquila por brownie; la calidad, S/625 por lote (microbiológico S/250 y hierro S/375, que se publica en la app); vender en stands, S/600 por punto al mes de espacio y S/90 por día de vendedor; las ferias, S/1,800 cada una; la recompra, S/0.80 de delivery por brownie y el coordinador en planilla (S/709 al mes); el contenido, S/900 al mes de marketing; y la app, S/250 al mes de servidor y mantenimiento más S/0.04 por código impreso.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Costeo del Excel, opción B (cada brownie en bolsita, dentro del doypack). Precio en stand S/27.90 con IGV = S/23.64 sin IGV. Producción S/9.98: insumos S/3.63 (S/0.605 por brownie, con sangrecita de res en polvo liofilizada; la planta solo la hidrata), maquila S/2.70 (S/0.45 por brownie), empaque y etiquetas con el código de la app S/1.83, calidad con hierro medido por lote, transporte y almacén S/1.41 y merma S/0.41. Degustación (1 brownie por cada 10 vendidos), movilidad, pasarela de 3 % y renta de 1 %: S/2.69. Contribución S/10.97 por pack, antes del espacio y del vendedor.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Inversion del Excel. Los documentos se consideran listos desde el primer día de ventas (enero de 2027, mes 1): su costo se paga una sola vez dentro de la inversión inicial y no limita la proyección. La póliza de responsabilidad civil para stands cuesta S/600 al año; la tasa del registro sanitario es S/0 con el TUPA 2026. El arranque incluye empaque (S/3,150, con los códigos de la app), stock de enero y febrero (S/4,801, al costo con sangrecita en polvo), marketing de lanzamiento (S/3,204) y capital de trabajo (S/8,000). Marca y app suman S/7,250: identidad S/800, fotos S/300, web y dominio S/150 y la app Andi, Misión Hierro S/6,000 (documento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Tipos de costo (sesión 08): variables (insumos, maquila, empaque, delivery, pasarela), fijos (administración S/760, app S/250, coordinador en planilla S/709, marketing S/900 y depreciación S/134: S/2,753 al mes) y de escala (espacio de S/600 y vendedor de S/90 por día por cada punto de venta que se abre). Stands y ferias del año: espacio S/16,800, vendedores S/23,670 y 3 ferias S/5,400. Cada brownie deja S/0.91 después de stands y ferias; el equilibrio es de 3,035 brownies al mes (506 packs de 6). Enero (un punto) y febrero quedan por debajo.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 operativo mensual de la opción B (hoja Mensual del Excel), con vendedores en todos los stands y coordinador en planilla. Enero pierde S/2,456 (un solo punto y vacaciones) y febrero S/1,004 (feria de campaña escolar); desde marzo todos los meses ganan. Del resultado operativo (S/14,853) a la utilidad neta: más S/2,089 de pagos a cuenta ya restados, menos S/5,080 de intereses del préstamo y menos S/1,186 de impuesto a la renta (RMT, 10 %): S/10,676. La inversión de S/45,358 se recupera en el mes 24 (diciembre de 2028). Sensibilidad: si las ventas caen 20 %, la caja se vuelve negativa y haría falta una línea de crédito; si suben 20 %, se recupera en el mes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 Canvas con los nueve bloques de Osterwalder y Pigneur, actualizado con la venta física como canal principal, los documentos dentro de la inversión inicial, el costeo con maquila y sangrecita de res en polvo, y la app Andi, Misión Hierro como innovación tecnológica (propuesta de valor, relación, recursos, actividades, socios y costos). El detalle de cada bloque está en las diapositivas anteriores y en el documento 04-reformulacion/07.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Trabajo de campo 8: mapa de propuesta de valor (Value Proposition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 Proposition Canvas de Osterwalder. A la derecha, el perfil del cliente: trabajos, dolores y alegrías, con evidencia de las 10 entrevistas, el focus 1 y datos secundarios (Ipsos 2025, Kantar 2025, ENDES). A la izquierda, el mapa de valor: productos y servicios (incluida la app Andi, Misión Hierro), aliviadores de dolor y creadores de alegrías. El encaje se detalla en la siguiente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Encaje problema-solución. Evidencias: rechazo de la sangrecita visible en las entrevistas ("olía feo", "parecía carbón"); 83 % cambia su compra por los octógonos (Ipsos Perú, 21/02/2025); 42 % desconfía de que un envasado sea saludable (Kantar, 2025); "el jueves ya no sé qué mandar" y la mochila que malogra la comida (entrevistas). El "sin octógono" solo se imprime cuando el laboratorio lo confirme.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innovación tecnológica que pidió la profesora: una app propia que viene con el producto (documento 09). Es una app web instalable (PWA): el padre escanea el QR del envase y se abre, sin descargar nada. Modo padres: ve el hierro medido en laboratorio de su lote, el semáforo de hierro de la semana frente a una referencia por edad, el plan de loncheras (con IA de Gemini), el recordatorio del control de hemoglobina y la recompra en un clic por WhatsApp. Modo niños: Misión Hierro, con Andi, una llamita exploradora; cuatro juegos que enseñan a combinar hierro con vitamina C, superalimentos andinos, mitos y hábitos, con voz para los que no leen. Lo abre el padre y fija el tiempo de juego. Por la Ley 30021 (art. 8), el modo niño no muestra el producto ni premia la compra; Andi nunca dice "come AndiBite". Solo pedimos apodo y edad del niño (Ley 29733).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el padre compra en el stand, escanea el QR del envase, ve el hierro medido de su lote (el dato que pedían Claudia y el 42 % que desconfía de lo envasado), usa el plan de loncheras y el semáforo durante la semana, y cuando el pack se está acabando la app le avisa y abre WhatsApp con el pedido listo. Costos, ya en el Excel v6: S/6,000 de inversión (diseño e ilustración S/1,500, modo padres y servidor S/2,500, modo niños S/1,500, pruebas y publicación S/500); S/250 al mes de Cloud Run, Firestore, IA y mantenimiento; S/0.04 por código impreso con dato variable; y S/375 por el análisis de hierro de cada lote, que se publica en la app. En total restan unos S/7,500 al resultado del año 1, a cambio de sostener el precio de S/6.00 y empujar la recompra.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Precios por 20 g consultados el 3 de octubre de 2026 (documento 02): Nutri H S/3.20, Fika S/4.00, Mamalama S/4.10, Siete Dragones S/3.01, Bimbo Nutra Bien S/1.67. AndiBite por WhatsApp: pack de 6 a S/26.90 (S/4.48 por brownie) y pack de 12 a S/49.90 (S/4.16); en el stand, pack de 6 a S/27.90 (S/4.65). Ningún competidor publica el hierro medido de cada lote ni ofrece una app para la familia. Completar con los datos del store check de La Molina.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con la propuesta de valor en una frase y los tres pasos siguientes: cargar los resultados del focus 2; cotizar la sangrecita de res en polvo a granel y los stands (Jockey, Larcomar, La Rambla, Wong, Vivanda); y probar el prototipo de la app Andi, Misión Hierro con 10 familias en noviembre de 2026.
IMAGEN 4 — prompt para Nano Banana (proporción 2:3 · adjuntar la foto del empaque):
Use the attached AndiBite package image only as a reference for the pouch and colors. Warm candid lifestyle photo of a 7-year-old Peruvian boy in a private school uniform (white polo shirt and navy sweater) sitting on a bench in a school courtyard at recess. He has just opened his lunchbox and smiles while holding a mini chocolate brownie; the AndiBite pouch is visible in the lunchbox with the label partly turned away. Soft daylight, shallow depth of field, background of blurred green trees and classmates. Warm color grading with chocolate brown, cream and brick red accents. Natural and unposed, eye-level camera, vertical 2:3 composition with the boy on the center-left. No text, no extra logos, no watermark.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3246120"/>
            <a:ext cx="6766560" cy="777240"/>
          </a:xfrm>
          <a:prstGeom prst="rect">
            <a:avLst/>
          </a:prstGeom>
          <a:noFill/>
          <a:ln/>
        </p:spPr>
        <p:txBody>
          <a:bodyPr wrap="square" rtlCol="0"/>
          <a:lstStyle>
            <a:lvl1pPr algn="l" indent="0" marL="0">
              <a:buNone/>
              <a:defRPr lang="en-US" sz="4000" b="1" dirty="0">
                <a:solidFill>
                  <a:schemeClr val="bg2"/>
                </a:solidFill>
              </a:defRPr>
            </a:lvl1pPr>
          </a:lstStyle>
          <a:p>
            <a:pPr algn="l" indent="0" marL="0">
              <a:buNone/>
            </a:pPr>
            <a:endParaRPr lang="en-US" sz="4000" dirty="0"/>
          </a:p>
        </p:txBody>
      </p:sp>
      <p:sp>
        <p:nvSpPr>
          <p:cNvPr id="3" name="Text 0"/>
          <p:cNvSpPr/>
          <p:nvPr>
            <p:ph idx="101" type="body" hasCustomPrompt="1"/>
          </p:nvPr>
        </p:nvSpPr>
        <p:spPr>
          <a:xfrm>
            <a:off x="731520" y="4069080"/>
            <a:ext cx="6766560" cy="7315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234440"/>
            <a:ext cx="6766560" cy="1463040"/>
          </a:xfrm>
          <a:prstGeom prst="rect">
            <a:avLst/>
          </a:prstGeom>
          <a:noFill/>
          <a:ln/>
        </p:spPr>
        <p:txBody>
          <a:bodyPr wrap="square" rtlCol="0"/>
          <a:lstStyle>
            <a:lvl1pPr algn="l" indent="0" marL="0">
              <a:buNone/>
              <a:defRPr lang="en-US" sz="4800" b="1" dirty="0">
                <a:solidFill>
                  <a:schemeClr val="bg2"/>
                </a:solidFill>
              </a:defRPr>
            </a:lvl1pPr>
          </a:lstStyle>
          <a:p>
            <a:pPr algn="l" indent="0" marL="0">
              <a:buNone/>
            </a:pPr>
            <a:endParaRPr lang="en-US" sz="4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CION">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6949440" cy="1417320"/>
          </a:xfrm>
          <a:prstGeom prst="rect">
            <a:avLst/>
          </a:prstGeom>
          <a:noFill/>
          <a:ln/>
        </p:spPr>
        <p:txBody>
          <a:bodyPr wrap="square" rtlCol="0"/>
          <a:lstStyle>
            <a:lvl1pPr algn="l" indent="0" marL="0">
              <a:buNone/>
              <a:defRPr lang="en-US" sz="4400" b="1" dirty="0">
                <a:solidFill>
                  <a:schemeClr val="bg2"/>
                </a:solidFill>
              </a:defRPr>
            </a:lvl1pPr>
          </a:lstStyle>
          <a:p>
            <a:pPr algn="l" indent="0" marL="0">
              <a:buNone/>
            </a:pPr>
            <a:endParaRPr lang="en-US" sz="4400" dirty="0"/>
          </a:p>
        </p:txBody>
      </p:sp>
      <p:sp>
        <p:nvSpPr>
          <p:cNvPr id="3" name="Text 0"/>
          <p:cNvSpPr/>
          <p:nvPr>
            <p:ph idx="101" type="body" hasCustomPrompt="1"/>
          </p:nvPr>
        </p:nvSpPr>
        <p:spPr>
          <a:xfrm>
            <a:off x="731520" y="4069080"/>
            <a:ext cx="6949440" cy="11887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pic>
        <p:nvPicPr>
          <p:cNvPr id="4" name="Image 0" descr="img/logo_light.png">    </p:cNvPr>
          <p:cNvPicPr>
            <a:picLocks noChangeAspect="1"/>
          </p:cNvPicPr>
          <p:nvPr/>
        </p:nvPicPr>
        <p:blipFill>
          <a:blip r:embed="rId1"/>
          <a:stretch>
            <a:fillRect/>
          </a:stretch>
        </p:blipFill>
        <p:spPr>
          <a:xfrm>
            <a:off x="731520" y="5989320"/>
            <a:ext cx="1325880" cy="4572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BF3E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4" name="Text 0"/>
          <p:cNvSpPr/>
          <p:nvPr/>
        </p:nvSpPr>
        <p:spPr>
          <a:xfrm>
            <a:off x="548640" y="6455664"/>
            <a:ext cx="7315200" cy="256032"/>
          </a:xfrm>
          <a:prstGeom prst="rect">
            <a:avLst/>
          </a:prstGeom>
          <a:noFill/>
          <a:ln/>
        </p:spPr>
        <p:txBody>
          <a:bodyPr wrap="square" lIns="0" tIns="0" rIns="0" bIns="0" rtlCol="0" anchor="ctr"/>
          <a:lstStyle/>
          <a:p>
            <a:pPr indent="0" marL="0">
              <a:buNone/>
            </a:pPr>
            <a:r>
              <a:rPr lang="en-US" sz="1000" dirty="0">
                <a:solidFill>
                  <a:schemeClr val="accent2"/>
                </a:solidFill>
              </a:rPr>
              <a:t>AndiBite · Grupo 2 · Desarrollo y lanzamiento de nuevos productos</a:t>
            </a:r>
            <a:endParaRPr lang="en-US" sz="1000" dirty="0"/>
          </a:p>
        </p:txBody>
      </p:sp>
      <p:pic>
        <p:nvPicPr>
          <p:cNvPr id="5" name="Image 0" descr="img/logo_color.png">    </p:cNvPr>
          <p:cNvPicPr>
            <a:picLocks noChangeAspect="1"/>
          </p:cNvPicPr>
          <p:nvPr/>
        </p:nvPicPr>
        <p:blipFill>
          <a:blip r:embed="rId1"/>
          <a:stretch>
            <a:fillRect/>
          </a:stretch>
        </p:blipFill>
        <p:spPr>
          <a:xfrm>
            <a:off x="10469880" y="6391656"/>
            <a:ext cx="868680" cy="297180"/>
          </a:xfrm>
          <a:prstGeom prst="rect">
            <a:avLst/>
          </a:prstGeom>
        </p:spPr>
      </p:pic>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5.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5.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5.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5.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5.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5.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5.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5" Type="http://schemas.openxmlformats.org/officeDocument/2006/relationships/chart" Target="/ppt/charts/chart2.xm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6" Type="http://schemas.openxmlformats.org/officeDocument/2006/relationships/slideLayout" Target="../slideLayouts/slideLayout5.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5.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5.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5.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5.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5.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5.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5.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5.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5.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5.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5.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5.xml"/><Relationship Id="rId1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slideLayout" Target="../slideLayouts/slideLayout5.xml"/><Relationship Id="rId1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5.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5.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g/logo_light.png">    </p:cNvPr>
          <p:cNvPicPr>
            <a:picLocks noChangeAspect="1"/>
          </p:cNvPicPr>
          <p:nvPr/>
        </p:nvPicPr>
        <p:blipFill>
          <a:blip r:embed="rId1"/>
          <a:stretch>
            <a:fillRect/>
          </a:stretch>
        </p:blipFill>
        <p:spPr>
          <a:xfrm>
            <a:off x="731520" y="1005840"/>
            <a:ext cx="5120640" cy="1755648"/>
          </a:xfrm>
          <a:prstGeom prst="rect">
            <a:avLst/>
          </a:prstGeom>
        </p:spPr>
      </p:pic>
      <p:sp>
        <p:nvSpPr>
          <p:cNvPr id="3" name="Text 0"/>
          <p:cNvSpPr/>
          <p:nvPr>
            <p:ph idx="100" type="title" hasCustomPrompt="1"/>
          </p:nvPr>
        </p:nvSpPr>
        <p:spPr>
          <a:xfrm>
            <a:off x="731520" y="3246120"/>
            <a:ext cx="6766560" cy="777240"/>
          </a:xfrm>
          <a:prstGeom prst="rect">
            <a:avLst/>
          </a:prstGeom>
          <a:noFill/>
          <a:ln/>
        </p:spPr>
        <p:txBody>
          <a:bodyPr wrap="square" lIns="0" tIns="0" rIns="0" bIns="0" rtlCol="0" anchor="t"/>
          <a:lstStyle/>
          <a:p>
            <a:pPr algn="l" indent="0" marL="0">
              <a:buNone/>
            </a:pPr>
            <a:r>
              <a:rPr lang="en-US" sz="4000" b="1" dirty="0">
                <a:solidFill>
                  <a:schemeClr val="bg2"/>
                </a:solidFill>
              </a:rPr>
              <a:t>Trabajos de campo 5 a 8</a:t>
            </a:r>
            <a:endParaRPr lang="en-US" sz="4000" dirty="0"/>
          </a:p>
        </p:txBody>
      </p:sp>
      <p:sp>
        <p:nvSpPr>
          <p:cNvPr id="4" name="Text 0"/>
          <p:cNvSpPr/>
          <p:nvPr>
            <p:ph idx="101" type="body" hasCustomPrompt="1"/>
          </p:nvPr>
        </p:nvSpPr>
        <p:spPr>
          <a:xfrm>
            <a:off x="731520" y="4069080"/>
            <a:ext cx="6766560" cy="731520"/>
          </a:xfrm>
          <a:prstGeom prst="rect">
            <a:avLst/>
          </a:prstGeom>
          <a:noFill/>
          <a:ln/>
        </p:spPr>
        <p:txBody>
          <a:bodyPr wrap="square" lIns="0" tIns="0" rIns="0" bIns="0" rtlCol="0" anchor="t"/>
          <a:lstStyle/>
          <a:p>
            <a:pPr indent="0" marL="0">
              <a:buNone/>
            </a:pPr>
            <a:r>
              <a:rPr lang="en-US" sz="1800" dirty="0">
                <a:solidFill>
                  <a:schemeClr val="accent5"/>
                </a:solidFill>
              </a:rPr>
              <a:t>Cliente, canal, relación, ingresos, Canvas y propuesta de valor</a:t>
            </a:r>
            <a:endParaRPr lang="en-US" sz="1800" dirty="0"/>
          </a:p>
        </p:txBody>
      </p:sp>
      <p:sp>
        <p:nvSpPr>
          <p:cNvPr id="5" name="Text 2"/>
          <p:cNvSpPr txBox="1"/>
          <p:nvPr/>
        </p:nvSpPr>
        <p:spPr>
          <a:xfrm>
            <a:off x="731520" y="5257800"/>
            <a:ext cx="6949440" cy="320040"/>
          </a:xfrm>
          <a:prstGeom prst="rect">
            <a:avLst/>
          </a:prstGeom>
          <a:noFill/>
          <a:ln/>
        </p:spPr>
        <p:txBody>
          <a:bodyPr wrap="square" lIns="0" tIns="0" rIns="0" bIns="0" rtlCol="0" anchor="t"/>
          <a:lstStyle/>
          <a:p>
            <a:pPr indent="0" marL="0">
              <a:buNone/>
            </a:pPr>
            <a:r>
              <a:rPr lang="en-US" sz="1400" dirty="0">
                <a:solidFill>
                  <a:schemeClr val="bg2"/>
                </a:solidFill>
              </a:rPr>
              <a:t>Grupo 2 · Diana Ayoso · Carlos Inga · Angie Blas · Patricia Cárdenas · Adela Robles</a:t>
            </a:r>
            <a:endParaRPr lang="en-US" sz="1400" dirty="0"/>
          </a:p>
        </p:txBody>
      </p:sp>
      <p:sp>
        <p:nvSpPr>
          <p:cNvPr id="6" name="Text 3"/>
          <p:cNvSpPr txBox="1"/>
          <p:nvPr/>
        </p:nvSpPr>
        <p:spPr>
          <a:xfrm>
            <a:off x="731520" y="5623560"/>
            <a:ext cx="6949440" cy="320040"/>
          </a:xfrm>
          <a:prstGeom prst="rect">
            <a:avLst/>
          </a:prstGeom>
          <a:noFill/>
          <a:ln/>
        </p:spPr>
        <p:txBody>
          <a:bodyPr wrap="square" lIns="0" tIns="0" rIns="0" bIns="0" rtlCol="0" anchor="t"/>
          <a:lstStyle/>
          <a:p>
            <a:pPr indent="0" marL="0">
              <a:buNone/>
            </a:pPr>
            <a:r>
              <a:rPr lang="en-US" sz="1200" dirty="0">
                <a:solidFill>
                  <a:schemeClr val="accent5"/>
                </a:solidFill>
              </a:rPr>
              <a:t>Desarrollo y lanzamiento de nuevos productos · Prof. Paola Cevallos · Octubre de 2026</a:t>
            </a:r>
            <a:endParaRPr lang="en-US" sz="1200" dirty="0"/>
          </a:p>
        </p:txBody>
      </p:sp>
      <p:pic>
        <p:nvPicPr>
          <p:cNvPr id="7" name="Image 1" descr="/home/user/Desarrollo-y-lanzamiento-de-producto-y-marca/assets/empaque/B1_frente.png">    </p:cNvPr>
          <p:cNvPicPr>
            <a:picLocks noChangeAspect="1"/>
          </p:cNvPicPr>
          <p:nvPr/>
        </p:nvPicPr>
        <p:blipFill>
          <a:blip r:embed="rId2"/>
          <a:stretch>
            <a:fillRect/>
          </a:stretch>
        </p:blipFill>
        <p:spPr>
          <a:xfrm rot="240000">
            <a:off x="8001000" y="548640"/>
            <a:ext cx="4023360" cy="5596128"/>
          </a:xfrm>
          <a:prstGeom prst="rect">
            <a:avLst/>
          </a:prstGeom>
          <a:effectLst>
            <a:outerShdw sx="100000" sy="100000" kx="0" ky="0" algn="bl" rotWithShape="0" blurRad="152400" dist="50800" dir="5400000">
              <a:srgbClr val="000000">
                <a:alpha val="35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RUTA DEL TRABAJO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Cuatro trabajos, un solo modelo de negocio</a:t>
            </a:r>
            <a:endParaRPr lang="en-US" sz="3400" dirty="0"/>
          </a:p>
        </p:txBody>
      </p:sp>
      <p:sp>
        <p:nvSpPr>
          <p:cNvPr id="4" name="Shape 2"/>
          <p:cNvSpPr/>
          <p:nvPr/>
        </p:nvSpPr>
        <p:spPr>
          <a:xfrm>
            <a:off x="548640"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05</a:t>
            </a:r>
            <a:endParaRPr lang="en-US" sz="4000" dirty="0"/>
          </a:p>
        </p:txBody>
      </p:sp>
      <p:sp>
        <p:nvSpPr>
          <p:cNvPr id="6" name="Shape 4"/>
          <p:cNvSpPr/>
          <p:nvPr/>
        </p:nvSpPr>
        <p:spPr>
          <a:xfrm>
            <a:off x="2157984" y="1874520"/>
            <a:ext cx="685800" cy="685800"/>
          </a:xfrm>
          <a:prstGeom prst="ellipse">
            <a:avLst/>
          </a:prstGeom>
          <a:solidFill>
            <a:schemeClr val="tx2"/>
          </a:solidFill>
          <a:ln w="12700">
            <a:solidFill>
              <a:schemeClr val="tx2"/>
            </a:solidFill>
            <a:prstDash val="solid"/>
          </a:ln>
        </p:spPr>
      </p:sp>
      <p:pic>
        <p:nvPicPr>
          <p:cNvPr id="7" name="Image 0" descr="preencoded.png">    </p:cNvPr>
          <p:cNvPicPr>
            <a:picLocks noChangeAspect="1"/>
          </p:cNvPicPr>
          <p:nvPr/>
        </p:nvPicPr>
        <p:blipFill>
          <a:blip r:embed="rId1"/>
          <a:stretch>
            <a:fillRect/>
          </a:stretch>
        </p:blipFill>
        <p:spPr>
          <a:xfrm>
            <a:off x="2308860" y="2025396"/>
            <a:ext cx="384048" cy="384048"/>
          </a:xfrm>
          <a:prstGeom prst="rect">
            <a:avLst/>
          </a:prstGeom>
        </p:spPr>
      </p:pic>
      <p:sp>
        <p:nvSpPr>
          <p:cNvPr id="8" name="Text 5"/>
          <p:cNvSpPr txBox="1"/>
          <p:nvPr/>
        </p:nvSpPr>
        <p:spPr>
          <a:xfrm>
            <a:off x="822960"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Cliente y canal</a:t>
            </a:r>
            <a:endParaRPr lang="en-US" sz="1900" dirty="0"/>
          </a:p>
        </p:txBody>
      </p:sp>
      <p:sp>
        <p:nvSpPr>
          <p:cNvPr id="9" name="Text 6"/>
          <p:cNvSpPr txBox="1"/>
          <p:nvPr/>
        </p:nvSpPr>
        <p:spPr>
          <a:xfrm>
            <a:off x="822960"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Arquetipos, buyer persona, tipos de mercado y canal</a:t>
            </a:r>
            <a:endParaRPr lang="en-US" sz="1500" dirty="0"/>
          </a:p>
        </p:txBody>
      </p:sp>
      <p:sp>
        <p:nvSpPr>
          <p:cNvPr id="10" name="Shape 7"/>
          <p:cNvSpPr/>
          <p:nvPr/>
        </p:nvSpPr>
        <p:spPr>
          <a:xfrm>
            <a:off x="3392424"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8"/>
          <p:cNvSpPr txBox="1"/>
          <p:nvPr/>
        </p:nvSpPr>
        <p:spPr>
          <a:xfrm>
            <a:off x="3666744"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06</a:t>
            </a:r>
            <a:endParaRPr lang="en-US" sz="4000" dirty="0"/>
          </a:p>
        </p:txBody>
      </p:sp>
      <p:sp>
        <p:nvSpPr>
          <p:cNvPr id="12" name="Shape 9"/>
          <p:cNvSpPr/>
          <p:nvPr/>
        </p:nvSpPr>
        <p:spPr>
          <a:xfrm>
            <a:off x="5001768" y="1874520"/>
            <a:ext cx="685800" cy="685800"/>
          </a:xfrm>
          <a:prstGeom prst="ellipse">
            <a:avLst/>
          </a:prstGeom>
          <a:solidFill>
            <a:schemeClr val="tx2"/>
          </a:solidFill>
          <a:ln w="12700">
            <a:solidFill>
              <a:schemeClr val="tx2"/>
            </a:solidFill>
            <a:prstDash val="solid"/>
          </a:ln>
        </p:spPr>
      </p:sp>
      <p:pic>
        <p:nvPicPr>
          <p:cNvPr id="13" name="Image 1" descr="preencoded.png">    </p:cNvPr>
          <p:cNvPicPr>
            <a:picLocks noChangeAspect="1"/>
          </p:cNvPicPr>
          <p:nvPr/>
        </p:nvPicPr>
        <p:blipFill>
          <a:blip r:embed="rId2"/>
          <a:stretch>
            <a:fillRect/>
          </a:stretch>
        </p:blipFill>
        <p:spPr>
          <a:xfrm>
            <a:off x="5152644" y="2025396"/>
            <a:ext cx="384048" cy="384048"/>
          </a:xfrm>
          <a:prstGeom prst="rect">
            <a:avLst/>
          </a:prstGeom>
        </p:spPr>
      </p:pic>
      <p:sp>
        <p:nvSpPr>
          <p:cNvPr id="14" name="Text 10"/>
          <p:cNvSpPr txBox="1"/>
          <p:nvPr/>
        </p:nvSpPr>
        <p:spPr>
          <a:xfrm>
            <a:off x="3666744"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Relación e ingresos</a:t>
            </a:r>
            <a:endParaRPr lang="en-US" sz="1900" dirty="0"/>
          </a:p>
        </p:txBody>
      </p:sp>
      <p:sp>
        <p:nvSpPr>
          <p:cNvPr id="15" name="Text 11"/>
          <p:cNvSpPr txBox="1"/>
          <p:nvPr/>
        </p:nvSpPr>
        <p:spPr>
          <a:xfrm>
            <a:off x="3666744"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Cómo captamos y retenemos, y de dónde viene el dinero</a:t>
            </a:r>
            <a:endParaRPr lang="en-US" sz="1500" dirty="0"/>
          </a:p>
        </p:txBody>
      </p:sp>
      <p:sp>
        <p:nvSpPr>
          <p:cNvPr id="16" name="Shape 12"/>
          <p:cNvSpPr/>
          <p:nvPr/>
        </p:nvSpPr>
        <p:spPr>
          <a:xfrm>
            <a:off x="6236208"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Text 13"/>
          <p:cNvSpPr txBox="1"/>
          <p:nvPr/>
        </p:nvSpPr>
        <p:spPr>
          <a:xfrm>
            <a:off x="6510528"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07</a:t>
            </a:r>
            <a:endParaRPr lang="en-US" sz="4000" dirty="0"/>
          </a:p>
        </p:txBody>
      </p:sp>
      <p:sp>
        <p:nvSpPr>
          <p:cNvPr id="18" name="Shape 14"/>
          <p:cNvSpPr/>
          <p:nvPr/>
        </p:nvSpPr>
        <p:spPr>
          <a:xfrm>
            <a:off x="7845552" y="1874520"/>
            <a:ext cx="685800" cy="685800"/>
          </a:xfrm>
          <a:prstGeom prst="ellipse">
            <a:avLst/>
          </a:prstGeom>
          <a:solidFill>
            <a:schemeClr val="tx2"/>
          </a:solidFill>
          <a:ln w="12700">
            <a:solidFill>
              <a:schemeClr val="tx2"/>
            </a:solidFill>
            <a:prstDash val="solid"/>
          </a:ln>
        </p:spPr>
      </p:sp>
      <p:pic>
        <p:nvPicPr>
          <p:cNvPr id="19" name="Image 2" descr="preencoded.png">    </p:cNvPr>
          <p:cNvPicPr>
            <a:picLocks noChangeAspect="1"/>
          </p:cNvPicPr>
          <p:nvPr/>
        </p:nvPicPr>
        <p:blipFill>
          <a:blip r:embed="rId3"/>
          <a:stretch>
            <a:fillRect/>
          </a:stretch>
        </p:blipFill>
        <p:spPr>
          <a:xfrm>
            <a:off x="7996428" y="2025396"/>
            <a:ext cx="384048" cy="384048"/>
          </a:xfrm>
          <a:prstGeom prst="rect">
            <a:avLst/>
          </a:prstGeom>
        </p:spPr>
      </p:pic>
      <p:sp>
        <p:nvSpPr>
          <p:cNvPr id="20" name="Text 15"/>
          <p:cNvSpPr txBox="1"/>
          <p:nvPr/>
        </p:nvSpPr>
        <p:spPr>
          <a:xfrm>
            <a:off x="6510528"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Modelo Canvas</a:t>
            </a:r>
            <a:endParaRPr lang="en-US" sz="1900" dirty="0"/>
          </a:p>
        </p:txBody>
      </p:sp>
      <p:sp>
        <p:nvSpPr>
          <p:cNvPr id="21" name="Text 16"/>
          <p:cNvSpPr txBox="1"/>
          <p:nvPr/>
        </p:nvSpPr>
        <p:spPr>
          <a:xfrm>
            <a:off x="6510528"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Socios, recursos, actividades, costos y los 9 bloques</a:t>
            </a:r>
            <a:endParaRPr lang="en-US" sz="1500" dirty="0"/>
          </a:p>
        </p:txBody>
      </p:sp>
      <p:sp>
        <p:nvSpPr>
          <p:cNvPr id="22" name="Shape 17"/>
          <p:cNvSpPr/>
          <p:nvPr/>
        </p:nvSpPr>
        <p:spPr>
          <a:xfrm>
            <a:off x="9079992" y="1600200"/>
            <a:ext cx="2569464" cy="3520440"/>
          </a:xfrm>
          <a:prstGeom prst="roundRect">
            <a:avLst>
              <a:gd name="adj" fmla="val 427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3" name="Text 18"/>
          <p:cNvSpPr txBox="1"/>
          <p:nvPr/>
        </p:nvSpPr>
        <p:spPr>
          <a:xfrm>
            <a:off x="9354312" y="1874520"/>
            <a:ext cx="1280160" cy="731520"/>
          </a:xfrm>
          <a:prstGeom prst="rect">
            <a:avLst/>
          </a:prstGeom>
          <a:noFill/>
          <a:ln/>
        </p:spPr>
        <p:txBody>
          <a:bodyPr wrap="square" lIns="0" tIns="0" rIns="0" bIns="0" rtlCol="0" anchor="t"/>
          <a:lstStyle/>
          <a:p>
            <a:pPr indent="0" marL="0">
              <a:buNone/>
            </a:pPr>
            <a:r>
              <a:rPr lang="en-US" sz="4000" b="1" dirty="0">
                <a:solidFill>
                  <a:schemeClr val="accent1"/>
                </a:solidFill>
              </a:rPr>
              <a:t>08</a:t>
            </a:r>
            <a:endParaRPr lang="en-US" sz="4000" dirty="0"/>
          </a:p>
        </p:txBody>
      </p:sp>
      <p:sp>
        <p:nvSpPr>
          <p:cNvPr id="24" name="Shape 19"/>
          <p:cNvSpPr/>
          <p:nvPr/>
        </p:nvSpPr>
        <p:spPr>
          <a:xfrm>
            <a:off x="10689336" y="1874520"/>
            <a:ext cx="685800" cy="685800"/>
          </a:xfrm>
          <a:prstGeom prst="ellipse">
            <a:avLst/>
          </a:prstGeom>
          <a:solidFill>
            <a:schemeClr val="tx2"/>
          </a:solidFill>
          <a:ln w="12700">
            <a:solidFill>
              <a:schemeClr val="tx2"/>
            </a:solidFill>
            <a:prstDash val="solid"/>
          </a:ln>
        </p:spPr>
      </p:sp>
      <p:pic>
        <p:nvPicPr>
          <p:cNvPr id="25" name="Image 3" descr="preencoded.png">    </p:cNvPr>
          <p:cNvPicPr>
            <a:picLocks noChangeAspect="1"/>
          </p:cNvPicPr>
          <p:nvPr/>
        </p:nvPicPr>
        <p:blipFill>
          <a:blip r:embed="rId4"/>
          <a:stretch>
            <a:fillRect/>
          </a:stretch>
        </p:blipFill>
        <p:spPr>
          <a:xfrm>
            <a:off x="10840212" y="2025396"/>
            <a:ext cx="384048" cy="384048"/>
          </a:xfrm>
          <a:prstGeom prst="rect">
            <a:avLst/>
          </a:prstGeom>
        </p:spPr>
      </p:pic>
      <p:sp>
        <p:nvSpPr>
          <p:cNvPr id="26" name="Text 20"/>
          <p:cNvSpPr txBox="1"/>
          <p:nvPr/>
        </p:nvSpPr>
        <p:spPr>
          <a:xfrm>
            <a:off x="9354312" y="2834640"/>
            <a:ext cx="2020824" cy="411480"/>
          </a:xfrm>
          <a:prstGeom prst="rect">
            <a:avLst/>
          </a:prstGeom>
          <a:noFill/>
          <a:ln/>
        </p:spPr>
        <p:txBody>
          <a:bodyPr wrap="square" lIns="0" tIns="0" rIns="0" bIns="0" rtlCol="0" anchor="t"/>
          <a:lstStyle/>
          <a:p>
            <a:pPr indent="0" marL="0">
              <a:buNone/>
            </a:pPr>
            <a:r>
              <a:rPr lang="en-US" sz="1900" b="1" dirty="0">
                <a:solidFill>
                  <a:schemeClr val="tx2"/>
                </a:solidFill>
              </a:rPr>
              <a:t>Propuesta de valor</a:t>
            </a:r>
            <a:endParaRPr lang="en-US" sz="1900" dirty="0"/>
          </a:p>
        </p:txBody>
      </p:sp>
      <p:sp>
        <p:nvSpPr>
          <p:cNvPr id="27" name="Text 21"/>
          <p:cNvSpPr txBox="1"/>
          <p:nvPr/>
        </p:nvSpPr>
        <p:spPr>
          <a:xfrm>
            <a:off x="9354312" y="3337560"/>
            <a:ext cx="2020824" cy="1463040"/>
          </a:xfrm>
          <a:prstGeom prst="rect">
            <a:avLst/>
          </a:prstGeom>
          <a:noFill/>
          <a:ln/>
        </p:spPr>
        <p:txBody>
          <a:bodyPr wrap="square" lIns="0" tIns="0" rIns="0" bIns="0" rtlCol="0" anchor="t"/>
          <a:lstStyle/>
          <a:p>
            <a:pPr indent="0" marL="0">
              <a:buNone/>
            </a:pPr>
            <a:r>
              <a:rPr lang="en-US" sz="1500" dirty="0">
                <a:solidFill>
                  <a:schemeClr val="accent2"/>
                </a:solidFill>
              </a:rPr>
              <a:t>Mapa de valor, app Andi y competencia</a:t>
            </a:r>
            <a:endParaRPr lang="en-US" sz="1500" dirty="0"/>
          </a:p>
        </p:txBody>
      </p:sp>
      <p:sp>
        <p:nvSpPr>
          <p:cNvPr id="28" name="Shape 22"/>
          <p:cNvSpPr/>
          <p:nvPr/>
        </p:nvSpPr>
        <p:spPr>
          <a:xfrm>
            <a:off x="548640" y="5440680"/>
            <a:ext cx="11091672" cy="685800"/>
          </a:xfrm>
          <a:prstGeom prst="roundRect">
            <a:avLst>
              <a:gd name="adj" fmla="val 49333"/>
            </a:avLst>
          </a:prstGeom>
          <a:solidFill>
            <a:schemeClr val="tx2"/>
          </a:solidFill>
          <a:ln w="12700">
            <a:solidFill>
              <a:schemeClr val="tx2"/>
            </a:solidFill>
            <a:prstDash val="solid"/>
          </a:ln>
        </p:spPr>
      </p:sp>
      <p:sp>
        <p:nvSpPr>
          <p:cNvPr id="29" name="Text 23"/>
          <p:cNvSpPr txBox="1"/>
          <p:nvPr/>
        </p:nvSpPr>
        <p:spPr>
          <a:xfrm>
            <a:off x="868680" y="5440680"/>
            <a:ext cx="10515600" cy="685800"/>
          </a:xfrm>
          <a:prstGeom prst="rect">
            <a:avLst/>
          </a:prstGeom>
          <a:noFill/>
          <a:ln/>
        </p:spPr>
        <p:txBody>
          <a:bodyPr wrap="square" lIns="0" tIns="0" rIns="0" bIns="0" rtlCol="0" anchor="ctr"/>
          <a:lstStyle/>
          <a:p>
            <a:pPr indent="0" marL="0">
              <a:buNone/>
            </a:pPr>
            <a:r>
              <a:rPr lang="en-US" sz="1600" b="1" dirty="0">
                <a:solidFill>
                  <a:schemeClr val="accent3"/>
                </a:solidFill>
              </a:rPr>
              <a:t>El producto: </a:t>
            </a:r>
            <a:pPr indent="0" marL="0">
              <a:buNone/>
            </a:pPr>
            <a:r>
              <a:rPr lang="en-US" sz="1600" dirty="0">
                <a:solidFill>
                  <a:schemeClr val="bg2"/>
                </a:solidFill>
              </a:rPr>
              <a:t>mini brownie de 20 g con sangrecita · 3 sabores · app Andi en cada envase · se vende en stands y ferias, y se recompra por WhatsApp</a:t>
            </a:r>
            <a:endParaRPr lang="en-US" sz="16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05</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Cliente, mercado y canal</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Arquetipo · Buyer persona · Tipos de mercado · Tamaño del nicho · Canales y puntos de venta</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ARQUETIPO DE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público nos orienta; el arquetipo nos conecta</a:t>
            </a:r>
            <a:endParaRPr lang="en-US" sz="3400" dirty="0"/>
          </a:p>
        </p:txBody>
      </p:sp>
      <p:sp>
        <p:nvSpPr>
          <p:cNvPr id="4" name="Shape 2"/>
          <p:cNvSpPr/>
          <p:nvPr/>
        </p:nvSpPr>
        <p:spPr>
          <a:xfrm>
            <a:off x="548640" y="1600200"/>
            <a:ext cx="5120640" cy="4480560"/>
          </a:xfrm>
          <a:prstGeom prst="roundRect">
            <a:avLst>
              <a:gd name="adj" fmla="val 244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74520"/>
            <a:ext cx="822960" cy="822960"/>
          </a:xfrm>
          <a:prstGeom prst="ellipse">
            <a:avLst/>
          </a:prstGeom>
          <a:solidFill>
            <a:schemeClr val="accent5"/>
          </a:solidFill>
          <a:ln w="12700">
            <a:solidFill>
              <a:schemeClr val="accent5"/>
            </a:solidFill>
            <a:prstDash val="solid"/>
          </a:ln>
        </p:spPr>
      </p:sp>
      <p:pic>
        <p:nvPicPr>
          <p:cNvPr id="6" name="Image 0" descr="preencoded.png">    </p:cNvPr>
          <p:cNvPicPr>
            <a:picLocks noChangeAspect="1"/>
          </p:cNvPicPr>
          <p:nvPr/>
        </p:nvPicPr>
        <p:blipFill>
          <a:blip r:embed="rId1"/>
          <a:stretch>
            <a:fillRect/>
          </a:stretch>
        </p:blipFill>
        <p:spPr>
          <a:xfrm>
            <a:off x="1004011" y="2055571"/>
            <a:ext cx="460858" cy="460858"/>
          </a:xfrm>
          <a:prstGeom prst="rect">
            <a:avLst/>
          </a:prstGeom>
        </p:spPr>
      </p:pic>
      <p:sp>
        <p:nvSpPr>
          <p:cNvPr id="7" name="Text 4"/>
          <p:cNvSpPr txBox="1"/>
          <p:nvPr/>
        </p:nvSpPr>
        <p:spPr>
          <a:xfrm>
            <a:off x="1828800" y="1920240"/>
            <a:ext cx="3657600" cy="320040"/>
          </a:xfrm>
          <a:prstGeom prst="rect">
            <a:avLst/>
          </a:prstGeom>
          <a:noFill/>
          <a:ln/>
        </p:spPr>
        <p:txBody>
          <a:bodyPr wrap="square" lIns="0" tIns="0" rIns="0" bIns="0" rtlCol="0" anchor="t"/>
          <a:lstStyle/>
          <a:p>
            <a:pPr indent="0" marL="0">
              <a:buNone/>
            </a:pPr>
            <a:r>
              <a:rPr lang="en-US" sz="1300" b="1" spc="100" kern="0" dirty="0">
                <a:solidFill>
                  <a:schemeClr val="accent2"/>
                </a:solidFill>
              </a:rPr>
              <a:t>PÚBLICO OBJETIVO</a:t>
            </a:r>
            <a:endParaRPr lang="en-US" sz="1300" dirty="0"/>
          </a:p>
        </p:txBody>
      </p:sp>
      <p:sp>
        <p:nvSpPr>
          <p:cNvPr id="8" name="Text 5"/>
          <p:cNvSpPr txBox="1"/>
          <p:nvPr/>
        </p:nvSpPr>
        <p:spPr>
          <a:xfrm>
            <a:off x="1828800" y="2240280"/>
            <a:ext cx="3657600" cy="411480"/>
          </a:xfrm>
          <a:prstGeom prst="rect">
            <a:avLst/>
          </a:prstGeom>
          <a:noFill/>
          <a:ln/>
        </p:spPr>
        <p:txBody>
          <a:bodyPr wrap="square" lIns="0" tIns="0" rIns="0" bIns="0" rtlCol="0" anchor="t"/>
          <a:lstStyle/>
          <a:p>
            <a:pPr indent="0" marL="0">
              <a:buNone/>
            </a:pPr>
            <a:r>
              <a:rPr lang="en-US" sz="2200" b="1" dirty="0">
                <a:solidFill>
                  <a:schemeClr val="tx2"/>
                </a:solidFill>
              </a:rPr>
              <a:t>Un grupo</a:t>
            </a:r>
            <a:endParaRPr lang="en-US" sz="2200" dirty="0"/>
          </a:p>
        </p:txBody>
      </p:sp>
      <p:sp>
        <p:nvSpPr>
          <p:cNvPr id="9" name="Text 6"/>
          <p:cNvSpPr txBox="1"/>
          <p:nvPr/>
        </p:nvSpPr>
        <p:spPr>
          <a:xfrm>
            <a:off x="868680" y="2971800"/>
            <a:ext cx="457200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Padres de 32 a 45 años</a:t>
            </a:r>
            <a:endParaRPr lang="en-US" sz="1600" dirty="0"/>
          </a:p>
          <a:p>
            <a:pPr marL="342900" indent="-342900">
              <a:spcAft>
                <a:spcPts val="800"/>
              </a:spcAft>
              <a:buSzPct val="100000"/>
              <a:buChar char="•"/>
            </a:pPr>
            <a:r>
              <a:rPr lang="en-US" sz="1600" dirty="0">
                <a:solidFill>
                  <a:schemeClr val="tx1"/>
                </a:solidFill>
              </a:rPr>
              <a:t>NSE A y B de Lima Top y Lima Moderna</a:t>
            </a:r>
            <a:endParaRPr lang="en-US" sz="1600" dirty="0"/>
          </a:p>
          <a:p>
            <a:pPr marL="342900" indent="-342900">
              <a:spcAft>
                <a:spcPts val="800"/>
              </a:spcAft>
              <a:buSzPct val="100000"/>
              <a:buChar char="•"/>
            </a:pPr>
            <a:r>
              <a:rPr lang="en-US" sz="1600" dirty="0">
                <a:solidFill>
                  <a:schemeClr val="tx1"/>
                </a:solidFill>
              </a:rPr>
              <a:t>Hijos de 4 a 11 en colegio privado</a:t>
            </a:r>
            <a:endParaRPr lang="en-US" sz="1600" dirty="0"/>
          </a:p>
          <a:p>
            <a:pPr marL="342900" indent="-342900">
              <a:spcAft>
                <a:spcPts val="800"/>
              </a:spcAft>
              <a:buSzPct val="100000"/>
              <a:buChar char="•"/>
            </a:pPr>
            <a:r>
              <a:rPr lang="en-US" sz="1600" dirty="0">
                <a:solidFill>
                  <a:schemeClr val="tx1"/>
                </a:solidFill>
              </a:rPr>
              <a:t>46,000 hogares núcleo</a:t>
            </a:r>
            <a:endParaRPr lang="en-US" sz="1600" dirty="0"/>
          </a:p>
        </p:txBody>
      </p:sp>
      <p:sp>
        <p:nvSpPr>
          <p:cNvPr id="10" name="Shape 7"/>
          <p:cNvSpPr/>
          <p:nvPr/>
        </p:nvSpPr>
        <p:spPr>
          <a:xfrm>
            <a:off x="5788152" y="3566160"/>
            <a:ext cx="685800" cy="548640"/>
          </a:xfrm>
          <a:prstGeom prst="rightArrow">
            <a:avLst/>
          </a:prstGeom>
          <a:solidFill>
            <a:schemeClr val="accent3"/>
          </a:solidFill>
          <a:ln w="12700">
            <a:solidFill>
              <a:schemeClr val="accent3"/>
            </a:solidFill>
            <a:prstDash val="solid"/>
          </a:ln>
        </p:spPr>
      </p:sp>
      <p:sp>
        <p:nvSpPr>
          <p:cNvPr id="11" name="Shape 8"/>
          <p:cNvSpPr/>
          <p:nvPr/>
        </p:nvSpPr>
        <p:spPr>
          <a:xfrm>
            <a:off x="6583680" y="1600200"/>
            <a:ext cx="5056632" cy="4480560"/>
          </a:xfrm>
          <a:prstGeom prst="roundRect">
            <a:avLst>
              <a:gd name="adj" fmla="val 244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2" name="Shape 9"/>
          <p:cNvSpPr/>
          <p:nvPr/>
        </p:nvSpPr>
        <p:spPr>
          <a:xfrm>
            <a:off x="6858000" y="1874520"/>
            <a:ext cx="822960" cy="822960"/>
          </a:xfrm>
          <a:prstGeom prst="ellipse">
            <a:avLst/>
          </a:prstGeom>
          <a:solidFill>
            <a:schemeClr val="accent1"/>
          </a:solidFill>
          <a:ln w="12700">
            <a:solidFill>
              <a:schemeClr val="accent1"/>
            </a:solidFill>
            <a:prstDash val="solid"/>
          </a:ln>
        </p:spPr>
      </p:sp>
      <p:pic>
        <p:nvPicPr>
          <p:cNvPr id="13" name="Image 1" descr="preencoded.png">    </p:cNvPr>
          <p:cNvPicPr>
            <a:picLocks noChangeAspect="1"/>
          </p:cNvPicPr>
          <p:nvPr/>
        </p:nvPicPr>
        <p:blipFill>
          <a:blip r:embed="rId2"/>
          <a:stretch>
            <a:fillRect/>
          </a:stretch>
        </p:blipFill>
        <p:spPr>
          <a:xfrm>
            <a:off x="7039051" y="2055571"/>
            <a:ext cx="460858" cy="460858"/>
          </a:xfrm>
          <a:prstGeom prst="rect">
            <a:avLst/>
          </a:prstGeom>
        </p:spPr>
      </p:pic>
      <p:sp>
        <p:nvSpPr>
          <p:cNvPr id="14" name="Text 10"/>
          <p:cNvSpPr txBox="1"/>
          <p:nvPr/>
        </p:nvSpPr>
        <p:spPr>
          <a:xfrm>
            <a:off x="7863840" y="1920240"/>
            <a:ext cx="3657600" cy="320040"/>
          </a:xfrm>
          <a:prstGeom prst="rect">
            <a:avLst/>
          </a:prstGeom>
          <a:noFill/>
          <a:ln/>
        </p:spPr>
        <p:txBody>
          <a:bodyPr wrap="square" lIns="0" tIns="0" rIns="0" bIns="0" rtlCol="0" anchor="t"/>
          <a:lstStyle/>
          <a:p>
            <a:pPr indent="0" marL="0">
              <a:buNone/>
            </a:pPr>
            <a:r>
              <a:rPr lang="en-US" sz="1300" b="1" spc="100" kern="0" dirty="0">
                <a:solidFill>
                  <a:schemeClr val="accent3"/>
                </a:solidFill>
              </a:rPr>
              <a:t>ARQUETIPO</a:t>
            </a:r>
            <a:endParaRPr lang="en-US" sz="1300" dirty="0"/>
          </a:p>
        </p:txBody>
      </p:sp>
      <p:sp>
        <p:nvSpPr>
          <p:cNvPr id="15" name="Text 11"/>
          <p:cNvSpPr txBox="1"/>
          <p:nvPr/>
        </p:nvSpPr>
        <p:spPr>
          <a:xfrm>
            <a:off x="7863840" y="2240280"/>
            <a:ext cx="3657600" cy="411480"/>
          </a:xfrm>
          <a:prstGeom prst="rect">
            <a:avLst/>
          </a:prstGeom>
          <a:noFill/>
          <a:ln/>
        </p:spPr>
        <p:txBody>
          <a:bodyPr wrap="square" lIns="0" tIns="0" rIns="0" bIns="0" rtlCol="0" anchor="t"/>
          <a:lstStyle/>
          <a:p>
            <a:pPr indent="0" marL="0">
              <a:buNone/>
            </a:pPr>
            <a:r>
              <a:rPr lang="en-US" sz="2200" b="1" dirty="0">
                <a:solidFill>
                  <a:schemeClr val="bg1"/>
                </a:solidFill>
              </a:rPr>
              <a:t>Una persona</a:t>
            </a:r>
            <a:endParaRPr lang="en-US" sz="2200" dirty="0"/>
          </a:p>
        </p:txBody>
      </p:sp>
      <p:sp>
        <p:nvSpPr>
          <p:cNvPr id="16" name="Text 12"/>
          <p:cNvSpPr txBox="1"/>
          <p:nvPr/>
        </p:nvSpPr>
        <p:spPr>
          <a:xfrm>
            <a:off x="6903720" y="2926080"/>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NOMBRE</a:t>
            </a:r>
            <a:endParaRPr lang="en-US" sz="1100" dirty="0"/>
          </a:p>
        </p:txBody>
      </p:sp>
      <p:sp>
        <p:nvSpPr>
          <p:cNvPr id="17" name="Text 13"/>
          <p:cNvSpPr txBox="1"/>
          <p:nvPr/>
        </p:nvSpPr>
        <p:spPr>
          <a:xfrm>
            <a:off x="6903720" y="3172968"/>
            <a:ext cx="4480560" cy="365760"/>
          </a:xfrm>
          <a:prstGeom prst="rect">
            <a:avLst/>
          </a:prstGeom>
          <a:noFill/>
          <a:ln/>
        </p:spPr>
        <p:txBody>
          <a:bodyPr wrap="square" lIns="0" tIns="0" rIns="0" bIns="0" rtlCol="0" anchor="t"/>
          <a:lstStyle/>
          <a:p>
            <a:pPr indent="0" marL="0">
              <a:buNone/>
            </a:pPr>
            <a:r>
              <a:rPr lang="en-US" sz="1600" b="1" dirty="0">
                <a:solidFill>
                  <a:schemeClr val="bg1"/>
                </a:solidFill>
              </a:rPr>
              <a:t>Claudia, 38, abogada en San Borja</a:t>
            </a:r>
            <a:endParaRPr lang="en-US" sz="1600" dirty="0"/>
          </a:p>
        </p:txBody>
      </p:sp>
      <p:sp>
        <p:nvSpPr>
          <p:cNvPr id="18" name="Text 14"/>
          <p:cNvSpPr txBox="1"/>
          <p:nvPr/>
        </p:nvSpPr>
        <p:spPr>
          <a:xfrm>
            <a:off x="6903720" y="3675888"/>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DOLOR</a:t>
            </a:r>
            <a:endParaRPr lang="en-US" sz="1100" dirty="0"/>
          </a:p>
        </p:txBody>
      </p:sp>
      <p:sp>
        <p:nvSpPr>
          <p:cNvPr id="19" name="Text 15"/>
          <p:cNvSpPr txBox="1"/>
          <p:nvPr/>
        </p:nvSpPr>
        <p:spPr>
          <a:xfrm>
            <a:off x="6903720" y="3922776"/>
            <a:ext cx="4480560" cy="365760"/>
          </a:xfrm>
          <a:prstGeom prst="rect">
            <a:avLst/>
          </a:prstGeom>
          <a:noFill/>
          <a:ln/>
        </p:spPr>
        <p:txBody>
          <a:bodyPr wrap="square" lIns="0" tIns="0" rIns="0" bIns="0" rtlCol="0" anchor="t"/>
          <a:lstStyle/>
          <a:p>
            <a:pPr indent="0" marL="0">
              <a:buNone/>
            </a:pPr>
            <a:r>
              <a:rPr lang="en-US" sz="1600" b="1" dirty="0">
                <a:solidFill>
                  <a:schemeClr val="bg1"/>
                </a:solidFill>
              </a:rPr>
              <a:t>Su hijo escupe lo nutritivo</a:t>
            </a:r>
            <a:endParaRPr lang="en-US" sz="1600" dirty="0"/>
          </a:p>
        </p:txBody>
      </p:sp>
      <p:sp>
        <p:nvSpPr>
          <p:cNvPr id="20" name="Text 16"/>
          <p:cNvSpPr txBox="1"/>
          <p:nvPr/>
        </p:nvSpPr>
        <p:spPr>
          <a:xfrm>
            <a:off x="6903720" y="4425696"/>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HÁBITO</a:t>
            </a:r>
            <a:endParaRPr lang="en-US" sz="1100" dirty="0"/>
          </a:p>
        </p:txBody>
      </p:sp>
      <p:sp>
        <p:nvSpPr>
          <p:cNvPr id="21" name="Text 17"/>
          <p:cNvSpPr txBox="1"/>
          <p:nvPr/>
        </p:nvSpPr>
        <p:spPr>
          <a:xfrm>
            <a:off x="6903720" y="4672584"/>
            <a:ext cx="4480560" cy="365760"/>
          </a:xfrm>
          <a:prstGeom prst="rect">
            <a:avLst/>
          </a:prstGeom>
          <a:noFill/>
          <a:ln/>
        </p:spPr>
        <p:txBody>
          <a:bodyPr wrap="square" lIns="0" tIns="0" rIns="0" bIns="0" rtlCol="0" anchor="t"/>
          <a:lstStyle/>
          <a:p>
            <a:pPr indent="0" marL="0">
              <a:buNone/>
            </a:pPr>
            <a:r>
              <a:rPr lang="en-US" sz="1600" b="1" dirty="0">
                <a:solidFill>
                  <a:schemeClr val="bg1"/>
                </a:solidFill>
              </a:rPr>
              <a:t>Arma 2 loncheras a las 6 a. m.</a:t>
            </a:r>
            <a:endParaRPr lang="en-US" sz="1600" dirty="0"/>
          </a:p>
        </p:txBody>
      </p:sp>
      <p:sp>
        <p:nvSpPr>
          <p:cNvPr id="22" name="Text 18"/>
          <p:cNvSpPr txBox="1"/>
          <p:nvPr/>
        </p:nvSpPr>
        <p:spPr>
          <a:xfrm>
            <a:off x="6903720" y="5175504"/>
            <a:ext cx="4480560" cy="256032"/>
          </a:xfrm>
          <a:prstGeom prst="rect">
            <a:avLst/>
          </a:prstGeom>
          <a:noFill/>
          <a:ln/>
        </p:spPr>
        <p:txBody>
          <a:bodyPr wrap="square" lIns="0" tIns="0" rIns="0" bIns="0" rtlCol="0" anchor="t"/>
          <a:lstStyle/>
          <a:p>
            <a:pPr indent="0" marL="0">
              <a:buNone/>
            </a:pPr>
            <a:r>
              <a:rPr lang="en-US" sz="1100" b="1" spc="100" kern="0" dirty="0">
                <a:solidFill>
                  <a:schemeClr val="accent5"/>
                </a:solidFill>
              </a:rPr>
              <a:t>COMPRA EN</a:t>
            </a:r>
            <a:endParaRPr lang="en-US" sz="1100" dirty="0"/>
          </a:p>
        </p:txBody>
      </p:sp>
      <p:sp>
        <p:nvSpPr>
          <p:cNvPr id="23" name="Text 19"/>
          <p:cNvSpPr txBox="1"/>
          <p:nvPr/>
        </p:nvSpPr>
        <p:spPr>
          <a:xfrm>
            <a:off x="6903720" y="5422392"/>
            <a:ext cx="4480560" cy="365760"/>
          </a:xfrm>
          <a:prstGeom prst="rect">
            <a:avLst/>
          </a:prstGeom>
          <a:noFill/>
          <a:ln/>
        </p:spPr>
        <p:txBody>
          <a:bodyPr wrap="square" lIns="0" tIns="0" rIns="0" bIns="0" rtlCol="0" anchor="t"/>
          <a:lstStyle/>
          <a:p>
            <a:pPr indent="0" marL="0">
              <a:buNone/>
            </a:pPr>
            <a:r>
              <a:rPr lang="en-US" sz="1600" b="1" dirty="0">
                <a:solidFill>
                  <a:schemeClr val="bg1"/>
                </a:solidFill>
              </a:rPr>
              <a:t>Wong, Flora &amp; Fauna e Instagram</a:t>
            </a:r>
            <a:endParaRPr lang="en-US" sz="16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ARQUETIPOS DE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Tres arquetipos: nombre, dolor y hábito</a:t>
            </a:r>
            <a:endParaRPr lang="en-US" sz="3400" dirty="0"/>
          </a:p>
        </p:txBody>
      </p:sp>
      <p:sp>
        <p:nvSpPr>
          <p:cNvPr id="4" name="Shape 2"/>
          <p:cNvSpPr/>
          <p:nvPr/>
        </p:nvSpPr>
        <p:spPr>
          <a:xfrm>
            <a:off x="548640"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28800"/>
            <a:ext cx="731520" cy="73152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83894" y="1989734"/>
            <a:ext cx="409651" cy="409651"/>
          </a:xfrm>
          <a:prstGeom prst="rect">
            <a:avLst/>
          </a:prstGeom>
        </p:spPr>
      </p:pic>
      <p:sp>
        <p:nvSpPr>
          <p:cNvPr id="7" name="Text 4"/>
          <p:cNvSpPr txBox="1"/>
          <p:nvPr/>
        </p:nvSpPr>
        <p:spPr>
          <a:xfrm>
            <a:off x="1691640"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Guardiana del Hierro</a:t>
            </a:r>
            <a:endParaRPr lang="en-US" sz="1900" dirty="0"/>
          </a:p>
        </p:txBody>
      </p:sp>
      <p:sp>
        <p:nvSpPr>
          <p:cNvPr id="8" name="Text 5"/>
          <p:cNvSpPr txBox="1"/>
          <p:nvPr/>
        </p:nvSpPr>
        <p:spPr>
          <a:xfrm>
            <a:off x="1691640"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Mamá de 35 a 42, profesional</a:t>
            </a:r>
            <a:endParaRPr lang="en-US" sz="1200" dirty="0"/>
          </a:p>
        </p:txBody>
      </p:sp>
      <p:sp>
        <p:nvSpPr>
          <p:cNvPr id="9" name="Text 6"/>
          <p:cNvSpPr txBox="1"/>
          <p:nvPr/>
        </p:nvSpPr>
        <p:spPr>
          <a:xfrm>
            <a:off x="822960" y="283464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HÁBITO</a:t>
            </a:r>
            <a:endParaRPr lang="en-US" sz="1100" dirty="0"/>
          </a:p>
        </p:txBody>
      </p:sp>
      <p:sp>
        <p:nvSpPr>
          <p:cNvPr id="10" name="Text 7"/>
          <p:cNvSpPr txBox="1"/>
          <p:nvPr/>
        </p:nvSpPr>
        <p:spPr>
          <a:xfrm>
            <a:off x="822960" y="3063240"/>
            <a:ext cx="2971800" cy="347472"/>
          </a:xfrm>
          <a:prstGeom prst="rect">
            <a:avLst/>
          </a:prstGeom>
          <a:noFill/>
          <a:ln/>
        </p:spPr>
        <p:txBody>
          <a:bodyPr wrap="square" lIns="0" tIns="0" rIns="0" bIns="0" rtlCol="0" anchor="t"/>
          <a:lstStyle/>
          <a:p>
            <a:pPr indent="0" marL="0">
              <a:buNone/>
            </a:pPr>
            <a:r>
              <a:rPr lang="en-US" sz="1500" dirty="0">
                <a:solidFill>
                  <a:schemeClr val="tx1"/>
                </a:solidFill>
              </a:rPr>
              <a:t>Lee etiquetas; pregunta al pediatra</a:t>
            </a:r>
            <a:endParaRPr lang="en-US" sz="1500" dirty="0"/>
          </a:p>
        </p:txBody>
      </p:sp>
      <p:sp>
        <p:nvSpPr>
          <p:cNvPr id="11" name="Text 8"/>
          <p:cNvSpPr txBox="1"/>
          <p:nvPr/>
        </p:nvSpPr>
        <p:spPr>
          <a:xfrm>
            <a:off x="822960" y="347472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DOLOR</a:t>
            </a:r>
            <a:endParaRPr lang="en-US" sz="1100" dirty="0"/>
          </a:p>
        </p:txBody>
      </p:sp>
      <p:sp>
        <p:nvSpPr>
          <p:cNvPr id="12" name="Text 9"/>
          <p:cNvSpPr txBox="1"/>
          <p:nvPr/>
        </p:nvSpPr>
        <p:spPr>
          <a:xfrm>
            <a:off x="822960" y="3703320"/>
            <a:ext cx="2971800" cy="347472"/>
          </a:xfrm>
          <a:prstGeom prst="rect">
            <a:avLst/>
          </a:prstGeom>
          <a:noFill/>
          <a:ln/>
        </p:spPr>
        <p:txBody>
          <a:bodyPr wrap="square" lIns="0" tIns="0" rIns="0" bIns="0" rtlCol="0" anchor="t"/>
          <a:lstStyle/>
          <a:p>
            <a:pPr indent="0" marL="0">
              <a:buNone/>
            </a:pPr>
            <a:r>
              <a:rPr lang="en-US" sz="1500" dirty="0">
                <a:solidFill>
                  <a:schemeClr val="tx1"/>
                </a:solidFill>
              </a:rPr>
              <a:t>Su hijo rechaza lo nutritivo</a:t>
            </a:r>
            <a:endParaRPr lang="en-US" sz="1500" dirty="0"/>
          </a:p>
        </p:txBody>
      </p:sp>
      <p:sp>
        <p:nvSpPr>
          <p:cNvPr id="13" name="Text 10"/>
          <p:cNvSpPr txBox="1"/>
          <p:nvPr/>
        </p:nvSpPr>
        <p:spPr>
          <a:xfrm>
            <a:off x="822960" y="411480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VALORA</a:t>
            </a:r>
            <a:endParaRPr lang="en-US" sz="1100" dirty="0"/>
          </a:p>
        </p:txBody>
      </p:sp>
      <p:sp>
        <p:nvSpPr>
          <p:cNvPr id="14" name="Text 11"/>
          <p:cNvSpPr txBox="1"/>
          <p:nvPr/>
        </p:nvSpPr>
        <p:spPr>
          <a:xfrm>
            <a:off x="822960" y="4343400"/>
            <a:ext cx="2971800" cy="347472"/>
          </a:xfrm>
          <a:prstGeom prst="rect">
            <a:avLst/>
          </a:prstGeom>
          <a:noFill/>
          <a:ln/>
        </p:spPr>
        <p:txBody>
          <a:bodyPr wrap="square" lIns="0" tIns="0" rIns="0" bIns="0" rtlCol="0" anchor="t"/>
          <a:lstStyle/>
          <a:p>
            <a:pPr indent="0" marL="0">
              <a:buNone/>
            </a:pPr>
            <a:r>
              <a:rPr lang="en-US" sz="1500" dirty="0">
                <a:solidFill>
                  <a:schemeClr val="tx1"/>
                </a:solidFill>
              </a:rPr>
              <a:t>Pruebas: hierro en mg</a:t>
            </a:r>
            <a:endParaRPr lang="en-US" sz="1500" dirty="0"/>
          </a:p>
        </p:txBody>
      </p:sp>
      <p:sp>
        <p:nvSpPr>
          <p:cNvPr id="15" name="Text 12"/>
          <p:cNvSpPr txBox="1"/>
          <p:nvPr/>
        </p:nvSpPr>
        <p:spPr>
          <a:xfrm>
            <a:off x="822960" y="475488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COMPRA EN</a:t>
            </a:r>
            <a:endParaRPr lang="en-US" sz="1100" dirty="0"/>
          </a:p>
        </p:txBody>
      </p:sp>
      <p:sp>
        <p:nvSpPr>
          <p:cNvPr id="16" name="Text 13"/>
          <p:cNvSpPr txBox="1"/>
          <p:nvPr/>
        </p:nvSpPr>
        <p:spPr>
          <a:xfrm>
            <a:off x="822960" y="4983480"/>
            <a:ext cx="2971800" cy="347472"/>
          </a:xfrm>
          <a:prstGeom prst="rect">
            <a:avLst/>
          </a:prstGeom>
          <a:noFill/>
          <a:ln/>
        </p:spPr>
        <p:txBody>
          <a:bodyPr wrap="square" lIns="0" tIns="0" rIns="0" bIns="0" rtlCol="0" anchor="t"/>
          <a:lstStyle/>
          <a:p>
            <a:pPr indent="0" marL="0">
              <a:buNone/>
            </a:pPr>
            <a:r>
              <a:rPr lang="en-US" sz="1500" dirty="0">
                <a:solidFill>
                  <a:schemeClr val="tx1"/>
                </a:solidFill>
              </a:rPr>
              <a:t>Wong, Flora &amp; Fauna, Instagram</a:t>
            </a:r>
            <a:endParaRPr lang="en-US" sz="1500" dirty="0"/>
          </a:p>
        </p:txBody>
      </p:sp>
      <p:sp>
        <p:nvSpPr>
          <p:cNvPr id="17" name="Text 14"/>
          <p:cNvSpPr txBox="1"/>
          <p:nvPr/>
        </p:nvSpPr>
        <p:spPr>
          <a:xfrm>
            <a:off x="822960" y="5376672"/>
            <a:ext cx="1554480" cy="685800"/>
          </a:xfrm>
          <a:prstGeom prst="rect">
            <a:avLst/>
          </a:prstGeom>
          <a:noFill/>
          <a:ln/>
        </p:spPr>
        <p:txBody>
          <a:bodyPr wrap="square" lIns="0" tIns="0" rIns="0" bIns="0" rtlCol="0" anchor="t"/>
          <a:lstStyle/>
          <a:p>
            <a:pPr indent="0" marL="0">
              <a:buNone/>
            </a:pPr>
            <a:r>
              <a:rPr lang="en-US" sz="3000" b="1" dirty="0">
                <a:solidFill>
                  <a:schemeClr val="accent1"/>
                </a:solidFill>
              </a:rPr>
              <a:t>30 %</a:t>
            </a:r>
            <a:endParaRPr lang="en-US" sz="1400" dirty="0"/>
          </a:p>
          <a:p>
            <a:pPr indent="0" marL="0">
              <a:buNone/>
            </a:pPr>
            <a:r>
              <a:rPr lang="en-US" sz="1100" dirty="0">
                <a:solidFill>
                  <a:schemeClr val="accent2"/>
                </a:solidFill>
              </a:rPr>
              <a:t>del volumen</a:t>
            </a:r>
            <a:endParaRPr lang="en-US" sz="1400" dirty="0"/>
          </a:p>
        </p:txBody>
      </p:sp>
      <p:sp>
        <p:nvSpPr>
          <p:cNvPr id="18" name="Shape 15"/>
          <p:cNvSpPr/>
          <p:nvPr/>
        </p:nvSpPr>
        <p:spPr>
          <a:xfrm>
            <a:off x="2331720" y="5486400"/>
            <a:ext cx="1463040" cy="384048"/>
          </a:xfrm>
          <a:prstGeom prst="roundRect">
            <a:avLst>
              <a:gd name="adj" fmla="val 50000"/>
            </a:avLst>
          </a:prstGeom>
          <a:solidFill>
            <a:schemeClr val="bg2"/>
          </a:solidFill>
          <a:ln w="12700">
            <a:solidFill>
              <a:schemeClr val="accent5"/>
            </a:solidFill>
            <a:prstDash val="solid"/>
          </a:ln>
        </p:spPr>
      </p:sp>
      <p:sp>
        <p:nvSpPr>
          <p:cNvPr id="19" name="Text 16"/>
          <p:cNvSpPr txBox="1"/>
          <p:nvPr/>
        </p:nvSpPr>
        <p:spPr>
          <a:xfrm>
            <a:off x="2331720"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Buyer persona: Claudia</a:t>
            </a:r>
            <a:endParaRPr lang="en-US" sz="1100" dirty="0"/>
          </a:p>
        </p:txBody>
      </p:sp>
      <p:sp>
        <p:nvSpPr>
          <p:cNvPr id="20" name="Shape 17"/>
          <p:cNvSpPr/>
          <p:nvPr/>
        </p:nvSpPr>
        <p:spPr>
          <a:xfrm>
            <a:off x="4334256"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8"/>
          <p:cNvSpPr/>
          <p:nvPr/>
        </p:nvSpPr>
        <p:spPr>
          <a:xfrm>
            <a:off x="4608576" y="1828800"/>
            <a:ext cx="731520" cy="731520"/>
          </a:xfrm>
          <a:prstGeom prst="ellipse">
            <a:avLst/>
          </a:prstGeom>
          <a:solidFill>
            <a:schemeClr val="accent2"/>
          </a:solidFill>
          <a:ln w="12700">
            <a:solidFill>
              <a:schemeClr val="accent2"/>
            </a:solidFill>
            <a:prstDash val="solid"/>
          </a:ln>
        </p:spPr>
      </p:sp>
      <p:pic>
        <p:nvPicPr>
          <p:cNvPr id="22" name="Image 1" descr="preencoded.png">    </p:cNvPr>
          <p:cNvPicPr>
            <a:picLocks noChangeAspect="1"/>
          </p:cNvPicPr>
          <p:nvPr/>
        </p:nvPicPr>
        <p:blipFill>
          <a:blip r:embed="rId2"/>
          <a:stretch>
            <a:fillRect/>
          </a:stretch>
        </p:blipFill>
        <p:spPr>
          <a:xfrm>
            <a:off x="4769510" y="1989734"/>
            <a:ext cx="409651" cy="409651"/>
          </a:xfrm>
          <a:prstGeom prst="rect">
            <a:avLst/>
          </a:prstGeom>
        </p:spPr>
      </p:pic>
      <p:sp>
        <p:nvSpPr>
          <p:cNvPr id="23" name="Text 19"/>
          <p:cNvSpPr txBox="1"/>
          <p:nvPr/>
        </p:nvSpPr>
        <p:spPr>
          <a:xfrm>
            <a:off x="5477256"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El Resolutivo</a:t>
            </a:r>
            <a:endParaRPr lang="en-US" sz="1900" dirty="0"/>
          </a:p>
        </p:txBody>
      </p:sp>
      <p:sp>
        <p:nvSpPr>
          <p:cNvPr id="24" name="Text 20"/>
          <p:cNvSpPr txBox="1"/>
          <p:nvPr/>
        </p:nvSpPr>
        <p:spPr>
          <a:xfrm>
            <a:off x="5477256"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Papá o mamá de 38 a 45, gerente</a:t>
            </a:r>
            <a:endParaRPr lang="en-US" sz="1200" dirty="0"/>
          </a:p>
        </p:txBody>
      </p:sp>
      <p:sp>
        <p:nvSpPr>
          <p:cNvPr id="25" name="Text 21"/>
          <p:cNvSpPr txBox="1"/>
          <p:nvPr/>
        </p:nvSpPr>
        <p:spPr>
          <a:xfrm>
            <a:off x="4608576" y="283464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HÁBITO</a:t>
            </a:r>
            <a:endParaRPr lang="en-US" sz="1100" dirty="0"/>
          </a:p>
        </p:txBody>
      </p:sp>
      <p:sp>
        <p:nvSpPr>
          <p:cNvPr id="26" name="Text 22"/>
          <p:cNvSpPr txBox="1"/>
          <p:nvPr/>
        </p:nvSpPr>
        <p:spPr>
          <a:xfrm>
            <a:off x="4608576" y="3063240"/>
            <a:ext cx="2971800" cy="347472"/>
          </a:xfrm>
          <a:prstGeom prst="rect">
            <a:avLst/>
          </a:prstGeom>
          <a:noFill/>
          <a:ln/>
        </p:spPr>
        <p:txBody>
          <a:bodyPr wrap="square" lIns="0" tIns="0" rIns="0" bIns="0" rtlCol="0" anchor="t"/>
          <a:lstStyle/>
          <a:p>
            <a:pPr indent="0" marL="0">
              <a:buNone/>
            </a:pPr>
            <a:r>
              <a:rPr lang="en-US" sz="1500" dirty="0">
                <a:solidFill>
                  <a:schemeClr val="tx1"/>
                </a:solidFill>
              </a:rPr>
              <a:t>Compra por app y en el súper</a:t>
            </a:r>
            <a:endParaRPr lang="en-US" sz="1500" dirty="0"/>
          </a:p>
        </p:txBody>
      </p:sp>
      <p:sp>
        <p:nvSpPr>
          <p:cNvPr id="27" name="Text 23"/>
          <p:cNvSpPr txBox="1"/>
          <p:nvPr/>
        </p:nvSpPr>
        <p:spPr>
          <a:xfrm>
            <a:off x="4608576" y="347472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DOLOR</a:t>
            </a:r>
            <a:endParaRPr lang="en-US" sz="1100" dirty="0"/>
          </a:p>
        </p:txBody>
      </p:sp>
      <p:sp>
        <p:nvSpPr>
          <p:cNvPr id="28" name="Text 24"/>
          <p:cNvSpPr txBox="1"/>
          <p:nvPr/>
        </p:nvSpPr>
        <p:spPr>
          <a:xfrm>
            <a:off x="4608576" y="3703320"/>
            <a:ext cx="2971800" cy="347472"/>
          </a:xfrm>
          <a:prstGeom prst="rect">
            <a:avLst/>
          </a:prstGeom>
          <a:noFill/>
          <a:ln/>
        </p:spPr>
        <p:txBody>
          <a:bodyPr wrap="square" lIns="0" tIns="0" rIns="0" bIns="0" rtlCol="0" anchor="t"/>
          <a:lstStyle/>
          <a:p>
            <a:pPr indent="0" marL="0">
              <a:buNone/>
            </a:pPr>
            <a:r>
              <a:rPr lang="en-US" sz="1500" dirty="0">
                <a:solidFill>
                  <a:schemeClr val="tx1"/>
                </a:solidFill>
              </a:rPr>
              <a:t>Mañanas contra el reloj</a:t>
            </a:r>
            <a:endParaRPr lang="en-US" sz="1500" dirty="0"/>
          </a:p>
        </p:txBody>
      </p:sp>
      <p:sp>
        <p:nvSpPr>
          <p:cNvPr id="29" name="Text 25"/>
          <p:cNvSpPr txBox="1"/>
          <p:nvPr/>
        </p:nvSpPr>
        <p:spPr>
          <a:xfrm>
            <a:off x="4608576" y="411480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VALORA</a:t>
            </a:r>
            <a:endParaRPr lang="en-US" sz="1100" dirty="0"/>
          </a:p>
        </p:txBody>
      </p:sp>
      <p:sp>
        <p:nvSpPr>
          <p:cNvPr id="30" name="Text 26"/>
          <p:cNvSpPr txBox="1"/>
          <p:nvPr/>
        </p:nvSpPr>
        <p:spPr>
          <a:xfrm>
            <a:off x="4608576" y="4343400"/>
            <a:ext cx="2971800" cy="347472"/>
          </a:xfrm>
          <a:prstGeom prst="rect">
            <a:avLst/>
          </a:prstGeom>
          <a:noFill/>
          <a:ln/>
        </p:spPr>
        <p:txBody>
          <a:bodyPr wrap="square" lIns="0" tIns="0" rIns="0" bIns="0" rtlCol="0" anchor="t"/>
          <a:lstStyle/>
          <a:p>
            <a:pPr indent="0" marL="0">
              <a:buNone/>
            </a:pPr>
            <a:r>
              <a:rPr lang="en-US" sz="1500" dirty="0">
                <a:solidFill>
                  <a:schemeClr val="tx1"/>
                </a:solidFill>
              </a:rPr>
              <a:t>Rapidez y practicidad</a:t>
            </a:r>
            <a:endParaRPr lang="en-US" sz="1500" dirty="0"/>
          </a:p>
        </p:txBody>
      </p:sp>
      <p:sp>
        <p:nvSpPr>
          <p:cNvPr id="31" name="Text 27"/>
          <p:cNvSpPr txBox="1"/>
          <p:nvPr/>
        </p:nvSpPr>
        <p:spPr>
          <a:xfrm>
            <a:off x="4608576" y="475488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COMPRA EN</a:t>
            </a:r>
            <a:endParaRPr lang="en-US" sz="1100" dirty="0"/>
          </a:p>
        </p:txBody>
      </p:sp>
      <p:sp>
        <p:nvSpPr>
          <p:cNvPr id="32" name="Text 28"/>
          <p:cNvSpPr txBox="1"/>
          <p:nvPr/>
        </p:nvSpPr>
        <p:spPr>
          <a:xfrm>
            <a:off x="4608576" y="4983480"/>
            <a:ext cx="2971800" cy="347472"/>
          </a:xfrm>
          <a:prstGeom prst="rect">
            <a:avLst/>
          </a:prstGeom>
          <a:noFill/>
          <a:ln/>
        </p:spPr>
        <p:txBody>
          <a:bodyPr wrap="square" lIns="0" tIns="0" rIns="0" bIns="0" rtlCol="0" anchor="t"/>
          <a:lstStyle/>
          <a:p>
            <a:pPr indent="0" marL="0">
              <a:buNone/>
            </a:pPr>
            <a:r>
              <a:rPr lang="en-US" sz="1500" dirty="0">
                <a:solidFill>
                  <a:schemeClr val="tx1"/>
                </a:solidFill>
              </a:rPr>
              <a:t>Supermercado y WhatsApp</a:t>
            </a:r>
            <a:endParaRPr lang="en-US" sz="1500" dirty="0"/>
          </a:p>
        </p:txBody>
      </p:sp>
      <p:sp>
        <p:nvSpPr>
          <p:cNvPr id="33" name="Text 29"/>
          <p:cNvSpPr txBox="1"/>
          <p:nvPr/>
        </p:nvSpPr>
        <p:spPr>
          <a:xfrm>
            <a:off x="4608576" y="5376672"/>
            <a:ext cx="1554480" cy="685800"/>
          </a:xfrm>
          <a:prstGeom prst="rect">
            <a:avLst/>
          </a:prstGeom>
          <a:noFill/>
          <a:ln/>
        </p:spPr>
        <p:txBody>
          <a:bodyPr wrap="square" lIns="0" tIns="0" rIns="0" bIns="0" rtlCol="0" anchor="t"/>
          <a:lstStyle/>
          <a:p>
            <a:pPr indent="0" marL="0">
              <a:buNone/>
            </a:pPr>
            <a:r>
              <a:rPr lang="en-US" sz="3000" b="1" dirty="0">
                <a:solidFill>
                  <a:schemeClr val="accent2"/>
                </a:solidFill>
              </a:rPr>
              <a:t>45 %</a:t>
            </a:r>
            <a:endParaRPr lang="en-US" sz="1400" dirty="0"/>
          </a:p>
          <a:p>
            <a:pPr indent="0" marL="0">
              <a:buNone/>
            </a:pPr>
            <a:r>
              <a:rPr lang="en-US" sz="1100" dirty="0">
                <a:solidFill>
                  <a:schemeClr val="accent2"/>
                </a:solidFill>
              </a:rPr>
              <a:t>del volumen</a:t>
            </a:r>
            <a:endParaRPr lang="en-US" sz="1400" dirty="0"/>
          </a:p>
        </p:txBody>
      </p:sp>
      <p:sp>
        <p:nvSpPr>
          <p:cNvPr id="34" name="Shape 30"/>
          <p:cNvSpPr/>
          <p:nvPr/>
        </p:nvSpPr>
        <p:spPr>
          <a:xfrm>
            <a:off x="6117336" y="5486400"/>
            <a:ext cx="1463040" cy="384048"/>
          </a:xfrm>
          <a:prstGeom prst="roundRect">
            <a:avLst>
              <a:gd name="adj" fmla="val 50000"/>
            </a:avLst>
          </a:prstGeom>
          <a:solidFill>
            <a:schemeClr val="bg2"/>
          </a:solidFill>
          <a:ln w="12700">
            <a:solidFill>
              <a:schemeClr val="accent5"/>
            </a:solidFill>
            <a:prstDash val="solid"/>
          </a:ln>
        </p:spPr>
      </p:sp>
      <p:sp>
        <p:nvSpPr>
          <p:cNvPr id="35" name="Text 31"/>
          <p:cNvSpPr txBox="1"/>
          <p:nvPr/>
        </p:nvSpPr>
        <p:spPr>
          <a:xfrm>
            <a:off x="6117336"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Buyer persona: Rodrigo</a:t>
            </a:r>
            <a:endParaRPr lang="en-US" sz="1100" dirty="0"/>
          </a:p>
        </p:txBody>
      </p:sp>
      <p:sp>
        <p:nvSpPr>
          <p:cNvPr id="36" name="Shape 32"/>
          <p:cNvSpPr/>
          <p:nvPr/>
        </p:nvSpPr>
        <p:spPr>
          <a:xfrm>
            <a:off x="8119872" y="1554480"/>
            <a:ext cx="3520440" cy="4572000"/>
          </a:xfrm>
          <a:prstGeom prst="roundRect">
            <a:avLst>
              <a:gd name="adj" fmla="val 31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7" name="Shape 33"/>
          <p:cNvSpPr/>
          <p:nvPr/>
        </p:nvSpPr>
        <p:spPr>
          <a:xfrm>
            <a:off x="8394192" y="1828800"/>
            <a:ext cx="731520" cy="731520"/>
          </a:xfrm>
          <a:prstGeom prst="ellipse">
            <a:avLst/>
          </a:prstGeom>
          <a:solidFill>
            <a:schemeClr val="accent4"/>
          </a:solidFill>
          <a:ln w="12700">
            <a:solidFill>
              <a:schemeClr val="accent4"/>
            </a:solidFill>
            <a:prstDash val="solid"/>
          </a:ln>
        </p:spPr>
      </p:sp>
      <p:pic>
        <p:nvPicPr>
          <p:cNvPr id="38" name="Image 2" descr="preencoded.png">    </p:cNvPr>
          <p:cNvPicPr>
            <a:picLocks noChangeAspect="1"/>
          </p:cNvPicPr>
          <p:nvPr/>
        </p:nvPicPr>
        <p:blipFill>
          <a:blip r:embed="rId3"/>
          <a:stretch>
            <a:fillRect/>
          </a:stretch>
        </p:blipFill>
        <p:spPr>
          <a:xfrm>
            <a:off x="8555126" y="1989734"/>
            <a:ext cx="409651" cy="409651"/>
          </a:xfrm>
          <a:prstGeom prst="rect">
            <a:avLst/>
          </a:prstGeom>
        </p:spPr>
      </p:pic>
      <p:sp>
        <p:nvSpPr>
          <p:cNvPr id="39" name="Text 34"/>
          <p:cNvSpPr txBox="1"/>
          <p:nvPr/>
        </p:nvSpPr>
        <p:spPr>
          <a:xfrm>
            <a:off x="9262872" y="1828800"/>
            <a:ext cx="2194560" cy="411480"/>
          </a:xfrm>
          <a:prstGeom prst="rect">
            <a:avLst/>
          </a:prstGeom>
          <a:noFill/>
          <a:ln/>
        </p:spPr>
        <p:txBody>
          <a:bodyPr wrap="square" lIns="0" tIns="0" rIns="0" bIns="0" rtlCol="0" anchor="t"/>
          <a:lstStyle/>
          <a:p>
            <a:pPr indent="0" marL="0">
              <a:buNone/>
            </a:pPr>
            <a:r>
              <a:rPr lang="en-US" sz="1900" b="1" dirty="0">
                <a:solidFill>
                  <a:schemeClr val="tx2"/>
                </a:solidFill>
              </a:rPr>
              <a:t>El Prescriptor (B2B)</a:t>
            </a:r>
            <a:endParaRPr lang="en-US" sz="1900" dirty="0"/>
          </a:p>
        </p:txBody>
      </p:sp>
      <p:sp>
        <p:nvSpPr>
          <p:cNvPr id="40" name="Text 35"/>
          <p:cNvSpPr txBox="1"/>
          <p:nvPr/>
        </p:nvSpPr>
        <p:spPr>
          <a:xfrm>
            <a:off x="9262872" y="2267712"/>
            <a:ext cx="2194560" cy="320040"/>
          </a:xfrm>
          <a:prstGeom prst="rect">
            <a:avLst/>
          </a:prstGeom>
          <a:noFill/>
          <a:ln/>
        </p:spPr>
        <p:txBody>
          <a:bodyPr wrap="square" lIns="0" tIns="0" rIns="0" bIns="0" rtlCol="0" anchor="t"/>
          <a:lstStyle/>
          <a:p>
            <a:pPr indent="0" marL="0">
              <a:buNone/>
            </a:pPr>
            <a:r>
              <a:rPr lang="en-US" sz="1200" dirty="0">
                <a:solidFill>
                  <a:schemeClr val="accent2"/>
                </a:solidFill>
              </a:rPr>
              <a:t>Quiosco, nutricionista, pediatra</a:t>
            </a:r>
            <a:endParaRPr lang="en-US" sz="1200" dirty="0"/>
          </a:p>
        </p:txBody>
      </p:sp>
      <p:sp>
        <p:nvSpPr>
          <p:cNvPr id="41" name="Text 36"/>
          <p:cNvSpPr txBox="1"/>
          <p:nvPr/>
        </p:nvSpPr>
        <p:spPr>
          <a:xfrm>
            <a:off x="8394192" y="283464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HÁBITO</a:t>
            </a:r>
            <a:endParaRPr lang="en-US" sz="1100" dirty="0"/>
          </a:p>
        </p:txBody>
      </p:sp>
      <p:sp>
        <p:nvSpPr>
          <p:cNvPr id="42" name="Text 37"/>
          <p:cNvSpPr txBox="1"/>
          <p:nvPr/>
        </p:nvSpPr>
        <p:spPr>
          <a:xfrm>
            <a:off x="8394192" y="3063240"/>
            <a:ext cx="2971800" cy="347472"/>
          </a:xfrm>
          <a:prstGeom prst="rect">
            <a:avLst/>
          </a:prstGeom>
          <a:noFill/>
          <a:ln/>
        </p:spPr>
        <p:txBody>
          <a:bodyPr wrap="square" lIns="0" tIns="0" rIns="0" bIns="0" rtlCol="0" anchor="t"/>
          <a:lstStyle/>
          <a:p>
            <a:pPr indent="0" marL="0">
              <a:buNone/>
            </a:pPr>
            <a:r>
              <a:rPr lang="en-US" sz="1500" dirty="0">
                <a:solidFill>
                  <a:schemeClr val="tx1"/>
                </a:solidFill>
              </a:rPr>
              <a:t>Elige qué entra al colegio</a:t>
            </a:r>
            <a:endParaRPr lang="en-US" sz="1500" dirty="0"/>
          </a:p>
        </p:txBody>
      </p:sp>
      <p:sp>
        <p:nvSpPr>
          <p:cNvPr id="43" name="Text 38"/>
          <p:cNvSpPr txBox="1"/>
          <p:nvPr/>
        </p:nvSpPr>
        <p:spPr>
          <a:xfrm>
            <a:off x="8394192" y="347472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DOLOR</a:t>
            </a:r>
            <a:endParaRPr lang="en-US" sz="1100" dirty="0"/>
          </a:p>
        </p:txBody>
      </p:sp>
      <p:sp>
        <p:nvSpPr>
          <p:cNvPr id="44" name="Text 39"/>
          <p:cNvSpPr txBox="1"/>
          <p:nvPr/>
        </p:nvSpPr>
        <p:spPr>
          <a:xfrm>
            <a:off x="8394192" y="3703320"/>
            <a:ext cx="2971800" cy="347472"/>
          </a:xfrm>
          <a:prstGeom prst="rect">
            <a:avLst/>
          </a:prstGeom>
          <a:noFill/>
          <a:ln/>
        </p:spPr>
        <p:txBody>
          <a:bodyPr wrap="square" lIns="0" tIns="0" rIns="0" bIns="0" rtlCol="0" anchor="t"/>
          <a:lstStyle/>
          <a:p>
            <a:pPr indent="0" marL="0">
              <a:buNone/>
            </a:pPr>
            <a:r>
              <a:rPr lang="en-US" sz="1500" dirty="0">
                <a:solidFill>
                  <a:schemeClr val="tx1"/>
                </a:solidFill>
              </a:rPr>
              <a:t>Productos con octógono</a:t>
            </a:r>
            <a:endParaRPr lang="en-US" sz="1500" dirty="0"/>
          </a:p>
        </p:txBody>
      </p:sp>
      <p:sp>
        <p:nvSpPr>
          <p:cNvPr id="45" name="Text 40"/>
          <p:cNvSpPr txBox="1"/>
          <p:nvPr/>
        </p:nvSpPr>
        <p:spPr>
          <a:xfrm>
            <a:off x="8394192" y="411480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VALORA</a:t>
            </a:r>
            <a:endParaRPr lang="en-US" sz="1100" dirty="0"/>
          </a:p>
        </p:txBody>
      </p:sp>
      <p:sp>
        <p:nvSpPr>
          <p:cNvPr id="46" name="Text 41"/>
          <p:cNvSpPr txBox="1"/>
          <p:nvPr/>
        </p:nvSpPr>
        <p:spPr>
          <a:xfrm>
            <a:off x="8394192" y="4343400"/>
            <a:ext cx="2971800" cy="347472"/>
          </a:xfrm>
          <a:prstGeom prst="rect">
            <a:avLst/>
          </a:prstGeom>
          <a:noFill/>
          <a:ln/>
        </p:spPr>
        <p:txBody>
          <a:bodyPr wrap="square" lIns="0" tIns="0" rIns="0" bIns="0" rtlCol="0" anchor="t"/>
          <a:lstStyle/>
          <a:p>
            <a:pPr indent="0" marL="0">
              <a:buNone/>
            </a:pPr>
            <a:r>
              <a:rPr lang="en-US" sz="1500" dirty="0">
                <a:solidFill>
                  <a:schemeClr val="tx1"/>
                </a:solidFill>
              </a:rPr>
              <a:t>Norma y registro sanitario</a:t>
            </a:r>
            <a:endParaRPr lang="en-US" sz="1500" dirty="0"/>
          </a:p>
        </p:txBody>
      </p:sp>
      <p:sp>
        <p:nvSpPr>
          <p:cNvPr id="47" name="Text 42"/>
          <p:cNvSpPr txBox="1"/>
          <p:nvPr/>
        </p:nvSpPr>
        <p:spPr>
          <a:xfrm>
            <a:off x="8394192" y="4754880"/>
            <a:ext cx="2971800"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COMPRA EN</a:t>
            </a:r>
            <a:endParaRPr lang="en-US" sz="1100" dirty="0"/>
          </a:p>
        </p:txBody>
      </p:sp>
      <p:sp>
        <p:nvSpPr>
          <p:cNvPr id="48" name="Text 43"/>
          <p:cNvSpPr txBox="1"/>
          <p:nvPr/>
        </p:nvSpPr>
        <p:spPr>
          <a:xfrm>
            <a:off x="8394192" y="4983480"/>
            <a:ext cx="2971800" cy="347472"/>
          </a:xfrm>
          <a:prstGeom prst="rect">
            <a:avLst/>
          </a:prstGeom>
          <a:noFill/>
          <a:ln/>
        </p:spPr>
        <p:txBody>
          <a:bodyPr wrap="square" lIns="0" tIns="0" rIns="0" bIns="0" rtlCol="0" anchor="t"/>
          <a:lstStyle/>
          <a:p>
            <a:pPr indent="0" marL="0">
              <a:buNone/>
            </a:pPr>
            <a:r>
              <a:rPr lang="en-US" sz="1500" dirty="0">
                <a:solidFill>
                  <a:schemeClr val="tx1"/>
                </a:solidFill>
              </a:rPr>
              <a:t>Directo al productor</a:t>
            </a:r>
            <a:endParaRPr lang="en-US" sz="1500" dirty="0"/>
          </a:p>
        </p:txBody>
      </p:sp>
      <p:sp>
        <p:nvSpPr>
          <p:cNvPr id="49" name="Text 44"/>
          <p:cNvSpPr txBox="1"/>
          <p:nvPr/>
        </p:nvSpPr>
        <p:spPr>
          <a:xfrm>
            <a:off x="8394192" y="5376672"/>
            <a:ext cx="1554480" cy="685800"/>
          </a:xfrm>
          <a:prstGeom prst="rect">
            <a:avLst/>
          </a:prstGeom>
          <a:noFill/>
          <a:ln/>
        </p:spPr>
        <p:txBody>
          <a:bodyPr wrap="square" lIns="0" tIns="0" rIns="0" bIns="0" rtlCol="0" anchor="t"/>
          <a:lstStyle/>
          <a:p>
            <a:pPr indent="0" marL="0">
              <a:buNone/>
            </a:pPr>
            <a:r>
              <a:rPr lang="en-US" sz="3000" b="1" dirty="0">
                <a:solidFill>
                  <a:schemeClr val="accent4"/>
                </a:solidFill>
              </a:rPr>
              <a:t>25 %</a:t>
            </a:r>
            <a:endParaRPr lang="en-US" sz="1400" dirty="0"/>
          </a:p>
          <a:p>
            <a:pPr indent="0" marL="0">
              <a:buNone/>
            </a:pPr>
            <a:r>
              <a:rPr lang="en-US" sz="1100" dirty="0">
                <a:solidFill>
                  <a:schemeClr val="accent2"/>
                </a:solidFill>
              </a:rPr>
              <a:t>del volumen</a:t>
            </a:r>
            <a:endParaRPr lang="en-US" sz="1400" dirty="0"/>
          </a:p>
        </p:txBody>
      </p:sp>
      <p:sp>
        <p:nvSpPr>
          <p:cNvPr id="50" name="Shape 45"/>
          <p:cNvSpPr/>
          <p:nvPr/>
        </p:nvSpPr>
        <p:spPr>
          <a:xfrm>
            <a:off x="9902952" y="5486400"/>
            <a:ext cx="1463040" cy="384048"/>
          </a:xfrm>
          <a:prstGeom prst="roundRect">
            <a:avLst>
              <a:gd name="adj" fmla="val 50000"/>
            </a:avLst>
          </a:prstGeom>
          <a:solidFill>
            <a:schemeClr val="bg2"/>
          </a:solidFill>
          <a:ln w="12700">
            <a:solidFill>
              <a:schemeClr val="accent5"/>
            </a:solidFill>
            <a:prstDash val="solid"/>
          </a:ln>
        </p:spPr>
      </p:sp>
      <p:sp>
        <p:nvSpPr>
          <p:cNvPr id="51" name="Text 46"/>
          <p:cNvSpPr txBox="1"/>
          <p:nvPr/>
        </p:nvSpPr>
        <p:spPr>
          <a:xfrm>
            <a:off x="9902952" y="5486400"/>
            <a:ext cx="1463040" cy="384048"/>
          </a:xfrm>
          <a:prstGeom prst="rect">
            <a:avLst/>
          </a:prstGeom>
          <a:noFill/>
          <a:ln/>
        </p:spPr>
        <p:txBody>
          <a:bodyPr wrap="square" lIns="0" tIns="0" rIns="0" bIns="0" rtlCol="0" anchor="ctr"/>
          <a:lstStyle/>
          <a:p>
            <a:pPr algn="ctr" indent="0" marL="0">
              <a:buNone/>
            </a:pPr>
            <a:r>
              <a:rPr lang="en-US" sz="1100" b="1" dirty="0">
                <a:solidFill>
                  <a:schemeClr val="tx2"/>
                </a:solidFill>
              </a:rPr>
              <a:t>Valida la marca</a:t>
            </a:r>
            <a:endParaRPr lang="en-US" sz="11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BUYER PERSONA PRINCIPAL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Claudia Mendoza</a:t>
            </a:r>
            <a:endParaRPr lang="en-US" sz="3400" dirty="0"/>
          </a:p>
        </p:txBody>
      </p:sp>
      <p:sp>
        <p:nvSpPr>
          <p:cNvPr id="4" name="IMAGEN_1"/>
          <p:cNvSpPr/>
          <p:nvPr/>
        </p:nvSpPr>
        <p:spPr>
          <a:xfrm>
            <a:off x="548640" y="1463040"/>
            <a:ext cx="3383280" cy="4663440"/>
          </a:xfrm>
          <a:prstGeom prst="roundRect">
            <a:avLst>
              <a:gd name="adj" fmla="val 4054"/>
            </a:avLst>
          </a:prstGeom>
          <a:solidFill>
            <a:srgbClr val="F0E2CF"/>
          </a:solidFill>
          <a:ln w="19050">
            <a:solidFill>
              <a:schemeClr val="accent5"/>
            </a:solidFill>
            <a:prstDash val="dash"/>
          </a:ln>
        </p:spPr>
      </p:sp>
      <p:pic>
        <p:nvPicPr>
          <p:cNvPr id="5" name="Image 0" descr="preencoded.png">    </p:cNvPr>
          <p:cNvPicPr>
            <a:picLocks noChangeAspect="1"/>
          </p:cNvPicPr>
          <p:nvPr/>
        </p:nvPicPr>
        <p:blipFill>
          <a:blip r:embed="rId1"/>
          <a:stretch>
            <a:fillRect/>
          </a:stretch>
        </p:blipFill>
        <p:spPr>
          <a:xfrm>
            <a:off x="1874520" y="2880360"/>
            <a:ext cx="731520" cy="731520"/>
          </a:xfrm>
          <a:prstGeom prst="rect">
            <a:avLst/>
          </a:prstGeom>
        </p:spPr>
      </p:pic>
      <p:sp>
        <p:nvSpPr>
          <p:cNvPr id="6" name="Text 3"/>
          <p:cNvSpPr txBox="1"/>
          <p:nvPr/>
        </p:nvSpPr>
        <p:spPr>
          <a:xfrm>
            <a:off x="731520" y="3794760"/>
            <a:ext cx="3017520"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1</a:t>
            </a:r>
            <a:endParaRPr lang="en-US" sz="1400" dirty="0"/>
          </a:p>
          <a:p>
            <a:pPr algn="ctr" indent="0" marL="0">
              <a:buNone/>
            </a:pPr>
            <a:r>
              <a:rPr lang="en-US" sz="1300" dirty="0">
                <a:solidFill>
                  <a:schemeClr val="accent2"/>
                </a:solidFill>
              </a:rPr>
              <a:t>Retrato de Claudia (38, San Borja)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7" name="Text 4"/>
          <p:cNvSpPr txBox="1"/>
          <p:nvPr/>
        </p:nvSpPr>
        <p:spPr>
          <a:xfrm>
            <a:off x="4206240" y="1463040"/>
            <a:ext cx="7434072" cy="411480"/>
          </a:xfrm>
          <a:prstGeom prst="rect">
            <a:avLst/>
          </a:prstGeom>
          <a:noFill/>
          <a:ln/>
        </p:spPr>
        <p:txBody>
          <a:bodyPr wrap="square" lIns="0" tIns="0" rIns="0" bIns="0" rtlCol="0" anchor="t"/>
          <a:lstStyle/>
          <a:p>
            <a:pPr indent="0" marL="0">
              <a:buNone/>
            </a:pPr>
            <a:r>
              <a:rPr lang="en-US" sz="2200" b="1" i="1" dirty="0">
                <a:solidFill>
                  <a:schemeClr val="accent1"/>
                </a:solidFill>
              </a:rPr>
              <a:t>La mamá que lee etiquetas</a:t>
            </a:r>
            <a:endParaRPr lang="en-US" sz="2200" dirty="0"/>
          </a:p>
        </p:txBody>
      </p:sp>
      <p:sp>
        <p:nvSpPr>
          <p:cNvPr id="8" name="Shape 5"/>
          <p:cNvSpPr/>
          <p:nvPr/>
        </p:nvSpPr>
        <p:spPr>
          <a:xfrm>
            <a:off x="4206240"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4370832"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EDAD Y DISTRITO</a:t>
            </a:r>
            <a:endParaRPr lang="en-US" sz="1000" dirty="0"/>
          </a:p>
        </p:txBody>
      </p:sp>
      <p:sp>
        <p:nvSpPr>
          <p:cNvPr id="10" name="Text 7"/>
          <p:cNvSpPr txBox="1"/>
          <p:nvPr/>
        </p:nvSpPr>
        <p:spPr>
          <a:xfrm>
            <a:off x="4370832"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38 años · San Borja</a:t>
            </a:r>
            <a:endParaRPr lang="en-US" sz="1500" dirty="0"/>
          </a:p>
        </p:txBody>
      </p:sp>
      <p:sp>
        <p:nvSpPr>
          <p:cNvPr id="11" name="Shape 8"/>
          <p:cNvSpPr/>
          <p:nvPr/>
        </p:nvSpPr>
        <p:spPr>
          <a:xfrm>
            <a:off x="6757416"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6922008"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OCUPACIÓN</a:t>
            </a:r>
            <a:endParaRPr lang="en-US" sz="1000" dirty="0"/>
          </a:p>
        </p:txBody>
      </p:sp>
      <p:sp>
        <p:nvSpPr>
          <p:cNvPr id="13" name="Text 10"/>
          <p:cNvSpPr txBox="1"/>
          <p:nvPr/>
        </p:nvSpPr>
        <p:spPr>
          <a:xfrm>
            <a:off x="6922008"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Abogada corporativa</a:t>
            </a:r>
            <a:endParaRPr lang="en-US" sz="1500" dirty="0"/>
          </a:p>
        </p:txBody>
      </p:sp>
      <p:sp>
        <p:nvSpPr>
          <p:cNvPr id="14" name="Shape 11"/>
          <p:cNvSpPr/>
          <p:nvPr/>
        </p:nvSpPr>
        <p:spPr>
          <a:xfrm>
            <a:off x="9308592"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2"/>
          <p:cNvSpPr txBox="1"/>
          <p:nvPr/>
        </p:nvSpPr>
        <p:spPr>
          <a:xfrm>
            <a:off x="9473184"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FAMILIA</a:t>
            </a:r>
            <a:endParaRPr lang="en-US" sz="1000" dirty="0"/>
          </a:p>
        </p:txBody>
      </p:sp>
      <p:sp>
        <p:nvSpPr>
          <p:cNvPr id="16" name="Text 13"/>
          <p:cNvSpPr txBox="1"/>
          <p:nvPr/>
        </p:nvSpPr>
        <p:spPr>
          <a:xfrm>
            <a:off x="9473184"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2 hijos (7 y 4)</a:t>
            </a:r>
            <a:endParaRPr lang="en-US" sz="1500" dirty="0"/>
          </a:p>
        </p:txBody>
      </p:sp>
      <p:sp>
        <p:nvSpPr>
          <p:cNvPr id="17" name="Shape 14"/>
          <p:cNvSpPr/>
          <p:nvPr/>
        </p:nvSpPr>
        <p:spPr>
          <a:xfrm>
            <a:off x="4206240"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4370832"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INGRESO FAMILIAR</a:t>
            </a:r>
            <a:endParaRPr lang="en-US" sz="1000" dirty="0"/>
          </a:p>
        </p:txBody>
      </p:sp>
      <p:sp>
        <p:nvSpPr>
          <p:cNvPr id="19" name="Text 16"/>
          <p:cNvSpPr txBox="1"/>
          <p:nvPr/>
        </p:nvSpPr>
        <p:spPr>
          <a:xfrm>
            <a:off x="4370832"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S/13,500 al mes</a:t>
            </a:r>
            <a:endParaRPr lang="en-US" sz="1500" dirty="0"/>
          </a:p>
        </p:txBody>
      </p:sp>
      <p:sp>
        <p:nvSpPr>
          <p:cNvPr id="20" name="Shape 17"/>
          <p:cNvSpPr/>
          <p:nvPr/>
        </p:nvSpPr>
        <p:spPr>
          <a:xfrm>
            <a:off x="6757416"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8"/>
          <p:cNvSpPr txBox="1"/>
          <p:nvPr/>
        </p:nvSpPr>
        <p:spPr>
          <a:xfrm>
            <a:off x="6922008"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SE INFORMA</a:t>
            </a:r>
            <a:endParaRPr lang="en-US" sz="1000" dirty="0"/>
          </a:p>
        </p:txBody>
      </p:sp>
      <p:sp>
        <p:nvSpPr>
          <p:cNvPr id="22" name="Text 19"/>
          <p:cNvSpPr txBox="1"/>
          <p:nvPr/>
        </p:nvSpPr>
        <p:spPr>
          <a:xfrm>
            <a:off x="6922008"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Pediatra e Instagram</a:t>
            </a:r>
            <a:endParaRPr lang="en-US" sz="1500" dirty="0"/>
          </a:p>
        </p:txBody>
      </p:sp>
      <p:sp>
        <p:nvSpPr>
          <p:cNvPr id="23" name="Shape 20"/>
          <p:cNvSpPr/>
          <p:nvPr/>
        </p:nvSpPr>
        <p:spPr>
          <a:xfrm>
            <a:off x="9308592"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4" name="Text 21"/>
          <p:cNvSpPr txBox="1"/>
          <p:nvPr/>
        </p:nvSpPr>
        <p:spPr>
          <a:xfrm>
            <a:off x="9473184"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PAGARÍA</a:t>
            </a:r>
            <a:endParaRPr lang="en-US" sz="1000" dirty="0"/>
          </a:p>
        </p:txBody>
      </p:sp>
      <p:sp>
        <p:nvSpPr>
          <p:cNvPr id="25" name="Text 22"/>
          <p:cNvSpPr txBox="1"/>
          <p:nvPr/>
        </p:nvSpPr>
        <p:spPr>
          <a:xfrm>
            <a:off x="9473184"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S/24 a 30 el pack</a:t>
            </a:r>
            <a:endParaRPr lang="en-US" sz="1500" dirty="0"/>
          </a:p>
        </p:txBody>
      </p:sp>
      <p:sp>
        <p:nvSpPr>
          <p:cNvPr id="26" name="Shape 23"/>
          <p:cNvSpPr/>
          <p:nvPr/>
        </p:nvSpPr>
        <p:spPr>
          <a:xfrm>
            <a:off x="4206240"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4"/>
          <p:cNvSpPr/>
          <p:nvPr/>
        </p:nvSpPr>
        <p:spPr>
          <a:xfrm>
            <a:off x="4389120" y="4160520"/>
            <a:ext cx="457200" cy="457200"/>
          </a:xfrm>
          <a:prstGeom prst="ellipse">
            <a:avLst/>
          </a:prstGeom>
          <a:solidFill>
            <a:schemeClr val="accent6"/>
          </a:solidFill>
          <a:ln w="12700">
            <a:solidFill>
              <a:schemeClr val="accent6"/>
            </a:solidFill>
            <a:prstDash val="solid"/>
          </a:ln>
        </p:spPr>
      </p:sp>
      <p:pic>
        <p:nvPicPr>
          <p:cNvPr id="28" name="Image 1" descr="preencoded.png">    </p:cNvPr>
          <p:cNvPicPr>
            <a:picLocks noChangeAspect="1"/>
          </p:cNvPicPr>
          <p:nvPr/>
        </p:nvPicPr>
        <p:blipFill>
          <a:blip r:embed="rId2"/>
          <a:stretch>
            <a:fillRect/>
          </a:stretch>
        </p:blipFill>
        <p:spPr>
          <a:xfrm>
            <a:off x="4489704" y="4261104"/>
            <a:ext cx="256032" cy="256032"/>
          </a:xfrm>
          <a:prstGeom prst="rect">
            <a:avLst/>
          </a:prstGeom>
        </p:spPr>
      </p:pic>
      <p:sp>
        <p:nvSpPr>
          <p:cNvPr id="29" name="Text 25"/>
          <p:cNvSpPr txBox="1"/>
          <p:nvPr/>
        </p:nvSpPr>
        <p:spPr>
          <a:xfrm>
            <a:off x="4983480"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Su dolor</a:t>
            </a:r>
            <a:endParaRPr lang="en-US" sz="1600" dirty="0"/>
          </a:p>
        </p:txBody>
      </p:sp>
      <p:sp>
        <p:nvSpPr>
          <p:cNvPr id="30" name="Text 26"/>
          <p:cNvSpPr txBox="1"/>
          <p:nvPr/>
        </p:nvSpPr>
        <p:spPr>
          <a:xfrm>
            <a:off x="4434840"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Hemoglobina baja en el control</a:t>
            </a:r>
            <a:endParaRPr lang="en-US" sz="1400" dirty="0"/>
          </a:p>
          <a:p>
            <a:pPr marL="342900" indent="-342900">
              <a:spcAft>
                <a:spcPts val="200"/>
              </a:spcAft>
              <a:buSzPct val="100000"/>
              <a:buChar char="•"/>
            </a:pPr>
            <a:r>
              <a:rPr lang="en-US" sz="1400" dirty="0">
                <a:solidFill>
                  <a:schemeClr val="tx1"/>
                </a:solidFill>
              </a:rPr>
              <a:t>Lo nutritivo regresa intacto</a:t>
            </a:r>
            <a:endParaRPr lang="en-US" sz="1400" dirty="0"/>
          </a:p>
        </p:txBody>
      </p:sp>
      <p:sp>
        <p:nvSpPr>
          <p:cNvPr id="31" name="Shape 27"/>
          <p:cNvSpPr/>
          <p:nvPr/>
        </p:nvSpPr>
        <p:spPr>
          <a:xfrm>
            <a:off x="8028432"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2" name="Shape 28"/>
          <p:cNvSpPr/>
          <p:nvPr/>
        </p:nvSpPr>
        <p:spPr>
          <a:xfrm>
            <a:off x="8211312" y="4160520"/>
            <a:ext cx="457200" cy="457200"/>
          </a:xfrm>
          <a:prstGeom prst="ellipse">
            <a:avLst/>
          </a:prstGeom>
          <a:solidFill>
            <a:schemeClr val="accent4"/>
          </a:solidFill>
          <a:ln w="12700">
            <a:solidFill>
              <a:schemeClr val="accent4"/>
            </a:solidFill>
            <a:prstDash val="solid"/>
          </a:ln>
        </p:spPr>
      </p:sp>
      <p:pic>
        <p:nvPicPr>
          <p:cNvPr id="33" name="Image 2" descr="preencoded.png">    </p:cNvPr>
          <p:cNvPicPr>
            <a:picLocks noChangeAspect="1"/>
          </p:cNvPicPr>
          <p:nvPr/>
        </p:nvPicPr>
        <p:blipFill>
          <a:blip r:embed="rId3"/>
          <a:stretch>
            <a:fillRect/>
          </a:stretch>
        </p:blipFill>
        <p:spPr>
          <a:xfrm>
            <a:off x="8311896" y="4261104"/>
            <a:ext cx="256032" cy="256032"/>
          </a:xfrm>
          <a:prstGeom prst="rect">
            <a:avLst/>
          </a:prstGeom>
        </p:spPr>
      </p:pic>
      <p:sp>
        <p:nvSpPr>
          <p:cNvPr id="34" name="Text 29"/>
          <p:cNvSpPr txBox="1"/>
          <p:nvPr/>
        </p:nvSpPr>
        <p:spPr>
          <a:xfrm>
            <a:off x="8805672"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Lo que busca</a:t>
            </a:r>
            <a:endParaRPr lang="en-US" sz="1600" dirty="0"/>
          </a:p>
        </p:txBody>
      </p:sp>
      <p:sp>
        <p:nvSpPr>
          <p:cNvPr id="35" name="Text 30"/>
          <p:cNvSpPr txBox="1"/>
          <p:nvPr/>
        </p:nvSpPr>
        <p:spPr>
          <a:xfrm>
            <a:off x="8257032"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Hierro en mg y cero octógonos</a:t>
            </a:r>
            <a:endParaRPr lang="en-US" sz="1400" dirty="0"/>
          </a:p>
          <a:p>
            <a:pPr marL="342900" indent="-342900">
              <a:spcAft>
                <a:spcPts val="200"/>
              </a:spcAft>
              <a:buSzPct val="100000"/>
              <a:buChar char="•"/>
            </a:pPr>
            <a:r>
              <a:rPr lang="en-US" sz="1400" dirty="0">
                <a:solidFill>
                  <a:schemeClr val="tx1"/>
                </a:solidFill>
              </a:rPr>
              <a:t>Que su hijo lo pida solo</a:t>
            </a:r>
            <a:endParaRPr lang="en-US" sz="1400" dirty="0"/>
          </a:p>
        </p:txBody>
      </p:sp>
      <p:sp>
        <p:nvSpPr>
          <p:cNvPr id="36" name="Shape 31"/>
          <p:cNvSpPr/>
          <p:nvPr/>
        </p:nvSpPr>
        <p:spPr>
          <a:xfrm>
            <a:off x="4206240" y="5486400"/>
            <a:ext cx="7434072" cy="640080"/>
          </a:xfrm>
          <a:prstGeom prst="roundRect">
            <a:avLst>
              <a:gd name="adj" fmla="val 50000"/>
            </a:avLst>
          </a:prstGeom>
          <a:solidFill>
            <a:schemeClr val="tx2"/>
          </a:solidFill>
          <a:ln w="12700">
            <a:solidFill>
              <a:schemeClr val="tx2"/>
            </a:solidFill>
            <a:prstDash val="solid"/>
          </a:ln>
        </p:spPr>
      </p:sp>
      <p:sp>
        <p:nvSpPr>
          <p:cNvPr id="37" name="Text 32"/>
          <p:cNvSpPr txBox="1"/>
          <p:nvPr/>
        </p:nvSpPr>
        <p:spPr>
          <a:xfrm>
            <a:off x="4480560" y="5486400"/>
            <a:ext cx="6885432" cy="640080"/>
          </a:xfrm>
          <a:prstGeom prst="rect">
            <a:avLst/>
          </a:prstGeom>
          <a:noFill/>
          <a:ln/>
        </p:spPr>
        <p:txBody>
          <a:bodyPr wrap="square" lIns="0" tIns="0" rIns="0" bIns="0" rtlCol="0" anchor="ctr"/>
          <a:lstStyle/>
          <a:p>
            <a:pPr indent="0" marL="0">
              <a:buNone/>
            </a:pPr>
            <a:r>
              <a:rPr lang="en-US" sz="1800" b="1" i="1" dirty="0">
                <a:solidFill>
                  <a:schemeClr val="bg2"/>
                </a:solidFill>
              </a:rPr>
              <a:t>"Todo lo que le hace bien, mi hijo lo escupe."</a:t>
            </a:r>
            <a:endParaRPr lang="en-US" sz="18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BUYER PERSONA SECUNDARIO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Rodrigo Salazar</a:t>
            </a:r>
            <a:endParaRPr lang="en-US" sz="3400" dirty="0"/>
          </a:p>
        </p:txBody>
      </p:sp>
      <p:sp>
        <p:nvSpPr>
          <p:cNvPr id="4" name="IMAGEN_2"/>
          <p:cNvSpPr/>
          <p:nvPr/>
        </p:nvSpPr>
        <p:spPr>
          <a:xfrm>
            <a:off x="8257032" y="1463040"/>
            <a:ext cx="3383280" cy="4663440"/>
          </a:xfrm>
          <a:prstGeom prst="roundRect">
            <a:avLst>
              <a:gd name="adj" fmla="val 4054"/>
            </a:avLst>
          </a:prstGeom>
          <a:solidFill>
            <a:srgbClr val="F0E2CF"/>
          </a:solidFill>
          <a:ln w="19050">
            <a:solidFill>
              <a:schemeClr val="accent5"/>
            </a:solidFill>
            <a:prstDash val="dash"/>
          </a:ln>
        </p:spPr>
      </p:sp>
      <p:pic>
        <p:nvPicPr>
          <p:cNvPr id="5" name="Image 0" descr="preencoded.png">    </p:cNvPr>
          <p:cNvPicPr>
            <a:picLocks noChangeAspect="1"/>
          </p:cNvPicPr>
          <p:nvPr/>
        </p:nvPicPr>
        <p:blipFill>
          <a:blip r:embed="rId1"/>
          <a:stretch>
            <a:fillRect/>
          </a:stretch>
        </p:blipFill>
        <p:spPr>
          <a:xfrm>
            <a:off x="9582912" y="2880360"/>
            <a:ext cx="731520" cy="731520"/>
          </a:xfrm>
          <a:prstGeom prst="rect">
            <a:avLst/>
          </a:prstGeom>
        </p:spPr>
      </p:pic>
      <p:sp>
        <p:nvSpPr>
          <p:cNvPr id="6" name="Text 3"/>
          <p:cNvSpPr txBox="1"/>
          <p:nvPr/>
        </p:nvSpPr>
        <p:spPr>
          <a:xfrm>
            <a:off x="8439912" y="3794760"/>
            <a:ext cx="3017520"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2</a:t>
            </a:r>
            <a:endParaRPr lang="en-US" sz="1400" dirty="0"/>
          </a:p>
          <a:p>
            <a:pPr algn="ctr" indent="0" marL="0">
              <a:buNone/>
            </a:pPr>
            <a:r>
              <a:rPr lang="en-US" sz="1300" dirty="0">
                <a:solidFill>
                  <a:schemeClr val="accent2"/>
                </a:solidFill>
              </a:rPr>
              <a:t>Retrato de Rodrigo (42, La Molina)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7" name="Text 4"/>
          <p:cNvSpPr txBox="1"/>
          <p:nvPr/>
        </p:nvSpPr>
        <p:spPr>
          <a:xfrm>
            <a:off x="548640" y="1463040"/>
            <a:ext cx="7434072" cy="411480"/>
          </a:xfrm>
          <a:prstGeom prst="rect">
            <a:avLst/>
          </a:prstGeom>
          <a:noFill/>
          <a:ln/>
        </p:spPr>
        <p:txBody>
          <a:bodyPr wrap="square" lIns="0" tIns="0" rIns="0" bIns="0" rtlCol="0" anchor="t"/>
          <a:lstStyle/>
          <a:p>
            <a:pPr indent="0" marL="0">
              <a:buNone/>
            </a:pPr>
            <a:r>
              <a:rPr lang="en-US" sz="2200" b="1" i="1" dirty="0">
                <a:solidFill>
                  <a:schemeClr val="accent1"/>
                </a:solidFill>
              </a:rPr>
              <a:t>El papá que resuelve la mañana</a:t>
            </a:r>
            <a:endParaRPr lang="en-US" sz="2200" dirty="0"/>
          </a:p>
        </p:txBody>
      </p:sp>
      <p:sp>
        <p:nvSpPr>
          <p:cNvPr id="8" name="Shape 5"/>
          <p:cNvSpPr/>
          <p:nvPr/>
        </p:nvSpPr>
        <p:spPr>
          <a:xfrm>
            <a:off x="548640"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713232"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EDAD Y DISTRITO</a:t>
            </a:r>
            <a:endParaRPr lang="en-US" sz="1000" dirty="0"/>
          </a:p>
        </p:txBody>
      </p:sp>
      <p:sp>
        <p:nvSpPr>
          <p:cNvPr id="10" name="Text 7"/>
          <p:cNvSpPr txBox="1"/>
          <p:nvPr/>
        </p:nvSpPr>
        <p:spPr>
          <a:xfrm>
            <a:off x="713232"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42 años · La Molina</a:t>
            </a:r>
            <a:endParaRPr lang="en-US" sz="1500" dirty="0"/>
          </a:p>
        </p:txBody>
      </p:sp>
      <p:sp>
        <p:nvSpPr>
          <p:cNvPr id="11" name="Shape 8"/>
          <p:cNvSpPr/>
          <p:nvPr/>
        </p:nvSpPr>
        <p:spPr>
          <a:xfrm>
            <a:off x="3099816"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Text 9"/>
          <p:cNvSpPr txBox="1"/>
          <p:nvPr/>
        </p:nvSpPr>
        <p:spPr>
          <a:xfrm>
            <a:off x="3264408"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OCUPACIÓN</a:t>
            </a:r>
            <a:endParaRPr lang="en-US" sz="1000" dirty="0"/>
          </a:p>
        </p:txBody>
      </p:sp>
      <p:sp>
        <p:nvSpPr>
          <p:cNvPr id="13" name="Text 10"/>
          <p:cNvSpPr txBox="1"/>
          <p:nvPr/>
        </p:nvSpPr>
        <p:spPr>
          <a:xfrm>
            <a:off x="3264408"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Gerente de operaciones</a:t>
            </a:r>
            <a:endParaRPr lang="en-US" sz="1500" dirty="0"/>
          </a:p>
        </p:txBody>
      </p:sp>
      <p:sp>
        <p:nvSpPr>
          <p:cNvPr id="14" name="Shape 11"/>
          <p:cNvSpPr/>
          <p:nvPr/>
        </p:nvSpPr>
        <p:spPr>
          <a:xfrm>
            <a:off x="5650992" y="20574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2"/>
          <p:cNvSpPr txBox="1"/>
          <p:nvPr/>
        </p:nvSpPr>
        <p:spPr>
          <a:xfrm>
            <a:off x="5815584" y="21671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FAMILIA</a:t>
            </a:r>
            <a:endParaRPr lang="en-US" sz="1000" dirty="0"/>
          </a:p>
        </p:txBody>
      </p:sp>
      <p:sp>
        <p:nvSpPr>
          <p:cNvPr id="16" name="Text 13"/>
          <p:cNvSpPr txBox="1"/>
          <p:nvPr/>
        </p:nvSpPr>
        <p:spPr>
          <a:xfrm>
            <a:off x="5815584" y="24048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2 hijos (9 y 6)</a:t>
            </a:r>
            <a:endParaRPr lang="en-US" sz="1500" dirty="0"/>
          </a:p>
        </p:txBody>
      </p:sp>
      <p:sp>
        <p:nvSpPr>
          <p:cNvPr id="17" name="Shape 14"/>
          <p:cNvSpPr/>
          <p:nvPr/>
        </p:nvSpPr>
        <p:spPr>
          <a:xfrm>
            <a:off x="548640"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Text 15"/>
          <p:cNvSpPr txBox="1"/>
          <p:nvPr/>
        </p:nvSpPr>
        <p:spPr>
          <a:xfrm>
            <a:off x="713232"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INGRESO FAMILIAR</a:t>
            </a:r>
            <a:endParaRPr lang="en-US" sz="1000" dirty="0"/>
          </a:p>
        </p:txBody>
      </p:sp>
      <p:sp>
        <p:nvSpPr>
          <p:cNvPr id="19" name="Text 16"/>
          <p:cNvSpPr txBox="1"/>
          <p:nvPr/>
        </p:nvSpPr>
        <p:spPr>
          <a:xfrm>
            <a:off x="713232"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S/18,000 al mes</a:t>
            </a:r>
            <a:endParaRPr lang="en-US" sz="1500" dirty="0"/>
          </a:p>
        </p:txBody>
      </p:sp>
      <p:sp>
        <p:nvSpPr>
          <p:cNvPr id="20" name="Shape 17"/>
          <p:cNvSpPr/>
          <p:nvPr/>
        </p:nvSpPr>
        <p:spPr>
          <a:xfrm>
            <a:off x="3099816"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8"/>
          <p:cNvSpPr txBox="1"/>
          <p:nvPr/>
        </p:nvSpPr>
        <p:spPr>
          <a:xfrm>
            <a:off x="3264408"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COMPRA</a:t>
            </a:r>
            <a:endParaRPr lang="en-US" sz="1000" dirty="0"/>
          </a:p>
        </p:txBody>
      </p:sp>
      <p:sp>
        <p:nvSpPr>
          <p:cNvPr id="22" name="Text 19"/>
          <p:cNvSpPr txBox="1"/>
          <p:nvPr/>
        </p:nvSpPr>
        <p:spPr>
          <a:xfrm>
            <a:off x="3264408"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Apps, IG y TikTok</a:t>
            </a:r>
            <a:endParaRPr lang="en-US" sz="1500" dirty="0"/>
          </a:p>
        </p:txBody>
      </p:sp>
      <p:sp>
        <p:nvSpPr>
          <p:cNvPr id="23" name="Shape 20"/>
          <p:cNvSpPr/>
          <p:nvPr/>
        </p:nvSpPr>
        <p:spPr>
          <a:xfrm>
            <a:off x="5650992" y="2971800"/>
            <a:ext cx="2331720" cy="777240"/>
          </a:xfrm>
          <a:prstGeom prst="roundRect">
            <a:avLst>
              <a:gd name="adj" fmla="val 1176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4" name="Text 21"/>
          <p:cNvSpPr txBox="1"/>
          <p:nvPr/>
        </p:nvSpPr>
        <p:spPr>
          <a:xfrm>
            <a:off x="5815584" y="3081528"/>
            <a:ext cx="2057400" cy="228600"/>
          </a:xfrm>
          <a:prstGeom prst="rect">
            <a:avLst/>
          </a:prstGeom>
          <a:noFill/>
          <a:ln/>
        </p:spPr>
        <p:txBody>
          <a:bodyPr wrap="square" lIns="0" tIns="0" rIns="0" bIns="0" rtlCol="0" anchor="t"/>
          <a:lstStyle/>
          <a:p>
            <a:pPr indent="0" marL="0">
              <a:buNone/>
            </a:pPr>
            <a:r>
              <a:rPr lang="en-US" sz="1000" b="1" spc="100" kern="0" dirty="0">
                <a:solidFill>
                  <a:schemeClr val="accent1"/>
                </a:solidFill>
              </a:rPr>
              <a:t>PAGARÍA</a:t>
            </a:r>
            <a:endParaRPr lang="en-US" sz="1000" dirty="0"/>
          </a:p>
        </p:txBody>
      </p:sp>
      <p:sp>
        <p:nvSpPr>
          <p:cNvPr id="25" name="Text 22"/>
          <p:cNvSpPr txBox="1"/>
          <p:nvPr/>
        </p:nvSpPr>
        <p:spPr>
          <a:xfrm>
            <a:off x="5815584" y="3319272"/>
            <a:ext cx="2057400" cy="347472"/>
          </a:xfrm>
          <a:prstGeom prst="rect">
            <a:avLst/>
          </a:prstGeom>
          <a:noFill/>
          <a:ln/>
        </p:spPr>
        <p:txBody>
          <a:bodyPr wrap="square" lIns="0" tIns="0" rIns="0" bIns="0" rtlCol="0" anchor="t"/>
          <a:lstStyle/>
          <a:p>
            <a:pPr indent="0" marL="0">
              <a:buNone/>
            </a:pPr>
            <a:r>
              <a:rPr lang="en-US" sz="1500" b="1" dirty="0">
                <a:solidFill>
                  <a:schemeClr val="tx2"/>
                </a:solidFill>
              </a:rPr>
              <a:t>S/18 a 24 por 6 u</a:t>
            </a:r>
            <a:endParaRPr lang="en-US" sz="1500" dirty="0"/>
          </a:p>
        </p:txBody>
      </p:sp>
      <p:sp>
        <p:nvSpPr>
          <p:cNvPr id="26" name="Shape 23"/>
          <p:cNvSpPr/>
          <p:nvPr/>
        </p:nvSpPr>
        <p:spPr>
          <a:xfrm>
            <a:off x="548640"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7" name="Shape 24"/>
          <p:cNvSpPr/>
          <p:nvPr/>
        </p:nvSpPr>
        <p:spPr>
          <a:xfrm>
            <a:off x="731520" y="4160520"/>
            <a:ext cx="457200" cy="457200"/>
          </a:xfrm>
          <a:prstGeom prst="ellipse">
            <a:avLst/>
          </a:prstGeom>
          <a:solidFill>
            <a:schemeClr val="accent6"/>
          </a:solidFill>
          <a:ln w="12700">
            <a:solidFill>
              <a:schemeClr val="accent6"/>
            </a:solidFill>
            <a:prstDash val="solid"/>
          </a:ln>
        </p:spPr>
      </p:sp>
      <p:pic>
        <p:nvPicPr>
          <p:cNvPr id="28" name="Image 1" descr="preencoded.png">    </p:cNvPr>
          <p:cNvPicPr>
            <a:picLocks noChangeAspect="1"/>
          </p:cNvPicPr>
          <p:nvPr/>
        </p:nvPicPr>
        <p:blipFill>
          <a:blip r:embed="rId2"/>
          <a:stretch>
            <a:fillRect/>
          </a:stretch>
        </p:blipFill>
        <p:spPr>
          <a:xfrm>
            <a:off x="832104" y="4261104"/>
            <a:ext cx="256032" cy="256032"/>
          </a:xfrm>
          <a:prstGeom prst="rect">
            <a:avLst/>
          </a:prstGeom>
        </p:spPr>
      </p:pic>
      <p:sp>
        <p:nvSpPr>
          <p:cNvPr id="29" name="Text 25"/>
          <p:cNvSpPr txBox="1"/>
          <p:nvPr/>
        </p:nvSpPr>
        <p:spPr>
          <a:xfrm>
            <a:off x="1325880"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Su dolor</a:t>
            </a:r>
            <a:endParaRPr lang="en-US" sz="1600" dirty="0"/>
          </a:p>
        </p:txBody>
      </p:sp>
      <p:sp>
        <p:nvSpPr>
          <p:cNvPr id="30" name="Text 26"/>
          <p:cNvSpPr txBox="1"/>
          <p:nvPr/>
        </p:nvSpPr>
        <p:spPr>
          <a:xfrm>
            <a:off x="777240"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Jueves y viernes sin ideas</a:t>
            </a:r>
            <a:endParaRPr lang="en-US" sz="1400" dirty="0"/>
          </a:p>
          <a:p>
            <a:pPr marL="342900" indent="-342900">
              <a:spcAft>
                <a:spcPts val="200"/>
              </a:spcAft>
              <a:buSzPct val="100000"/>
              <a:buChar char="•"/>
            </a:pPr>
            <a:r>
              <a:rPr lang="en-US" sz="1400" dirty="0">
                <a:solidFill>
                  <a:schemeClr val="tx1"/>
                </a:solidFill>
              </a:rPr>
              <a:t>Snacks aplastados en la mochila</a:t>
            </a:r>
            <a:endParaRPr lang="en-US" sz="1400" dirty="0"/>
          </a:p>
        </p:txBody>
      </p:sp>
      <p:sp>
        <p:nvSpPr>
          <p:cNvPr id="31" name="Shape 27"/>
          <p:cNvSpPr/>
          <p:nvPr/>
        </p:nvSpPr>
        <p:spPr>
          <a:xfrm>
            <a:off x="4370832" y="3977640"/>
            <a:ext cx="361188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2" name="Shape 28"/>
          <p:cNvSpPr/>
          <p:nvPr/>
        </p:nvSpPr>
        <p:spPr>
          <a:xfrm>
            <a:off x="4553712" y="4160520"/>
            <a:ext cx="457200" cy="457200"/>
          </a:xfrm>
          <a:prstGeom prst="ellipse">
            <a:avLst/>
          </a:prstGeom>
          <a:solidFill>
            <a:schemeClr val="accent4"/>
          </a:solidFill>
          <a:ln w="12700">
            <a:solidFill>
              <a:schemeClr val="accent4"/>
            </a:solidFill>
            <a:prstDash val="solid"/>
          </a:ln>
        </p:spPr>
      </p:sp>
      <p:pic>
        <p:nvPicPr>
          <p:cNvPr id="33" name="Image 2" descr="preencoded.png">    </p:cNvPr>
          <p:cNvPicPr>
            <a:picLocks noChangeAspect="1"/>
          </p:cNvPicPr>
          <p:nvPr/>
        </p:nvPicPr>
        <p:blipFill>
          <a:blip r:embed="rId3"/>
          <a:stretch>
            <a:fillRect/>
          </a:stretch>
        </p:blipFill>
        <p:spPr>
          <a:xfrm>
            <a:off x="4654296" y="4261104"/>
            <a:ext cx="256032" cy="256032"/>
          </a:xfrm>
          <a:prstGeom prst="rect">
            <a:avLst/>
          </a:prstGeom>
        </p:spPr>
      </p:pic>
      <p:sp>
        <p:nvSpPr>
          <p:cNvPr id="34" name="Text 29"/>
          <p:cNvSpPr txBox="1"/>
          <p:nvPr/>
        </p:nvSpPr>
        <p:spPr>
          <a:xfrm>
            <a:off x="5148072" y="4178808"/>
            <a:ext cx="2697480" cy="411480"/>
          </a:xfrm>
          <a:prstGeom prst="rect">
            <a:avLst/>
          </a:prstGeom>
          <a:noFill/>
          <a:ln/>
        </p:spPr>
        <p:txBody>
          <a:bodyPr wrap="square" lIns="0" tIns="0" rIns="0" bIns="0" rtlCol="0" anchor="ctr"/>
          <a:lstStyle/>
          <a:p>
            <a:pPr indent="0" marL="0">
              <a:buNone/>
            </a:pPr>
            <a:r>
              <a:rPr lang="en-US" sz="1600" b="1" dirty="0">
                <a:solidFill>
                  <a:schemeClr val="tx2"/>
                </a:solidFill>
              </a:rPr>
              <a:t>Lo que busca</a:t>
            </a:r>
            <a:endParaRPr lang="en-US" sz="1600" dirty="0"/>
          </a:p>
        </p:txBody>
      </p:sp>
      <p:sp>
        <p:nvSpPr>
          <p:cNvPr id="35" name="Text 30"/>
          <p:cNvSpPr txBox="1"/>
          <p:nvPr/>
        </p:nvSpPr>
        <p:spPr>
          <a:xfrm>
            <a:off x="4599432" y="4690872"/>
            <a:ext cx="3246120" cy="54864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Que resuelva toda la semana</a:t>
            </a:r>
            <a:endParaRPr lang="en-US" sz="1400" dirty="0"/>
          </a:p>
          <a:p>
            <a:pPr marL="342900" indent="-342900">
              <a:spcAft>
                <a:spcPts val="200"/>
              </a:spcAft>
              <a:buSzPct val="100000"/>
              <a:buChar char="•"/>
            </a:pPr>
            <a:r>
              <a:rPr lang="en-US" sz="1400" dirty="0">
                <a:solidFill>
                  <a:schemeClr val="tx1"/>
                </a:solidFill>
              </a:rPr>
              <a:t>Recordatorio para recomprar</a:t>
            </a:r>
            <a:endParaRPr lang="en-US" sz="1400" dirty="0"/>
          </a:p>
        </p:txBody>
      </p:sp>
      <p:sp>
        <p:nvSpPr>
          <p:cNvPr id="36" name="Shape 31"/>
          <p:cNvSpPr/>
          <p:nvPr/>
        </p:nvSpPr>
        <p:spPr>
          <a:xfrm>
            <a:off x="548640" y="5486400"/>
            <a:ext cx="7434072" cy="640080"/>
          </a:xfrm>
          <a:prstGeom prst="roundRect">
            <a:avLst>
              <a:gd name="adj" fmla="val 50000"/>
            </a:avLst>
          </a:prstGeom>
          <a:solidFill>
            <a:schemeClr val="tx2"/>
          </a:solidFill>
          <a:ln w="12700">
            <a:solidFill>
              <a:schemeClr val="tx2"/>
            </a:solidFill>
            <a:prstDash val="solid"/>
          </a:ln>
        </p:spPr>
      </p:sp>
      <p:sp>
        <p:nvSpPr>
          <p:cNvPr id="37" name="Text 32"/>
          <p:cNvSpPr txBox="1"/>
          <p:nvPr/>
        </p:nvSpPr>
        <p:spPr>
          <a:xfrm>
            <a:off x="822960" y="5486400"/>
            <a:ext cx="6885432" cy="640080"/>
          </a:xfrm>
          <a:prstGeom prst="rect">
            <a:avLst/>
          </a:prstGeom>
          <a:noFill/>
          <a:ln/>
        </p:spPr>
        <p:txBody>
          <a:bodyPr wrap="square" lIns="0" tIns="0" rIns="0" bIns="0" rtlCol="0" anchor="ctr"/>
          <a:lstStyle/>
          <a:p>
            <a:pPr indent="0" marL="0">
              <a:buNone/>
            </a:pPr>
            <a:r>
              <a:rPr lang="en-US" sz="1800" b="1" i="1" dirty="0">
                <a:solidFill>
                  <a:schemeClr val="bg2"/>
                </a:solidFill>
              </a:rPr>
              <a:t>"No me vendas salud, véndeme una mañana menos."</a:t>
            </a:r>
            <a:endParaRPr lang="en-US" sz="18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TIPOS DE MERCADO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Vendemos en el mercado de consumo, a un nicho A/B</a:t>
            </a:r>
            <a:endParaRPr lang="en-US" sz="3400" dirty="0"/>
          </a:p>
        </p:txBody>
      </p:sp>
      <p:sp>
        <p:nvSpPr>
          <p:cNvPr id="4" name="Shape 2"/>
          <p:cNvSpPr/>
          <p:nvPr/>
        </p:nvSpPr>
        <p:spPr>
          <a:xfrm>
            <a:off x="548640" y="1554480"/>
            <a:ext cx="2035454" cy="3383280"/>
          </a:xfrm>
          <a:prstGeom prst="roundRect">
            <a:avLst>
              <a:gd name="adj" fmla="val 5391"/>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77240" y="1783080"/>
            <a:ext cx="640080" cy="640080"/>
          </a:xfrm>
          <a:prstGeom prst="ellipse">
            <a:avLst/>
          </a:prstGeom>
          <a:solidFill>
            <a:schemeClr val="bg1"/>
          </a:solidFill>
          <a:ln w="12700">
            <a:solidFill>
              <a:schemeClr val="bg1"/>
            </a:solidFill>
            <a:prstDash val="solid"/>
          </a:ln>
        </p:spPr>
      </p:sp>
      <p:pic>
        <p:nvPicPr>
          <p:cNvPr id="6" name="Image 0" descr="preencoded.png">    </p:cNvPr>
          <p:cNvPicPr>
            <a:picLocks noChangeAspect="1"/>
          </p:cNvPicPr>
          <p:nvPr/>
        </p:nvPicPr>
        <p:blipFill>
          <a:blip r:embed="rId1"/>
          <a:stretch>
            <a:fillRect/>
          </a:stretch>
        </p:blipFill>
        <p:spPr>
          <a:xfrm>
            <a:off x="918058" y="1923898"/>
            <a:ext cx="358445" cy="358445"/>
          </a:xfrm>
          <a:prstGeom prst="rect">
            <a:avLst/>
          </a:prstGeom>
        </p:spPr>
      </p:pic>
      <p:sp>
        <p:nvSpPr>
          <p:cNvPr id="7" name="Text 4"/>
          <p:cNvSpPr txBox="1"/>
          <p:nvPr/>
        </p:nvSpPr>
        <p:spPr>
          <a:xfrm>
            <a:off x="777240" y="2542032"/>
            <a:ext cx="1669694" cy="384048"/>
          </a:xfrm>
          <a:prstGeom prst="rect">
            <a:avLst/>
          </a:prstGeom>
          <a:noFill/>
          <a:ln/>
        </p:spPr>
        <p:txBody>
          <a:bodyPr wrap="square" lIns="0" tIns="0" rIns="0" bIns="0" rtlCol="0" anchor="t"/>
          <a:lstStyle/>
          <a:p>
            <a:pPr indent="0" marL="0">
              <a:buNone/>
            </a:pPr>
            <a:r>
              <a:rPr lang="en-US" sz="1800" b="1" dirty="0">
                <a:solidFill>
                  <a:schemeClr val="bg1"/>
                </a:solidFill>
              </a:rPr>
              <a:t>Consumo</a:t>
            </a:r>
            <a:endParaRPr lang="en-US" sz="1800" dirty="0"/>
          </a:p>
        </p:txBody>
      </p:sp>
      <p:sp>
        <p:nvSpPr>
          <p:cNvPr id="8" name="Text 5"/>
          <p:cNvSpPr txBox="1"/>
          <p:nvPr/>
        </p:nvSpPr>
        <p:spPr>
          <a:xfrm>
            <a:off x="777240" y="2926080"/>
            <a:ext cx="1669694" cy="548640"/>
          </a:xfrm>
          <a:prstGeom prst="rect">
            <a:avLst/>
          </a:prstGeom>
          <a:noFill/>
          <a:ln/>
        </p:spPr>
        <p:txBody>
          <a:bodyPr wrap="square" lIns="0" tIns="0" rIns="0" bIns="0" rtlCol="0" anchor="t"/>
          <a:lstStyle/>
          <a:p>
            <a:pPr indent="0" marL="0">
              <a:buNone/>
            </a:pPr>
            <a:r>
              <a:rPr lang="en-US" sz="1200" dirty="0">
                <a:solidFill>
                  <a:schemeClr val="bg2"/>
                </a:solidFill>
              </a:rPr>
              <a:t>Personas que compran para su familia</a:t>
            </a:r>
            <a:endParaRPr lang="en-US" sz="1200" dirty="0"/>
          </a:p>
        </p:txBody>
      </p:sp>
      <p:sp>
        <p:nvSpPr>
          <p:cNvPr id="9" name="Shape 6"/>
          <p:cNvSpPr/>
          <p:nvPr/>
        </p:nvSpPr>
        <p:spPr>
          <a:xfrm>
            <a:off x="777240" y="3520440"/>
            <a:ext cx="1188720" cy="292608"/>
          </a:xfrm>
          <a:prstGeom prst="roundRect">
            <a:avLst>
              <a:gd name="adj" fmla="val 50000"/>
            </a:avLst>
          </a:prstGeom>
          <a:solidFill>
            <a:schemeClr val="bg1"/>
          </a:solidFill>
          <a:ln w="12700">
            <a:solidFill>
              <a:schemeClr val="bg1"/>
            </a:solidFill>
            <a:prstDash val="solid"/>
          </a:ln>
        </p:spPr>
      </p:sp>
      <p:sp>
        <p:nvSpPr>
          <p:cNvPr id="10" name="Text 7"/>
          <p:cNvSpPr txBox="1"/>
          <p:nvPr/>
        </p:nvSpPr>
        <p:spPr>
          <a:xfrm>
            <a:off x="777240"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ELEGIDO</a:t>
            </a:r>
            <a:endParaRPr lang="en-US" sz="1000" dirty="0"/>
          </a:p>
        </p:txBody>
      </p:sp>
      <p:sp>
        <p:nvSpPr>
          <p:cNvPr id="11" name="Text 8"/>
          <p:cNvSpPr txBox="1"/>
          <p:nvPr/>
        </p:nvSpPr>
        <p:spPr>
          <a:xfrm>
            <a:off x="777240" y="3931920"/>
            <a:ext cx="1669694" cy="914400"/>
          </a:xfrm>
          <a:prstGeom prst="rect">
            <a:avLst/>
          </a:prstGeom>
          <a:noFill/>
          <a:ln/>
        </p:spPr>
        <p:txBody>
          <a:bodyPr wrap="square" lIns="0" tIns="0" rIns="0" bIns="0" rtlCol="0" anchor="t"/>
          <a:lstStyle/>
          <a:p>
            <a:pPr indent="0" marL="0">
              <a:buNone/>
            </a:pPr>
            <a:r>
              <a:rPr lang="en-US" sz="1400" dirty="0">
                <a:solidFill>
                  <a:schemeClr val="bg1"/>
                </a:solidFill>
              </a:rPr>
              <a:t>Padres A/B que compran la lonchera</a:t>
            </a:r>
            <a:endParaRPr lang="en-US" sz="1400" dirty="0"/>
          </a:p>
        </p:txBody>
      </p:sp>
      <p:sp>
        <p:nvSpPr>
          <p:cNvPr id="12" name="Shape 9"/>
          <p:cNvSpPr/>
          <p:nvPr/>
        </p:nvSpPr>
        <p:spPr>
          <a:xfrm>
            <a:off x="2812694"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Shape 10"/>
          <p:cNvSpPr/>
          <p:nvPr/>
        </p:nvSpPr>
        <p:spPr>
          <a:xfrm>
            <a:off x="3041294" y="1783080"/>
            <a:ext cx="640080" cy="640080"/>
          </a:xfrm>
          <a:prstGeom prst="ellipse">
            <a:avLst/>
          </a:prstGeom>
          <a:solidFill>
            <a:schemeClr val="bg2"/>
          </a:solidFill>
          <a:ln w="12700">
            <a:solidFill>
              <a:schemeClr val="bg2"/>
            </a:solidFill>
            <a:prstDash val="solid"/>
          </a:ln>
        </p:spPr>
      </p:sp>
      <p:pic>
        <p:nvPicPr>
          <p:cNvPr id="14" name="Image 1" descr="preencoded.png">    </p:cNvPr>
          <p:cNvPicPr>
            <a:picLocks noChangeAspect="1"/>
          </p:cNvPicPr>
          <p:nvPr/>
        </p:nvPicPr>
        <p:blipFill>
          <a:blip r:embed="rId2"/>
          <a:stretch>
            <a:fillRect/>
          </a:stretch>
        </p:blipFill>
        <p:spPr>
          <a:xfrm>
            <a:off x="3182112" y="1923898"/>
            <a:ext cx="358445" cy="358445"/>
          </a:xfrm>
          <a:prstGeom prst="rect">
            <a:avLst/>
          </a:prstGeom>
        </p:spPr>
      </p:pic>
      <p:sp>
        <p:nvSpPr>
          <p:cNvPr id="15" name="Text 11"/>
          <p:cNvSpPr txBox="1"/>
          <p:nvPr/>
        </p:nvSpPr>
        <p:spPr>
          <a:xfrm>
            <a:off x="3041294"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Industrial</a:t>
            </a:r>
            <a:endParaRPr lang="en-US" sz="1800" dirty="0"/>
          </a:p>
        </p:txBody>
      </p:sp>
      <p:sp>
        <p:nvSpPr>
          <p:cNvPr id="16" name="Text 12"/>
          <p:cNvSpPr txBox="1"/>
          <p:nvPr/>
        </p:nvSpPr>
        <p:spPr>
          <a:xfrm>
            <a:off x="3041294"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Empresas que compran para producir</a:t>
            </a:r>
            <a:endParaRPr lang="en-US" sz="1200" dirty="0"/>
          </a:p>
        </p:txBody>
      </p:sp>
      <p:sp>
        <p:nvSpPr>
          <p:cNvPr id="17" name="Shape 13"/>
          <p:cNvSpPr/>
          <p:nvPr/>
        </p:nvSpPr>
        <p:spPr>
          <a:xfrm>
            <a:off x="3041294" y="3520440"/>
            <a:ext cx="1188720" cy="292608"/>
          </a:xfrm>
          <a:prstGeom prst="roundRect">
            <a:avLst>
              <a:gd name="adj" fmla="val 50000"/>
            </a:avLst>
          </a:prstGeom>
          <a:solidFill>
            <a:schemeClr val="bg2"/>
          </a:solidFill>
          <a:ln w="12700">
            <a:solidFill>
              <a:schemeClr val="bg2"/>
            </a:solidFill>
            <a:prstDash val="solid"/>
          </a:ln>
        </p:spPr>
      </p:sp>
      <p:sp>
        <p:nvSpPr>
          <p:cNvPr id="18" name="Text 14"/>
          <p:cNvSpPr txBox="1"/>
          <p:nvPr/>
        </p:nvSpPr>
        <p:spPr>
          <a:xfrm>
            <a:off x="3041294"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NO APLICA</a:t>
            </a:r>
            <a:endParaRPr lang="en-US" sz="1000" dirty="0"/>
          </a:p>
        </p:txBody>
      </p:sp>
      <p:sp>
        <p:nvSpPr>
          <p:cNvPr id="19" name="Text 15"/>
          <p:cNvSpPr txBox="1"/>
          <p:nvPr/>
        </p:nvSpPr>
        <p:spPr>
          <a:xfrm>
            <a:off x="3041294"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No vendemos insumos a otras empresas</a:t>
            </a:r>
            <a:endParaRPr lang="en-US" sz="1400" dirty="0"/>
          </a:p>
        </p:txBody>
      </p:sp>
      <p:sp>
        <p:nvSpPr>
          <p:cNvPr id="20" name="Shape 16"/>
          <p:cNvSpPr/>
          <p:nvPr/>
        </p:nvSpPr>
        <p:spPr>
          <a:xfrm>
            <a:off x="5076749"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7"/>
          <p:cNvSpPr/>
          <p:nvPr/>
        </p:nvSpPr>
        <p:spPr>
          <a:xfrm>
            <a:off x="5305349" y="1783080"/>
            <a:ext cx="640080" cy="640080"/>
          </a:xfrm>
          <a:prstGeom prst="ellipse">
            <a:avLst/>
          </a:prstGeom>
          <a:solidFill>
            <a:schemeClr val="bg2"/>
          </a:solidFill>
          <a:ln w="12700">
            <a:solidFill>
              <a:schemeClr val="bg2"/>
            </a:solidFill>
            <a:prstDash val="solid"/>
          </a:ln>
        </p:spPr>
      </p:sp>
      <p:pic>
        <p:nvPicPr>
          <p:cNvPr id="22" name="Image 2" descr="preencoded.png">    </p:cNvPr>
          <p:cNvPicPr>
            <a:picLocks noChangeAspect="1"/>
          </p:cNvPicPr>
          <p:nvPr/>
        </p:nvPicPr>
        <p:blipFill>
          <a:blip r:embed="rId3"/>
          <a:stretch>
            <a:fillRect/>
          </a:stretch>
        </p:blipFill>
        <p:spPr>
          <a:xfrm>
            <a:off x="5446166" y="1923898"/>
            <a:ext cx="358445" cy="358445"/>
          </a:xfrm>
          <a:prstGeom prst="rect">
            <a:avLst/>
          </a:prstGeom>
        </p:spPr>
      </p:pic>
      <p:sp>
        <p:nvSpPr>
          <p:cNvPr id="23" name="Text 18"/>
          <p:cNvSpPr txBox="1"/>
          <p:nvPr/>
        </p:nvSpPr>
        <p:spPr>
          <a:xfrm>
            <a:off x="5305349"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Servicios</a:t>
            </a:r>
            <a:endParaRPr lang="en-US" sz="1800" dirty="0"/>
          </a:p>
        </p:txBody>
      </p:sp>
      <p:sp>
        <p:nvSpPr>
          <p:cNvPr id="24" name="Text 19"/>
          <p:cNvSpPr txBox="1"/>
          <p:nvPr/>
        </p:nvSpPr>
        <p:spPr>
          <a:xfrm>
            <a:off x="5305349"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Compras de algo que no se toca</a:t>
            </a:r>
            <a:endParaRPr lang="en-US" sz="1200" dirty="0"/>
          </a:p>
        </p:txBody>
      </p:sp>
      <p:sp>
        <p:nvSpPr>
          <p:cNvPr id="25" name="Shape 20"/>
          <p:cNvSpPr/>
          <p:nvPr/>
        </p:nvSpPr>
        <p:spPr>
          <a:xfrm>
            <a:off x="5305349" y="3520440"/>
            <a:ext cx="1188720" cy="292608"/>
          </a:xfrm>
          <a:prstGeom prst="roundRect">
            <a:avLst>
              <a:gd name="adj" fmla="val 50000"/>
            </a:avLst>
          </a:prstGeom>
          <a:solidFill>
            <a:schemeClr val="bg2"/>
          </a:solidFill>
          <a:ln w="12700">
            <a:solidFill>
              <a:schemeClr val="bg2"/>
            </a:solidFill>
            <a:prstDash val="solid"/>
          </a:ln>
        </p:spPr>
      </p:sp>
      <p:sp>
        <p:nvSpPr>
          <p:cNvPr id="26" name="Text 21"/>
          <p:cNvSpPr txBox="1"/>
          <p:nvPr/>
        </p:nvSpPr>
        <p:spPr>
          <a:xfrm>
            <a:off x="5305349"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NO APLICA</a:t>
            </a:r>
            <a:endParaRPr lang="en-US" sz="1000" dirty="0"/>
          </a:p>
        </p:txBody>
      </p:sp>
      <p:sp>
        <p:nvSpPr>
          <p:cNvPr id="27" name="Text 22"/>
          <p:cNvSpPr txBox="1"/>
          <p:nvPr/>
        </p:nvSpPr>
        <p:spPr>
          <a:xfrm>
            <a:off x="5305349"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Vendemos un producto, no un servicio</a:t>
            </a:r>
            <a:endParaRPr lang="en-US" sz="1400" dirty="0"/>
          </a:p>
        </p:txBody>
      </p:sp>
      <p:sp>
        <p:nvSpPr>
          <p:cNvPr id="28" name="Shape 23"/>
          <p:cNvSpPr/>
          <p:nvPr/>
        </p:nvSpPr>
        <p:spPr>
          <a:xfrm>
            <a:off x="7340803"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9" name="Shape 24"/>
          <p:cNvSpPr/>
          <p:nvPr/>
        </p:nvSpPr>
        <p:spPr>
          <a:xfrm>
            <a:off x="7569403" y="1783080"/>
            <a:ext cx="640080" cy="640080"/>
          </a:xfrm>
          <a:prstGeom prst="ellipse">
            <a:avLst/>
          </a:prstGeom>
          <a:solidFill>
            <a:schemeClr val="bg2"/>
          </a:solidFill>
          <a:ln w="12700">
            <a:solidFill>
              <a:schemeClr val="bg2"/>
            </a:solidFill>
            <a:prstDash val="solid"/>
          </a:ln>
        </p:spPr>
      </p:sp>
      <p:pic>
        <p:nvPicPr>
          <p:cNvPr id="30" name="Image 3" descr="preencoded.png">    </p:cNvPr>
          <p:cNvPicPr>
            <a:picLocks noChangeAspect="1"/>
          </p:cNvPicPr>
          <p:nvPr/>
        </p:nvPicPr>
        <p:blipFill>
          <a:blip r:embed="rId4"/>
          <a:stretch>
            <a:fillRect/>
          </a:stretch>
        </p:blipFill>
        <p:spPr>
          <a:xfrm>
            <a:off x="7710221" y="1923898"/>
            <a:ext cx="358445" cy="358445"/>
          </a:xfrm>
          <a:prstGeom prst="rect">
            <a:avLst/>
          </a:prstGeom>
        </p:spPr>
      </p:pic>
      <p:sp>
        <p:nvSpPr>
          <p:cNvPr id="31" name="Text 25"/>
          <p:cNvSpPr txBox="1"/>
          <p:nvPr/>
        </p:nvSpPr>
        <p:spPr>
          <a:xfrm>
            <a:off x="7569403"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Gobierno</a:t>
            </a:r>
            <a:endParaRPr lang="en-US" sz="1800" dirty="0"/>
          </a:p>
        </p:txBody>
      </p:sp>
      <p:sp>
        <p:nvSpPr>
          <p:cNvPr id="32" name="Text 26"/>
          <p:cNvSpPr txBox="1"/>
          <p:nvPr/>
        </p:nvSpPr>
        <p:spPr>
          <a:xfrm>
            <a:off x="7569403"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El Estado como cliente</a:t>
            </a:r>
            <a:endParaRPr lang="en-US" sz="1200" dirty="0"/>
          </a:p>
        </p:txBody>
      </p:sp>
      <p:sp>
        <p:nvSpPr>
          <p:cNvPr id="33" name="Shape 27"/>
          <p:cNvSpPr/>
          <p:nvPr/>
        </p:nvSpPr>
        <p:spPr>
          <a:xfrm>
            <a:off x="7569403" y="3520440"/>
            <a:ext cx="1188720" cy="292608"/>
          </a:xfrm>
          <a:prstGeom prst="roundRect">
            <a:avLst>
              <a:gd name="adj" fmla="val 50000"/>
            </a:avLst>
          </a:prstGeom>
          <a:solidFill>
            <a:schemeClr val="accent3"/>
          </a:solidFill>
          <a:ln w="12700">
            <a:solidFill>
              <a:schemeClr val="accent3"/>
            </a:solidFill>
            <a:prstDash val="solid"/>
          </a:ln>
        </p:spPr>
      </p:sp>
      <p:sp>
        <p:nvSpPr>
          <p:cNvPr id="34" name="Text 28"/>
          <p:cNvSpPr txBox="1"/>
          <p:nvPr/>
        </p:nvSpPr>
        <p:spPr>
          <a:xfrm>
            <a:off x="7569403"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AÑO 3</a:t>
            </a:r>
            <a:endParaRPr lang="en-US" sz="1000" dirty="0"/>
          </a:p>
        </p:txBody>
      </p:sp>
      <p:sp>
        <p:nvSpPr>
          <p:cNvPr id="35" name="Text 29"/>
          <p:cNvSpPr txBox="1"/>
          <p:nvPr/>
        </p:nvSpPr>
        <p:spPr>
          <a:xfrm>
            <a:off x="7569403"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Programas contra la anemia, con licitación</a:t>
            </a:r>
            <a:endParaRPr lang="en-US" sz="1400" dirty="0"/>
          </a:p>
        </p:txBody>
      </p:sp>
      <p:sp>
        <p:nvSpPr>
          <p:cNvPr id="36" name="Shape 30"/>
          <p:cNvSpPr/>
          <p:nvPr/>
        </p:nvSpPr>
        <p:spPr>
          <a:xfrm>
            <a:off x="9604858" y="1554480"/>
            <a:ext cx="2035454" cy="3383280"/>
          </a:xfrm>
          <a:prstGeom prst="roundRect">
            <a:avLst>
              <a:gd name="adj" fmla="val 539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7" name="Shape 31"/>
          <p:cNvSpPr/>
          <p:nvPr/>
        </p:nvSpPr>
        <p:spPr>
          <a:xfrm>
            <a:off x="9833458" y="1783080"/>
            <a:ext cx="640080" cy="640080"/>
          </a:xfrm>
          <a:prstGeom prst="ellipse">
            <a:avLst/>
          </a:prstGeom>
          <a:solidFill>
            <a:schemeClr val="bg2"/>
          </a:solidFill>
          <a:ln w="12700">
            <a:solidFill>
              <a:schemeClr val="bg2"/>
            </a:solidFill>
            <a:prstDash val="solid"/>
          </a:ln>
        </p:spPr>
      </p:sp>
      <p:pic>
        <p:nvPicPr>
          <p:cNvPr id="38" name="Image 4" descr="preencoded.png">    </p:cNvPr>
          <p:cNvPicPr>
            <a:picLocks noChangeAspect="1"/>
          </p:cNvPicPr>
          <p:nvPr/>
        </p:nvPicPr>
        <p:blipFill>
          <a:blip r:embed="rId5"/>
          <a:stretch>
            <a:fillRect/>
          </a:stretch>
        </p:blipFill>
        <p:spPr>
          <a:xfrm>
            <a:off x="9974275" y="1923898"/>
            <a:ext cx="358445" cy="358445"/>
          </a:xfrm>
          <a:prstGeom prst="rect">
            <a:avLst/>
          </a:prstGeom>
        </p:spPr>
      </p:pic>
      <p:sp>
        <p:nvSpPr>
          <p:cNvPr id="39" name="Text 32"/>
          <p:cNvSpPr txBox="1"/>
          <p:nvPr/>
        </p:nvSpPr>
        <p:spPr>
          <a:xfrm>
            <a:off x="9833458" y="2542032"/>
            <a:ext cx="1669694" cy="384048"/>
          </a:xfrm>
          <a:prstGeom prst="rect">
            <a:avLst/>
          </a:prstGeom>
          <a:noFill/>
          <a:ln/>
        </p:spPr>
        <p:txBody>
          <a:bodyPr wrap="square" lIns="0" tIns="0" rIns="0" bIns="0" rtlCol="0" anchor="t"/>
          <a:lstStyle/>
          <a:p>
            <a:pPr indent="0" marL="0">
              <a:buNone/>
            </a:pPr>
            <a:r>
              <a:rPr lang="en-US" sz="1800" b="1" dirty="0">
                <a:solidFill>
                  <a:schemeClr val="tx2"/>
                </a:solidFill>
              </a:rPr>
              <a:t>Global</a:t>
            </a:r>
            <a:endParaRPr lang="en-US" sz="1800" dirty="0"/>
          </a:p>
        </p:txBody>
      </p:sp>
      <p:sp>
        <p:nvSpPr>
          <p:cNvPr id="40" name="Text 33"/>
          <p:cNvSpPr txBox="1"/>
          <p:nvPr/>
        </p:nvSpPr>
        <p:spPr>
          <a:xfrm>
            <a:off x="9833458" y="2926080"/>
            <a:ext cx="1669694" cy="548640"/>
          </a:xfrm>
          <a:prstGeom prst="rect">
            <a:avLst/>
          </a:prstGeom>
          <a:noFill/>
          <a:ln/>
        </p:spPr>
        <p:txBody>
          <a:bodyPr wrap="square" lIns="0" tIns="0" rIns="0" bIns="0" rtlCol="0" anchor="t"/>
          <a:lstStyle/>
          <a:p>
            <a:pPr indent="0" marL="0">
              <a:buNone/>
            </a:pPr>
            <a:r>
              <a:rPr lang="en-US" sz="1200" dirty="0">
                <a:solidFill>
                  <a:schemeClr val="accent2"/>
                </a:solidFill>
              </a:rPr>
              <a:t>Clientes fuera del país</a:t>
            </a:r>
            <a:endParaRPr lang="en-US" sz="1200" dirty="0"/>
          </a:p>
        </p:txBody>
      </p:sp>
      <p:sp>
        <p:nvSpPr>
          <p:cNvPr id="41" name="Shape 34"/>
          <p:cNvSpPr/>
          <p:nvPr/>
        </p:nvSpPr>
        <p:spPr>
          <a:xfrm>
            <a:off x="9833458" y="3520440"/>
            <a:ext cx="1188720" cy="292608"/>
          </a:xfrm>
          <a:prstGeom prst="roundRect">
            <a:avLst>
              <a:gd name="adj" fmla="val 50000"/>
            </a:avLst>
          </a:prstGeom>
          <a:solidFill>
            <a:schemeClr val="accent3"/>
          </a:solidFill>
          <a:ln w="12700">
            <a:solidFill>
              <a:schemeClr val="accent3"/>
            </a:solidFill>
            <a:prstDash val="solid"/>
          </a:ln>
        </p:spPr>
      </p:sp>
      <p:sp>
        <p:nvSpPr>
          <p:cNvPr id="42" name="Text 35"/>
          <p:cNvSpPr txBox="1"/>
          <p:nvPr/>
        </p:nvSpPr>
        <p:spPr>
          <a:xfrm>
            <a:off x="9833458" y="3520440"/>
            <a:ext cx="1188720" cy="292608"/>
          </a:xfrm>
          <a:prstGeom prst="rect">
            <a:avLst/>
          </a:prstGeom>
          <a:noFill/>
          <a:ln/>
        </p:spPr>
        <p:txBody>
          <a:bodyPr wrap="square" lIns="0" tIns="0" rIns="0" bIns="0" rtlCol="0" anchor="ctr"/>
          <a:lstStyle/>
          <a:p>
            <a:pPr algn="ctr" indent="0" marL="0">
              <a:buNone/>
            </a:pPr>
            <a:r>
              <a:rPr lang="en-US" sz="1000" b="1" spc="100" kern="0" dirty="0">
                <a:solidFill>
                  <a:schemeClr val="tx2"/>
                </a:solidFill>
              </a:rPr>
              <a:t>AÑO 3</a:t>
            </a:r>
            <a:endParaRPr lang="en-US" sz="1000" dirty="0"/>
          </a:p>
        </p:txBody>
      </p:sp>
      <p:sp>
        <p:nvSpPr>
          <p:cNvPr id="43" name="Text 36"/>
          <p:cNvSpPr txBox="1"/>
          <p:nvPr/>
        </p:nvSpPr>
        <p:spPr>
          <a:xfrm>
            <a:off x="9833458" y="3931920"/>
            <a:ext cx="1669694" cy="914400"/>
          </a:xfrm>
          <a:prstGeom prst="rect">
            <a:avLst/>
          </a:prstGeom>
          <a:noFill/>
          <a:ln/>
        </p:spPr>
        <p:txBody>
          <a:bodyPr wrap="square" lIns="0" tIns="0" rIns="0" bIns="0" rtlCol="0" anchor="t"/>
          <a:lstStyle/>
          <a:p>
            <a:pPr indent="0" marL="0">
              <a:buNone/>
            </a:pPr>
            <a:r>
              <a:rPr lang="en-US" sz="1400" dirty="0">
                <a:solidFill>
                  <a:schemeClr val="tx1"/>
                </a:solidFill>
              </a:rPr>
              <a:t>Peruanos en Chile y EE. UU.</a:t>
            </a:r>
            <a:endParaRPr lang="en-US" sz="1400" dirty="0"/>
          </a:p>
        </p:txBody>
      </p:sp>
      <p:sp>
        <p:nvSpPr>
          <p:cNvPr id="44" name="Text 37"/>
          <p:cNvSpPr txBox="1"/>
          <p:nvPr/>
        </p:nvSpPr>
        <p:spPr>
          <a:xfrm>
            <a:off x="548640" y="5138928"/>
            <a:ext cx="5486400" cy="292608"/>
          </a:xfrm>
          <a:prstGeom prst="rect">
            <a:avLst/>
          </a:prstGeom>
          <a:noFill/>
          <a:ln/>
        </p:spPr>
        <p:txBody>
          <a:bodyPr wrap="square" lIns="0" tIns="0" rIns="0" bIns="0" rtlCol="0" anchor="t"/>
          <a:lstStyle/>
          <a:p>
            <a:pPr indent="0" marL="0">
              <a:buNone/>
            </a:pPr>
            <a:r>
              <a:rPr lang="en-US" sz="1400" b="1" dirty="0">
                <a:solidFill>
                  <a:schemeClr val="tx2"/>
                </a:solidFill>
              </a:rPr>
              <a:t>Dentro del mercado de consumo</a:t>
            </a:r>
            <a:endParaRPr lang="en-US" sz="1400" dirty="0"/>
          </a:p>
        </p:txBody>
      </p:sp>
      <p:sp>
        <p:nvSpPr>
          <p:cNvPr id="45" name="Shape 38"/>
          <p:cNvSpPr/>
          <p:nvPr/>
        </p:nvSpPr>
        <p:spPr>
          <a:xfrm>
            <a:off x="548640" y="5486400"/>
            <a:ext cx="11091672" cy="566928"/>
          </a:xfrm>
          <a:prstGeom prst="roundRect">
            <a:avLst>
              <a:gd name="adj" fmla="val 16129"/>
            </a:avLst>
          </a:prstGeom>
          <a:solidFill>
            <a:schemeClr val="tx2"/>
          </a:solidFill>
          <a:ln w="12700">
            <a:solidFill>
              <a:schemeClr val="tx2"/>
            </a:solidFill>
            <a:prstDash val="solid"/>
          </a:ln>
        </p:spPr>
      </p:sp>
      <p:sp>
        <p:nvSpPr>
          <p:cNvPr id="46" name="Text 39"/>
          <p:cNvSpPr txBox="1"/>
          <p:nvPr/>
        </p:nvSpPr>
        <p:spPr>
          <a:xfrm>
            <a:off x="777240" y="5486400"/>
            <a:ext cx="10698480" cy="566928"/>
          </a:xfrm>
          <a:prstGeom prst="rect">
            <a:avLst/>
          </a:prstGeom>
          <a:noFill/>
          <a:ln/>
        </p:spPr>
        <p:txBody>
          <a:bodyPr wrap="square" lIns="0" tIns="0" rIns="0" bIns="0" rtlCol="0" anchor="ctr"/>
          <a:lstStyle/>
          <a:p>
            <a:pPr indent="0" marL="0">
              <a:buNone/>
            </a:pPr>
            <a:r>
              <a:rPr lang="en-US" sz="1500" b="1" dirty="0">
                <a:solidFill>
                  <a:schemeClr val="bg1"/>
                </a:solidFill>
              </a:rPr>
              <a:t>Nicho: 46,000 hogares A/B con hijos de 4 a 11 · dos segmentos: salud (Claudia) y tiempo (Rodrigo)</a:t>
            </a:r>
            <a:endParaRPr lang="en-US" sz="15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TAMAÑO DEL MERCADO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Un nicho chico, pero con billetera</a:t>
            </a:r>
            <a:endParaRPr lang="en-US" sz="3400" dirty="0"/>
          </a:p>
        </p:txBody>
      </p:sp>
      <p:sp>
        <p:nvSpPr>
          <p:cNvPr id="4" name="Shape 2"/>
          <p:cNvSpPr/>
          <p:nvPr/>
        </p:nvSpPr>
        <p:spPr>
          <a:xfrm>
            <a:off x="594360" y="1554480"/>
            <a:ext cx="6035040" cy="914400"/>
          </a:xfrm>
          <a:prstGeom prst="roundRect">
            <a:avLst>
              <a:gd name="adj" fmla="val 12000"/>
            </a:avLst>
          </a:prstGeom>
          <a:solidFill>
            <a:schemeClr val="accent5"/>
          </a:solidFill>
          <a:ln w="12700">
            <a:solidFill>
              <a:schemeClr val="accent5"/>
            </a:solidFill>
            <a:prstDash val="solid"/>
          </a:ln>
        </p:spPr>
      </p:sp>
      <p:sp>
        <p:nvSpPr>
          <p:cNvPr id="5" name="Text 3"/>
          <p:cNvSpPr txBox="1"/>
          <p:nvPr/>
        </p:nvSpPr>
        <p:spPr>
          <a:xfrm>
            <a:off x="731520" y="1554480"/>
            <a:ext cx="5760720" cy="914400"/>
          </a:xfrm>
          <a:prstGeom prst="rect">
            <a:avLst/>
          </a:prstGeom>
          <a:noFill/>
          <a:ln/>
        </p:spPr>
        <p:txBody>
          <a:bodyPr wrap="square" lIns="0" tIns="0" rIns="0" bIns="0" rtlCol="0" anchor="ctr"/>
          <a:lstStyle/>
          <a:p>
            <a:pPr algn="ctr" indent="0" marL="0">
              <a:buNone/>
            </a:pPr>
            <a:r>
              <a:rPr lang="en-US" sz="1800" b="1" dirty="0">
                <a:solidFill>
                  <a:schemeClr val="tx1"/>
                </a:solidFill>
              </a:rPr>
              <a:t>TAM · S/130.9 millones</a:t>
            </a:r>
            <a:endParaRPr lang="en-US" sz="1400" dirty="0"/>
          </a:p>
          <a:p>
            <a:pPr algn="ctr" indent="0" marL="0">
              <a:buNone/>
            </a:pPr>
            <a:r>
              <a:rPr lang="en-US" sz="1200" dirty="0">
                <a:solidFill>
                  <a:schemeClr val="tx1"/>
                </a:solidFill>
              </a:rPr>
              <a:t>932 mil hogares · todas las loncheras de Lima</a:t>
            </a:r>
            <a:endParaRPr lang="en-US" sz="1400" dirty="0"/>
          </a:p>
        </p:txBody>
      </p:sp>
      <p:sp>
        <p:nvSpPr>
          <p:cNvPr id="6" name="Shape 4"/>
          <p:cNvSpPr/>
          <p:nvPr/>
        </p:nvSpPr>
        <p:spPr>
          <a:xfrm>
            <a:off x="1143000" y="2633472"/>
            <a:ext cx="4937760" cy="914400"/>
          </a:xfrm>
          <a:prstGeom prst="roundRect">
            <a:avLst>
              <a:gd name="adj" fmla="val 12000"/>
            </a:avLst>
          </a:prstGeom>
          <a:solidFill>
            <a:schemeClr val="accent2"/>
          </a:solidFill>
          <a:ln w="12700">
            <a:solidFill>
              <a:schemeClr val="accent2"/>
            </a:solidFill>
            <a:prstDash val="solid"/>
          </a:ln>
        </p:spPr>
      </p:sp>
      <p:sp>
        <p:nvSpPr>
          <p:cNvPr id="7" name="Text 5"/>
          <p:cNvSpPr txBox="1"/>
          <p:nvPr/>
        </p:nvSpPr>
        <p:spPr>
          <a:xfrm>
            <a:off x="1280160" y="2633472"/>
            <a:ext cx="4663440" cy="914400"/>
          </a:xfrm>
          <a:prstGeom prst="rect">
            <a:avLst/>
          </a:prstGeom>
          <a:noFill/>
          <a:ln/>
        </p:spPr>
        <p:txBody>
          <a:bodyPr wrap="square" lIns="0" tIns="0" rIns="0" bIns="0" rtlCol="0" anchor="ctr"/>
          <a:lstStyle/>
          <a:p>
            <a:pPr algn="ctr" indent="0" marL="0">
              <a:buNone/>
            </a:pPr>
            <a:r>
              <a:rPr lang="en-US" sz="1800" b="1" dirty="0">
                <a:solidFill>
                  <a:schemeClr val="bg1"/>
                </a:solidFill>
              </a:rPr>
              <a:t>SAM · S/62.8 millones</a:t>
            </a:r>
            <a:endParaRPr lang="en-US" sz="1400" dirty="0"/>
          </a:p>
          <a:p>
            <a:pPr algn="ctr" indent="0" marL="0">
              <a:buNone/>
            </a:pPr>
            <a:r>
              <a:rPr lang="en-US" sz="1200" dirty="0">
                <a:solidFill>
                  <a:schemeClr val="bg1"/>
                </a:solidFill>
              </a:rPr>
              <a:t>168 mil hogares A/B con niños de 4 a 11</a:t>
            </a:r>
            <a:endParaRPr lang="en-US" sz="1400" dirty="0"/>
          </a:p>
        </p:txBody>
      </p:sp>
      <p:sp>
        <p:nvSpPr>
          <p:cNvPr id="8" name="Shape 6"/>
          <p:cNvSpPr/>
          <p:nvPr/>
        </p:nvSpPr>
        <p:spPr>
          <a:xfrm>
            <a:off x="1691640" y="3712464"/>
            <a:ext cx="3840480" cy="914400"/>
          </a:xfrm>
          <a:prstGeom prst="roundRect">
            <a:avLst>
              <a:gd name="adj" fmla="val 12000"/>
            </a:avLst>
          </a:prstGeom>
          <a:solidFill>
            <a:schemeClr val="accent1"/>
          </a:solidFill>
          <a:ln w="12700">
            <a:solidFill>
              <a:schemeClr val="accent1"/>
            </a:solidFill>
            <a:prstDash val="solid"/>
          </a:ln>
        </p:spPr>
      </p:sp>
      <p:sp>
        <p:nvSpPr>
          <p:cNvPr id="9" name="Text 7"/>
          <p:cNvSpPr txBox="1"/>
          <p:nvPr/>
        </p:nvSpPr>
        <p:spPr>
          <a:xfrm>
            <a:off x="1828800" y="3712464"/>
            <a:ext cx="3566160" cy="914400"/>
          </a:xfrm>
          <a:prstGeom prst="rect">
            <a:avLst/>
          </a:prstGeom>
          <a:noFill/>
          <a:ln/>
        </p:spPr>
        <p:txBody>
          <a:bodyPr wrap="square" lIns="0" tIns="0" rIns="0" bIns="0" rtlCol="0" anchor="ctr"/>
          <a:lstStyle/>
          <a:p>
            <a:pPr algn="ctr" indent="0" marL="0">
              <a:buNone/>
            </a:pPr>
            <a:r>
              <a:rPr lang="en-US" sz="1800" b="1" dirty="0">
                <a:solidFill>
                  <a:schemeClr val="bg1"/>
                </a:solidFill>
              </a:rPr>
              <a:t>Núcleo · S/17.3 millones</a:t>
            </a:r>
            <a:endParaRPr lang="en-US" sz="1400" dirty="0"/>
          </a:p>
          <a:p>
            <a:pPr algn="ctr" indent="0" marL="0">
              <a:buNone/>
            </a:pPr>
            <a:r>
              <a:rPr lang="en-US" sz="1200" dirty="0">
                <a:solidFill>
                  <a:schemeClr val="bg1"/>
                </a:solidFill>
              </a:rPr>
              <a:t>46 mil hogares en Lima Top y Moderna</a:t>
            </a:r>
            <a:endParaRPr lang="en-US" sz="1400" dirty="0"/>
          </a:p>
        </p:txBody>
      </p:sp>
      <p:sp>
        <p:nvSpPr>
          <p:cNvPr id="10" name="Shape 8"/>
          <p:cNvSpPr/>
          <p:nvPr/>
        </p:nvSpPr>
        <p:spPr>
          <a:xfrm>
            <a:off x="2240280" y="4791456"/>
            <a:ext cx="2743200" cy="914400"/>
          </a:xfrm>
          <a:prstGeom prst="roundRect">
            <a:avLst>
              <a:gd name="adj" fmla="val 12000"/>
            </a:avLst>
          </a:prstGeom>
          <a:solidFill>
            <a:schemeClr val="tx2"/>
          </a:solidFill>
          <a:ln w="12700">
            <a:solidFill>
              <a:schemeClr val="tx2"/>
            </a:solidFill>
            <a:prstDash val="solid"/>
          </a:ln>
        </p:spPr>
      </p:sp>
      <p:sp>
        <p:nvSpPr>
          <p:cNvPr id="11" name="Text 9"/>
          <p:cNvSpPr txBox="1"/>
          <p:nvPr/>
        </p:nvSpPr>
        <p:spPr>
          <a:xfrm>
            <a:off x="2377440" y="4791456"/>
            <a:ext cx="2468880" cy="914400"/>
          </a:xfrm>
          <a:prstGeom prst="rect">
            <a:avLst/>
          </a:prstGeom>
          <a:noFill/>
          <a:ln/>
        </p:spPr>
        <p:txBody>
          <a:bodyPr wrap="square" lIns="0" tIns="0" rIns="0" bIns="0" rtlCol="0" anchor="ctr"/>
          <a:lstStyle/>
          <a:p>
            <a:pPr algn="ctr" indent="0" marL="0">
              <a:buNone/>
            </a:pPr>
            <a:r>
              <a:rPr lang="en-US" sz="1800" b="1" dirty="0">
                <a:solidFill>
                  <a:schemeClr val="bg1"/>
                </a:solidFill>
              </a:rPr>
              <a:t>SOM año 1 · S/0.25 M</a:t>
            </a:r>
            <a:endParaRPr lang="en-US" sz="1400" dirty="0"/>
          </a:p>
          <a:p>
            <a:pPr algn="ctr" indent="0" marL="0">
              <a:buNone/>
            </a:pPr>
            <a:r>
              <a:rPr lang="en-US" sz="1200" dirty="0">
                <a:solidFill>
                  <a:schemeClr val="bg1"/>
                </a:solidFill>
              </a:rPr>
              <a:t>52,786 brownies · 1 a 3 puntos</a:t>
            </a:r>
            <a:endParaRPr lang="en-US" sz="1400" dirty="0"/>
          </a:p>
        </p:txBody>
      </p:sp>
      <p:sp>
        <p:nvSpPr>
          <p:cNvPr id="12" name="Shape 10"/>
          <p:cNvSpPr/>
          <p:nvPr/>
        </p:nvSpPr>
        <p:spPr>
          <a:xfrm>
            <a:off x="7086600" y="1554480"/>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1"/>
          <p:cNvSpPr txBox="1"/>
          <p:nvPr/>
        </p:nvSpPr>
        <p:spPr>
          <a:xfrm>
            <a:off x="7315200" y="1554480"/>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53.1 %</a:t>
            </a:r>
            <a:endParaRPr lang="en-US" sz="3200" dirty="0"/>
          </a:p>
        </p:txBody>
      </p:sp>
      <p:sp>
        <p:nvSpPr>
          <p:cNvPr id="14" name="Text 12"/>
          <p:cNvSpPr txBox="1"/>
          <p:nvPr/>
        </p:nvSpPr>
        <p:spPr>
          <a:xfrm>
            <a:off x="9144000" y="1691640"/>
            <a:ext cx="2313432" cy="1024128"/>
          </a:xfrm>
          <a:prstGeom prst="rect">
            <a:avLst/>
          </a:prstGeom>
          <a:noFill/>
          <a:ln/>
        </p:spPr>
        <p:txBody>
          <a:bodyPr wrap="square" lIns="0" tIns="0" rIns="0" bIns="0" rtlCol="0" anchor="ctr"/>
          <a:lstStyle/>
          <a:p>
            <a:pPr indent="0" marL="0">
              <a:buNone/>
            </a:pPr>
            <a:r>
              <a:rPr lang="en-US" sz="1400" dirty="0">
                <a:solidFill>
                  <a:schemeClr val="tx1"/>
                </a:solidFill>
              </a:rPr>
              <a:t>de los nacimientos de Lima son de madres de 30 años o más</a:t>
            </a:r>
            <a:endParaRPr lang="en-US" sz="1400" dirty="0"/>
          </a:p>
          <a:p>
            <a:pPr indent="0" marL="0">
              <a:buNone/>
            </a:pPr>
            <a:r>
              <a:rPr lang="en-US" sz="1100" i="1" dirty="0">
                <a:solidFill>
                  <a:schemeClr val="accent2"/>
                </a:solidFill>
              </a:rPr>
              <a:t>INEI 2022</a:t>
            </a:r>
            <a:endParaRPr lang="en-US" sz="1400" dirty="0"/>
          </a:p>
        </p:txBody>
      </p:sp>
      <p:sp>
        <p:nvSpPr>
          <p:cNvPr id="15" name="Shape 13"/>
          <p:cNvSpPr/>
          <p:nvPr/>
        </p:nvSpPr>
        <p:spPr>
          <a:xfrm>
            <a:off x="7086600" y="3035808"/>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Text 14"/>
          <p:cNvSpPr txBox="1"/>
          <p:nvPr/>
        </p:nvSpPr>
        <p:spPr>
          <a:xfrm>
            <a:off x="7315200" y="3035808"/>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83 %</a:t>
            </a:r>
            <a:endParaRPr lang="en-US" sz="3200" dirty="0"/>
          </a:p>
        </p:txBody>
      </p:sp>
      <p:sp>
        <p:nvSpPr>
          <p:cNvPr id="17" name="Text 15"/>
          <p:cNvSpPr txBox="1"/>
          <p:nvPr/>
        </p:nvSpPr>
        <p:spPr>
          <a:xfrm>
            <a:off x="9144000" y="3172968"/>
            <a:ext cx="2313432" cy="1024128"/>
          </a:xfrm>
          <a:prstGeom prst="rect">
            <a:avLst/>
          </a:prstGeom>
          <a:noFill/>
          <a:ln/>
        </p:spPr>
        <p:txBody>
          <a:bodyPr wrap="square" lIns="0" tIns="0" rIns="0" bIns="0" rtlCol="0" anchor="ctr"/>
          <a:lstStyle/>
          <a:p>
            <a:pPr indent="0" marL="0">
              <a:buNone/>
            </a:pPr>
            <a:r>
              <a:rPr lang="en-US" sz="1400" dirty="0">
                <a:solidFill>
                  <a:schemeClr val="tx1"/>
                </a:solidFill>
              </a:rPr>
              <a:t>cambia su compra por los octógonos; 70 % teme el "Alto en azúcar"</a:t>
            </a:r>
            <a:endParaRPr lang="en-US" sz="1400" dirty="0"/>
          </a:p>
          <a:p>
            <a:pPr indent="0" marL="0">
              <a:buNone/>
            </a:pPr>
            <a:r>
              <a:rPr lang="en-US" sz="1100" i="1" dirty="0">
                <a:solidFill>
                  <a:schemeClr val="accent2"/>
                </a:solidFill>
              </a:rPr>
              <a:t>Ipsos 2025</a:t>
            </a:r>
            <a:endParaRPr lang="en-US" sz="1400" dirty="0"/>
          </a:p>
        </p:txBody>
      </p:sp>
      <p:sp>
        <p:nvSpPr>
          <p:cNvPr id="18" name="Shape 16"/>
          <p:cNvSpPr/>
          <p:nvPr/>
        </p:nvSpPr>
        <p:spPr>
          <a:xfrm>
            <a:off x="7086600" y="4517136"/>
            <a:ext cx="4553712" cy="1298448"/>
          </a:xfrm>
          <a:prstGeom prst="roundRect">
            <a:avLst>
              <a:gd name="adj" fmla="val 845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Text 17"/>
          <p:cNvSpPr txBox="1"/>
          <p:nvPr/>
        </p:nvSpPr>
        <p:spPr>
          <a:xfrm>
            <a:off x="7315200" y="4517136"/>
            <a:ext cx="1783080" cy="1298448"/>
          </a:xfrm>
          <a:prstGeom prst="rect">
            <a:avLst/>
          </a:prstGeom>
          <a:noFill/>
          <a:ln/>
        </p:spPr>
        <p:txBody>
          <a:bodyPr wrap="square" lIns="0" tIns="0" rIns="0" bIns="0" rtlCol="0" anchor="ctr"/>
          <a:lstStyle/>
          <a:p>
            <a:pPr indent="0" marL="0">
              <a:buNone/>
            </a:pPr>
            <a:r>
              <a:rPr lang="en-US" sz="3200" b="1" dirty="0">
                <a:solidFill>
                  <a:schemeClr val="accent1"/>
                </a:solidFill>
              </a:rPr>
              <a:t>S/1,709</a:t>
            </a:r>
            <a:endParaRPr lang="en-US" sz="3200" dirty="0"/>
          </a:p>
        </p:txBody>
      </p:sp>
      <p:sp>
        <p:nvSpPr>
          <p:cNvPr id="20" name="Text 18"/>
          <p:cNvSpPr txBox="1"/>
          <p:nvPr/>
        </p:nvSpPr>
        <p:spPr>
          <a:xfrm>
            <a:off x="9144000" y="4654296"/>
            <a:ext cx="2313432" cy="1024128"/>
          </a:xfrm>
          <a:prstGeom prst="rect">
            <a:avLst/>
          </a:prstGeom>
          <a:noFill/>
          <a:ln/>
        </p:spPr>
        <p:txBody>
          <a:bodyPr wrap="square" lIns="0" tIns="0" rIns="0" bIns="0" rtlCol="0" anchor="ctr"/>
          <a:lstStyle/>
          <a:p>
            <a:pPr indent="0" marL="0">
              <a:buNone/>
            </a:pPr>
            <a:r>
              <a:rPr lang="en-US" sz="1400" dirty="0">
                <a:solidFill>
                  <a:schemeClr val="tx1"/>
                </a:solidFill>
              </a:rPr>
              <a:t>gasta al mes un hogar A en educación y salud</a:t>
            </a:r>
            <a:endParaRPr lang="en-US" sz="1400" dirty="0"/>
          </a:p>
          <a:p>
            <a:pPr indent="0" marL="0">
              <a:buNone/>
            </a:pPr>
            <a:r>
              <a:rPr lang="en-US" sz="1100" i="1" dirty="0">
                <a:solidFill>
                  <a:schemeClr val="accent2"/>
                </a:solidFill>
              </a:rPr>
              <a:t>APEIM 2025</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CANAL DE DISTRIBUCIÓN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niño prueba en el stand y el padre compra ahí</a:t>
            </a:r>
            <a:endParaRPr lang="en-US" sz="3400" dirty="0"/>
          </a:p>
        </p:txBody>
      </p:sp>
      <p:sp>
        <p:nvSpPr>
          <p:cNvPr id="4" name="Shape 2"/>
          <p:cNvSpPr/>
          <p:nvPr/>
        </p:nvSpPr>
        <p:spPr>
          <a:xfrm>
            <a:off x="1600200" y="2057400"/>
            <a:ext cx="1207008" cy="0"/>
          </a:xfrm>
          <a:prstGeom prst="line">
            <a:avLst/>
          </a:prstGeom>
          <a:noFill/>
          <a:ln w="25400">
            <a:solidFill>
              <a:schemeClr val="accent5"/>
            </a:solidFill>
            <a:prstDash val="dash"/>
            <a:tailEnd type="triangle"/>
          </a:ln>
        </p:spPr>
      </p:sp>
      <p:sp>
        <p:nvSpPr>
          <p:cNvPr id="5" name="Shape 3"/>
          <p:cNvSpPr/>
          <p:nvPr/>
        </p:nvSpPr>
        <p:spPr>
          <a:xfrm>
            <a:off x="548640" y="1600200"/>
            <a:ext cx="914400" cy="914400"/>
          </a:xfrm>
          <a:prstGeom prst="ellipse">
            <a:avLst/>
          </a:prstGeom>
          <a:solidFill>
            <a:schemeClr val="tx2"/>
          </a:solidFill>
          <a:ln w="12700">
            <a:solidFill>
              <a:schemeClr val="tx2"/>
            </a:solidFill>
            <a:prstDash val="solid"/>
          </a:ln>
        </p:spPr>
      </p:sp>
      <p:pic>
        <p:nvPicPr>
          <p:cNvPr id="6" name="Image 0" descr="preencoded.png">    </p:cNvPr>
          <p:cNvPicPr>
            <a:picLocks noChangeAspect="1"/>
          </p:cNvPicPr>
          <p:nvPr/>
        </p:nvPicPr>
        <p:blipFill>
          <a:blip r:embed="rId1"/>
          <a:stretch>
            <a:fillRect/>
          </a:stretch>
        </p:blipFill>
        <p:spPr>
          <a:xfrm>
            <a:off x="749808" y="1801368"/>
            <a:ext cx="512064" cy="512064"/>
          </a:xfrm>
          <a:prstGeom prst="rect">
            <a:avLst/>
          </a:prstGeom>
        </p:spPr>
      </p:pic>
      <p:sp>
        <p:nvSpPr>
          <p:cNvPr id="7" name="Text 4"/>
          <p:cNvSpPr txBox="1"/>
          <p:nvPr/>
        </p:nvSpPr>
        <p:spPr>
          <a:xfrm>
            <a:off x="548640"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1 · Información</a:t>
            </a:r>
            <a:endParaRPr lang="en-US" sz="1700" dirty="0"/>
          </a:p>
        </p:txBody>
      </p:sp>
      <p:sp>
        <p:nvSpPr>
          <p:cNvPr id="8" name="Text 5"/>
          <p:cNvSpPr txBox="1"/>
          <p:nvPr/>
        </p:nvSpPr>
        <p:spPr>
          <a:xfrm>
            <a:off x="548640"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Stand en mall o súper, Instagram y chat del salón</a:t>
            </a:r>
            <a:endParaRPr lang="en-US" sz="1400" dirty="0"/>
          </a:p>
        </p:txBody>
      </p:sp>
      <p:sp>
        <p:nvSpPr>
          <p:cNvPr id="9" name="Shape 6"/>
          <p:cNvSpPr/>
          <p:nvPr/>
        </p:nvSpPr>
        <p:spPr>
          <a:xfrm>
            <a:off x="3858768" y="2057400"/>
            <a:ext cx="1207008" cy="0"/>
          </a:xfrm>
          <a:prstGeom prst="line">
            <a:avLst/>
          </a:prstGeom>
          <a:noFill/>
          <a:ln w="25400">
            <a:solidFill>
              <a:schemeClr val="accent5"/>
            </a:solidFill>
            <a:prstDash val="dash"/>
            <a:tailEnd type="triangle"/>
          </a:ln>
        </p:spPr>
      </p:sp>
      <p:sp>
        <p:nvSpPr>
          <p:cNvPr id="10" name="Shape 7"/>
          <p:cNvSpPr/>
          <p:nvPr/>
        </p:nvSpPr>
        <p:spPr>
          <a:xfrm>
            <a:off x="2807208" y="1600200"/>
            <a:ext cx="914400" cy="91440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3008376" y="1801368"/>
            <a:ext cx="512064" cy="512064"/>
          </a:xfrm>
          <a:prstGeom prst="rect">
            <a:avLst/>
          </a:prstGeom>
        </p:spPr>
      </p:pic>
      <p:sp>
        <p:nvSpPr>
          <p:cNvPr id="12" name="Text 8"/>
          <p:cNvSpPr txBox="1"/>
          <p:nvPr/>
        </p:nvSpPr>
        <p:spPr>
          <a:xfrm>
            <a:off x="2807208"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2 · Evaluación</a:t>
            </a:r>
            <a:endParaRPr lang="en-US" sz="1700" dirty="0"/>
          </a:p>
        </p:txBody>
      </p:sp>
      <p:sp>
        <p:nvSpPr>
          <p:cNvPr id="13" name="Text 9"/>
          <p:cNvSpPr txBox="1"/>
          <p:nvPr/>
        </p:nvSpPr>
        <p:spPr>
          <a:xfrm>
            <a:off x="2807208"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Degustación gratis: el niño prueba delante del padre</a:t>
            </a:r>
            <a:endParaRPr lang="en-US" sz="1400" dirty="0"/>
          </a:p>
        </p:txBody>
      </p:sp>
      <p:sp>
        <p:nvSpPr>
          <p:cNvPr id="14" name="Shape 10"/>
          <p:cNvSpPr/>
          <p:nvPr/>
        </p:nvSpPr>
        <p:spPr>
          <a:xfrm>
            <a:off x="6117336" y="2057400"/>
            <a:ext cx="1207008" cy="0"/>
          </a:xfrm>
          <a:prstGeom prst="line">
            <a:avLst/>
          </a:prstGeom>
          <a:noFill/>
          <a:ln w="25400">
            <a:solidFill>
              <a:schemeClr val="accent5"/>
            </a:solidFill>
            <a:prstDash val="dash"/>
            <a:tailEnd type="triangle"/>
          </a:ln>
        </p:spPr>
      </p:sp>
      <p:sp>
        <p:nvSpPr>
          <p:cNvPr id="15" name="Shape 11"/>
          <p:cNvSpPr/>
          <p:nvPr/>
        </p:nvSpPr>
        <p:spPr>
          <a:xfrm>
            <a:off x="5065776" y="1600200"/>
            <a:ext cx="914400" cy="914400"/>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5266944" y="1801368"/>
            <a:ext cx="512064" cy="512064"/>
          </a:xfrm>
          <a:prstGeom prst="rect">
            <a:avLst/>
          </a:prstGeom>
        </p:spPr>
      </p:pic>
      <p:sp>
        <p:nvSpPr>
          <p:cNvPr id="17" name="Text 12"/>
          <p:cNvSpPr txBox="1"/>
          <p:nvPr/>
        </p:nvSpPr>
        <p:spPr>
          <a:xfrm>
            <a:off x="5065776"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3 · Compra</a:t>
            </a:r>
            <a:endParaRPr lang="en-US" sz="1700" dirty="0"/>
          </a:p>
        </p:txBody>
      </p:sp>
      <p:sp>
        <p:nvSpPr>
          <p:cNvPr id="18" name="Text 13"/>
          <p:cNvSpPr txBox="1"/>
          <p:nvPr/>
        </p:nvSpPr>
        <p:spPr>
          <a:xfrm>
            <a:off x="5065776"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Unidad a S/6 o pack a S/27.90, con Yape o tarjeta</a:t>
            </a:r>
            <a:endParaRPr lang="en-US" sz="1400" dirty="0"/>
          </a:p>
        </p:txBody>
      </p:sp>
      <p:sp>
        <p:nvSpPr>
          <p:cNvPr id="19" name="Shape 14"/>
          <p:cNvSpPr/>
          <p:nvPr/>
        </p:nvSpPr>
        <p:spPr>
          <a:xfrm>
            <a:off x="8375904" y="2057400"/>
            <a:ext cx="1207008" cy="0"/>
          </a:xfrm>
          <a:prstGeom prst="line">
            <a:avLst/>
          </a:prstGeom>
          <a:noFill/>
          <a:ln w="25400">
            <a:solidFill>
              <a:schemeClr val="accent5"/>
            </a:solidFill>
            <a:prstDash val="dash"/>
            <a:tailEnd type="triangle"/>
          </a:ln>
        </p:spPr>
      </p:sp>
      <p:sp>
        <p:nvSpPr>
          <p:cNvPr id="20" name="Shape 15"/>
          <p:cNvSpPr/>
          <p:nvPr/>
        </p:nvSpPr>
        <p:spPr>
          <a:xfrm>
            <a:off x="7324344" y="1600200"/>
            <a:ext cx="914400" cy="914400"/>
          </a:xfrm>
          <a:prstGeom prst="ellipse">
            <a:avLst/>
          </a:prstGeom>
          <a:solidFill>
            <a:schemeClr val="tx2"/>
          </a:solidFill>
          <a:ln w="12700">
            <a:solidFill>
              <a:schemeClr val="tx2"/>
            </a:solidFill>
            <a:prstDash val="solid"/>
          </a:ln>
        </p:spPr>
      </p:sp>
      <p:pic>
        <p:nvPicPr>
          <p:cNvPr id="21" name="Image 3" descr="preencoded.png">    </p:cNvPr>
          <p:cNvPicPr>
            <a:picLocks noChangeAspect="1"/>
          </p:cNvPicPr>
          <p:nvPr/>
        </p:nvPicPr>
        <p:blipFill>
          <a:blip r:embed="rId4"/>
          <a:stretch>
            <a:fillRect/>
          </a:stretch>
        </p:blipFill>
        <p:spPr>
          <a:xfrm>
            <a:off x="7525512" y="1801368"/>
            <a:ext cx="512064" cy="512064"/>
          </a:xfrm>
          <a:prstGeom prst="rect">
            <a:avLst/>
          </a:prstGeom>
        </p:spPr>
      </p:pic>
      <p:sp>
        <p:nvSpPr>
          <p:cNvPr id="22" name="Text 16"/>
          <p:cNvSpPr txBox="1"/>
          <p:nvPr/>
        </p:nvSpPr>
        <p:spPr>
          <a:xfrm>
            <a:off x="7324344"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4 · Entrega</a:t>
            </a:r>
            <a:endParaRPr lang="en-US" sz="1700" dirty="0"/>
          </a:p>
        </p:txBody>
      </p:sp>
      <p:sp>
        <p:nvSpPr>
          <p:cNvPr id="23" name="Text 17"/>
          <p:cNvSpPr txBox="1"/>
          <p:nvPr/>
        </p:nvSpPr>
        <p:spPr>
          <a:xfrm>
            <a:off x="7324344"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En el momento; por WhatsApp, delivery gratis desde 2 packs</a:t>
            </a:r>
            <a:endParaRPr lang="en-US" sz="1400" dirty="0"/>
          </a:p>
        </p:txBody>
      </p:sp>
      <p:sp>
        <p:nvSpPr>
          <p:cNvPr id="24" name="Shape 18"/>
          <p:cNvSpPr/>
          <p:nvPr/>
        </p:nvSpPr>
        <p:spPr>
          <a:xfrm>
            <a:off x="9582912" y="1600200"/>
            <a:ext cx="914400" cy="914400"/>
          </a:xfrm>
          <a:prstGeom prst="ellipse">
            <a:avLst/>
          </a:prstGeom>
          <a:solidFill>
            <a:schemeClr val="tx2"/>
          </a:solidFill>
          <a:ln w="12700">
            <a:solidFill>
              <a:schemeClr val="tx2"/>
            </a:solidFill>
            <a:prstDash val="solid"/>
          </a:ln>
        </p:spPr>
      </p:sp>
      <p:pic>
        <p:nvPicPr>
          <p:cNvPr id="25" name="Image 4" descr="preencoded.png">    </p:cNvPr>
          <p:cNvPicPr>
            <a:picLocks noChangeAspect="1"/>
          </p:cNvPicPr>
          <p:nvPr/>
        </p:nvPicPr>
        <p:blipFill>
          <a:blip r:embed="rId5"/>
          <a:stretch>
            <a:fillRect/>
          </a:stretch>
        </p:blipFill>
        <p:spPr>
          <a:xfrm>
            <a:off x="9784080" y="1801368"/>
            <a:ext cx="512064" cy="512064"/>
          </a:xfrm>
          <a:prstGeom prst="rect">
            <a:avLst/>
          </a:prstGeom>
        </p:spPr>
      </p:pic>
      <p:sp>
        <p:nvSpPr>
          <p:cNvPr id="26" name="Text 19"/>
          <p:cNvSpPr txBox="1"/>
          <p:nvPr/>
        </p:nvSpPr>
        <p:spPr>
          <a:xfrm>
            <a:off x="9582912" y="2697480"/>
            <a:ext cx="2075688" cy="365760"/>
          </a:xfrm>
          <a:prstGeom prst="rect">
            <a:avLst/>
          </a:prstGeom>
          <a:noFill/>
          <a:ln/>
        </p:spPr>
        <p:txBody>
          <a:bodyPr wrap="square" lIns="0" tIns="0" rIns="0" bIns="0" rtlCol="0" anchor="t"/>
          <a:lstStyle/>
          <a:p>
            <a:pPr indent="0" marL="0">
              <a:buNone/>
            </a:pPr>
            <a:r>
              <a:rPr lang="en-US" sz="1700" b="1" dirty="0">
                <a:solidFill>
                  <a:schemeClr val="tx2"/>
                </a:solidFill>
              </a:rPr>
              <a:t>5 · Posventa</a:t>
            </a:r>
            <a:endParaRPr lang="en-US" sz="1700" dirty="0"/>
          </a:p>
        </p:txBody>
      </p:sp>
      <p:sp>
        <p:nvSpPr>
          <p:cNvPr id="27" name="Text 20"/>
          <p:cNvSpPr txBox="1"/>
          <p:nvPr/>
        </p:nvSpPr>
        <p:spPr>
          <a:xfrm>
            <a:off x="9582912" y="3108960"/>
            <a:ext cx="1984248" cy="1097280"/>
          </a:xfrm>
          <a:prstGeom prst="rect">
            <a:avLst/>
          </a:prstGeom>
          <a:noFill/>
          <a:ln/>
        </p:spPr>
        <p:txBody>
          <a:bodyPr wrap="square" lIns="0" tIns="0" rIns="0" bIns="0" rtlCol="0" anchor="t"/>
          <a:lstStyle/>
          <a:p>
            <a:pPr indent="0" marL="0">
              <a:buNone/>
            </a:pPr>
            <a:r>
              <a:rPr lang="en-US" sz="1400" dirty="0">
                <a:solidFill>
                  <a:schemeClr val="tx1"/>
                </a:solidFill>
              </a:rPr>
              <a:t>App Andi: hierro del lote y aviso de recompra</a:t>
            </a:r>
            <a:endParaRPr lang="en-US" sz="1400" dirty="0"/>
          </a:p>
        </p:txBody>
      </p:sp>
      <p:sp>
        <p:nvSpPr>
          <p:cNvPr id="28" name="Shape 21"/>
          <p:cNvSpPr/>
          <p:nvPr/>
        </p:nvSpPr>
        <p:spPr>
          <a:xfrm>
            <a:off x="548640" y="3931920"/>
            <a:ext cx="6949440" cy="1508760"/>
          </a:xfrm>
          <a:prstGeom prst="roundRect">
            <a:avLst>
              <a:gd name="adj" fmla="val 7273"/>
            </a:avLst>
          </a:prstGeom>
          <a:solidFill>
            <a:schemeClr val="tx2"/>
          </a:solidFill>
          <a:ln w="12700">
            <a:solidFill>
              <a:schemeClr val="tx2"/>
            </a:solidFill>
            <a:prstDash val="solid"/>
          </a:ln>
        </p:spPr>
      </p:sp>
      <p:sp>
        <p:nvSpPr>
          <p:cNvPr id="29" name="Text 22"/>
          <p:cNvSpPr txBox="1"/>
          <p:nvPr/>
        </p:nvSpPr>
        <p:spPr>
          <a:xfrm>
            <a:off x="868680" y="4069080"/>
            <a:ext cx="6400800" cy="1280160"/>
          </a:xfrm>
          <a:prstGeom prst="rect">
            <a:avLst/>
          </a:prstGeom>
          <a:noFill/>
          <a:ln/>
        </p:spPr>
        <p:txBody>
          <a:bodyPr wrap="square" lIns="0" tIns="0" rIns="0" bIns="0" rtlCol="0" anchor="ctr"/>
          <a:lstStyle/>
          <a:p>
            <a:pPr indent="0" marL="0">
              <a:buNone/>
            </a:pPr>
            <a:r>
              <a:rPr lang="en-US" sz="2000" b="1" dirty="0">
                <a:solidFill>
                  <a:schemeClr val="accent3"/>
                </a:solidFill>
              </a:rPr>
              <a:t>Canal directo · 75.6 %</a:t>
            </a:r>
            <a:endParaRPr lang="en-US" sz="1400" dirty="0"/>
          </a:p>
          <a:p>
            <a:pPr indent="0" marL="0">
              <a:buNone/>
            </a:pPr>
            <a:r>
              <a:rPr lang="en-US" sz="1500" dirty="0">
                <a:solidFill>
                  <a:schemeClr val="bg1"/>
                </a:solidFill>
              </a:rPr>
              <a:t>Stands, carrito, ferias y WhatsApp: más esfuerzo, más control. El niño prueba y el padre decide.</a:t>
            </a:r>
            <a:endParaRPr lang="en-US" sz="1400" dirty="0"/>
          </a:p>
        </p:txBody>
      </p:sp>
      <p:sp>
        <p:nvSpPr>
          <p:cNvPr id="30" name="Shape 23"/>
          <p:cNvSpPr/>
          <p:nvPr/>
        </p:nvSpPr>
        <p:spPr>
          <a:xfrm>
            <a:off x="7726680" y="3931920"/>
            <a:ext cx="3913632" cy="1508760"/>
          </a:xfrm>
          <a:prstGeom prst="roundRect">
            <a:avLst>
              <a:gd name="adj" fmla="val 72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1" name="Text 24"/>
          <p:cNvSpPr txBox="1"/>
          <p:nvPr/>
        </p:nvSpPr>
        <p:spPr>
          <a:xfrm>
            <a:off x="7955280" y="4069080"/>
            <a:ext cx="3520440" cy="1280160"/>
          </a:xfrm>
          <a:prstGeom prst="rect">
            <a:avLst/>
          </a:prstGeom>
          <a:noFill/>
          <a:ln/>
        </p:spPr>
        <p:txBody>
          <a:bodyPr wrap="square" lIns="0" tIns="0" rIns="0" bIns="0" rtlCol="0" anchor="ctr"/>
          <a:lstStyle/>
          <a:p>
            <a:pPr indent="0" marL="0">
              <a:buNone/>
            </a:pPr>
            <a:r>
              <a:rPr lang="en-US" sz="2000" b="1" dirty="0">
                <a:solidFill>
                  <a:schemeClr val="tx2"/>
                </a:solidFill>
              </a:rPr>
              <a:t>Canal indirecto · 24.4 %</a:t>
            </a:r>
            <a:endParaRPr lang="en-US" sz="1400" dirty="0"/>
          </a:p>
          <a:p>
            <a:pPr indent="0" marL="0">
              <a:buNone/>
            </a:pPr>
            <a:r>
              <a:rPr lang="en-US" sz="1500" dirty="0">
                <a:solidFill>
                  <a:schemeClr val="tx1"/>
                </a:solidFill>
              </a:rPr>
              <a:t>Minoristas: quioscos escolares y naturistas, con comisión de 25 a 40 %</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SELECCIÓN DEL CANAL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Elegimos la venta física en stands y carritos</a:t>
            </a:r>
            <a:endParaRPr lang="en-US" sz="3400" dirty="0"/>
          </a:p>
        </p:txBody>
      </p:sp>
      <p:graphicFrame>
        <p:nvGraphicFramePr>
          <p:cNvPr id="4" name="Chart 0" descr=""/>
          <p:cNvGraphicFramePr/>
          <p:nvPr/>
        </p:nvGraphicFramePr>
        <p:xfrm>
          <a:off x="365760" y="1463040"/>
          <a:ext cx="484632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0" y="1554480"/>
          <a:ext cx="6153912" cy="914400"/>
        </p:xfrm>
        <a:graphic>
          <a:graphicData uri="http://schemas.openxmlformats.org/drawingml/2006/table">
            <a:tbl>
              <a:tblPr/>
              <a:tblGrid>
                <a:gridCol w="2039112"/>
                <a:gridCol w="685800"/>
                <a:gridCol w="685800"/>
                <a:gridCol w="685800"/>
                <a:gridCol w="685800"/>
                <a:gridCol w="685800"/>
                <a:gridCol w="685800"/>
              </a:tblGrid>
              <a:tr h="411480">
                <a:tc>
                  <a:txBody>
                    <a:bodyPr/>
                    <a:lstStyle/>
                    <a:p>
                      <a:pPr indent="0" marL="0">
                        <a:buNone/>
                      </a:pPr>
                      <a:r>
                        <a:rPr lang="en-US" sz="1200" b="1" dirty="0">
                          <a:solidFill>
                            <a:schemeClr val="bg1"/>
                          </a:solidFill>
                        </a:rPr>
                        <a:t>Canal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Margen</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Control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Entrada</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Alcance</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Prueba</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Total</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11480">
                <a:tc>
                  <a:txBody>
                    <a:bodyPr/>
                    <a:lstStyle/>
                    <a:p>
                      <a:pPr indent="0" marL="0">
                        <a:buNone/>
                      </a:pPr>
                      <a:r>
                        <a:rPr lang="en-US" sz="1300" b="1" dirty="0">
                          <a:solidFill>
                            <a:schemeClr val="tx1"/>
                          </a:solidFill>
                        </a:rPr>
                        <a:t>Stands y carritos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500" b="1" dirty="0">
                          <a:solidFill>
                            <a:schemeClr val="accent1"/>
                          </a:solidFill>
                        </a:rPr>
                        <a:t>23</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r h="411480">
                <a:tc>
                  <a:txBody>
                    <a:bodyPr/>
                    <a:lstStyle/>
                    <a:p>
                      <a:pPr indent="0" marL="0">
                        <a:buNone/>
                      </a:pPr>
                      <a:r>
                        <a:rPr lang="en-US" sz="1300" dirty="0">
                          <a:solidFill>
                            <a:schemeClr val="tx1"/>
                          </a:solidFill>
                        </a:rPr>
                        <a:t>Ferias y eventos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21</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WhatsApp (recompra)</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5</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17</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Quioscos escolares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17</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Tiendas naturistas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3</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2</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13</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Góndola de súper (año 2)</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4</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1</a:t>
                      </a:r>
                      <a:endParaRPr lang="en-US" sz="14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500" b="1" dirty="0">
                          <a:solidFill>
                            <a:schemeClr val="tx1"/>
                          </a:solidFill>
                        </a:rPr>
                        <a:t>8</a:t>
                      </a:r>
                      <a:endParaRPr lang="en-US" sz="15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0" y="4498848"/>
            <a:ext cx="6153912" cy="274320"/>
          </a:xfrm>
          <a:prstGeom prst="rect">
            <a:avLst/>
          </a:prstGeom>
          <a:noFill/>
          <a:ln/>
        </p:spPr>
        <p:txBody>
          <a:bodyPr wrap="square" lIns="0" tIns="0" rIns="0" bIns="0" rtlCol="0" anchor="t"/>
          <a:lstStyle/>
          <a:p>
            <a:pPr indent="0" marL="0">
              <a:buNone/>
            </a:pPr>
            <a:r>
              <a:rPr lang="en-US" sz="1100" i="1" dirty="0">
                <a:solidFill>
                  <a:schemeClr val="accent2"/>
                </a:solidFill>
              </a:rPr>
              <a:t>Puntaje del equipo, de 1 a 5. Prueba = el niño prueba delante del padre.</a:t>
            </a:r>
            <a:endParaRPr lang="en-US" sz="1100" dirty="0"/>
          </a:p>
        </p:txBody>
      </p:sp>
      <p:sp>
        <p:nvSpPr>
          <p:cNvPr id="7" name="Shape 3"/>
          <p:cNvSpPr/>
          <p:nvPr/>
        </p:nvSpPr>
        <p:spPr>
          <a:xfrm>
            <a:off x="5486400" y="4846320"/>
            <a:ext cx="6153912" cy="1280160"/>
          </a:xfrm>
          <a:prstGeom prst="roundRect">
            <a:avLst>
              <a:gd name="adj" fmla="val 8571"/>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8" name="Text 4"/>
          <p:cNvSpPr txBox="1"/>
          <p:nvPr/>
        </p:nvSpPr>
        <p:spPr>
          <a:xfrm>
            <a:off x="5760720" y="4919472"/>
            <a:ext cx="5669280" cy="1143000"/>
          </a:xfrm>
          <a:prstGeom prst="rect">
            <a:avLst/>
          </a:prstGeom>
          <a:noFill/>
          <a:ln/>
        </p:spPr>
        <p:txBody>
          <a:bodyPr wrap="square" lIns="0" tIns="0" rIns="0" bIns="0" rtlCol="0" anchor="ctr"/>
          <a:lstStyle/>
          <a:p>
            <a:pPr indent="0" marL="0">
              <a:buNone/>
            </a:pPr>
            <a:r>
              <a:rPr lang="en-US" sz="2000" b="1" dirty="0">
                <a:solidFill>
                  <a:schemeClr val="bg1"/>
                </a:solidFill>
              </a:rPr>
              <a:t>23 de 25 puntos</a:t>
            </a:r>
            <a:endParaRPr lang="en-US" sz="1400" dirty="0"/>
          </a:p>
          <a:p>
            <a:pPr indent="0" marL="0">
              <a:buNone/>
            </a:pPr>
            <a:r>
              <a:rPr lang="en-US" sz="1400" dirty="0">
                <a:solidFill>
                  <a:schemeClr val="bg1"/>
                </a:solidFill>
              </a:rPr>
              <a:t>Stands para que el niño pruebe y el padre compre; ferias en Navidad y campaña escolar; WhatsApp para volver a comprar.</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5 · PUNTOS DE VENTA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Vendemos donde está la familia: malls, súper y ferias</a:t>
            </a:r>
            <a:endParaRPr lang="en-US" sz="3400" dirty="0"/>
          </a:p>
        </p:txBody>
      </p:sp>
      <p:sp>
        <p:nvSpPr>
          <p:cNvPr id="4" name="Shape 2"/>
          <p:cNvSpPr/>
          <p:nvPr/>
        </p:nvSpPr>
        <p:spPr>
          <a:xfrm>
            <a:off x="548640" y="1554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31520" y="1737360"/>
            <a:ext cx="640080" cy="64008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872338" y="1878178"/>
            <a:ext cx="358445" cy="358445"/>
          </a:xfrm>
          <a:prstGeom prst="rect">
            <a:avLst/>
          </a:prstGeom>
        </p:spPr>
      </p:pic>
      <p:sp>
        <p:nvSpPr>
          <p:cNvPr id="7" name="Text 4"/>
          <p:cNvSpPr txBox="1"/>
          <p:nvPr/>
        </p:nvSpPr>
        <p:spPr>
          <a:xfrm>
            <a:off x="1554480" y="1554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Malls de Lima Top</a:t>
            </a:r>
            <a:endParaRPr lang="en-US" sz="1400" dirty="0"/>
          </a:p>
          <a:p>
            <a:pPr indent="0" marL="0">
              <a:buNone/>
            </a:pPr>
            <a:r>
              <a:rPr lang="en-US" sz="1300" dirty="0">
                <a:solidFill>
                  <a:schemeClr val="accent2"/>
                </a:solidFill>
              </a:rPr>
              <a:t>Jockey Plaza, Larcomar y La Rambla: programas para emprendedores</a:t>
            </a:r>
            <a:endParaRPr lang="en-US" sz="1400" dirty="0"/>
          </a:p>
        </p:txBody>
      </p:sp>
      <p:sp>
        <p:nvSpPr>
          <p:cNvPr id="8" name="Shape 5"/>
          <p:cNvSpPr/>
          <p:nvPr/>
        </p:nvSpPr>
        <p:spPr>
          <a:xfrm>
            <a:off x="548640" y="2697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6"/>
          <p:cNvSpPr/>
          <p:nvPr/>
        </p:nvSpPr>
        <p:spPr>
          <a:xfrm>
            <a:off x="731520" y="2880360"/>
            <a:ext cx="640080" cy="640080"/>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872338" y="3021178"/>
            <a:ext cx="358445" cy="358445"/>
          </a:xfrm>
          <a:prstGeom prst="rect">
            <a:avLst/>
          </a:prstGeom>
        </p:spPr>
      </p:pic>
      <p:sp>
        <p:nvSpPr>
          <p:cNvPr id="11" name="Text 7"/>
          <p:cNvSpPr txBox="1"/>
          <p:nvPr/>
        </p:nvSpPr>
        <p:spPr>
          <a:xfrm>
            <a:off x="1554480" y="2697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Supermercados</a:t>
            </a:r>
            <a:endParaRPr lang="en-US" sz="1400" dirty="0"/>
          </a:p>
          <a:p>
            <a:pPr indent="0" marL="0">
              <a:buNone/>
            </a:pPr>
            <a:r>
              <a:rPr lang="en-US" sz="1300" dirty="0">
                <a:solidFill>
                  <a:schemeClr val="accent2"/>
                </a:solidFill>
              </a:rPr>
              <a:t>Carrito en la entrada de Wong o Vivanda, los fines de semana</a:t>
            </a:r>
            <a:endParaRPr lang="en-US" sz="1400" dirty="0"/>
          </a:p>
        </p:txBody>
      </p:sp>
      <p:sp>
        <p:nvSpPr>
          <p:cNvPr id="12" name="Shape 8"/>
          <p:cNvSpPr/>
          <p:nvPr/>
        </p:nvSpPr>
        <p:spPr>
          <a:xfrm>
            <a:off x="548640" y="3840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Shape 9"/>
          <p:cNvSpPr/>
          <p:nvPr/>
        </p:nvSpPr>
        <p:spPr>
          <a:xfrm>
            <a:off x="731520" y="4023360"/>
            <a:ext cx="640080" cy="640080"/>
          </a:xfrm>
          <a:prstGeom prst="ellipse">
            <a:avLst/>
          </a:prstGeom>
          <a:solidFill>
            <a:schemeClr val="tx2"/>
          </a:solidFill>
          <a:ln w="12700">
            <a:solidFill>
              <a:schemeClr val="tx2"/>
            </a:solidFill>
            <a:prstDash val="solid"/>
          </a:ln>
        </p:spPr>
      </p:sp>
      <p:pic>
        <p:nvPicPr>
          <p:cNvPr id="14" name="Image 2" descr="preencoded.png">    </p:cNvPr>
          <p:cNvPicPr>
            <a:picLocks noChangeAspect="1"/>
          </p:cNvPicPr>
          <p:nvPr/>
        </p:nvPicPr>
        <p:blipFill>
          <a:blip r:embed="rId3"/>
          <a:stretch>
            <a:fillRect/>
          </a:stretch>
        </p:blipFill>
        <p:spPr>
          <a:xfrm>
            <a:off x="872338" y="4164178"/>
            <a:ext cx="358445" cy="358445"/>
          </a:xfrm>
          <a:prstGeom prst="rect">
            <a:avLst/>
          </a:prstGeom>
        </p:spPr>
      </p:pic>
      <p:sp>
        <p:nvSpPr>
          <p:cNvPr id="15" name="Text 10"/>
          <p:cNvSpPr txBox="1"/>
          <p:nvPr/>
        </p:nvSpPr>
        <p:spPr>
          <a:xfrm>
            <a:off x="1554480" y="3840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Ferias de temporada</a:t>
            </a:r>
            <a:endParaRPr lang="en-US" sz="1400" dirty="0"/>
          </a:p>
          <a:p>
            <a:pPr indent="0" marL="0">
              <a:buNone/>
            </a:pPr>
            <a:r>
              <a:rPr lang="en-US" sz="1300" dirty="0">
                <a:solidFill>
                  <a:schemeClr val="accent2"/>
                </a:solidFill>
              </a:rPr>
              <a:t>Navidad (Bazar CCL, Navi Fest) y campaña escolar</a:t>
            </a:r>
            <a:endParaRPr lang="en-US" sz="1400" dirty="0"/>
          </a:p>
        </p:txBody>
      </p:sp>
      <p:sp>
        <p:nvSpPr>
          <p:cNvPr id="16" name="Shape 11"/>
          <p:cNvSpPr/>
          <p:nvPr/>
        </p:nvSpPr>
        <p:spPr>
          <a:xfrm>
            <a:off x="548640" y="4983480"/>
            <a:ext cx="4480560"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Shape 12"/>
          <p:cNvSpPr/>
          <p:nvPr/>
        </p:nvSpPr>
        <p:spPr>
          <a:xfrm>
            <a:off x="731520" y="5166360"/>
            <a:ext cx="640080" cy="640080"/>
          </a:xfrm>
          <a:prstGeom prst="ellipse">
            <a:avLst/>
          </a:prstGeom>
          <a:solidFill>
            <a:schemeClr val="tx2"/>
          </a:solidFill>
          <a:ln w="12700">
            <a:solidFill>
              <a:schemeClr val="tx2"/>
            </a:solidFill>
            <a:prstDash val="solid"/>
          </a:ln>
        </p:spPr>
      </p:sp>
      <p:pic>
        <p:nvPicPr>
          <p:cNvPr id="18" name="Image 3" descr="preencoded.png">    </p:cNvPr>
          <p:cNvPicPr>
            <a:picLocks noChangeAspect="1"/>
          </p:cNvPicPr>
          <p:nvPr/>
        </p:nvPicPr>
        <p:blipFill>
          <a:blip r:embed="rId4"/>
          <a:stretch>
            <a:fillRect/>
          </a:stretch>
        </p:blipFill>
        <p:spPr>
          <a:xfrm>
            <a:off x="872338" y="5307178"/>
            <a:ext cx="358445" cy="358445"/>
          </a:xfrm>
          <a:prstGeom prst="rect">
            <a:avLst/>
          </a:prstGeom>
        </p:spPr>
      </p:pic>
      <p:sp>
        <p:nvSpPr>
          <p:cNvPr id="19" name="Text 13"/>
          <p:cNvSpPr txBox="1"/>
          <p:nvPr/>
        </p:nvSpPr>
        <p:spPr>
          <a:xfrm>
            <a:off x="1554480" y="4983480"/>
            <a:ext cx="3337560" cy="1005840"/>
          </a:xfrm>
          <a:prstGeom prst="rect">
            <a:avLst/>
          </a:prstGeom>
          <a:noFill/>
          <a:ln/>
        </p:spPr>
        <p:txBody>
          <a:bodyPr wrap="square" lIns="0" tIns="0" rIns="0" bIns="0" rtlCol="0" anchor="ctr"/>
          <a:lstStyle/>
          <a:p>
            <a:pPr indent="0" marL="0">
              <a:buNone/>
            </a:pPr>
            <a:r>
              <a:rPr lang="en-US" sz="1600" b="1" dirty="0">
                <a:solidFill>
                  <a:schemeClr val="tx2"/>
                </a:solidFill>
              </a:rPr>
              <a:t>Colegios y comunidad</a:t>
            </a:r>
            <a:endParaRPr lang="en-US" sz="1400" dirty="0"/>
          </a:p>
          <a:p>
            <a:pPr indent="0" marL="0">
              <a:buNone/>
            </a:pPr>
            <a:r>
              <a:rPr lang="en-US" sz="1300" dirty="0">
                <a:solidFill>
                  <a:schemeClr val="accent2"/>
                </a:solidFill>
              </a:rPr>
              <a:t>Kermeses, cumpleaños y quioscos sin octógono</a:t>
            </a:r>
            <a:endParaRPr lang="en-US" sz="1400" dirty="0"/>
          </a:p>
        </p:txBody>
      </p:sp>
      <p:graphicFrame>
        <p:nvGraphicFramePr>
          <p:cNvPr id="20" name="Chart 0" descr=""/>
          <p:cNvGraphicFramePr/>
          <p:nvPr/>
        </p:nvGraphicFramePr>
        <p:xfrm>
          <a:off x="5212080" y="1463040"/>
          <a:ext cx="6583680" cy="4663440"/>
        </p:xfrm>
        <a:graphic xmlns:a="http://schemas.openxmlformats.org/drawingml/2006/main">
          <a:graphicData uri="http://schemas.openxmlformats.org/drawingml/2006/chart">
            <c:chart xmlns:c="http://schemas.openxmlformats.org/drawingml/2006/chart" r:id="rId5"/>
          </a:graphicData>
        </a:graphic>
      </p:graphicFrame>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06</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Relación con el cliente e ingresos</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Tipos de relación · Captar, fidelizar y crecer · Fuentes de ingreso · Ventas del año 1</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RELACIÓN CON EL CLIENTE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Cara a cara en el stand, automática al recomprar</a:t>
            </a:r>
            <a:endParaRPr lang="en-US" sz="3400" dirty="0"/>
          </a:p>
        </p:txBody>
      </p:sp>
      <p:sp>
        <p:nvSpPr>
          <p:cNvPr id="4" name="Shape 2"/>
          <p:cNvSpPr/>
          <p:nvPr/>
        </p:nvSpPr>
        <p:spPr>
          <a:xfrm>
            <a:off x="548640"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828800"/>
            <a:ext cx="685800" cy="68580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73836" y="1979676"/>
            <a:ext cx="384048" cy="384048"/>
          </a:xfrm>
          <a:prstGeom prst="rect">
            <a:avLst/>
          </a:prstGeom>
        </p:spPr>
      </p:pic>
      <p:sp>
        <p:nvSpPr>
          <p:cNvPr id="7" name="Text 4"/>
          <p:cNvSpPr txBox="1"/>
          <p:nvPr/>
        </p:nvSpPr>
        <p:spPr>
          <a:xfrm>
            <a:off x="1645920"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Asistencia personal</a:t>
            </a:r>
            <a:endParaRPr lang="en-US" sz="1700" dirty="0"/>
          </a:p>
        </p:txBody>
      </p:sp>
      <p:sp>
        <p:nvSpPr>
          <p:cNvPr id="8" name="Shape 5"/>
          <p:cNvSpPr/>
          <p:nvPr/>
        </p:nvSpPr>
        <p:spPr>
          <a:xfrm>
            <a:off x="1645920" y="2249424"/>
            <a:ext cx="868680" cy="256032"/>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1645920" y="2249424"/>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10" name="Text 7"/>
          <p:cNvSpPr txBox="1"/>
          <p:nvPr/>
        </p:nvSpPr>
        <p:spPr>
          <a:xfrm>
            <a:off x="822960"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En el stand: degustación y consejo de sabores; luego por WhatsApp</a:t>
            </a:r>
            <a:endParaRPr lang="en-US" sz="1500" dirty="0"/>
          </a:p>
        </p:txBody>
      </p:sp>
      <p:sp>
        <p:nvSpPr>
          <p:cNvPr id="11" name="Shape 8"/>
          <p:cNvSpPr/>
          <p:nvPr/>
        </p:nvSpPr>
        <p:spPr>
          <a:xfrm>
            <a:off x="4311396"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Shape 9"/>
          <p:cNvSpPr/>
          <p:nvPr/>
        </p:nvSpPr>
        <p:spPr>
          <a:xfrm>
            <a:off x="4585716" y="1828800"/>
            <a:ext cx="685800" cy="685800"/>
          </a:xfrm>
          <a:prstGeom prst="ellipse">
            <a:avLst/>
          </a:prstGeom>
          <a:solidFill>
            <a:schemeClr val="accent5"/>
          </a:solidFill>
          <a:ln w="12700">
            <a:solidFill>
              <a:schemeClr val="accent5"/>
            </a:solidFill>
            <a:prstDash val="solid"/>
          </a:ln>
        </p:spPr>
      </p:sp>
      <p:pic>
        <p:nvPicPr>
          <p:cNvPr id="13" name="Image 1" descr="preencoded.png">    </p:cNvPr>
          <p:cNvPicPr>
            <a:picLocks noChangeAspect="1"/>
          </p:cNvPicPr>
          <p:nvPr/>
        </p:nvPicPr>
        <p:blipFill>
          <a:blip r:embed="rId2"/>
          <a:stretch>
            <a:fillRect/>
          </a:stretch>
        </p:blipFill>
        <p:spPr>
          <a:xfrm>
            <a:off x="4736592" y="1979676"/>
            <a:ext cx="384048" cy="384048"/>
          </a:xfrm>
          <a:prstGeom prst="rect">
            <a:avLst/>
          </a:prstGeom>
        </p:spPr>
      </p:pic>
      <p:sp>
        <p:nvSpPr>
          <p:cNvPr id="14" name="Text 10"/>
          <p:cNvSpPr txBox="1"/>
          <p:nvPr/>
        </p:nvSpPr>
        <p:spPr>
          <a:xfrm>
            <a:off x="5408676"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Asistencia exclusiva</a:t>
            </a:r>
            <a:endParaRPr lang="en-US" sz="1700" dirty="0"/>
          </a:p>
        </p:txBody>
      </p:sp>
      <p:sp>
        <p:nvSpPr>
          <p:cNvPr id="15" name="Shape 11"/>
          <p:cNvSpPr/>
          <p:nvPr/>
        </p:nvSpPr>
        <p:spPr>
          <a:xfrm>
            <a:off x="5408676" y="2249424"/>
            <a:ext cx="868680" cy="256032"/>
          </a:xfrm>
          <a:prstGeom prst="roundRect">
            <a:avLst>
              <a:gd name="adj" fmla="val 50000"/>
            </a:avLst>
          </a:prstGeom>
          <a:solidFill>
            <a:schemeClr val="bg2"/>
          </a:solidFill>
          <a:ln w="9525">
            <a:solidFill>
              <a:schemeClr val="accent5"/>
            </a:solidFill>
            <a:prstDash val="solid"/>
          </a:ln>
        </p:spPr>
      </p:sp>
      <p:sp>
        <p:nvSpPr>
          <p:cNvPr id="16" name="Text 12"/>
          <p:cNvSpPr txBox="1"/>
          <p:nvPr/>
        </p:nvSpPr>
        <p:spPr>
          <a:xfrm>
            <a:off x="5408676" y="2249424"/>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17" name="Text 13"/>
          <p:cNvSpPr txBox="1"/>
          <p:nvPr/>
        </p:nvSpPr>
        <p:spPr>
          <a:xfrm>
            <a:off x="4585716"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Un socio a cargo de cada colegio y de cada naturista</a:t>
            </a:r>
            <a:endParaRPr lang="en-US" sz="1500" dirty="0"/>
          </a:p>
        </p:txBody>
      </p:sp>
      <p:sp>
        <p:nvSpPr>
          <p:cNvPr id="18" name="Shape 14"/>
          <p:cNvSpPr/>
          <p:nvPr/>
        </p:nvSpPr>
        <p:spPr>
          <a:xfrm>
            <a:off x="8074152" y="1554480"/>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Shape 15"/>
          <p:cNvSpPr/>
          <p:nvPr/>
        </p:nvSpPr>
        <p:spPr>
          <a:xfrm>
            <a:off x="8348472" y="1828800"/>
            <a:ext cx="685800" cy="685800"/>
          </a:xfrm>
          <a:prstGeom prst="ellipse">
            <a:avLst/>
          </a:prstGeom>
          <a:solidFill>
            <a:schemeClr val="accent1"/>
          </a:solidFill>
          <a:ln w="12700">
            <a:solidFill>
              <a:schemeClr val="accent1"/>
            </a:solidFill>
            <a:prstDash val="solid"/>
          </a:ln>
        </p:spPr>
      </p:sp>
      <p:pic>
        <p:nvPicPr>
          <p:cNvPr id="20" name="Image 2" descr="preencoded.png">    </p:cNvPr>
          <p:cNvPicPr>
            <a:picLocks noChangeAspect="1"/>
          </p:cNvPicPr>
          <p:nvPr/>
        </p:nvPicPr>
        <p:blipFill>
          <a:blip r:embed="rId3"/>
          <a:stretch>
            <a:fillRect/>
          </a:stretch>
        </p:blipFill>
        <p:spPr>
          <a:xfrm>
            <a:off x="8499348" y="1979676"/>
            <a:ext cx="384048" cy="384048"/>
          </a:xfrm>
          <a:prstGeom prst="rect">
            <a:avLst/>
          </a:prstGeom>
        </p:spPr>
      </p:pic>
      <p:sp>
        <p:nvSpPr>
          <p:cNvPr id="21" name="Text 16"/>
          <p:cNvSpPr txBox="1"/>
          <p:nvPr/>
        </p:nvSpPr>
        <p:spPr>
          <a:xfrm>
            <a:off x="9171432" y="1828800"/>
            <a:ext cx="2331720" cy="384048"/>
          </a:xfrm>
          <a:prstGeom prst="rect">
            <a:avLst/>
          </a:prstGeom>
          <a:noFill/>
          <a:ln/>
        </p:spPr>
        <p:txBody>
          <a:bodyPr wrap="square" lIns="0" tIns="0" rIns="0" bIns="0" rtlCol="0" anchor="t"/>
          <a:lstStyle/>
          <a:p>
            <a:pPr indent="0" marL="0">
              <a:buNone/>
            </a:pPr>
            <a:r>
              <a:rPr lang="en-US" sz="1700" b="1" dirty="0">
                <a:solidFill>
                  <a:schemeClr val="tx2"/>
                </a:solidFill>
              </a:rPr>
              <a:t>Autoservicio</a:t>
            </a:r>
            <a:endParaRPr lang="en-US" sz="1700" dirty="0"/>
          </a:p>
        </p:txBody>
      </p:sp>
      <p:sp>
        <p:nvSpPr>
          <p:cNvPr id="22" name="Shape 17"/>
          <p:cNvSpPr/>
          <p:nvPr/>
        </p:nvSpPr>
        <p:spPr>
          <a:xfrm>
            <a:off x="9171432" y="2249424"/>
            <a:ext cx="868680" cy="256032"/>
          </a:xfrm>
          <a:prstGeom prst="roundRect">
            <a:avLst>
              <a:gd name="adj" fmla="val 50000"/>
            </a:avLst>
          </a:prstGeom>
          <a:solidFill>
            <a:schemeClr val="accent1"/>
          </a:solidFill>
          <a:ln w="9525">
            <a:solidFill>
              <a:schemeClr val="accent1"/>
            </a:solidFill>
            <a:prstDash val="solid"/>
          </a:ln>
        </p:spPr>
      </p:sp>
      <p:sp>
        <p:nvSpPr>
          <p:cNvPr id="23" name="Text 18"/>
          <p:cNvSpPr txBox="1"/>
          <p:nvPr/>
        </p:nvSpPr>
        <p:spPr>
          <a:xfrm>
            <a:off x="9171432" y="2249424"/>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24" name="Text 19"/>
          <p:cNvSpPr txBox="1"/>
          <p:nvPr/>
        </p:nvSpPr>
        <p:spPr>
          <a:xfrm>
            <a:off x="8348472" y="2743200"/>
            <a:ext cx="3017520" cy="868680"/>
          </a:xfrm>
          <a:prstGeom prst="rect">
            <a:avLst/>
          </a:prstGeom>
          <a:noFill/>
          <a:ln/>
        </p:spPr>
        <p:txBody>
          <a:bodyPr wrap="square" lIns="0" tIns="0" rIns="0" bIns="0" rtlCol="0" anchor="t"/>
          <a:lstStyle/>
          <a:p>
            <a:pPr indent="0" marL="0">
              <a:buNone/>
            </a:pPr>
            <a:r>
              <a:rPr lang="en-US" sz="1500" dirty="0">
                <a:solidFill>
                  <a:schemeClr val="tx1"/>
                </a:solidFill>
              </a:rPr>
              <a:t>App Andi: hierro del lote, loncheras y pedido en un clic</a:t>
            </a:r>
            <a:endParaRPr lang="en-US" sz="1500" dirty="0"/>
          </a:p>
        </p:txBody>
      </p:sp>
      <p:sp>
        <p:nvSpPr>
          <p:cNvPr id="25" name="Shape 20"/>
          <p:cNvSpPr/>
          <p:nvPr/>
        </p:nvSpPr>
        <p:spPr>
          <a:xfrm>
            <a:off x="548640"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6" name="Shape 21"/>
          <p:cNvSpPr/>
          <p:nvPr/>
        </p:nvSpPr>
        <p:spPr>
          <a:xfrm>
            <a:off x="822960" y="4224528"/>
            <a:ext cx="685800" cy="685800"/>
          </a:xfrm>
          <a:prstGeom prst="ellipse">
            <a:avLst/>
          </a:prstGeom>
          <a:solidFill>
            <a:schemeClr val="accent1"/>
          </a:solidFill>
          <a:ln w="12700">
            <a:solidFill>
              <a:schemeClr val="accent1"/>
            </a:solidFill>
            <a:prstDash val="solid"/>
          </a:ln>
        </p:spPr>
      </p:sp>
      <p:pic>
        <p:nvPicPr>
          <p:cNvPr id="27" name="Image 3" descr="preencoded.png">    </p:cNvPr>
          <p:cNvPicPr>
            <a:picLocks noChangeAspect="1"/>
          </p:cNvPicPr>
          <p:nvPr/>
        </p:nvPicPr>
        <p:blipFill>
          <a:blip r:embed="rId4"/>
          <a:stretch>
            <a:fillRect/>
          </a:stretch>
        </p:blipFill>
        <p:spPr>
          <a:xfrm>
            <a:off x="973836" y="4375404"/>
            <a:ext cx="384048" cy="384048"/>
          </a:xfrm>
          <a:prstGeom prst="rect">
            <a:avLst/>
          </a:prstGeom>
        </p:spPr>
      </p:pic>
      <p:sp>
        <p:nvSpPr>
          <p:cNvPr id="28" name="Text 22"/>
          <p:cNvSpPr txBox="1"/>
          <p:nvPr/>
        </p:nvSpPr>
        <p:spPr>
          <a:xfrm>
            <a:off x="1645920"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Servicio automático</a:t>
            </a:r>
            <a:endParaRPr lang="en-US" sz="1700" dirty="0"/>
          </a:p>
        </p:txBody>
      </p:sp>
      <p:sp>
        <p:nvSpPr>
          <p:cNvPr id="29" name="Shape 23"/>
          <p:cNvSpPr/>
          <p:nvPr/>
        </p:nvSpPr>
        <p:spPr>
          <a:xfrm>
            <a:off x="1645920" y="4645152"/>
            <a:ext cx="868680" cy="256032"/>
          </a:xfrm>
          <a:prstGeom prst="roundRect">
            <a:avLst>
              <a:gd name="adj" fmla="val 50000"/>
            </a:avLst>
          </a:prstGeom>
          <a:solidFill>
            <a:schemeClr val="accent1"/>
          </a:solidFill>
          <a:ln w="9525">
            <a:solidFill>
              <a:schemeClr val="accent1"/>
            </a:solidFill>
            <a:prstDash val="solid"/>
          </a:ln>
        </p:spPr>
      </p:sp>
      <p:sp>
        <p:nvSpPr>
          <p:cNvPr id="30" name="Text 24"/>
          <p:cNvSpPr txBox="1"/>
          <p:nvPr/>
        </p:nvSpPr>
        <p:spPr>
          <a:xfrm>
            <a:off x="1645920" y="4645152"/>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31" name="Text 25"/>
          <p:cNvSpPr txBox="1"/>
          <p:nvPr/>
        </p:nvSpPr>
        <p:spPr>
          <a:xfrm>
            <a:off x="822960"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La app avisa cuando el pack se está acabando</a:t>
            </a:r>
            <a:endParaRPr lang="en-US" sz="1500" dirty="0"/>
          </a:p>
        </p:txBody>
      </p:sp>
      <p:sp>
        <p:nvSpPr>
          <p:cNvPr id="32" name="Shape 26"/>
          <p:cNvSpPr/>
          <p:nvPr/>
        </p:nvSpPr>
        <p:spPr>
          <a:xfrm>
            <a:off x="4311396"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3" name="Shape 27"/>
          <p:cNvSpPr/>
          <p:nvPr/>
        </p:nvSpPr>
        <p:spPr>
          <a:xfrm>
            <a:off x="4585716" y="4224528"/>
            <a:ext cx="685800" cy="685800"/>
          </a:xfrm>
          <a:prstGeom prst="ellipse">
            <a:avLst/>
          </a:prstGeom>
          <a:solidFill>
            <a:schemeClr val="accent1"/>
          </a:solidFill>
          <a:ln w="12700">
            <a:solidFill>
              <a:schemeClr val="accent1"/>
            </a:solidFill>
            <a:prstDash val="solid"/>
          </a:ln>
        </p:spPr>
      </p:sp>
      <p:pic>
        <p:nvPicPr>
          <p:cNvPr id="34" name="Image 4" descr="preencoded.png">    </p:cNvPr>
          <p:cNvPicPr>
            <a:picLocks noChangeAspect="1"/>
          </p:cNvPicPr>
          <p:nvPr/>
        </p:nvPicPr>
        <p:blipFill>
          <a:blip r:embed="rId5"/>
          <a:stretch>
            <a:fillRect/>
          </a:stretch>
        </p:blipFill>
        <p:spPr>
          <a:xfrm>
            <a:off x="4736592" y="4375404"/>
            <a:ext cx="384048" cy="384048"/>
          </a:xfrm>
          <a:prstGeom prst="rect">
            <a:avLst/>
          </a:prstGeom>
        </p:spPr>
      </p:pic>
      <p:sp>
        <p:nvSpPr>
          <p:cNvPr id="35" name="Text 28"/>
          <p:cNvSpPr txBox="1"/>
          <p:nvPr/>
        </p:nvSpPr>
        <p:spPr>
          <a:xfrm>
            <a:off x="5408676"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Comunidades</a:t>
            </a:r>
            <a:endParaRPr lang="en-US" sz="1700" dirty="0"/>
          </a:p>
        </p:txBody>
      </p:sp>
      <p:sp>
        <p:nvSpPr>
          <p:cNvPr id="36" name="Shape 29"/>
          <p:cNvSpPr/>
          <p:nvPr/>
        </p:nvSpPr>
        <p:spPr>
          <a:xfrm>
            <a:off x="5408676" y="4645152"/>
            <a:ext cx="868680" cy="256032"/>
          </a:xfrm>
          <a:prstGeom prst="roundRect">
            <a:avLst>
              <a:gd name="adj" fmla="val 50000"/>
            </a:avLst>
          </a:prstGeom>
          <a:solidFill>
            <a:schemeClr val="accent1"/>
          </a:solidFill>
          <a:ln w="9525">
            <a:solidFill>
              <a:schemeClr val="accent1"/>
            </a:solidFill>
            <a:prstDash val="solid"/>
          </a:ln>
        </p:spPr>
      </p:sp>
      <p:sp>
        <p:nvSpPr>
          <p:cNvPr id="37" name="Text 30"/>
          <p:cNvSpPr txBox="1"/>
          <p:nvPr/>
        </p:nvSpPr>
        <p:spPr>
          <a:xfrm>
            <a:off x="5408676" y="4645152"/>
            <a:ext cx="868680" cy="256032"/>
          </a:xfrm>
          <a:prstGeom prst="rect">
            <a:avLst/>
          </a:prstGeom>
          <a:noFill/>
          <a:ln/>
        </p:spPr>
        <p:txBody>
          <a:bodyPr wrap="square" lIns="0" tIns="0" rIns="0" bIns="0" rtlCol="0" anchor="ctr"/>
          <a:lstStyle/>
          <a:p>
            <a:pPr algn="ctr" indent="0" marL="0">
              <a:buNone/>
            </a:pPr>
            <a:r>
              <a:rPr lang="en-US" sz="1000" b="1" dirty="0">
                <a:solidFill>
                  <a:schemeClr val="bg1"/>
                </a:solidFill>
              </a:rPr>
              <a:t>FUERTE</a:t>
            </a:r>
            <a:endParaRPr lang="en-US" sz="1000" dirty="0"/>
          </a:p>
        </p:txBody>
      </p:sp>
      <p:sp>
        <p:nvSpPr>
          <p:cNvPr id="38" name="Text 31"/>
          <p:cNvSpPr txBox="1"/>
          <p:nvPr/>
        </p:nvSpPr>
        <p:spPr>
          <a:xfrm>
            <a:off x="4585716"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Mamá embajadora por salón y comunidad en Instagram</a:t>
            </a:r>
            <a:endParaRPr lang="en-US" sz="1500" dirty="0"/>
          </a:p>
        </p:txBody>
      </p:sp>
      <p:sp>
        <p:nvSpPr>
          <p:cNvPr id="39" name="Shape 32"/>
          <p:cNvSpPr/>
          <p:nvPr/>
        </p:nvSpPr>
        <p:spPr>
          <a:xfrm>
            <a:off x="8074152" y="3950208"/>
            <a:ext cx="3566160"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0" name="Shape 33"/>
          <p:cNvSpPr/>
          <p:nvPr/>
        </p:nvSpPr>
        <p:spPr>
          <a:xfrm>
            <a:off x="8348472" y="4224528"/>
            <a:ext cx="685800" cy="685800"/>
          </a:xfrm>
          <a:prstGeom prst="ellipse">
            <a:avLst/>
          </a:prstGeom>
          <a:solidFill>
            <a:schemeClr val="accent5"/>
          </a:solidFill>
          <a:ln w="12700">
            <a:solidFill>
              <a:schemeClr val="accent5"/>
            </a:solidFill>
            <a:prstDash val="solid"/>
          </a:ln>
        </p:spPr>
      </p:sp>
      <p:pic>
        <p:nvPicPr>
          <p:cNvPr id="41" name="Image 5" descr="preencoded.png">    </p:cNvPr>
          <p:cNvPicPr>
            <a:picLocks noChangeAspect="1"/>
          </p:cNvPicPr>
          <p:nvPr/>
        </p:nvPicPr>
        <p:blipFill>
          <a:blip r:embed="rId6"/>
          <a:stretch>
            <a:fillRect/>
          </a:stretch>
        </p:blipFill>
        <p:spPr>
          <a:xfrm>
            <a:off x="8499348" y="4375404"/>
            <a:ext cx="384048" cy="384048"/>
          </a:xfrm>
          <a:prstGeom prst="rect">
            <a:avLst/>
          </a:prstGeom>
        </p:spPr>
      </p:pic>
      <p:sp>
        <p:nvSpPr>
          <p:cNvPr id="42" name="Text 34"/>
          <p:cNvSpPr txBox="1"/>
          <p:nvPr/>
        </p:nvSpPr>
        <p:spPr>
          <a:xfrm>
            <a:off x="9171432" y="4224528"/>
            <a:ext cx="2331720" cy="384048"/>
          </a:xfrm>
          <a:prstGeom prst="rect">
            <a:avLst/>
          </a:prstGeom>
          <a:noFill/>
          <a:ln/>
        </p:spPr>
        <p:txBody>
          <a:bodyPr wrap="square" lIns="0" tIns="0" rIns="0" bIns="0" rtlCol="0" anchor="t"/>
          <a:lstStyle/>
          <a:p>
            <a:pPr indent="0" marL="0">
              <a:buNone/>
            </a:pPr>
            <a:r>
              <a:rPr lang="en-US" sz="1700" b="1" dirty="0">
                <a:solidFill>
                  <a:schemeClr val="tx2"/>
                </a:solidFill>
              </a:rPr>
              <a:t>Creación colectiva</a:t>
            </a:r>
            <a:endParaRPr lang="en-US" sz="1700" dirty="0"/>
          </a:p>
        </p:txBody>
      </p:sp>
      <p:sp>
        <p:nvSpPr>
          <p:cNvPr id="43" name="Shape 35"/>
          <p:cNvSpPr/>
          <p:nvPr/>
        </p:nvSpPr>
        <p:spPr>
          <a:xfrm>
            <a:off x="9171432" y="4645152"/>
            <a:ext cx="868680" cy="256032"/>
          </a:xfrm>
          <a:prstGeom prst="roundRect">
            <a:avLst>
              <a:gd name="adj" fmla="val 50000"/>
            </a:avLst>
          </a:prstGeom>
          <a:solidFill>
            <a:schemeClr val="bg2"/>
          </a:solidFill>
          <a:ln w="9525">
            <a:solidFill>
              <a:schemeClr val="accent5"/>
            </a:solidFill>
            <a:prstDash val="solid"/>
          </a:ln>
        </p:spPr>
      </p:sp>
      <p:sp>
        <p:nvSpPr>
          <p:cNvPr id="44" name="Text 36"/>
          <p:cNvSpPr txBox="1"/>
          <p:nvPr/>
        </p:nvSpPr>
        <p:spPr>
          <a:xfrm>
            <a:off x="9171432" y="4645152"/>
            <a:ext cx="868680" cy="256032"/>
          </a:xfrm>
          <a:prstGeom prst="rect">
            <a:avLst/>
          </a:prstGeom>
          <a:noFill/>
          <a:ln/>
        </p:spPr>
        <p:txBody>
          <a:bodyPr wrap="square" lIns="0" tIns="0" rIns="0" bIns="0" rtlCol="0" anchor="ctr"/>
          <a:lstStyle/>
          <a:p>
            <a:pPr algn="ctr" indent="0" marL="0">
              <a:buNone/>
            </a:pPr>
            <a:r>
              <a:rPr lang="en-US" sz="1000" b="1" dirty="0">
                <a:solidFill>
                  <a:schemeClr val="accent2"/>
                </a:solidFill>
              </a:rPr>
              <a:t>APOYO</a:t>
            </a:r>
            <a:endParaRPr lang="en-US" sz="1000" dirty="0"/>
          </a:p>
        </p:txBody>
      </p:sp>
      <p:sp>
        <p:nvSpPr>
          <p:cNvPr id="45" name="Text 37"/>
          <p:cNvSpPr txBox="1"/>
          <p:nvPr/>
        </p:nvSpPr>
        <p:spPr>
          <a:xfrm>
            <a:off x="8348472" y="5138928"/>
            <a:ext cx="3017520" cy="868680"/>
          </a:xfrm>
          <a:prstGeom prst="rect">
            <a:avLst/>
          </a:prstGeom>
          <a:noFill/>
          <a:ln/>
        </p:spPr>
        <p:txBody>
          <a:bodyPr wrap="square" lIns="0" tIns="0" rIns="0" bIns="0" rtlCol="0" anchor="t"/>
          <a:lstStyle/>
          <a:p>
            <a:pPr indent="0" marL="0">
              <a:buNone/>
            </a:pPr>
            <a:r>
              <a:rPr lang="en-US" sz="1500" dirty="0">
                <a:solidFill>
                  <a:schemeClr val="tx1"/>
                </a:solidFill>
              </a:rPr>
              <a:t>Los niños votan el sabor del mes en el stand</a:t>
            </a:r>
            <a:endParaRPr lang="en-US" sz="15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CICLO DE RELACIÓN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Captar, fidelizar y crecer con cada familia</a:t>
            </a:r>
            <a:endParaRPr lang="en-US" sz="3400" dirty="0"/>
          </a:p>
        </p:txBody>
      </p:sp>
      <p:sp>
        <p:nvSpPr>
          <p:cNvPr id="4" name="Shape 2"/>
          <p:cNvSpPr/>
          <p:nvPr/>
        </p:nvSpPr>
        <p:spPr>
          <a:xfrm>
            <a:off x="54864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1 · CAPTAR</a:t>
            </a:r>
            <a:endParaRPr lang="en-US" sz="1200" dirty="0"/>
          </a:p>
        </p:txBody>
      </p:sp>
      <p:sp>
        <p:nvSpPr>
          <p:cNvPr id="6" name="Text 4"/>
          <p:cNvSpPr txBox="1"/>
          <p:nvPr/>
        </p:nvSpPr>
        <p:spPr>
          <a:xfrm>
            <a:off x="82296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lo prueben</a:t>
            </a:r>
            <a:endParaRPr lang="en-US" sz="2100" dirty="0"/>
          </a:p>
        </p:txBody>
      </p:sp>
      <p:sp>
        <p:nvSpPr>
          <p:cNvPr id="7" name="Text 5"/>
          <p:cNvSpPr txBox="1"/>
          <p:nvPr/>
        </p:nvSpPr>
        <p:spPr>
          <a:xfrm>
            <a:off x="82296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Degustación gratis en el stand y caja de 3 a S/12 para llevar</a:t>
            </a:r>
            <a:endParaRPr lang="en-US" sz="1500" dirty="0"/>
          </a:p>
        </p:txBody>
      </p:sp>
      <p:sp>
        <p:nvSpPr>
          <p:cNvPr id="8" name="Shape 6"/>
          <p:cNvSpPr/>
          <p:nvPr/>
        </p:nvSpPr>
        <p:spPr>
          <a:xfrm>
            <a:off x="731520" y="4480560"/>
            <a:ext cx="2331720" cy="1463040"/>
          </a:xfrm>
          <a:prstGeom prst="roundRect">
            <a:avLst>
              <a:gd name="adj" fmla="val 6250"/>
            </a:avLst>
          </a:prstGeom>
          <a:solidFill>
            <a:schemeClr val="bg2"/>
          </a:solidFill>
          <a:ln w="12700">
            <a:solidFill>
              <a:schemeClr val="bg2"/>
            </a:solidFill>
            <a:prstDash val="solid"/>
          </a:ln>
        </p:spPr>
      </p:sp>
      <p:sp>
        <p:nvSpPr>
          <p:cNvPr id="9" name="Text 7"/>
          <p:cNvSpPr txBox="1"/>
          <p:nvPr/>
        </p:nvSpPr>
        <p:spPr>
          <a:xfrm>
            <a:off x="91440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80</a:t>
            </a:r>
            <a:endParaRPr lang="en-US" sz="1400" dirty="0"/>
          </a:p>
          <a:p>
            <a:pPr indent="0" marL="0">
              <a:buNone/>
            </a:pPr>
            <a:r>
              <a:rPr lang="en-US" sz="1300" dirty="0">
                <a:solidFill>
                  <a:schemeClr val="accent2"/>
                </a:solidFill>
              </a:rPr>
              <a:t>brownies por día en cada punto de venta</a:t>
            </a:r>
            <a:endParaRPr lang="en-US" sz="1400" dirty="0"/>
          </a:p>
        </p:txBody>
      </p:sp>
      <p:sp>
        <p:nvSpPr>
          <p:cNvPr id="10" name="Shape 8"/>
          <p:cNvSpPr/>
          <p:nvPr/>
        </p:nvSpPr>
        <p:spPr>
          <a:xfrm>
            <a:off x="3200400" y="3566160"/>
            <a:ext cx="411480" cy="411480"/>
          </a:xfrm>
          <a:prstGeom prst="ellipse">
            <a:avLst/>
          </a:prstGeom>
          <a:solidFill>
            <a:schemeClr val="accent3"/>
          </a:solidFill>
          <a:ln w="12700">
            <a:solidFill>
              <a:schemeClr val="accent3"/>
            </a:solidFill>
            <a:prstDash val="solid"/>
          </a:ln>
        </p:spPr>
      </p:sp>
      <p:pic>
        <p:nvPicPr>
          <p:cNvPr id="11" name="Image 0" descr="preencoded.png">    </p:cNvPr>
          <p:cNvPicPr>
            <a:picLocks noChangeAspect="1"/>
          </p:cNvPicPr>
          <p:nvPr/>
        </p:nvPicPr>
        <p:blipFill>
          <a:blip r:embed="rId1"/>
          <a:stretch>
            <a:fillRect/>
          </a:stretch>
        </p:blipFill>
        <p:spPr>
          <a:xfrm>
            <a:off x="3290926" y="3656686"/>
            <a:ext cx="230429" cy="230429"/>
          </a:xfrm>
          <a:prstGeom prst="rect">
            <a:avLst/>
          </a:prstGeom>
        </p:spPr>
      </p:pic>
      <p:sp>
        <p:nvSpPr>
          <p:cNvPr id="12" name="Shape 9"/>
          <p:cNvSpPr/>
          <p:nvPr/>
        </p:nvSpPr>
        <p:spPr>
          <a:xfrm>
            <a:off x="356616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0"/>
          <p:cNvSpPr txBox="1"/>
          <p:nvPr/>
        </p:nvSpPr>
        <p:spPr>
          <a:xfrm>
            <a:off x="384048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2 · FIDELIZAR</a:t>
            </a:r>
            <a:endParaRPr lang="en-US" sz="1200" dirty="0"/>
          </a:p>
        </p:txBody>
      </p:sp>
      <p:sp>
        <p:nvSpPr>
          <p:cNvPr id="14" name="Text 11"/>
          <p:cNvSpPr txBox="1"/>
          <p:nvPr/>
        </p:nvSpPr>
        <p:spPr>
          <a:xfrm>
            <a:off x="384048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vuelvan</a:t>
            </a:r>
            <a:endParaRPr lang="en-US" sz="2100" dirty="0"/>
          </a:p>
        </p:txBody>
      </p:sp>
      <p:sp>
        <p:nvSpPr>
          <p:cNvPr id="15" name="Text 12"/>
          <p:cNvSpPr txBox="1"/>
          <p:nvPr/>
        </p:nvSpPr>
        <p:spPr>
          <a:xfrm>
            <a:off x="384048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La app Andi avisa la recompra, arma loncheras y mide el hierro de la semana</a:t>
            </a:r>
            <a:endParaRPr lang="en-US" sz="1500" dirty="0"/>
          </a:p>
        </p:txBody>
      </p:sp>
      <p:sp>
        <p:nvSpPr>
          <p:cNvPr id="16" name="Shape 13"/>
          <p:cNvSpPr/>
          <p:nvPr/>
        </p:nvSpPr>
        <p:spPr>
          <a:xfrm>
            <a:off x="3749040" y="4480560"/>
            <a:ext cx="2331720" cy="1463040"/>
          </a:xfrm>
          <a:prstGeom prst="roundRect">
            <a:avLst>
              <a:gd name="adj" fmla="val 6250"/>
            </a:avLst>
          </a:prstGeom>
          <a:solidFill>
            <a:schemeClr val="bg2"/>
          </a:solidFill>
          <a:ln w="12700">
            <a:solidFill>
              <a:schemeClr val="bg2"/>
            </a:solidFill>
            <a:prstDash val="solid"/>
          </a:ln>
        </p:spPr>
      </p:sp>
      <p:sp>
        <p:nvSpPr>
          <p:cNvPr id="17" name="Text 14"/>
          <p:cNvSpPr txBox="1"/>
          <p:nvPr/>
        </p:nvSpPr>
        <p:spPr>
          <a:xfrm>
            <a:off x="393192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35 %</a:t>
            </a:r>
            <a:endParaRPr lang="en-US" sz="1400" dirty="0"/>
          </a:p>
          <a:p>
            <a:pPr indent="0" marL="0">
              <a:buNone/>
            </a:pPr>
            <a:r>
              <a:rPr lang="en-US" sz="1300" dirty="0">
                <a:solidFill>
                  <a:schemeClr val="accent2"/>
                </a:solidFill>
              </a:rPr>
              <a:t>de lo vendido en físico vuelve por WhatsApp</a:t>
            </a:r>
            <a:endParaRPr lang="en-US" sz="1400" dirty="0"/>
          </a:p>
        </p:txBody>
      </p:sp>
      <p:sp>
        <p:nvSpPr>
          <p:cNvPr id="18" name="Shape 15"/>
          <p:cNvSpPr/>
          <p:nvPr/>
        </p:nvSpPr>
        <p:spPr>
          <a:xfrm>
            <a:off x="6217920" y="3566160"/>
            <a:ext cx="411480" cy="411480"/>
          </a:xfrm>
          <a:prstGeom prst="ellipse">
            <a:avLst/>
          </a:prstGeom>
          <a:solidFill>
            <a:schemeClr val="accent3"/>
          </a:solidFill>
          <a:ln w="12700">
            <a:solidFill>
              <a:schemeClr val="accent3"/>
            </a:solidFill>
            <a:prstDash val="solid"/>
          </a:ln>
        </p:spPr>
      </p:sp>
      <p:pic>
        <p:nvPicPr>
          <p:cNvPr id="19" name="Image 1" descr="preencoded.png">    </p:cNvPr>
          <p:cNvPicPr>
            <a:picLocks noChangeAspect="1"/>
          </p:cNvPicPr>
          <p:nvPr/>
        </p:nvPicPr>
        <p:blipFill>
          <a:blip r:embed="rId2"/>
          <a:stretch>
            <a:fillRect/>
          </a:stretch>
        </p:blipFill>
        <p:spPr>
          <a:xfrm>
            <a:off x="6308446" y="3656686"/>
            <a:ext cx="230429" cy="230429"/>
          </a:xfrm>
          <a:prstGeom prst="rect">
            <a:avLst/>
          </a:prstGeom>
        </p:spPr>
      </p:pic>
      <p:sp>
        <p:nvSpPr>
          <p:cNvPr id="20" name="Shape 16"/>
          <p:cNvSpPr/>
          <p:nvPr/>
        </p:nvSpPr>
        <p:spPr>
          <a:xfrm>
            <a:off x="6583680" y="1554480"/>
            <a:ext cx="2697480" cy="4572000"/>
          </a:xfrm>
          <a:prstGeom prst="roundRect">
            <a:avLst>
              <a:gd name="adj" fmla="val 406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7"/>
          <p:cNvSpPr txBox="1"/>
          <p:nvPr/>
        </p:nvSpPr>
        <p:spPr>
          <a:xfrm>
            <a:off x="6858000" y="1828800"/>
            <a:ext cx="214884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3 · CRECER</a:t>
            </a:r>
            <a:endParaRPr lang="en-US" sz="1200" dirty="0"/>
          </a:p>
        </p:txBody>
      </p:sp>
      <p:sp>
        <p:nvSpPr>
          <p:cNvPr id="22" name="Text 18"/>
          <p:cNvSpPr txBox="1"/>
          <p:nvPr/>
        </p:nvSpPr>
        <p:spPr>
          <a:xfrm>
            <a:off x="6858000" y="2148840"/>
            <a:ext cx="2148840" cy="731520"/>
          </a:xfrm>
          <a:prstGeom prst="rect">
            <a:avLst/>
          </a:prstGeom>
          <a:noFill/>
          <a:ln/>
        </p:spPr>
        <p:txBody>
          <a:bodyPr wrap="square" lIns="0" tIns="0" rIns="0" bIns="0" rtlCol="0" anchor="t"/>
          <a:lstStyle/>
          <a:p>
            <a:pPr indent="0" marL="0">
              <a:buNone/>
            </a:pPr>
            <a:r>
              <a:rPr lang="en-US" sz="2100" b="1" dirty="0">
                <a:solidFill>
                  <a:schemeClr val="tx2"/>
                </a:solidFill>
              </a:rPr>
              <a:t>Que nos recomienden</a:t>
            </a:r>
            <a:endParaRPr lang="en-US" sz="2100" dirty="0"/>
          </a:p>
        </p:txBody>
      </p:sp>
      <p:sp>
        <p:nvSpPr>
          <p:cNvPr id="23" name="Text 19"/>
          <p:cNvSpPr txBox="1"/>
          <p:nvPr/>
        </p:nvSpPr>
        <p:spPr>
          <a:xfrm>
            <a:off x="6858000" y="2926080"/>
            <a:ext cx="2148840" cy="1371600"/>
          </a:xfrm>
          <a:prstGeom prst="rect">
            <a:avLst/>
          </a:prstGeom>
          <a:noFill/>
          <a:ln/>
        </p:spPr>
        <p:txBody>
          <a:bodyPr wrap="square" lIns="0" tIns="0" rIns="0" bIns="0" rtlCol="0" anchor="t"/>
          <a:lstStyle/>
          <a:p>
            <a:pPr indent="0" marL="0">
              <a:buNone/>
            </a:pPr>
            <a:r>
              <a:rPr lang="en-US" sz="1500" dirty="0">
                <a:solidFill>
                  <a:schemeClr val="tx1"/>
                </a:solidFill>
              </a:rPr>
              <a:t>Mamá embajadora por salón y nuevos puntos de venta</a:t>
            </a:r>
            <a:endParaRPr lang="en-US" sz="1500" dirty="0"/>
          </a:p>
        </p:txBody>
      </p:sp>
      <p:sp>
        <p:nvSpPr>
          <p:cNvPr id="24" name="Shape 20"/>
          <p:cNvSpPr/>
          <p:nvPr/>
        </p:nvSpPr>
        <p:spPr>
          <a:xfrm>
            <a:off x="6766560" y="4480560"/>
            <a:ext cx="2331720" cy="1463040"/>
          </a:xfrm>
          <a:prstGeom prst="roundRect">
            <a:avLst>
              <a:gd name="adj" fmla="val 6250"/>
            </a:avLst>
          </a:prstGeom>
          <a:solidFill>
            <a:schemeClr val="bg2"/>
          </a:solidFill>
          <a:ln w="12700">
            <a:solidFill>
              <a:schemeClr val="bg2"/>
            </a:solidFill>
            <a:prstDash val="solid"/>
          </a:ln>
        </p:spPr>
      </p:sp>
      <p:sp>
        <p:nvSpPr>
          <p:cNvPr id="25" name="Text 21"/>
          <p:cNvSpPr txBox="1"/>
          <p:nvPr/>
        </p:nvSpPr>
        <p:spPr>
          <a:xfrm>
            <a:off x="6949440" y="4572000"/>
            <a:ext cx="1965960" cy="1280160"/>
          </a:xfrm>
          <a:prstGeom prst="rect">
            <a:avLst/>
          </a:prstGeom>
          <a:noFill/>
          <a:ln/>
        </p:spPr>
        <p:txBody>
          <a:bodyPr wrap="square" lIns="0" tIns="0" rIns="0" bIns="0" rtlCol="0" anchor="ctr"/>
          <a:lstStyle/>
          <a:p>
            <a:pPr indent="0" marL="0">
              <a:buNone/>
            </a:pPr>
            <a:r>
              <a:rPr lang="en-US" sz="3400" b="1" dirty="0">
                <a:solidFill>
                  <a:schemeClr val="accent1"/>
                </a:solidFill>
              </a:rPr>
              <a:t>3</a:t>
            </a:r>
            <a:endParaRPr lang="en-US" sz="1400" dirty="0"/>
          </a:p>
          <a:p>
            <a:pPr indent="0" marL="0">
              <a:buNone/>
            </a:pPr>
            <a:r>
              <a:rPr lang="en-US" sz="1300" dirty="0">
                <a:solidFill>
                  <a:schemeClr val="accent2"/>
                </a:solidFill>
              </a:rPr>
              <a:t>puntos de venta desde agosto de 2027</a:t>
            </a:r>
            <a:endParaRPr lang="en-US" sz="1400" dirty="0"/>
          </a:p>
        </p:txBody>
      </p:sp>
      <p:sp>
        <p:nvSpPr>
          <p:cNvPr id="26" name="IMAGEN_3"/>
          <p:cNvSpPr/>
          <p:nvPr/>
        </p:nvSpPr>
        <p:spPr>
          <a:xfrm>
            <a:off x="9555480" y="1554480"/>
            <a:ext cx="2084832" cy="4572000"/>
          </a:xfrm>
          <a:prstGeom prst="roundRect">
            <a:avLst>
              <a:gd name="adj" fmla="val 6579"/>
            </a:avLst>
          </a:prstGeom>
          <a:solidFill>
            <a:srgbClr val="F0E2CF"/>
          </a:solidFill>
          <a:ln w="19050">
            <a:solidFill>
              <a:schemeClr val="accent5"/>
            </a:solidFill>
            <a:prstDash val="dash"/>
          </a:ln>
        </p:spPr>
      </p:sp>
      <p:pic>
        <p:nvPicPr>
          <p:cNvPr id="27" name="Image 2" descr="preencoded.png">    </p:cNvPr>
          <p:cNvPicPr>
            <a:picLocks noChangeAspect="1"/>
          </p:cNvPicPr>
          <p:nvPr/>
        </p:nvPicPr>
        <p:blipFill>
          <a:blip r:embed="rId3"/>
          <a:stretch>
            <a:fillRect/>
          </a:stretch>
        </p:blipFill>
        <p:spPr>
          <a:xfrm>
            <a:off x="10232136" y="2926080"/>
            <a:ext cx="731520" cy="731520"/>
          </a:xfrm>
          <a:prstGeom prst="rect">
            <a:avLst/>
          </a:prstGeom>
        </p:spPr>
      </p:pic>
      <p:sp>
        <p:nvSpPr>
          <p:cNvPr id="28" name="Text 23"/>
          <p:cNvSpPr txBox="1"/>
          <p:nvPr/>
        </p:nvSpPr>
        <p:spPr>
          <a:xfrm>
            <a:off x="9738360" y="3840480"/>
            <a:ext cx="1719072" cy="1097280"/>
          </a:xfrm>
          <a:prstGeom prst="rect">
            <a:avLst/>
          </a:prstGeom>
          <a:noFill/>
          <a:ln/>
        </p:spPr>
        <p:txBody>
          <a:bodyPr wrap="square" lIns="0" tIns="0" rIns="0" bIns="0" rtlCol="0" anchor="t"/>
          <a:lstStyle/>
          <a:p>
            <a:pPr algn="ctr" indent="0" marL="0">
              <a:buNone/>
            </a:pPr>
            <a:r>
              <a:rPr lang="en-US" sz="1600" b="1" dirty="0">
                <a:solidFill>
                  <a:schemeClr val="accent2"/>
                </a:solidFill>
              </a:rPr>
              <a:t>IMAGEN 3</a:t>
            </a:r>
            <a:endParaRPr lang="en-US" sz="1400" dirty="0"/>
          </a:p>
          <a:p>
            <a:pPr algn="ctr" indent="0" marL="0">
              <a:buNone/>
            </a:pPr>
            <a:r>
              <a:rPr lang="en-US" sz="1300" dirty="0">
                <a:solidFill>
                  <a:schemeClr val="accent2"/>
                </a:solidFill>
              </a:rPr>
              <a:t>Lonchera con AndiBite y fruta</a:t>
            </a:r>
            <a:endParaRPr lang="en-US" sz="1400" dirty="0"/>
          </a:p>
          <a:p>
            <a:pPr algn="ctr" indent="0" marL="0">
              <a:buNone/>
            </a:pPr>
            <a:r>
              <a:rPr lang="en-US" sz="1100" i="1" dirty="0">
                <a:solidFill>
                  <a:schemeClr val="accent2"/>
                </a:solidFill>
              </a:rPr>
              <a:t>Prompt en las notas del orador</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FUENTES DE INGRESO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Cuatro fuentes de ingreso, una sola línea de producto</a:t>
            </a:r>
            <a:endParaRPr lang="en-US" sz="3400" dirty="0"/>
          </a:p>
        </p:txBody>
      </p:sp>
      <p:sp>
        <p:nvSpPr>
          <p:cNvPr id="4" name="Shape 2"/>
          <p:cNvSpPr/>
          <p:nvPr/>
        </p:nvSpPr>
        <p:spPr>
          <a:xfrm>
            <a:off x="548640" y="1554480"/>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31520" y="1728216"/>
            <a:ext cx="640080" cy="64008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872338" y="1869034"/>
            <a:ext cx="358445" cy="358445"/>
          </a:xfrm>
          <a:prstGeom prst="rect">
            <a:avLst/>
          </a:prstGeom>
        </p:spPr>
      </p:pic>
      <p:sp>
        <p:nvSpPr>
          <p:cNvPr id="7" name="Text 4"/>
          <p:cNvSpPr txBox="1"/>
          <p:nvPr/>
        </p:nvSpPr>
        <p:spPr>
          <a:xfrm>
            <a:off x="1554480" y="1554480"/>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Venta en stands y carritos</a:t>
            </a:r>
            <a:endParaRPr lang="en-US" sz="1400" dirty="0"/>
          </a:p>
          <a:p>
            <a:pPr indent="0" marL="0">
              <a:buNone/>
            </a:pPr>
            <a:r>
              <a:rPr lang="en-US" sz="1300" dirty="0">
                <a:solidFill>
                  <a:schemeClr val="accent2"/>
                </a:solidFill>
              </a:rPr>
              <a:t>Unidades y packs en malls y supermercados</a:t>
            </a:r>
            <a:endParaRPr lang="en-US" sz="1400" dirty="0"/>
          </a:p>
        </p:txBody>
      </p:sp>
      <p:sp>
        <p:nvSpPr>
          <p:cNvPr id="8" name="Text 5"/>
          <p:cNvSpPr txBox="1"/>
          <p:nvPr/>
        </p:nvSpPr>
        <p:spPr>
          <a:xfrm>
            <a:off x="5120640" y="1554480"/>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50.0 %</a:t>
            </a:r>
            <a:endParaRPr lang="en-US" sz="1400" dirty="0"/>
          </a:p>
          <a:p>
            <a:pPr algn="r" indent="0" marL="0">
              <a:buNone/>
            </a:pPr>
            <a:r>
              <a:rPr lang="en-US" sz="1000" dirty="0">
                <a:solidFill>
                  <a:schemeClr val="accent2"/>
                </a:solidFill>
              </a:rPr>
              <a:t>de los ingresos</a:t>
            </a:r>
            <a:endParaRPr lang="en-US" sz="1400" dirty="0"/>
          </a:p>
        </p:txBody>
      </p:sp>
      <p:sp>
        <p:nvSpPr>
          <p:cNvPr id="9" name="Shape 6"/>
          <p:cNvSpPr/>
          <p:nvPr/>
        </p:nvSpPr>
        <p:spPr>
          <a:xfrm>
            <a:off x="548640" y="2679192"/>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Shape 7"/>
          <p:cNvSpPr/>
          <p:nvPr/>
        </p:nvSpPr>
        <p:spPr>
          <a:xfrm>
            <a:off x="731520" y="2852928"/>
            <a:ext cx="640080" cy="64008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872338" y="2993746"/>
            <a:ext cx="358445" cy="358445"/>
          </a:xfrm>
          <a:prstGeom prst="rect">
            <a:avLst/>
          </a:prstGeom>
        </p:spPr>
      </p:pic>
      <p:sp>
        <p:nvSpPr>
          <p:cNvPr id="12" name="Text 8"/>
          <p:cNvSpPr txBox="1"/>
          <p:nvPr/>
        </p:nvSpPr>
        <p:spPr>
          <a:xfrm>
            <a:off x="1554480" y="2679192"/>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Ferias y eventos</a:t>
            </a:r>
            <a:endParaRPr lang="en-US" sz="1400" dirty="0"/>
          </a:p>
          <a:p>
            <a:pPr indent="0" marL="0">
              <a:buNone/>
            </a:pPr>
            <a:r>
              <a:rPr lang="en-US" sz="1300" dirty="0">
                <a:solidFill>
                  <a:schemeClr val="accent2"/>
                </a:solidFill>
              </a:rPr>
              <a:t>Navidad, campaña escolar, kermeses y cumpleaños</a:t>
            </a:r>
            <a:endParaRPr lang="en-US" sz="1400" dirty="0"/>
          </a:p>
        </p:txBody>
      </p:sp>
      <p:sp>
        <p:nvSpPr>
          <p:cNvPr id="13" name="Text 9"/>
          <p:cNvSpPr txBox="1"/>
          <p:nvPr/>
        </p:nvSpPr>
        <p:spPr>
          <a:xfrm>
            <a:off x="5120640" y="2679192"/>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18.4 %</a:t>
            </a:r>
            <a:endParaRPr lang="en-US" sz="1400" dirty="0"/>
          </a:p>
          <a:p>
            <a:pPr algn="r" indent="0" marL="0">
              <a:buNone/>
            </a:pPr>
            <a:r>
              <a:rPr lang="en-US" sz="1000" dirty="0">
                <a:solidFill>
                  <a:schemeClr val="accent2"/>
                </a:solidFill>
              </a:rPr>
              <a:t>de los ingresos</a:t>
            </a:r>
            <a:endParaRPr lang="en-US" sz="1400" dirty="0"/>
          </a:p>
        </p:txBody>
      </p:sp>
      <p:sp>
        <p:nvSpPr>
          <p:cNvPr id="14" name="Shape 10"/>
          <p:cNvSpPr/>
          <p:nvPr/>
        </p:nvSpPr>
        <p:spPr>
          <a:xfrm>
            <a:off x="548640" y="3803904"/>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Shape 11"/>
          <p:cNvSpPr/>
          <p:nvPr/>
        </p:nvSpPr>
        <p:spPr>
          <a:xfrm>
            <a:off x="731520" y="3977640"/>
            <a:ext cx="640080" cy="640080"/>
          </a:xfrm>
          <a:prstGeom prst="ellipse">
            <a:avLst/>
          </a:prstGeom>
          <a:solidFill>
            <a:schemeClr val="tx2"/>
          </a:solidFill>
          <a:ln w="12700">
            <a:solidFill>
              <a:schemeClr val="tx2"/>
            </a:solidFill>
            <a:prstDash val="solid"/>
          </a:ln>
        </p:spPr>
      </p:sp>
      <p:pic>
        <p:nvPicPr>
          <p:cNvPr id="16" name="Image 2" descr="preencoded.png">    </p:cNvPr>
          <p:cNvPicPr>
            <a:picLocks noChangeAspect="1"/>
          </p:cNvPicPr>
          <p:nvPr/>
        </p:nvPicPr>
        <p:blipFill>
          <a:blip r:embed="rId3"/>
          <a:stretch>
            <a:fillRect/>
          </a:stretch>
        </p:blipFill>
        <p:spPr>
          <a:xfrm>
            <a:off x="872338" y="4118458"/>
            <a:ext cx="358445" cy="358445"/>
          </a:xfrm>
          <a:prstGeom prst="rect">
            <a:avLst/>
          </a:prstGeom>
        </p:spPr>
      </p:pic>
      <p:sp>
        <p:nvSpPr>
          <p:cNvPr id="17" name="Text 12"/>
          <p:cNvSpPr txBox="1"/>
          <p:nvPr/>
        </p:nvSpPr>
        <p:spPr>
          <a:xfrm>
            <a:off x="1554480" y="3803904"/>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Recompra por WhatsApp</a:t>
            </a:r>
            <a:endParaRPr lang="en-US" sz="1400" dirty="0"/>
          </a:p>
          <a:p>
            <a:pPr indent="0" marL="0">
              <a:buNone/>
            </a:pPr>
            <a:r>
              <a:rPr lang="en-US" sz="1300" dirty="0">
                <a:solidFill>
                  <a:schemeClr val="accent2"/>
                </a:solidFill>
              </a:rPr>
              <a:t>Packs de 6 y de 12 con delivery</a:t>
            </a:r>
            <a:endParaRPr lang="en-US" sz="1400" dirty="0"/>
          </a:p>
        </p:txBody>
      </p:sp>
      <p:sp>
        <p:nvSpPr>
          <p:cNvPr id="18" name="Text 13"/>
          <p:cNvSpPr txBox="1"/>
          <p:nvPr/>
        </p:nvSpPr>
        <p:spPr>
          <a:xfrm>
            <a:off x="5120640" y="3803904"/>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16.1 %</a:t>
            </a:r>
            <a:endParaRPr lang="en-US" sz="1400" dirty="0"/>
          </a:p>
          <a:p>
            <a:pPr algn="r" indent="0" marL="0">
              <a:buNone/>
            </a:pPr>
            <a:r>
              <a:rPr lang="en-US" sz="1000" dirty="0">
                <a:solidFill>
                  <a:schemeClr val="accent2"/>
                </a:solidFill>
              </a:rPr>
              <a:t>de los ingresos</a:t>
            </a:r>
            <a:endParaRPr lang="en-US" sz="1400" dirty="0"/>
          </a:p>
        </p:txBody>
      </p:sp>
      <p:sp>
        <p:nvSpPr>
          <p:cNvPr id="19" name="Shape 14"/>
          <p:cNvSpPr/>
          <p:nvPr/>
        </p:nvSpPr>
        <p:spPr>
          <a:xfrm>
            <a:off x="548640" y="4928616"/>
            <a:ext cx="5760720" cy="987552"/>
          </a:xfrm>
          <a:prstGeom prst="roundRect">
            <a:avLst>
              <a:gd name="adj" fmla="val 1111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0" name="Shape 15"/>
          <p:cNvSpPr/>
          <p:nvPr/>
        </p:nvSpPr>
        <p:spPr>
          <a:xfrm>
            <a:off x="731520" y="5102352"/>
            <a:ext cx="640080" cy="640080"/>
          </a:xfrm>
          <a:prstGeom prst="ellipse">
            <a:avLst/>
          </a:prstGeom>
          <a:solidFill>
            <a:schemeClr val="tx2"/>
          </a:solidFill>
          <a:ln w="12700">
            <a:solidFill>
              <a:schemeClr val="tx2"/>
            </a:solidFill>
            <a:prstDash val="solid"/>
          </a:ln>
        </p:spPr>
      </p:sp>
      <p:pic>
        <p:nvPicPr>
          <p:cNvPr id="21" name="Image 3" descr="preencoded.png">    </p:cNvPr>
          <p:cNvPicPr>
            <a:picLocks noChangeAspect="1"/>
          </p:cNvPicPr>
          <p:nvPr/>
        </p:nvPicPr>
        <p:blipFill>
          <a:blip r:embed="rId4"/>
          <a:stretch>
            <a:fillRect/>
          </a:stretch>
        </p:blipFill>
        <p:spPr>
          <a:xfrm>
            <a:off x="872338" y="5243170"/>
            <a:ext cx="358445" cy="358445"/>
          </a:xfrm>
          <a:prstGeom prst="rect">
            <a:avLst/>
          </a:prstGeom>
        </p:spPr>
      </p:pic>
      <p:sp>
        <p:nvSpPr>
          <p:cNvPr id="22" name="Text 16"/>
          <p:cNvSpPr txBox="1"/>
          <p:nvPr/>
        </p:nvSpPr>
        <p:spPr>
          <a:xfrm>
            <a:off x="1554480" y="4928616"/>
            <a:ext cx="3520440" cy="987552"/>
          </a:xfrm>
          <a:prstGeom prst="rect">
            <a:avLst/>
          </a:prstGeom>
          <a:noFill/>
          <a:ln/>
        </p:spPr>
        <p:txBody>
          <a:bodyPr wrap="square" lIns="0" tIns="0" rIns="0" bIns="0" rtlCol="0" anchor="ctr"/>
          <a:lstStyle/>
          <a:p>
            <a:pPr indent="0" marL="0">
              <a:buNone/>
            </a:pPr>
            <a:r>
              <a:rPr lang="en-US" sz="1600" b="1" dirty="0">
                <a:solidFill>
                  <a:schemeClr val="tx2"/>
                </a:solidFill>
              </a:rPr>
              <a:t>Venta mayorista (B2B)</a:t>
            </a:r>
            <a:endParaRPr lang="en-US" sz="1400" dirty="0"/>
          </a:p>
          <a:p>
            <a:pPr indent="0" marL="0">
              <a:buNone/>
            </a:pPr>
            <a:r>
              <a:rPr lang="en-US" sz="1300" dirty="0">
                <a:solidFill>
                  <a:schemeClr val="accent2"/>
                </a:solidFill>
              </a:rPr>
              <a:t>Quioscos escolares y tiendas naturistas, con factura</a:t>
            </a:r>
            <a:endParaRPr lang="en-US" sz="1400" dirty="0"/>
          </a:p>
        </p:txBody>
      </p:sp>
      <p:sp>
        <p:nvSpPr>
          <p:cNvPr id="23" name="Text 17"/>
          <p:cNvSpPr txBox="1"/>
          <p:nvPr/>
        </p:nvSpPr>
        <p:spPr>
          <a:xfrm>
            <a:off x="5120640" y="4928616"/>
            <a:ext cx="1097280" cy="987552"/>
          </a:xfrm>
          <a:prstGeom prst="rect">
            <a:avLst/>
          </a:prstGeom>
          <a:noFill/>
          <a:ln/>
        </p:spPr>
        <p:txBody>
          <a:bodyPr wrap="square" lIns="0" tIns="0" rIns="0" bIns="0" rtlCol="0" anchor="ctr"/>
          <a:lstStyle/>
          <a:p>
            <a:pPr algn="r" indent="0" marL="0">
              <a:buNone/>
            </a:pPr>
            <a:r>
              <a:rPr lang="en-US" sz="2400" b="1" dirty="0">
                <a:solidFill>
                  <a:schemeClr val="accent1"/>
                </a:solidFill>
              </a:rPr>
              <a:t>15.5 %</a:t>
            </a:r>
            <a:endParaRPr lang="en-US" sz="1400" dirty="0"/>
          </a:p>
          <a:p>
            <a:pPr algn="r" indent="0" marL="0">
              <a:buNone/>
            </a:pPr>
            <a:r>
              <a:rPr lang="en-US" sz="1000" dirty="0">
                <a:solidFill>
                  <a:schemeClr val="accent2"/>
                </a:solidFill>
              </a:rPr>
              <a:t>de los ingresos</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0" y="1554480"/>
          <a:ext cx="5056632" cy="914400"/>
        </p:xfrm>
        <a:graphic>
          <a:graphicData uri="http://schemas.openxmlformats.org/drawingml/2006/table">
            <a:tbl>
              <a:tblPr/>
              <a:tblGrid>
                <a:gridCol w="1764792"/>
                <a:gridCol w="1005840"/>
                <a:gridCol w="1143000"/>
                <a:gridCol w="1143000"/>
              </a:tblGrid>
              <a:tr h="502920">
                <a:tc>
                  <a:txBody>
                    <a:bodyPr/>
                    <a:lstStyle/>
                    <a:p>
                      <a:pPr indent="0" marL="0">
                        <a:buNone/>
                      </a:pPr>
                      <a:r>
                        <a:rPr lang="en-US" sz="1300" b="1" dirty="0">
                          <a:solidFill>
                            <a:schemeClr val="bg1"/>
                          </a:solidFill>
                        </a:rPr>
                        <a:t>Precio con IGV</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Unidad</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Pack de 6</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Pack de 12</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502920">
                <a:tc>
                  <a:txBody>
                    <a:bodyPr/>
                    <a:lstStyle/>
                    <a:p>
                      <a:pPr indent="0" marL="0">
                        <a:buNone/>
                      </a:pPr>
                      <a:r>
                        <a:rPr lang="en-US" sz="1400" b="1" dirty="0">
                          <a:solidFill>
                            <a:schemeClr val="tx1"/>
                          </a:solidFill>
                        </a:rPr>
                        <a:t>Stand y ferias</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b="1" dirty="0">
                          <a:solidFill>
                            <a:schemeClr val="tx1"/>
                          </a:solidFill>
                        </a:rPr>
                        <a:t>S/6.00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b="1" dirty="0">
                          <a:solidFill>
                            <a:schemeClr val="tx1"/>
                          </a:solidFill>
                        </a:rPr>
                        <a:t>S/27.90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400" b="1" dirty="0">
                          <a:solidFill>
                            <a:schemeClr val="tx1"/>
                          </a:solidFill>
                        </a:rPr>
                        <a:t>S/51.90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r h="502920">
                <a:tc>
                  <a:txBody>
                    <a:bodyPr/>
                    <a:lstStyle/>
                    <a:p>
                      <a:pPr indent="0" marL="0">
                        <a:buNone/>
                      </a:pPr>
                      <a:r>
                        <a:rPr lang="en-US" sz="1400" b="1" dirty="0">
                          <a:solidFill>
                            <a:schemeClr val="tx1"/>
                          </a:solidFill>
                        </a:rPr>
                        <a:t>WhatsApp</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S/4.00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S/26.90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S/49.90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chemeClr val="tx1"/>
                          </a:solidFill>
                        </a:rPr>
                        <a:t>Quiosco escolar</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S/4.00*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chemeClr val="tx1"/>
                          </a:solidFill>
                        </a:rPr>
                        <a:t>Tienda naturista</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S/28.90*</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25" name="Shape 18"/>
          <p:cNvSpPr/>
          <p:nvPr/>
        </p:nvSpPr>
        <p:spPr>
          <a:xfrm>
            <a:off x="6583680" y="4343400"/>
            <a:ext cx="5056632" cy="1783080"/>
          </a:xfrm>
          <a:prstGeom prst="roundRect">
            <a:avLst>
              <a:gd name="adj" fmla="val 6154"/>
            </a:avLst>
          </a:prstGeom>
          <a:solidFill>
            <a:schemeClr val="bg2"/>
          </a:solidFill>
          <a:ln w="12700">
            <a:solidFill>
              <a:schemeClr val="bg2"/>
            </a:solidFill>
            <a:prstDash val="solid"/>
          </a:ln>
        </p:spPr>
      </p:sp>
      <p:sp>
        <p:nvSpPr>
          <p:cNvPr id="26" name="Text 19"/>
          <p:cNvSpPr txBox="1"/>
          <p:nvPr/>
        </p:nvSpPr>
        <p:spPr>
          <a:xfrm>
            <a:off x="6812280" y="4434840"/>
            <a:ext cx="4617720" cy="1600200"/>
          </a:xfrm>
          <a:prstGeom prst="rect">
            <a:avLst/>
          </a:prstGeom>
          <a:noFill/>
          <a:ln/>
        </p:spPr>
        <p:txBody>
          <a:bodyPr wrap="square" lIns="0" tIns="0" rIns="0" bIns="0" rtlCol="0" anchor="ctr"/>
          <a:lstStyle/>
          <a:p>
            <a:pPr indent="0" marL="0">
              <a:spcAft>
                <a:spcPts val="400"/>
              </a:spcAft>
              <a:buNone/>
            </a:pPr>
            <a:r>
              <a:rPr lang="en-US" sz="1500" b="1" dirty="0">
                <a:solidFill>
                  <a:schemeClr val="tx2"/>
                </a:solidFill>
              </a:rPr>
              <a:t>Precio fijo por lista</a:t>
            </a:r>
            <a:endParaRPr lang="en-US" sz="1400" dirty="0"/>
          </a:p>
          <a:p>
            <a:pPr indent="0" marL="0">
              <a:spcAft>
                <a:spcPts val="400"/>
              </a:spcAft>
              <a:buNone/>
            </a:pPr>
            <a:r>
              <a:rPr lang="en-US" sz="1400" dirty="0">
                <a:solidFill>
                  <a:schemeClr val="tx1"/>
                </a:solidFill>
              </a:rPr>
              <a:t>Incluye el hierro medido por lote y la app. En el stand se cobra algo más por el alquiler y el personal.</a:t>
            </a:r>
            <a:endParaRPr lang="en-US" sz="1400" dirty="0"/>
          </a:p>
          <a:p>
            <a:pPr indent="0" marL="0">
              <a:spcAft>
                <a:spcPts val="400"/>
              </a:spcAft>
              <a:buNone/>
            </a:pPr>
            <a:r>
              <a:rPr lang="en-US" sz="1100" i="1" dirty="0">
                <a:solidFill>
                  <a:schemeClr val="accent2"/>
                </a:solidFill>
              </a:rPr>
              <a:t>* Precio al público. AndiBite recibe S/3.00 en el quiosco y S/17.34 en la naturista.</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6 · VENTAS DEL AÑO 1</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S/246,500 en el primer año de ventas</a:t>
            </a:r>
            <a:endParaRPr lang="en-US" sz="3400" dirty="0"/>
          </a:p>
        </p:txBody>
      </p:sp>
      <p:graphicFrame>
        <p:nvGraphicFramePr>
          <p:cNvPr id="4" name="Chart 0" descr=""/>
          <p:cNvGraphicFramePr/>
          <p:nvPr/>
        </p:nvGraphicFramePr>
        <p:xfrm>
          <a:off x="365760" y="1463040"/>
          <a:ext cx="4023360" cy="4069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572000" y="1463040"/>
          <a:ext cx="7223760" cy="406908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548640"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777240"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52,786  </a:t>
            </a:r>
            <a:pPr indent="0" marL="0">
              <a:buNone/>
            </a:pPr>
            <a:r>
              <a:rPr lang="en-US" sz="1300" dirty="0">
                <a:solidFill>
                  <a:schemeClr val="accent2"/>
                </a:solidFill>
              </a:rPr>
              <a:t>brownies vendidos</a:t>
            </a:r>
            <a:endParaRPr lang="en-US" sz="1400" dirty="0"/>
          </a:p>
        </p:txBody>
      </p:sp>
      <p:sp>
        <p:nvSpPr>
          <p:cNvPr id="8" name="Shape 4"/>
          <p:cNvSpPr/>
          <p:nvPr/>
        </p:nvSpPr>
        <p:spPr>
          <a:xfrm>
            <a:off x="4311396"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5"/>
          <p:cNvSpPr txBox="1"/>
          <p:nvPr/>
        </p:nvSpPr>
        <p:spPr>
          <a:xfrm>
            <a:off x="4539996"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3,262 + 324  </a:t>
            </a:r>
            <a:pPr indent="0" marL="0">
              <a:buNone/>
            </a:pPr>
            <a:r>
              <a:rPr lang="en-US" sz="1300" dirty="0">
                <a:solidFill>
                  <a:schemeClr val="accent2"/>
                </a:solidFill>
              </a:rPr>
              <a:t>packs de 6 y de 12</a:t>
            </a:r>
            <a:endParaRPr lang="en-US" sz="1400" dirty="0"/>
          </a:p>
        </p:txBody>
      </p:sp>
      <p:sp>
        <p:nvSpPr>
          <p:cNvPr id="10" name="Shape 6"/>
          <p:cNvSpPr/>
          <p:nvPr/>
        </p:nvSpPr>
        <p:spPr>
          <a:xfrm>
            <a:off x="8074152" y="5596128"/>
            <a:ext cx="3566160" cy="658368"/>
          </a:xfrm>
          <a:prstGeom prst="roundRect">
            <a:avLst>
              <a:gd name="adj" fmla="val 13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7"/>
          <p:cNvSpPr txBox="1"/>
          <p:nvPr/>
        </p:nvSpPr>
        <p:spPr>
          <a:xfrm>
            <a:off x="8302752" y="5596128"/>
            <a:ext cx="3200400" cy="658368"/>
          </a:xfrm>
          <a:prstGeom prst="rect">
            <a:avLst/>
          </a:prstGeom>
          <a:noFill/>
          <a:ln/>
        </p:spPr>
        <p:txBody>
          <a:bodyPr wrap="square" lIns="0" tIns="0" rIns="0" bIns="0" rtlCol="0" anchor="ctr"/>
          <a:lstStyle/>
          <a:p>
            <a:pPr indent="0" marL="0">
              <a:buNone/>
            </a:pPr>
            <a:r>
              <a:rPr lang="en-US" sz="2000" b="1" dirty="0">
                <a:solidFill>
                  <a:schemeClr val="accent1"/>
                </a:solidFill>
              </a:rPr>
              <a:t>S/4.67  </a:t>
            </a:r>
            <a:pPr indent="0" marL="0">
              <a:buNone/>
            </a:pPr>
            <a:r>
              <a:rPr lang="en-US" sz="1300" dirty="0">
                <a:solidFill>
                  <a:schemeClr val="accent2"/>
                </a:solidFill>
              </a:rPr>
              <a:t>de ingreso promedio por brownie</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07</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Socios, recursos, actividades y costos</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Socios clave · Recursos clave · Actividades y costos · Punto de equilibrio · Modelo Canvas</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SOCIOS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Seis socios que pasan la regla de las 3 C</a:t>
            </a:r>
            <a:endParaRPr lang="en-US" sz="3400" dirty="0"/>
          </a:p>
        </p:txBody>
      </p:sp>
      <p:sp>
        <p:nvSpPr>
          <p:cNvPr id="4" name="Shape 2"/>
          <p:cNvSpPr/>
          <p:nvPr/>
        </p:nvSpPr>
        <p:spPr>
          <a:xfrm>
            <a:off x="4956048" y="2697480"/>
            <a:ext cx="2286000" cy="2286000"/>
          </a:xfrm>
          <a:prstGeom prst="ellipse">
            <a:avLst/>
          </a:prstGeom>
          <a:solidFill>
            <a:schemeClr val="tx2"/>
          </a:solidFill>
          <a:ln w="38100">
            <a:solidFill>
              <a:schemeClr val="accent5"/>
            </a:solidFill>
            <a:prstDash val="solid"/>
          </a:ln>
        </p:spPr>
      </p:sp>
      <p:pic>
        <p:nvPicPr>
          <p:cNvPr id="5" name="Image 0" descr="img/logo_light.png">    </p:cNvPr>
          <p:cNvPicPr>
            <a:picLocks noChangeAspect="1"/>
          </p:cNvPicPr>
          <p:nvPr/>
        </p:nvPicPr>
        <p:blipFill>
          <a:blip r:embed="rId1"/>
          <a:stretch>
            <a:fillRect/>
          </a:stretch>
        </p:blipFill>
        <p:spPr>
          <a:xfrm>
            <a:off x="5276088" y="3310128"/>
            <a:ext cx="1645920" cy="566928"/>
          </a:xfrm>
          <a:prstGeom prst="rect">
            <a:avLst/>
          </a:prstGeom>
        </p:spPr>
      </p:pic>
      <p:sp>
        <p:nvSpPr>
          <p:cNvPr id="6" name="Text 3"/>
          <p:cNvSpPr txBox="1"/>
          <p:nvPr/>
        </p:nvSpPr>
        <p:spPr>
          <a:xfrm>
            <a:off x="4956048" y="4023360"/>
            <a:ext cx="2286000" cy="320040"/>
          </a:xfrm>
          <a:prstGeom prst="rect">
            <a:avLst/>
          </a:prstGeom>
          <a:noFill/>
          <a:ln/>
        </p:spPr>
        <p:txBody>
          <a:bodyPr wrap="square" lIns="0" tIns="0" rIns="0" bIns="0" rtlCol="0" anchor="t"/>
          <a:lstStyle/>
          <a:p>
            <a:pPr algn="ctr" indent="0" marL="0">
              <a:buNone/>
            </a:pPr>
            <a:r>
              <a:rPr lang="en-US" sz="1300" b="1" dirty="0">
                <a:solidFill>
                  <a:schemeClr val="accent5"/>
                </a:solidFill>
              </a:rPr>
              <a:t>AndiBite S.A.C.</a:t>
            </a:r>
            <a:endParaRPr lang="en-US" sz="1300" dirty="0"/>
          </a:p>
        </p:txBody>
      </p:sp>
      <p:sp>
        <p:nvSpPr>
          <p:cNvPr id="7" name="Shape 4"/>
          <p:cNvSpPr/>
          <p:nvPr/>
        </p:nvSpPr>
        <p:spPr>
          <a:xfrm>
            <a:off x="4480560" y="2217420"/>
            <a:ext cx="795528" cy="1623060"/>
          </a:xfrm>
          <a:prstGeom prst="line">
            <a:avLst/>
          </a:prstGeom>
          <a:noFill/>
          <a:ln w="19050">
            <a:solidFill>
              <a:schemeClr val="accent5"/>
            </a:solidFill>
            <a:prstDash val="dash"/>
          </a:ln>
        </p:spPr>
      </p:sp>
      <p:sp>
        <p:nvSpPr>
          <p:cNvPr id="8" name="Shape 5"/>
          <p:cNvSpPr/>
          <p:nvPr/>
        </p:nvSpPr>
        <p:spPr>
          <a:xfrm>
            <a:off x="548640" y="1554480"/>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6"/>
          <p:cNvSpPr/>
          <p:nvPr/>
        </p:nvSpPr>
        <p:spPr>
          <a:xfrm>
            <a:off x="731520" y="1783080"/>
            <a:ext cx="594360" cy="594360"/>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862279" y="1913839"/>
            <a:ext cx="332842" cy="332842"/>
          </a:xfrm>
          <a:prstGeom prst="rect">
            <a:avLst/>
          </a:prstGeom>
        </p:spPr>
      </p:pic>
      <p:sp>
        <p:nvSpPr>
          <p:cNvPr id="11" name="Text 7"/>
          <p:cNvSpPr txBox="1"/>
          <p:nvPr/>
        </p:nvSpPr>
        <p:spPr>
          <a:xfrm>
            <a:off x="1508760" y="1691640"/>
            <a:ext cx="2834640" cy="329184"/>
          </a:xfrm>
          <a:prstGeom prst="rect">
            <a:avLst/>
          </a:prstGeom>
          <a:noFill/>
          <a:ln/>
        </p:spPr>
        <p:txBody>
          <a:bodyPr wrap="square" lIns="0" tIns="0" rIns="0" bIns="0" rtlCol="0" anchor="t"/>
          <a:lstStyle/>
          <a:p>
            <a:pPr indent="0" marL="0">
              <a:buNone/>
            </a:pPr>
            <a:r>
              <a:rPr lang="en-US" sz="1600" b="1" dirty="0">
                <a:solidFill>
                  <a:schemeClr val="tx2"/>
                </a:solidFill>
              </a:rPr>
              <a:t>Planta maquiladora</a:t>
            </a:r>
            <a:endParaRPr lang="en-US" sz="1600" dirty="0"/>
          </a:p>
        </p:txBody>
      </p:sp>
      <p:sp>
        <p:nvSpPr>
          <p:cNvPr id="12" name="Text 8"/>
          <p:cNvSpPr txBox="1"/>
          <p:nvPr/>
        </p:nvSpPr>
        <p:spPr>
          <a:xfrm>
            <a:off x="1508760" y="2011680"/>
            <a:ext cx="2834640" cy="329184"/>
          </a:xfrm>
          <a:prstGeom prst="rect">
            <a:avLst/>
          </a:prstGeom>
          <a:noFill/>
          <a:ln/>
        </p:spPr>
        <p:txBody>
          <a:bodyPr wrap="square" lIns="0" tIns="0" rIns="0" bIns="0" rtlCol="0" anchor="t"/>
          <a:lstStyle/>
          <a:p>
            <a:pPr indent="0" marL="0">
              <a:buNone/>
            </a:pPr>
            <a:r>
              <a:rPr lang="en-US" sz="1200" dirty="0">
                <a:solidFill>
                  <a:schemeClr val="tx1"/>
                </a:solidFill>
              </a:rPr>
              <a:t>MAKING, Panificadora Unión, INDDA</a:t>
            </a:r>
            <a:endParaRPr lang="en-US" sz="1200" dirty="0"/>
          </a:p>
        </p:txBody>
      </p:sp>
      <p:sp>
        <p:nvSpPr>
          <p:cNvPr id="13" name="Shape 9"/>
          <p:cNvSpPr/>
          <p:nvPr/>
        </p:nvSpPr>
        <p:spPr>
          <a:xfrm>
            <a:off x="1508760" y="2441448"/>
            <a:ext cx="914400" cy="274320"/>
          </a:xfrm>
          <a:prstGeom prst="roundRect">
            <a:avLst>
              <a:gd name="adj" fmla="val 50000"/>
            </a:avLst>
          </a:prstGeom>
          <a:solidFill>
            <a:schemeClr val="bg2"/>
          </a:solidFill>
          <a:ln w="9525">
            <a:solidFill>
              <a:schemeClr val="accent5"/>
            </a:solidFill>
            <a:prstDash val="solid"/>
          </a:ln>
        </p:spPr>
      </p:sp>
      <p:sp>
        <p:nvSpPr>
          <p:cNvPr id="14" name="Text 10"/>
          <p:cNvSpPr txBox="1"/>
          <p:nvPr/>
        </p:nvSpPr>
        <p:spPr>
          <a:xfrm>
            <a:off x="1508760" y="2441448"/>
            <a:ext cx="914400" cy="274320"/>
          </a:xfrm>
          <a:prstGeom prst="rect">
            <a:avLst/>
          </a:prstGeom>
          <a:noFill/>
          <a:ln/>
        </p:spPr>
        <p:txBody>
          <a:bodyPr wrap="square" lIns="0" tIns="0" rIns="0" bIns="0" rtlCol="0" anchor="ctr"/>
          <a:lstStyle/>
          <a:p>
            <a:pPr algn="ctr" indent="0" marL="0">
              <a:buNone/>
            </a:pPr>
            <a:r>
              <a:rPr lang="en-US" sz="900" b="1" dirty="0">
                <a:solidFill>
                  <a:schemeClr val="accent2"/>
                </a:solidFill>
              </a:rPr>
              <a:t>– Conecta</a:t>
            </a:r>
            <a:endParaRPr lang="en-US" sz="900" dirty="0"/>
          </a:p>
        </p:txBody>
      </p:sp>
      <p:sp>
        <p:nvSpPr>
          <p:cNvPr id="15" name="Shape 11"/>
          <p:cNvSpPr/>
          <p:nvPr/>
        </p:nvSpPr>
        <p:spPr>
          <a:xfrm>
            <a:off x="2478024" y="2441448"/>
            <a:ext cx="914400" cy="274320"/>
          </a:xfrm>
          <a:prstGeom prst="roundRect">
            <a:avLst>
              <a:gd name="adj" fmla="val 50000"/>
            </a:avLst>
          </a:prstGeom>
          <a:solidFill>
            <a:schemeClr val="accent4"/>
          </a:solidFill>
          <a:ln w="9525">
            <a:solidFill>
              <a:schemeClr val="accent4"/>
            </a:solidFill>
            <a:prstDash val="solid"/>
          </a:ln>
        </p:spPr>
      </p:sp>
      <p:sp>
        <p:nvSpPr>
          <p:cNvPr id="16" name="Text 12"/>
          <p:cNvSpPr txBox="1"/>
          <p:nvPr/>
        </p:nvSpPr>
        <p:spPr>
          <a:xfrm>
            <a:off x="2478024"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17" name="Shape 13"/>
          <p:cNvSpPr/>
          <p:nvPr/>
        </p:nvSpPr>
        <p:spPr>
          <a:xfrm>
            <a:off x="3447288" y="2441448"/>
            <a:ext cx="914400" cy="274320"/>
          </a:xfrm>
          <a:prstGeom prst="roundRect">
            <a:avLst>
              <a:gd name="adj" fmla="val 50000"/>
            </a:avLst>
          </a:prstGeom>
          <a:solidFill>
            <a:schemeClr val="accent4"/>
          </a:solidFill>
          <a:ln w="9525">
            <a:solidFill>
              <a:schemeClr val="accent4"/>
            </a:solidFill>
            <a:prstDash val="solid"/>
          </a:ln>
        </p:spPr>
      </p:sp>
      <p:sp>
        <p:nvSpPr>
          <p:cNvPr id="18" name="Text 14"/>
          <p:cNvSpPr txBox="1"/>
          <p:nvPr/>
        </p:nvSpPr>
        <p:spPr>
          <a:xfrm>
            <a:off x="3447288"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19" name="Shape 15"/>
          <p:cNvSpPr/>
          <p:nvPr/>
        </p:nvSpPr>
        <p:spPr>
          <a:xfrm>
            <a:off x="4480560" y="3753612"/>
            <a:ext cx="795528" cy="86868"/>
          </a:xfrm>
          <a:prstGeom prst="line">
            <a:avLst/>
          </a:prstGeom>
          <a:noFill/>
          <a:ln w="19050">
            <a:solidFill>
              <a:schemeClr val="accent5"/>
            </a:solidFill>
            <a:prstDash val="dash"/>
          </a:ln>
        </p:spPr>
      </p:sp>
      <p:sp>
        <p:nvSpPr>
          <p:cNvPr id="20" name="Shape 16"/>
          <p:cNvSpPr/>
          <p:nvPr/>
        </p:nvSpPr>
        <p:spPr>
          <a:xfrm>
            <a:off x="548640" y="3090672"/>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Shape 17"/>
          <p:cNvSpPr/>
          <p:nvPr/>
        </p:nvSpPr>
        <p:spPr>
          <a:xfrm>
            <a:off x="731520" y="3319272"/>
            <a:ext cx="594360" cy="594360"/>
          </a:xfrm>
          <a:prstGeom prst="ellipse">
            <a:avLst/>
          </a:prstGeom>
          <a:solidFill>
            <a:schemeClr val="accent1"/>
          </a:solidFill>
          <a:ln w="12700">
            <a:solidFill>
              <a:schemeClr val="accent1"/>
            </a:solidFill>
            <a:prstDash val="solid"/>
          </a:ln>
        </p:spPr>
      </p:sp>
      <p:pic>
        <p:nvPicPr>
          <p:cNvPr id="22" name="Image 2" descr="preencoded.png">    </p:cNvPr>
          <p:cNvPicPr>
            <a:picLocks noChangeAspect="1"/>
          </p:cNvPicPr>
          <p:nvPr/>
        </p:nvPicPr>
        <p:blipFill>
          <a:blip r:embed="rId3"/>
          <a:stretch>
            <a:fillRect/>
          </a:stretch>
        </p:blipFill>
        <p:spPr>
          <a:xfrm>
            <a:off x="862279" y="3450031"/>
            <a:ext cx="332842" cy="332842"/>
          </a:xfrm>
          <a:prstGeom prst="rect">
            <a:avLst/>
          </a:prstGeom>
        </p:spPr>
      </p:pic>
      <p:sp>
        <p:nvSpPr>
          <p:cNvPr id="23" name="Text 18"/>
          <p:cNvSpPr txBox="1"/>
          <p:nvPr/>
        </p:nvSpPr>
        <p:spPr>
          <a:xfrm>
            <a:off x="1508760" y="3227832"/>
            <a:ext cx="2834640" cy="329184"/>
          </a:xfrm>
          <a:prstGeom prst="rect">
            <a:avLst/>
          </a:prstGeom>
          <a:noFill/>
          <a:ln/>
        </p:spPr>
        <p:txBody>
          <a:bodyPr wrap="square" lIns="0" tIns="0" rIns="0" bIns="0" rtlCol="0" anchor="t"/>
          <a:lstStyle/>
          <a:p>
            <a:pPr indent="0" marL="0">
              <a:buNone/>
            </a:pPr>
            <a:r>
              <a:rPr lang="en-US" sz="1600" b="1" dirty="0">
                <a:solidFill>
                  <a:schemeClr val="tx2"/>
                </a:solidFill>
              </a:rPr>
              <a:t>Laboratorio INACAL</a:t>
            </a:r>
            <a:endParaRPr lang="en-US" sz="1600" dirty="0"/>
          </a:p>
        </p:txBody>
      </p:sp>
      <p:sp>
        <p:nvSpPr>
          <p:cNvPr id="24" name="Text 19"/>
          <p:cNvSpPr txBox="1"/>
          <p:nvPr/>
        </p:nvSpPr>
        <p:spPr>
          <a:xfrm>
            <a:off x="1508760" y="3547872"/>
            <a:ext cx="2834640" cy="329184"/>
          </a:xfrm>
          <a:prstGeom prst="rect">
            <a:avLst/>
          </a:prstGeom>
          <a:noFill/>
          <a:ln/>
        </p:spPr>
        <p:txBody>
          <a:bodyPr wrap="square" lIns="0" tIns="0" rIns="0" bIns="0" rtlCol="0" anchor="t"/>
          <a:lstStyle/>
          <a:p>
            <a:pPr indent="0" marL="0">
              <a:buNone/>
            </a:pPr>
            <a:r>
              <a:rPr lang="en-US" sz="1200" dirty="0">
                <a:solidFill>
                  <a:schemeClr val="tx1"/>
                </a:solidFill>
              </a:rPr>
              <a:t>SAT Perú y La Molina Calidad Total</a:t>
            </a:r>
            <a:endParaRPr lang="en-US" sz="1200" dirty="0"/>
          </a:p>
        </p:txBody>
      </p:sp>
      <p:sp>
        <p:nvSpPr>
          <p:cNvPr id="25" name="Shape 20"/>
          <p:cNvSpPr/>
          <p:nvPr/>
        </p:nvSpPr>
        <p:spPr>
          <a:xfrm>
            <a:off x="1508760" y="3977640"/>
            <a:ext cx="914400" cy="274320"/>
          </a:xfrm>
          <a:prstGeom prst="roundRect">
            <a:avLst>
              <a:gd name="adj" fmla="val 50000"/>
            </a:avLst>
          </a:prstGeom>
          <a:solidFill>
            <a:schemeClr val="accent4"/>
          </a:solidFill>
          <a:ln w="9525">
            <a:solidFill>
              <a:schemeClr val="accent4"/>
            </a:solidFill>
            <a:prstDash val="solid"/>
          </a:ln>
        </p:spPr>
      </p:sp>
      <p:sp>
        <p:nvSpPr>
          <p:cNvPr id="26" name="Text 21"/>
          <p:cNvSpPr txBox="1"/>
          <p:nvPr/>
        </p:nvSpPr>
        <p:spPr>
          <a:xfrm>
            <a:off x="1508760"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27" name="Shape 22"/>
          <p:cNvSpPr/>
          <p:nvPr/>
        </p:nvSpPr>
        <p:spPr>
          <a:xfrm>
            <a:off x="2478024" y="3977640"/>
            <a:ext cx="914400" cy="274320"/>
          </a:xfrm>
          <a:prstGeom prst="roundRect">
            <a:avLst>
              <a:gd name="adj" fmla="val 50000"/>
            </a:avLst>
          </a:prstGeom>
          <a:solidFill>
            <a:schemeClr val="accent4"/>
          </a:solidFill>
          <a:ln w="9525">
            <a:solidFill>
              <a:schemeClr val="accent4"/>
            </a:solidFill>
            <a:prstDash val="solid"/>
          </a:ln>
        </p:spPr>
      </p:sp>
      <p:sp>
        <p:nvSpPr>
          <p:cNvPr id="28" name="Text 23"/>
          <p:cNvSpPr txBox="1"/>
          <p:nvPr/>
        </p:nvSpPr>
        <p:spPr>
          <a:xfrm>
            <a:off x="2478024"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29" name="Shape 24"/>
          <p:cNvSpPr/>
          <p:nvPr/>
        </p:nvSpPr>
        <p:spPr>
          <a:xfrm>
            <a:off x="3447288" y="3977640"/>
            <a:ext cx="914400" cy="274320"/>
          </a:xfrm>
          <a:prstGeom prst="roundRect">
            <a:avLst>
              <a:gd name="adj" fmla="val 50000"/>
            </a:avLst>
          </a:prstGeom>
          <a:solidFill>
            <a:schemeClr val="accent4"/>
          </a:solidFill>
          <a:ln w="9525">
            <a:solidFill>
              <a:schemeClr val="accent4"/>
            </a:solidFill>
            <a:prstDash val="solid"/>
          </a:ln>
        </p:spPr>
      </p:sp>
      <p:sp>
        <p:nvSpPr>
          <p:cNvPr id="30" name="Text 25"/>
          <p:cNvSpPr txBox="1"/>
          <p:nvPr/>
        </p:nvSpPr>
        <p:spPr>
          <a:xfrm>
            <a:off x="3447288"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31" name="Shape 26"/>
          <p:cNvSpPr/>
          <p:nvPr/>
        </p:nvSpPr>
        <p:spPr>
          <a:xfrm>
            <a:off x="4480560" y="5289804"/>
            <a:ext cx="795528" cy="-1449324"/>
          </a:xfrm>
          <a:prstGeom prst="line">
            <a:avLst/>
          </a:prstGeom>
          <a:noFill/>
          <a:ln w="19050">
            <a:solidFill>
              <a:schemeClr val="accent5"/>
            </a:solidFill>
            <a:prstDash val="dash"/>
          </a:ln>
        </p:spPr>
      </p:sp>
      <p:sp>
        <p:nvSpPr>
          <p:cNvPr id="32" name="Shape 27"/>
          <p:cNvSpPr/>
          <p:nvPr/>
        </p:nvSpPr>
        <p:spPr>
          <a:xfrm>
            <a:off x="548640" y="4626864"/>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3" name="Shape 28"/>
          <p:cNvSpPr/>
          <p:nvPr/>
        </p:nvSpPr>
        <p:spPr>
          <a:xfrm>
            <a:off x="731520" y="4855464"/>
            <a:ext cx="594360" cy="594360"/>
          </a:xfrm>
          <a:prstGeom prst="ellipse">
            <a:avLst/>
          </a:prstGeom>
          <a:solidFill>
            <a:schemeClr val="accent1"/>
          </a:solidFill>
          <a:ln w="12700">
            <a:solidFill>
              <a:schemeClr val="accent1"/>
            </a:solidFill>
            <a:prstDash val="solid"/>
          </a:ln>
        </p:spPr>
      </p:sp>
      <p:pic>
        <p:nvPicPr>
          <p:cNvPr id="34" name="Image 3" descr="preencoded.png">    </p:cNvPr>
          <p:cNvPicPr>
            <a:picLocks noChangeAspect="1"/>
          </p:cNvPicPr>
          <p:nvPr/>
        </p:nvPicPr>
        <p:blipFill>
          <a:blip r:embed="rId4"/>
          <a:stretch>
            <a:fillRect/>
          </a:stretch>
        </p:blipFill>
        <p:spPr>
          <a:xfrm>
            <a:off x="862279" y="4986223"/>
            <a:ext cx="332842" cy="332842"/>
          </a:xfrm>
          <a:prstGeom prst="rect">
            <a:avLst/>
          </a:prstGeom>
        </p:spPr>
      </p:pic>
      <p:sp>
        <p:nvSpPr>
          <p:cNvPr id="35" name="Text 29"/>
          <p:cNvSpPr txBox="1"/>
          <p:nvPr/>
        </p:nvSpPr>
        <p:spPr>
          <a:xfrm>
            <a:off x="1508760" y="4764024"/>
            <a:ext cx="2834640" cy="329184"/>
          </a:xfrm>
          <a:prstGeom prst="rect">
            <a:avLst/>
          </a:prstGeom>
          <a:noFill/>
          <a:ln/>
        </p:spPr>
        <p:txBody>
          <a:bodyPr wrap="square" lIns="0" tIns="0" rIns="0" bIns="0" rtlCol="0" anchor="t"/>
          <a:lstStyle/>
          <a:p>
            <a:pPr indent="0" marL="0">
              <a:buNone/>
            </a:pPr>
            <a:r>
              <a:rPr lang="en-US" sz="1600" b="1" dirty="0">
                <a:solidFill>
                  <a:schemeClr val="tx2"/>
                </a:solidFill>
              </a:rPr>
              <a:t>Proveedores</a:t>
            </a:r>
            <a:endParaRPr lang="en-US" sz="1600" dirty="0"/>
          </a:p>
        </p:txBody>
      </p:sp>
      <p:sp>
        <p:nvSpPr>
          <p:cNvPr id="36" name="Text 30"/>
          <p:cNvSpPr txBox="1"/>
          <p:nvPr/>
        </p:nvSpPr>
        <p:spPr>
          <a:xfrm>
            <a:off x="1508760" y="5084064"/>
            <a:ext cx="2834640" cy="329184"/>
          </a:xfrm>
          <a:prstGeom prst="rect">
            <a:avLst/>
          </a:prstGeom>
          <a:noFill/>
          <a:ln/>
        </p:spPr>
        <p:txBody>
          <a:bodyPr wrap="square" lIns="0" tIns="0" rIns="0" bIns="0" rtlCol="0" anchor="t"/>
          <a:lstStyle/>
          <a:p>
            <a:pPr indent="0" marL="0">
              <a:buNone/>
            </a:pPr>
            <a:r>
              <a:rPr lang="en-US" sz="1200" dirty="0">
                <a:solidFill>
                  <a:schemeClr val="tx1"/>
                </a:solidFill>
              </a:rPr>
              <a:t>Sangrecita en polvo con RS, Makro, empaques</a:t>
            </a:r>
            <a:endParaRPr lang="en-US" sz="1200" dirty="0"/>
          </a:p>
        </p:txBody>
      </p:sp>
      <p:sp>
        <p:nvSpPr>
          <p:cNvPr id="37" name="Shape 31"/>
          <p:cNvSpPr/>
          <p:nvPr/>
        </p:nvSpPr>
        <p:spPr>
          <a:xfrm>
            <a:off x="1508760" y="5513832"/>
            <a:ext cx="914400" cy="274320"/>
          </a:xfrm>
          <a:prstGeom prst="roundRect">
            <a:avLst>
              <a:gd name="adj" fmla="val 50000"/>
            </a:avLst>
          </a:prstGeom>
          <a:solidFill>
            <a:schemeClr val="bg2"/>
          </a:solidFill>
          <a:ln w="9525">
            <a:solidFill>
              <a:schemeClr val="accent5"/>
            </a:solidFill>
            <a:prstDash val="solid"/>
          </a:ln>
        </p:spPr>
      </p:sp>
      <p:sp>
        <p:nvSpPr>
          <p:cNvPr id="38" name="Text 32"/>
          <p:cNvSpPr txBox="1"/>
          <p:nvPr/>
        </p:nvSpPr>
        <p:spPr>
          <a:xfrm>
            <a:off x="1508760" y="5513832"/>
            <a:ext cx="914400" cy="274320"/>
          </a:xfrm>
          <a:prstGeom prst="rect">
            <a:avLst/>
          </a:prstGeom>
          <a:noFill/>
          <a:ln/>
        </p:spPr>
        <p:txBody>
          <a:bodyPr wrap="square" lIns="0" tIns="0" rIns="0" bIns="0" rtlCol="0" anchor="ctr"/>
          <a:lstStyle/>
          <a:p>
            <a:pPr algn="ctr" indent="0" marL="0">
              <a:buNone/>
            </a:pPr>
            <a:r>
              <a:rPr lang="en-US" sz="900" b="1" dirty="0">
                <a:solidFill>
                  <a:schemeClr val="accent2"/>
                </a:solidFill>
              </a:rPr>
              <a:t>– Conecta</a:t>
            </a:r>
            <a:endParaRPr lang="en-US" sz="900" dirty="0"/>
          </a:p>
        </p:txBody>
      </p:sp>
      <p:sp>
        <p:nvSpPr>
          <p:cNvPr id="39" name="Shape 33"/>
          <p:cNvSpPr/>
          <p:nvPr/>
        </p:nvSpPr>
        <p:spPr>
          <a:xfrm>
            <a:off x="2478024" y="5513832"/>
            <a:ext cx="914400" cy="274320"/>
          </a:xfrm>
          <a:prstGeom prst="roundRect">
            <a:avLst>
              <a:gd name="adj" fmla="val 50000"/>
            </a:avLst>
          </a:prstGeom>
          <a:solidFill>
            <a:schemeClr val="accent4"/>
          </a:solidFill>
          <a:ln w="9525">
            <a:solidFill>
              <a:schemeClr val="accent4"/>
            </a:solidFill>
            <a:prstDash val="solid"/>
          </a:ln>
        </p:spPr>
      </p:sp>
      <p:sp>
        <p:nvSpPr>
          <p:cNvPr id="40" name="Text 34"/>
          <p:cNvSpPr txBox="1"/>
          <p:nvPr/>
        </p:nvSpPr>
        <p:spPr>
          <a:xfrm>
            <a:off x="2478024"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41" name="Shape 35"/>
          <p:cNvSpPr/>
          <p:nvPr/>
        </p:nvSpPr>
        <p:spPr>
          <a:xfrm>
            <a:off x="3447288" y="5513832"/>
            <a:ext cx="914400" cy="274320"/>
          </a:xfrm>
          <a:prstGeom prst="roundRect">
            <a:avLst>
              <a:gd name="adj" fmla="val 50000"/>
            </a:avLst>
          </a:prstGeom>
          <a:solidFill>
            <a:schemeClr val="accent4"/>
          </a:solidFill>
          <a:ln w="9525">
            <a:solidFill>
              <a:schemeClr val="accent4"/>
            </a:solidFill>
            <a:prstDash val="solid"/>
          </a:ln>
        </p:spPr>
      </p:sp>
      <p:sp>
        <p:nvSpPr>
          <p:cNvPr id="42" name="Text 36"/>
          <p:cNvSpPr txBox="1"/>
          <p:nvPr/>
        </p:nvSpPr>
        <p:spPr>
          <a:xfrm>
            <a:off x="3447288"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43" name="Shape 37"/>
          <p:cNvSpPr/>
          <p:nvPr/>
        </p:nvSpPr>
        <p:spPr>
          <a:xfrm flipV="1">
            <a:off x="6922008" y="2217420"/>
            <a:ext cx="786384" cy="1623060"/>
          </a:xfrm>
          <a:prstGeom prst="line">
            <a:avLst/>
          </a:prstGeom>
          <a:noFill/>
          <a:ln w="19050">
            <a:solidFill>
              <a:schemeClr val="accent5"/>
            </a:solidFill>
            <a:prstDash val="dash"/>
          </a:ln>
        </p:spPr>
      </p:sp>
      <p:sp>
        <p:nvSpPr>
          <p:cNvPr id="44" name="Shape 38"/>
          <p:cNvSpPr/>
          <p:nvPr/>
        </p:nvSpPr>
        <p:spPr>
          <a:xfrm>
            <a:off x="7708392" y="1554480"/>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5" name="Shape 39"/>
          <p:cNvSpPr/>
          <p:nvPr/>
        </p:nvSpPr>
        <p:spPr>
          <a:xfrm>
            <a:off x="7891272" y="1783080"/>
            <a:ext cx="594360" cy="594360"/>
          </a:xfrm>
          <a:prstGeom prst="ellipse">
            <a:avLst/>
          </a:prstGeom>
          <a:solidFill>
            <a:schemeClr val="accent1"/>
          </a:solidFill>
          <a:ln w="12700">
            <a:solidFill>
              <a:schemeClr val="accent1"/>
            </a:solidFill>
            <a:prstDash val="solid"/>
          </a:ln>
        </p:spPr>
      </p:sp>
      <p:pic>
        <p:nvPicPr>
          <p:cNvPr id="46" name="Image 4" descr="preencoded.png">    </p:cNvPr>
          <p:cNvPicPr>
            <a:picLocks noChangeAspect="1"/>
          </p:cNvPicPr>
          <p:nvPr/>
        </p:nvPicPr>
        <p:blipFill>
          <a:blip r:embed="rId5"/>
          <a:stretch>
            <a:fillRect/>
          </a:stretch>
        </p:blipFill>
        <p:spPr>
          <a:xfrm>
            <a:off x="8022031" y="1913839"/>
            <a:ext cx="332842" cy="332842"/>
          </a:xfrm>
          <a:prstGeom prst="rect">
            <a:avLst/>
          </a:prstGeom>
        </p:spPr>
      </p:pic>
      <p:sp>
        <p:nvSpPr>
          <p:cNvPr id="47" name="Text 40"/>
          <p:cNvSpPr txBox="1"/>
          <p:nvPr/>
        </p:nvSpPr>
        <p:spPr>
          <a:xfrm>
            <a:off x="8668512" y="1691640"/>
            <a:ext cx="2834640" cy="329184"/>
          </a:xfrm>
          <a:prstGeom prst="rect">
            <a:avLst/>
          </a:prstGeom>
          <a:noFill/>
          <a:ln/>
        </p:spPr>
        <p:txBody>
          <a:bodyPr wrap="square" lIns="0" tIns="0" rIns="0" bIns="0" rtlCol="0" anchor="t"/>
          <a:lstStyle/>
          <a:p>
            <a:pPr indent="0" marL="0">
              <a:buNone/>
            </a:pPr>
            <a:r>
              <a:rPr lang="en-US" sz="1600" b="1" dirty="0">
                <a:solidFill>
                  <a:schemeClr val="tx2"/>
                </a:solidFill>
              </a:rPr>
              <a:t>Malls y supermercados</a:t>
            </a:r>
            <a:endParaRPr lang="en-US" sz="1600" dirty="0"/>
          </a:p>
        </p:txBody>
      </p:sp>
      <p:sp>
        <p:nvSpPr>
          <p:cNvPr id="48" name="Text 41"/>
          <p:cNvSpPr txBox="1"/>
          <p:nvPr/>
        </p:nvSpPr>
        <p:spPr>
          <a:xfrm>
            <a:off x="8668512" y="2011680"/>
            <a:ext cx="2834640" cy="329184"/>
          </a:xfrm>
          <a:prstGeom prst="rect">
            <a:avLst/>
          </a:prstGeom>
          <a:noFill/>
          <a:ln/>
        </p:spPr>
        <p:txBody>
          <a:bodyPr wrap="square" lIns="0" tIns="0" rIns="0" bIns="0" rtlCol="0" anchor="t"/>
          <a:lstStyle/>
          <a:p>
            <a:pPr indent="0" marL="0">
              <a:buNone/>
            </a:pPr>
            <a:r>
              <a:rPr lang="en-US" sz="1200" dirty="0">
                <a:solidFill>
                  <a:schemeClr val="tx1"/>
                </a:solidFill>
              </a:rPr>
              <a:t>Jockey, Larcomar, La Rambla, Wong, Vivanda</a:t>
            </a:r>
            <a:endParaRPr lang="en-US" sz="1200" dirty="0"/>
          </a:p>
        </p:txBody>
      </p:sp>
      <p:sp>
        <p:nvSpPr>
          <p:cNvPr id="49" name="Shape 42"/>
          <p:cNvSpPr/>
          <p:nvPr/>
        </p:nvSpPr>
        <p:spPr>
          <a:xfrm>
            <a:off x="8668512" y="2441448"/>
            <a:ext cx="914400" cy="274320"/>
          </a:xfrm>
          <a:prstGeom prst="roundRect">
            <a:avLst>
              <a:gd name="adj" fmla="val 50000"/>
            </a:avLst>
          </a:prstGeom>
          <a:solidFill>
            <a:schemeClr val="accent4"/>
          </a:solidFill>
          <a:ln w="9525">
            <a:solidFill>
              <a:schemeClr val="accent4"/>
            </a:solidFill>
            <a:prstDash val="solid"/>
          </a:ln>
        </p:spPr>
      </p:sp>
      <p:sp>
        <p:nvSpPr>
          <p:cNvPr id="50" name="Text 43"/>
          <p:cNvSpPr txBox="1"/>
          <p:nvPr/>
        </p:nvSpPr>
        <p:spPr>
          <a:xfrm>
            <a:off x="8668512"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51" name="Shape 44"/>
          <p:cNvSpPr/>
          <p:nvPr/>
        </p:nvSpPr>
        <p:spPr>
          <a:xfrm>
            <a:off x="9637776" y="2441448"/>
            <a:ext cx="914400" cy="274320"/>
          </a:xfrm>
          <a:prstGeom prst="roundRect">
            <a:avLst>
              <a:gd name="adj" fmla="val 50000"/>
            </a:avLst>
          </a:prstGeom>
          <a:solidFill>
            <a:schemeClr val="accent4"/>
          </a:solidFill>
          <a:ln w="9525">
            <a:solidFill>
              <a:schemeClr val="accent4"/>
            </a:solidFill>
            <a:prstDash val="solid"/>
          </a:ln>
        </p:spPr>
      </p:sp>
      <p:sp>
        <p:nvSpPr>
          <p:cNvPr id="52" name="Text 45"/>
          <p:cNvSpPr txBox="1"/>
          <p:nvPr/>
        </p:nvSpPr>
        <p:spPr>
          <a:xfrm>
            <a:off x="9637776"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53" name="Shape 46"/>
          <p:cNvSpPr/>
          <p:nvPr/>
        </p:nvSpPr>
        <p:spPr>
          <a:xfrm>
            <a:off x="10607040" y="2441448"/>
            <a:ext cx="914400" cy="274320"/>
          </a:xfrm>
          <a:prstGeom prst="roundRect">
            <a:avLst>
              <a:gd name="adj" fmla="val 50000"/>
            </a:avLst>
          </a:prstGeom>
          <a:solidFill>
            <a:schemeClr val="accent4"/>
          </a:solidFill>
          <a:ln w="9525">
            <a:solidFill>
              <a:schemeClr val="accent4"/>
            </a:solidFill>
            <a:prstDash val="solid"/>
          </a:ln>
        </p:spPr>
      </p:sp>
      <p:sp>
        <p:nvSpPr>
          <p:cNvPr id="54" name="Text 47"/>
          <p:cNvSpPr txBox="1"/>
          <p:nvPr/>
        </p:nvSpPr>
        <p:spPr>
          <a:xfrm>
            <a:off x="10607040" y="2441448"/>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55" name="Shape 48"/>
          <p:cNvSpPr/>
          <p:nvPr/>
        </p:nvSpPr>
        <p:spPr>
          <a:xfrm flipV="1">
            <a:off x="6922008" y="3753612"/>
            <a:ext cx="786384" cy="86868"/>
          </a:xfrm>
          <a:prstGeom prst="line">
            <a:avLst/>
          </a:prstGeom>
          <a:noFill/>
          <a:ln w="19050">
            <a:solidFill>
              <a:schemeClr val="accent5"/>
            </a:solidFill>
            <a:prstDash val="dash"/>
          </a:ln>
        </p:spPr>
      </p:sp>
      <p:sp>
        <p:nvSpPr>
          <p:cNvPr id="56" name="Shape 49"/>
          <p:cNvSpPr/>
          <p:nvPr/>
        </p:nvSpPr>
        <p:spPr>
          <a:xfrm>
            <a:off x="7708392" y="3090672"/>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7" name="Shape 50"/>
          <p:cNvSpPr/>
          <p:nvPr/>
        </p:nvSpPr>
        <p:spPr>
          <a:xfrm>
            <a:off x="7891272" y="3319272"/>
            <a:ext cx="594360" cy="594360"/>
          </a:xfrm>
          <a:prstGeom prst="ellipse">
            <a:avLst/>
          </a:prstGeom>
          <a:solidFill>
            <a:schemeClr val="accent1"/>
          </a:solidFill>
          <a:ln w="12700">
            <a:solidFill>
              <a:schemeClr val="accent1"/>
            </a:solidFill>
            <a:prstDash val="solid"/>
          </a:ln>
        </p:spPr>
      </p:sp>
      <p:pic>
        <p:nvPicPr>
          <p:cNvPr id="58" name="Image 5" descr="preencoded.png">    </p:cNvPr>
          <p:cNvPicPr>
            <a:picLocks noChangeAspect="1"/>
          </p:cNvPicPr>
          <p:nvPr/>
        </p:nvPicPr>
        <p:blipFill>
          <a:blip r:embed="rId6"/>
          <a:stretch>
            <a:fillRect/>
          </a:stretch>
        </p:blipFill>
        <p:spPr>
          <a:xfrm>
            <a:off x="8022031" y="3450031"/>
            <a:ext cx="332842" cy="332842"/>
          </a:xfrm>
          <a:prstGeom prst="rect">
            <a:avLst/>
          </a:prstGeom>
        </p:spPr>
      </p:pic>
      <p:sp>
        <p:nvSpPr>
          <p:cNvPr id="59" name="Text 51"/>
          <p:cNvSpPr txBox="1"/>
          <p:nvPr/>
        </p:nvSpPr>
        <p:spPr>
          <a:xfrm>
            <a:off x="8668512" y="3227832"/>
            <a:ext cx="2834640" cy="329184"/>
          </a:xfrm>
          <a:prstGeom prst="rect">
            <a:avLst/>
          </a:prstGeom>
          <a:noFill/>
          <a:ln/>
        </p:spPr>
        <p:txBody>
          <a:bodyPr wrap="square" lIns="0" tIns="0" rIns="0" bIns="0" rtlCol="0" anchor="t"/>
          <a:lstStyle/>
          <a:p>
            <a:pPr indent="0" marL="0">
              <a:buNone/>
            </a:pPr>
            <a:r>
              <a:rPr lang="en-US" sz="1600" b="1" dirty="0">
                <a:solidFill>
                  <a:schemeClr val="tx2"/>
                </a:solidFill>
              </a:rPr>
              <a:t>Ferias, colegios y naturistas</a:t>
            </a:r>
            <a:endParaRPr lang="en-US" sz="1600" dirty="0"/>
          </a:p>
        </p:txBody>
      </p:sp>
      <p:sp>
        <p:nvSpPr>
          <p:cNvPr id="60" name="Text 52"/>
          <p:cNvSpPr txBox="1"/>
          <p:nvPr/>
        </p:nvSpPr>
        <p:spPr>
          <a:xfrm>
            <a:off x="8668512" y="3547872"/>
            <a:ext cx="2834640" cy="329184"/>
          </a:xfrm>
          <a:prstGeom prst="rect">
            <a:avLst/>
          </a:prstGeom>
          <a:noFill/>
          <a:ln/>
        </p:spPr>
        <p:txBody>
          <a:bodyPr wrap="square" lIns="0" tIns="0" rIns="0" bIns="0" rtlCol="0" anchor="t"/>
          <a:lstStyle/>
          <a:p>
            <a:pPr indent="0" marL="0">
              <a:buNone/>
            </a:pPr>
            <a:r>
              <a:rPr lang="en-US" sz="1200" dirty="0">
                <a:solidFill>
                  <a:schemeClr val="tx1"/>
                </a:solidFill>
              </a:rPr>
              <a:t>Organizadores, concesionarios y tiendas</a:t>
            </a:r>
            <a:endParaRPr lang="en-US" sz="1200" dirty="0"/>
          </a:p>
        </p:txBody>
      </p:sp>
      <p:sp>
        <p:nvSpPr>
          <p:cNvPr id="61" name="Shape 53"/>
          <p:cNvSpPr/>
          <p:nvPr/>
        </p:nvSpPr>
        <p:spPr>
          <a:xfrm>
            <a:off x="8668512" y="3977640"/>
            <a:ext cx="914400" cy="274320"/>
          </a:xfrm>
          <a:prstGeom prst="roundRect">
            <a:avLst>
              <a:gd name="adj" fmla="val 50000"/>
            </a:avLst>
          </a:prstGeom>
          <a:solidFill>
            <a:schemeClr val="accent4"/>
          </a:solidFill>
          <a:ln w="9525">
            <a:solidFill>
              <a:schemeClr val="accent4"/>
            </a:solidFill>
            <a:prstDash val="solid"/>
          </a:ln>
        </p:spPr>
      </p:sp>
      <p:sp>
        <p:nvSpPr>
          <p:cNvPr id="62" name="Text 54"/>
          <p:cNvSpPr txBox="1"/>
          <p:nvPr/>
        </p:nvSpPr>
        <p:spPr>
          <a:xfrm>
            <a:off x="8668512"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63" name="Shape 55"/>
          <p:cNvSpPr/>
          <p:nvPr/>
        </p:nvSpPr>
        <p:spPr>
          <a:xfrm>
            <a:off x="9637776" y="3977640"/>
            <a:ext cx="914400" cy="274320"/>
          </a:xfrm>
          <a:prstGeom prst="roundRect">
            <a:avLst>
              <a:gd name="adj" fmla="val 50000"/>
            </a:avLst>
          </a:prstGeom>
          <a:solidFill>
            <a:schemeClr val="accent4"/>
          </a:solidFill>
          <a:ln w="9525">
            <a:solidFill>
              <a:schemeClr val="accent4"/>
            </a:solidFill>
            <a:prstDash val="solid"/>
          </a:ln>
        </p:spPr>
      </p:sp>
      <p:sp>
        <p:nvSpPr>
          <p:cNvPr id="64" name="Text 56"/>
          <p:cNvSpPr txBox="1"/>
          <p:nvPr/>
        </p:nvSpPr>
        <p:spPr>
          <a:xfrm>
            <a:off x="9637776"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65" name="Shape 57"/>
          <p:cNvSpPr/>
          <p:nvPr/>
        </p:nvSpPr>
        <p:spPr>
          <a:xfrm>
            <a:off x="10607040" y="3977640"/>
            <a:ext cx="914400" cy="274320"/>
          </a:xfrm>
          <a:prstGeom prst="roundRect">
            <a:avLst>
              <a:gd name="adj" fmla="val 50000"/>
            </a:avLst>
          </a:prstGeom>
          <a:solidFill>
            <a:schemeClr val="accent4"/>
          </a:solidFill>
          <a:ln w="9525">
            <a:solidFill>
              <a:schemeClr val="accent4"/>
            </a:solidFill>
            <a:prstDash val="solid"/>
          </a:ln>
        </p:spPr>
      </p:sp>
      <p:sp>
        <p:nvSpPr>
          <p:cNvPr id="66" name="Text 58"/>
          <p:cNvSpPr txBox="1"/>
          <p:nvPr/>
        </p:nvSpPr>
        <p:spPr>
          <a:xfrm>
            <a:off x="10607040" y="3977640"/>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67" name="Shape 59"/>
          <p:cNvSpPr/>
          <p:nvPr/>
        </p:nvSpPr>
        <p:spPr>
          <a:xfrm>
            <a:off x="6922008" y="3840480"/>
            <a:ext cx="786384" cy="1449324"/>
          </a:xfrm>
          <a:prstGeom prst="line">
            <a:avLst/>
          </a:prstGeom>
          <a:noFill/>
          <a:ln w="19050">
            <a:solidFill>
              <a:schemeClr val="accent5"/>
            </a:solidFill>
            <a:prstDash val="dash"/>
          </a:ln>
        </p:spPr>
      </p:sp>
      <p:sp>
        <p:nvSpPr>
          <p:cNvPr id="68" name="Shape 60"/>
          <p:cNvSpPr/>
          <p:nvPr/>
        </p:nvSpPr>
        <p:spPr>
          <a:xfrm>
            <a:off x="7708392" y="4626864"/>
            <a:ext cx="3931920" cy="1325880"/>
          </a:xfrm>
          <a:prstGeom prst="roundRect">
            <a:avLst>
              <a:gd name="adj" fmla="val 8276"/>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9" name="Shape 61"/>
          <p:cNvSpPr/>
          <p:nvPr/>
        </p:nvSpPr>
        <p:spPr>
          <a:xfrm>
            <a:off x="7891272" y="4855464"/>
            <a:ext cx="594360" cy="594360"/>
          </a:xfrm>
          <a:prstGeom prst="ellipse">
            <a:avLst/>
          </a:prstGeom>
          <a:solidFill>
            <a:schemeClr val="accent1"/>
          </a:solidFill>
          <a:ln w="12700">
            <a:solidFill>
              <a:schemeClr val="accent1"/>
            </a:solidFill>
            <a:prstDash val="solid"/>
          </a:ln>
        </p:spPr>
      </p:sp>
      <p:pic>
        <p:nvPicPr>
          <p:cNvPr id="70" name="Image 6" descr="preencoded.png">    </p:cNvPr>
          <p:cNvPicPr>
            <a:picLocks noChangeAspect="1"/>
          </p:cNvPicPr>
          <p:nvPr/>
        </p:nvPicPr>
        <p:blipFill>
          <a:blip r:embed="rId7"/>
          <a:stretch>
            <a:fillRect/>
          </a:stretch>
        </p:blipFill>
        <p:spPr>
          <a:xfrm>
            <a:off x="8022031" y="4986223"/>
            <a:ext cx="332842" cy="332842"/>
          </a:xfrm>
          <a:prstGeom prst="rect">
            <a:avLst/>
          </a:prstGeom>
        </p:spPr>
      </p:pic>
      <p:sp>
        <p:nvSpPr>
          <p:cNvPr id="71" name="Text 62"/>
          <p:cNvSpPr txBox="1"/>
          <p:nvPr/>
        </p:nvSpPr>
        <p:spPr>
          <a:xfrm>
            <a:off x="8668512" y="4764024"/>
            <a:ext cx="2834640" cy="329184"/>
          </a:xfrm>
          <a:prstGeom prst="rect">
            <a:avLst/>
          </a:prstGeom>
          <a:noFill/>
          <a:ln/>
        </p:spPr>
        <p:txBody>
          <a:bodyPr wrap="square" lIns="0" tIns="0" rIns="0" bIns="0" rtlCol="0" anchor="t"/>
          <a:lstStyle/>
          <a:p>
            <a:pPr indent="0" marL="0">
              <a:buNone/>
            </a:pPr>
            <a:r>
              <a:rPr lang="en-US" sz="1600" b="1" dirty="0">
                <a:solidFill>
                  <a:schemeClr val="tx2"/>
                </a:solidFill>
              </a:rPr>
              <a:t>App y prescriptores</a:t>
            </a:r>
            <a:endParaRPr lang="en-US" sz="1600" dirty="0"/>
          </a:p>
        </p:txBody>
      </p:sp>
      <p:sp>
        <p:nvSpPr>
          <p:cNvPr id="72" name="Text 63"/>
          <p:cNvSpPr txBox="1"/>
          <p:nvPr/>
        </p:nvSpPr>
        <p:spPr>
          <a:xfrm>
            <a:off x="8668512" y="5084064"/>
            <a:ext cx="2834640" cy="329184"/>
          </a:xfrm>
          <a:prstGeom prst="rect">
            <a:avLst/>
          </a:prstGeom>
          <a:noFill/>
          <a:ln/>
        </p:spPr>
        <p:txBody>
          <a:bodyPr wrap="square" lIns="0" tIns="0" rIns="0" bIns="0" rtlCol="0" anchor="t"/>
          <a:lstStyle/>
          <a:p>
            <a:pPr indent="0" marL="0">
              <a:buNone/>
            </a:pPr>
            <a:r>
              <a:rPr lang="en-US" sz="1200" dirty="0">
                <a:solidFill>
                  <a:schemeClr val="tx1"/>
                </a:solidFill>
              </a:rPr>
              <a:t>Desarrollador, Google Cloud, pediatras</a:t>
            </a:r>
            <a:endParaRPr lang="en-US" sz="1200" dirty="0"/>
          </a:p>
        </p:txBody>
      </p:sp>
      <p:sp>
        <p:nvSpPr>
          <p:cNvPr id="73" name="Shape 64"/>
          <p:cNvSpPr/>
          <p:nvPr/>
        </p:nvSpPr>
        <p:spPr>
          <a:xfrm>
            <a:off x="8668512" y="5513832"/>
            <a:ext cx="914400" cy="274320"/>
          </a:xfrm>
          <a:prstGeom prst="roundRect">
            <a:avLst>
              <a:gd name="adj" fmla="val 50000"/>
            </a:avLst>
          </a:prstGeom>
          <a:solidFill>
            <a:schemeClr val="accent4"/>
          </a:solidFill>
          <a:ln w="9525">
            <a:solidFill>
              <a:schemeClr val="accent4"/>
            </a:solidFill>
            <a:prstDash val="solid"/>
          </a:ln>
        </p:spPr>
      </p:sp>
      <p:sp>
        <p:nvSpPr>
          <p:cNvPr id="74" name="Text 65"/>
          <p:cNvSpPr txBox="1"/>
          <p:nvPr/>
        </p:nvSpPr>
        <p:spPr>
          <a:xfrm>
            <a:off x="8668512"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Conecta</a:t>
            </a:r>
            <a:endParaRPr lang="en-US" sz="900" dirty="0"/>
          </a:p>
        </p:txBody>
      </p:sp>
      <p:sp>
        <p:nvSpPr>
          <p:cNvPr id="75" name="Shape 66"/>
          <p:cNvSpPr/>
          <p:nvPr/>
        </p:nvSpPr>
        <p:spPr>
          <a:xfrm>
            <a:off x="9637776" y="5513832"/>
            <a:ext cx="914400" cy="274320"/>
          </a:xfrm>
          <a:prstGeom prst="roundRect">
            <a:avLst>
              <a:gd name="adj" fmla="val 50000"/>
            </a:avLst>
          </a:prstGeom>
          <a:solidFill>
            <a:schemeClr val="accent4"/>
          </a:solidFill>
          <a:ln w="9525">
            <a:solidFill>
              <a:schemeClr val="accent4"/>
            </a:solidFill>
            <a:prstDash val="solid"/>
          </a:ln>
        </p:spPr>
      </p:sp>
      <p:sp>
        <p:nvSpPr>
          <p:cNvPr id="76" name="Text 67"/>
          <p:cNvSpPr txBox="1"/>
          <p:nvPr/>
        </p:nvSpPr>
        <p:spPr>
          <a:xfrm>
            <a:off x="9637776"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Convierte</a:t>
            </a:r>
            <a:endParaRPr lang="en-US" sz="900" dirty="0"/>
          </a:p>
        </p:txBody>
      </p:sp>
      <p:sp>
        <p:nvSpPr>
          <p:cNvPr id="77" name="Shape 68"/>
          <p:cNvSpPr/>
          <p:nvPr/>
        </p:nvSpPr>
        <p:spPr>
          <a:xfrm>
            <a:off x="10607040" y="5513832"/>
            <a:ext cx="914400" cy="274320"/>
          </a:xfrm>
          <a:prstGeom prst="roundRect">
            <a:avLst>
              <a:gd name="adj" fmla="val 50000"/>
            </a:avLst>
          </a:prstGeom>
          <a:solidFill>
            <a:schemeClr val="accent4"/>
          </a:solidFill>
          <a:ln w="9525">
            <a:solidFill>
              <a:schemeClr val="accent4"/>
            </a:solidFill>
            <a:prstDash val="solid"/>
          </a:ln>
        </p:spPr>
      </p:sp>
      <p:sp>
        <p:nvSpPr>
          <p:cNvPr id="78" name="Text 69"/>
          <p:cNvSpPr txBox="1"/>
          <p:nvPr/>
        </p:nvSpPr>
        <p:spPr>
          <a:xfrm>
            <a:off x="10607040" y="5513832"/>
            <a:ext cx="914400" cy="274320"/>
          </a:xfrm>
          <a:prstGeom prst="rect">
            <a:avLst/>
          </a:prstGeom>
          <a:noFill/>
          <a:ln/>
        </p:spPr>
        <p:txBody>
          <a:bodyPr wrap="square" lIns="0" tIns="0" rIns="0" bIns="0" rtlCol="0" anchor="ctr"/>
          <a:lstStyle/>
          <a:p>
            <a:pPr algn="ctr" indent="0" marL="0">
              <a:buNone/>
            </a:pPr>
            <a:r>
              <a:rPr lang="en-US" sz="900" b="1" dirty="0">
                <a:solidFill>
                  <a:schemeClr val="bg1"/>
                </a:solidFill>
              </a:rPr>
              <a:t>✓ Complementa</a:t>
            </a:r>
            <a:endParaRPr lang="en-US" sz="9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RECURSOS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Seis recursos sin los que AndiBite no funciona</a:t>
            </a:r>
            <a:endParaRPr lang="en-US" sz="3400" dirty="0"/>
          </a:p>
        </p:txBody>
      </p:sp>
      <p:sp>
        <p:nvSpPr>
          <p:cNvPr id="4" name="Text 2"/>
          <p:cNvSpPr txBox="1"/>
          <p:nvPr/>
        </p:nvSpPr>
        <p:spPr>
          <a:xfrm>
            <a:off x="7269480" y="1417320"/>
            <a:ext cx="4370832" cy="274320"/>
          </a:xfrm>
          <a:prstGeom prst="rect">
            <a:avLst/>
          </a:prstGeom>
          <a:noFill/>
          <a:ln/>
        </p:spPr>
        <p:txBody>
          <a:bodyPr wrap="square" lIns="0" tIns="0" rIns="0" bIns="0" rtlCol="0" anchor="t"/>
          <a:lstStyle/>
          <a:p>
            <a:pPr indent="0" marL="0">
              <a:buNone/>
            </a:pPr>
            <a:r>
              <a:rPr lang="en-US" sz="1200" b="1" dirty="0">
                <a:solidFill>
                  <a:schemeClr val="accent2"/>
                </a:solidFill>
              </a:rPr>
              <a:t>Test rápido de la sesión 07</a:t>
            </a:r>
            <a:endParaRPr lang="en-US" sz="1200" dirty="0"/>
          </a:p>
        </p:txBody>
      </p:sp>
      <p:sp>
        <p:nvSpPr>
          <p:cNvPr id="5" name="Text 3"/>
          <p:cNvSpPr txBox="1"/>
          <p:nvPr/>
        </p:nvSpPr>
        <p:spPr>
          <a:xfrm>
            <a:off x="7269480" y="1691640"/>
            <a:ext cx="1417320" cy="411480"/>
          </a:xfrm>
          <a:prstGeom prst="rect">
            <a:avLst/>
          </a:prstGeom>
          <a:noFill/>
          <a:ln/>
        </p:spPr>
        <p:txBody>
          <a:bodyPr wrap="square" lIns="0" tIns="0" rIns="0" bIns="0" rtlCol="0" anchor="t"/>
          <a:lstStyle/>
          <a:p>
            <a:pPr algn="ctr" indent="0" marL="0">
              <a:buNone/>
            </a:pPr>
            <a:r>
              <a:rPr lang="en-US" sz="1100" b="1" dirty="0">
                <a:solidFill>
                  <a:schemeClr val="tx2"/>
                </a:solidFill>
              </a:rPr>
              <a:t>Si falta, no funciona</a:t>
            </a:r>
            <a:endParaRPr lang="en-US" sz="1100" dirty="0"/>
          </a:p>
        </p:txBody>
      </p:sp>
      <p:sp>
        <p:nvSpPr>
          <p:cNvPr id="6" name="Text 4"/>
          <p:cNvSpPr txBox="1"/>
          <p:nvPr/>
        </p:nvSpPr>
        <p:spPr>
          <a:xfrm>
            <a:off x="8732520" y="1691640"/>
            <a:ext cx="1417320" cy="411480"/>
          </a:xfrm>
          <a:prstGeom prst="rect">
            <a:avLst/>
          </a:prstGeom>
          <a:noFill/>
          <a:ln/>
        </p:spPr>
        <p:txBody>
          <a:bodyPr wrap="square" lIns="0" tIns="0" rIns="0" bIns="0" rtlCol="0" anchor="t"/>
          <a:lstStyle/>
          <a:p>
            <a:pPr algn="ctr" indent="0" marL="0">
              <a:buNone/>
            </a:pPr>
            <a:r>
              <a:rPr lang="en-US" sz="1100" b="1" dirty="0">
                <a:solidFill>
                  <a:schemeClr val="tx2"/>
                </a:solidFill>
              </a:rPr>
              <a:t>Nos diferencia</a:t>
            </a:r>
            <a:endParaRPr lang="en-US" sz="1100" dirty="0"/>
          </a:p>
        </p:txBody>
      </p:sp>
      <p:sp>
        <p:nvSpPr>
          <p:cNvPr id="7" name="Text 5"/>
          <p:cNvSpPr txBox="1"/>
          <p:nvPr/>
        </p:nvSpPr>
        <p:spPr>
          <a:xfrm>
            <a:off x="10195560" y="1691640"/>
            <a:ext cx="1417320" cy="411480"/>
          </a:xfrm>
          <a:prstGeom prst="rect">
            <a:avLst/>
          </a:prstGeom>
          <a:noFill/>
          <a:ln/>
        </p:spPr>
        <p:txBody>
          <a:bodyPr wrap="square" lIns="0" tIns="0" rIns="0" bIns="0" rtlCol="0" anchor="t"/>
          <a:lstStyle/>
          <a:p>
            <a:pPr algn="ctr" indent="0" marL="0">
              <a:buNone/>
            </a:pPr>
            <a:r>
              <a:rPr lang="en-US" sz="1100" b="1" dirty="0">
                <a:solidFill>
                  <a:schemeClr val="tx2"/>
                </a:solidFill>
              </a:rPr>
              <a:t>Difícil de copiar</a:t>
            </a:r>
            <a:endParaRPr lang="en-US" sz="1100" dirty="0"/>
          </a:p>
        </p:txBody>
      </p:sp>
      <p:sp>
        <p:nvSpPr>
          <p:cNvPr id="8" name="Shape 6"/>
          <p:cNvSpPr/>
          <p:nvPr/>
        </p:nvSpPr>
        <p:spPr>
          <a:xfrm>
            <a:off x="548640" y="2148840"/>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7"/>
          <p:cNvSpPr/>
          <p:nvPr/>
        </p:nvSpPr>
        <p:spPr>
          <a:xfrm>
            <a:off x="685800" y="2221992"/>
            <a:ext cx="429768" cy="429768"/>
          </a:xfrm>
          <a:prstGeom prst="ellipse">
            <a:avLst/>
          </a:prstGeom>
          <a:solidFill>
            <a:schemeClr val="accent1"/>
          </a:solidFill>
          <a:ln w="12700">
            <a:solidFill>
              <a:schemeClr val="accent1"/>
            </a:solidFill>
            <a:prstDash val="solid"/>
          </a:ln>
        </p:spPr>
      </p:sp>
      <p:pic>
        <p:nvPicPr>
          <p:cNvPr id="10" name="Image 0" descr="preencoded.png">    </p:cNvPr>
          <p:cNvPicPr>
            <a:picLocks noChangeAspect="1"/>
          </p:cNvPicPr>
          <p:nvPr/>
        </p:nvPicPr>
        <p:blipFill>
          <a:blip r:embed="rId1"/>
          <a:stretch>
            <a:fillRect/>
          </a:stretch>
        </p:blipFill>
        <p:spPr>
          <a:xfrm>
            <a:off x="780349" y="2316541"/>
            <a:ext cx="240670" cy="240670"/>
          </a:xfrm>
          <a:prstGeom prst="rect">
            <a:avLst/>
          </a:prstGeom>
        </p:spPr>
      </p:pic>
      <p:sp>
        <p:nvSpPr>
          <p:cNvPr id="11" name="Text 8"/>
          <p:cNvSpPr txBox="1"/>
          <p:nvPr/>
        </p:nvSpPr>
        <p:spPr>
          <a:xfrm>
            <a:off x="1280160" y="2148840"/>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INTANGIBLE</a:t>
            </a:r>
            <a:endParaRPr lang="en-US" sz="1100" dirty="0"/>
          </a:p>
        </p:txBody>
      </p:sp>
      <p:sp>
        <p:nvSpPr>
          <p:cNvPr id="12" name="Text 9"/>
          <p:cNvSpPr txBox="1"/>
          <p:nvPr/>
        </p:nvSpPr>
        <p:spPr>
          <a:xfrm>
            <a:off x="2743200" y="2148840"/>
            <a:ext cx="4434840" cy="576072"/>
          </a:xfrm>
          <a:prstGeom prst="rect">
            <a:avLst/>
          </a:prstGeom>
          <a:noFill/>
          <a:ln/>
        </p:spPr>
        <p:txBody>
          <a:bodyPr wrap="square" lIns="0" tIns="0" rIns="0" bIns="0" rtlCol="0" anchor="ctr"/>
          <a:lstStyle/>
          <a:p>
            <a:pPr indent="0" marL="0">
              <a:buNone/>
            </a:pPr>
            <a:r>
              <a:rPr lang="en-US" sz="1500" dirty="0">
                <a:solidFill>
                  <a:schemeClr val="tx1"/>
                </a:solidFill>
              </a:rPr>
              <a:t>Fórmula de 3 sabores con sangrecita</a:t>
            </a:r>
            <a:endParaRPr lang="en-US" sz="1500" dirty="0"/>
          </a:p>
        </p:txBody>
      </p:sp>
      <p:sp>
        <p:nvSpPr>
          <p:cNvPr id="13" name="Shape 10"/>
          <p:cNvSpPr/>
          <p:nvPr/>
        </p:nvSpPr>
        <p:spPr>
          <a:xfrm>
            <a:off x="7772400" y="2267712"/>
            <a:ext cx="347472" cy="347472"/>
          </a:xfrm>
          <a:prstGeom prst="ellipse">
            <a:avLst/>
          </a:prstGeom>
          <a:solidFill>
            <a:schemeClr val="accent4"/>
          </a:solidFill>
          <a:ln w="9525">
            <a:solidFill>
              <a:schemeClr val="accent4"/>
            </a:solidFill>
            <a:prstDash val="solid"/>
          </a:ln>
        </p:spPr>
      </p:sp>
      <p:sp>
        <p:nvSpPr>
          <p:cNvPr id="14" name="Text 11"/>
          <p:cNvSpPr txBox="1"/>
          <p:nvPr/>
        </p:nvSpPr>
        <p:spPr>
          <a:xfrm>
            <a:off x="7772400" y="226771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5" name="Shape 12"/>
          <p:cNvSpPr/>
          <p:nvPr/>
        </p:nvSpPr>
        <p:spPr>
          <a:xfrm>
            <a:off x="9235440" y="2267712"/>
            <a:ext cx="347472" cy="347472"/>
          </a:xfrm>
          <a:prstGeom prst="ellipse">
            <a:avLst/>
          </a:prstGeom>
          <a:solidFill>
            <a:schemeClr val="accent4"/>
          </a:solidFill>
          <a:ln w="9525">
            <a:solidFill>
              <a:schemeClr val="accent4"/>
            </a:solidFill>
            <a:prstDash val="solid"/>
          </a:ln>
        </p:spPr>
      </p:sp>
      <p:sp>
        <p:nvSpPr>
          <p:cNvPr id="16" name="Text 13"/>
          <p:cNvSpPr txBox="1"/>
          <p:nvPr/>
        </p:nvSpPr>
        <p:spPr>
          <a:xfrm>
            <a:off x="9235440" y="226771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7" name="Shape 14"/>
          <p:cNvSpPr/>
          <p:nvPr/>
        </p:nvSpPr>
        <p:spPr>
          <a:xfrm>
            <a:off x="10698480" y="2267712"/>
            <a:ext cx="347472" cy="347472"/>
          </a:xfrm>
          <a:prstGeom prst="ellipse">
            <a:avLst/>
          </a:prstGeom>
          <a:solidFill>
            <a:schemeClr val="accent4"/>
          </a:solidFill>
          <a:ln w="9525">
            <a:solidFill>
              <a:schemeClr val="accent4"/>
            </a:solidFill>
            <a:prstDash val="solid"/>
          </a:ln>
        </p:spPr>
      </p:sp>
      <p:sp>
        <p:nvSpPr>
          <p:cNvPr id="18" name="Text 15"/>
          <p:cNvSpPr txBox="1"/>
          <p:nvPr/>
        </p:nvSpPr>
        <p:spPr>
          <a:xfrm>
            <a:off x="10698480" y="226771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9" name="Shape 16"/>
          <p:cNvSpPr/>
          <p:nvPr/>
        </p:nvSpPr>
        <p:spPr>
          <a:xfrm>
            <a:off x="548640" y="2816352"/>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0" name="Shape 17"/>
          <p:cNvSpPr/>
          <p:nvPr/>
        </p:nvSpPr>
        <p:spPr>
          <a:xfrm>
            <a:off x="685800" y="2889504"/>
            <a:ext cx="429768" cy="429768"/>
          </a:xfrm>
          <a:prstGeom prst="ellipse">
            <a:avLst/>
          </a:prstGeom>
          <a:solidFill>
            <a:schemeClr val="accent1"/>
          </a:solidFill>
          <a:ln w="12700">
            <a:solidFill>
              <a:schemeClr val="accent1"/>
            </a:solidFill>
            <a:prstDash val="solid"/>
          </a:ln>
        </p:spPr>
      </p:sp>
      <p:pic>
        <p:nvPicPr>
          <p:cNvPr id="21" name="Image 1" descr="preencoded.png">    </p:cNvPr>
          <p:cNvPicPr>
            <a:picLocks noChangeAspect="1"/>
          </p:cNvPicPr>
          <p:nvPr/>
        </p:nvPicPr>
        <p:blipFill>
          <a:blip r:embed="rId2"/>
          <a:stretch>
            <a:fillRect/>
          </a:stretch>
        </p:blipFill>
        <p:spPr>
          <a:xfrm>
            <a:off x="780349" y="2984053"/>
            <a:ext cx="240670" cy="240670"/>
          </a:xfrm>
          <a:prstGeom prst="rect">
            <a:avLst/>
          </a:prstGeom>
        </p:spPr>
      </p:pic>
      <p:sp>
        <p:nvSpPr>
          <p:cNvPr id="22" name="Text 18"/>
          <p:cNvSpPr txBox="1"/>
          <p:nvPr/>
        </p:nvSpPr>
        <p:spPr>
          <a:xfrm>
            <a:off x="1280160" y="2816352"/>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INTANGIBLE</a:t>
            </a:r>
            <a:endParaRPr lang="en-US" sz="1100" dirty="0"/>
          </a:p>
        </p:txBody>
      </p:sp>
      <p:sp>
        <p:nvSpPr>
          <p:cNvPr id="23" name="Text 19"/>
          <p:cNvSpPr txBox="1"/>
          <p:nvPr/>
        </p:nvSpPr>
        <p:spPr>
          <a:xfrm>
            <a:off x="2743200" y="2816352"/>
            <a:ext cx="4434840" cy="576072"/>
          </a:xfrm>
          <a:prstGeom prst="rect">
            <a:avLst/>
          </a:prstGeom>
          <a:noFill/>
          <a:ln/>
        </p:spPr>
        <p:txBody>
          <a:bodyPr wrap="square" lIns="0" tIns="0" rIns="0" bIns="0" rtlCol="0" anchor="ctr"/>
          <a:lstStyle/>
          <a:p>
            <a:pPr indent="0" marL="0">
              <a:buNone/>
            </a:pPr>
            <a:r>
              <a:rPr lang="en-US" sz="1500" dirty="0">
                <a:solidFill>
                  <a:schemeClr val="tx1"/>
                </a:solidFill>
              </a:rPr>
              <a:t>Marca AndiBite y registro sanitario</a:t>
            </a:r>
            <a:endParaRPr lang="en-US" sz="1500" dirty="0"/>
          </a:p>
        </p:txBody>
      </p:sp>
      <p:sp>
        <p:nvSpPr>
          <p:cNvPr id="24" name="Shape 20"/>
          <p:cNvSpPr/>
          <p:nvPr/>
        </p:nvSpPr>
        <p:spPr>
          <a:xfrm>
            <a:off x="7772400" y="2935224"/>
            <a:ext cx="347472" cy="347472"/>
          </a:xfrm>
          <a:prstGeom prst="ellipse">
            <a:avLst/>
          </a:prstGeom>
          <a:solidFill>
            <a:schemeClr val="accent4"/>
          </a:solidFill>
          <a:ln w="9525">
            <a:solidFill>
              <a:schemeClr val="accent4"/>
            </a:solidFill>
            <a:prstDash val="solid"/>
          </a:ln>
        </p:spPr>
      </p:sp>
      <p:sp>
        <p:nvSpPr>
          <p:cNvPr id="25" name="Text 21"/>
          <p:cNvSpPr txBox="1"/>
          <p:nvPr/>
        </p:nvSpPr>
        <p:spPr>
          <a:xfrm>
            <a:off x="7772400" y="293522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26" name="Shape 22"/>
          <p:cNvSpPr/>
          <p:nvPr/>
        </p:nvSpPr>
        <p:spPr>
          <a:xfrm>
            <a:off x="9235440" y="2935224"/>
            <a:ext cx="347472" cy="347472"/>
          </a:xfrm>
          <a:prstGeom prst="ellipse">
            <a:avLst/>
          </a:prstGeom>
          <a:solidFill>
            <a:schemeClr val="accent4"/>
          </a:solidFill>
          <a:ln w="9525">
            <a:solidFill>
              <a:schemeClr val="accent4"/>
            </a:solidFill>
            <a:prstDash val="solid"/>
          </a:ln>
        </p:spPr>
      </p:sp>
      <p:sp>
        <p:nvSpPr>
          <p:cNvPr id="27" name="Text 23"/>
          <p:cNvSpPr txBox="1"/>
          <p:nvPr/>
        </p:nvSpPr>
        <p:spPr>
          <a:xfrm>
            <a:off x="9235440" y="293522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28" name="Shape 24"/>
          <p:cNvSpPr/>
          <p:nvPr/>
        </p:nvSpPr>
        <p:spPr>
          <a:xfrm>
            <a:off x="10698480" y="2935224"/>
            <a:ext cx="347472" cy="347472"/>
          </a:xfrm>
          <a:prstGeom prst="ellipse">
            <a:avLst/>
          </a:prstGeom>
          <a:solidFill>
            <a:schemeClr val="accent4"/>
          </a:solidFill>
          <a:ln w="9525">
            <a:solidFill>
              <a:schemeClr val="accent4"/>
            </a:solidFill>
            <a:prstDash val="solid"/>
          </a:ln>
        </p:spPr>
      </p:sp>
      <p:sp>
        <p:nvSpPr>
          <p:cNvPr id="29" name="Text 25"/>
          <p:cNvSpPr txBox="1"/>
          <p:nvPr/>
        </p:nvSpPr>
        <p:spPr>
          <a:xfrm>
            <a:off x="10698480" y="293522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0" name="Shape 26"/>
          <p:cNvSpPr/>
          <p:nvPr/>
        </p:nvSpPr>
        <p:spPr>
          <a:xfrm>
            <a:off x="548640" y="3483864"/>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1" name="Shape 27"/>
          <p:cNvSpPr/>
          <p:nvPr/>
        </p:nvSpPr>
        <p:spPr>
          <a:xfrm>
            <a:off x="685800" y="3557016"/>
            <a:ext cx="429768" cy="429768"/>
          </a:xfrm>
          <a:prstGeom prst="ellipse">
            <a:avLst/>
          </a:prstGeom>
          <a:solidFill>
            <a:schemeClr val="tx2"/>
          </a:solidFill>
          <a:ln w="12700">
            <a:solidFill>
              <a:schemeClr val="tx2"/>
            </a:solidFill>
            <a:prstDash val="solid"/>
          </a:ln>
        </p:spPr>
      </p:sp>
      <p:pic>
        <p:nvPicPr>
          <p:cNvPr id="32" name="Image 2" descr="preencoded.png">    </p:cNvPr>
          <p:cNvPicPr>
            <a:picLocks noChangeAspect="1"/>
          </p:cNvPicPr>
          <p:nvPr/>
        </p:nvPicPr>
        <p:blipFill>
          <a:blip r:embed="rId3"/>
          <a:stretch>
            <a:fillRect/>
          </a:stretch>
        </p:blipFill>
        <p:spPr>
          <a:xfrm>
            <a:off x="780349" y="3651565"/>
            <a:ext cx="240670" cy="240670"/>
          </a:xfrm>
          <a:prstGeom prst="rect">
            <a:avLst/>
          </a:prstGeom>
        </p:spPr>
      </p:pic>
      <p:sp>
        <p:nvSpPr>
          <p:cNvPr id="33" name="Text 28"/>
          <p:cNvSpPr txBox="1"/>
          <p:nvPr/>
        </p:nvSpPr>
        <p:spPr>
          <a:xfrm>
            <a:off x="1280160" y="3483864"/>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HUMANO</a:t>
            </a:r>
            <a:endParaRPr lang="en-US" sz="1100" dirty="0"/>
          </a:p>
        </p:txBody>
      </p:sp>
      <p:sp>
        <p:nvSpPr>
          <p:cNvPr id="34" name="Text 29"/>
          <p:cNvSpPr txBox="1"/>
          <p:nvPr/>
        </p:nvSpPr>
        <p:spPr>
          <a:xfrm>
            <a:off x="2743200" y="3483864"/>
            <a:ext cx="4434840" cy="576072"/>
          </a:xfrm>
          <a:prstGeom prst="rect">
            <a:avLst/>
          </a:prstGeom>
          <a:noFill/>
          <a:ln/>
        </p:spPr>
        <p:txBody>
          <a:bodyPr wrap="square" lIns="0" tIns="0" rIns="0" bIns="0" rtlCol="0" anchor="ctr"/>
          <a:lstStyle/>
          <a:p>
            <a:pPr indent="0" marL="0">
              <a:buNone/>
            </a:pPr>
            <a:r>
              <a:rPr lang="en-US" sz="1500" dirty="0">
                <a:solidFill>
                  <a:schemeClr val="tx1"/>
                </a:solidFill>
              </a:rPr>
              <a:t>Vendedores de stand, coordinador y 5 socios</a:t>
            </a:r>
            <a:endParaRPr lang="en-US" sz="1500" dirty="0"/>
          </a:p>
        </p:txBody>
      </p:sp>
      <p:sp>
        <p:nvSpPr>
          <p:cNvPr id="35" name="Shape 30"/>
          <p:cNvSpPr/>
          <p:nvPr/>
        </p:nvSpPr>
        <p:spPr>
          <a:xfrm>
            <a:off x="7772400" y="3602736"/>
            <a:ext cx="347472" cy="347472"/>
          </a:xfrm>
          <a:prstGeom prst="ellipse">
            <a:avLst/>
          </a:prstGeom>
          <a:solidFill>
            <a:schemeClr val="accent4"/>
          </a:solidFill>
          <a:ln w="9525">
            <a:solidFill>
              <a:schemeClr val="accent4"/>
            </a:solidFill>
            <a:prstDash val="solid"/>
          </a:ln>
        </p:spPr>
      </p:sp>
      <p:sp>
        <p:nvSpPr>
          <p:cNvPr id="36" name="Text 31"/>
          <p:cNvSpPr txBox="1"/>
          <p:nvPr/>
        </p:nvSpPr>
        <p:spPr>
          <a:xfrm>
            <a:off x="7772400" y="360273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7" name="Shape 32"/>
          <p:cNvSpPr/>
          <p:nvPr/>
        </p:nvSpPr>
        <p:spPr>
          <a:xfrm>
            <a:off x="9235440" y="3602736"/>
            <a:ext cx="347472" cy="347472"/>
          </a:xfrm>
          <a:prstGeom prst="ellipse">
            <a:avLst/>
          </a:prstGeom>
          <a:solidFill>
            <a:schemeClr val="accent4"/>
          </a:solidFill>
          <a:ln w="9525">
            <a:solidFill>
              <a:schemeClr val="accent4"/>
            </a:solidFill>
            <a:prstDash val="solid"/>
          </a:ln>
        </p:spPr>
      </p:sp>
      <p:sp>
        <p:nvSpPr>
          <p:cNvPr id="38" name="Text 33"/>
          <p:cNvSpPr txBox="1"/>
          <p:nvPr/>
        </p:nvSpPr>
        <p:spPr>
          <a:xfrm>
            <a:off x="9235440" y="360273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39" name="Shape 34"/>
          <p:cNvSpPr/>
          <p:nvPr/>
        </p:nvSpPr>
        <p:spPr>
          <a:xfrm>
            <a:off x="10698480" y="3602736"/>
            <a:ext cx="347472" cy="347472"/>
          </a:xfrm>
          <a:prstGeom prst="ellipse">
            <a:avLst/>
          </a:prstGeom>
          <a:solidFill>
            <a:schemeClr val="bg2"/>
          </a:solidFill>
          <a:ln w="9525">
            <a:solidFill>
              <a:schemeClr val="accent5"/>
            </a:solidFill>
            <a:prstDash val="solid"/>
          </a:ln>
        </p:spPr>
      </p:sp>
      <p:sp>
        <p:nvSpPr>
          <p:cNvPr id="40" name="Text 35"/>
          <p:cNvSpPr txBox="1"/>
          <p:nvPr/>
        </p:nvSpPr>
        <p:spPr>
          <a:xfrm>
            <a:off x="10698480" y="3602736"/>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41" name="Shape 36"/>
          <p:cNvSpPr/>
          <p:nvPr/>
        </p:nvSpPr>
        <p:spPr>
          <a:xfrm>
            <a:off x="548640" y="4151376"/>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2" name="Shape 37"/>
          <p:cNvSpPr/>
          <p:nvPr/>
        </p:nvSpPr>
        <p:spPr>
          <a:xfrm>
            <a:off x="685800" y="4224528"/>
            <a:ext cx="429768" cy="429768"/>
          </a:xfrm>
          <a:prstGeom prst="ellipse">
            <a:avLst/>
          </a:prstGeom>
          <a:solidFill>
            <a:schemeClr val="tx2"/>
          </a:solidFill>
          <a:ln w="12700">
            <a:solidFill>
              <a:schemeClr val="tx2"/>
            </a:solidFill>
            <a:prstDash val="solid"/>
          </a:ln>
        </p:spPr>
      </p:sp>
      <p:pic>
        <p:nvPicPr>
          <p:cNvPr id="43" name="Image 3" descr="preencoded.png">    </p:cNvPr>
          <p:cNvPicPr>
            <a:picLocks noChangeAspect="1"/>
          </p:cNvPicPr>
          <p:nvPr/>
        </p:nvPicPr>
        <p:blipFill>
          <a:blip r:embed="rId4"/>
          <a:stretch>
            <a:fillRect/>
          </a:stretch>
        </p:blipFill>
        <p:spPr>
          <a:xfrm>
            <a:off x="780349" y="4319077"/>
            <a:ext cx="240670" cy="240670"/>
          </a:xfrm>
          <a:prstGeom prst="rect">
            <a:avLst/>
          </a:prstGeom>
        </p:spPr>
      </p:pic>
      <p:sp>
        <p:nvSpPr>
          <p:cNvPr id="44" name="Text 38"/>
          <p:cNvSpPr txBox="1"/>
          <p:nvPr/>
        </p:nvSpPr>
        <p:spPr>
          <a:xfrm>
            <a:off x="1280160" y="4151376"/>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FÍSICO</a:t>
            </a:r>
            <a:endParaRPr lang="en-US" sz="1100" dirty="0"/>
          </a:p>
        </p:txBody>
      </p:sp>
      <p:sp>
        <p:nvSpPr>
          <p:cNvPr id="45" name="Text 39"/>
          <p:cNvSpPr txBox="1"/>
          <p:nvPr/>
        </p:nvSpPr>
        <p:spPr>
          <a:xfrm>
            <a:off x="2743200" y="4151376"/>
            <a:ext cx="4434840" cy="576072"/>
          </a:xfrm>
          <a:prstGeom prst="rect">
            <a:avLst/>
          </a:prstGeom>
          <a:noFill/>
          <a:ln/>
        </p:spPr>
        <p:txBody>
          <a:bodyPr wrap="square" lIns="0" tIns="0" rIns="0" bIns="0" rtlCol="0" anchor="ctr"/>
          <a:lstStyle/>
          <a:p>
            <a:pPr indent="0" marL="0">
              <a:buNone/>
            </a:pPr>
            <a:r>
              <a:rPr lang="en-US" sz="1500" dirty="0">
                <a:solidFill>
                  <a:schemeClr val="tx1"/>
                </a:solidFill>
              </a:rPr>
              <a:t>Carrito, kit de feria y stock en la planta</a:t>
            </a:r>
            <a:endParaRPr lang="en-US" sz="1500" dirty="0"/>
          </a:p>
        </p:txBody>
      </p:sp>
      <p:sp>
        <p:nvSpPr>
          <p:cNvPr id="46" name="Shape 40"/>
          <p:cNvSpPr/>
          <p:nvPr/>
        </p:nvSpPr>
        <p:spPr>
          <a:xfrm>
            <a:off x="7772400" y="4270248"/>
            <a:ext cx="347472" cy="347472"/>
          </a:xfrm>
          <a:prstGeom prst="ellipse">
            <a:avLst/>
          </a:prstGeom>
          <a:solidFill>
            <a:schemeClr val="accent4"/>
          </a:solidFill>
          <a:ln w="9525">
            <a:solidFill>
              <a:schemeClr val="accent4"/>
            </a:solidFill>
            <a:prstDash val="solid"/>
          </a:ln>
        </p:spPr>
      </p:sp>
      <p:sp>
        <p:nvSpPr>
          <p:cNvPr id="47" name="Text 41"/>
          <p:cNvSpPr txBox="1"/>
          <p:nvPr/>
        </p:nvSpPr>
        <p:spPr>
          <a:xfrm>
            <a:off x="7772400" y="42702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48" name="Shape 42"/>
          <p:cNvSpPr/>
          <p:nvPr/>
        </p:nvSpPr>
        <p:spPr>
          <a:xfrm>
            <a:off x="9235440" y="4270248"/>
            <a:ext cx="347472" cy="347472"/>
          </a:xfrm>
          <a:prstGeom prst="ellipse">
            <a:avLst/>
          </a:prstGeom>
          <a:solidFill>
            <a:schemeClr val="bg2"/>
          </a:solidFill>
          <a:ln w="9525">
            <a:solidFill>
              <a:schemeClr val="accent5"/>
            </a:solidFill>
            <a:prstDash val="solid"/>
          </a:ln>
        </p:spPr>
      </p:sp>
      <p:sp>
        <p:nvSpPr>
          <p:cNvPr id="49" name="Text 43"/>
          <p:cNvSpPr txBox="1"/>
          <p:nvPr/>
        </p:nvSpPr>
        <p:spPr>
          <a:xfrm>
            <a:off x="9235440" y="4270248"/>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50" name="Shape 44"/>
          <p:cNvSpPr/>
          <p:nvPr/>
        </p:nvSpPr>
        <p:spPr>
          <a:xfrm>
            <a:off x="10698480" y="4270248"/>
            <a:ext cx="347472" cy="347472"/>
          </a:xfrm>
          <a:prstGeom prst="ellipse">
            <a:avLst/>
          </a:prstGeom>
          <a:solidFill>
            <a:schemeClr val="bg2"/>
          </a:solidFill>
          <a:ln w="9525">
            <a:solidFill>
              <a:schemeClr val="accent5"/>
            </a:solidFill>
            <a:prstDash val="solid"/>
          </a:ln>
        </p:spPr>
      </p:sp>
      <p:sp>
        <p:nvSpPr>
          <p:cNvPr id="51" name="Text 45"/>
          <p:cNvSpPr txBox="1"/>
          <p:nvPr/>
        </p:nvSpPr>
        <p:spPr>
          <a:xfrm>
            <a:off x="10698480" y="4270248"/>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52" name="Shape 46"/>
          <p:cNvSpPr/>
          <p:nvPr/>
        </p:nvSpPr>
        <p:spPr>
          <a:xfrm>
            <a:off x="548640" y="4818888"/>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3" name="Shape 47"/>
          <p:cNvSpPr/>
          <p:nvPr/>
        </p:nvSpPr>
        <p:spPr>
          <a:xfrm>
            <a:off x="685800" y="4892040"/>
            <a:ext cx="429768" cy="429768"/>
          </a:xfrm>
          <a:prstGeom prst="ellipse">
            <a:avLst/>
          </a:prstGeom>
          <a:solidFill>
            <a:schemeClr val="tx2"/>
          </a:solidFill>
          <a:ln w="12700">
            <a:solidFill>
              <a:schemeClr val="tx2"/>
            </a:solidFill>
            <a:prstDash val="solid"/>
          </a:ln>
        </p:spPr>
      </p:sp>
      <p:pic>
        <p:nvPicPr>
          <p:cNvPr id="54" name="Image 4" descr="preencoded.png">    </p:cNvPr>
          <p:cNvPicPr>
            <a:picLocks noChangeAspect="1"/>
          </p:cNvPicPr>
          <p:nvPr/>
        </p:nvPicPr>
        <p:blipFill>
          <a:blip r:embed="rId5"/>
          <a:stretch>
            <a:fillRect/>
          </a:stretch>
        </p:blipFill>
        <p:spPr>
          <a:xfrm>
            <a:off x="780349" y="4986589"/>
            <a:ext cx="240670" cy="240670"/>
          </a:xfrm>
          <a:prstGeom prst="rect">
            <a:avLst/>
          </a:prstGeom>
        </p:spPr>
      </p:pic>
      <p:sp>
        <p:nvSpPr>
          <p:cNvPr id="55" name="Text 48"/>
          <p:cNvSpPr txBox="1"/>
          <p:nvPr/>
        </p:nvSpPr>
        <p:spPr>
          <a:xfrm>
            <a:off x="1280160" y="4818888"/>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DIGITAL</a:t>
            </a:r>
            <a:endParaRPr lang="en-US" sz="1100" dirty="0"/>
          </a:p>
        </p:txBody>
      </p:sp>
      <p:sp>
        <p:nvSpPr>
          <p:cNvPr id="56" name="Text 49"/>
          <p:cNvSpPr txBox="1"/>
          <p:nvPr/>
        </p:nvSpPr>
        <p:spPr>
          <a:xfrm>
            <a:off x="2743200" y="4818888"/>
            <a:ext cx="4434840" cy="576072"/>
          </a:xfrm>
          <a:prstGeom prst="rect">
            <a:avLst/>
          </a:prstGeom>
          <a:noFill/>
          <a:ln/>
        </p:spPr>
        <p:txBody>
          <a:bodyPr wrap="square" lIns="0" tIns="0" rIns="0" bIns="0" rtlCol="0" anchor="ctr"/>
          <a:lstStyle/>
          <a:p>
            <a:pPr indent="0" marL="0">
              <a:buNone/>
            </a:pPr>
            <a:r>
              <a:rPr lang="en-US" sz="1500" dirty="0">
                <a:solidFill>
                  <a:schemeClr val="tx1"/>
                </a:solidFill>
              </a:rPr>
              <a:t>App Andi, Misión Hierro y base de clientes</a:t>
            </a:r>
            <a:endParaRPr lang="en-US" sz="1500" dirty="0"/>
          </a:p>
        </p:txBody>
      </p:sp>
      <p:sp>
        <p:nvSpPr>
          <p:cNvPr id="57" name="Shape 50"/>
          <p:cNvSpPr/>
          <p:nvPr/>
        </p:nvSpPr>
        <p:spPr>
          <a:xfrm>
            <a:off x="7772400" y="4937760"/>
            <a:ext cx="347472" cy="347472"/>
          </a:xfrm>
          <a:prstGeom prst="ellipse">
            <a:avLst/>
          </a:prstGeom>
          <a:solidFill>
            <a:schemeClr val="accent4"/>
          </a:solidFill>
          <a:ln w="9525">
            <a:solidFill>
              <a:schemeClr val="accent4"/>
            </a:solidFill>
            <a:prstDash val="solid"/>
          </a:ln>
        </p:spPr>
      </p:sp>
      <p:sp>
        <p:nvSpPr>
          <p:cNvPr id="58" name="Text 51"/>
          <p:cNvSpPr txBox="1"/>
          <p:nvPr/>
        </p:nvSpPr>
        <p:spPr>
          <a:xfrm>
            <a:off x="7772400" y="493776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59" name="Shape 52"/>
          <p:cNvSpPr/>
          <p:nvPr/>
        </p:nvSpPr>
        <p:spPr>
          <a:xfrm>
            <a:off x="9235440" y="4937760"/>
            <a:ext cx="347472" cy="347472"/>
          </a:xfrm>
          <a:prstGeom prst="ellipse">
            <a:avLst/>
          </a:prstGeom>
          <a:solidFill>
            <a:schemeClr val="accent4"/>
          </a:solidFill>
          <a:ln w="9525">
            <a:solidFill>
              <a:schemeClr val="accent4"/>
            </a:solidFill>
            <a:prstDash val="solid"/>
          </a:ln>
        </p:spPr>
      </p:sp>
      <p:sp>
        <p:nvSpPr>
          <p:cNvPr id="60" name="Text 53"/>
          <p:cNvSpPr txBox="1"/>
          <p:nvPr/>
        </p:nvSpPr>
        <p:spPr>
          <a:xfrm>
            <a:off x="9235440" y="493776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61" name="Shape 54"/>
          <p:cNvSpPr/>
          <p:nvPr/>
        </p:nvSpPr>
        <p:spPr>
          <a:xfrm>
            <a:off x="10698480" y="4937760"/>
            <a:ext cx="347472" cy="347472"/>
          </a:xfrm>
          <a:prstGeom prst="ellipse">
            <a:avLst/>
          </a:prstGeom>
          <a:solidFill>
            <a:schemeClr val="accent4"/>
          </a:solidFill>
          <a:ln w="9525">
            <a:solidFill>
              <a:schemeClr val="accent4"/>
            </a:solidFill>
            <a:prstDash val="solid"/>
          </a:ln>
        </p:spPr>
      </p:sp>
      <p:sp>
        <p:nvSpPr>
          <p:cNvPr id="62" name="Text 55"/>
          <p:cNvSpPr txBox="1"/>
          <p:nvPr/>
        </p:nvSpPr>
        <p:spPr>
          <a:xfrm>
            <a:off x="10698480" y="493776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63" name="Shape 56"/>
          <p:cNvSpPr/>
          <p:nvPr/>
        </p:nvSpPr>
        <p:spPr>
          <a:xfrm>
            <a:off x="548640" y="5486400"/>
            <a:ext cx="11091672" cy="576072"/>
          </a:xfrm>
          <a:prstGeom prst="roundRect">
            <a:avLst>
              <a:gd name="adj" fmla="val 1587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4" name="Shape 57"/>
          <p:cNvSpPr/>
          <p:nvPr/>
        </p:nvSpPr>
        <p:spPr>
          <a:xfrm>
            <a:off x="685800" y="5559552"/>
            <a:ext cx="429768" cy="429768"/>
          </a:xfrm>
          <a:prstGeom prst="ellipse">
            <a:avLst/>
          </a:prstGeom>
          <a:solidFill>
            <a:schemeClr val="tx2"/>
          </a:solidFill>
          <a:ln w="12700">
            <a:solidFill>
              <a:schemeClr val="tx2"/>
            </a:solidFill>
            <a:prstDash val="solid"/>
          </a:ln>
        </p:spPr>
      </p:sp>
      <p:pic>
        <p:nvPicPr>
          <p:cNvPr id="65" name="Image 5" descr="preencoded.png">    </p:cNvPr>
          <p:cNvPicPr>
            <a:picLocks noChangeAspect="1"/>
          </p:cNvPicPr>
          <p:nvPr/>
        </p:nvPicPr>
        <p:blipFill>
          <a:blip r:embed="rId6"/>
          <a:stretch>
            <a:fillRect/>
          </a:stretch>
        </p:blipFill>
        <p:spPr>
          <a:xfrm>
            <a:off x="780349" y="5654101"/>
            <a:ext cx="240670" cy="240670"/>
          </a:xfrm>
          <a:prstGeom prst="rect">
            <a:avLst/>
          </a:prstGeom>
        </p:spPr>
      </p:pic>
      <p:sp>
        <p:nvSpPr>
          <p:cNvPr id="66" name="Text 58"/>
          <p:cNvSpPr txBox="1"/>
          <p:nvPr/>
        </p:nvSpPr>
        <p:spPr>
          <a:xfrm>
            <a:off x="1280160" y="5486400"/>
            <a:ext cx="1463040" cy="576072"/>
          </a:xfrm>
          <a:prstGeom prst="rect">
            <a:avLst/>
          </a:prstGeom>
          <a:noFill/>
          <a:ln/>
        </p:spPr>
        <p:txBody>
          <a:bodyPr wrap="square" lIns="0" tIns="0" rIns="0" bIns="0" rtlCol="0" anchor="ctr"/>
          <a:lstStyle/>
          <a:p>
            <a:pPr indent="0" marL="0">
              <a:buNone/>
            </a:pPr>
            <a:r>
              <a:rPr lang="en-US" sz="1100" b="1" spc="100" kern="0" dirty="0">
                <a:solidFill>
                  <a:schemeClr val="accent1"/>
                </a:solidFill>
              </a:rPr>
              <a:t>FINANCIERO</a:t>
            </a:r>
            <a:endParaRPr lang="en-US" sz="1100" dirty="0"/>
          </a:p>
        </p:txBody>
      </p:sp>
      <p:sp>
        <p:nvSpPr>
          <p:cNvPr id="67" name="Text 59"/>
          <p:cNvSpPr txBox="1"/>
          <p:nvPr/>
        </p:nvSpPr>
        <p:spPr>
          <a:xfrm>
            <a:off x="2743200" y="5486400"/>
            <a:ext cx="4434840" cy="576072"/>
          </a:xfrm>
          <a:prstGeom prst="rect">
            <a:avLst/>
          </a:prstGeom>
          <a:noFill/>
          <a:ln/>
        </p:spPr>
        <p:txBody>
          <a:bodyPr wrap="square" lIns="0" tIns="0" rIns="0" bIns="0" rtlCol="0" anchor="ctr"/>
          <a:lstStyle/>
          <a:p>
            <a:pPr indent="0" marL="0">
              <a:buNone/>
            </a:pPr>
            <a:r>
              <a:rPr lang="en-US" sz="1500" dirty="0">
                <a:solidFill>
                  <a:schemeClr val="tx1"/>
                </a:solidFill>
              </a:rPr>
              <a:t>S/45,358 de inversión: socios y préstamo</a:t>
            </a:r>
            <a:endParaRPr lang="en-US" sz="1500" dirty="0"/>
          </a:p>
        </p:txBody>
      </p:sp>
      <p:sp>
        <p:nvSpPr>
          <p:cNvPr id="68" name="Shape 60"/>
          <p:cNvSpPr/>
          <p:nvPr/>
        </p:nvSpPr>
        <p:spPr>
          <a:xfrm>
            <a:off x="7772400" y="5605272"/>
            <a:ext cx="347472" cy="347472"/>
          </a:xfrm>
          <a:prstGeom prst="ellipse">
            <a:avLst/>
          </a:prstGeom>
          <a:solidFill>
            <a:schemeClr val="accent4"/>
          </a:solidFill>
          <a:ln w="9525">
            <a:solidFill>
              <a:schemeClr val="accent4"/>
            </a:solidFill>
            <a:prstDash val="solid"/>
          </a:ln>
        </p:spPr>
      </p:sp>
      <p:sp>
        <p:nvSpPr>
          <p:cNvPr id="69" name="Text 61"/>
          <p:cNvSpPr txBox="1"/>
          <p:nvPr/>
        </p:nvSpPr>
        <p:spPr>
          <a:xfrm>
            <a:off x="7772400" y="560527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70" name="Shape 62"/>
          <p:cNvSpPr/>
          <p:nvPr/>
        </p:nvSpPr>
        <p:spPr>
          <a:xfrm>
            <a:off x="9235440" y="5605272"/>
            <a:ext cx="347472" cy="347472"/>
          </a:xfrm>
          <a:prstGeom prst="ellipse">
            <a:avLst/>
          </a:prstGeom>
          <a:solidFill>
            <a:schemeClr val="bg2"/>
          </a:solidFill>
          <a:ln w="9525">
            <a:solidFill>
              <a:schemeClr val="accent5"/>
            </a:solidFill>
            <a:prstDash val="solid"/>
          </a:ln>
        </p:spPr>
      </p:sp>
      <p:sp>
        <p:nvSpPr>
          <p:cNvPr id="71" name="Text 63"/>
          <p:cNvSpPr txBox="1"/>
          <p:nvPr/>
        </p:nvSpPr>
        <p:spPr>
          <a:xfrm>
            <a:off x="9235440" y="5605272"/>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72" name="Shape 64"/>
          <p:cNvSpPr/>
          <p:nvPr/>
        </p:nvSpPr>
        <p:spPr>
          <a:xfrm>
            <a:off x="10698480" y="5605272"/>
            <a:ext cx="347472" cy="347472"/>
          </a:xfrm>
          <a:prstGeom prst="ellipse">
            <a:avLst/>
          </a:prstGeom>
          <a:solidFill>
            <a:schemeClr val="bg2"/>
          </a:solidFill>
          <a:ln w="9525">
            <a:solidFill>
              <a:schemeClr val="accent5"/>
            </a:solidFill>
            <a:prstDash val="solid"/>
          </a:ln>
        </p:spPr>
      </p:sp>
      <p:sp>
        <p:nvSpPr>
          <p:cNvPr id="73" name="Text 65"/>
          <p:cNvSpPr txBox="1"/>
          <p:nvPr/>
        </p:nvSpPr>
        <p:spPr>
          <a:xfrm>
            <a:off x="10698480" y="5605272"/>
            <a:ext cx="347472" cy="347472"/>
          </a:xfrm>
          <a:prstGeom prst="rect">
            <a:avLst/>
          </a:prstGeom>
          <a:noFill/>
          <a:ln/>
        </p:spPr>
        <p:txBody>
          <a:bodyPr wrap="square" lIns="0" tIns="0" rIns="0" bIns="0" rtlCol="0" anchor="ctr"/>
          <a:lstStyle/>
          <a:p>
            <a:pPr algn="ctr" indent="0" marL="0">
              <a:buNone/>
            </a:pPr>
            <a:r>
              <a:rPr lang="en-US" sz="1300" b="1" dirty="0">
                <a:solidFill>
                  <a:schemeClr val="accent2"/>
                </a:solidFill>
              </a:rPr>
              <a:t>–</a:t>
            </a:r>
            <a:endParaRPr lang="en-US" sz="13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ACTIVIDADES CLAVE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Cada actividad clave tiene su costo</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1280160" y="1554480"/>
          <a:ext cx="10360152" cy="914400"/>
        </p:xfrm>
        <a:graphic>
          <a:graphicData uri="http://schemas.openxmlformats.org/drawingml/2006/table">
            <a:tbl>
              <a:tblPr/>
              <a:tblGrid>
                <a:gridCol w="3200400"/>
                <a:gridCol w="1737360"/>
                <a:gridCol w="3566160"/>
                <a:gridCol w="1856232"/>
              </a:tblGrid>
              <a:tr h="512064">
                <a:tc>
                  <a:txBody>
                    <a:bodyPr/>
                    <a:lstStyle/>
                    <a:p>
                      <a:pPr indent="0" marL="0">
                        <a:buNone/>
                      </a:pPr>
                      <a:r>
                        <a:rPr lang="en-US" sz="1300" b="1" dirty="0">
                          <a:solidFill>
                            <a:schemeClr val="bg1"/>
                          </a:solidFill>
                        </a:rPr>
                        <a:t>Actividad clave</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Tipo</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Lo que cuesta</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Tipo de costo</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512064">
                <a:tc>
                  <a:txBody>
                    <a:bodyPr/>
                    <a:lstStyle/>
                    <a:p>
                      <a:pPr indent="0" marL="0">
                        <a:buNone/>
                      </a:pPr>
                      <a:r>
                        <a:rPr lang="en-US" sz="1400" b="1" dirty="0">
                          <a:solidFill>
                            <a:schemeClr val="tx1"/>
                          </a:solidFill>
                        </a:rPr>
                        <a:t>Producir con la planta</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Producción</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S/1.06 por brownie</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accent2"/>
                          </a:solidFill>
                        </a:rPr>
                        <a:t>Variable</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12064">
                <a:tc>
                  <a:txBody>
                    <a:bodyPr/>
                    <a:lstStyle/>
                    <a:p>
                      <a:pPr indent="0" marL="0">
                        <a:buNone/>
                      </a:pPr>
                      <a:r>
                        <a:rPr lang="en-US" sz="1400" b="1" dirty="0">
                          <a:solidFill>
                            <a:schemeClr val="tx1"/>
                          </a:solidFill>
                        </a:rPr>
                        <a:t>Calidad y hierro medido</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Producción</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S/625 por lote</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accent2"/>
                          </a:solidFill>
                        </a:rPr>
                        <a:t>Variable</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12064">
                <a:tc>
                  <a:txBody>
                    <a:bodyPr/>
                    <a:lstStyle/>
                    <a:p>
                      <a:pPr indent="0" marL="0">
                        <a:buNone/>
                      </a:pPr>
                      <a:r>
                        <a:rPr lang="en-US" sz="1400" b="1" dirty="0">
                          <a:solidFill>
                            <a:schemeClr val="tx1"/>
                          </a:solidFill>
                        </a:rPr>
                        <a:t>Vender en stands y carrito</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Resolución</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S/600 por punto + S/90 por día</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accent2"/>
                          </a:solidFill>
                        </a:rPr>
                        <a:t>Escala</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12064">
                <a:tc>
                  <a:txBody>
                    <a:bodyPr/>
                    <a:lstStyle/>
                    <a:p>
                      <a:pPr indent="0" marL="0">
                        <a:buNone/>
                      </a:pPr>
                      <a:r>
                        <a:rPr lang="en-US" sz="1400" b="1" dirty="0">
                          <a:solidFill>
                            <a:schemeClr val="tx1"/>
                          </a:solidFill>
                        </a:rPr>
                        <a:t>Ferias de temporada</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Resolución</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S/1,800 por feria</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accent2"/>
                          </a:solidFill>
                        </a:rPr>
                        <a:t>Por evento</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12064">
                <a:tc>
                  <a:txBody>
                    <a:bodyPr/>
                    <a:lstStyle/>
                    <a:p>
                      <a:pPr indent="0" marL="0">
                        <a:buNone/>
                      </a:pPr>
                      <a:r>
                        <a:rPr lang="en-US" sz="1400" b="1" dirty="0">
                          <a:solidFill>
                            <a:schemeClr val="tx1"/>
                          </a:solidFill>
                        </a:rPr>
                        <a:t>Recompra y delivery</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Plataforma</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S/0.80 por brownie + S/709 al mes</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accent2"/>
                          </a:solidFill>
                        </a:rPr>
                        <a:t>Variable y fijo</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12064">
                <a:tc>
                  <a:txBody>
                    <a:bodyPr/>
                    <a:lstStyle/>
                    <a:p>
                      <a:pPr indent="0" marL="0">
                        <a:buNone/>
                      </a:pPr>
                      <a:r>
                        <a:rPr lang="en-US" sz="1400" b="1" dirty="0">
                          <a:solidFill>
                            <a:schemeClr val="tx1"/>
                          </a:solidFill>
                        </a:rPr>
                        <a:t>Contenido y comunidad</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Plataforma</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S/900 al mes</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accent2"/>
                          </a:solidFill>
                        </a:rPr>
                        <a:t>Fijo</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12064">
                <a:tc>
                  <a:txBody>
                    <a:bodyPr/>
                    <a:lstStyle/>
                    <a:p>
                      <a:pPr indent="0" marL="0">
                        <a:buNone/>
                      </a:pPr>
                      <a:r>
                        <a:rPr lang="en-US" sz="1400" b="1" dirty="0">
                          <a:solidFill>
                            <a:schemeClr val="tx1"/>
                          </a:solidFill>
                        </a:rPr>
                        <a:t>Mantener la app Andi</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b="1" dirty="0">
                          <a:solidFill>
                            <a:schemeClr val="accent1"/>
                          </a:solidFill>
                        </a:rPr>
                        <a:t>Plataforma</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S/250 al mes + S/0.04 por código</a:t>
                      </a:r>
                      <a:endParaRPr lang="en-US" sz="14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accent2"/>
                          </a:solidFill>
                        </a:rPr>
                        <a:t>Fijo y variable</a:t>
                      </a:r>
                      <a:endParaRPr lang="en-US" sz="1300" dirty="0"/>
                    </a:p>
                  </a:txBody>
                  <a:tcPr marL="73152" marR="73152" marT="73152" marB="73152"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bl>
          </a:graphicData>
        </a:graphic>
      </p:graphicFrame>
      <p:sp>
        <p:nvSpPr>
          <p:cNvPr id="5" name="Shape 2"/>
          <p:cNvSpPr/>
          <p:nvPr/>
        </p:nvSpPr>
        <p:spPr>
          <a:xfrm>
            <a:off x="658368" y="2121408"/>
            <a:ext cx="402336" cy="402336"/>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746882" y="2209922"/>
            <a:ext cx="225308" cy="225308"/>
          </a:xfrm>
          <a:prstGeom prst="rect">
            <a:avLst/>
          </a:prstGeom>
        </p:spPr>
      </p:pic>
      <p:sp>
        <p:nvSpPr>
          <p:cNvPr id="7" name="Shape 3"/>
          <p:cNvSpPr/>
          <p:nvPr/>
        </p:nvSpPr>
        <p:spPr>
          <a:xfrm>
            <a:off x="658368" y="2633472"/>
            <a:ext cx="402336" cy="402336"/>
          </a:xfrm>
          <a:prstGeom prst="ellipse">
            <a:avLst/>
          </a:prstGeom>
          <a:solidFill>
            <a:schemeClr val="accent1"/>
          </a:solidFill>
          <a:ln w="12700">
            <a:solidFill>
              <a:schemeClr val="accent1"/>
            </a:solidFill>
            <a:prstDash val="solid"/>
          </a:ln>
        </p:spPr>
      </p:sp>
      <p:pic>
        <p:nvPicPr>
          <p:cNvPr id="8" name="Image 1" descr="preencoded.png">    </p:cNvPr>
          <p:cNvPicPr>
            <a:picLocks noChangeAspect="1"/>
          </p:cNvPicPr>
          <p:nvPr/>
        </p:nvPicPr>
        <p:blipFill>
          <a:blip r:embed="rId2"/>
          <a:stretch>
            <a:fillRect/>
          </a:stretch>
        </p:blipFill>
        <p:spPr>
          <a:xfrm>
            <a:off x="746882" y="2721986"/>
            <a:ext cx="225308" cy="225308"/>
          </a:xfrm>
          <a:prstGeom prst="rect">
            <a:avLst/>
          </a:prstGeom>
        </p:spPr>
      </p:pic>
      <p:sp>
        <p:nvSpPr>
          <p:cNvPr id="9" name="Shape 4"/>
          <p:cNvSpPr/>
          <p:nvPr/>
        </p:nvSpPr>
        <p:spPr>
          <a:xfrm>
            <a:off x="658368" y="3145536"/>
            <a:ext cx="402336" cy="402336"/>
          </a:xfrm>
          <a:prstGeom prst="ellipse">
            <a:avLst/>
          </a:prstGeom>
          <a:solidFill>
            <a:schemeClr val="accent1"/>
          </a:solidFill>
          <a:ln w="12700">
            <a:solidFill>
              <a:schemeClr val="accent1"/>
            </a:solidFill>
            <a:prstDash val="solid"/>
          </a:ln>
        </p:spPr>
      </p:sp>
      <p:pic>
        <p:nvPicPr>
          <p:cNvPr id="10" name="Image 2" descr="preencoded.png">    </p:cNvPr>
          <p:cNvPicPr>
            <a:picLocks noChangeAspect="1"/>
          </p:cNvPicPr>
          <p:nvPr/>
        </p:nvPicPr>
        <p:blipFill>
          <a:blip r:embed="rId3"/>
          <a:stretch>
            <a:fillRect/>
          </a:stretch>
        </p:blipFill>
        <p:spPr>
          <a:xfrm>
            <a:off x="746882" y="3234050"/>
            <a:ext cx="225308" cy="225308"/>
          </a:xfrm>
          <a:prstGeom prst="rect">
            <a:avLst/>
          </a:prstGeom>
        </p:spPr>
      </p:pic>
      <p:sp>
        <p:nvSpPr>
          <p:cNvPr id="11" name="Shape 5"/>
          <p:cNvSpPr/>
          <p:nvPr/>
        </p:nvSpPr>
        <p:spPr>
          <a:xfrm>
            <a:off x="658368" y="3657600"/>
            <a:ext cx="402336" cy="402336"/>
          </a:xfrm>
          <a:prstGeom prst="ellipse">
            <a:avLst/>
          </a:prstGeom>
          <a:solidFill>
            <a:schemeClr val="accent1"/>
          </a:solidFill>
          <a:ln w="12700">
            <a:solidFill>
              <a:schemeClr val="accent1"/>
            </a:solidFill>
            <a:prstDash val="solid"/>
          </a:ln>
        </p:spPr>
      </p:sp>
      <p:pic>
        <p:nvPicPr>
          <p:cNvPr id="12" name="Image 3" descr="preencoded.png">    </p:cNvPr>
          <p:cNvPicPr>
            <a:picLocks noChangeAspect="1"/>
          </p:cNvPicPr>
          <p:nvPr/>
        </p:nvPicPr>
        <p:blipFill>
          <a:blip r:embed="rId4"/>
          <a:stretch>
            <a:fillRect/>
          </a:stretch>
        </p:blipFill>
        <p:spPr>
          <a:xfrm>
            <a:off x="746882" y="3746114"/>
            <a:ext cx="225308" cy="225308"/>
          </a:xfrm>
          <a:prstGeom prst="rect">
            <a:avLst/>
          </a:prstGeom>
        </p:spPr>
      </p:pic>
      <p:sp>
        <p:nvSpPr>
          <p:cNvPr id="13" name="Shape 6"/>
          <p:cNvSpPr/>
          <p:nvPr/>
        </p:nvSpPr>
        <p:spPr>
          <a:xfrm>
            <a:off x="658368" y="4169664"/>
            <a:ext cx="402336" cy="402336"/>
          </a:xfrm>
          <a:prstGeom prst="ellipse">
            <a:avLst/>
          </a:prstGeom>
          <a:solidFill>
            <a:schemeClr val="accent1"/>
          </a:solidFill>
          <a:ln w="12700">
            <a:solidFill>
              <a:schemeClr val="accent1"/>
            </a:solidFill>
            <a:prstDash val="solid"/>
          </a:ln>
        </p:spPr>
      </p:sp>
      <p:pic>
        <p:nvPicPr>
          <p:cNvPr id="14" name="Image 4" descr="preencoded.png">    </p:cNvPr>
          <p:cNvPicPr>
            <a:picLocks noChangeAspect="1"/>
          </p:cNvPicPr>
          <p:nvPr/>
        </p:nvPicPr>
        <p:blipFill>
          <a:blip r:embed="rId5"/>
          <a:stretch>
            <a:fillRect/>
          </a:stretch>
        </p:blipFill>
        <p:spPr>
          <a:xfrm>
            <a:off x="746882" y="4258178"/>
            <a:ext cx="225308" cy="225308"/>
          </a:xfrm>
          <a:prstGeom prst="rect">
            <a:avLst/>
          </a:prstGeom>
        </p:spPr>
      </p:pic>
      <p:sp>
        <p:nvSpPr>
          <p:cNvPr id="15" name="Shape 7"/>
          <p:cNvSpPr/>
          <p:nvPr/>
        </p:nvSpPr>
        <p:spPr>
          <a:xfrm>
            <a:off x="658368" y="4681728"/>
            <a:ext cx="402336" cy="402336"/>
          </a:xfrm>
          <a:prstGeom prst="ellipse">
            <a:avLst/>
          </a:prstGeom>
          <a:solidFill>
            <a:schemeClr val="accent1"/>
          </a:solidFill>
          <a:ln w="12700">
            <a:solidFill>
              <a:schemeClr val="accent1"/>
            </a:solidFill>
            <a:prstDash val="solid"/>
          </a:ln>
        </p:spPr>
      </p:sp>
      <p:pic>
        <p:nvPicPr>
          <p:cNvPr id="16" name="Image 5" descr="preencoded.png">    </p:cNvPr>
          <p:cNvPicPr>
            <a:picLocks noChangeAspect="1"/>
          </p:cNvPicPr>
          <p:nvPr/>
        </p:nvPicPr>
        <p:blipFill>
          <a:blip r:embed="rId6"/>
          <a:stretch>
            <a:fillRect/>
          </a:stretch>
        </p:blipFill>
        <p:spPr>
          <a:xfrm>
            <a:off x="746882" y="4770242"/>
            <a:ext cx="225308" cy="225308"/>
          </a:xfrm>
          <a:prstGeom prst="rect">
            <a:avLst/>
          </a:prstGeom>
        </p:spPr>
      </p:pic>
      <p:sp>
        <p:nvSpPr>
          <p:cNvPr id="17" name="Shape 8"/>
          <p:cNvSpPr/>
          <p:nvPr/>
        </p:nvSpPr>
        <p:spPr>
          <a:xfrm>
            <a:off x="658368" y="5193792"/>
            <a:ext cx="402336" cy="402336"/>
          </a:xfrm>
          <a:prstGeom prst="ellipse">
            <a:avLst/>
          </a:prstGeom>
          <a:solidFill>
            <a:schemeClr val="accent1"/>
          </a:solidFill>
          <a:ln w="12700">
            <a:solidFill>
              <a:schemeClr val="accent1"/>
            </a:solidFill>
            <a:prstDash val="solid"/>
          </a:ln>
        </p:spPr>
      </p:sp>
      <p:pic>
        <p:nvPicPr>
          <p:cNvPr id="18" name="Image 6" descr="preencoded.png">    </p:cNvPr>
          <p:cNvPicPr>
            <a:picLocks noChangeAspect="1"/>
          </p:cNvPicPr>
          <p:nvPr/>
        </p:nvPicPr>
        <p:blipFill>
          <a:blip r:embed="rId7"/>
          <a:stretch>
            <a:fillRect/>
          </a:stretch>
        </p:blipFill>
        <p:spPr>
          <a:xfrm>
            <a:off x="746882" y="5282306"/>
            <a:ext cx="225308" cy="225308"/>
          </a:xfrm>
          <a:prstGeom prst="rect">
            <a:avLst/>
          </a:prstGeom>
        </p:spPr>
      </p:pic>
      <p:sp>
        <p:nvSpPr>
          <p:cNvPr id="19" name="Shape 9"/>
          <p:cNvSpPr/>
          <p:nvPr/>
        </p:nvSpPr>
        <p:spPr>
          <a:xfrm>
            <a:off x="548640" y="5779008"/>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20" name="Text 10"/>
          <p:cNvSpPr txBox="1"/>
          <p:nvPr/>
        </p:nvSpPr>
        <p:spPr>
          <a:xfrm>
            <a:off x="822960" y="5779008"/>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"Si una actividad parece gratis, estás ignorando un recurso oculto": por eso los stands y los pedidos tienen personal pagado.</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ESTRUCTURA DE COSTOS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pack de 6 cuesta S/9.98 y en el stand deja S/10.97</a:t>
            </a:r>
            <a:endParaRPr lang="en-US" sz="3400" dirty="0"/>
          </a:p>
        </p:txBody>
      </p:sp>
      <p:graphicFrame>
        <p:nvGraphicFramePr>
          <p:cNvPr id="4" name="Chart 0" descr=""/>
          <p:cNvGraphicFramePr/>
          <p:nvPr/>
        </p:nvGraphicFramePr>
        <p:xfrm>
          <a:off x="365760" y="1463040"/>
          <a:ext cx="576072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09360" y="1463040"/>
          <a:ext cx="3017520" cy="466344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9509760" y="1554480"/>
            <a:ext cx="213055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9692640" y="1645920"/>
            <a:ext cx="1810512" cy="1188720"/>
          </a:xfrm>
          <a:prstGeom prst="rect">
            <a:avLst/>
          </a:prstGeom>
          <a:noFill/>
          <a:ln/>
        </p:spPr>
        <p:txBody>
          <a:bodyPr wrap="square" lIns="0" tIns="0" rIns="0" bIns="0" rtlCol="0" anchor="ctr"/>
          <a:lstStyle/>
          <a:p>
            <a:pPr indent="0" marL="0">
              <a:buNone/>
            </a:pPr>
            <a:r>
              <a:rPr lang="en-US" sz="2800" b="1" dirty="0">
                <a:solidFill>
                  <a:schemeClr val="accent1"/>
                </a:solidFill>
              </a:rPr>
              <a:t>58 %</a:t>
            </a:r>
            <a:endParaRPr lang="en-US" sz="1400" dirty="0"/>
          </a:p>
          <a:p>
            <a:pPr indent="0" marL="0">
              <a:buNone/>
            </a:pPr>
            <a:r>
              <a:rPr lang="en-US" sz="1200" dirty="0">
                <a:solidFill>
                  <a:schemeClr val="tx1"/>
                </a:solidFill>
              </a:rPr>
              <a:t>margen bruto del pack en el stand</a:t>
            </a:r>
            <a:endParaRPr lang="en-US" sz="1400" dirty="0"/>
          </a:p>
        </p:txBody>
      </p:sp>
      <p:sp>
        <p:nvSpPr>
          <p:cNvPr id="8" name="Shape 4"/>
          <p:cNvSpPr/>
          <p:nvPr/>
        </p:nvSpPr>
        <p:spPr>
          <a:xfrm>
            <a:off x="9509760" y="3108960"/>
            <a:ext cx="213055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5"/>
          <p:cNvSpPr txBox="1"/>
          <p:nvPr/>
        </p:nvSpPr>
        <p:spPr>
          <a:xfrm>
            <a:off x="9692640" y="3200400"/>
            <a:ext cx="1810512" cy="1188720"/>
          </a:xfrm>
          <a:prstGeom prst="rect">
            <a:avLst/>
          </a:prstGeom>
          <a:noFill/>
          <a:ln/>
        </p:spPr>
        <p:txBody>
          <a:bodyPr wrap="square" lIns="0" tIns="0" rIns="0" bIns="0" rtlCol="0" anchor="ctr"/>
          <a:lstStyle/>
          <a:p>
            <a:pPr indent="0" marL="0">
              <a:buNone/>
            </a:pPr>
            <a:r>
              <a:rPr lang="en-US" sz="2800" b="1" dirty="0">
                <a:solidFill>
                  <a:schemeClr val="accent1"/>
                </a:solidFill>
              </a:rPr>
              <a:t>S/1.66</a:t>
            </a:r>
            <a:endParaRPr lang="en-US" sz="1400" dirty="0"/>
          </a:p>
          <a:p>
            <a:pPr indent="0" marL="0">
              <a:buNone/>
            </a:pPr>
            <a:r>
              <a:rPr lang="en-US" sz="1200" dirty="0">
                <a:solidFill>
                  <a:schemeClr val="tx1"/>
                </a:solidFill>
              </a:rPr>
              <a:t>cuesta producir cada brownie</a:t>
            </a:r>
            <a:endParaRPr lang="en-US" sz="1400" dirty="0"/>
          </a:p>
        </p:txBody>
      </p:sp>
      <p:sp>
        <p:nvSpPr>
          <p:cNvPr id="10" name="Shape 6"/>
          <p:cNvSpPr/>
          <p:nvPr/>
        </p:nvSpPr>
        <p:spPr>
          <a:xfrm>
            <a:off x="9509760" y="4663440"/>
            <a:ext cx="213055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7"/>
          <p:cNvSpPr txBox="1"/>
          <p:nvPr/>
        </p:nvSpPr>
        <p:spPr>
          <a:xfrm>
            <a:off x="9692640" y="4754880"/>
            <a:ext cx="1810512" cy="1188720"/>
          </a:xfrm>
          <a:prstGeom prst="rect">
            <a:avLst/>
          </a:prstGeom>
          <a:noFill/>
          <a:ln/>
        </p:spPr>
        <p:txBody>
          <a:bodyPr wrap="square" lIns="0" tIns="0" rIns="0" bIns="0" rtlCol="0" anchor="ctr"/>
          <a:lstStyle/>
          <a:p>
            <a:pPr indent="0" marL="0">
              <a:buNone/>
            </a:pPr>
            <a:r>
              <a:rPr lang="en-US" sz="2800" b="1" dirty="0">
                <a:solidFill>
                  <a:schemeClr val="accent1"/>
                </a:solidFill>
              </a:rPr>
              <a:t>0</a:t>
            </a:r>
            <a:endParaRPr lang="en-US" sz="1400" dirty="0"/>
          </a:p>
          <a:p>
            <a:pPr indent="0" marL="0">
              <a:buNone/>
            </a:pPr>
            <a:r>
              <a:rPr lang="en-US" sz="1200" dirty="0">
                <a:solidFill>
                  <a:schemeClr val="tx1"/>
                </a:solidFill>
              </a:rPr>
              <a:t>plantas propias: pagamos por unidad hecha</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INVERSIÓN INICIAL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Todos los documentos para vender, pagados desde el inicio</a:t>
            </a:r>
            <a:endParaRPr lang="en-US" sz="3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5852160" cy="914400"/>
        </p:xfrm>
        <a:graphic>
          <a:graphicData uri="http://schemas.openxmlformats.org/drawingml/2006/table">
            <a:tbl>
              <a:tblPr/>
              <a:tblGrid>
                <a:gridCol w="4754880"/>
                <a:gridCol w="1097280"/>
              </a:tblGrid>
              <a:tr h="365760">
                <a:tc>
                  <a:txBody>
                    <a:bodyPr/>
                    <a:lstStyle/>
                    <a:p>
                      <a:pPr algn="l" indent="0" marL="0">
                        <a:buNone/>
                      </a:pPr>
                      <a:r>
                        <a:rPr lang="en-US" sz="1300" b="1" dirty="0">
                          <a:solidFill>
                            <a:schemeClr val="bg1"/>
                          </a:solidFill>
                        </a:rPr>
                        <a:t>Documento o permiso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r" indent="0" marL="0">
                        <a:buNone/>
                      </a:pPr>
                      <a:r>
                        <a:rPr lang="en-US" sz="1300" b="1" dirty="0">
                          <a:solidFill>
                            <a:schemeClr val="bg1"/>
                          </a:solidFill>
                        </a:rPr>
                        <a:t>Costo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365760">
                <a:tc>
                  <a:txBody>
                    <a:bodyPr/>
                    <a:lstStyle/>
                    <a:p>
                      <a:pPr indent="0" marL="0">
                        <a:buNone/>
                      </a:pPr>
                      <a:r>
                        <a:rPr lang="en-US" sz="1300" dirty="0">
                          <a:solidFill>
                            <a:schemeClr val="tx1"/>
                          </a:solidFill>
                        </a:rPr>
                        <a:t>Constitución de la S.A.C. (notaría del CDE)</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RUC, REMYPE y libro de reclamaciones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Marca en INDECOPI, clase 30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S/401</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Revisión legal del contrato de maquila</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S/400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Análisis para el registro sanitario (3 sabores)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S/1,800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Perfil nutricional y hierro</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S/1,125</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Estudio de vida útil</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S/1,050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Etiqueta (rotulado y Ley 30021)</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S/650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Registro sanitario DIGESA (tasa)</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S/0</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300" dirty="0">
                          <a:solidFill>
                            <a:schemeClr val="tx1"/>
                          </a:solidFill>
                        </a:rPr>
                        <a:t>Carnés de sanidad y póliza para stands</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S/675</a:t>
                      </a:r>
                      <a:endParaRPr lang="en-US" sz="13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365760">
                <a:tc>
                  <a:txBody>
                    <a:bodyPr/>
                    <a:lstStyle/>
                    <a:p>
                      <a:pPr indent="0" marL="0">
                        <a:buNone/>
                      </a:pPr>
                      <a:r>
                        <a:rPr lang="en-US" sz="1400" b="1" dirty="0">
                          <a:solidFill>
                            <a:schemeClr val="tx1"/>
                          </a:solidFill>
                        </a:rPr>
                        <a:t>Total documentos y permisos</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r" indent="0" marL="0">
                        <a:buNone/>
                      </a:pPr>
                      <a:r>
                        <a:rPr lang="en-US" sz="1400" b="1" dirty="0">
                          <a:solidFill>
                            <a:schemeClr val="accent1"/>
                          </a:solidFill>
                        </a:rPr>
                        <a:t>S/6,251</a:t>
                      </a:r>
                      <a:endParaRPr lang="en-US" sz="1400" dirty="0"/>
                    </a:p>
                  </a:txBody>
                  <a:tcPr marL="54864" marR="54864" marT="54864" marB="54864"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r>
            </a:tbl>
          </a:graphicData>
        </a:graphic>
      </p:graphicFrame>
      <p:graphicFrame>
        <p:nvGraphicFramePr>
          <p:cNvPr id="5" name="Chart 0" descr=""/>
          <p:cNvGraphicFramePr/>
          <p:nvPr/>
        </p:nvGraphicFramePr>
        <p:xfrm>
          <a:off x="6583680" y="1417320"/>
          <a:ext cx="5212080" cy="37033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6766560" y="5212080"/>
            <a:ext cx="4873752" cy="914400"/>
          </a:xfrm>
          <a:prstGeom prst="roundRect">
            <a:avLst>
              <a:gd name="adj" fmla="val 12000"/>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6995160" y="5212080"/>
            <a:ext cx="4480560" cy="914400"/>
          </a:xfrm>
          <a:prstGeom prst="rect">
            <a:avLst/>
          </a:prstGeom>
          <a:noFill/>
          <a:ln/>
        </p:spPr>
        <p:txBody>
          <a:bodyPr wrap="square" lIns="0" tIns="0" rIns="0" bIns="0" rtlCol="0" anchor="ctr"/>
          <a:lstStyle/>
          <a:p>
            <a:pPr indent="0" marL="0">
              <a:buNone/>
            </a:pPr>
            <a:r>
              <a:rPr lang="en-US" sz="1600" b="1" dirty="0">
                <a:solidFill>
                  <a:schemeClr val="accent3"/>
                </a:solidFill>
              </a:rPr>
              <a:t>Socios S/25,000 · préstamo S/20,500</a:t>
            </a:r>
            <a:endParaRPr lang="en-US" sz="1400" dirty="0"/>
          </a:p>
          <a:p>
            <a:pPr indent="0" marL="0">
              <a:buNone/>
            </a:pPr>
            <a:r>
              <a:rPr lang="en-US" sz="1300" dirty="0">
                <a:solidFill>
                  <a:schemeClr val="bg1"/>
                </a:solidFill>
              </a:rPr>
              <a:t>24 cuotas de S/1,150 (TEA 35 %)</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ESTRUCTURA DE COSTOS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Con 3,035 brownies al mes cubrimos todos los costos</a:t>
            </a:r>
            <a:endParaRPr lang="en-US" sz="3400" dirty="0"/>
          </a:p>
        </p:txBody>
      </p:sp>
      <p:graphicFrame>
        <p:nvGraphicFramePr>
          <p:cNvPr id="4" name="Chart 0" descr=""/>
          <p:cNvGraphicFramePr/>
          <p:nvPr/>
        </p:nvGraphicFramePr>
        <p:xfrm>
          <a:off x="365760" y="1463040"/>
          <a:ext cx="438912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937760" y="1463040"/>
          <a:ext cx="6858000" cy="4663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RESULTADO DEL AÑO 1</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Solo enero y febrero cierran en rojo</a:t>
            </a:r>
            <a:endParaRPr lang="en-US" sz="3400" dirty="0"/>
          </a:p>
        </p:txBody>
      </p:sp>
      <p:graphicFrame>
        <p:nvGraphicFramePr>
          <p:cNvPr id="4" name="Chart 0" descr=""/>
          <p:cNvGraphicFramePr/>
          <p:nvPr/>
        </p:nvGraphicFramePr>
        <p:xfrm>
          <a:off x="365760" y="1463040"/>
          <a:ext cx="7772400" cy="4526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6016752"/>
            <a:ext cx="7589520" cy="274320"/>
          </a:xfrm>
          <a:prstGeom prst="rect">
            <a:avLst/>
          </a:prstGeom>
          <a:noFill/>
          <a:ln/>
        </p:spPr>
        <p:txBody>
          <a:bodyPr wrap="square" lIns="0" tIns="0" rIns="0" bIns="0" rtlCol="0" anchor="t"/>
          <a:lstStyle/>
          <a:p>
            <a:pPr indent="0" marL="0">
              <a:buNone/>
            </a:pPr>
            <a:r>
              <a:rPr lang="en-US" sz="1100" i="1" dirty="0">
                <a:solidFill>
                  <a:schemeClr val="accent2"/>
                </a:solidFill>
              </a:rPr>
              <a:t>Con todo el personal pagado y la app incluida. La caja nunca baja de S/2,650, ya con la cuota del préstamo.</a:t>
            </a:r>
            <a:endParaRPr lang="en-US" sz="1100" dirty="0"/>
          </a:p>
        </p:txBody>
      </p:sp>
      <p:sp>
        <p:nvSpPr>
          <p:cNvPr id="6" name="Shape 3"/>
          <p:cNvSpPr/>
          <p:nvPr/>
        </p:nvSpPr>
        <p:spPr>
          <a:xfrm>
            <a:off x="8321040" y="1554480"/>
            <a:ext cx="3319272"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4"/>
          <p:cNvSpPr txBox="1"/>
          <p:nvPr/>
        </p:nvSpPr>
        <p:spPr>
          <a:xfrm>
            <a:off x="8549640" y="1554480"/>
            <a:ext cx="2953512" cy="1005840"/>
          </a:xfrm>
          <a:prstGeom prst="rect">
            <a:avLst/>
          </a:prstGeom>
          <a:noFill/>
          <a:ln/>
        </p:spPr>
        <p:txBody>
          <a:bodyPr wrap="square" lIns="0" tIns="0" rIns="0" bIns="0" rtlCol="0" anchor="ctr"/>
          <a:lstStyle/>
          <a:p>
            <a:pPr indent="0" marL="0">
              <a:buNone/>
            </a:pPr>
            <a:r>
              <a:rPr lang="en-US" sz="2400" b="1" dirty="0">
                <a:solidFill>
                  <a:schemeClr val="accent1"/>
                </a:solidFill>
              </a:rPr>
              <a:t>S/246,531</a:t>
            </a:r>
            <a:endParaRPr lang="en-US" sz="1400" dirty="0"/>
          </a:p>
          <a:p>
            <a:pPr indent="0" marL="0">
              <a:buNone/>
            </a:pPr>
            <a:r>
              <a:rPr lang="en-US" sz="1300" dirty="0">
                <a:solidFill>
                  <a:schemeClr val="accent2"/>
                </a:solidFill>
              </a:rPr>
              <a:t>ventas con IGV</a:t>
            </a:r>
            <a:endParaRPr lang="en-US" sz="1400" dirty="0"/>
          </a:p>
        </p:txBody>
      </p:sp>
      <p:sp>
        <p:nvSpPr>
          <p:cNvPr id="8" name="Shape 5"/>
          <p:cNvSpPr/>
          <p:nvPr/>
        </p:nvSpPr>
        <p:spPr>
          <a:xfrm>
            <a:off x="8321040" y="2715768"/>
            <a:ext cx="3319272"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8549640" y="2715768"/>
            <a:ext cx="2953512" cy="1005840"/>
          </a:xfrm>
          <a:prstGeom prst="rect">
            <a:avLst/>
          </a:prstGeom>
          <a:noFill/>
          <a:ln/>
        </p:spPr>
        <p:txBody>
          <a:bodyPr wrap="square" lIns="0" tIns="0" rIns="0" bIns="0" rtlCol="0" anchor="ctr"/>
          <a:lstStyle/>
          <a:p>
            <a:pPr indent="0" marL="0">
              <a:buNone/>
            </a:pPr>
            <a:r>
              <a:rPr lang="en-US" sz="2400" b="1" dirty="0">
                <a:solidFill>
                  <a:schemeClr val="accent1"/>
                </a:solidFill>
              </a:rPr>
              <a:t>S/14,853</a:t>
            </a:r>
            <a:endParaRPr lang="en-US" sz="1400" dirty="0"/>
          </a:p>
          <a:p>
            <a:pPr indent="0" marL="0">
              <a:buNone/>
            </a:pPr>
            <a:r>
              <a:rPr lang="en-US" sz="1300" dirty="0">
                <a:solidFill>
                  <a:schemeClr val="accent2"/>
                </a:solidFill>
              </a:rPr>
              <a:t>resultado operativo (7.1 %)</a:t>
            </a:r>
            <a:endParaRPr lang="en-US" sz="1400" dirty="0"/>
          </a:p>
        </p:txBody>
      </p:sp>
      <p:sp>
        <p:nvSpPr>
          <p:cNvPr id="10" name="Shape 7"/>
          <p:cNvSpPr/>
          <p:nvPr/>
        </p:nvSpPr>
        <p:spPr>
          <a:xfrm>
            <a:off x="8321040" y="3877056"/>
            <a:ext cx="3319272" cy="1005840"/>
          </a:xfrm>
          <a:prstGeom prst="roundRect">
            <a:avLst>
              <a:gd name="adj" fmla="val 1090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11" name="Text 8"/>
          <p:cNvSpPr txBox="1"/>
          <p:nvPr/>
        </p:nvSpPr>
        <p:spPr>
          <a:xfrm>
            <a:off x="8549640" y="3877056"/>
            <a:ext cx="2953512" cy="1005840"/>
          </a:xfrm>
          <a:prstGeom prst="rect">
            <a:avLst/>
          </a:prstGeom>
          <a:noFill/>
          <a:ln/>
        </p:spPr>
        <p:txBody>
          <a:bodyPr wrap="square" lIns="0" tIns="0" rIns="0" bIns="0" rtlCol="0" anchor="ctr"/>
          <a:lstStyle/>
          <a:p>
            <a:pPr indent="0" marL="0">
              <a:buNone/>
            </a:pPr>
            <a:r>
              <a:rPr lang="en-US" sz="2400" b="1" dirty="0">
                <a:solidFill>
                  <a:schemeClr val="bg1"/>
                </a:solidFill>
              </a:rPr>
              <a:t>S/10,676</a:t>
            </a:r>
            <a:endParaRPr lang="en-US" sz="1400" dirty="0"/>
          </a:p>
          <a:p>
            <a:pPr indent="0" marL="0">
              <a:buNone/>
            </a:pPr>
            <a:r>
              <a:rPr lang="en-US" sz="1300" dirty="0">
                <a:solidFill>
                  <a:schemeClr val="bg1"/>
                </a:solidFill>
              </a:rPr>
              <a:t>utilidad neta, tras intereses e impuesto</a:t>
            </a:r>
            <a:endParaRPr lang="en-US" sz="1400" dirty="0"/>
          </a:p>
        </p:txBody>
      </p:sp>
      <p:sp>
        <p:nvSpPr>
          <p:cNvPr id="12" name="Shape 9"/>
          <p:cNvSpPr/>
          <p:nvPr/>
        </p:nvSpPr>
        <p:spPr>
          <a:xfrm>
            <a:off x="8321040" y="5038344"/>
            <a:ext cx="3319272" cy="1005840"/>
          </a:xfrm>
          <a:prstGeom prst="roundRect">
            <a:avLst>
              <a:gd name="adj" fmla="val 1090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0"/>
          <p:cNvSpPr txBox="1"/>
          <p:nvPr/>
        </p:nvSpPr>
        <p:spPr>
          <a:xfrm>
            <a:off x="8549640" y="5038344"/>
            <a:ext cx="2953512" cy="1005840"/>
          </a:xfrm>
          <a:prstGeom prst="rect">
            <a:avLst/>
          </a:prstGeom>
          <a:noFill/>
          <a:ln/>
        </p:spPr>
        <p:txBody>
          <a:bodyPr wrap="square" lIns="0" tIns="0" rIns="0" bIns="0" rtlCol="0" anchor="ctr"/>
          <a:lstStyle/>
          <a:p>
            <a:pPr indent="0" marL="0">
              <a:buNone/>
            </a:pPr>
            <a:r>
              <a:rPr lang="en-US" sz="2400" b="1" dirty="0">
                <a:solidFill>
                  <a:schemeClr val="accent1"/>
                </a:solidFill>
              </a:rPr>
              <a:t>Mes 24</a:t>
            </a:r>
            <a:endParaRPr lang="en-US" sz="1400" dirty="0"/>
          </a:p>
          <a:p>
            <a:pPr indent="0" marL="0">
              <a:buNone/>
            </a:pPr>
            <a:r>
              <a:rPr lang="en-US" sz="1300" dirty="0">
                <a:solidFill>
                  <a:schemeClr val="accent2"/>
                </a:solidFill>
              </a:rPr>
              <a:t>recuperamos los S/45,358 invertidos</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7 · MODELO CANVAS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modelo de negocio de AndiBite en una página</a:t>
            </a:r>
            <a:endParaRPr lang="en-US" sz="3400" dirty="0"/>
          </a:p>
        </p:txBody>
      </p:sp>
      <p:sp>
        <p:nvSpPr>
          <p:cNvPr id="4" name="Shape 2"/>
          <p:cNvSpPr/>
          <p:nvPr/>
        </p:nvSpPr>
        <p:spPr>
          <a:xfrm>
            <a:off x="548640" y="1417320"/>
            <a:ext cx="2159813" cy="3474720"/>
          </a:xfrm>
          <a:prstGeom prst="roundRect">
            <a:avLst>
              <a:gd name="adj" fmla="val 338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5" name="Image 0" descr="preencoded.png">    </p:cNvPr>
          <p:cNvPicPr>
            <a:picLocks noChangeAspect="1"/>
          </p:cNvPicPr>
          <p:nvPr/>
        </p:nvPicPr>
        <p:blipFill>
          <a:blip r:embed="rId1"/>
          <a:stretch>
            <a:fillRect/>
          </a:stretch>
        </p:blipFill>
        <p:spPr>
          <a:xfrm>
            <a:off x="658368" y="1527048"/>
            <a:ext cx="256032" cy="256032"/>
          </a:xfrm>
          <a:prstGeom prst="rect">
            <a:avLst/>
          </a:prstGeom>
        </p:spPr>
      </p:pic>
      <p:sp>
        <p:nvSpPr>
          <p:cNvPr id="6" name="Text 3"/>
          <p:cNvSpPr txBox="1"/>
          <p:nvPr/>
        </p:nvSpPr>
        <p:spPr>
          <a:xfrm>
            <a:off x="987552"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SOCIOS CLAVE</a:t>
            </a:r>
            <a:endParaRPr lang="en-US" sz="1100" dirty="0"/>
          </a:p>
        </p:txBody>
      </p:sp>
      <p:sp>
        <p:nvSpPr>
          <p:cNvPr id="7" name="Text 4"/>
          <p:cNvSpPr txBox="1"/>
          <p:nvPr/>
        </p:nvSpPr>
        <p:spPr>
          <a:xfrm>
            <a:off x="658368" y="1874520"/>
            <a:ext cx="1958645" cy="2944368"/>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Planta maquiladora con HACCP</a:t>
            </a:r>
            <a:endParaRPr lang="en-US" sz="1300" dirty="0"/>
          </a:p>
          <a:p>
            <a:pPr marL="127000" indent="-127000">
              <a:spcAft>
                <a:spcPts val="400"/>
              </a:spcAft>
              <a:buSzPct val="100000"/>
              <a:buChar char="•"/>
            </a:pPr>
            <a:r>
              <a:rPr lang="en-US" sz="1300" dirty="0">
                <a:solidFill>
                  <a:schemeClr val="tx1"/>
                </a:solidFill>
              </a:rPr>
              <a:t>Malls, Wong y Vivanda</a:t>
            </a:r>
            <a:endParaRPr lang="en-US" sz="1300" dirty="0"/>
          </a:p>
          <a:p>
            <a:pPr marL="127000" indent="-127000">
              <a:spcAft>
                <a:spcPts val="400"/>
              </a:spcAft>
              <a:buSzPct val="100000"/>
              <a:buChar char="•"/>
            </a:pPr>
            <a:r>
              <a:rPr lang="en-US" sz="1300" dirty="0">
                <a:solidFill>
                  <a:schemeClr val="tx1"/>
                </a:solidFill>
              </a:rPr>
              <a:t>Laboratorio INACAL</a:t>
            </a:r>
            <a:endParaRPr lang="en-US" sz="1300" dirty="0"/>
          </a:p>
          <a:p>
            <a:pPr marL="127000" indent="-127000">
              <a:spcAft>
                <a:spcPts val="400"/>
              </a:spcAft>
              <a:buSzPct val="100000"/>
              <a:buChar char="•"/>
            </a:pPr>
            <a:r>
              <a:rPr lang="en-US" sz="1300" dirty="0">
                <a:solidFill>
                  <a:schemeClr val="tx1"/>
                </a:solidFill>
              </a:rPr>
              <a:t>Sangrecita en polvo con RS</a:t>
            </a:r>
            <a:endParaRPr lang="en-US" sz="1300" dirty="0"/>
          </a:p>
          <a:p>
            <a:pPr marL="127000" indent="-127000">
              <a:spcAft>
                <a:spcPts val="400"/>
              </a:spcAft>
              <a:buSzPct val="100000"/>
              <a:buChar char="•"/>
            </a:pPr>
            <a:r>
              <a:rPr lang="en-US" sz="1300" dirty="0">
                <a:solidFill>
                  <a:schemeClr val="tx1"/>
                </a:solidFill>
              </a:rPr>
              <a:t>Desarrollador y Google Cloud</a:t>
            </a:r>
            <a:endParaRPr lang="en-US" sz="1300" dirty="0"/>
          </a:p>
          <a:p>
            <a:pPr marL="127000" indent="-127000">
              <a:spcAft>
                <a:spcPts val="400"/>
              </a:spcAft>
              <a:buSzPct val="100000"/>
              <a:buChar char="•"/>
            </a:pPr>
            <a:r>
              <a:rPr lang="en-US" sz="1300" dirty="0">
                <a:solidFill>
                  <a:schemeClr val="tx1"/>
                </a:solidFill>
              </a:rPr>
              <a:t>Ferias, colegios y naturistas</a:t>
            </a:r>
            <a:endParaRPr lang="en-US" sz="1300" dirty="0"/>
          </a:p>
        </p:txBody>
      </p:sp>
      <p:sp>
        <p:nvSpPr>
          <p:cNvPr id="8" name="Shape 5"/>
          <p:cNvSpPr/>
          <p:nvPr/>
        </p:nvSpPr>
        <p:spPr>
          <a:xfrm>
            <a:off x="2781605" y="1417320"/>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9" name="Image 1" descr="preencoded.png">    </p:cNvPr>
          <p:cNvPicPr>
            <a:picLocks noChangeAspect="1"/>
          </p:cNvPicPr>
          <p:nvPr/>
        </p:nvPicPr>
        <p:blipFill>
          <a:blip r:embed="rId2"/>
          <a:stretch>
            <a:fillRect/>
          </a:stretch>
        </p:blipFill>
        <p:spPr>
          <a:xfrm>
            <a:off x="2891333" y="1527048"/>
            <a:ext cx="256032" cy="256032"/>
          </a:xfrm>
          <a:prstGeom prst="rect">
            <a:avLst/>
          </a:prstGeom>
        </p:spPr>
      </p:pic>
      <p:sp>
        <p:nvSpPr>
          <p:cNvPr id="10" name="Text 6"/>
          <p:cNvSpPr txBox="1"/>
          <p:nvPr/>
        </p:nvSpPr>
        <p:spPr>
          <a:xfrm>
            <a:off x="3220517"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ACTIVIDADES CLAVE</a:t>
            </a:r>
            <a:endParaRPr lang="en-US" sz="1100" dirty="0"/>
          </a:p>
        </p:txBody>
      </p:sp>
      <p:sp>
        <p:nvSpPr>
          <p:cNvPr id="11" name="Text 7"/>
          <p:cNvSpPr txBox="1"/>
          <p:nvPr/>
        </p:nvSpPr>
        <p:spPr>
          <a:xfrm>
            <a:off x="2891333" y="1874520"/>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Producir con la planta</a:t>
            </a:r>
            <a:endParaRPr lang="en-US" sz="1300" dirty="0"/>
          </a:p>
          <a:p>
            <a:pPr marL="127000" indent="-127000">
              <a:spcAft>
                <a:spcPts val="400"/>
              </a:spcAft>
              <a:buSzPct val="100000"/>
              <a:buChar char="•"/>
            </a:pPr>
            <a:r>
              <a:rPr lang="en-US" sz="1300" dirty="0">
                <a:solidFill>
                  <a:schemeClr val="tx1"/>
                </a:solidFill>
              </a:rPr>
              <a:t>Hierro medido por lote</a:t>
            </a:r>
            <a:endParaRPr lang="en-US" sz="1300" dirty="0"/>
          </a:p>
          <a:p>
            <a:pPr marL="127000" indent="-127000">
              <a:spcAft>
                <a:spcPts val="400"/>
              </a:spcAft>
              <a:buSzPct val="100000"/>
              <a:buChar char="•"/>
            </a:pPr>
            <a:r>
              <a:rPr lang="en-US" sz="1300" dirty="0">
                <a:solidFill>
                  <a:schemeClr val="tx1"/>
                </a:solidFill>
              </a:rPr>
              <a:t>Venta en stands y ferias</a:t>
            </a:r>
            <a:endParaRPr lang="en-US" sz="1300" dirty="0"/>
          </a:p>
          <a:p>
            <a:pPr marL="127000" indent="-127000">
              <a:spcAft>
                <a:spcPts val="400"/>
              </a:spcAft>
              <a:buSzPct val="100000"/>
              <a:buChar char="•"/>
            </a:pPr>
            <a:r>
              <a:rPr lang="en-US" sz="1300" dirty="0">
                <a:solidFill>
                  <a:schemeClr val="tx1"/>
                </a:solidFill>
              </a:rPr>
              <a:t>App y recompra</a:t>
            </a:r>
            <a:endParaRPr lang="en-US" sz="1300" dirty="0"/>
          </a:p>
        </p:txBody>
      </p:sp>
      <p:sp>
        <p:nvSpPr>
          <p:cNvPr id="12" name="Shape 8"/>
          <p:cNvSpPr/>
          <p:nvPr/>
        </p:nvSpPr>
        <p:spPr>
          <a:xfrm>
            <a:off x="2781605" y="3191256"/>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13" name="Image 2" descr="preencoded.png">    </p:cNvPr>
          <p:cNvPicPr>
            <a:picLocks noChangeAspect="1"/>
          </p:cNvPicPr>
          <p:nvPr/>
        </p:nvPicPr>
        <p:blipFill>
          <a:blip r:embed="rId3"/>
          <a:stretch>
            <a:fillRect/>
          </a:stretch>
        </p:blipFill>
        <p:spPr>
          <a:xfrm>
            <a:off x="2891333" y="3300984"/>
            <a:ext cx="256032" cy="256032"/>
          </a:xfrm>
          <a:prstGeom prst="rect">
            <a:avLst/>
          </a:prstGeom>
        </p:spPr>
      </p:pic>
      <p:sp>
        <p:nvSpPr>
          <p:cNvPr id="14" name="Text 9"/>
          <p:cNvSpPr txBox="1"/>
          <p:nvPr/>
        </p:nvSpPr>
        <p:spPr>
          <a:xfrm>
            <a:off x="3220517" y="3282696"/>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RECURSOS CLAVE</a:t>
            </a:r>
            <a:endParaRPr lang="en-US" sz="1100" dirty="0"/>
          </a:p>
        </p:txBody>
      </p:sp>
      <p:sp>
        <p:nvSpPr>
          <p:cNvPr id="15" name="Text 10"/>
          <p:cNvSpPr txBox="1"/>
          <p:nvPr/>
        </p:nvSpPr>
        <p:spPr>
          <a:xfrm>
            <a:off x="2891333" y="3648456"/>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Fórmula de 3 sabores</a:t>
            </a:r>
            <a:endParaRPr lang="en-US" sz="1300" dirty="0"/>
          </a:p>
          <a:p>
            <a:pPr marL="127000" indent="-127000">
              <a:spcAft>
                <a:spcPts val="400"/>
              </a:spcAft>
              <a:buSzPct val="100000"/>
              <a:buChar char="•"/>
            </a:pPr>
            <a:r>
              <a:rPr lang="en-US" sz="1300" dirty="0">
                <a:solidFill>
                  <a:schemeClr val="tx1"/>
                </a:solidFill>
              </a:rPr>
              <a:t>Marca y registro sanitario</a:t>
            </a:r>
            <a:endParaRPr lang="en-US" sz="1300" dirty="0"/>
          </a:p>
          <a:p>
            <a:pPr marL="127000" indent="-127000">
              <a:spcAft>
                <a:spcPts val="400"/>
              </a:spcAft>
              <a:buSzPct val="100000"/>
              <a:buChar char="•"/>
            </a:pPr>
            <a:r>
              <a:rPr lang="en-US" sz="1300" dirty="0">
                <a:solidFill>
                  <a:schemeClr val="tx1"/>
                </a:solidFill>
              </a:rPr>
              <a:t>App Andi y base de clientes</a:t>
            </a:r>
            <a:endParaRPr lang="en-US" sz="1300" dirty="0"/>
          </a:p>
          <a:p>
            <a:pPr marL="127000" indent="-127000">
              <a:spcAft>
                <a:spcPts val="400"/>
              </a:spcAft>
              <a:buSzPct val="100000"/>
              <a:buChar char="•"/>
            </a:pPr>
            <a:r>
              <a:rPr lang="en-US" sz="1300" dirty="0">
                <a:solidFill>
                  <a:schemeClr val="tx1"/>
                </a:solidFill>
              </a:rPr>
              <a:t>Equipo pagado y S/45,358</a:t>
            </a:r>
            <a:endParaRPr lang="en-US" sz="1300" dirty="0"/>
          </a:p>
        </p:txBody>
      </p:sp>
      <p:sp>
        <p:nvSpPr>
          <p:cNvPr id="16" name="Shape 11"/>
          <p:cNvSpPr/>
          <p:nvPr/>
        </p:nvSpPr>
        <p:spPr>
          <a:xfrm>
            <a:off x="5014570" y="1417320"/>
            <a:ext cx="2159813" cy="3474720"/>
          </a:xfrm>
          <a:prstGeom prst="roundRect">
            <a:avLst>
              <a:gd name="adj" fmla="val 3387"/>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pic>
        <p:nvPicPr>
          <p:cNvPr id="17" name="Image 3" descr="preencoded.png">    </p:cNvPr>
          <p:cNvPicPr>
            <a:picLocks noChangeAspect="1"/>
          </p:cNvPicPr>
          <p:nvPr/>
        </p:nvPicPr>
        <p:blipFill>
          <a:blip r:embed="rId4"/>
          <a:stretch>
            <a:fillRect/>
          </a:stretch>
        </p:blipFill>
        <p:spPr>
          <a:xfrm>
            <a:off x="5124298" y="1527048"/>
            <a:ext cx="256032" cy="256032"/>
          </a:xfrm>
          <a:prstGeom prst="rect">
            <a:avLst/>
          </a:prstGeom>
        </p:spPr>
      </p:pic>
      <p:sp>
        <p:nvSpPr>
          <p:cNvPr id="18" name="Text 12"/>
          <p:cNvSpPr txBox="1"/>
          <p:nvPr/>
        </p:nvSpPr>
        <p:spPr>
          <a:xfrm>
            <a:off x="5453482"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bg1"/>
                </a:solidFill>
              </a:rPr>
              <a:t>PROPUESTA DE VALOR</a:t>
            </a:r>
            <a:endParaRPr lang="en-US" sz="1100" dirty="0"/>
          </a:p>
        </p:txBody>
      </p:sp>
      <p:sp>
        <p:nvSpPr>
          <p:cNvPr id="19" name="Text 13"/>
          <p:cNvSpPr txBox="1"/>
          <p:nvPr/>
        </p:nvSpPr>
        <p:spPr>
          <a:xfrm>
            <a:off x="5124298" y="1874520"/>
            <a:ext cx="1958645" cy="2944368"/>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bg1"/>
                </a:solidFill>
              </a:rPr>
              <a:t>Mini brownie de 20 g con sangrecita</a:t>
            </a:r>
            <a:endParaRPr lang="en-US" sz="1300" dirty="0"/>
          </a:p>
          <a:p>
            <a:pPr marL="127000" indent="-127000">
              <a:spcAft>
                <a:spcPts val="400"/>
              </a:spcAft>
              <a:buSzPct val="100000"/>
              <a:buChar char="•"/>
            </a:pPr>
            <a:r>
              <a:rPr lang="en-US" sz="1300" dirty="0">
                <a:solidFill>
                  <a:schemeClr val="bg1"/>
                </a:solidFill>
              </a:rPr>
              <a:t>Hierro medido por lote</a:t>
            </a:r>
            <a:endParaRPr lang="en-US" sz="1300" dirty="0"/>
          </a:p>
          <a:p>
            <a:pPr marL="127000" indent="-127000">
              <a:spcAft>
                <a:spcPts val="400"/>
              </a:spcAft>
              <a:buSzPct val="100000"/>
              <a:buChar char="•"/>
            </a:pPr>
            <a:r>
              <a:rPr lang="en-US" sz="1300" dirty="0">
                <a:solidFill>
                  <a:schemeClr val="bg1"/>
                </a:solidFill>
              </a:rPr>
              <a:t>App para padres y niños</a:t>
            </a:r>
            <a:endParaRPr lang="en-US" sz="1300" dirty="0"/>
          </a:p>
          <a:p>
            <a:pPr marL="127000" indent="-127000">
              <a:spcAft>
                <a:spcPts val="400"/>
              </a:spcAft>
              <a:buSzPct val="100000"/>
              <a:buChar char="•"/>
            </a:pPr>
            <a:r>
              <a:rPr lang="en-US" sz="1300" dirty="0">
                <a:solidFill>
                  <a:schemeClr val="bg1"/>
                </a:solidFill>
              </a:rPr>
              <a:t>3 sabores en un pack</a:t>
            </a:r>
            <a:endParaRPr lang="en-US" sz="1300" dirty="0"/>
          </a:p>
          <a:p>
            <a:pPr marL="127000" indent="-127000">
              <a:spcAft>
                <a:spcPts val="400"/>
              </a:spcAft>
              <a:buSzPct val="100000"/>
              <a:buChar char="•"/>
            </a:pPr>
            <a:r>
              <a:rPr lang="en-US" sz="1300" dirty="0">
                <a:solidFill>
                  <a:schemeClr val="bg1"/>
                </a:solidFill>
              </a:rPr>
              <a:t>Se prueba en el stand</a:t>
            </a:r>
            <a:endParaRPr lang="en-US" sz="1300" dirty="0"/>
          </a:p>
        </p:txBody>
      </p:sp>
      <p:sp>
        <p:nvSpPr>
          <p:cNvPr id="20" name="Shape 14"/>
          <p:cNvSpPr/>
          <p:nvPr/>
        </p:nvSpPr>
        <p:spPr>
          <a:xfrm>
            <a:off x="7247534" y="1417320"/>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1" name="Image 4" descr="preencoded.png">    </p:cNvPr>
          <p:cNvPicPr>
            <a:picLocks noChangeAspect="1"/>
          </p:cNvPicPr>
          <p:nvPr/>
        </p:nvPicPr>
        <p:blipFill>
          <a:blip r:embed="rId5"/>
          <a:stretch>
            <a:fillRect/>
          </a:stretch>
        </p:blipFill>
        <p:spPr>
          <a:xfrm>
            <a:off x="7357262" y="1527048"/>
            <a:ext cx="256032" cy="256032"/>
          </a:xfrm>
          <a:prstGeom prst="rect">
            <a:avLst/>
          </a:prstGeom>
        </p:spPr>
      </p:pic>
      <p:sp>
        <p:nvSpPr>
          <p:cNvPr id="22" name="Text 15"/>
          <p:cNvSpPr txBox="1"/>
          <p:nvPr/>
        </p:nvSpPr>
        <p:spPr>
          <a:xfrm>
            <a:off x="7686446"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RELACIÓN CON CLIENTES</a:t>
            </a:r>
            <a:endParaRPr lang="en-US" sz="1100" dirty="0"/>
          </a:p>
        </p:txBody>
      </p:sp>
      <p:sp>
        <p:nvSpPr>
          <p:cNvPr id="23" name="Text 16"/>
          <p:cNvSpPr txBox="1"/>
          <p:nvPr/>
        </p:nvSpPr>
        <p:spPr>
          <a:xfrm>
            <a:off x="7357262" y="1874520"/>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Degustación en el stand</a:t>
            </a:r>
            <a:endParaRPr lang="en-US" sz="1300" dirty="0"/>
          </a:p>
          <a:p>
            <a:pPr marL="127000" indent="-127000">
              <a:spcAft>
                <a:spcPts val="400"/>
              </a:spcAft>
              <a:buSzPct val="100000"/>
              <a:buChar char="•"/>
            </a:pPr>
            <a:r>
              <a:rPr lang="en-US" sz="1300" dirty="0">
                <a:solidFill>
                  <a:schemeClr val="tx1"/>
                </a:solidFill>
              </a:rPr>
              <a:t>App: lote, loncheras y aviso</a:t>
            </a:r>
            <a:endParaRPr lang="en-US" sz="1300" dirty="0"/>
          </a:p>
          <a:p>
            <a:pPr marL="127000" indent="-127000">
              <a:spcAft>
                <a:spcPts val="400"/>
              </a:spcAft>
              <a:buSzPct val="100000"/>
              <a:buChar char="•"/>
            </a:pPr>
            <a:r>
              <a:rPr lang="en-US" sz="1300" dirty="0">
                <a:solidFill>
                  <a:schemeClr val="tx1"/>
                </a:solidFill>
              </a:rPr>
              <a:t>Asistencia por WhatsApp</a:t>
            </a:r>
            <a:endParaRPr lang="en-US" sz="1300" dirty="0"/>
          </a:p>
          <a:p>
            <a:pPr marL="127000" indent="-127000">
              <a:spcAft>
                <a:spcPts val="400"/>
              </a:spcAft>
              <a:buSzPct val="100000"/>
              <a:buChar char="•"/>
            </a:pPr>
            <a:r>
              <a:rPr lang="en-US" sz="1300" dirty="0">
                <a:solidFill>
                  <a:schemeClr val="tx1"/>
                </a:solidFill>
              </a:rPr>
              <a:t>Mamá embajadora</a:t>
            </a:r>
            <a:endParaRPr lang="en-US" sz="1300" dirty="0"/>
          </a:p>
        </p:txBody>
      </p:sp>
      <p:sp>
        <p:nvSpPr>
          <p:cNvPr id="24" name="Shape 17"/>
          <p:cNvSpPr/>
          <p:nvPr/>
        </p:nvSpPr>
        <p:spPr>
          <a:xfrm>
            <a:off x="7247534" y="3191256"/>
            <a:ext cx="2159813" cy="1700784"/>
          </a:xfrm>
          <a:prstGeom prst="roundRect">
            <a:avLst>
              <a:gd name="adj" fmla="val 4301"/>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5" name="Image 5" descr="preencoded.png">    </p:cNvPr>
          <p:cNvPicPr>
            <a:picLocks noChangeAspect="1"/>
          </p:cNvPicPr>
          <p:nvPr/>
        </p:nvPicPr>
        <p:blipFill>
          <a:blip r:embed="rId6"/>
          <a:stretch>
            <a:fillRect/>
          </a:stretch>
        </p:blipFill>
        <p:spPr>
          <a:xfrm>
            <a:off x="7357262" y="3300984"/>
            <a:ext cx="256032" cy="256032"/>
          </a:xfrm>
          <a:prstGeom prst="rect">
            <a:avLst/>
          </a:prstGeom>
        </p:spPr>
      </p:pic>
      <p:sp>
        <p:nvSpPr>
          <p:cNvPr id="26" name="Text 18"/>
          <p:cNvSpPr txBox="1"/>
          <p:nvPr/>
        </p:nvSpPr>
        <p:spPr>
          <a:xfrm>
            <a:off x="7686446" y="3282696"/>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CANALES</a:t>
            </a:r>
            <a:endParaRPr lang="en-US" sz="1100" dirty="0"/>
          </a:p>
        </p:txBody>
      </p:sp>
      <p:sp>
        <p:nvSpPr>
          <p:cNvPr id="27" name="Text 19"/>
          <p:cNvSpPr txBox="1"/>
          <p:nvPr/>
        </p:nvSpPr>
        <p:spPr>
          <a:xfrm>
            <a:off x="7357262" y="3648456"/>
            <a:ext cx="1958645" cy="1170432"/>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Stands y carrito 43 %</a:t>
            </a:r>
            <a:endParaRPr lang="en-US" sz="1300" dirty="0"/>
          </a:p>
          <a:p>
            <a:pPr marL="127000" indent="-127000">
              <a:spcAft>
                <a:spcPts val="400"/>
              </a:spcAft>
              <a:buSzPct val="100000"/>
              <a:buChar char="•"/>
            </a:pPr>
            <a:r>
              <a:rPr lang="en-US" sz="1300" dirty="0">
                <a:solidFill>
                  <a:schemeClr val="tx1"/>
                </a:solidFill>
              </a:rPr>
              <a:t>WhatsApp 17 %</a:t>
            </a:r>
            <a:endParaRPr lang="en-US" sz="1300" dirty="0"/>
          </a:p>
          <a:p>
            <a:pPr marL="127000" indent="-127000">
              <a:spcAft>
                <a:spcPts val="400"/>
              </a:spcAft>
              <a:buSzPct val="100000"/>
              <a:buChar char="•"/>
            </a:pPr>
            <a:r>
              <a:rPr lang="en-US" sz="1300" dirty="0">
                <a:solidFill>
                  <a:schemeClr val="tx1"/>
                </a:solidFill>
              </a:rPr>
              <a:t>Ferias 15 %</a:t>
            </a:r>
            <a:endParaRPr lang="en-US" sz="1300" dirty="0"/>
          </a:p>
          <a:p>
            <a:pPr marL="127000" indent="-127000">
              <a:spcAft>
                <a:spcPts val="400"/>
              </a:spcAft>
              <a:buSzPct val="100000"/>
              <a:buChar char="•"/>
            </a:pPr>
            <a:r>
              <a:rPr lang="en-US" sz="1300" dirty="0">
                <a:solidFill>
                  <a:schemeClr val="tx1"/>
                </a:solidFill>
              </a:rPr>
              <a:t>Colegios y naturistas 24 %</a:t>
            </a:r>
            <a:endParaRPr lang="en-US" sz="1300" dirty="0"/>
          </a:p>
        </p:txBody>
      </p:sp>
      <p:sp>
        <p:nvSpPr>
          <p:cNvPr id="28" name="Shape 20"/>
          <p:cNvSpPr/>
          <p:nvPr/>
        </p:nvSpPr>
        <p:spPr>
          <a:xfrm>
            <a:off x="9480499" y="1417320"/>
            <a:ext cx="2159813" cy="3474720"/>
          </a:xfrm>
          <a:prstGeom prst="roundRect">
            <a:avLst>
              <a:gd name="adj" fmla="val 338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29" name="Image 6" descr="preencoded.png">    </p:cNvPr>
          <p:cNvPicPr>
            <a:picLocks noChangeAspect="1"/>
          </p:cNvPicPr>
          <p:nvPr/>
        </p:nvPicPr>
        <p:blipFill>
          <a:blip r:embed="rId7"/>
          <a:stretch>
            <a:fillRect/>
          </a:stretch>
        </p:blipFill>
        <p:spPr>
          <a:xfrm>
            <a:off x="9590227" y="1527048"/>
            <a:ext cx="256032" cy="256032"/>
          </a:xfrm>
          <a:prstGeom prst="rect">
            <a:avLst/>
          </a:prstGeom>
        </p:spPr>
      </p:pic>
      <p:sp>
        <p:nvSpPr>
          <p:cNvPr id="30" name="Text 21"/>
          <p:cNvSpPr txBox="1"/>
          <p:nvPr/>
        </p:nvSpPr>
        <p:spPr>
          <a:xfrm>
            <a:off x="9919411" y="1508760"/>
            <a:ext cx="1656893" cy="292608"/>
          </a:xfrm>
          <a:prstGeom prst="rect">
            <a:avLst/>
          </a:prstGeom>
          <a:noFill/>
          <a:ln/>
        </p:spPr>
        <p:txBody>
          <a:bodyPr wrap="square" lIns="0" tIns="0" rIns="0" bIns="0" rtlCol="0" anchor="ctr"/>
          <a:lstStyle/>
          <a:p>
            <a:pPr indent="0" marL="0">
              <a:buNone/>
            </a:pPr>
            <a:r>
              <a:rPr lang="en-US" sz="1100" b="1" spc="100" kern="0" dirty="0">
                <a:solidFill>
                  <a:schemeClr val="tx2"/>
                </a:solidFill>
              </a:rPr>
              <a:t>SEGMENTOS</a:t>
            </a:r>
            <a:endParaRPr lang="en-US" sz="1100" dirty="0"/>
          </a:p>
        </p:txBody>
      </p:sp>
      <p:sp>
        <p:nvSpPr>
          <p:cNvPr id="31" name="Text 22"/>
          <p:cNvSpPr txBox="1"/>
          <p:nvPr/>
        </p:nvSpPr>
        <p:spPr>
          <a:xfrm>
            <a:off x="9590227" y="1874520"/>
            <a:ext cx="1958645" cy="2944368"/>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Padres A/B de 32 a 45 años</a:t>
            </a:r>
            <a:endParaRPr lang="en-US" sz="1300" dirty="0"/>
          </a:p>
          <a:p>
            <a:pPr marL="127000" indent="-127000">
              <a:spcAft>
                <a:spcPts val="400"/>
              </a:spcAft>
              <a:buSzPct val="100000"/>
              <a:buChar char="•"/>
            </a:pPr>
            <a:r>
              <a:rPr lang="en-US" sz="1300" dirty="0">
                <a:solidFill>
                  <a:schemeClr val="tx1"/>
                </a:solidFill>
              </a:rPr>
              <a:t>Hijos de 4 a 11 en colegio privado</a:t>
            </a:r>
            <a:endParaRPr lang="en-US" sz="1300" dirty="0"/>
          </a:p>
          <a:p>
            <a:pPr marL="127000" indent="-127000">
              <a:spcAft>
                <a:spcPts val="400"/>
              </a:spcAft>
              <a:buSzPct val="100000"/>
              <a:buChar char="•"/>
            </a:pPr>
            <a:r>
              <a:rPr lang="en-US" sz="1300" dirty="0">
                <a:solidFill>
                  <a:schemeClr val="tx1"/>
                </a:solidFill>
              </a:rPr>
              <a:t>46,000 hogares en Lima Top y Moderna</a:t>
            </a:r>
            <a:endParaRPr lang="en-US" sz="1300" dirty="0"/>
          </a:p>
          <a:p>
            <a:pPr marL="127000" indent="-127000">
              <a:spcAft>
                <a:spcPts val="400"/>
              </a:spcAft>
              <a:buSzPct val="100000"/>
              <a:buChar char="•"/>
            </a:pPr>
            <a:r>
              <a:rPr lang="en-US" sz="1300" dirty="0">
                <a:solidFill>
                  <a:schemeClr val="tx1"/>
                </a:solidFill>
              </a:rPr>
              <a:t>B2B: quioscos y naturistas</a:t>
            </a:r>
            <a:endParaRPr lang="en-US" sz="1300" dirty="0"/>
          </a:p>
        </p:txBody>
      </p:sp>
      <p:sp>
        <p:nvSpPr>
          <p:cNvPr id="32" name="Shape 23"/>
          <p:cNvSpPr/>
          <p:nvPr/>
        </p:nvSpPr>
        <p:spPr>
          <a:xfrm>
            <a:off x="548640" y="4965192"/>
            <a:ext cx="5545836" cy="1298448"/>
          </a:xfrm>
          <a:prstGeom prst="roundRect">
            <a:avLst>
              <a:gd name="adj" fmla="val 5634"/>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33" name="Image 7" descr="preencoded.png">    </p:cNvPr>
          <p:cNvPicPr>
            <a:picLocks noChangeAspect="1"/>
          </p:cNvPicPr>
          <p:nvPr/>
        </p:nvPicPr>
        <p:blipFill>
          <a:blip r:embed="rId8"/>
          <a:stretch>
            <a:fillRect/>
          </a:stretch>
        </p:blipFill>
        <p:spPr>
          <a:xfrm>
            <a:off x="658368" y="5074920"/>
            <a:ext cx="256032" cy="256032"/>
          </a:xfrm>
          <a:prstGeom prst="rect">
            <a:avLst/>
          </a:prstGeom>
        </p:spPr>
      </p:pic>
      <p:sp>
        <p:nvSpPr>
          <p:cNvPr id="34" name="Text 24"/>
          <p:cNvSpPr txBox="1"/>
          <p:nvPr/>
        </p:nvSpPr>
        <p:spPr>
          <a:xfrm>
            <a:off x="987552" y="5056632"/>
            <a:ext cx="5042916" cy="292608"/>
          </a:xfrm>
          <a:prstGeom prst="rect">
            <a:avLst/>
          </a:prstGeom>
          <a:noFill/>
          <a:ln/>
        </p:spPr>
        <p:txBody>
          <a:bodyPr wrap="square" lIns="0" tIns="0" rIns="0" bIns="0" rtlCol="0" anchor="ctr"/>
          <a:lstStyle/>
          <a:p>
            <a:pPr indent="0" marL="0">
              <a:buNone/>
            </a:pPr>
            <a:r>
              <a:rPr lang="en-US" sz="1100" b="1" spc="100" kern="0" dirty="0">
                <a:solidFill>
                  <a:schemeClr val="tx2"/>
                </a:solidFill>
              </a:rPr>
              <a:t>ESTRUCTURA DE COSTOS</a:t>
            </a:r>
            <a:endParaRPr lang="en-US" sz="1100" dirty="0"/>
          </a:p>
        </p:txBody>
      </p:sp>
      <p:sp>
        <p:nvSpPr>
          <p:cNvPr id="35" name="Text 25"/>
          <p:cNvSpPr txBox="1"/>
          <p:nvPr/>
        </p:nvSpPr>
        <p:spPr>
          <a:xfrm>
            <a:off x="658368" y="5422392"/>
            <a:ext cx="5344668" cy="768096"/>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Producción S/1.66 por brownie · fijos S/2,753 al mes, app incluida</a:t>
            </a:r>
            <a:endParaRPr lang="en-US" sz="1300" dirty="0"/>
          </a:p>
          <a:p>
            <a:pPr marL="127000" indent="-127000">
              <a:spcAft>
                <a:spcPts val="400"/>
              </a:spcAft>
              <a:buSzPct val="100000"/>
              <a:buChar char="•"/>
            </a:pPr>
            <a:r>
              <a:rPr lang="en-US" sz="1300" dirty="0">
                <a:solidFill>
                  <a:schemeClr val="tx1"/>
                </a:solidFill>
              </a:rPr>
              <a:t>Stands y ferias S/45,870 al año · equilibrio 3,035 brownies al mes</a:t>
            </a:r>
            <a:endParaRPr lang="en-US" sz="1300" dirty="0"/>
          </a:p>
        </p:txBody>
      </p:sp>
      <p:sp>
        <p:nvSpPr>
          <p:cNvPr id="36" name="Shape 26"/>
          <p:cNvSpPr/>
          <p:nvPr/>
        </p:nvSpPr>
        <p:spPr>
          <a:xfrm>
            <a:off x="6167628" y="4965192"/>
            <a:ext cx="5472684" cy="1298448"/>
          </a:xfrm>
          <a:prstGeom prst="roundRect">
            <a:avLst>
              <a:gd name="adj" fmla="val 5634"/>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pic>
        <p:nvPicPr>
          <p:cNvPr id="37" name="Image 8" descr="preencoded.png">    </p:cNvPr>
          <p:cNvPicPr>
            <a:picLocks noChangeAspect="1"/>
          </p:cNvPicPr>
          <p:nvPr/>
        </p:nvPicPr>
        <p:blipFill>
          <a:blip r:embed="rId9"/>
          <a:stretch>
            <a:fillRect/>
          </a:stretch>
        </p:blipFill>
        <p:spPr>
          <a:xfrm>
            <a:off x="6277356" y="5074920"/>
            <a:ext cx="256032" cy="256032"/>
          </a:xfrm>
          <a:prstGeom prst="rect">
            <a:avLst/>
          </a:prstGeom>
        </p:spPr>
      </p:pic>
      <p:sp>
        <p:nvSpPr>
          <p:cNvPr id="38" name="Text 27"/>
          <p:cNvSpPr txBox="1"/>
          <p:nvPr/>
        </p:nvSpPr>
        <p:spPr>
          <a:xfrm>
            <a:off x="6606540" y="5056632"/>
            <a:ext cx="4969764" cy="292608"/>
          </a:xfrm>
          <a:prstGeom prst="rect">
            <a:avLst/>
          </a:prstGeom>
          <a:noFill/>
          <a:ln/>
        </p:spPr>
        <p:txBody>
          <a:bodyPr wrap="square" lIns="0" tIns="0" rIns="0" bIns="0" rtlCol="0" anchor="ctr"/>
          <a:lstStyle/>
          <a:p>
            <a:pPr indent="0" marL="0">
              <a:buNone/>
            </a:pPr>
            <a:r>
              <a:rPr lang="en-US" sz="1100" b="1" spc="100" kern="0" dirty="0">
                <a:solidFill>
                  <a:schemeClr val="tx2"/>
                </a:solidFill>
              </a:rPr>
              <a:t>FUENTES DE INGRESO</a:t>
            </a:r>
            <a:endParaRPr lang="en-US" sz="1100" dirty="0"/>
          </a:p>
        </p:txBody>
      </p:sp>
      <p:sp>
        <p:nvSpPr>
          <p:cNvPr id="39" name="Text 28"/>
          <p:cNvSpPr txBox="1"/>
          <p:nvPr/>
        </p:nvSpPr>
        <p:spPr>
          <a:xfrm>
            <a:off x="6277356" y="5422392"/>
            <a:ext cx="5271516" cy="768096"/>
          </a:xfrm>
          <a:prstGeom prst="rect">
            <a:avLst/>
          </a:prstGeom>
          <a:noFill/>
          <a:ln/>
        </p:spPr>
        <p:txBody>
          <a:bodyPr wrap="square" lIns="0" tIns="0" rIns="0" bIns="0" rtlCol="0" anchor="t"/>
          <a:lstStyle/>
          <a:p>
            <a:pPr marL="127000" indent="-127000">
              <a:spcAft>
                <a:spcPts val="400"/>
              </a:spcAft>
              <a:buSzPct val="100000"/>
              <a:buChar char="•"/>
            </a:pPr>
            <a:r>
              <a:rPr lang="en-US" sz="1300" dirty="0">
                <a:solidFill>
                  <a:schemeClr val="tx1"/>
                </a:solidFill>
              </a:rPr>
              <a:t>Stand: unidad S/6.00 · pack de 6 S/27.90 · WhatsApp S/26.90</a:t>
            </a:r>
            <a:endParaRPr lang="en-US" sz="1300" dirty="0"/>
          </a:p>
          <a:p>
            <a:pPr marL="127000" indent="-127000">
              <a:spcAft>
                <a:spcPts val="400"/>
              </a:spcAft>
              <a:buSzPct val="100000"/>
              <a:buChar char="•"/>
            </a:pPr>
            <a:r>
              <a:rPr lang="en-US" sz="1300" dirty="0">
                <a:solidFill>
                  <a:schemeClr val="tx1"/>
                </a:solidFill>
              </a:rPr>
              <a:t>Año 1: S/246,531 con IGV · utilidad neta S/10,676</a:t>
            </a:r>
            <a:endParaRPr lang="en-US" sz="1300" dirty="0"/>
          </a:p>
        </p:txBody>
      </p:sp>
      <p:sp>
        <p:nvSpPr>
          <p:cNvPr id="40" name="Text 29"/>
          <p:cNvSpPr txBox="1"/>
          <p:nvPr/>
        </p:nvSpPr>
        <p:spPr>
          <a:xfrm>
            <a:off x="5124298" y="4297680"/>
            <a:ext cx="1940357" cy="502920"/>
          </a:xfrm>
          <a:prstGeom prst="rect">
            <a:avLst/>
          </a:prstGeom>
          <a:noFill/>
          <a:ln/>
        </p:spPr>
        <p:txBody>
          <a:bodyPr wrap="square" lIns="0" tIns="0" rIns="0" bIns="0" rtlCol="0" anchor="t"/>
          <a:lstStyle/>
          <a:p>
            <a:pPr indent="0" marL="0">
              <a:buNone/>
            </a:pPr>
            <a:r>
              <a:rPr lang="en-US" sz="1300" b="1" i="1" dirty="0">
                <a:solidFill>
                  <a:schemeClr val="accent3"/>
                </a:solidFill>
              </a:rPr>
              <a:t>"Hierro medido. Sabor a brownie."</a:t>
            </a:r>
            <a:endParaRPr lang="en-US" sz="13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08</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Mapa de propuesta de valor</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Perfil del cliente · Mapa de valor · Encaje · App Andi, Misión Hierro · Competencia</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MAPA DE PROPUESTA DE VALOR</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que ofrecemos encaja con lo que vive el cliente</a:t>
            </a:r>
            <a:endParaRPr lang="en-US" sz="3400" dirty="0"/>
          </a:p>
        </p:txBody>
      </p:sp>
      <p:sp>
        <p:nvSpPr>
          <p:cNvPr id="4" name="Shape 2"/>
          <p:cNvSpPr/>
          <p:nvPr/>
        </p:nvSpPr>
        <p:spPr>
          <a:xfrm>
            <a:off x="640080" y="1463040"/>
            <a:ext cx="4480560" cy="4480560"/>
          </a:xfrm>
          <a:prstGeom prst="roundRect">
            <a:avLst>
              <a:gd name="adj" fmla="val 2041"/>
            </a:avLst>
          </a:prstGeom>
          <a:solidFill>
            <a:schemeClr val="bg1"/>
          </a:solidFill>
          <a:ln w="25400">
            <a:solidFill>
              <a:schemeClr val="accent2"/>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2880360" y="1463040"/>
            <a:ext cx="0" cy="4480560"/>
          </a:xfrm>
          <a:prstGeom prst="line">
            <a:avLst/>
          </a:prstGeom>
          <a:noFill/>
          <a:ln w="19050">
            <a:solidFill>
              <a:schemeClr val="accent2"/>
            </a:solidFill>
            <a:prstDash val="solid"/>
          </a:ln>
        </p:spPr>
      </p:sp>
      <p:sp>
        <p:nvSpPr>
          <p:cNvPr id="6" name="Shape 4"/>
          <p:cNvSpPr/>
          <p:nvPr/>
        </p:nvSpPr>
        <p:spPr>
          <a:xfrm>
            <a:off x="2880360" y="3703320"/>
            <a:ext cx="2240280" cy="0"/>
          </a:xfrm>
          <a:prstGeom prst="line">
            <a:avLst/>
          </a:prstGeom>
          <a:noFill/>
          <a:ln w="19050">
            <a:solidFill>
              <a:schemeClr val="accent2"/>
            </a:solidFill>
            <a:prstDash val="solid"/>
          </a:ln>
        </p:spPr>
      </p:sp>
      <p:sp>
        <p:nvSpPr>
          <p:cNvPr id="7" name="Shape 5"/>
          <p:cNvSpPr/>
          <p:nvPr/>
        </p:nvSpPr>
        <p:spPr>
          <a:xfrm>
            <a:off x="7178040" y="1463040"/>
            <a:ext cx="4480560" cy="4480560"/>
          </a:xfrm>
          <a:prstGeom prst="ellipse">
            <a:avLst/>
          </a:prstGeom>
          <a:solidFill>
            <a:schemeClr val="bg1"/>
          </a:solidFill>
          <a:ln w="25400">
            <a:solidFill>
              <a:schemeClr val="accent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9418320" y="1463040"/>
            <a:ext cx="0" cy="4480560"/>
          </a:xfrm>
          <a:prstGeom prst="line">
            <a:avLst/>
          </a:prstGeom>
          <a:noFill/>
          <a:ln w="19050">
            <a:solidFill>
              <a:schemeClr val="accent1"/>
            </a:solidFill>
            <a:prstDash val="solid"/>
          </a:ln>
        </p:spPr>
      </p:sp>
      <p:sp>
        <p:nvSpPr>
          <p:cNvPr id="9" name="Shape 7"/>
          <p:cNvSpPr/>
          <p:nvPr/>
        </p:nvSpPr>
        <p:spPr>
          <a:xfrm>
            <a:off x="7178040" y="3703320"/>
            <a:ext cx="2240280" cy="0"/>
          </a:xfrm>
          <a:prstGeom prst="line">
            <a:avLst/>
          </a:prstGeom>
          <a:noFill/>
          <a:ln w="19050">
            <a:solidFill>
              <a:schemeClr val="accent1"/>
            </a:solidFill>
            <a:prstDash val="solid"/>
          </a:ln>
        </p:spPr>
      </p:sp>
      <p:pic>
        <p:nvPicPr>
          <p:cNvPr id="10" name="Image 0" descr="preencoded.png">    </p:cNvPr>
          <p:cNvPicPr>
            <a:picLocks noChangeAspect="1"/>
          </p:cNvPicPr>
          <p:nvPr/>
        </p:nvPicPr>
        <p:blipFill>
          <a:blip r:embed="rId1"/>
          <a:stretch>
            <a:fillRect/>
          </a:stretch>
        </p:blipFill>
        <p:spPr>
          <a:xfrm>
            <a:off x="777240" y="1645920"/>
            <a:ext cx="274320" cy="274320"/>
          </a:xfrm>
          <a:prstGeom prst="rect">
            <a:avLst/>
          </a:prstGeom>
        </p:spPr>
      </p:pic>
      <p:sp>
        <p:nvSpPr>
          <p:cNvPr id="11" name="Text 8"/>
          <p:cNvSpPr txBox="1"/>
          <p:nvPr/>
        </p:nvSpPr>
        <p:spPr>
          <a:xfrm>
            <a:off x="1124712" y="162763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Productos y servicios</a:t>
            </a:r>
            <a:endParaRPr lang="en-US" sz="1200" dirty="0"/>
          </a:p>
        </p:txBody>
      </p:sp>
      <p:sp>
        <p:nvSpPr>
          <p:cNvPr id="12" name="Text 9"/>
          <p:cNvSpPr txBox="1"/>
          <p:nvPr/>
        </p:nvSpPr>
        <p:spPr>
          <a:xfrm>
            <a:off x="777240" y="2029968"/>
            <a:ext cx="2011680" cy="373075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Pack de 6 (S/27.90 en stand)</a:t>
            </a:r>
            <a:endParaRPr lang="en-US" sz="1200" dirty="0"/>
          </a:p>
          <a:p>
            <a:pPr marL="127000" indent="-127000">
              <a:spcAft>
                <a:spcPts val="400"/>
              </a:spcAft>
              <a:buSzPct val="100000"/>
              <a:buChar char="•"/>
            </a:pPr>
            <a:r>
              <a:rPr lang="en-US" sz="1200" dirty="0">
                <a:solidFill>
                  <a:schemeClr val="tx1"/>
                </a:solidFill>
              </a:rPr>
              <a:t>Pack de 12 "Semana completa"</a:t>
            </a:r>
            <a:endParaRPr lang="en-US" sz="1200" dirty="0"/>
          </a:p>
          <a:p>
            <a:pPr marL="127000" indent="-127000">
              <a:spcAft>
                <a:spcPts val="400"/>
              </a:spcAft>
              <a:buSzPct val="100000"/>
              <a:buChar char="•"/>
            </a:pPr>
            <a:r>
              <a:rPr lang="en-US" sz="1200" dirty="0">
                <a:solidFill>
                  <a:schemeClr val="tx1"/>
                </a:solidFill>
              </a:rPr>
              <a:t>Caja degustación de 3</a:t>
            </a:r>
            <a:endParaRPr lang="en-US" sz="1200" dirty="0"/>
          </a:p>
          <a:p>
            <a:pPr marL="127000" indent="-127000">
              <a:spcAft>
                <a:spcPts val="400"/>
              </a:spcAft>
              <a:buSzPct val="100000"/>
              <a:buChar char="•"/>
            </a:pPr>
            <a:r>
              <a:rPr lang="en-US" sz="1200" dirty="0">
                <a:solidFill>
                  <a:schemeClr val="tx1"/>
                </a:solidFill>
              </a:rPr>
              <a:t>Stand con degustación gratis</a:t>
            </a:r>
            <a:endParaRPr lang="en-US" sz="1200" dirty="0"/>
          </a:p>
          <a:p>
            <a:pPr marL="127000" indent="-127000">
              <a:spcAft>
                <a:spcPts val="400"/>
              </a:spcAft>
              <a:buSzPct val="100000"/>
              <a:buChar char="•"/>
            </a:pPr>
            <a:r>
              <a:rPr lang="en-US" sz="1200" dirty="0">
                <a:solidFill>
                  <a:schemeClr val="tx1"/>
                </a:solidFill>
              </a:rPr>
              <a:t>App Andi, Misión Hierro</a:t>
            </a:r>
            <a:endParaRPr lang="en-US" sz="1200" dirty="0"/>
          </a:p>
        </p:txBody>
      </p:sp>
      <p:pic>
        <p:nvPicPr>
          <p:cNvPr id="13" name="Image 1" descr="preencoded.png">    </p:cNvPr>
          <p:cNvPicPr>
            <a:picLocks noChangeAspect="1"/>
          </p:cNvPicPr>
          <p:nvPr/>
        </p:nvPicPr>
        <p:blipFill>
          <a:blip r:embed="rId2"/>
          <a:stretch>
            <a:fillRect/>
          </a:stretch>
        </p:blipFill>
        <p:spPr>
          <a:xfrm>
            <a:off x="3017520" y="1645920"/>
            <a:ext cx="274320" cy="274320"/>
          </a:xfrm>
          <a:prstGeom prst="rect">
            <a:avLst/>
          </a:prstGeom>
        </p:spPr>
      </p:pic>
      <p:sp>
        <p:nvSpPr>
          <p:cNvPr id="14" name="Text 10"/>
          <p:cNvSpPr txBox="1"/>
          <p:nvPr/>
        </p:nvSpPr>
        <p:spPr>
          <a:xfrm>
            <a:off x="3364992" y="162763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Creadores de alegrías</a:t>
            </a:r>
            <a:endParaRPr lang="en-US" sz="1200" dirty="0"/>
          </a:p>
        </p:txBody>
      </p:sp>
      <p:sp>
        <p:nvSpPr>
          <p:cNvPr id="15" name="Text 11"/>
          <p:cNvSpPr txBox="1"/>
          <p:nvPr/>
        </p:nvSpPr>
        <p:spPr>
          <a:xfrm>
            <a:off x="3017520" y="2029968"/>
            <a:ext cx="2011680" cy="16276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El niño pide su sabor</a:t>
            </a:r>
            <a:endParaRPr lang="en-US" sz="1200" dirty="0"/>
          </a:p>
          <a:p>
            <a:pPr marL="127000" indent="-127000">
              <a:spcAft>
                <a:spcPts val="400"/>
              </a:spcAft>
              <a:buSzPct val="100000"/>
              <a:buChar char="•"/>
            </a:pPr>
            <a:r>
              <a:rPr lang="en-US" sz="1200" dirty="0">
                <a:solidFill>
                  <a:schemeClr val="tx1"/>
                </a:solidFill>
              </a:rPr>
              <a:t>Hierro del lote en la app</a:t>
            </a:r>
            <a:endParaRPr lang="en-US" sz="1200" dirty="0"/>
          </a:p>
          <a:p>
            <a:pPr marL="127000" indent="-127000">
              <a:spcAft>
                <a:spcPts val="400"/>
              </a:spcAft>
              <a:buSzPct val="100000"/>
              <a:buChar char="•"/>
            </a:pPr>
            <a:r>
              <a:rPr lang="en-US" sz="1200" dirty="0">
                <a:solidFill>
                  <a:schemeClr val="tx1"/>
                </a:solidFill>
              </a:rPr>
              <a:t>Juego educativo de Andi</a:t>
            </a:r>
            <a:endParaRPr lang="en-US" sz="1200" dirty="0"/>
          </a:p>
        </p:txBody>
      </p:sp>
      <p:pic>
        <p:nvPicPr>
          <p:cNvPr id="16" name="Image 2" descr="preencoded.png">    </p:cNvPr>
          <p:cNvPicPr>
            <a:picLocks noChangeAspect="1"/>
          </p:cNvPicPr>
          <p:nvPr/>
        </p:nvPicPr>
        <p:blipFill>
          <a:blip r:embed="rId3"/>
          <a:stretch>
            <a:fillRect/>
          </a:stretch>
        </p:blipFill>
        <p:spPr>
          <a:xfrm>
            <a:off x="3017520" y="3886200"/>
            <a:ext cx="274320" cy="274320"/>
          </a:xfrm>
          <a:prstGeom prst="rect">
            <a:avLst/>
          </a:prstGeom>
        </p:spPr>
      </p:pic>
      <p:sp>
        <p:nvSpPr>
          <p:cNvPr id="17" name="Text 12"/>
          <p:cNvSpPr txBox="1"/>
          <p:nvPr/>
        </p:nvSpPr>
        <p:spPr>
          <a:xfrm>
            <a:off x="3364992" y="3867912"/>
            <a:ext cx="1664208" cy="329184"/>
          </a:xfrm>
          <a:prstGeom prst="rect">
            <a:avLst/>
          </a:prstGeom>
          <a:noFill/>
          <a:ln/>
        </p:spPr>
        <p:txBody>
          <a:bodyPr wrap="square" lIns="0" tIns="0" rIns="0" bIns="0" rtlCol="0" anchor="ctr"/>
          <a:lstStyle/>
          <a:p>
            <a:pPr indent="0" marL="0">
              <a:buNone/>
            </a:pPr>
            <a:r>
              <a:rPr lang="en-US" sz="1200" b="1" dirty="0">
                <a:solidFill>
                  <a:schemeClr val="tx2"/>
                </a:solidFill>
              </a:rPr>
              <a:t>Aliviadores de dolor</a:t>
            </a:r>
            <a:endParaRPr lang="en-US" sz="1200" dirty="0"/>
          </a:p>
        </p:txBody>
      </p:sp>
      <p:sp>
        <p:nvSpPr>
          <p:cNvPr id="18" name="Text 13"/>
          <p:cNvSpPr txBox="1"/>
          <p:nvPr/>
        </p:nvSpPr>
        <p:spPr>
          <a:xfrm>
            <a:off x="3017520" y="4270248"/>
            <a:ext cx="2011680" cy="16276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Cacao que esconde la sangrecita</a:t>
            </a:r>
            <a:endParaRPr lang="en-US" sz="1200" dirty="0"/>
          </a:p>
          <a:p>
            <a:pPr marL="127000" indent="-127000">
              <a:spcAft>
                <a:spcPts val="400"/>
              </a:spcAft>
              <a:buSzPct val="100000"/>
              <a:buChar char="•"/>
            </a:pPr>
            <a:r>
              <a:rPr lang="en-US" sz="1200" dirty="0">
                <a:solidFill>
                  <a:schemeClr val="tx1"/>
                </a:solidFill>
              </a:rPr>
              <a:t>Loncheras listas en la app</a:t>
            </a:r>
            <a:endParaRPr lang="en-US" sz="1200" dirty="0"/>
          </a:p>
          <a:p>
            <a:pPr marL="127000" indent="-127000">
              <a:spcAft>
                <a:spcPts val="400"/>
              </a:spcAft>
              <a:buSzPct val="100000"/>
              <a:buChar char="•"/>
            </a:pPr>
            <a:r>
              <a:rPr lang="en-US" sz="1200" dirty="0">
                <a:solidFill>
                  <a:schemeClr val="tx1"/>
                </a:solidFill>
              </a:rPr>
              <a:t>Aviso antes de que se acabe</a:t>
            </a:r>
            <a:endParaRPr lang="en-US" sz="1200" dirty="0"/>
          </a:p>
        </p:txBody>
      </p:sp>
      <p:pic>
        <p:nvPicPr>
          <p:cNvPr id="19" name="Image 3" descr="preencoded.png">    </p:cNvPr>
          <p:cNvPicPr>
            <a:picLocks noChangeAspect="1"/>
          </p:cNvPicPr>
          <p:nvPr/>
        </p:nvPicPr>
        <p:blipFill>
          <a:blip r:embed="rId4"/>
          <a:stretch>
            <a:fillRect/>
          </a:stretch>
        </p:blipFill>
        <p:spPr>
          <a:xfrm>
            <a:off x="7680960" y="1965960"/>
            <a:ext cx="274320" cy="274320"/>
          </a:xfrm>
          <a:prstGeom prst="rect">
            <a:avLst/>
          </a:prstGeom>
        </p:spPr>
      </p:pic>
      <p:sp>
        <p:nvSpPr>
          <p:cNvPr id="20" name="Text 14"/>
          <p:cNvSpPr txBox="1"/>
          <p:nvPr/>
        </p:nvSpPr>
        <p:spPr>
          <a:xfrm>
            <a:off x="8028432" y="1947672"/>
            <a:ext cx="1344168" cy="329184"/>
          </a:xfrm>
          <a:prstGeom prst="rect">
            <a:avLst/>
          </a:prstGeom>
          <a:noFill/>
          <a:ln/>
        </p:spPr>
        <p:txBody>
          <a:bodyPr wrap="square" lIns="0" tIns="0" rIns="0" bIns="0" rtlCol="0" anchor="ctr"/>
          <a:lstStyle/>
          <a:p>
            <a:pPr indent="0" marL="0">
              <a:buNone/>
            </a:pPr>
            <a:r>
              <a:rPr lang="en-US" sz="1200" b="1" dirty="0">
                <a:solidFill>
                  <a:schemeClr val="tx2"/>
                </a:solidFill>
              </a:rPr>
              <a:t>Alegrías</a:t>
            </a:r>
            <a:endParaRPr lang="en-US" sz="1200" dirty="0"/>
          </a:p>
        </p:txBody>
      </p:sp>
      <p:sp>
        <p:nvSpPr>
          <p:cNvPr id="21" name="Text 15"/>
          <p:cNvSpPr txBox="1"/>
          <p:nvPr/>
        </p:nvSpPr>
        <p:spPr>
          <a:xfrm>
            <a:off x="7680960" y="2350008"/>
            <a:ext cx="1691640" cy="126187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Que el niño lo pida</a:t>
            </a:r>
            <a:endParaRPr lang="en-US" sz="1200" dirty="0"/>
          </a:p>
          <a:p>
            <a:pPr marL="127000" indent="-127000">
              <a:spcAft>
                <a:spcPts val="400"/>
              </a:spcAft>
              <a:buSzPct val="100000"/>
              <a:buChar char="•"/>
            </a:pPr>
            <a:r>
              <a:rPr lang="en-US" sz="1200" dirty="0">
                <a:solidFill>
                  <a:schemeClr val="tx1"/>
                </a:solidFill>
              </a:rPr>
              <a:t>Ver el dato, no la promesa</a:t>
            </a:r>
            <a:endParaRPr lang="en-US" sz="1200" dirty="0"/>
          </a:p>
          <a:p>
            <a:pPr marL="127000" indent="-127000">
              <a:spcAft>
                <a:spcPts val="400"/>
              </a:spcAft>
              <a:buSzPct val="100000"/>
              <a:buChar char="•"/>
            </a:pPr>
            <a:r>
              <a:rPr lang="en-US" sz="1200" dirty="0">
                <a:solidFill>
                  <a:schemeClr val="tx1"/>
                </a:solidFill>
              </a:rPr>
              <a:t>Que no pese en el bolsillo</a:t>
            </a:r>
            <a:endParaRPr lang="en-US" sz="1200" dirty="0"/>
          </a:p>
        </p:txBody>
      </p:sp>
      <p:pic>
        <p:nvPicPr>
          <p:cNvPr id="22" name="Image 4" descr="preencoded.png">    </p:cNvPr>
          <p:cNvPicPr>
            <a:picLocks noChangeAspect="1"/>
          </p:cNvPicPr>
          <p:nvPr/>
        </p:nvPicPr>
        <p:blipFill>
          <a:blip r:embed="rId5"/>
          <a:stretch>
            <a:fillRect/>
          </a:stretch>
        </p:blipFill>
        <p:spPr>
          <a:xfrm>
            <a:off x="7680960" y="3813048"/>
            <a:ext cx="274320" cy="274320"/>
          </a:xfrm>
          <a:prstGeom prst="rect">
            <a:avLst/>
          </a:prstGeom>
        </p:spPr>
      </p:pic>
      <p:sp>
        <p:nvSpPr>
          <p:cNvPr id="23" name="Text 16"/>
          <p:cNvSpPr txBox="1"/>
          <p:nvPr/>
        </p:nvSpPr>
        <p:spPr>
          <a:xfrm>
            <a:off x="8028432" y="3794760"/>
            <a:ext cx="1344168" cy="329184"/>
          </a:xfrm>
          <a:prstGeom prst="rect">
            <a:avLst/>
          </a:prstGeom>
          <a:noFill/>
          <a:ln/>
        </p:spPr>
        <p:txBody>
          <a:bodyPr wrap="square" lIns="0" tIns="0" rIns="0" bIns="0" rtlCol="0" anchor="ctr"/>
          <a:lstStyle/>
          <a:p>
            <a:pPr indent="0" marL="0">
              <a:buNone/>
            </a:pPr>
            <a:r>
              <a:rPr lang="en-US" sz="1200" b="1" dirty="0">
                <a:solidFill>
                  <a:schemeClr val="tx2"/>
                </a:solidFill>
              </a:rPr>
              <a:t>Dolores</a:t>
            </a:r>
            <a:endParaRPr lang="en-US" sz="1200" dirty="0"/>
          </a:p>
        </p:txBody>
      </p:sp>
      <p:sp>
        <p:nvSpPr>
          <p:cNvPr id="24" name="Text 17"/>
          <p:cNvSpPr txBox="1"/>
          <p:nvPr/>
        </p:nvSpPr>
        <p:spPr>
          <a:xfrm>
            <a:off x="7680960" y="4197096"/>
            <a:ext cx="1691640" cy="126187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Lo sano regresa intacto</a:t>
            </a:r>
            <a:endParaRPr lang="en-US" sz="1200" dirty="0"/>
          </a:p>
          <a:p>
            <a:pPr marL="127000" indent="-127000">
              <a:spcAft>
                <a:spcPts val="400"/>
              </a:spcAft>
              <a:buSzPct val="100000"/>
              <a:buChar char="•"/>
            </a:pPr>
            <a:r>
              <a:rPr lang="en-US" sz="1200" dirty="0">
                <a:solidFill>
                  <a:schemeClr val="tx1"/>
                </a:solidFill>
              </a:rPr>
              <a:t>Octógonos y desconfianza</a:t>
            </a:r>
            <a:endParaRPr lang="en-US" sz="1200" dirty="0"/>
          </a:p>
          <a:p>
            <a:pPr marL="127000" indent="-127000">
              <a:spcAft>
                <a:spcPts val="400"/>
              </a:spcAft>
              <a:buSzPct val="100000"/>
              <a:buChar char="•"/>
            </a:pPr>
            <a:r>
              <a:rPr lang="en-US" sz="1200" dirty="0">
                <a:solidFill>
                  <a:schemeClr val="tx1"/>
                </a:solidFill>
              </a:rPr>
              <a:t>Se acaba la variedad</a:t>
            </a:r>
            <a:endParaRPr lang="en-US" sz="1200" dirty="0"/>
          </a:p>
        </p:txBody>
      </p:sp>
      <p:pic>
        <p:nvPicPr>
          <p:cNvPr id="25" name="Image 5" descr="preencoded.png">    </p:cNvPr>
          <p:cNvPicPr>
            <a:picLocks noChangeAspect="1"/>
          </p:cNvPicPr>
          <p:nvPr/>
        </p:nvPicPr>
        <p:blipFill>
          <a:blip r:embed="rId6"/>
          <a:stretch>
            <a:fillRect/>
          </a:stretch>
        </p:blipFill>
        <p:spPr>
          <a:xfrm>
            <a:off x="9555480" y="2331720"/>
            <a:ext cx="274320" cy="274320"/>
          </a:xfrm>
          <a:prstGeom prst="rect">
            <a:avLst/>
          </a:prstGeom>
        </p:spPr>
      </p:pic>
      <p:sp>
        <p:nvSpPr>
          <p:cNvPr id="26" name="Text 18"/>
          <p:cNvSpPr txBox="1"/>
          <p:nvPr/>
        </p:nvSpPr>
        <p:spPr>
          <a:xfrm>
            <a:off x="9902952" y="2313432"/>
            <a:ext cx="1481328" cy="329184"/>
          </a:xfrm>
          <a:prstGeom prst="rect">
            <a:avLst/>
          </a:prstGeom>
          <a:noFill/>
          <a:ln/>
        </p:spPr>
        <p:txBody>
          <a:bodyPr wrap="square" lIns="0" tIns="0" rIns="0" bIns="0" rtlCol="0" anchor="ctr"/>
          <a:lstStyle/>
          <a:p>
            <a:pPr indent="0" marL="0">
              <a:buNone/>
            </a:pPr>
            <a:r>
              <a:rPr lang="en-US" sz="1200" b="1" dirty="0">
                <a:solidFill>
                  <a:schemeClr val="tx2"/>
                </a:solidFill>
              </a:rPr>
              <a:t>Trabajos del cliente</a:t>
            </a:r>
            <a:endParaRPr lang="en-US" sz="1200" dirty="0"/>
          </a:p>
        </p:txBody>
      </p:sp>
      <p:sp>
        <p:nvSpPr>
          <p:cNvPr id="27" name="Text 19"/>
          <p:cNvSpPr txBox="1"/>
          <p:nvPr/>
        </p:nvSpPr>
        <p:spPr>
          <a:xfrm>
            <a:off x="9555480" y="2715768"/>
            <a:ext cx="1828800" cy="2542032"/>
          </a:xfrm>
          <a:prstGeom prst="rect">
            <a:avLst/>
          </a:prstGeom>
          <a:noFill/>
          <a:ln/>
        </p:spPr>
        <p:txBody>
          <a:bodyPr wrap="square" lIns="0" tIns="0" rIns="0" bIns="0" rtlCol="0" anchor="t"/>
          <a:lstStyle/>
          <a:p>
            <a:pPr marL="127000" indent="-127000">
              <a:spcAft>
                <a:spcPts val="400"/>
              </a:spcAft>
              <a:buSzPct val="100000"/>
              <a:buChar char="•"/>
            </a:pPr>
            <a:r>
              <a:rPr lang="en-US" sz="1200" dirty="0">
                <a:solidFill>
                  <a:schemeClr val="tx1"/>
                </a:solidFill>
              </a:rPr>
              <a:t>Darle hierro sin pelear</a:t>
            </a:r>
            <a:endParaRPr lang="en-US" sz="1200" dirty="0"/>
          </a:p>
          <a:p>
            <a:pPr marL="127000" indent="-127000">
              <a:spcAft>
                <a:spcPts val="400"/>
              </a:spcAft>
              <a:buSzPct val="100000"/>
              <a:buChar char="•"/>
            </a:pPr>
            <a:r>
              <a:rPr lang="en-US" sz="1200" dirty="0">
                <a:solidFill>
                  <a:schemeClr val="tx1"/>
                </a:solidFill>
              </a:rPr>
              <a:t>Lonchera variada en minutos</a:t>
            </a:r>
            <a:endParaRPr lang="en-US" sz="1200" dirty="0"/>
          </a:p>
          <a:p>
            <a:pPr marL="127000" indent="-127000">
              <a:spcAft>
                <a:spcPts val="400"/>
              </a:spcAft>
              <a:buSzPct val="100000"/>
              <a:buChar char="•"/>
            </a:pPr>
            <a:r>
              <a:rPr lang="en-US" sz="1200" dirty="0">
                <a:solidFill>
                  <a:schemeClr val="tx1"/>
                </a:solidFill>
              </a:rPr>
              <a:t>Cumplir la lonchera del colegio</a:t>
            </a:r>
            <a:endParaRPr lang="en-US" sz="1200" dirty="0"/>
          </a:p>
          <a:p>
            <a:pPr marL="127000" indent="-127000">
              <a:spcAft>
                <a:spcPts val="400"/>
              </a:spcAft>
              <a:buSzPct val="100000"/>
              <a:buChar char="•"/>
            </a:pPr>
            <a:r>
              <a:rPr lang="en-US" sz="1200" dirty="0">
                <a:solidFill>
                  <a:schemeClr val="tx1"/>
                </a:solidFill>
              </a:rPr>
              <a:t>Sentirse buen padre o madre</a:t>
            </a:r>
            <a:endParaRPr lang="en-US" sz="1200" dirty="0"/>
          </a:p>
        </p:txBody>
      </p:sp>
      <p:sp>
        <p:nvSpPr>
          <p:cNvPr id="28" name="Shape 20"/>
          <p:cNvSpPr/>
          <p:nvPr/>
        </p:nvSpPr>
        <p:spPr>
          <a:xfrm>
            <a:off x="5349240" y="3401568"/>
            <a:ext cx="1600200" cy="603504"/>
          </a:xfrm>
          <a:prstGeom prst="leftRightArrow">
            <a:avLst/>
          </a:prstGeom>
          <a:solidFill>
            <a:schemeClr val="accent3"/>
          </a:solidFill>
          <a:ln w="12700">
            <a:solidFill>
              <a:schemeClr val="accent3"/>
            </a:solidFill>
            <a:prstDash val="solid"/>
          </a:ln>
        </p:spPr>
      </p:sp>
      <p:sp>
        <p:nvSpPr>
          <p:cNvPr id="29" name="Text 21"/>
          <p:cNvSpPr txBox="1"/>
          <p:nvPr/>
        </p:nvSpPr>
        <p:spPr>
          <a:xfrm>
            <a:off x="5349240" y="3401568"/>
            <a:ext cx="1600200" cy="603504"/>
          </a:xfrm>
          <a:prstGeom prst="rect">
            <a:avLst/>
          </a:prstGeom>
          <a:noFill/>
          <a:ln/>
        </p:spPr>
        <p:txBody>
          <a:bodyPr wrap="square" lIns="0" tIns="0" rIns="0" bIns="0" rtlCol="0" anchor="ctr"/>
          <a:lstStyle/>
          <a:p>
            <a:pPr algn="ctr" indent="0" marL="0">
              <a:buNone/>
            </a:pPr>
            <a:r>
              <a:rPr lang="en-US" sz="1400" b="1" dirty="0">
                <a:solidFill>
                  <a:schemeClr val="tx1"/>
                </a:solidFill>
              </a:rPr>
              <a:t>Encaje</a:t>
            </a:r>
            <a:endParaRPr lang="en-US" sz="1400" dirty="0"/>
          </a:p>
        </p:txBody>
      </p:sp>
      <p:sp>
        <p:nvSpPr>
          <p:cNvPr id="30" name="Text 22"/>
          <p:cNvSpPr txBox="1"/>
          <p:nvPr/>
        </p:nvSpPr>
        <p:spPr>
          <a:xfrm>
            <a:off x="640080" y="6053328"/>
            <a:ext cx="4480560" cy="274320"/>
          </a:xfrm>
          <a:prstGeom prst="rect">
            <a:avLst/>
          </a:prstGeom>
          <a:noFill/>
          <a:ln/>
        </p:spPr>
        <p:txBody>
          <a:bodyPr wrap="square" lIns="0" tIns="0" rIns="0" bIns="0" rtlCol="0" anchor="t"/>
          <a:lstStyle/>
          <a:p>
            <a:pPr algn="ctr" indent="0" marL="0">
              <a:buNone/>
            </a:pPr>
            <a:r>
              <a:rPr lang="en-US" sz="1100" b="1" spc="100" kern="0" dirty="0">
                <a:solidFill>
                  <a:schemeClr val="accent2"/>
                </a:solidFill>
              </a:rPr>
              <a:t>MAPA DE VALOR · ANDIBITE</a:t>
            </a:r>
            <a:endParaRPr lang="en-US" sz="1100" dirty="0"/>
          </a:p>
        </p:txBody>
      </p:sp>
      <p:sp>
        <p:nvSpPr>
          <p:cNvPr id="31" name="Text 23"/>
          <p:cNvSpPr txBox="1"/>
          <p:nvPr/>
        </p:nvSpPr>
        <p:spPr>
          <a:xfrm>
            <a:off x="7178040" y="6053328"/>
            <a:ext cx="4480560" cy="274320"/>
          </a:xfrm>
          <a:prstGeom prst="rect">
            <a:avLst/>
          </a:prstGeom>
          <a:noFill/>
          <a:ln/>
        </p:spPr>
        <p:txBody>
          <a:bodyPr wrap="square" lIns="0" tIns="0" rIns="0" bIns="0" rtlCol="0" anchor="t"/>
          <a:lstStyle/>
          <a:p>
            <a:pPr algn="ctr" indent="0" marL="0">
              <a:buNone/>
            </a:pPr>
            <a:r>
              <a:rPr lang="en-US" sz="1100" b="1" spc="100" kern="0" dirty="0">
                <a:solidFill>
                  <a:schemeClr val="accent1"/>
                </a:solidFill>
              </a:rPr>
              <a:t>PERFIL DEL CLIENTE · CLAUDIA Y RODRIGO</a:t>
            </a:r>
            <a:endParaRPr lang="en-US" sz="11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ENCAJE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Cada dolor tiene su aliviador</a:t>
            </a:r>
            <a:endParaRPr lang="en-US" sz="3400" dirty="0"/>
          </a:p>
        </p:txBody>
      </p:sp>
      <p:sp>
        <p:nvSpPr>
          <p:cNvPr id="4" name="Text 2"/>
          <p:cNvSpPr txBox="1"/>
          <p:nvPr/>
        </p:nvSpPr>
        <p:spPr>
          <a:xfrm>
            <a:off x="548640" y="1463040"/>
            <a:ext cx="36576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DOLOR DEL CLIENTE</a:t>
            </a:r>
            <a:endParaRPr lang="en-US" sz="1200" dirty="0"/>
          </a:p>
        </p:txBody>
      </p:sp>
      <p:sp>
        <p:nvSpPr>
          <p:cNvPr id="5" name="Text 3"/>
          <p:cNvSpPr txBox="1"/>
          <p:nvPr/>
        </p:nvSpPr>
        <p:spPr>
          <a:xfrm>
            <a:off x="6217920" y="1463040"/>
            <a:ext cx="3657600" cy="274320"/>
          </a:xfrm>
          <a:prstGeom prst="rect">
            <a:avLst/>
          </a:prstGeom>
          <a:noFill/>
          <a:ln/>
        </p:spPr>
        <p:txBody>
          <a:bodyPr wrap="square" lIns="0" tIns="0" rIns="0" bIns="0" rtlCol="0" anchor="t"/>
          <a:lstStyle/>
          <a:p>
            <a:pPr indent="0" marL="0">
              <a:buNone/>
            </a:pPr>
            <a:r>
              <a:rPr lang="en-US" sz="1200" b="1" spc="100" kern="0" dirty="0">
                <a:solidFill>
                  <a:schemeClr val="tx2"/>
                </a:solidFill>
              </a:rPr>
              <a:t>ALIVIADOR ANDIBITE</a:t>
            </a:r>
            <a:endParaRPr lang="en-US" sz="1200" dirty="0"/>
          </a:p>
        </p:txBody>
      </p:sp>
      <p:sp>
        <p:nvSpPr>
          <p:cNvPr id="6" name="Text 4"/>
          <p:cNvSpPr txBox="1"/>
          <p:nvPr/>
        </p:nvSpPr>
        <p:spPr>
          <a:xfrm>
            <a:off x="10012680" y="1463040"/>
            <a:ext cx="1627632"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EVIDENCIA</a:t>
            </a:r>
            <a:endParaRPr lang="en-US" sz="1200" dirty="0"/>
          </a:p>
        </p:txBody>
      </p:sp>
      <p:sp>
        <p:nvSpPr>
          <p:cNvPr id="7" name="Shape 5"/>
          <p:cNvSpPr/>
          <p:nvPr/>
        </p:nvSpPr>
        <p:spPr>
          <a:xfrm>
            <a:off x="548640" y="1828800"/>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658368" y="1956816"/>
            <a:ext cx="457200" cy="457200"/>
          </a:xfrm>
          <a:prstGeom prst="ellipse">
            <a:avLst/>
          </a:prstGeom>
          <a:solidFill>
            <a:schemeClr val="accent6"/>
          </a:solidFill>
          <a:ln w="12700">
            <a:solidFill>
              <a:schemeClr val="accent6"/>
            </a:solidFill>
            <a:prstDash val="solid"/>
          </a:ln>
        </p:spPr>
      </p:sp>
      <p:pic>
        <p:nvPicPr>
          <p:cNvPr id="9" name="Image 0" descr="preencoded.png">    </p:cNvPr>
          <p:cNvPicPr>
            <a:picLocks noChangeAspect="1"/>
          </p:cNvPicPr>
          <p:nvPr/>
        </p:nvPicPr>
        <p:blipFill>
          <a:blip r:embed="rId1"/>
          <a:stretch>
            <a:fillRect/>
          </a:stretch>
        </p:blipFill>
        <p:spPr>
          <a:xfrm>
            <a:off x="758952" y="2057400"/>
            <a:ext cx="256032" cy="256032"/>
          </a:xfrm>
          <a:prstGeom prst="rect">
            <a:avLst/>
          </a:prstGeom>
        </p:spPr>
      </p:pic>
      <p:sp>
        <p:nvSpPr>
          <p:cNvPr id="10" name="Text 7"/>
          <p:cNvSpPr txBox="1"/>
          <p:nvPr/>
        </p:nvSpPr>
        <p:spPr>
          <a:xfrm>
            <a:off x="1234440" y="1828800"/>
            <a:ext cx="3794760" cy="713232"/>
          </a:xfrm>
          <a:prstGeom prst="rect">
            <a:avLst/>
          </a:prstGeom>
          <a:noFill/>
          <a:ln/>
        </p:spPr>
        <p:txBody>
          <a:bodyPr wrap="square" lIns="0" tIns="0" rIns="0" bIns="0" rtlCol="0" anchor="ctr"/>
          <a:lstStyle/>
          <a:p>
            <a:pPr indent="0" marL="0">
              <a:buNone/>
            </a:pPr>
            <a:r>
              <a:rPr lang="en-US" sz="1500" dirty="0">
                <a:solidFill>
                  <a:schemeClr val="tx1"/>
                </a:solidFill>
              </a:rPr>
              <a:t>Lo saludable regresa intacto</a:t>
            </a:r>
            <a:endParaRPr lang="en-US" sz="1500" dirty="0"/>
          </a:p>
        </p:txBody>
      </p:sp>
      <p:sp>
        <p:nvSpPr>
          <p:cNvPr id="11" name="Shape 8"/>
          <p:cNvSpPr/>
          <p:nvPr/>
        </p:nvSpPr>
        <p:spPr>
          <a:xfrm>
            <a:off x="5285232" y="2011680"/>
            <a:ext cx="777240" cy="347472"/>
          </a:xfrm>
          <a:prstGeom prst="rightArrow">
            <a:avLst/>
          </a:prstGeom>
          <a:solidFill>
            <a:schemeClr val="accent3"/>
          </a:solidFill>
          <a:ln w="12700">
            <a:solidFill>
              <a:schemeClr val="accent3"/>
            </a:solidFill>
            <a:prstDash val="solid"/>
          </a:ln>
        </p:spPr>
      </p:sp>
      <p:sp>
        <p:nvSpPr>
          <p:cNvPr id="12" name="Shape 9"/>
          <p:cNvSpPr/>
          <p:nvPr/>
        </p:nvSpPr>
        <p:spPr>
          <a:xfrm>
            <a:off x="6217920" y="1828800"/>
            <a:ext cx="3657600" cy="713232"/>
          </a:xfrm>
          <a:prstGeom prst="roundRect">
            <a:avLst>
              <a:gd name="adj" fmla="val 50000"/>
            </a:avLst>
          </a:prstGeom>
          <a:solidFill>
            <a:schemeClr val="tx2"/>
          </a:solidFill>
          <a:ln w="12700">
            <a:solidFill>
              <a:schemeClr val="tx2"/>
            </a:solidFill>
            <a:prstDash val="solid"/>
          </a:ln>
        </p:spPr>
      </p:sp>
      <p:sp>
        <p:nvSpPr>
          <p:cNvPr id="13" name="Shape 10"/>
          <p:cNvSpPr/>
          <p:nvPr/>
        </p:nvSpPr>
        <p:spPr>
          <a:xfrm>
            <a:off x="6327648" y="1956816"/>
            <a:ext cx="457200" cy="457200"/>
          </a:xfrm>
          <a:prstGeom prst="ellipse">
            <a:avLst/>
          </a:prstGeom>
          <a:solidFill>
            <a:schemeClr val="accent4"/>
          </a:solidFill>
          <a:ln w="12700">
            <a:solidFill>
              <a:schemeClr val="accent4"/>
            </a:solidFill>
            <a:prstDash val="solid"/>
          </a:ln>
        </p:spPr>
      </p:sp>
      <p:pic>
        <p:nvPicPr>
          <p:cNvPr id="14" name="Image 1" descr="preencoded.png">    </p:cNvPr>
          <p:cNvPicPr>
            <a:picLocks noChangeAspect="1"/>
          </p:cNvPicPr>
          <p:nvPr/>
        </p:nvPicPr>
        <p:blipFill>
          <a:blip r:embed="rId2"/>
          <a:stretch>
            <a:fillRect/>
          </a:stretch>
        </p:blipFill>
        <p:spPr>
          <a:xfrm>
            <a:off x="6428232" y="2057400"/>
            <a:ext cx="256032" cy="256032"/>
          </a:xfrm>
          <a:prstGeom prst="rect">
            <a:avLst/>
          </a:prstGeom>
        </p:spPr>
      </p:pic>
      <p:sp>
        <p:nvSpPr>
          <p:cNvPr id="15" name="Text 11"/>
          <p:cNvSpPr txBox="1"/>
          <p:nvPr/>
        </p:nvSpPr>
        <p:spPr>
          <a:xfrm>
            <a:off x="6903720" y="1828800"/>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Cacao y canela esconden la sangrecita</a:t>
            </a:r>
            <a:endParaRPr lang="en-US" sz="1500" dirty="0"/>
          </a:p>
        </p:txBody>
      </p:sp>
      <p:sp>
        <p:nvSpPr>
          <p:cNvPr id="16" name="Text 12"/>
          <p:cNvSpPr txBox="1"/>
          <p:nvPr/>
        </p:nvSpPr>
        <p:spPr>
          <a:xfrm>
            <a:off x="10012680" y="1828800"/>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 y focus 1</a:t>
            </a:r>
            <a:endParaRPr lang="en-US" sz="1200" dirty="0"/>
          </a:p>
        </p:txBody>
      </p:sp>
      <p:sp>
        <p:nvSpPr>
          <p:cNvPr id="17" name="Shape 13"/>
          <p:cNvSpPr/>
          <p:nvPr/>
        </p:nvSpPr>
        <p:spPr>
          <a:xfrm>
            <a:off x="548640" y="2679192"/>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8" name="Shape 14"/>
          <p:cNvSpPr/>
          <p:nvPr/>
        </p:nvSpPr>
        <p:spPr>
          <a:xfrm>
            <a:off x="658368" y="2807208"/>
            <a:ext cx="457200" cy="457200"/>
          </a:xfrm>
          <a:prstGeom prst="ellipse">
            <a:avLst/>
          </a:prstGeom>
          <a:solidFill>
            <a:schemeClr val="accent6"/>
          </a:solidFill>
          <a:ln w="12700">
            <a:solidFill>
              <a:schemeClr val="accent6"/>
            </a:solidFill>
            <a:prstDash val="solid"/>
          </a:ln>
        </p:spPr>
      </p:sp>
      <p:pic>
        <p:nvPicPr>
          <p:cNvPr id="19" name="Image 2" descr="preencoded.png">    </p:cNvPr>
          <p:cNvPicPr>
            <a:picLocks noChangeAspect="1"/>
          </p:cNvPicPr>
          <p:nvPr/>
        </p:nvPicPr>
        <p:blipFill>
          <a:blip r:embed="rId3"/>
          <a:stretch>
            <a:fillRect/>
          </a:stretch>
        </p:blipFill>
        <p:spPr>
          <a:xfrm>
            <a:off x="758952" y="2907792"/>
            <a:ext cx="256032" cy="256032"/>
          </a:xfrm>
          <a:prstGeom prst="rect">
            <a:avLst/>
          </a:prstGeom>
        </p:spPr>
      </p:pic>
      <p:sp>
        <p:nvSpPr>
          <p:cNvPr id="20" name="Text 15"/>
          <p:cNvSpPr txBox="1"/>
          <p:nvPr/>
        </p:nvSpPr>
        <p:spPr>
          <a:xfrm>
            <a:off x="1234440" y="2679192"/>
            <a:ext cx="3794760" cy="713232"/>
          </a:xfrm>
          <a:prstGeom prst="rect">
            <a:avLst/>
          </a:prstGeom>
          <a:noFill/>
          <a:ln/>
        </p:spPr>
        <p:txBody>
          <a:bodyPr wrap="square" lIns="0" tIns="0" rIns="0" bIns="0" rtlCol="0" anchor="ctr"/>
          <a:lstStyle/>
          <a:p>
            <a:pPr indent="0" marL="0">
              <a:buNone/>
            </a:pPr>
            <a:r>
              <a:rPr lang="en-US" sz="1500" dirty="0">
                <a:solidFill>
                  <a:schemeClr val="tx1"/>
                </a:solidFill>
              </a:rPr>
              <a:t>El octógono contradice lo saludable</a:t>
            </a:r>
            <a:endParaRPr lang="en-US" sz="1500" dirty="0"/>
          </a:p>
        </p:txBody>
      </p:sp>
      <p:sp>
        <p:nvSpPr>
          <p:cNvPr id="21" name="Shape 16"/>
          <p:cNvSpPr/>
          <p:nvPr/>
        </p:nvSpPr>
        <p:spPr>
          <a:xfrm>
            <a:off x="5285232" y="2862072"/>
            <a:ext cx="777240" cy="347472"/>
          </a:xfrm>
          <a:prstGeom prst="rightArrow">
            <a:avLst/>
          </a:prstGeom>
          <a:solidFill>
            <a:schemeClr val="accent3"/>
          </a:solidFill>
          <a:ln w="12700">
            <a:solidFill>
              <a:schemeClr val="accent3"/>
            </a:solidFill>
            <a:prstDash val="solid"/>
          </a:ln>
        </p:spPr>
      </p:sp>
      <p:sp>
        <p:nvSpPr>
          <p:cNvPr id="22" name="Shape 17"/>
          <p:cNvSpPr/>
          <p:nvPr/>
        </p:nvSpPr>
        <p:spPr>
          <a:xfrm>
            <a:off x="6217920" y="2679192"/>
            <a:ext cx="3657600" cy="713232"/>
          </a:xfrm>
          <a:prstGeom prst="roundRect">
            <a:avLst>
              <a:gd name="adj" fmla="val 50000"/>
            </a:avLst>
          </a:prstGeom>
          <a:solidFill>
            <a:schemeClr val="tx2"/>
          </a:solidFill>
          <a:ln w="12700">
            <a:solidFill>
              <a:schemeClr val="tx2"/>
            </a:solidFill>
            <a:prstDash val="solid"/>
          </a:ln>
        </p:spPr>
      </p:sp>
      <p:sp>
        <p:nvSpPr>
          <p:cNvPr id="23" name="Shape 18"/>
          <p:cNvSpPr/>
          <p:nvPr/>
        </p:nvSpPr>
        <p:spPr>
          <a:xfrm>
            <a:off x="6327648" y="2807208"/>
            <a:ext cx="457200" cy="457200"/>
          </a:xfrm>
          <a:prstGeom prst="ellipse">
            <a:avLst/>
          </a:prstGeom>
          <a:solidFill>
            <a:schemeClr val="accent4"/>
          </a:solidFill>
          <a:ln w="12700">
            <a:solidFill>
              <a:schemeClr val="accent4"/>
            </a:solidFill>
            <a:prstDash val="solid"/>
          </a:ln>
        </p:spPr>
      </p:sp>
      <p:pic>
        <p:nvPicPr>
          <p:cNvPr id="24" name="Image 3" descr="preencoded.png">    </p:cNvPr>
          <p:cNvPicPr>
            <a:picLocks noChangeAspect="1"/>
          </p:cNvPicPr>
          <p:nvPr/>
        </p:nvPicPr>
        <p:blipFill>
          <a:blip r:embed="rId4"/>
          <a:stretch>
            <a:fillRect/>
          </a:stretch>
        </p:blipFill>
        <p:spPr>
          <a:xfrm>
            <a:off x="6428232" y="2907792"/>
            <a:ext cx="256032" cy="256032"/>
          </a:xfrm>
          <a:prstGeom prst="rect">
            <a:avLst/>
          </a:prstGeom>
        </p:spPr>
      </p:pic>
      <p:sp>
        <p:nvSpPr>
          <p:cNvPr id="25" name="Text 19"/>
          <p:cNvSpPr txBox="1"/>
          <p:nvPr/>
        </p:nvSpPr>
        <p:spPr>
          <a:xfrm>
            <a:off x="6903720" y="2679192"/>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Sin octógono: menos de 10 g de azúcar</a:t>
            </a:r>
            <a:endParaRPr lang="en-US" sz="1500" dirty="0"/>
          </a:p>
        </p:txBody>
      </p:sp>
      <p:sp>
        <p:nvSpPr>
          <p:cNvPr id="26" name="Text 20"/>
          <p:cNvSpPr txBox="1"/>
          <p:nvPr/>
        </p:nvSpPr>
        <p:spPr>
          <a:xfrm>
            <a:off x="10012680" y="2679192"/>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83 % · Ipsos 2025</a:t>
            </a:r>
            <a:endParaRPr lang="en-US" sz="1200" dirty="0"/>
          </a:p>
        </p:txBody>
      </p:sp>
      <p:sp>
        <p:nvSpPr>
          <p:cNvPr id="27" name="Shape 21"/>
          <p:cNvSpPr/>
          <p:nvPr/>
        </p:nvSpPr>
        <p:spPr>
          <a:xfrm>
            <a:off x="548640" y="3529584"/>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8" name="Shape 22"/>
          <p:cNvSpPr/>
          <p:nvPr/>
        </p:nvSpPr>
        <p:spPr>
          <a:xfrm>
            <a:off x="658368" y="3657600"/>
            <a:ext cx="457200" cy="457200"/>
          </a:xfrm>
          <a:prstGeom prst="ellipse">
            <a:avLst/>
          </a:prstGeom>
          <a:solidFill>
            <a:schemeClr val="accent6"/>
          </a:solidFill>
          <a:ln w="12700">
            <a:solidFill>
              <a:schemeClr val="accent6"/>
            </a:solidFill>
            <a:prstDash val="solid"/>
          </a:ln>
        </p:spPr>
      </p:sp>
      <p:pic>
        <p:nvPicPr>
          <p:cNvPr id="29" name="Image 4" descr="preencoded.png">    </p:cNvPr>
          <p:cNvPicPr>
            <a:picLocks noChangeAspect="1"/>
          </p:cNvPicPr>
          <p:nvPr/>
        </p:nvPicPr>
        <p:blipFill>
          <a:blip r:embed="rId5"/>
          <a:stretch>
            <a:fillRect/>
          </a:stretch>
        </p:blipFill>
        <p:spPr>
          <a:xfrm>
            <a:off x="758952" y="3758184"/>
            <a:ext cx="256032" cy="256032"/>
          </a:xfrm>
          <a:prstGeom prst="rect">
            <a:avLst/>
          </a:prstGeom>
        </p:spPr>
      </p:pic>
      <p:sp>
        <p:nvSpPr>
          <p:cNvPr id="30" name="Text 23"/>
          <p:cNvSpPr txBox="1"/>
          <p:nvPr/>
        </p:nvSpPr>
        <p:spPr>
          <a:xfrm>
            <a:off x="1234440" y="3529584"/>
            <a:ext cx="3794760" cy="713232"/>
          </a:xfrm>
          <a:prstGeom prst="rect">
            <a:avLst/>
          </a:prstGeom>
          <a:noFill/>
          <a:ln/>
        </p:spPr>
        <p:txBody>
          <a:bodyPr wrap="square" lIns="0" tIns="0" rIns="0" bIns="0" rtlCol="0" anchor="ctr"/>
          <a:lstStyle/>
          <a:p>
            <a:pPr indent="0" marL="0">
              <a:buNone/>
            </a:pPr>
            <a:r>
              <a:rPr lang="en-US" sz="1500" dirty="0">
                <a:solidFill>
                  <a:schemeClr val="tx1"/>
                </a:solidFill>
              </a:rPr>
              <a:t>No confío en lo envasado</a:t>
            </a:r>
            <a:endParaRPr lang="en-US" sz="1500" dirty="0"/>
          </a:p>
        </p:txBody>
      </p:sp>
      <p:sp>
        <p:nvSpPr>
          <p:cNvPr id="31" name="Shape 24"/>
          <p:cNvSpPr/>
          <p:nvPr/>
        </p:nvSpPr>
        <p:spPr>
          <a:xfrm>
            <a:off x="5285232" y="3712464"/>
            <a:ext cx="777240" cy="347472"/>
          </a:xfrm>
          <a:prstGeom prst="rightArrow">
            <a:avLst/>
          </a:prstGeom>
          <a:solidFill>
            <a:schemeClr val="accent3"/>
          </a:solidFill>
          <a:ln w="12700">
            <a:solidFill>
              <a:schemeClr val="accent3"/>
            </a:solidFill>
            <a:prstDash val="solid"/>
          </a:ln>
        </p:spPr>
      </p:sp>
      <p:sp>
        <p:nvSpPr>
          <p:cNvPr id="32" name="Shape 25"/>
          <p:cNvSpPr/>
          <p:nvPr/>
        </p:nvSpPr>
        <p:spPr>
          <a:xfrm>
            <a:off x="6217920" y="3529584"/>
            <a:ext cx="3657600" cy="713232"/>
          </a:xfrm>
          <a:prstGeom prst="roundRect">
            <a:avLst>
              <a:gd name="adj" fmla="val 50000"/>
            </a:avLst>
          </a:prstGeom>
          <a:solidFill>
            <a:schemeClr val="tx2"/>
          </a:solidFill>
          <a:ln w="12700">
            <a:solidFill>
              <a:schemeClr val="tx2"/>
            </a:solidFill>
            <a:prstDash val="solid"/>
          </a:ln>
        </p:spPr>
      </p:sp>
      <p:sp>
        <p:nvSpPr>
          <p:cNvPr id="33" name="Shape 26"/>
          <p:cNvSpPr/>
          <p:nvPr/>
        </p:nvSpPr>
        <p:spPr>
          <a:xfrm>
            <a:off x="6327648" y="3657600"/>
            <a:ext cx="457200" cy="457200"/>
          </a:xfrm>
          <a:prstGeom prst="ellipse">
            <a:avLst/>
          </a:prstGeom>
          <a:solidFill>
            <a:schemeClr val="accent4"/>
          </a:solidFill>
          <a:ln w="12700">
            <a:solidFill>
              <a:schemeClr val="accent4"/>
            </a:solidFill>
            <a:prstDash val="solid"/>
          </a:ln>
        </p:spPr>
      </p:sp>
      <p:pic>
        <p:nvPicPr>
          <p:cNvPr id="34" name="Image 5" descr="preencoded.png">    </p:cNvPr>
          <p:cNvPicPr>
            <a:picLocks noChangeAspect="1"/>
          </p:cNvPicPr>
          <p:nvPr/>
        </p:nvPicPr>
        <p:blipFill>
          <a:blip r:embed="rId6"/>
          <a:stretch>
            <a:fillRect/>
          </a:stretch>
        </p:blipFill>
        <p:spPr>
          <a:xfrm>
            <a:off x="6428232" y="3758184"/>
            <a:ext cx="256032" cy="256032"/>
          </a:xfrm>
          <a:prstGeom prst="rect">
            <a:avLst/>
          </a:prstGeom>
        </p:spPr>
      </p:pic>
      <p:sp>
        <p:nvSpPr>
          <p:cNvPr id="35" name="Text 27"/>
          <p:cNvSpPr txBox="1"/>
          <p:nvPr/>
        </p:nvSpPr>
        <p:spPr>
          <a:xfrm>
            <a:off x="6903720" y="3529584"/>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Hierro medido del lote en la app</a:t>
            </a:r>
            <a:endParaRPr lang="en-US" sz="1500" dirty="0"/>
          </a:p>
        </p:txBody>
      </p:sp>
      <p:sp>
        <p:nvSpPr>
          <p:cNvPr id="36" name="Text 28"/>
          <p:cNvSpPr txBox="1"/>
          <p:nvPr/>
        </p:nvSpPr>
        <p:spPr>
          <a:xfrm>
            <a:off x="10012680" y="3529584"/>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42 % · Kantar 2025</a:t>
            </a:r>
            <a:endParaRPr lang="en-US" sz="1200" dirty="0"/>
          </a:p>
        </p:txBody>
      </p:sp>
      <p:sp>
        <p:nvSpPr>
          <p:cNvPr id="37" name="Shape 29"/>
          <p:cNvSpPr/>
          <p:nvPr/>
        </p:nvSpPr>
        <p:spPr>
          <a:xfrm>
            <a:off x="548640" y="4379976"/>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8" name="Shape 30"/>
          <p:cNvSpPr/>
          <p:nvPr/>
        </p:nvSpPr>
        <p:spPr>
          <a:xfrm>
            <a:off x="658368" y="4507992"/>
            <a:ext cx="457200" cy="457200"/>
          </a:xfrm>
          <a:prstGeom prst="ellipse">
            <a:avLst/>
          </a:prstGeom>
          <a:solidFill>
            <a:schemeClr val="accent6"/>
          </a:solidFill>
          <a:ln w="12700">
            <a:solidFill>
              <a:schemeClr val="accent6"/>
            </a:solidFill>
            <a:prstDash val="solid"/>
          </a:ln>
        </p:spPr>
      </p:sp>
      <p:pic>
        <p:nvPicPr>
          <p:cNvPr id="39" name="Image 6" descr="preencoded.png">    </p:cNvPr>
          <p:cNvPicPr>
            <a:picLocks noChangeAspect="1"/>
          </p:cNvPicPr>
          <p:nvPr/>
        </p:nvPicPr>
        <p:blipFill>
          <a:blip r:embed="rId7"/>
          <a:stretch>
            <a:fillRect/>
          </a:stretch>
        </p:blipFill>
        <p:spPr>
          <a:xfrm>
            <a:off x="758952" y="4608576"/>
            <a:ext cx="256032" cy="256032"/>
          </a:xfrm>
          <a:prstGeom prst="rect">
            <a:avLst/>
          </a:prstGeom>
        </p:spPr>
      </p:pic>
      <p:sp>
        <p:nvSpPr>
          <p:cNvPr id="40" name="Text 31"/>
          <p:cNvSpPr txBox="1"/>
          <p:nvPr/>
        </p:nvSpPr>
        <p:spPr>
          <a:xfrm>
            <a:off x="1234440" y="4379976"/>
            <a:ext cx="3794760" cy="713232"/>
          </a:xfrm>
          <a:prstGeom prst="rect">
            <a:avLst/>
          </a:prstGeom>
          <a:noFill/>
          <a:ln/>
        </p:spPr>
        <p:txBody>
          <a:bodyPr wrap="square" lIns="0" tIns="0" rIns="0" bIns="0" rtlCol="0" anchor="ctr"/>
          <a:lstStyle/>
          <a:p>
            <a:pPr indent="0" marL="0">
              <a:buNone/>
            </a:pPr>
            <a:r>
              <a:rPr lang="en-US" sz="1500" dirty="0">
                <a:solidFill>
                  <a:schemeClr val="tx1"/>
                </a:solidFill>
              </a:rPr>
              <a:t>El jueves ya no sé qué mandar</a:t>
            </a:r>
            <a:endParaRPr lang="en-US" sz="1500" dirty="0"/>
          </a:p>
        </p:txBody>
      </p:sp>
      <p:sp>
        <p:nvSpPr>
          <p:cNvPr id="41" name="Shape 32"/>
          <p:cNvSpPr/>
          <p:nvPr/>
        </p:nvSpPr>
        <p:spPr>
          <a:xfrm>
            <a:off x="5285232" y="4562856"/>
            <a:ext cx="777240" cy="347472"/>
          </a:xfrm>
          <a:prstGeom prst="rightArrow">
            <a:avLst/>
          </a:prstGeom>
          <a:solidFill>
            <a:schemeClr val="accent3"/>
          </a:solidFill>
          <a:ln w="12700">
            <a:solidFill>
              <a:schemeClr val="accent3"/>
            </a:solidFill>
            <a:prstDash val="solid"/>
          </a:ln>
        </p:spPr>
      </p:sp>
      <p:sp>
        <p:nvSpPr>
          <p:cNvPr id="42" name="Shape 33"/>
          <p:cNvSpPr/>
          <p:nvPr/>
        </p:nvSpPr>
        <p:spPr>
          <a:xfrm>
            <a:off x="6217920" y="4379976"/>
            <a:ext cx="3657600" cy="713232"/>
          </a:xfrm>
          <a:prstGeom prst="roundRect">
            <a:avLst>
              <a:gd name="adj" fmla="val 50000"/>
            </a:avLst>
          </a:prstGeom>
          <a:solidFill>
            <a:schemeClr val="tx2"/>
          </a:solidFill>
          <a:ln w="12700">
            <a:solidFill>
              <a:schemeClr val="tx2"/>
            </a:solidFill>
            <a:prstDash val="solid"/>
          </a:ln>
        </p:spPr>
      </p:sp>
      <p:sp>
        <p:nvSpPr>
          <p:cNvPr id="43" name="Shape 34"/>
          <p:cNvSpPr/>
          <p:nvPr/>
        </p:nvSpPr>
        <p:spPr>
          <a:xfrm>
            <a:off x="6327648" y="4507992"/>
            <a:ext cx="457200" cy="457200"/>
          </a:xfrm>
          <a:prstGeom prst="ellipse">
            <a:avLst/>
          </a:prstGeom>
          <a:solidFill>
            <a:schemeClr val="accent4"/>
          </a:solidFill>
          <a:ln w="12700">
            <a:solidFill>
              <a:schemeClr val="accent4"/>
            </a:solidFill>
            <a:prstDash val="solid"/>
          </a:ln>
        </p:spPr>
      </p:sp>
      <p:pic>
        <p:nvPicPr>
          <p:cNvPr id="44" name="Image 7" descr="preencoded.png">    </p:cNvPr>
          <p:cNvPicPr>
            <a:picLocks noChangeAspect="1"/>
          </p:cNvPicPr>
          <p:nvPr/>
        </p:nvPicPr>
        <p:blipFill>
          <a:blip r:embed="rId8"/>
          <a:stretch>
            <a:fillRect/>
          </a:stretch>
        </p:blipFill>
        <p:spPr>
          <a:xfrm>
            <a:off x="6428232" y="4608576"/>
            <a:ext cx="256032" cy="256032"/>
          </a:xfrm>
          <a:prstGeom prst="rect">
            <a:avLst/>
          </a:prstGeom>
        </p:spPr>
      </p:pic>
      <p:sp>
        <p:nvSpPr>
          <p:cNvPr id="45" name="Text 35"/>
          <p:cNvSpPr txBox="1"/>
          <p:nvPr/>
        </p:nvSpPr>
        <p:spPr>
          <a:xfrm>
            <a:off x="6903720" y="4379976"/>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Plan de loncheras en la app</a:t>
            </a:r>
            <a:endParaRPr lang="en-US" sz="1500" dirty="0"/>
          </a:p>
        </p:txBody>
      </p:sp>
      <p:sp>
        <p:nvSpPr>
          <p:cNvPr id="46" name="Text 36"/>
          <p:cNvSpPr txBox="1"/>
          <p:nvPr/>
        </p:nvSpPr>
        <p:spPr>
          <a:xfrm>
            <a:off x="10012680" y="4379976"/>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a:t>
            </a:r>
            <a:endParaRPr lang="en-US" sz="1200" dirty="0"/>
          </a:p>
        </p:txBody>
      </p:sp>
      <p:sp>
        <p:nvSpPr>
          <p:cNvPr id="47" name="Shape 37"/>
          <p:cNvSpPr/>
          <p:nvPr/>
        </p:nvSpPr>
        <p:spPr>
          <a:xfrm>
            <a:off x="548640" y="5230368"/>
            <a:ext cx="4572000" cy="713232"/>
          </a:xfrm>
          <a:prstGeom prst="roundRect">
            <a:avLst>
              <a:gd name="adj" fmla="val 50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8" name="Shape 38"/>
          <p:cNvSpPr/>
          <p:nvPr/>
        </p:nvSpPr>
        <p:spPr>
          <a:xfrm>
            <a:off x="658368" y="5358384"/>
            <a:ext cx="457200" cy="457200"/>
          </a:xfrm>
          <a:prstGeom prst="ellipse">
            <a:avLst/>
          </a:prstGeom>
          <a:solidFill>
            <a:schemeClr val="accent6"/>
          </a:solidFill>
          <a:ln w="12700">
            <a:solidFill>
              <a:schemeClr val="accent6"/>
            </a:solidFill>
            <a:prstDash val="solid"/>
          </a:ln>
        </p:spPr>
      </p:sp>
      <p:pic>
        <p:nvPicPr>
          <p:cNvPr id="49" name="Image 8" descr="preencoded.png">    </p:cNvPr>
          <p:cNvPicPr>
            <a:picLocks noChangeAspect="1"/>
          </p:cNvPicPr>
          <p:nvPr/>
        </p:nvPicPr>
        <p:blipFill>
          <a:blip r:embed="rId9"/>
          <a:stretch>
            <a:fillRect/>
          </a:stretch>
        </p:blipFill>
        <p:spPr>
          <a:xfrm>
            <a:off x="758952" y="5458968"/>
            <a:ext cx="256032" cy="256032"/>
          </a:xfrm>
          <a:prstGeom prst="rect">
            <a:avLst/>
          </a:prstGeom>
        </p:spPr>
      </p:pic>
      <p:sp>
        <p:nvSpPr>
          <p:cNvPr id="50" name="Text 39"/>
          <p:cNvSpPr txBox="1"/>
          <p:nvPr/>
        </p:nvSpPr>
        <p:spPr>
          <a:xfrm>
            <a:off x="1234440" y="5230368"/>
            <a:ext cx="3794760" cy="713232"/>
          </a:xfrm>
          <a:prstGeom prst="rect">
            <a:avLst/>
          </a:prstGeom>
          <a:noFill/>
          <a:ln/>
        </p:spPr>
        <p:txBody>
          <a:bodyPr wrap="square" lIns="0" tIns="0" rIns="0" bIns="0" rtlCol="0" anchor="ctr"/>
          <a:lstStyle/>
          <a:p>
            <a:pPr indent="0" marL="0">
              <a:buNone/>
            </a:pPr>
            <a:r>
              <a:rPr lang="en-US" sz="1500" dirty="0">
                <a:solidFill>
                  <a:schemeClr val="tx1"/>
                </a:solidFill>
              </a:rPr>
              <a:t>La mochila malogra la comida</a:t>
            </a:r>
            <a:endParaRPr lang="en-US" sz="1500" dirty="0"/>
          </a:p>
        </p:txBody>
      </p:sp>
      <p:sp>
        <p:nvSpPr>
          <p:cNvPr id="51" name="Shape 40"/>
          <p:cNvSpPr/>
          <p:nvPr/>
        </p:nvSpPr>
        <p:spPr>
          <a:xfrm>
            <a:off x="5285232" y="5413248"/>
            <a:ext cx="777240" cy="347472"/>
          </a:xfrm>
          <a:prstGeom prst="rightArrow">
            <a:avLst/>
          </a:prstGeom>
          <a:solidFill>
            <a:schemeClr val="accent3"/>
          </a:solidFill>
          <a:ln w="12700">
            <a:solidFill>
              <a:schemeClr val="accent3"/>
            </a:solidFill>
            <a:prstDash val="solid"/>
          </a:ln>
        </p:spPr>
      </p:sp>
      <p:sp>
        <p:nvSpPr>
          <p:cNvPr id="52" name="Shape 41"/>
          <p:cNvSpPr/>
          <p:nvPr/>
        </p:nvSpPr>
        <p:spPr>
          <a:xfrm>
            <a:off x="6217920" y="5230368"/>
            <a:ext cx="3657600" cy="713232"/>
          </a:xfrm>
          <a:prstGeom prst="roundRect">
            <a:avLst>
              <a:gd name="adj" fmla="val 50000"/>
            </a:avLst>
          </a:prstGeom>
          <a:solidFill>
            <a:schemeClr val="tx2"/>
          </a:solidFill>
          <a:ln w="12700">
            <a:solidFill>
              <a:schemeClr val="tx2"/>
            </a:solidFill>
            <a:prstDash val="solid"/>
          </a:ln>
        </p:spPr>
      </p:sp>
      <p:sp>
        <p:nvSpPr>
          <p:cNvPr id="53" name="Shape 42"/>
          <p:cNvSpPr/>
          <p:nvPr/>
        </p:nvSpPr>
        <p:spPr>
          <a:xfrm>
            <a:off x="6327648" y="5358384"/>
            <a:ext cx="457200" cy="457200"/>
          </a:xfrm>
          <a:prstGeom prst="ellipse">
            <a:avLst/>
          </a:prstGeom>
          <a:solidFill>
            <a:schemeClr val="accent4"/>
          </a:solidFill>
          <a:ln w="12700">
            <a:solidFill>
              <a:schemeClr val="accent4"/>
            </a:solidFill>
            <a:prstDash val="solid"/>
          </a:ln>
        </p:spPr>
      </p:sp>
      <p:pic>
        <p:nvPicPr>
          <p:cNvPr id="54" name="Image 9" descr="preencoded.png">    </p:cNvPr>
          <p:cNvPicPr>
            <a:picLocks noChangeAspect="1"/>
          </p:cNvPicPr>
          <p:nvPr/>
        </p:nvPicPr>
        <p:blipFill>
          <a:blip r:embed="rId10"/>
          <a:stretch>
            <a:fillRect/>
          </a:stretch>
        </p:blipFill>
        <p:spPr>
          <a:xfrm>
            <a:off x="6428232" y="5458968"/>
            <a:ext cx="256032" cy="256032"/>
          </a:xfrm>
          <a:prstGeom prst="rect">
            <a:avLst/>
          </a:prstGeom>
        </p:spPr>
      </p:pic>
      <p:sp>
        <p:nvSpPr>
          <p:cNvPr id="55" name="Text 43"/>
          <p:cNvSpPr txBox="1"/>
          <p:nvPr/>
        </p:nvSpPr>
        <p:spPr>
          <a:xfrm>
            <a:off x="6903720" y="5230368"/>
            <a:ext cx="2926080" cy="713232"/>
          </a:xfrm>
          <a:prstGeom prst="rect">
            <a:avLst/>
          </a:prstGeom>
          <a:noFill/>
          <a:ln/>
        </p:spPr>
        <p:txBody>
          <a:bodyPr wrap="square" lIns="0" tIns="0" rIns="0" bIns="0" rtlCol="0" anchor="ctr"/>
          <a:lstStyle/>
          <a:p>
            <a:pPr indent="0" marL="0">
              <a:buNone/>
            </a:pPr>
            <a:r>
              <a:rPr lang="en-US" sz="1500" b="1" dirty="0">
                <a:solidFill>
                  <a:schemeClr val="bg1"/>
                </a:solidFill>
              </a:rPr>
              <a:t>Porción sellada que no necesita frío</a:t>
            </a:r>
            <a:endParaRPr lang="en-US" sz="1500" dirty="0"/>
          </a:p>
        </p:txBody>
      </p:sp>
      <p:sp>
        <p:nvSpPr>
          <p:cNvPr id="56" name="Text 44"/>
          <p:cNvSpPr txBox="1"/>
          <p:nvPr/>
        </p:nvSpPr>
        <p:spPr>
          <a:xfrm>
            <a:off x="10012680" y="5230368"/>
            <a:ext cx="1627632" cy="713232"/>
          </a:xfrm>
          <a:prstGeom prst="rect">
            <a:avLst/>
          </a:prstGeom>
          <a:noFill/>
          <a:ln/>
        </p:spPr>
        <p:txBody>
          <a:bodyPr wrap="square" lIns="0" tIns="0" rIns="0" bIns="0" rtlCol="0" anchor="ctr"/>
          <a:lstStyle/>
          <a:p>
            <a:pPr indent="0" marL="0">
              <a:buNone/>
            </a:pPr>
            <a:r>
              <a:rPr lang="en-US" sz="1200" i="1" dirty="0">
                <a:solidFill>
                  <a:schemeClr val="accent2"/>
                </a:solidFill>
              </a:rPr>
              <a:t>Entrevistas</a:t>
            </a:r>
            <a:endParaRPr lang="en-US" sz="12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INNOVACIÓN TECNOLÓGICA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App Andi, Misión Hierro: viene con cada envase</a:t>
            </a:r>
            <a:endParaRPr lang="en-US" sz="3400" dirty="0"/>
          </a:p>
        </p:txBody>
      </p:sp>
      <p:sp>
        <p:nvSpPr>
          <p:cNvPr id="4" name="Shape 2"/>
          <p:cNvSpPr/>
          <p:nvPr/>
        </p:nvSpPr>
        <p:spPr>
          <a:xfrm>
            <a:off x="548640" y="1463040"/>
            <a:ext cx="4343400" cy="4069080"/>
          </a:xfrm>
          <a:prstGeom prst="roundRect">
            <a:avLst>
              <a:gd name="adj" fmla="val 269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645920"/>
            <a:ext cx="384048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MODO PADRES</a:t>
            </a:r>
            <a:endParaRPr lang="en-US" sz="1200" dirty="0"/>
          </a:p>
        </p:txBody>
      </p:sp>
      <p:sp>
        <p:nvSpPr>
          <p:cNvPr id="6" name="Text 4"/>
          <p:cNvSpPr txBox="1"/>
          <p:nvPr/>
        </p:nvSpPr>
        <p:spPr>
          <a:xfrm>
            <a:off x="822960" y="1920240"/>
            <a:ext cx="3840480" cy="384048"/>
          </a:xfrm>
          <a:prstGeom prst="rect">
            <a:avLst/>
          </a:prstGeom>
          <a:noFill/>
          <a:ln/>
        </p:spPr>
        <p:txBody>
          <a:bodyPr wrap="square" lIns="0" tIns="0" rIns="0" bIns="0" rtlCol="0" anchor="t"/>
          <a:lstStyle/>
          <a:p>
            <a:pPr indent="0" marL="0">
              <a:buNone/>
            </a:pPr>
            <a:r>
              <a:rPr lang="en-US" sz="1900" b="1" dirty="0">
                <a:solidFill>
                  <a:schemeClr val="tx2"/>
                </a:solidFill>
              </a:rPr>
              <a:t>Datos que dan confianza</a:t>
            </a:r>
            <a:endParaRPr lang="en-US" sz="1900" dirty="0"/>
          </a:p>
        </p:txBody>
      </p:sp>
      <p:sp>
        <p:nvSpPr>
          <p:cNvPr id="7" name="Shape 5"/>
          <p:cNvSpPr/>
          <p:nvPr/>
        </p:nvSpPr>
        <p:spPr>
          <a:xfrm>
            <a:off x="822960" y="2468880"/>
            <a:ext cx="457200" cy="457200"/>
          </a:xfrm>
          <a:prstGeom prst="ellipse">
            <a:avLst/>
          </a:prstGeom>
          <a:solidFill>
            <a:schemeClr val="accent1"/>
          </a:solidFill>
          <a:ln w="12700">
            <a:solidFill>
              <a:schemeClr val="accent1"/>
            </a:solidFill>
            <a:prstDash val="solid"/>
          </a:ln>
        </p:spPr>
      </p:sp>
      <p:pic>
        <p:nvPicPr>
          <p:cNvPr id="8" name="Image 0" descr="preencoded.png">    </p:cNvPr>
          <p:cNvPicPr>
            <a:picLocks noChangeAspect="1"/>
          </p:cNvPicPr>
          <p:nvPr/>
        </p:nvPicPr>
        <p:blipFill>
          <a:blip r:embed="rId1"/>
          <a:stretch>
            <a:fillRect/>
          </a:stretch>
        </p:blipFill>
        <p:spPr>
          <a:xfrm>
            <a:off x="923544" y="2569464"/>
            <a:ext cx="256032" cy="256032"/>
          </a:xfrm>
          <a:prstGeom prst="rect">
            <a:avLst/>
          </a:prstGeom>
        </p:spPr>
      </p:pic>
      <p:sp>
        <p:nvSpPr>
          <p:cNvPr id="9" name="Text 6"/>
          <p:cNvSpPr txBox="1"/>
          <p:nvPr/>
        </p:nvSpPr>
        <p:spPr>
          <a:xfrm>
            <a:off x="1417320" y="2468880"/>
            <a:ext cx="3383280" cy="457200"/>
          </a:xfrm>
          <a:prstGeom prst="rect">
            <a:avLst/>
          </a:prstGeom>
          <a:noFill/>
          <a:ln/>
        </p:spPr>
        <p:txBody>
          <a:bodyPr wrap="square" lIns="0" tIns="0" rIns="0" bIns="0" rtlCol="0" anchor="ctr"/>
          <a:lstStyle/>
          <a:p>
            <a:pPr indent="0" marL="0">
              <a:buNone/>
            </a:pPr>
            <a:r>
              <a:rPr lang="en-US" sz="1500" b="1" dirty="0">
                <a:solidFill>
                  <a:schemeClr val="tx1"/>
                </a:solidFill>
              </a:rPr>
              <a:t>Mi lote: hierro medido</a:t>
            </a:r>
            <a:endParaRPr lang="en-US" sz="1500" dirty="0"/>
          </a:p>
        </p:txBody>
      </p:sp>
      <p:sp>
        <p:nvSpPr>
          <p:cNvPr id="10" name="Shape 7"/>
          <p:cNvSpPr/>
          <p:nvPr/>
        </p:nvSpPr>
        <p:spPr>
          <a:xfrm>
            <a:off x="822960" y="3072384"/>
            <a:ext cx="457200" cy="457200"/>
          </a:xfrm>
          <a:prstGeom prst="ellipse">
            <a:avLst/>
          </a:prstGeom>
          <a:solidFill>
            <a:schemeClr val="tx2"/>
          </a:solidFill>
          <a:ln w="12700">
            <a:solidFill>
              <a:schemeClr val="tx2"/>
            </a:solidFill>
            <a:prstDash val="solid"/>
          </a:ln>
        </p:spPr>
      </p:sp>
      <p:pic>
        <p:nvPicPr>
          <p:cNvPr id="11" name="Image 1" descr="preencoded.png">    </p:cNvPr>
          <p:cNvPicPr>
            <a:picLocks noChangeAspect="1"/>
          </p:cNvPicPr>
          <p:nvPr/>
        </p:nvPicPr>
        <p:blipFill>
          <a:blip r:embed="rId2"/>
          <a:stretch>
            <a:fillRect/>
          </a:stretch>
        </p:blipFill>
        <p:spPr>
          <a:xfrm>
            <a:off x="923544" y="3172968"/>
            <a:ext cx="256032" cy="256032"/>
          </a:xfrm>
          <a:prstGeom prst="rect">
            <a:avLst/>
          </a:prstGeom>
        </p:spPr>
      </p:pic>
      <p:sp>
        <p:nvSpPr>
          <p:cNvPr id="12" name="Text 8"/>
          <p:cNvSpPr txBox="1"/>
          <p:nvPr/>
        </p:nvSpPr>
        <p:spPr>
          <a:xfrm>
            <a:off x="1417320" y="3072384"/>
            <a:ext cx="3383280" cy="457200"/>
          </a:xfrm>
          <a:prstGeom prst="rect">
            <a:avLst/>
          </a:prstGeom>
          <a:noFill/>
          <a:ln/>
        </p:spPr>
        <p:txBody>
          <a:bodyPr wrap="square" lIns="0" tIns="0" rIns="0" bIns="0" rtlCol="0" anchor="ctr"/>
          <a:lstStyle/>
          <a:p>
            <a:pPr indent="0" marL="0">
              <a:buNone/>
            </a:pPr>
            <a:r>
              <a:rPr lang="en-US" sz="1500" dirty="0">
                <a:solidFill>
                  <a:schemeClr val="tx1"/>
                </a:solidFill>
              </a:rPr>
              <a:t>Semáforo de hierro semanal</a:t>
            </a:r>
            <a:endParaRPr lang="en-US" sz="1500" dirty="0"/>
          </a:p>
        </p:txBody>
      </p:sp>
      <p:sp>
        <p:nvSpPr>
          <p:cNvPr id="13" name="Shape 9"/>
          <p:cNvSpPr/>
          <p:nvPr/>
        </p:nvSpPr>
        <p:spPr>
          <a:xfrm>
            <a:off x="822960" y="3675888"/>
            <a:ext cx="457200" cy="457200"/>
          </a:xfrm>
          <a:prstGeom prst="ellipse">
            <a:avLst/>
          </a:prstGeom>
          <a:solidFill>
            <a:schemeClr val="tx2"/>
          </a:solidFill>
          <a:ln w="12700">
            <a:solidFill>
              <a:schemeClr val="tx2"/>
            </a:solidFill>
            <a:prstDash val="solid"/>
          </a:ln>
        </p:spPr>
      </p:sp>
      <p:pic>
        <p:nvPicPr>
          <p:cNvPr id="14" name="Image 2" descr="preencoded.png">    </p:cNvPr>
          <p:cNvPicPr>
            <a:picLocks noChangeAspect="1"/>
          </p:cNvPicPr>
          <p:nvPr/>
        </p:nvPicPr>
        <p:blipFill>
          <a:blip r:embed="rId3"/>
          <a:stretch>
            <a:fillRect/>
          </a:stretch>
        </p:blipFill>
        <p:spPr>
          <a:xfrm>
            <a:off x="923544" y="3776472"/>
            <a:ext cx="256032" cy="256032"/>
          </a:xfrm>
          <a:prstGeom prst="rect">
            <a:avLst/>
          </a:prstGeom>
        </p:spPr>
      </p:pic>
      <p:sp>
        <p:nvSpPr>
          <p:cNvPr id="15" name="Text 10"/>
          <p:cNvSpPr txBox="1"/>
          <p:nvPr/>
        </p:nvSpPr>
        <p:spPr>
          <a:xfrm>
            <a:off x="1417320" y="3675888"/>
            <a:ext cx="3383280" cy="457200"/>
          </a:xfrm>
          <a:prstGeom prst="rect">
            <a:avLst/>
          </a:prstGeom>
          <a:noFill/>
          <a:ln/>
        </p:spPr>
        <p:txBody>
          <a:bodyPr wrap="square" lIns="0" tIns="0" rIns="0" bIns="0" rtlCol="0" anchor="ctr"/>
          <a:lstStyle/>
          <a:p>
            <a:pPr indent="0" marL="0">
              <a:buNone/>
            </a:pPr>
            <a:r>
              <a:rPr lang="en-US" sz="1500" dirty="0">
                <a:solidFill>
                  <a:schemeClr val="tx1"/>
                </a:solidFill>
              </a:rPr>
              <a:t>Plan de loncheras con IA</a:t>
            </a:r>
            <a:endParaRPr lang="en-US" sz="1500" dirty="0"/>
          </a:p>
        </p:txBody>
      </p:sp>
      <p:sp>
        <p:nvSpPr>
          <p:cNvPr id="16" name="Shape 11"/>
          <p:cNvSpPr/>
          <p:nvPr/>
        </p:nvSpPr>
        <p:spPr>
          <a:xfrm>
            <a:off x="822960" y="4279392"/>
            <a:ext cx="457200" cy="457200"/>
          </a:xfrm>
          <a:prstGeom prst="ellipse">
            <a:avLst/>
          </a:prstGeom>
          <a:solidFill>
            <a:schemeClr val="tx2"/>
          </a:solidFill>
          <a:ln w="12700">
            <a:solidFill>
              <a:schemeClr val="tx2"/>
            </a:solidFill>
            <a:prstDash val="solid"/>
          </a:ln>
        </p:spPr>
      </p:sp>
      <p:pic>
        <p:nvPicPr>
          <p:cNvPr id="17" name="Image 3" descr="preencoded.png">    </p:cNvPr>
          <p:cNvPicPr>
            <a:picLocks noChangeAspect="1"/>
          </p:cNvPicPr>
          <p:nvPr/>
        </p:nvPicPr>
        <p:blipFill>
          <a:blip r:embed="rId4"/>
          <a:stretch>
            <a:fillRect/>
          </a:stretch>
        </p:blipFill>
        <p:spPr>
          <a:xfrm>
            <a:off x="923544" y="4379976"/>
            <a:ext cx="256032" cy="256032"/>
          </a:xfrm>
          <a:prstGeom prst="rect">
            <a:avLst/>
          </a:prstGeom>
        </p:spPr>
      </p:pic>
      <p:sp>
        <p:nvSpPr>
          <p:cNvPr id="18" name="Text 12"/>
          <p:cNvSpPr txBox="1"/>
          <p:nvPr/>
        </p:nvSpPr>
        <p:spPr>
          <a:xfrm>
            <a:off x="1417320" y="4279392"/>
            <a:ext cx="3383280" cy="457200"/>
          </a:xfrm>
          <a:prstGeom prst="rect">
            <a:avLst/>
          </a:prstGeom>
          <a:noFill/>
          <a:ln/>
        </p:spPr>
        <p:txBody>
          <a:bodyPr wrap="square" lIns="0" tIns="0" rIns="0" bIns="0" rtlCol="0" anchor="ctr"/>
          <a:lstStyle/>
          <a:p>
            <a:pPr indent="0" marL="0">
              <a:buNone/>
            </a:pPr>
            <a:r>
              <a:rPr lang="en-US" sz="1500" dirty="0">
                <a:solidFill>
                  <a:schemeClr val="tx1"/>
                </a:solidFill>
              </a:rPr>
              <a:t>Recordatorio de hemoglobina</a:t>
            </a:r>
            <a:endParaRPr lang="en-US" sz="1500" dirty="0"/>
          </a:p>
        </p:txBody>
      </p:sp>
      <p:sp>
        <p:nvSpPr>
          <p:cNvPr id="19" name="Shape 13"/>
          <p:cNvSpPr/>
          <p:nvPr/>
        </p:nvSpPr>
        <p:spPr>
          <a:xfrm>
            <a:off x="822960" y="4882896"/>
            <a:ext cx="457200" cy="457200"/>
          </a:xfrm>
          <a:prstGeom prst="ellipse">
            <a:avLst/>
          </a:prstGeom>
          <a:solidFill>
            <a:schemeClr val="tx2"/>
          </a:solidFill>
          <a:ln w="12700">
            <a:solidFill>
              <a:schemeClr val="tx2"/>
            </a:solidFill>
            <a:prstDash val="solid"/>
          </a:ln>
        </p:spPr>
      </p:sp>
      <p:pic>
        <p:nvPicPr>
          <p:cNvPr id="20" name="Image 4" descr="preencoded.png">    </p:cNvPr>
          <p:cNvPicPr>
            <a:picLocks noChangeAspect="1"/>
          </p:cNvPicPr>
          <p:nvPr/>
        </p:nvPicPr>
        <p:blipFill>
          <a:blip r:embed="rId5"/>
          <a:stretch>
            <a:fillRect/>
          </a:stretch>
        </p:blipFill>
        <p:spPr>
          <a:xfrm>
            <a:off x="923544" y="4983480"/>
            <a:ext cx="256032" cy="256032"/>
          </a:xfrm>
          <a:prstGeom prst="rect">
            <a:avLst/>
          </a:prstGeom>
        </p:spPr>
      </p:pic>
      <p:sp>
        <p:nvSpPr>
          <p:cNvPr id="21" name="Text 14"/>
          <p:cNvSpPr txBox="1"/>
          <p:nvPr/>
        </p:nvSpPr>
        <p:spPr>
          <a:xfrm>
            <a:off x="1417320" y="4882896"/>
            <a:ext cx="3383280" cy="457200"/>
          </a:xfrm>
          <a:prstGeom prst="rect">
            <a:avLst/>
          </a:prstGeom>
          <a:noFill/>
          <a:ln/>
        </p:spPr>
        <p:txBody>
          <a:bodyPr wrap="square" lIns="0" tIns="0" rIns="0" bIns="0" rtlCol="0" anchor="ctr"/>
          <a:lstStyle/>
          <a:p>
            <a:pPr indent="0" marL="0">
              <a:buNone/>
            </a:pPr>
            <a:r>
              <a:rPr lang="en-US" sz="1500" dirty="0">
                <a:solidFill>
                  <a:schemeClr val="tx1"/>
                </a:solidFill>
              </a:rPr>
              <a:t>Recompra en un clic</a:t>
            </a:r>
            <a:endParaRPr lang="en-US" sz="1500" dirty="0"/>
          </a:p>
        </p:txBody>
      </p:sp>
      <p:sp>
        <p:nvSpPr>
          <p:cNvPr id="22" name="Shape 15"/>
          <p:cNvSpPr/>
          <p:nvPr/>
        </p:nvSpPr>
        <p:spPr>
          <a:xfrm>
            <a:off x="5074920" y="1463040"/>
            <a:ext cx="4023360" cy="4069080"/>
          </a:xfrm>
          <a:prstGeom prst="roundRect">
            <a:avLst>
              <a:gd name="adj" fmla="val 2727"/>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23" name="Text 16"/>
          <p:cNvSpPr txBox="1"/>
          <p:nvPr/>
        </p:nvSpPr>
        <p:spPr>
          <a:xfrm>
            <a:off x="5349240" y="1645920"/>
            <a:ext cx="3566160" cy="274320"/>
          </a:xfrm>
          <a:prstGeom prst="rect">
            <a:avLst/>
          </a:prstGeom>
          <a:noFill/>
          <a:ln/>
        </p:spPr>
        <p:txBody>
          <a:bodyPr wrap="square" lIns="0" tIns="0" rIns="0" bIns="0" rtlCol="0" anchor="t"/>
          <a:lstStyle/>
          <a:p>
            <a:pPr indent="0" marL="0">
              <a:buNone/>
            </a:pPr>
            <a:r>
              <a:rPr lang="en-US" sz="1200" b="1" spc="100" kern="0" dirty="0">
                <a:solidFill>
                  <a:schemeClr val="accent3"/>
                </a:solidFill>
              </a:rPr>
              <a:t>MODO NIÑOS</a:t>
            </a:r>
            <a:endParaRPr lang="en-US" sz="1200" dirty="0"/>
          </a:p>
        </p:txBody>
      </p:sp>
      <p:sp>
        <p:nvSpPr>
          <p:cNvPr id="24" name="Text 17"/>
          <p:cNvSpPr txBox="1"/>
          <p:nvPr/>
        </p:nvSpPr>
        <p:spPr>
          <a:xfrm>
            <a:off x="5349240" y="1920240"/>
            <a:ext cx="3566160" cy="384048"/>
          </a:xfrm>
          <a:prstGeom prst="rect">
            <a:avLst/>
          </a:prstGeom>
          <a:noFill/>
          <a:ln/>
        </p:spPr>
        <p:txBody>
          <a:bodyPr wrap="square" lIns="0" tIns="0" rIns="0" bIns="0" rtlCol="0" anchor="t"/>
          <a:lstStyle/>
          <a:p>
            <a:pPr indent="0" marL="0">
              <a:buNone/>
            </a:pPr>
            <a:r>
              <a:rPr lang="en-US" sz="1900" b="1" dirty="0">
                <a:solidFill>
                  <a:schemeClr val="bg1"/>
                </a:solidFill>
              </a:rPr>
              <a:t>Aprender jugando con Andi</a:t>
            </a:r>
            <a:endParaRPr lang="en-US" sz="1900" dirty="0"/>
          </a:p>
        </p:txBody>
      </p:sp>
      <p:sp>
        <p:nvSpPr>
          <p:cNvPr id="25" name="Shape 18"/>
          <p:cNvSpPr/>
          <p:nvPr/>
        </p:nvSpPr>
        <p:spPr>
          <a:xfrm>
            <a:off x="5349240" y="2468880"/>
            <a:ext cx="457200" cy="457200"/>
          </a:xfrm>
          <a:prstGeom prst="ellipse">
            <a:avLst/>
          </a:prstGeom>
          <a:solidFill>
            <a:schemeClr val="accent3"/>
          </a:solidFill>
          <a:ln w="12700">
            <a:solidFill>
              <a:schemeClr val="accent3"/>
            </a:solidFill>
            <a:prstDash val="solid"/>
          </a:ln>
        </p:spPr>
      </p:sp>
      <p:pic>
        <p:nvPicPr>
          <p:cNvPr id="26" name="Image 5" descr="preencoded.png">    </p:cNvPr>
          <p:cNvPicPr>
            <a:picLocks noChangeAspect="1"/>
          </p:cNvPicPr>
          <p:nvPr/>
        </p:nvPicPr>
        <p:blipFill>
          <a:blip r:embed="rId6"/>
          <a:stretch>
            <a:fillRect/>
          </a:stretch>
        </p:blipFill>
        <p:spPr>
          <a:xfrm>
            <a:off x="5449824" y="2569464"/>
            <a:ext cx="256032" cy="256032"/>
          </a:xfrm>
          <a:prstGeom prst="rect">
            <a:avLst/>
          </a:prstGeom>
        </p:spPr>
      </p:pic>
      <p:sp>
        <p:nvSpPr>
          <p:cNvPr id="27" name="Text 19"/>
          <p:cNvSpPr txBox="1"/>
          <p:nvPr/>
        </p:nvSpPr>
        <p:spPr>
          <a:xfrm>
            <a:off x="5943600" y="2468880"/>
            <a:ext cx="3063240" cy="457200"/>
          </a:xfrm>
          <a:prstGeom prst="rect">
            <a:avLst/>
          </a:prstGeom>
          <a:noFill/>
          <a:ln/>
        </p:spPr>
        <p:txBody>
          <a:bodyPr wrap="square" lIns="0" tIns="0" rIns="0" bIns="0" rtlCol="0" anchor="ctr"/>
          <a:lstStyle/>
          <a:p>
            <a:pPr indent="0" marL="0">
              <a:buNone/>
            </a:pPr>
            <a:r>
              <a:rPr lang="en-US" sz="1500" dirty="0">
                <a:solidFill>
                  <a:schemeClr val="bg1"/>
                </a:solidFill>
              </a:rPr>
              <a:t>Arma tu plato fuerte</a:t>
            </a:r>
            <a:endParaRPr lang="en-US" sz="1500" dirty="0"/>
          </a:p>
        </p:txBody>
      </p:sp>
      <p:sp>
        <p:nvSpPr>
          <p:cNvPr id="28" name="Shape 20"/>
          <p:cNvSpPr/>
          <p:nvPr/>
        </p:nvSpPr>
        <p:spPr>
          <a:xfrm>
            <a:off x="5349240" y="3072384"/>
            <a:ext cx="457200" cy="457200"/>
          </a:xfrm>
          <a:prstGeom prst="ellipse">
            <a:avLst/>
          </a:prstGeom>
          <a:solidFill>
            <a:schemeClr val="accent3"/>
          </a:solidFill>
          <a:ln w="12700">
            <a:solidFill>
              <a:schemeClr val="accent3"/>
            </a:solidFill>
            <a:prstDash val="solid"/>
          </a:ln>
        </p:spPr>
      </p:sp>
      <p:pic>
        <p:nvPicPr>
          <p:cNvPr id="29" name="Image 6" descr="preencoded.png">    </p:cNvPr>
          <p:cNvPicPr>
            <a:picLocks noChangeAspect="1"/>
          </p:cNvPicPr>
          <p:nvPr/>
        </p:nvPicPr>
        <p:blipFill>
          <a:blip r:embed="rId7"/>
          <a:stretch>
            <a:fillRect/>
          </a:stretch>
        </p:blipFill>
        <p:spPr>
          <a:xfrm>
            <a:off x="5449824" y="3172968"/>
            <a:ext cx="256032" cy="256032"/>
          </a:xfrm>
          <a:prstGeom prst="rect">
            <a:avLst/>
          </a:prstGeom>
        </p:spPr>
      </p:pic>
      <p:sp>
        <p:nvSpPr>
          <p:cNvPr id="30" name="Text 21"/>
          <p:cNvSpPr txBox="1"/>
          <p:nvPr/>
        </p:nvSpPr>
        <p:spPr>
          <a:xfrm>
            <a:off x="5943600" y="3072384"/>
            <a:ext cx="3063240" cy="457200"/>
          </a:xfrm>
          <a:prstGeom prst="rect">
            <a:avLst/>
          </a:prstGeom>
          <a:noFill/>
          <a:ln/>
        </p:spPr>
        <p:txBody>
          <a:bodyPr wrap="square" lIns="0" tIns="0" rIns="0" bIns="0" rtlCol="0" anchor="ctr"/>
          <a:lstStyle/>
          <a:p>
            <a:pPr indent="0" marL="0">
              <a:buNone/>
            </a:pPr>
            <a:r>
              <a:rPr lang="en-US" sz="1500" dirty="0">
                <a:solidFill>
                  <a:schemeClr val="bg1"/>
                </a:solidFill>
              </a:rPr>
              <a:t>Memoria andina</a:t>
            </a:r>
            <a:endParaRPr lang="en-US" sz="1500" dirty="0"/>
          </a:p>
        </p:txBody>
      </p:sp>
      <p:sp>
        <p:nvSpPr>
          <p:cNvPr id="31" name="Shape 22"/>
          <p:cNvSpPr/>
          <p:nvPr/>
        </p:nvSpPr>
        <p:spPr>
          <a:xfrm>
            <a:off x="5349240" y="3675888"/>
            <a:ext cx="457200" cy="457200"/>
          </a:xfrm>
          <a:prstGeom prst="ellipse">
            <a:avLst/>
          </a:prstGeom>
          <a:solidFill>
            <a:schemeClr val="accent3"/>
          </a:solidFill>
          <a:ln w="12700">
            <a:solidFill>
              <a:schemeClr val="accent3"/>
            </a:solidFill>
            <a:prstDash val="solid"/>
          </a:ln>
        </p:spPr>
      </p:sp>
      <p:pic>
        <p:nvPicPr>
          <p:cNvPr id="32" name="Image 7" descr="preencoded.png">    </p:cNvPr>
          <p:cNvPicPr>
            <a:picLocks noChangeAspect="1"/>
          </p:cNvPicPr>
          <p:nvPr/>
        </p:nvPicPr>
        <p:blipFill>
          <a:blip r:embed="rId8"/>
          <a:stretch>
            <a:fillRect/>
          </a:stretch>
        </p:blipFill>
        <p:spPr>
          <a:xfrm>
            <a:off x="5449824" y="3776472"/>
            <a:ext cx="256032" cy="256032"/>
          </a:xfrm>
          <a:prstGeom prst="rect">
            <a:avLst/>
          </a:prstGeom>
        </p:spPr>
      </p:pic>
      <p:sp>
        <p:nvSpPr>
          <p:cNvPr id="33" name="Text 23"/>
          <p:cNvSpPr txBox="1"/>
          <p:nvPr/>
        </p:nvSpPr>
        <p:spPr>
          <a:xfrm>
            <a:off x="5943600" y="3675888"/>
            <a:ext cx="3063240" cy="457200"/>
          </a:xfrm>
          <a:prstGeom prst="rect">
            <a:avLst/>
          </a:prstGeom>
          <a:noFill/>
          <a:ln/>
        </p:spPr>
        <p:txBody>
          <a:bodyPr wrap="square" lIns="0" tIns="0" rIns="0" bIns="0" rtlCol="0" anchor="ctr"/>
          <a:lstStyle/>
          <a:p>
            <a:pPr indent="0" marL="0">
              <a:buNone/>
            </a:pPr>
            <a:r>
              <a:rPr lang="en-US" sz="1500" dirty="0">
                <a:solidFill>
                  <a:schemeClr val="bg1"/>
                </a:solidFill>
              </a:rPr>
              <a:t>¿Verdad o mito?</a:t>
            </a:r>
            <a:endParaRPr lang="en-US" sz="1500" dirty="0"/>
          </a:p>
        </p:txBody>
      </p:sp>
      <p:sp>
        <p:nvSpPr>
          <p:cNvPr id="34" name="Shape 24"/>
          <p:cNvSpPr/>
          <p:nvPr/>
        </p:nvSpPr>
        <p:spPr>
          <a:xfrm>
            <a:off x="5349240" y="4279392"/>
            <a:ext cx="457200" cy="457200"/>
          </a:xfrm>
          <a:prstGeom prst="ellipse">
            <a:avLst/>
          </a:prstGeom>
          <a:solidFill>
            <a:schemeClr val="accent3"/>
          </a:solidFill>
          <a:ln w="12700">
            <a:solidFill>
              <a:schemeClr val="accent3"/>
            </a:solidFill>
            <a:prstDash val="solid"/>
          </a:ln>
        </p:spPr>
      </p:sp>
      <p:pic>
        <p:nvPicPr>
          <p:cNvPr id="35" name="Image 8" descr="preencoded.png">    </p:cNvPr>
          <p:cNvPicPr>
            <a:picLocks noChangeAspect="1"/>
          </p:cNvPicPr>
          <p:nvPr/>
        </p:nvPicPr>
        <p:blipFill>
          <a:blip r:embed="rId9"/>
          <a:stretch>
            <a:fillRect/>
          </a:stretch>
        </p:blipFill>
        <p:spPr>
          <a:xfrm>
            <a:off x="5449824" y="4379976"/>
            <a:ext cx="256032" cy="256032"/>
          </a:xfrm>
          <a:prstGeom prst="rect">
            <a:avLst/>
          </a:prstGeom>
        </p:spPr>
      </p:pic>
      <p:sp>
        <p:nvSpPr>
          <p:cNvPr id="36" name="Text 25"/>
          <p:cNvSpPr txBox="1"/>
          <p:nvPr/>
        </p:nvSpPr>
        <p:spPr>
          <a:xfrm>
            <a:off x="5943600" y="4279392"/>
            <a:ext cx="3063240" cy="457200"/>
          </a:xfrm>
          <a:prstGeom prst="rect">
            <a:avLst/>
          </a:prstGeom>
          <a:noFill/>
          <a:ln/>
        </p:spPr>
        <p:txBody>
          <a:bodyPr wrap="square" lIns="0" tIns="0" rIns="0" bIns="0" rtlCol="0" anchor="ctr"/>
          <a:lstStyle/>
          <a:p>
            <a:pPr indent="0" marL="0">
              <a:buNone/>
            </a:pPr>
            <a:r>
              <a:rPr lang="en-US" sz="1500" dirty="0">
                <a:solidFill>
                  <a:schemeClr val="bg1"/>
                </a:solidFill>
              </a:rPr>
              <a:t>Ruta de hábitos</a:t>
            </a:r>
            <a:endParaRPr lang="en-US" sz="1500" dirty="0"/>
          </a:p>
        </p:txBody>
      </p:sp>
      <p:sp>
        <p:nvSpPr>
          <p:cNvPr id="37" name="Shape 26"/>
          <p:cNvSpPr/>
          <p:nvPr/>
        </p:nvSpPr>
        <p:spPr>
          <a:xfrm>
            <a:off x="5349240" y="4882896"/>
            <a:ext cx="457200" cy="457200"/>
          </a:xfrm>
          <a:prstGeom prst="ellipse">
            <a:avLst/>
          </a:prstGeom>
          <a:solidFill>
            <a:schemeClr val="accent5"/>
          </a:solidFill>
          <a:ln w="12700">
            <a:solidFill>
              <a:schemeClr val="accent5"/>
            </a:solidFill>
            <a:prstDash val="solid"/>
          </a:ln>
        </p:spPr>
      </p:sp>
      <p:pic>
        <p:nvPicPr>
          <p:cNvPr id="38" name="Image 9" descr="preencoded.png">    </p:cNvPr>
          <p:cNvPicPr>
            <a:picLocks noChangeAspect="1"/>
          </p:cNvPicPr>
          <p:nvPr/>
        </p:nvPicPr>
        <p:blipFill>
          <a:blip r:embed="rId10"/>
          <a:stretch>
            <a:fillRect/>
          </a:stretch>
        </p:blipFill>
        <p:spPr>
          <a:xfrm>
            <a:off x="5449824" y="4983480"/>
            <a:ext cx="256032" cy="256032"/>
          </a:xfrm>
          <a:prstGeom prst="rect">
            <a:avLst/>
          </a:prstGeom>
        </p:spPr>
      </p:pic>
      <p:sp>
        <p:nvSpPr>
          <p:cNvPr id="39" name="Text 27"/>
          <p:cNvSpPr txBox="1"/>
          <p:nvPr/>
        </p:nvSpPr>
        <p:spPr>
          <a:xfrm>
            <a:off x="5943600" y="4882896"/>
            <a:ext cx="3063240" cy="457200"/>
          </a:xfrm>
          <a:prstGeom prst="rect">
            <a:avLst/>
          </a:prstGeom>
          <a:noFill/>
          <a:ln/>
        </p:spPr>
        <p:txBody>
          <a:bodyPr wrap="square" lIns="0" tIns="0" rIns="0" bIns="0" rtlCol="0" anchor="ctr"/>
          <a:lstStyle/>
          <a:p>
            <a:pPr indent="0" marL="0">
              <a:buNone/>
            </a:pPr>
            <a:r>
              <a:rPr lang="en-US" sz="1500" dirty="0">
                <a:solidFill>
                  <a:schemeClr val="bg1"/>
                </a:solidFill>
              </a:rPr>
              <a:t>Lo abre el padre, con tiempo</a:t>
            </a:r>
            <a:endParaRPr lang="en-US" sz="1500" dirty="0"/>
          </a:p>
        </p:txBody>
      </p:sp>
      <p:pic>
        <p:nvPicPr>
          <p:cNvPr id="40" name="Image 10" descr="img/app-lote.png">    </p:cNvPr>
          <p:cNvPicPr>
            <a:picLocks noChangeAspect="1"/>
          </p:cNvPicPr>
          <p:nvPr/>
        </p:nvPicPr>
        <p:blipFill>
          <a:blip r:embed="rId11"/>
          <a:stretch>
            <a:fillRect/>
          </a:stretch>
        </p:blipFill>
        <p:spPr>
          <a:xfrm>
            <a:off x="9445752" y="1371600"/>
            <a:ext cx="2029968" cy="4096512"/>
          </a:xfrm>
          <a:prstGeom prst="rect">
            <a:avLst/>
          </a:prstGeom>
        </p:spPr>
      </p:pic>
      <p:sp>
        <p:nvSpPr>
          <p:cNvPr id="41" name="Shape 28"/>
          <p:cNvSpPr/>
          <p:nvPr/>
        </p:nvSpPr>
        <p:spPr>
          <a:xfrm>
            <a:off x="548640" y="5669280"/>
            <a:ext cx="11091672" cy="548640"/>
          </a:xfrm>
          <a:prstGeom prst="roundRect">
            <a:avLst>
              <a:gd name="adj" fmla="val 50000"/>
            </a:avLst>
          </a:prstGeom>
          <a:solidFill>
            <a:schemeClr val="accent1"/>
          </a:solidFill>
          <a:ln w="12700">
            <a:solidFill>
              <a:schemeClr val="accent1"/>
            </a:solidFill>
            <a:prstDash val="solid"/>
          </a:ln>
        </p:spPr>
      </p:sp>
      <p:sp>
        <p:nvSpPr>
          <p:cNvPr id="42" name="Text 29"/>
          <p:cNvSpPr txBox="1"/>
          <p:nvPr/>
        </p:nvSpPr>
        <p:spPr>
          <a:xfrm>
            <a:off x="822960" y="5669280"/>
            <a:ext cx="10607040" cy="548640"/>
          </a:xfrm>
          <a:prstGeom prst="rect">
            <a:avLst/>
          </a:prstGeom>
          <a:noFill/>
          <a:ln/>
        </p:spPr>
        <p:txBody>
          <a:bodyPr wrap="square" lIns="0" tIns="0" rIns="0" bIns="0" rtlCol="0" anchor="ctr"/>
          <a:lstStyle/>
          <a:p>
            <a:pPr indent="0" marL="0">
              <a:buNone/>
            </a:pPr>
            <a:r>
              <a:rPr lang="en-US" sz="1500" b="1" dirty="0">
                <a:solidFill>
                  <a:schemeClr val="bg1"/>
                </a:solidFill>
              </a:rPr>
              <a:t>Cumple la Ley 30021: </a:t>
            </a:r>
            <a:pPr indent="0" marL="0">
              <a:buNone/>
            </a:pPr>
            <a:r>
              <a:rPr lang="en-US" sz="1500" dirty="0">
                <a:solidFill>
                  <a:schemeClr val="bg1"/>
                </a:solidFill>
              </a:rPr>
              <a:t>en el modo niño no hay compras, ni publicidad, ni premios por comprar.</a:t>
            </a:r>
            <a:endParaRPr lang="en-US" sz="15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INNOVACIÓN TECNOLÓGICA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Del stand a la recompra, con la app en el medio</a:t>
            </a:r>
            <a:endParaRPr lang="en-US" sz="3400" dirty="0"/>
          </a:p>
        </p:txBody>
      </p:sp>
      <p:sp>
        <p:nvSpPr>
          <p:cNvPr id="4" name="Shape 2"/>
          <p:cNvSpPr/>
          <p:nvPr/>
        </p:nvSpPr>
        <p:spPr>
          <a:xfrm>
            <a:off x="1600200" y="1965960"/>
            <a:ext cx="1207008" cy="0"/>
          </a:xfrm>
          <a:prstGeom prst="line">
            <a:avLst/>
          </a:prstGeom>
          <a:noFill/>
          <a:ln w="25400">
            <a:solidFill>
              <a:schemeClr val="accent5"/>
            </a:solidFill>
            <a:prstDash val="dash"/>
            <a:tailEnd type="triangle"/>
          </a:ln>
        </p:spPr>
      </p:sp>
      <p:sp>
        <p:nvSpPr>
          <p:cNvPr id="5" name="Shape 3"/>
          <p:cNvSpPr/>
          <p:nvPr/>
        </p:nvSpPr>
        <p:spPr>
          <a:xfrm>
            <a:off x="548640" y="1508760"/>
            <a:ext cx="914400" cy="914400"/>
          </a:xfrm>
          <a:prstGeom prst="ellipse">
            <a:avLst/>
          </a:prstGeom>
          <a:solidFill>
            <a:schemeClr val="tx2"/>
          </a:solidFill>
          <a:ln w="12700">
            <a:solidFill>
              <a:schemeClr val="tx2"/>
            </a:solidFill>
            <a:prstDash val="solid"/>
          </a:ln>
        </p:spPr>
      </p:sp>
      <p:pic>
        <p:nvPicPr>
          <p:cNvPr id="6" name="Image 0" descr="preencoded.png">    </p:cNvPr>
          <p:cNvPicPr>
            <a:picLocks noChangeAspect="1"/>
          </p:cNvPicPr>
          <p:nvPr/>
        </p:nvPicPr>
        <p:blipFill>
          <a:blip r:embed="rId1"/>
          <a:stretch>
            <a:fillRect/>
          </a:stretch>
        </p:blipFill>
        <p:spPr>
          <a:xfrm>
            <a:off x="749808" y="1709928"/>
            <a:ext cx="512064" cy="512064"/>
          </a:xfrm>
          <a:prstGeom prst="rect">
            <a:avLst/>
          </a:prstGeom>
        </p:spPr>
      </p:pic>
      <p:sp>
        <p:nvSpPr>
          <p:cNvPr id="7" name="Text 4"/>
          <p:cNvSpPr txBox="1"/>
          <p:nvPr/>
        </p:nvSpPr>
        <p:spPr>
          <a:xfrm>
            <a:off x="548640"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Compra en el stand</a:t>
            </a:r>
            <a:endParaRPr lang="en-US" sz="1600" dirty="0"/>
          </a:p>
        </p:txBody>
      </p:sp>
      <p:sp>
        <p:nvSpPr>
          <p:cNvPr id="8" name="Shape 5"/>
          <p:cNvSpPr/>
          <p:nvPr/>
        </p:nvSpPr>
        <p:spPr>
          <a:xfrm>
            <a:off x="3858768" y="1965960"/>
            <a:ext cx="1207008" cy="0"/>
          </a:xfrm>
          <a:prstGeom prst="line">
            <a:avLst/>
          </a:prstGeom>
          <a:noFill/>
          <a:ln w="25400">
            <a:solidFill>
              <a:schemeClr val="accent5"/>
            </a:solidFill>
            <a:prstDash val="dash"/>
            <a:tailEnd type="triangle"/>
          </a:ln>
        </p:spPr>
      </p:sp>
      <p:sp>
        <p:nvSpPr>
          <p:cNvPr id="9" name="Shape 6"/>
          <p:cNvSpPr/>
          <p:nvPr/>
        </p:nvSpPr>
        <p:spPr>
          <a:xfrm>
            <a:off x="2807208" y="1508760"/>
            <a:ext cx="914400" cy="914400"/>
          </a:xfrm>
          <a:prstGeom prst="ellipse">
            <a:avLst/>
          </a:prstGeom>
          <a:solidFill>
            <a:schemeClr val="tx2"/>
          </a:solidFill>
          <a:ln w="12700">
            <a:solidFill>
              <a:schemeClr val="tx2"/>
            </a:solidFill>
            <a:prstDash val="solid"/>
          </a:ln>
        </p:spPr>
      </p:sp>
      <p:pic>
        <p:nvPicPr>
          <p:cNvPr id="10" name="Image 1" descr="preencoded.png">    </p:cNvPr>
          <p:cNvPicPr>
            <a:picLocks noChangeAspect="1"/>
          </p:cNvPicPr>
          <p:nvPr/>
        </p:nvPicPr>
        <p:blipFill>
          <a:blip r:embed="rId2"/>
          <a:stretch>
            <a:fillRect/>
          </a:stretch>
        </p:blipFill>
        <p:spPr>
          <a:xfrm>
            <a:off x="3008376" y="1709928"/>
            <a:ext cx="512064" cy="512064"/>
          </a:xfrm>
          <a:prstGeom prst="rect">
            <a:avLst/>
          </a:prstGeom>
        </p:spPr>
      </p:pic>
      <p:sp>
        <p:nvSpPr>
          <p:cNvPr id="11" name="Text 7"/>
          <p:cNvSpPr txBox="1"/>
          <p:nvPr/>
        </p:nvSpPr>
        <p:spPr>
          <a:xfrm>
            <a:off x="2807208"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Escanea el QR</a:t>
            </a:r>
            <a:endParaRPr lang="en-US" sz="1600" dirty="0"/>
          </a:p>
        </p:txBody>
      </p:sp>
      <p:sp>
        <p:nvSpPr>
          <p:cNvPr id="12" name="Shape 8"/>
          <p:cNvSpPr/>
          <p:nvPr/>
        </p:nvSpPr>
        <p:spPr>
          <a:xfrm>
            <a:off x="6117336" y="1965960"/>
            <a:ext cx="1207008" cy="0"/>
          </a:xfrm>
          <a:prstGeom prst="line">
            <a:avLst/>
          </a:prstGeom>
          <a:noFill/>
          <a:ln w="25400">
            <a:solidFill>
              <a:schemeClr val="accent5"/>
            </a:solidFill>
            <a:prstDash val="dash"/>
            <a:tailEnd type="triangle"/>
          </a:ln>
        </p:spPr>
      </p:sp>
      <p:sp>
        <p:nvSpPr>
          <p:cNvPr id="13" name="Shape 9"/>
          <p:cNvSpPr/>
          <p:nvPr/>
        </p:nvSpPr>
        <p:spPr>
          <a:xfrm>
            <a:off x="5065776" y="1508760"/>
            <a:ext cx="914400" cy="914400"/>
          </a:xfrm>
          <a:prstGeom prst="ellipse">
            <a:avLst/>
          </a:prstGeom>
          <a:solidFill>
            <a:schemeClr val="accent1"/>
          </a:solidFill>
          <a:ln w="12700">
            <a:solidFill>
              <a:schemeClr val="accent1"/>
            </a:solidFill>
            <a:prstDash val="solid"/>
          </a:ln>
        </p:spPr>
      </p:sp>
      <p:pic>
        <p:nvPicPr>
          <p:cNvPr id="14" name="Image 2" descr="preencoded.png">    </p:cNvPr>
          <p:cNvPicPr>
            <a:picLocks noChangeAspect="1"/>
          </p:cNvPicPr>
          <p:nvPr/>
        </p:nvPicPr>
        <p:blipFill>
          <a:blip r:embed="rId3"/>
          <a:stretch>
            <a:fillRect/>
          </a:stretch>
        </p:blipFill>
        <p:spPr>
          <a:xfrm>
            <a:off x="5266944" y="1709928"/>
            <a:ext cx="512064" cy="512064"/>
          </a:xfrm>
          <a:prstGeom prst="rect">
            <a:avLst/>
          </a:prstGeom>
        </p:spPr>
      </p:pic>
      <p:sp>
        <p:nvSpPr>
          <p:cNvPr id="15" name="Text 10"/>
          <p:cNvSpPr txBox="1"/>
          <p:nvPr/>
        </p:nvSpPr>
        <p:spPr>
          <a:xfrm>
            <a:off x="5065776"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Ve el hierro de su lote</a:t>
            </a:r>
            <a:endParaRPr lang="en-US" sz="1600" dirty="0"/>
          </a:p>
        </p:txBody>
      </p:sp>
      <p:sp>
        <p:nvSpPr>
          <p:cNvPr id="16" name="Shape 11"/>
          <p:cNvSpPr/>
          <p:nvPr/>
        </p:nvSpPr>
        <p:spPr>
          <a:xfrm>
            <a:off x="8375904" y="1965960"/>
            <a:ext cx="1207008" cy="0"/>
          </a:xfrm>
          <a:prstGeom prst="line">
            <a:avLst/>
          </a:prstGeom>
          <a:noFill/>
          <a:ln w="25400">
            <a:solidFill>
              <a:schemeClr val="accent5"/>
            </a:solidFill>
            <a:prstDash val="dash"/>
            <a:tailEnd type="triangle"/>
          </a:ln>
        </p:spPr>
      </p:sp>
      <p:sp>
        <p:nvSpPr>
          <p:cNvPr id="17" name="Shape 12"/>
          <p:cNvSpPr/>
          <p:nvPr/>
        </p:nvSpPr>
        <p:spPr>
          <a:xfrm>
            <a:off x="7324344" y="1508760"/>
            <a:ext cx="914400" cy="914400"/>
          </a:xfrm>
          <a:prstGeom prst="ellipse">
            <a:avLst/>
          </a:prstGeom>
          <a:solidFill>
            <a:schemeClr val="tx2"/>
          </a:solidFill>
          <a:ln w="12700">
            <a:solidFill>
              <a:schemeClr val="tx2"/>
            </a:solidFill>
            <a:prstDash val="solid"/>
          </a:ln>
        </p:spPr>
      </p:sp>
      <p:pic>
        <p:nvPicPr>
          <p:cNvPr id="18" name="Image 3" descr="preencoded.png">    </p:cNvPr>
          <p:cNvPicPr>
            <a:picLocks noChangeAspect="1"/>
          </p:cNvPicPr>
          <p:nvPr/>
        </p:nvPicPr>
        <p:blipFill>
          <a:blip r:embed="rId4"/>
          <a:stretch>
            <a:fillRect/>
          </a:stretch>
        </p:blipFill>
        <p:spPr>
          <a:xfrm>
            <a:off x="7525512" y="1709928"/>
            <a:ext cx="512064" cy="512064"/>
          </a:xfrm>
          <a:prstGeom prst="rect">
            <a:avLst/>
          </a:prstGeom>
        </p:spPr>
      </p:pic>
      <p:sp>
        <p:nvSpPr>
          <p:cNvPr id="19" name="Text 13"/>
          <p:cNvSpPr txBox="1"/>
          <p:nvPr/>
        </p:nvSpPr>
        <p:spPr>
          <a:xfrm>
            <a:off x="7324344"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Usa loncheras y semáforo</a:t>
            </a:r>
            <a:endParaRPr lang="en-US" sz="1600" dirty="0"/>
          </a:p>
        </p:txBody>
      </p:sp>
      <p:sp>
        <p:nvSpPr>
          <p:cNvPr id="20" name="Shape 14"/>
          <p:cNvSpPr/>
          <p:nvPr/>
        </p:nvSpPr>
        <p:spPr>
          <a:xfrm>
            <a:off x="9582912" y="1508760"/>
            <a:ext cx="914400" cy="914400"/>
          </a:xfrm>
          <a:prstGeom prst="ellipse">
            <a:avLst/>
          </a:prstGeom>
          <a:solidFill>
            <a:schemeClr val="tx2"/>
          </a:solidFill>
          <a:ln w="12700">
            <a:solidFill>
              <a:schemeClr val="tx2"/>
            </a:solidFill>
            <a:prstDash val="solid"/>
          </a:ln>
        </p:spPr>
      </p:sp>
      <p:pic>
        <p:nvPicPr>
          <p:cNvPr id="21" name="Image 4" descr="preencoded.png">    </p:cNvPr>
          <p:cNvPicPr>
            <a:picLocks noChangeAspect="1"/>
          </p:cNvPicPr>
          <p:nvPr/>
        </p:nvPicPr>
        <p:blipFill>
          <a:blip r:embed="rId5"/>
          <a:stretch>
            <a:fillRect/>
          </a:stretch>
        </p:blipFill>
        <p:spPr>
          <a:xfrm>
            <a:off x="9784080" y="1709928"/>
            <a:ext cx="512064" cy="512064"/>
          </a:xfrm>
          <a:prstGeom prst="rect">
            <a:avLst/>
          </a:prstGeom>
        </p:spPr>
      </p:pic>
      <p:sp>
        <p:nvSpPr>
          <p:cNvPr id="22" name="Text 15"/>
          <p:cNvSpPr txBox="1"/>
          <p:nvPr/>
        </p:nvSpPr>
        <p:spPr>
          <a:xfrm>
            <a:off x="9582912" y="2560320"/>
            <a:ext cx="1984248" cy="640080"/>
          </a:xfrm>
          <a:prstGeom prst="rect">
            <a:avLst/>
          </a:prstGeom>
          <a:noFill/>
          <a:ln/>
        </p:spPr>
        <p:txBody>
          <a:bodyPr wrap="square" lIns="0" tIns="0" rIns="0" bIns="0" rtlCol="0" anchor="t"/>
          <a:lstStyle/>
          <a:p>
            <a:pPr indent="0" marL="0">
              <a:buNone/>
            </a:pPr>
            <a:r>
              <a:rPr lang="en-US" sz="1600" b="1" dirty="0">
                <a:solidFill>
                  <a:schemeClr val="tx2"/>
                </a:solidFill>
              </a:rPr>
              <a:t>Aviso y recompra</a:t>
            </a:r>
            <a:endParaRPr lang="en-US" sz="1600" dirty="0"/>
          </a:p>
        </p:txBody>
      </p:sp>
      <p:sp>
        <p:nvSpPr>
          <p:cNvPr id="23" name="Shape 16"/>
          <p:cNvSpPr/>
          <p:nvPr/>
        </p:nvSpPr>
        <p:spPr>
          <a:xfrm>
            <a:off x="548640" y="3429000"/>
            <a:ext cx="2615184" cy="1234440"/>
          </a:xfrm>
          <a:prstGeom prst="roundRect">
            <a:avLst>
              <a:gd name="adj" fmla="val 888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24" name="Text 17"/>
          <p:cNvSpPr txBox="1"/>
          <p:nvPr/>
        </p:nvSpPr>
        <p:spPr>
          <a:xfrm>
            <a:off x="777240" y="3429000"/>
            <a:ext cx="2249424" cy="1234440"/>
          </a:xfrm>
          <a:prstGeom prst="rect">
            <a:avLst/>
          </a:prstGeom>
          <a:noFill/>
          <a:ln/>
        </p:spPr>
        <p:txBody>
          <a:bodyPr wrap="square" lIns="0" tIns="0" rIns="0" bIns="0" rtlCol="0" anchor="ctr"/>
          <a:lstStyle/>
          <a:p>
            <a:pPr indent="0" marL="0">
              <a:buNone/>
            </a:pPr>
            <a:r>
              <a:rPr lang="en-US" sz="2800" b="1" dirty="0">
                <a:solidFill>
                  <a:schemeClr val="bg1"/>
                </a:solidFill>
              </a:rPr>
              <a:t>S/6,000</a:t>
            </a:r>
            <a:endParaRPr lang="en-US" sz="1400" dirty="0"/>
          </a:p>
          <a:p>
            <a:pPr indent="0" marL="0">
              <a:buNone/>
            </a:pPr>
            <a:r>
              <a:rPr lang="en-US" sz="1300" dirty="0">
                <a:solidFill>
                  <a:schemeClr val="bg1"/>
                </a:solidFill>
              </a:rPr>
              <a:t>inversión: diseño, desarrollo y pruebas</a:t>
            </a:r>
            <a:endParaRPr lang="en-US" sz="1400" dirty="0"/>
          </a:p>
        </p:txBody>
      </p:sp>
      <p:sp>
        <p:nvSpPr>
          <p:cNvPr id="25" name="Shape 18"/>
          <p:cNvSpPr/>
          <p:nvPr/>
        </p:nvSpPr>
        <p:spPr>
          <a:xfrm>
            <a:off x="3374136" y="3429000"/>
            <a:ext cx="2615184"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6" name="Text 19"/>
          <p:cNvSpPr txBox="1"/>
          <p:nvPr/>
        </p:nvSpPr>
        <p:spPr>
          <a:xfrm>
            <a:off x="3602736" y="3429000"/>
            <a:ext cx="2249424" cy="1234440"/>
          </a:xfrm>
          <a:prstGeom prst="rect">
            <a:avLst/>
          </a:prstGeom>
          <a:noFill/>
          <a:ln/>
        </p:spPr>
        <p:txBody>
          <a:bodyPr wrap="square" lIns="0" tIns="0" rIns="0" bIns="0" rtlCol="0" anchor="ctr"/>
          <a:lstStyle/>
          <a:p>
            <a:pPr indent="0" marL="0">
              <a:buNone/>
            </a:pPr>
            <a:r>
              <a:rPr lang="en-US" sz="2800" b="1" dirty="0">
                <a:solidFill>
                  <a:schemeClr val="accent1"/>
                </a:solidFill>
              </a:rPr>
              <a:t>S/250</a:t>
            </a:r>
            <a:endParaRPr lang="en-US" sz="1400" dirty="0"/>
          </a:p>
          <a:p>
            <a:pPr indent="0" marL="0">
              <a:buNone/>
            </a:pPr>
            <a:r>
              <a:rPr lang="en-US" sz="1300" dirty="0">
                <a:solidFill>
                  <a:schemeClr val="accent2"/>
                </a:solidFill>
              </a:rPr>
              <a:t>al mes: servidor, IA y mantenimiento</a:t>
            </a:r>
            <a:endParaRPr lang="en-US" sz="1400" dirty="0"/>
          </a:p>
        </p:txBody>
      </p:sp>
      <p:sp>
        <p:nvSpPr>
          <p:cNvPr id="27" name="Shape 20"/>
          <p:cNvSpPr/>
          <p:nvPr/>
        </p:nvSpPr>
        <p:spPr>
          <a:xfrm>
            <a:off x="6199632" y="3429000"/>
            <a:ext cx="2615184"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8" name="Text 21"/>
          <p:cNvSpPr txBox="1"/>
          <p:nvPr/>
        </p:nvSpPr>
        <p:spPr>
          <a:xfrm>
            <a:off x="6428232" y="3429000"/>
            <a:ext cx="2249424" cy="1234440"/>
          </a:xfrm>
          <a:prstGeom prst="rect">
            <a:avLst/>
          </a:prstGeom>
          <a:noFill/>
          <a:ln/>
        </p:spPr>
        <p:txBody>
          <a:bodyPr wrap="square" lIns="0" tIns="0" rIns="0" bIns="0" rtlCol="0" anchor="ctr"/>
          <a:lstStyle/>
          <a:p>
            <a:pPr indent="0" marL="0">
              <a:buNone/>
            </a:pPr>
            <a:r>
              <a:rPr lang="en-US" sz="2800" b="1" dirty="0">
                <a:solidFill>
                  <a:schemeClr val="accent1"/>
                </a:solidFill>
              </a:rPr>
              <a:t>S/0.04</a:t>
            </a:r>
            <a:endParaRPr lang="en-US" sz="1400" dirty="0"/>
          </a:p>
          <a:p>
            <a:pPr indent="0" marL="0">
              <a:buNone/>
            </a:pPr>
            <a:r>
              <a:rPr lang="en-US" sz="1300" dirty="0">
                <a:solidFill>
                  <a:schemeClr val="accent2"/>
                </a:solidFill>
              </a:rPr>
              <a:t>por código único impreso</a:t>
            </a:r>
            <a:endParaRPr lang="en-US" sz="1400" dirty="0"/>
          </a:p>
        </p:txBody>
      </p:sp>
      <p:sp>
        <p:nvSpPr>
          <p:cNvPr id="29" name="Shape 22"/>
          <p:cNvSpPr/>
          <p:nvPr/>
        </p:nvSpPr>
        <p:spPr>
          <a:xfrm>
            <a:off x="9025128" y="3429000"/>
            <a:ext cx="2615184" cy="1234440"/>
          </a:xfrm>
          <a:prstGeom prst="roundRect">
            <a:avLst>
              <a:gd name="adj" fmla="val 888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0" name="Text 23"/>
          <p:cNvSpPr txBox="1"/>
          <p:nvPr/>
        </p:nvSpPr>
        <p:spPr>
          <a:xfrm>
            <a:off x="9253728" y="3429000"/>
            <a:ext cx="2249424" cy="1234440"/>
          </a:xfrm>
          <a:prstGeom prst="rect">
            <a:avLst/>
          </a:prstGeom>
          <a:noFill/>
          <a:ln/>
        </p:spPr>
        <p:txBody>
          <a:bodyPr wrap="square" lIns="0" tIns="0" rIns="0" bIns="0" rtlCol="0" anchor="ctr"/>
          <a:lstStyle/>
          <a:p>
            <a:pPr indent="0" marL="0">
              <a:buNone/>
            </a:pPr>
            <a:r>
              <a:rPr lang="en-US" sz="2800" b="1" dirty="0">
                <a:solidFill>
                  <a:schemeClr val="accent1"/>
                </a:solidFill>
              </a:rPr>
              <a:t>S/375</a:t>
            </a:r>
            <a:endParaRPr lang="en-US" sz="1400" dirty="0"/>
          </a:p>
          <a:p>
            <a:pPr indent="0" marL="0">
              <a:buNone/>
            </a:pPr>
            <a:r>
              <a:rPr lang="en-US" sz="1300" dirty="0">
                <a:solidFill>
                  <a:schemeClr val="accent2"/>
                </a:solidFill>
              </a:rPr>
              <a:t>análisis de hierro de cada lote</a:t>
            </a:r>
            <a:endParaRPr lang="en-US" sz="1400" dirty="0"/>
          </a:p>
        </p:txBody>
      </p:sp>
      <p:sp>
        <p:nvSpPr>
          <p:cNvPr id="31" name="Shape 24"/>
          <p:cNvSpPr/>
          <p:nvPr/>
        </p:nvSpPr>
        <p:spPr>
          <a:xfrm>
            <a:off x="548640" y="4846320"/>
            <a:ext cx="6766560" cy="1325880"/>
          </a:xfrm>
          <a:prstGeom prst="roundRect">
            <a:avLst>
              <a:gd name="adj" fmla="val 8276"/>
            </a:avLst>
          </a:prstGeom>
          <a:solidFill>
            <a:schemeClr val="bg2"/>
          </a:solidFill>
          <a:ln w="12700">
            <a:solidFill>
              <a:schemeClr val="bg2"/>
            </a:solidFill>
            <a:prstDash val="solid"/>
          </a:ln>
        </p:spPr>
      </p:sp>
      <p:sp>
        <p:nvSpPr>
          <p:cNvPr id="32" name="Text 25"/>
          <p:cNvSpPr txBox="1"/>
          <p:nvPr/>
        </p:nvSpPr>
        <p:spPr>
          <a:xfrm>
            <a:off x="777240" y="4846320"/>
            <a:ext cx="6400800" cy="1325880"/>
          </a:xfrm>
          <a:prstGeom prst="rect">
            <a:avLst/>
          </a:prstGeom>
          <a:noFill/>
          <a:ln/>
        </p:spPr>
        <p:txBody>
          <a:bodyPr wrap="square" lIns="0" tIns="0" rIns="0" bIns="0" rtlCol="0" anchor="ctr"/>
          <a:lstStyle/>
          <a:p>
            <a:pPr indent="0" marL="0">
              <a:buNone/>
            </a:pPr>
            <a:r>
              <a:rPr lang="en-US" sz="1500" b="1" dirty="0">
                <a:solidFill>
                  <a:schemeClr val="tx2"/>
                </a:solidFill>
              </a:rPr>
              <a:t>Tecnología</a:t>
            </a:r>
            <a:endParaRPr lang="en-US" sz="1400" dirty="0"/>
          </a:p>
          <a:p>
            <a:pPr indent="0" marL="0">
              <a:buNone/>
            </a:pPr>
            <a:r>
              <a:rPr lang="en-US" sz="1400" dirty="0">
                <a:solidFill>
                  <a:schemeClr val="tx1"/>
                </a:solidFill>
              </a:rPr>
              <a:t>App web instalable (PWA) · servidor en Google Cloud Run · plan de loncheras con IA de Gemini · funciona sin conexión</a:t>
            </a:r>
            <a:endParaRPr lang="en-US" sz="1400" dirty="0"/>
          </a:p>
        </p:txBody>
      </p:sp>
      <p:sp>
        <p:nvSpPr>
          <p:cNvPr id="33" name="Shape 26"/>
          <p:cNvSpPr/>
          <p:nvPr/>
        </p:nvSpPr>
        <p:spPr>
          <a:xfrm>
            <a:off x="7498080" y="4846320"/>
            <a:ext cx="4142232" cy="1325880"/>
          </a:xfrm>
          <a:prstGeom prst="roundRect">
            <a:avLst>
              <a:gd name="adj" fmla="val 8276"/>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34" name="Text 27"/>
          <p:cNvSpPr txBox="1"/>
          <p:nvPr/>
        </p:nvSpPr>
        <p:spPr>
          <a:xfrm>
            <a:off x="7726680" y="4846320"/>
            <a:ext cx="3749040" cy="1325880"/>
          </a:xfrm>
          <a:prstGeom prst="rect">
            <a:avLst/>
          </a:prstGeom>
          <a:noFill/>
          <a:ln/>
        </p:spPr>
        <p:txBody>
          <a:bodyPr wrap="square" lIns="0" tIns="0" rIns="0" bIns="0" rtlCol="0" anchor="ctr"/>
          <a:lstStyle/>
          <a:p>
            <a:pPr indent="0" marL="0">
              <a:buNone/>
            </a:pPr>
            <a:r>
              <a:rPr lang="en-US" sz="1700" b="1" dirty="0">
                <a:solidFill>
                  <a:schemeClr val="accent3"/>
                </a:solidFill>
              </a:rPr>
              <a:t>30 % de envases escaneados</a:t>
            </a:r>
            <a:endParaRPr lang="en-US" sz="1400" dirty="0"/>
          </a:p>
          <a:p>
            <a:pPr indent="0" marL="0">
              <a:buNone/>
            </a:pPr>
            <a:r>
              <a:rPr lang="en-US" sz="1300" dirty="0">
                <a:solidFill>
                  <a:schemeClr val="bg1"/>
                </a:solidFill>
              </a:rPr>
              <a:t>Meta del año 1. La mitad de la recompra llega desde el aviso de la app.</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TRABAJO DE CAMPO 8 · FRENTE A LA COMPETENCIA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Algo más que Fika, con hierro medido y app propia</a:t>
            </a:r>
            <a:endParaRPr lang="en-US" sz="3400" dirty="0"/>
          </a:p>
        </p:txBody>
      </p:sp>
      <p:graphicFrame>
        <p:nvGraphicFramePr>
          <p:cNvPr id="4" name="Chart 0" descr=""/>
          <p:cNvGraphicFramePr/>
          <p:nvPr/>
        </p:nvGraphicFramePr>
        <p:xfrm>
          <a:off x="365760" y="1463040"/>
          <a:ext cx="640080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040880" y="1600200"/>
          <a:ext cx="4599432" cy="914400"/>
        </p:xfrm>
        <a:graphic>
          <a:graphicData uri="http://schemas.openxmlformats.org/drawingml/2006/table">
            <a:tbl>
              <a:tblPr/>
              <a:tblGrid>
                <a:gridCol w="1399032"/>
                <a:gridCol w="800100"/>
                <a:gridCol w="800100"/>
                <a:gridCol w="800100"/>
                <a:gridCol w="800100"/>
              </a:tblGrid>
              <a:tr h="411480">
                <a:tc>
                  <a:txBody>
                    <a:bodyPr/>
                    <a:lstStyle/>
                    <a:p>
                      <a:pPr indent="0" marL="0">
                        <a:buNone/>
                      </a:pPr>
                      <a:r>
                        <a:rPr lang="en-US" sz="1200" b="1" dirty="0">
                          <a:solidFill>
                            <a:schemeClr val="bg1"/>
                          </a:solidFill>
                        </a:rPr>
                        <a:t>Atributo</a:t>
                      </a:r>
                      <a:endParaRPr lang="en-US" sz="12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AndiBite</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accent1"/>
                    </a:solidFill>
                  </a:tcPr>
                </a:tc>
                <a:tc>
                  <a:txBody>
                    <a:bodyPr/>
                    <a:lstStyle/>
                    <a:p>
                      <a:pPr algn="ctr" indent="0" marL="0">
                        <a:buNone/>
                      </a:pPr>
                      <a:r>
                        <a:rPr lang="en-US" sz="1100" b="1" dirty="0">
                          <a:solidFill>
                            <a:schemeClr val="bg1"/>
                          </a:solidFill>
                        </a:rPr>
                        <a:t>Nutri H</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Fika</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rPr>
                        <a:t>Mamalama</a:t>
                      </a:r>
                      <a:endParaRPr lang="en-US" sz="11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11480">
                <a:tc>
                  <a:txBody>
                    <a:bodyPr/>
                    <a:lstStyle/>
                    <a:p>
                      <a:pPr indent="0" marL="0">
                        <a:buNone/>
                      </a:pPr>
                      <a:r>
                        <a:rPr lang="en-US" sz="1300" dirty="0">
                          <a:solidFill>
                            <a:schemeClr val="tx1"/>
                          </a:solidFill>
                        </a:rPr>
                        <a:t>Hierro medido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App propia</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Sin octógono</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Varios sabores</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Delivery</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11480">
                <a:tc>
                  <a:txBody>
                    <a:bodyPr/>
                    <a:lstStyle/>
                    <a:p>
                      <a:pPr indent="0" marL="0">
                        <a:buNone/>
                      </a:pPr>
                      <a:r>
                        <a:rPr lang="en-US" sz="1300" dirty="0">
                          <a:solidFill>
                            <a:schemeClr val="tx1"/>
                          </a:solidFill>
                        </a:rPr>
                        <a:t>Formato postre</a:t>
                      </a:r>
                      <a:endParaRPr lang="en-US" sz="13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1"/>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6DCD5"/>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b="1" dirty="0">
                          <a:solidFill>
                            <a:schemeClr val="accent4"/>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600" dirty="0">
                          <a:solidFill>
                            <a:schemeClr val="accent2"/>
                          </a:solidFill>
                        </a:rPr>
                        <a:t>–</a:t>
                      </a:r>
                      <a:endParaRPr lang="en-US" sz="1600" dirty="0"/>
                    </a:p>
                  </a:txBody>
                  <a:tcPr marL="45720" marR="45720" marT="45720" marB="45720"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040880" y="4526280"/>
            <a:ext cx="4599432" cy="274320"/>
          </a:xfrm>
          <a:prstGeom prst="rect">
            <a:avLst/>
          </a:prstGeom>
          <a:noFill/>
          <a:ln/>
        </p:spPr>
        <p:txBody>
          <a:bodyPr wrap="square" lIns="0" tIns="0" rIns="0" bIns="0" rtlCol="0" anchor="t"/>
          <a:lstStyle/>
          <a:p>
            <a:pPr indent="0" marL="0">
              <a:buNone/>
            </a:pPr>
            <a:r>
              <a:rPr lang="en-US" sz="1100" i="1" dirty="0">
                <a:solidFill>
                  <a:schemeClr val="accent2"/>
                </a:solidFill>
              </a:rPr>
              <a:t>* Meta, se confirma en laboratorio. ? = por completar en el store check.</a:t>
            </a:r>
            <a:endParaRPr lang="en-US" sz="1100" dirty="0"/>
          </a:p>
        </p:txBody>
      </p:sp>
      <p:sp>
        <p:nvSpPr>
          <p:cNvPr id="7" name="Shape 3"/>
          <p:cNvSpPr/>
          <p:nvPr/>
        </p:nvSpPr>
        <p:spPr>
          <a:xfrm>
            <a:off x="7040880" y="4892040"/>
            <a:ext cx="4599432" cy="1234440"/>
          </a:xfrm>
          <a:prstGeom prst="roundRect">
            <a:avLst>
              <a:gd name="adj" fmla="val 888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8" name="Text 4"/>
          <p:cNvSpPr txBox="1"/>
          <p:nvPr/>
        </p:nvSpPr>
        <p:spPr>
          <a:xfrm>
            <a:off x="7269480" y="4937760"/>
            <a:ext cx="4206240" cy="1143000"/>
          </a:xfrm>
          <a:prstGeom prst="rect">
            <a:avLst/>
          </a:prstGeom>
          <a:noFill/>
          <a:ln/>
        </p:spPr>
        <p:txBody>
          <a:bodyPr wrap="square" lIns="0" tIns="0" rIns="0" bIns="0" rtlCol="0" anchor="ctr"/>
          <a:lstStyle/>
          <a:p>
            <a:pPr indent="0" marL="0">
              <a:buNone/>
            </a:pPr>
            <a:r>
              <a:rPr lang="en-US" sz="2000" b="1" dirty="0">
                <a:solidFill>
                  <a:schemeClr val="accent3"/>
                </a:solidFill>
              </a:rPr>
              <a:t>S/4.48 por brownie</a:t>
            </a:r>
            <a:endParaRPr lang="en-US" sz="1400" dirty="0"/>
          </a:p>
          <a:p>
            <a:pPr indent="0" marL="0">
              <a:buNone/>
            </a:pPr>
            <a:r>
              <a:rPr lang="en-US" sz="1400" dirty="0">
                <a:solidFill>
                  <a:schemeClr val="bg1"/>
                </a:solidFill>
              </a:rPr>
              <a:t>Por WhatsApp; S/4.65 en el stand. 12 % más que Fika, con hierro medido por lote y la app Andi.</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731520" y="822960"/>
            <a:ext cx="6766560" cy="320040"/>
          </a:xfrm>
          <a:prstGeom prst="rect">
            <a:avLst/>
          </a:prstGeom>
          <a:noFill/>
          <a:ln/>
        </p:spPr>
        <p:txBody>
          <a:bodyPr wrap="square" lIns="0" tIns="0" rIns="0" bIns="0" rtlCol="0" anchor="t"/>
          <a:lstStyle/>
          <a:p>
            <a:pPr indent="0" marL="0">
              <a:buNone/>
            </a:pPr>
            <a:r>
              <a:rPr lang="en-US" sz="1300" b="1" spc="200" kern="0" dirty="0">
                <a:solidFill>
                  <a:schemeClr val="accent3"/>
                </a:solidFill>
              </a:rPr>
              <a:t>PROPUESTA DE VALOR EN UNA FRASE</a:t>
            </a:r>
            <a:endParaRPr lang="en-US" sz="1300" dirty="0"/>
          </a:p>
        </p:txBody>
      </p:sp>
      <p:sp>
        <p:nvSpPr>
          <p:cNvPr id="3" name="Text 0"/>
          <p:cNvSpPr/>
          <p:nvPr>
            <p:ph idx="100" type="title" hasCustomPrompt="1"/>
          </p:nvPr>
        </p:nvSpPr>
        <p:spPr>
          <a:xfrm>
            <a:off x="731520" y="1234440"/>
            <a:ext cx="6766560" cy="1463040"/>
          </a:xfrm>
          <a:prstGeom prst="rect">
            <a:avLst/>
          </a:prstGeom>
          <a:noFill/>
          <a:ln/>
        </p:spPr>
        <p:txBody>
          <a:bodyPr wrap="square" lIns="0" tIns="0" rIns="0" bIns="0" rtlCol="0" anchor="t"/>
          <a:lstStyle/>
          <a:p>
            <a:pPr algn="l" indent="0" marL="0">
              <a:buNone/>
            </a:pPr>
            <a:r>
              <a:rPr lang="en-US" sz="4800" b="1" dirty="0">
                <a:solidFill>
                  <a:schemeClr val="bg2"/>
                </a:solidFill>
              </a:rPr>
              <a:t>Hierro medido. Sabor a brownie.</a:t>
            </a:r>
            <a:endParaRPr lang="en-US" sz="4800" dirty="0"/>
          </a:p>
        </p:txBody>
      </p:sp>
      <p:sp>
        <p:nvSpPr>
          <p:cNvPr id="4" name="Text 2"/>
          <p:cNvSpPr txBox="1"/>
          <p:nvPr/>
        </p:nvSpPr>
        <p:spPr>
          <a:xfrm>
            <a:off x="731520" y="2834640"/>
            <a:ext cx="6766560" cy="457200"/>
          </a:xfrm>
          <a:prstGeom prst="rect">
            <a:avLst/>
          </a:prstGeom>
          <a:noFill/>
          <a:ln/>
        </p:spPr>
        <p:txBody>
          <a:bodyPr wrap="square" lIns="0" tIns="0" rIns="0" bIns="0" rtlCol="0" anchor="t"/>
          <a:lstStyle/>
          <a:p>
            <a:pPr indent="0" marL="0">
              <a:buNone/>
            </a:pPr>
            <a:r>
              <a:rPr lang="en-US" sz="2400" b="1" dirty="0">
                <a:solidFill>
                  <a:schemeClr val="accent5"/>
                </a:solidFill>
              </a:rPr>
              <a:t>El snack de lonchera que tu hijo sí se come</a:t>
            </a:r>
            <a:endParaRPr lang="en-US" sz="2400" dirty="0"/>
          </a:p>
        </p:txBody>
      </p:sp>
      <p:sp>
        <p:nvSpPr>
          <p:cNvPr id="5" name="Text 3"/>
          <p:cNvSpPr txBox="1"/>
          <p:nvPr/>
        </p:nvSpPr>
        <p:spPr>
          <a:xfrm>
            <a:off x="731520" y="3474720"/>
            <a:ext cx="6766560" cy="914400"/>
          </a:xfrm>
          <a:prstGeom prst="rect">
            <a:avLst/>
          </a:prstGeom>
          <a:noFill/>
          <a:ln/>
        </p:spPr>
        <p:txBody>
          <a:bodyPr wrap="square" lIns="0" tIns="0" rIns="0" bIns="0" rtlCol="0" anchor="t"/>
          <a:lstStyle/>
          <a:p>
            <a:pPr indent="0" marL="0">
              <a:buNone/>
            </a:pPr>
            <a:r>
              <a:rPr lang="en-US" sz="1700" dirty="0">
                <a:solidFill>
                  <a:schemeClr val="bg2"/>
                </a:solidFill>
              </a:rPr>
              <a:t>Para padres planificados que leen etiquetas: mini brownie de 20 g con sangrecita, hierro medido por lote y la app Andi, que acompaña a la familia.</a:t>
            </a:r>
            <a:endParaRPr lang="en-US" sz="1700" dirty="0"/>
          </a:p>
        </p:txBody>
      </p:sp>
      <p:sp>
        <p:nvSpPr>
          <p:cNvPr id="6" name="Text 4"/>
          <p:cNvSpPr txBox="1"/>
          <p:nvPr/>
        </p:nvSpPr>
        <p:spPr>
          <a:xfrm>
            <a:off x="731520" y="5074920"/>
            <a:ext cx="6766560"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PRÓXIMOS PASOS</a:t>
            </a:r>
            <a:endParaRPr lang="en-US" sz="1200" dirty="0"/>
          </a:p>
        </p:txBody>
      </p:sp>
      <p:sp>
        <p:nvSpPr>
          <p:cNvPr id="7" name="Shape 5"/>
          <p:cNvSpPr/>
          <p:nvPr/>
        </p:nvSpPr>
        <p:spPr>
          <a:xfrm>
            <a:off x="731520" y="5440680"/>
            <a:ext cx="2240280" cy="502920"/>
          </a:xfrm>
          <a:prstGeom prst="roundRect">
            <a:avLst>
              <a:gd name="adj" fmla="val 49091"/>
            </a:avLst>
          </a:prstGeom>
          <a:solidFill>
            <a:schemeClr val="accent2"/>
          </a:solidFill>
          <a:ln w="12700">
            <a:solidFill>
              <a:schemeClr val="accent5"/>
            </a:solidFill>
            <a:prstDash val="solid"/>
          </a:ln>
        </p:spPr>
      </p:sp>
      <p:sp>
        <p:nvSpPr>
          <p:cNvPr id="8" name="Text 6"/>
          <p:cNvSpPr txBox="1"/>
          <p:nvPr/>
        </p:nvSpPr>
        <p:spPr>
          <a:xfrm>
            <a:off x="73152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Cargar el focus 2</a:t>
            </a:r>
            <a:endParaRPr lang="en-US" sz="1300" dirty="0"/>
          </a:p>
        </p:txBody>
      </p:sp>
      <p:sp>
        <p:nvSpPr>
          <p:cNvPr id="9" name="Shape 7"/>
          <p:cNvSpPr/>
          <p:nvPr/>
        </p:nvSpPr>
        <p:spPr>
          <a:xfrm>
            <a:off x="3063240" y="5440680"/>
            <a:ext cx="2240280" cy="502920"/>
          </a:xfrm>
          <a:prstGeom prst="roundRect">
            <a:avLst>
              <a:gd name="adj" fmla="val 49091"/>
            </a:avLst>
          </a:prstGeom>
          <a:solidFill>
            <a:schemeClr val="accent2"/>
          </a:solidFill>
          <a:ln w="12700">
            <a:solidFill>
              <a:schemeClr val="accent5"/>
            </a:solidFill>
            <a:prstDash val="solid"/>
          </a:ln>
        </p:spPr>
      </p:sp>
      <p:sp>
        <p:nvSpPr>
          <p:cNvPr id="10" name="Text 8"/>
          <p:cNvSpPr txBox="1"/>
          <p:nvPr/>
        </p:nvSpPr>
        <p:spPr>
          <a:xfrm>
            <a:off x="306324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Cotizar polvo y stands</a:t>
            </a:r>
            <a:endParaRPr lang="en-US" sz="1300" dirty="0"/>
          </a:p>
        </p:txBody>
      </p:sp>
      <p:sp>
        <p:nvSpPr>
          <p:cNvPr id="11" name="Shape 9"/>
          <p:cNvSpPr/>
          <p:nvPr/>
        </p:nvSpPr>
        <p:spPr>
          <a:xfrm>
            <a:off x="5394960" y="5440680"/>
            <a:ext cx="2240280" cy="502920"/>
          </a:xfrm>
          <a:prstGeom prst="roundRect">
            <a:avLst>
              <a:gd name="adj" fmla="val 49091"/>
            </a:avLst>
          </a:prstGeom>
          <a:solidFill>
            <a:schemeClr val="accent2"/>
          </a:solidFill>
          <a:ln w="12700">
            <a:solidFill>
              <a:schemeClr val="accent5"/>
            </a:solidFill>
            <a:prstDash val="solid"/>
          </a:ln>
        </p:spPr>
      </p:sp>
      <p:sp>
        <p:nvSpPr>
          <p:cNvPr id="12" name="Text 10"/>
          <p:cNvSpPr txBox="1"/>
          <p:nvPr/>
        </p:nvSpPr>
        <p:spPr>
          <a:xfrm>
            <a:off x="5394960" y="5440680"/>
            <a:ext cx="2240280" cy="502920"/>
          </a:xfrm>
          <a:prstGeom prst="rect">
            <a:avLst/>
          </a:prstGeom>
          <a:noFill/>
          <a:ln/>
        </p:spPr>
        <p:txBody>
          <a:bodyPr wrap="square" lIns="0" tIns="0" rIns="0" bIns="0" rtlCol="0" anchor="ctr"/>
          <a:lstStyle/>
          <a:p>
            <a:pPr algn="ctr" indent="0" marL="0">
              <a:buNone/>
            </a:pPr>
            <a:r>
              <a:rPr lang="en-US" sz="1300" b="1" dirty="0">
                <a:solidFill>
                  <a:schemeClr val="bg2"/>
                </a:solidFill>
              </a:rPr>
              <a:t>Probar la app con familias</a:t>
            </a:r>
            <a:endParaRPr lang="en-US" sz="1300" dirty="0"/>
          </a:p>
        </p:txBody>
      </p:sp>
      <p:sp>
        <p:nvSpPr>
          <p:cNvPr id="13" name="IMAGEN_4"/>
          <p:cNvSpPr/>
          <p:nvPr/>
        </p:nvSpPr>
        <p:spPr>
          <a:xfrm>
            <a:off x="8001000" y="685800"/>
            <a:ext cx="3611880" cy="5486400"/>
          </a:xfrm>
          <a:prstGeom prst="roundRect">
            <a:avLst>
              <a:gd name="adj" fmla="val 3797"/>
            </a:avLst>
          </a:prstGeom>
          <a:solidFill>
            <a:schemeClr val="accent2"/>
          </a:solidFill>
          <a:ln w="19050">
            <a:solidFill>
              <a:schemeClr val="accent5"/>
            </a:solidFill>
            <a:prstDash val="dash"/>
          </a:ln>
        </p:spPr>
      </p:sp>
      <p:pic>
        <p:nvPicPr>
          <p:cNvPr id="14" name="Image 0" descr="preencoded.png">    </p:cNvPr>
          <p:cNvPicPr>
            <a:picLocks noChangeAspect="1"/>
          </p:cNvPicPr>
          <p:nvPr/>
        </p:nvPicPr>
        <p:blipFill>
          <a:blip r:embed="rId1"/>
          <a:stretch>
            <a:fillRect/>
          </a:stretch>
        </p:blipFill>
        <p:spPr>
          <a:xfrm>
            <a:off x="9441180" y="2514600"/>
            <a:ext cx="731520" cy="731520"/>
          </a:xfrm>
          <a:prstGeom prst="rect">
            <a:avLst/>
          </a:prstGeom>
        </p:spPr>
      </p:pic>
      <p:sp>
        <p:nvSpPr>
          <p:cNvPr id="15" name="Text 12"/>
          <p:cNvSpPr txBox="1"/>
          <p:nvPr/>
        </p:nvSpPr>
        <p:spPr>
          <a:xfrm>
            <a:off x="8183880" y="3429000"/>
            <a:ext cx="3246120" cy="1097280"/>
          </a:xfrm>
          <a:prstGeom prst="rect">
            <a:avLst/>
          </a:prstGeom>
          <a:noFill/>
          <a:ln/>
        </p:spPr>
        <p:txBody>
          <a:bodyPr wrap="square" lIns="0" tIns="0" rIns="0" bIns="0" rtlCol="0" anchor="t"/>
          <a:lstStyle/>
          <a:p>
            <a:pPr algn="ctr" indent="0" marL="0">
              <a:buNone/>
            </a:pPr>
            <a:r>
              <a:rPr lang="en-US" sz="1600" b="1" dirty="0">
                <a:solidFill>
                  <a:schemeClr val="bg2"/>
                </a:solidFill>
              </a:rPr>
              <a:t>IMAGEN 4</a:t>
            </a:r>
            <a:endParaRPr lang="en-US" sz="1400" dirty="0"/>
          </a:p>
          <a:p>
            <a:pPr algn="ctr" indent="0" marL="0">
              <a:buNone/>
            </a:pPr>
            <a:r>
              <a:rPr lang="en-US" sz="1300" dirty="0">
                <a:solidFill>
                  <a:schemeClr val="bg2"/>
                </a:solidFill>
              </a:rPr>
              <a:t>Niño abriendo su lonchera con AndiBite</a:t>
            </a:r>
            <a:endParaRPr lang="en-US" sz="1400" dirty="0"/>
          </a:p>
          <a:p>
            <a:pPr algn="ctr" indent="0" marL="0">
              <a:buNone/>
            </a:pPr>
            <a:r>
              <a:rPr lang="en-US" sz="1100" i="1" dirty="0">
                <a:solidFill>
                  <a:schemeClr val="bg2"/>
                </a:solidFill>
              </a:rPr>
              <a:t>Prompt en las notas del orador</a:t>
            </a:r>
            <a:endParaRPr lang="en-US" sz="1400" dirty="0"/>
          </a:p>
        </p:txBody>
      </p:sp>
    </p:spTree>
  </p:cSld>
  <p:clrMapOvr>
    <a:masterClrMapping/>
  </p:clrMapOvr>
</p:sld>
</file>

<file path=ppt/theme/theme1.xml><?xml version="1.0" encoding="utf-8"?>
<a:theme xmlns:a="http://schemas.openxmlformats.org/drawingml/2006/main" name="AndiBite">
  <a:themeElements>
    <a:clrScheme name="AndiBite">
      <a:dk1>
        <a:srgbClr val="3B1A14"/>
      </a:dk1>
      <a:lt1>
        <a:srgbClr val="FFFFFF"/>
      </a:lt1>
      <a:dk2>
        <a:srgbClr val="4A2018"/>
      </a:dk2>
      <a:lt2>
        <a:srgbClr val="FBF3E8"/>
      </a:lt2>
      <a:accent1>
        <a:srgbClr val="BA4036"/>
      </a:accent1>
      <a:accent2>
        <a:srgbClr val="6B3A2A"/>
      </a:accent2>
      <a:accent3>
        <a:srgbClr val="E3A33B"/>
      </a:accent3>
      <a:accent4>
        <a:srgbClr val="7C8A3A"/>
      </a:accent4>
      <a:accent5>
        <a:srgbClr val="D9B48F"/>
      </a:accent5>
      <a:accent6>
        <a:srgbClr val="8A1C2B"/>
      </a:accent6>
      <a:hlink>
        <a:srgbClr val="BA4036"/>
      </a:hlink>
      <a:folHlink>
        <a:srgbClr val="8A1C2B"/>
      </a:folHlink>
    </a:clrScheme>
    <a:fontScheme name="AndiBi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AndiBite — Trabajos de campo 5 a 8</dc:title>
  <dc:subject>PptxGenJS Presentation</dc:subject>
  <dc:creator>Grupo 2</dc:creator>
  <cp:lastModifiedBy>Grupo 2</cp:lastModifiedBy>
  <cp:revision>1</cp:revision>
  <dcterms:created xsi:type="dcterms:W3CDTF">2026-10-10T04:46:26Z</dcterms:created>
  <dcterms:modified xsi:type="dcterms:W3CDTF">2026-10-10T04:46:26Z</dcterms:modified>
</cp:coreProperties>
</file>