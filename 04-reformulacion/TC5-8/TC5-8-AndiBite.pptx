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02311f9-57e7-9871-3c5c-95406bfc24ef}">
          <p14:sldIdLst>
            <p14:sldId id="256"/>
            <p14:sldId id="257"/>
          </p14:sldIdLst>
        </p14:section>
        <p14:section name="TC5 · Cliente, mercado y canal" id="{b4352997-dc69-dd25-d76a-76e6266e3687}">
          <p14:sldIdLst>
            <p14:sldId id="258"/>
            <p14:sldId id="259"/>
            <p14:sldId id="260"/>
            <p14:sldId id="261"/>
            <p14:sldId id="262"/>
            <p14:sldId id="263"/>
            <p14:sldId id="264"/>
            <p14:sldId id="265"/>
            <p14:sldId id="266"/>
            <p14:sldId id="267"/>
          </p14:sldIdLst>
        </p14:section>
        <p14:section name="TC6 · Relación e ingresos" id="{6ae8360d-f5e1-daa1-19ba-672c59a191a8}">
          <p14:sldIdLst>
            <p14:sldId id="268"/>
            <p14:sldId id="269"/>
            <p14:sldId id="270"/>
            <p14:sldId id="271"/>
            <p14:sldId id="272"/>
          </p14:sldIdLst>
        </p14:section>
        <p14:section name="TC7 · Canvas" id="{e6a882ea-72ae-8ef7-a33f-0c54f36013c1}">
          <p14:sldIdLst>
            <p14:sldId id="273"/>
            <p14:sldId id="274"/>
            <p14:sldId id="275"/>
            <p14:sldId id="276"/>
            <p14:sldId id="277"/>
            <p14:sldId id="278"/>
            <p14:sldId id="279"/>
            <p14:sldId id="280"/>
            <p14:sldId id="281"/>
            <p14:sldId id="282"/>
          </p14:sldIdLst>
        </p14:section>
        <p14:section name="TC8 · Propuesta de valor" id="{c8e8e350-9241-21e6-4347-83d5e8b6cce1}">
          <p14:sldIdLst>
            <p14:sldId id="283"/>
            <p14:sldId id="284"/>
            <p14:sldId id="285"/>
            <p14:sldId id="286"/>
            <p14:sldId id="287"/>
            <p14:sldId id="288"/>
            <p14:sldId id="289"/>
          </p14:sldIdLst>
        </p14:section>
        <p14:section name="Cierre" id="{b54f34a6-6627-6980-7af5-1ef2ddbef0a0}">
          <p14:sldIdLst>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9421</c:v>
                </c:pt>
                <c:pt idx="2">
                  <c:v>7400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Unidad</c:v>
                </c:pt>
                <c:pt idx="1">
                  <c:v>Pack de 6</c:v>
                </c:pt>
                <c:pt idx="2">
                  <c:v>Caja de 3</c:v>
                </c:pt>
                <c:pt idx="3">
                  <c:v>Pack de 12</c:v>
                </c:pt>
              </c:strCache>
            </c:strRef>
          </c:cat>
          <c:val>
            <c:numRef>
              <c:f>Sheet1!$B$2:$B$5</c:f>
              <c:numCache>
                <c:ptCount val="4"/>
                <c:pt idx="0">
                  <c:v>123843</c:v>
                </c:pt>
                <c:pt idx="1">
                  <c:v>83958</c:v>
                </c:pt>
                <c:pt idx="2">
                  <c:v>20282</c:v>
                </c:pt>
                <c:pt idx="3">
                  <c:v>16645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4280</c:v>
                </c:pt>
                <c:pt idx="1">
                  <c:v>14778</c:v>
                </c:pt>
                <c:pt idx="2">
                  <c:v>18255</c:v>
                </c:pt>
                <c:pt idx="3">
                  <c:v>21279</c:v>
                </c:pt>
                <c:pt idx="4">
                  <c:v>19944</c:v>
                </c:pt>
                <c:pt idx="5">
                  <c:v>18360</c:v>
                </c:pt>
                <c:pt idx="6">
                  <c:v>17792</c:v>
                </c:pt>
                <c:pt idx="7">
                  <c:v>23922</c:v>
                </c:pt>
                <c:pt idx="8">
                  <c:v>25778</c:v>
                </c:pt>
                <c:pt idx="9">
                  <c:v>27131</c:v>
                </c:pt>
                <c:pt idx="10">
                  <c:v>26299</c:v>
                </c:pt>
                <c:pt idx="11">
                  <c:v>26911</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De cada brownie vendido en el stand (S/ sin IGV)</a:t>
            </a:r>
          </a:p>
        </c:rich>
      </c:tx>
      <c:layout/>
      <c:overlay val="0"/>
    </c:title>
    <c:autoTitleDeleted val="0"/>
    <c:plotArea>
      <c:layout/>
      <c:barChart>
        <c:barDir val="col"/>
        <c:grouping val="stacked"/>
        <c:varyColors val="0"/>
        <c:ser>
          <c:idx val="0"/>
          <c:order val="0"/>
          <c:tx>
            <c:strRef>
              <c:f>Sheet1!$B$1</c:f>
              <c:strCache>
                <c:ptCount val="1"/>
                <c:pt idx="0">
                  <c:v>Producir</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Sheet1!$B$2:$B$5</c:f>
              <c:numCache>
                <c:formatCode>General</c:formatCode>
                <c:ptCount val="4"/>
                <c:pt idx="0">
                  <c:v>1.72</c:v>
                </c:pt>
                <c:pt idx="1">
                  <c:v>1.68</c:v>
                </c:pt>
                <c:pt idx="2">
                  <c:v>1.64</c:v>
                </c:pt>
                <c:pt idx="3">
                  <c:v>1.54</c:v>
                </c:pt>
              </c:numCache>
            </c:numRef>
          </c:val>
        </c:ser>
        <c:ser>
          <c:idx val="1"/>
          <c:order val="1"/>
          <c:tx>
            <c:strRef>
              <c:f>Sheet1!$C$1</c:f>
              <c:strCache>
                <c:ptCount val="1"/>
                <c:pt idx="0">
                  <c:v>Vender (degustación, pago con tarjeta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Sheet1!$C$2:$C$5</c:f>
              <c:numCache>
                <c:formatCode>General</c:formatCode>
                <c:ptCount val="4"/>
                <c:pt idx="0">
                  <c:v>0.5</c:v>
                </c:pt>
                <c:pt idx="1">
                  <c:v>0.48</c:v>
                </c:pt>
                <c:pt idx="2">
                  <c:v>0.45</c:v>
                </c:pt>
                <c:pt idx="3">
                  <c:v>0.44</c:v>
                </c:pt>
              </c:numCache>
            </c:numRef>
          </c:val>
        </c:ser>
        <c:ser>
          <c:idx val="2"/>
          <c:order val="2"/>
          <c:tx>
            <c:strRef>
              <c:f>Sheet1!$D$1</c:f>
              <c:strCache>
                <c:ptCount val="1"/>
                <c:pt idx="0">
                  <c:v>Nos queda</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Sheet1!$D$2:$D$5</c:f>
              <c:numCache>
                <c:formatCode>General</c:formatCode>
                <c:ptCount val="4"/>
                <c:pt idx="0">
                  <c:v>2.86</c:v>
                </c:pt>
                <c:pt idx="1">
                  <c:v>2.5</c:v>
                </c:pt>
                <c:pt idx="2">
                  <c:v>1.85</c:v>
                </c:pt>
                <c:pt idx="3">
                  <c:v>1.69</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S/40,876</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6176</c:v>
                </c:pt>
                <c:pt idx="3">
                  <c:v>3741</c:v>
                </c:pt>
                <c:pt idx="4">
                  <c:v>3716</c:v>
                </c:pt>
                <c:pt idx="5">
                  <c:v>3250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4A2018"/>
                </a:solidFill>
                <a:latin typeface="+mn-lt"/>
              </a:defRPr>
            </a:pPr>
            <a:r>
              <a:rPr sz="1300" b="1" i="0" u="none" strike="noStrike">
                <a:solidFill>
                  <a:srgbClr val="4A2018"/>
                </a:solidFill>
                <a:latin typeface="+mn-lt"/>
              </a:rPr>
              <a:t>Lo que cuesta operar al mes, sin contar la fabricación: S/6,989</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E3A33B"/>
              </a:solidFill>
              <a:effectLst/>
            </c:spPr>
          </c:dPt>
          <c:dPt>
            <c:idx val="3"/>
            <c:bubble3D val="0"/>
            <c:spPr>
              <a:solidFill>
                <a:srgbClr val="6B3A2A"/>
              </a:solidFill>
              <a:effectLst/>
            </c:spPr>
          </c:dPt>
          <c:dPt>
            <c:idx val="4"/>
            <c:bubble3D val="0"/>
            <c:spPr>
              <a:solidFill>
                <a:srgbClr val="7C8A3A"/>
              </a:solidFill>
              <a:effectLst/>
            </c:spPr>
          </c:dPt>
          <c:dPt>
            <c:idx val="5"/>
            <c:bubble3D val="0"/>
            <c:spPr>
              <a:solidFill>
                <a:srgbClr val="D9B48F"/>
              </a:solidFill>
              <a:effectLst/>
            </c:spPr>
          </c:dPt>
          <c:dPt>
            <c:idx val="6"/>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Vendedores de stand</c:v>
                </c:pt>
                <c:pt idx="1">
                  <c:v>Espacio de stands</c:v>
                </c:pt>
                <c:pt idx="2">
                  <c:v>Administración y app</c:v>
                </c:pt>
                <c:pt idx="3">
                  <c:v>Marketing y embajadoras</c:v>
                </c:pt>
                <c:pt idx="4">
                  <c:v>Ferias y eventos</c:v>
                </c:pt>
                <c:pt idx="5">
                  <c:v>Coordinadora</c:v>
                </c:pt>
                <c:pt idx="6">
                  <c:v>Depreciación</c:v>
                </c:pt>
              </c:strCache>
            </c:strRef>
          </c:cat>
          <c:val>
            <c:numRef>
              <c:f>Sheet1!$B$2:$B$8</c:f>
              <c:numCache>
                <c:ptCount val="7"/>
                <c:pt idx="0">
                  <c:v>1973</c:v>
                </c:pt>
                <c:pt idx="1">
                  <c:v>1400</c:v>
                </c:pt>
                <c:pt idx="2">
                  <c:v>995</c:v>
                </c:pt>
                <c:pt idx="3">
                  <c:v>900</c:v>
                </c:pt>
                <c:pt idx="4">
                  <c:v>878</c:v>
                </c:pt>
                <c:pt idx="5">
                  <c:v>709</c:v>
                </c:pt>
                <c:pt idx="6">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 los que necesitamos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4420</c:v>
                </c:pt>
                <c:pt idx="4">
                  <c:v>4304</c:v>
                </c:pt>
                <c:pt idx="5">
                  <c:v>4038</c:v>
                </c:pt>
                <c:pt idx="6">
                  <c:v>3824</c:v>
                </c:pt>
                <c:pt idx="7">
                  <c:v>5208</c:v>
                </c:pt>
                <c:pt idx="8">
                  <c:v>5603</c:v>
                </c:pt>
                <c:pt idx="9">
                  <c:v>6011</c:v>
                </c:pt>
                <c:pt idx="10">
                  <c:v>5861</c:v>
                </c:pt>
                <c:pt idx="11">
                  <c:v>5628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Brownies que necesitamos para no perder</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circl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2119</c:v>
                </c:pt>
                <c:pt idx="1">
                  <c:v>3495</c:v>
                </c:pt>
                <c:pt idx="2">
                  <c:v>3106</c:v>
                </c:pt>
                <c:pt idx="3">
                  <c:v>4232</c:v>
                </c:pt>
                <c:pt idx="4">
                  <c:v>3499</c:v>
                </c:pt>
                <c:pt idx="5">
                  <c:v>3516</c:v>
                </c:pt>
                <c:pt idx="6">
                  <c:v>3378</c:v>
                </c:pt>
                <c:pt idx="7">
                  <c:v>4204</c:v>
                </c:pt>
                <c:pt idx="8">
                  <c:v>4215</c:v>
                </c:pt>
                <c:pt idx="9">
                  <c:v>4360</c:v>
                </c:pt>
                <c:pt idx="10">
                  <c:v>4318</c:v>
                </c:pt>
                <c:pt idx="11">
                  <c:v>4188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de 2027 (S/, antes de intereses e impuesto)</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(S/, antes de intereses e impuesto)</a:t>
            </a:r>
          </a:p>
        </c:rich>
      </c:tx>
      <c:layout/>
      <c:overlay val="0"/>
    </c:title>
    <c:autoTitleDeleted val="0"/>
    <c:plotArea>
      <c:layout/>
      <c:barChart>
        <c:barDir val="col"/>
        <c:grouping val="clustered"/>
        <c:varyColors val="0"/>
        <c:ser>
          <c:idx val="0"/>
          <c:order val="0"/>
          <c:tx>
            <c:strRef>
              <c:f>Sheet1!$B$1</c:f>
              <c:strCache>
                <c:ptCount val="1"/>
                <c:pt idx="0">
                  <c:v>2027 (año 1)</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ser>
          <c:idx val="1"/>
          <c:order val="1"/>
          <c:tx>
            <c:strRef>
              <c:f>Sheet1!$C$1</c:f>
              <c:strCache>
                <c:ptCount val="1"/>
                <c:pt idx="0">
                  <c:v>2028 (año 2)</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791</c:v>
                </c:pt>
                <c:pt idx="1">
                  <c:v>-40</c:v>
                </c:pt>
                <c:pt idx="2">
                  <c:v>2779</c:v>
                </c:pt>
                <c:pt idx="3">
                  <c:v>2672</c:v>
                </c:pt>
                <c:pt idx="4">
                  <c:v>3317</c:v>
                </c:pt>
                <c:pt idx="5">
                  <c:v>3023</c:v>
                </c:pt>
                <c:pt idx="6">
                  <c:v>2668</c:v>
                </c:pt>
                <c:pt idx="7">
                  <c:v>3082</c:v>
                </c:pt>
                <c:pt idx="8">
                  <c:v>3023</c:v>
                </c:pt>
                <c:pt idx="9">
                  <c:v>3071</c:v>
                </c:pt>
                <c:pt idx="10">
                  <c:v>3071</c:v>
                </c:pt>
                <c:pt idx="11">
                  <c:v>3001</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caja de 3 sabores a S/16.50 y pack de 6 a S/27.90 en el stand), con el modelo financiero v7.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no a "madres de 32 a 45".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El Resolutivo (Rodrigo) y El Consejero (quiosco, nutricionista o pediatra: en marketing se le llama prescriptor), que recomienda la marca a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por WhatsApp a S/49.90 equivale a S/24.95 por cada 6, en el borde de lo que pagaría (S/18 a 24): lo que justifica la diferencia es que la app le arma las loncheras y le avisa antes de que se acabe el pack.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En la diapositiva usamos palabras simples para las siglas: mercado total = TAM, mercado al que apuntamos = SAM y meta del año 1 = SOM. TAM: todas las loncheras con horneado o snack envasado de niños de 4 a 11 años en Lima y Callao (S/130.9 millones). SAM: niños de NSE A/B en toda Lima a precio premium (S/62.8 millones). Núcleo: NSE A/B de las zonas 6 y 7 de APEIM (S/17.3 millones). SOM del año 1 (enero a diciembre de 2027): 52,331 brownies y S/244,728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v7, hoja Mensual): stands y carritos 22,625; WhatsApp 9,421; colegios 9,165; ferias y eventos 7,400; naturistas 3,720. Por WhatsApp las entregas se agrupan 2 días por semana por zona, o el padre recoge en el stand: así el delivery baja de S/0.80 a S/0.50 por brownie.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(lo que deja cada brownie antes del espacio y el personal, Excel v7: stand S/2.41, feria S/2.52, WhatsApp S/1.39, quiosco S/0.86, naturista S/0.80),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programas para emprendedores de Jockey Plaza, Larcomar (El Mercadito del Emprendedor) y La Rambla San Borja; carrito en la entrada de Wong o Vivanda; 2 ferias pagadas, de campaña escolar (febrero) y del Día del Niño Peruano (segundo domingo de abril); kermeses, cumpleaños y ferias saludables o municipales, que no cobran stand. Las ferias navideñas se sacaron del plan: con unos 700 brownies, una feria de S/1,800 pierde dinero si no deja clientes que vuelvan. Plan: 1 punto en enero, 2 de febrero a julio y 3 de agosto a diciembre de 2027, solo fines de semana. Cada punto y cada evento lo atiende un(a) vendedor(a) pagado(a) a S/90 por día; el espacio cuesta S/600 por punto al mes y el stand en feria, S/1,800 más 3 días de vendedor(a).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la coordinadora (en planilla) responde por cada cuenta. En el stand la compra se cierra ahí mismo; WhatsApp es para volver a comprar.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unidad (S/6.00), la caja de 3 sabores (S/16.50, sin cupón) o el pack de 6 (S/27.90). Fidelizar: la app Andi, Misión Hierro avisa cuando el pack está por acabarse y abre WhatsApp con el pedido listo, sin suscripción; además da el semáforo de hierro y el plan de loncheras de la semana. Crecer: una mamá embajadora por salón recomienda AndiBite en el chat del colegio con su código; por cada familia nueva que llega con su código recibe un pack de regalo o un descuento (S/200 al mes dentro del marketing). El premio es para el padre, nunca para el niño (Ley 30021). Luego se pasa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a colegios y tiendas (en inglés, B2B). Porcentajes sobre las ventas con IGV del año 1 (S/244,728, enero a diciembre de 2027), hoja Proyeccion del Excel v7. Mecanismo de precio: fijo por lista, con descuento por volumen. La caja de 3 sabores se vende en el stand a S/16.50 (S/5.50 por brownie) y por WhatsApp a S/12.00; por WhatsApp ya no se vende la unidad suelta. Al quiosco le vendemos a S/3.20 (el concesionario se queda 20 % de los S/4.00 que paga el alumno) y a la tienda naturista a S/18.50 (la tienda gana S/10.40 por pack, 36 %). Los precios al público no cambian.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5 de cada 10 brownies se venden sueltos a S/6.00 y 1 de cada 10 sale en la caja de 3 sabores, por eso la unidad trae el 51 % de los ingresos. Además se venden 330 packs de 12. Enero es el mes de arranque (un punto y vacaciones); en febrero entra la feria de campaña escolar, en marzo los colegios, en abril la feria del Día del Niño, en agosto el tercer punto y diciembre tiene 12 días de venta en los 3 puntos, sin ferias pagadas.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(nos acerca a él), convierte valor en acción (hace posible la venta) y complementa lo que no tienes (pone lo que nos falta). Todos los socios cumplen al menos 2. La planta y los proveedores no conectan con el cliente, pero convierten (producen) y complementan (planta con certificación sanitaria HACCP que no tenemos). Los puntos de venta (malls, supermercados, ferias, quioscos y naturistas) cumplen las 3: tienen el público, permiten vender sin local propio y ponen el espacio. El laboratorio está acreditado por INACAL (el instituto que certifica laboratorios). El proveedor de sangrecita de res en polvo liofilizada tiene registro sanitario, así que la planta no manipula sangre cruda. El desarrollador de la app y Google Cloud (servidor y la IA del plan de loncheras) convierten y complementan lo digital; los pediatras y la nutricionista conectan con los padres y convierten porque su recomendación da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S/40,876 está en la hoja Inversion del Excel v7: S/25,000 de los socios y un préstamo de S/16,000 en 24 cuotas, más una línea de crédito de respaldo de S/3,000.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de Osterwalder, en palabras simples: producción, atender al cliente (en el libro, "resolución de problemas"), mantener canales (en el libro, "plataforma") y gestión. Producir cuesta S/1.64 por brownie en el pack de 6, todo incluido: fabricar S/1.06 (S/0.605 de insumos con sangrecita de res en polvo a S/300 por kg, y S/0.45 que nos cobra la planta) más S/0.58 de bolsita, doypack, etiquetas con el código de la app, calidad, transporte, almacén y merma. La calidad cuesta S/625 por la producción de cada mes (microbiológico S/250 y hierro S/375, que se publica en la app); el hierro se mide todos los meses hasta junio y cada 2 meses desde julio, cuando la receta ya es estable: en promedio S/0.12 por brownie. Vender en stands: S/600 por punto al mes y S/90 por día de vendedor(a). Ferias pagadas: S/1,800 de stand más 3 días de vendedor(a) (S/270); cada evento sin costo, S/90 de vendedor(a) y S/70 de aporte al organizador. Recompra: S/0.50 por brownie con entregas agrupadas 2 días por semana por zona y recojo en el stand. Contenido: S/700 de pauta y material, y S/200 para premiar a las mamás embajadoras. App: S/250 al mes de servidor y mantenimiento, más S/0.04 por código impreso. Administración: S/745 (contador, facturación, web, teléfono, movilidad, GS1, banco y uniformes) y la coordinadora en planilla, S/709. El carné de sanidad es requisito al contratar, así que no lo paga la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v7, por brownie y sin IGV (el IGV es del Estado, no nuestro). Producir: S/1.72 la unidad suelta (lleva su etiqueta con el código de la app), S/1.68 en la caja de 3, S/1.64 en el pack de 6 (opción B, cada brownie en su bolsita) y S/1.54 en el pack de 12. Vender: un brownie de degustación por cada 10 vendidos, movilidad, el 3 % del pago con Yape o tarjeta y el 1 % de pago a cuenta de renta. Lo que queda (S/2.86 la unidad, S/2.50 la caja de 3, S/1.85 el pack de 6 y S/1.69 el pack de 12) paga el espacio, al vendedor y los gastos fijos. Margen bruto en el stand: unidad 66 %, caja de 3 64 %, pack de 6 58 % y pack de 12 58 %. Cascada del año 1 (promedio de todos los canales): de S/4.68 que paga el cliente, S/0.71 es IGV, S/2.10 producir y vender, S/0.98 stands, ferias y eventos, S/0.63 gastos fijos y S/0.06 intereses e impuesto: quedan S/0.20 de ganancia final por brownie (utilidad neta de S/10,379 / 52,331 brownies). En el año 2 los gastos fijos se reparten entre más brownies y la ganancia final sube a S/0.40 (S/28,447 / 70,452). Nota: no hay planta propia, se paga por brownie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v7. Los documentos se consideran listos desde el primer día de ventas (enero de 2027, mes 1): su costo se paga una sola vez dentro de la inversión inicial y no limita la proyección. Siglas en palabras simples: S.A.C. es el tipo de empresa (sociedad anónima cerrada), que se crea en un Centro de Desarrollo Empresarial (CDE) de PRODUCE con notario; REMYPE es el registro de micro y pequeña empresa; la marca se registra en la clase 30 de INDECOPI, la de alimentos como pasteles y galletas; el seguro (póliza de responsabilidad civil) lo piden algunos malls y cuesta S/600 al año; la tasa del registro sanitario es S/0 con el TUPA 2026. El carné de sanidad ya no lo paga la empresa: es requisito para contratar a vendedores y coordinadora (ahorro de S/75; hay que verificar que el carné de su distrito valga en cada mall). El arranque incluye empaque (S/3,150, con los códigos de la app), stock de enero y febrero (S/4,801), marketing de lanzamiento (S/3,204) y capital de trabajo (S/8,000). Marca y app suman S/3,250: identidad S/800, fotos S/300, web y dominio S/150 y S/2,000 para terminar y publicar la app Andi, Misión Hierro, porque el prototipo ya funciona (documento 09). Financiamiento: S/25,000 de los 5 socios y un préstamo de S/16,000 a 24 cuotas de S/898 (tasa efectiva anual, TEA, de 35 %). Además se abre una línea de crédito de S/3,000 que solo se usa si las ventas bajan.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equilibrio: cuántos brownies hay que vender en el mes para que lo que dejan cubra todos los costos de ese mes. Cada punto de venta que se abre sube la valla porque suma espacio (S/600) y vendedor (S/90 por día). Por eso el equilibrio sube en escalones: con 1 punto (enero) hacen falta unos 2,100 brownies; con 2 puntos, de 3,100 a 3,500 (abril llega a 4,232 por la feria del Día del Niño); con 3 puntos, de 4,200 a 4,400. Solo enero y febrero quedan por debajo. Costos de operar al mes, sin contar la fabricación (promedio de 2027, Excel v7): vendedores S/1,973, espacio S/1,400, administración y app S/995 (S/745 + S/250), marketing S/700 y embajadoras S/200, ferias y eventos S/878, coordinadora S/709 y depreciación S/134. El promedio anual que da el Excel es 3,096 brownies al mes (516 packs de 6), pero la línea mes a mes es la que se usa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v7), con vendedores pagados en todos los stands y eventos y coordinadora en planilla. Enero pierde S/2,539 (un solo punto y vacaciones) y febrero S/1,513 (abre el segundo punto y se paga la feria de campaña escolar); desde marzo todos los meses ganan, aunque abril queda justo (S/368) por la feria del Día del Niño. Del resultado operativo (S/13,423) a la utilidad neta: más S/2,074 de pagos a cuenta ya restados, menos S/3,965 de intereses del préstamo y menos S/1,153 de impuesto a la renta (Régimen MYPE Tributario, 10 %): S/10,379. Sobre los S/25,000 de los socios, eso es 42 % en el primer año. La inversión de S/40,876 se recupera en el mes 23 (noviembre de 2028). Riesgos: si las ventas por punto bajan 20 %, el año 1 queda casi en cero (S/608) y la caja baja a −S/2,188: la cubre la línea de crédito de S/3,000. Si suben 20 %, el resultado llega a S/26,237 y se recupera en el mes 17. Si el espacio cuesta S/1,000 por punto, el resultado baja a S/2,223. El año 2 tiene su propia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Anio2 del Excel v7 (enero a diciembre de 2028). Supuestos: los 3 puntos de venta abren todo el año con 80 brownies por día en enero y febrero y 90 el resto (el ritmo con el que cerró 2027); los quioscos escolares venden todo el año escolar; las tiendas naturistas pasan de 480 a 660 brownies al mes; se repiten las ferias de campaña escolar y del Día del Niño; los precios, costos y la mezcla de presentaciones son los mismos de 2027. Es un escenario prudente: no cuenta el cuarto punto ni la maquila más barata, que solo se activan si se cumplen sus metas (ver el cierre). Resultado: 70,452 brownies, S/322,329 de ventas con IGV, S/30,459 de resultado operativo y S/28,447 de utilidad neta (los intereses bajan a S/1,582 porque el préstamo termina en diciembre de 2028). La caja cierra 2028 en S/33,684 con el préstamo pagado. Rentabilidad para los socios: 114 % de su aporte en el año 2. Febrero queda casi en cero (−S/40) por la feria de campaña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escrito en frases cortas y con las cifras del Excel v7, para que se entienda de un vistazo y muestre por qué el negocio es atractivo. Socios: la planta fabrica por nosotros (no compramos planta), el laboratorio mide el hierro de cada lote, el proveedor vende la sangrecita en polvo con registro sanitario, los malls y supermercados ponen el espacio, y los pediatras y la nutricionista nos recomiendan. Propuesta de valor: el snack de lonchera con hierro que el niño sí se come, con el hierro medido en cada lote y visible en la app, sabor a brownie y sin octógono. Canales (unidades del año 1): stands y carrito 43 %, WhatsApp 18 %, ferias y eventos 14 %, colegios y naturistas 25 %. Costos: S/1.64 por brownie (pack de 6), S/51,010 al año de stands, ferias, eventos y vendedores, S/2,738 al mes de gastos fijos con la app incluida. Ingresos: año 1 S/244,728 y S/10,379 de utilidad neta (42 % del aporte de los socios); año 2 S/322,329 y S/28,447 (114 %). La franja de abajo resume el argumento para un inversionista.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v7: el prototipo funcional ya está hecho (carpeta app-andi-mision-hierro del repositorio), así que la inversión baja de S/6,000 a S/2,000 para conectar el laboratorio real, probar con 10 familias, revisar los textos legales y publicar; S/250 al mes de Cloud Run, Firestore, IA y mantenimiento; S/0.04 por código impreso con dato variable; y S/375 por análisis de hierro, todos los meses hasta junio y cada 2 meses desde julio, cuando la receta ya es estable. Es una app web instalable (en inglés, PWA): se abre desde el QR del envase sin pasar por una tienda de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de Gantt del plan de marketing, de octubre de 2026 (prelanzamiento) a diciembre de 2027 (fin del año 1). Prelanzamiento (octubre a diciembre de 2026): permisos, registro sanitario y etiqueta; prueba de la app y la receta con 10 familias en noviembre; fotos y video (S/300) y lista de espera por WhatsApp; en diciembre, influencers (40 packs, S/458), pauta de expectativa (S/600) y material de punto de venta (S/400). Lanzamiento (enero y febrero de 2027): primer punto en enero con 600 degustaciones (S/1,146) y material para ferias (S/300); en febrero, segundo punto y feria pagada de campaña escolar. Crecer (marzo a julio): entran los quioscos escolares, las mamás embajadoras toman fuerza con el año escolar y en abril va la feria del Día del Niño Peruano (segundo domingo de abril). Expandir (agosto a diciembre): tercer punto de venta. Todo el año: kermeses, cumpleaños y ferias saludables o municipales (2 a 5 al mes, S/160 cada una con vendedora y aporte), pauta digital de S/700 al mes reforzada en las fechas clave (lonchera de marzo, Día del Niño y regalos de Navidad), S/200 al mes para premiar a las embajadoras, y la app Andi con el aviso de recompra. Inversión por mes: octubre S/0; noviembre S/300; diciembre S/1,458; enero S/2,506; febrero S/3,290; marzo S/1,540; abril S/3,610; mayo S/1,700; junio S/1,540; julio S/1,380; agosto a octubre S/1,540; noviembre S/1,380; diciembre S/1,220. Total S/24,544: S/3,204 del lanzamiento (en la inversión inicial) y S/21,340 del año 1 (pauta y embajadoras S/10,800, ferias S/4,140 y eventos S/6,400). No incluye el espacio ni los vendedores de los stands, que son costos de 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Reglas para crecer sin arriesgar: ninguna de estas mejoras está dentro del plan base; cada una se activa solo cuando se cumple su meta, y así el Excel muestra un escenario prudente. (1) Cuarto punto de venta: si los 3 puntos venden 85 o más brownies por día durante 3 meses. (2) Fabricación más barata: al pasar 5,000 brownies al mes (el año 2 promedia unos 5,900), negociar con la planta S/0.40 por brownie en vez de S/0.45. (3) Contrato anual del polvo de sangrecita (unos 50 kg al año) para fijar el precio. (4) Cajas para cumpleaños y empresas, por pedido. (5) Góndola en Wong o Vivanda en el año 2, solo si cada punto ya gana por sí solo: el supermercado se queda con 20 a 40 % y paga a 30 a 90 días. (6) Pago variable a vendedores: S/60 por día más S/0.30 por brownie (a 90 brownies por día sale casi lo mismo que hoy, S/87, pero premia al que vende más). (7) Una feria pagada solo se repite si dejó al menos 50 contactos de WhatsApp y cumplió 3 de los 4 criterios: padres con hijos de 4 a 11, que buscan comida saludable, en temporada escolar y en Lima Top o Moderna. (8) La línea de crédito de S/3,000 solo se usa si la caja baja de S/1,000.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la feria del Día del Niño y las ferias saludables, y la sangrecita de res en polvo a granel;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5.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5.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5.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5.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slideLayout" Target="../slideLayouts/slideLayout5.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5.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slideLayout" Target="../slideLayouts/slideLayout5.xml"/><Relationship Id="rId1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negocio: AndiBite</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costos, resultados de los años 1 y 2, y el Canvas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competencia y plan de marketing</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97180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Padres de 32 a 45 años</a:t>
            </a:r>
            <a:endParaRPr lang="en-US" sz="1600" dirty="0"/>
          </a:p>
          <a:p>
            <a:pPr marL="342900" indent="-342900">
              <a:spcAft>
                <a:spcPts val="800"/>
              </a:spcAft>
              <a:buSzPct val="100000"/>
              <a:buChar char="•"/>
            </a:pPr>
            <a:r>
              <a:rPr lang="en-US" sz="1600" dirty="0">
                <a:solidFill>
                  <a:schemeClr val="tx1"/>
                </a:solidFill>
              </a:rPr>
              <a:t>NSE A y B de Lima Top y Lima Moderna</a:t>
            </a:r>
            <a:endParaRPr lang="en-US" sz="1600" dirty="0"/>
          </a:p>
          <a:p>
            <a:pPr marL="342900" indent="-342900">
              <a:spcAft>
                <a:spcPts val="800"/>
              </a:spcAft>
              <a:buSzPct val="100000"/>
              <a:buChar char="•"/>
            </a:pPr>
            <a:r>
              <a:rPr lang="en-US" sz="1600" dirty="0">
                <a:solidFill>
                  <a:schemeClr val="tx1"/>
                </a:solidFill>
              </a:rPr>
              <a:t>Hijos de 4 a 11 en colegio privado</a:t>
            </a:r>
            <a:endParaRPr lang="en-US" sz="1600" dirty="0"/>
          </a:p>
          <a:p>
            <a:pPr marL="342900" indent="-342900">
              <a:spcAft>
                <a:spcPts val="8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clientes tipo: quién es, qué le duele y dónde compra</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38 a 45, gerente</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Rapidez y practicidad</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Supermercado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Nos recomienda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a familias (mercado de consumo), en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que sí invierte en la salud de sus hijos</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Mercado total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Mercado al que apuntamos · S/62.8 M</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Meta del año 1 · S/0.24 M</a:t>
            </a:r>
            <a:endParaRPr lang="en-US" sz="1400" dirty="0"/>
          </a:p>
          <a:p>
            <a:pPr algn="ctr" indent="0" marL="0">
              <a:buNone/>
            </a:pPr>
            <a:r>
              <a:rPr lang="en-US" sz="1200" dirty="0">
                <a:solidFill>
                  <a:schemeClr val="bg1"/>
                </a:solidFill>
              </a:rPr>
              <a:t>52,331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 mismo</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S/6, caja de 3 S/16.50 o pack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entrega 2 días por semana o recojo en el stand</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75.4 %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24.6 %</a:t>
            </a:r>
            <a:endParaRPr lang="en-US" sz="1400" dirty="0"/>
          </a:p>
          <a:p>
            <a:pPr indent="0" marL="0">
              <a:buNone/>
            </a:pPr>
            <a:r>
              <a:rPr lang="en-US" sz="1500" dirty="0">
                <a:solidFill>
                  <a:schemeClr val="tx1"/>
                </a:solidFill>
              </a:rPr>
              <a:t>Quioscos escolares y tiendas naturistas, que se quedan del 20 al 36 % del precio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vender cara a cara: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la campaña escolar y el Día del Niño;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Vamos donde está la familia: malls, súper, ferias y colegios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de Lima Top</a:t>
            </a:r>
            <a:endParaRPr lang="en-US" sz="1400" dirty="0"/>
          </a:p>
          <a:p>
            <a:pPr indent="0" marL="0">
              <a:buNone/>
            </a:pPr>
            <a:r>
              <a:rPr lang="en-US" sz="1300" dirty="0">
                <a:solidFill>
                  <a:schemeClr val="accent2"/>
                </a:solidFill>
              </a:rPr>
              <a:t>Jockey Plaza, Larcomar y La Rambla: programas para emprendedores</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la entrada de Wong o Vivanda,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Campaña escolar (febrero) y Día del Niño (abril)</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y comunidad</a:t>
            </a:r>
            <a:endParaRPr lang="en-US" sz="1400" dirty="0"/>
          </a:p>
          <a:p>
            <a:pPr indent="0" marL="0">
              <a:buNone/>
            </a:pPr>
            <a:r>
              <a:rPr lang="en-US" sz="1300" dirty="0">
                <a:solidFill>
                  <a:schemeClr val="accent2"/>
                </a:solidFill>
              </a:rPr>
              <a:t>Kermeses, cumpleaños, ferias saludables y quioscos</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el niño prueba y el padre compra, con el consejo de la vendedora</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La coordinadora atiende a cada colegio y a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Cómo una familia nos prueba, vuelve y nos recomienda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el padre se lleva la unidad, la caja de 3 sabores o el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recomienda en el chat del colegio con su código</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 dónde viene el dinero: cuatro fuentes, un solo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cajas de 3 y packs en malls y súper</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49.8 %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Campaña escolar, Día del Niño,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16.8 %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entrega o recojo</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a colegios y tiendas</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399032"/>
                <a:gridCol w="868680"/>
                <a:gridCol w="914400"/>
                <a:gridCol w="960120"/>
                <a:gridCol w="914400"/>
              </a:tblGrid>
              <a:tr h="502920">
                <a:tc>
                  <a:txBody>
                    <a:bodyPr/>
                    <a:lstStyle/>
                    <a:p>
                      <a:pPr indent="0" marL="0">
                        <a:buNone/>
                      </a:pPr>
                      <a:r>
                        <a:rPr lang="en-US" sz="1200" b="1" dirty="0">
                          <a:solidFill>
                            <a:schemeClr val="bg1"/>
                          </a:solidFill>
                        </a:rPr>
                        <a:t>Precio con IGV</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Unidad</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Caja de 3</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6</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12</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1"/>
                          </a:solidFill>
                        </a:rPr>
                        <a:t>Stand y ferias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S/16.50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S/27.90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S/51.90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300" b="1" dirty="0">
                          <a:solidFill>
                            <a:schemeClr val="tx1"/>
                          </a:solidFill>
                        </a:rPr>
                        <a:t>WhatsApp</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S/12.00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S/26.90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S/49.90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Quiosco escolar</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Tienda naturista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S/28.90*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S/3.20 en el quiosco y S/18.50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S/244,700 en ventas el primer año</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52,331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3,252 + 1,315  </a:t>
            </a:r>
            <a:pPr indent="0" marL="0">
              <a:buNone/>
            </a:pPr>
            <a:r>
              <a:rPr lang="en-US" sz="1300" dirty="0">
                <a:solidFill>
                  <a:schemeClr val="accent2"/>
                </a:solidFill>
              </a:rPr>
              <a:t>packs de 6 y cajas de 3</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S/4.68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y recursos · Actividades y costos · Punto de equilibrio · Resultados de los años 1 y 2 ·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aliados que hacen lo que nosotros no podemos</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que fabrica por nosotros</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acreditado</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Dónde vendemos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Malls, Wong y Vivanda, ferias, quioscos y naturistas</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Tecnología</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de la app y Google Cloud</a:t>
            </a:r>
            <a:endParaRPr lang="en-US" sz="1200" dirty="0"/>
          </a:p>
        </p:txBody>
      </p:sp>
      <p:sp>
        <p:nvSpPr>
          <p:cNvPr id="61" name="Shape 53"/>
          <p:cNvSpPr/>
          <p:nvPr/>
        </p:nvSpPr>
        <p:spPr>
          <a:xfrm>
            <a:off x="8668512" y="3977640"/>
            <a:ext cx="914400" cy="274320"/>
          </a:xfrm>
          <a:prstGeom prst="roundRect">
            <a:avLst>
              <a:gd name="adj" fmla="val 50000"/>
            </a:avLst>
          </a:prstGeom>
          <a:solidFill>
            <a:schemeClr val="bg2"/>
          </a:solidFill>
          <a:ln w="9525">
            <a:solidFill>
              <a:schemeClr val="accent5"/>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Quienes nos recomiendan</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Pediatras y nutricionista</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bg2"/>
          </a:solidFill>
          <a:ln w="9525">
            <a:solidFill>
              <a:schemeClr val="accent5"/>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Complementa</a:t>
            </a:r>
            <a:endParaRPr lang="en-US" sz="900" dirty="0"/>
          </a:p>
        </p:txBody>
      </p:sp>
      <p:sp>
        <p:nvSpPr>
          <p:cNvPr id="79" name="Text 70"/>
          <p:cNvSpPr txBox="1"/>
          <p:nvPr/>
        </p:nvSpPr>
        <p:spPr>
          <a:xfrm>
            <a:off x="548640" y="6053328"/>
            <a:ext cx="11091672" cy="274320"/>
          </a:xfrm>
          <a:prstGeom prst="rect">
            <a:avLst/>
          </a:prstGeom>
          <a:noFill/>
          <a:ln/>
        </p:spPr>
        <p:txBody>
          <a:bodyPr wrap="square" lIns="0" tIns="0" rIns="0" bIns="0" rtlCol="0" anchor="t"/>
          <a:lstStyle/>
          <a:p>
            <a:pPr algn="ctr" indent="0" marL="0">
              <a:buNone/>
            </a:pPr>
            <a:r>
              <a:rPr lang="en-US" sz="1050" b="1" dirty="0">
                <a:solidFill>
                  <a:schemeClr val="accent2"/>
                </a:solidFill>
              </a:rPr>
              <a:t>Conecta: </a:t>
            </a:r>
            <a:pPr algn="ctr" indent="0" marL="0">
              <a:buNone/>
            </a:pPr>
            <a:r>
              <a:rPr lang="en-US" sz="1050" dirty="0">
                <a:solidFill>
                  <a:schemeClr val="accent2"/>
                </a:solidFill>
              </a:rPr>
              <a:t>nos acerca al cliente · </a:t>
            </a:r>
            <a:pPr algn="ctr" indent="0" marL="0">
              <a:buNone/>
            </a:pPr>
            <a:r>
              <a:rPr lang="en-US" sz="1050" b="1" dirty="0">
                <a:solidFill>
                  <a:schemeClr val="accent2"/>
                </a:solidFill>
              </a:rPr>
              <a:t>Convierte: </a:t>
            </a:r>
            <a:pPr algn="ctr" indent="0" marL="0">
              <a:buNone/>
            </a:pPr>
            <a:r>
              <a:rPr lang="en-US" sz="1050" dirty="0">
                <a:solidFill>
                  <a:schemeClr val="accent2"/>
                </a:solidFill>
              </a:rPr>
              <a:t>hace posible la venta · </a:t>
            </a:r>
            <a:pPr algn="ctr" indent="0" marL="0">
              <a:buNone/>
            </a:pPr>
            <a:r>
              <a:rPr lang="en-US" sz="1050" b="1" dirty="0">
                <a:solidFill>
                  <a:schemeClr val="accent2"/>
                </a:solidFill>
              </a:rPr>
              <a:t>Complementa: </a:t>
            </a:r>
            <a:pPr algn="ctr" indent="0" marL="0">
              <a:buNone/>
            </a:pPr>
            <a:r>
              <a:rPr lang="en-US" sz="1050" dirty="0">
                <a:solidFill>
                  <a:schemeClr val="accent2"/>
                </a:solidFill>
              </a:rPr>
              <a:t>pone lo que no tenemos · RS = registro sanitario · S.A.C. = tipo de empresa</a:t>
            </a:r>
            <a:endParaRPr lang="en-US" sz="10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S/40,876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hacemos cada mes y cuánto nos cuesta</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481328"/>
          <a:ext cx="10360152" cy="914400"/>
        </p:xfrm>
        <a:graphic>
          <a:graphicData uri="http://schemas.openxmlformats.org/drawingml/2006/table">
            <a:tbl>
              <a:tblPr/>
              <a:tblGrid>
                <a:gridCol w="2697480"/>
                <a:gridCol w="1600200"/>
                <a:gridCol w="4343400"/>
                <a:gridCol w="1719072"/>
              </a:tblGrid>
              <a:tr h="457200">
                <a:tc>
                  <a:txBody>
                    <a:bodyPr/>
                    <a:lstStyle/>
                    <a:p>
                      <a:pPr indent="0" marL="0">
                        <a:buNone/>
                      </a:pPr>
                      <a:r>
                        <a:rPr lang="en-US" sz="1300" b="1" dirty="0">
                          <a:solidFill>
                            <a:schemeClr val="bg1"/>
                          </a:solidFill>
                        </a:rPr>
                        <a:t>Actividad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 qué</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300" b="1" dirty="0">
                          <a:solidFill>
                            <a:schemeClr val="tx1"/>
                          </a:solidFill>
                        </a:rPr>
                        <a:t>Producir con la planta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S/1.64 por brownie todo incluido (fabricar S/1.06 + empaque y calidad S/0.58)</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300" b="1" dirty="0">
                          <a:solidFill>
                            <a:schemeClr val="tx1"/>
                          </a:solidFill>
                        </a:rPr>
                        <a:t>Calidad y hierro medido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S/625 por la producción de cada mes (S/0.12 por brownie)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tx1"/>
                          </a:solidFill>
                        </a:rPr>
                        <a:t>Vender en stands y carrito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S/600 por punto al mes + S/90 por día de vendedor(a)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Crece con cada punto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300" b="1" dirty="0">
                          <a:solidFill>
                            <a:schemeClr val="tx1"/>
                          </a:solidFill>
                        </a:rPr>
                        <a:t>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Feria S/1,800 + S/270 de vendedor(a) · evento S/160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Por evento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tx1"/>
                          </a:solidFill>
                        </a:rPr>
                        <a:t>Recompra y entregas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S/0.50 por brownie (entregas agrupadas por zona)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300" b="1" dirty="0">
                          <a:solidFill>
                            <a:schemeClr val="tx1"/>
                          </a:solidFill>
                        </a:rPr>
                        <a:t>Contenido y mamás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S/700 de pauta + S/200 de embajadoras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tx1"/>
                          </a:solidFill>
                        </a:rPr>
                        <a:t>Mantener la app Andi</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S/250 al mes + S/0.04 por código impreso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 y 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300" b="1" dirty="0">
                          <a:solidFill>
                            <a:schemeClr val="tx1"/>
                          </a:solidFill>
                        </a:rPr>
                        <a:t>Administrar el negocio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Gestión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S/745 de administración + S/709 de la coordinadora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694944" y="1984248"/>
            <a:ext cx="365760" cy="3657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75411" y="2064715"/>
            <a:ext cx="204826" cy="204826"/>
          </a:xfrm>
          <a:prstGeom prst="rect">
            <a:avLst/>
          </a:prstGeom>
        </p:spPr>
      </p:pic>
      <p:sp>
        <p:nvSpPr>
          <p:cNvPr id="7" name="Shape 3"/>
          <p:cNvSpPr/>
          <p:nvPr/>
        </p:nvSpPr>
        <p:spPr>
          <a:xfrm>
            <a:off x="694944" y="2441448"/>
            <a:ext cx="365760" cy="365760"/>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75411" y="2521915"/>
            <a:ext cx="204826" cy="204826"/>
          </a:xfrm>
          <a:prstGeom prst="rect">
            <a:avLst/>
          </a:prstGeom>
        </p:spPr>
      </p:pic>
      <p:sp>
        <p:nvSpPr>
          <p:cNvPr id="9" name="Shape 4"/>
          <p:cNvSpPr/>
          <p:nvPr/>
        </p:nvSpPr>
        <p:spPr>
          <a:xfrm>
            <a:off x="694944" y="2898648"/>
            <a:ext cx="365760" cy="365760"/>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75411" y="2979115"/>
            <a:ext cx="204826" cy="204826"/>
          </a:xfrm>
          <a:prstGeom prst="rect">
            <a:avLst/>
          </a:prstGeom>
        </p:spPr>
      </p:pic>
      <p:sp>
        <p:nvSpPr>
          <p:cNvPr id="11" name="Shape 5"/>
          <p:cNvSpPr/>
          <p:nvPr/>
        </p:nvSpPr>
        <p:spPr>
          <a:xfrm>
            <a:off x="694944" y="3355848"/>
            <a:ext cx="365760" cy="365760"/>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75411" y="3436315"/>
            <a:ext cx="204826" cy="204826"/>
          </a:xfrm>
          <a:prstGeom prst="rect">
            <a:avLst/>
          </a:prstGeom>
        </p:spPr>
      </p:pic>
      <p:sp>
        <p:nvSpPr>
          <p:cNvPr id="13" name="Shape 6"/>
          <p:cNvSpPr/>
          <p:nvPr/>
        </p:nvSpPr>
        <p:spPr>
          <a:xfrm>
            <a:off x="694944" y="3813048"/>
            <a:ext cx="365760" cy="365760"/>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75411" y="3893515"/>
            <a:ext cx="204826" cy="204826"/>
          </a:xfrm>
          <a:prstGeom prst="rect">
            <a:avLst/>
          </a:prstGeom>
        </p:spPr>
      </p:pic>
      <p:sp>
        <p:nvSpPr>
          <p:cNvPr id="15" name="Shape 7"/>
          <p:cNvSpPr/>
          <p:nvPr/>
        </p:nvSpPr>
        <p:spPr>
          <a:xfrm>
            <a:off x="694944" y="4270248"/>
            <a:ext cx="365760" cy="365760"/>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75411" y="4350715"/>
            <a:ext cx="204826" cy="204826"/>
          </a:xfrm>
          <a:prstGeom prst="rect">
            <a:avLst/>
          </a:prstGeom>
        </p:spPr>
      </p:pic>
      <p:sp>
        <p:nvSpPr>
          <p:cNvPr id="17" name="Shape 8"/>
          <p:cNvSpPr/>
          <p:nvPr/>
        </p:nvSpPr>
        <p:spPr>
          <a:xfrm>
            <a:off x="694944" y="4727448"/>
            <a:ext cx="365760" cy="365760"/>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75411" y="4807915"/>
            <a:ext cx="204826" cy="204826"/>
          </a:xfrm>
          <a:prstGeom prst="rect">
            <a:avLst/>
          </a:prstGeom>
        </p:spPr>
      </p:pic>
      <p:sp>
        <p:nvSpPr>
          <p:cNvPr id="19" name="Shape 9"/>
          <p:cNvSpPr/>
          <p:nvPr/>
        </p:nvSpPr>
        <p:spPr>
          <a:xfrm>
            <a:off x="694944" y="5184648"/>
            <a:ext cx="365760" cy="365760"/>
          </a:xfrm>
          <a:prstGeom prst="ellipse">
            <a:avLst/>
          </a:prstGeom>
          <a:solidFill>
            <a:schemeClr val="accent1"/>
          </a:solidFill>
          <a:ln w="12700">
            <a:solidFill>
              <a:schemeClr val="accent1"/>
            </a:solidFill>
            <a:prstDash val="solid"/>
          </a:ln>
        </p:spPr>
      </p:sp>
      <p:pic>
        <p:nvPicPr>
          <p:cNvPr id="20" name="Image 7" descr="preencoded.png">    </p:cNvPr>
          <p:cNvPicPr>
            <a:picLocks noChangeAspect="1"/>
          </p:cNvPicPr>
          <p:nvPr/>
        </p:nvPicPr>
        <p:blipFill>
          <a:blip r:embed="rId8"/>
          <a:stretch>
            <a:fillRect/>
          </a:stretch>
        </p:blipFill>
        <p:spPr>
          <a:xfrm>
            <a:off x="775411" y="5265115"/>
            <a:ext cx="204826" cy="204826"/>
          </a:xfrm>
          <a:prstGeom prst="rect">
            <a:avLst/>
          </a:prstGeom>
        </p:spPr>
      </p:pic>
      <p:sp>
        <p:nvSpPr>
          <p:cNvPr id="21" name="Shape 10"/>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2" name="Text 11"/>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los eventos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 cuesta y cuánto nos queda de cada presentación</a:t>
            </a:r>
            <a:endParaRPr lang="en-US" sz="3400" dirty="0"/>
          </a:p>
        </p:txBody>
      </p:sp>
      <p:graphicFrame>
        <p:nvGraphicFramePr>
          <p:cNvPr id="4" name="Chart 0" descr=""/>
          <p:cNvGraphicFramePr/>
          <p:nvPr/>
        </p:nvGraphicFramePr>
        <p:xfrm>
          <a:off x="365760" y="1417320"/>
          <a:ext cx="61264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463040"/>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6839712" y="1463040"/>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S/1.54 a 1.72</a:t>
            </a:r>
            <a:endParaRPr lang="en-US" sz="1400" dirty="0"/>
          </a:p>
          <a:p>
            <a:pPr indent="0" marL="0">
              <a:buNone/>
            </a:pPr>
            <a:r>
              <a:rPr lang="en-US" sz="1100" dirty="0">
                <a:solidFill>
                  <a:schemeClr val="tx1"/>
                </a:solidFill>
              </a:rPr>
              <a:t>cuesta producir un brownie, sin planta propia</a:t>
            </a:r>
            <a:endParaRPr lang="en-US" sz="1400" dirty="0"/>
          </a:p>
        </p:txBody>
      </p:sp>
      <p:sp>
        <p:nvSpPr>
          <p:cNvPr id="7" name="Shape 4"/>
          <p:cNvSpPr/>
          <p:nvPr/>
        </p:nvSpPr>
        <p:spPr>
          <a:xfrm>
            <a:off x="6675120" y="2487168"/>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839712" y="2487168"/>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58 a 66 %</a:t>
            </a:r>
            <a:endParaRPr lang="en-US" sz="1400" dirty="0"/>
          </a:p>
          <a:p>
            <a:pPr indent="0" marL="0">
              <a:buNone/>
            </a:pPr>
            <a:r>
              <a:rPr lang="en-US" sz="1100" dirty="0">
                <a:solidFill>
                  <a:schemeClr val="tx1"/>
                </a:solidFill>
              </a:rPr>
              <a:t>margen bruto en el stand</a:t>
            </a:r>
            <a:endParaRPr lang="en-US" sz="1400" dirty="0"/>
          </a:p>
        </p:txBody>
      </p:sp>
      <p:sp>
        <p:nvSpPr>
          <p:cNvPr id="9" name="Shape 6"/>
          <p:cNvSpPr/>
          <p:nvPr/>
        </p:nvSpPr>
        <p:spPr>
          <a:xfrm>
            <a:off x="6675120" y="3511296"/>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6839712" y="3511296"/>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S/1.69 a 2.86</a:t>
            </a:r>
            <a:endParaRPr lang="en-US" sz="1400" dirty="0"/>
          </a:p>
          <a:p>
            <a:pPr indent="0" marL="0">
              <a:buNone/>
            </a:pPr>
            <a:r>
              <a:rPr lang="en-US" sz="1100" dirty="0">
                <a:solidFill>
                  <a:schemeClr val="tx1"/>
                </a:solidFill>
              </a:rPr>
              <a:t>nos queda por brownie antes de pagar el stand</a:t>
            </a:r>
            <a:endParaRPr lang="en-US" sz="1400" dirty="0"/>
          </a:p>
        </p:txBody>
      </p:sp>
      <p:sp>
        <p:nvSpPr>
          <p:cNvPr id="11" name="Shape 8"/>
          <p:cNvSpPr/>
          <p:nvPr/>
        </p:nvSpPr>
        <p:spPr>
          <a:xfrm>
            <a:off x="9189720" y="1463040"/>
            <a:ext cx="2450592" cy="4709160"/>
          </a:xfrm>
          <a:prstGeom prst="roundRect">
            <a:avLst>
              <a:gd name="adj" fmla="val 4478"/>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9372600" y="1572768"/>
            <a:ext cx="21945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DE S/4.68 A LA GANANCIA</a:t>
            </a:r>
            <a:endParaRPr lang="en-US" sz="1100" dirty="0"/>
          </a:p>
        </p:txBody>
      </p:sp>
      <p:sp>
        <p:nvSpPr>
          <p:cNvPr id="13" name="Text 10"/>
          <p:cNvSpPr txBox="1"/>
          <p:nvPr/>
        </p:nvSpPr>
        <p:spPr>
          <a:xfrm>
            <a:off x="9372600" y="1828800"/>
            <a:ext cx="2194560" cy="256032"/>
          </a:xfrm>
          <a:prstGeom prst="rect">
            <a:avLst/>
          </a:prstGeom>
          <a:noFill/>
          <a:ln/>
        </p:spPr>
        <p:txBody>
          <a:bodyPr wrap="square" lIns="0" tIns="0" rIns="0" bIns="0" rtlCol="0" anchor="t"/>
          <a:lstStyle/>
          <a:p>
            <a:pPr indent="0" marL="0">
              <a:buNone/>
            </a:pPr>
            <a:r>
              <a:rPr lang="en-US" sz="1000" dirty="0">
                <a:solidFill>
                  <a:schemeClr val="accent5"/>
                </a:solidFill>
              </a:rPr>
              <a:t>Promedio por brownie, año 1</a:t>
            </a:r>
            <a:endParaRPr lang="en-US" sz="1000" dirty="0"/>
          </a:p>
        </p:txBody>
      </p:sp>
      <p:sp>
        <p:nvSpPr>
          <p:cNvPr id="14" name="Text 11"/>
          <p:cNvSpPr txBox="1"/>
          <p:nvPr/>
        </p:nvSpPr>
        <p:spPr>
          <a:xfrm>
            <a:off x="9372600" y="2212848"/>
            <a:ext cx="2194560" cy="219456"/>
          </a:xfrm>
          <a:prstGeom prst="rect">
            <a:avLst/>
          </a:prstGeom>
          <a:noFill/>
          <a:ln/>
        </p:spPr>
        <p:txBody>
          <a:bodyPr wrap="square" lIns="0" tIns="0" rIns="0" bIns="0" rtlCol="0" anchor="t"/>
          <a:lstStyle/>
          <a:p>
            <a:pPr indent="0" marL="0">
              <a:buNone/>
            </a:pPr>
            <a:r>
              <a:rPr lang="en-US" sz="1000" b="1" dirty="0">
                <a:solidFill>
                  <a:schemeClr val="bg2"/>
                </a:solidFill>
              </a:rPr>
              <a:t>Precio con IGV</a:t>
            </a:r>
            <a:endParaRPr lang="en-US" sz="1000" dirty="0"/>
          </a:p>
        </p:txBody>
      </p:sp>
      <p:sp>
        <p:nvSpPr>
          <p:cNvPr id="15" name="Shape 12"/>
          <p:cNvSpPr/>
          <p:nvPr/>
        </p:nvSpPr>
        <p:spPr>
          <a:xfrm>
            <a:off x="9372600" y="2450592"/>
            <a:ext cx="1536192" cy="201168"/>
          </a:xfrm>
          <a:prstGeom prst="rect">
            <a:avLst/>
          </a:prstGeom>
          <a:solidFill>
            <a:schemeClr val="accent5"/>
          </a:solidFill>
          <a:ln w="12700">
            <a:solidFill>
              <a:schemeClr val="accent5"/>
            </a:solidFill>
            <a:prstDash val="solid"/>
          </a:ln>
        </p:spPr>
      </p:sp>
      <p:sp>
        <p:nvSpPr>
          <p:cNvPr id="16" name="Text 13"/>
          <p:cNvSpPr txBox="1"/>
          <p:nvPr/>
        </p:nvSpPr>
        <p:spPr>
          <a:xfrm>
            <a:off x="10954512" y="24323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S/4.68</a:t>
            </a:r>
            <a:endParaRPr lang="en-US" sz="1050" dirty="0"/>
          </a:p>
        </p:txBody>
      </p:sp>
      <p:sp>
        <p:nvSpPr>
          <p:cNvPr id="17" name="Text 14"/>
          <p:cNvSpPr txBox="1"/>
          <p:nvPr/>
        </p:nvSpPr>
        <p:spPr>
          <a:xfrm>
            <a:off x="9372600" y="2761488"/>
            <a:ext cx="2194560" cy="219456"/>
          </a:xfrm>
          <a:prstGeom prst="rect">
            <a:avLst/>
          </a:prstGeom>
          <a:noFill/>
          <a:ln/>
        </p:spPr>
        <p:txBody>
          <a:bodyPr wrap="square" lIns="0" tIns="0" rIns="0" bIns="0" rtlCol="0" anchor="t"/>
          <a:lstStyle/>
          <a:p>
            <a:pPr indent="0" marL="0">
              <a:buNone/>
            </a:pPr>
            <a:r>
              <a:rPr lang="en-US" sz="1000" dirty="0">
                <a:solidFill>
                  <a:schemeClr val="bg2"/>
                </a:solidFill>
              </a:rPr>
              <a:t>IGV</a:t>
            </a:r>
            <a:endParaRPr lang="en-US" sz="1000" dirty="0"/>
          </a:p>
        </p:txBody>
      </p:sp>
      <p:sp>
        <p:nvSpPr>
          <p:cNvPr id="18" name="Shape 15"/>
          <p:cNvSpPr/>
          <p:nvPr/>
        </p:nvSpPr>
        <p:spPr>
          <a:xfrm>
            <a:off x="10675737" y="2999232"/>
            <a:ext cx="233055" cy="201168"/>
          </a:xfrm>
          <a:prstGeom prst="rect">
            <a:avLst/>
          </a:prstGeom>
          <a:solidFill>
            <a:schemeClr val="accent1"/>
          </a:solidFill>
          <a:ln w="12700">
            <a:solidFill>
              <a:schemeClr val="accent1"/>
            </a:solidFill>
            <a:prstDash val="solid"/>
          </a:ln>
        </p:spPr>
      </p:sp>
      <p:sp>
        <p:nvSpPr>
          <p:cNvPr id="19" name="Text 16"/>
          <p:cNvSpPr txBox="1"/>
          <p:nvPr/>
        </p:nvSpPr>
        <p:spPr>
          <a:xfrm>
            <a:off x="10954512" y="298094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−S/0.71</a:t>
            </a:r>
            <a:endParaRPr lang="en-US" sz="1050" dirty="0"/>
          </a:p>
        </p:txBody>
      </p:sp>
      <p:sp>
        <p:nvSpPr>
          <p:cNvPr id="20" name="Text 17"/>
          <p:cNvSpPr txBox="1"/>
          <p:nvPr/>
        </p:nvSpPr>
        <p:spPr>
          <a:xfrm>
            <a:off x="9372600" y="3310128"/>
            <a:ext cx="2194560" cy="219456"/>
          </a:xfrm>
          <a:prstGeom prst="rect">
            <a:avLst/>
          </a:prstGeom>
          <a:noFill/>
          <a:ln/>
        </p:spPr>
        <p:txBody>
          <a:bodyPr wrap="square" lIns="0" tIns="0" rIns="0" bIns="0" rtlCol="0" anchor="t"/>
          <a:lstStyle/>
          <a:p>
            <a:pPr indent="0" marL="0">
              <a:buNone/>
            </a:pPr>
            <a:r>
              <a:rPr lang="en-US" sz="1000" dirty="0">
                <a:solidFill>
                  <a:schemeClr val="bg2"/>
                </a:solidFill>
              </a:rPr>
              <a:t>Producir y vender</a:t>
            </a:r>
            <a:endParaRPr lang="en-US" sz="1000" dirty="0"/>
          </a:p>
        </p:txBody>
      </p:sp>
      <p:sp>
        <p:nvSpPr>
          <p:cNvPr id="21" name="Shape 18"/>
          <p:cNvSpPr/>
          <p:nvPr/>
        </p:nvSpPr>
        <p:spPr>
          <a:xfrm>
            <a:off x="9986420" y="3547872"/>
            <a:ext cx="689317" cy="201168"/>
          </a:xfrm>
          <a:prstGeom prst="rect">
            <a:avLst/>
          </a:prstGeom>
          <a:solidFill>
            <a:schemeClr val="accent1"/>
          </a:solidFill>
          <a:ln w="12700">
            <a:solidFill>
              <a:schemeClr val="accent1"/>
            </a:solidFill>
            <a:prstDash val="solid"/>
          </a:ln>
        </p:spPr>
      </p:sp>
      <p:sp>
        <p:nvSpPr>
          <p:cNvPr id="22" name="Text 19"/>
          <p:cNvSpPr txBox="1"/>
          <p:nvPr/>
        </p:nvSpPr>
        <p:spPr>
          <a:xfrm>
            <a:off x="10954512" y="352958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−S/2.10</a:t>
            </a:r>
            <a:endParaRPr lang="en-US" sz="1050" dirty="0"/>
          </a:p>
        </p:txBody>
      </p:sp>
      <p:sp>
        <p:nvSpPr>
          <p:cNvPr id="23" name="Text 20"/>
          <p:cNvSpPr txBox="1"/>
          <p:nvPr/>
        </p:nvSpPr>
        <p:spPr>
          <a:xfrm>
            <a:off x="9372600" y="3858768"/>
            <a:ext cx="2194560" cy="219456"/>
          </a:xfrm>
          <a:prstGeom prst="rect">
            <a:avLst/>
          </a:prstGeom>
          <a:noFill/>
          <a:ln/>
        </p:spPr>
        <p:txBody>
          <a:bodyPr wrap="square" lIns="0" tIns="0" rIns="0" bIns="0" rtlCol="0" anchor="t"/>
          <a:lstStyle/>
          <a:p>
            <a:pPr indent="0" marL="0">
              <a:buNone/>
            </a:pPr>
            <a:r>
              <a:rPr lang="en-US" sz="1000" dirty="0">
                <a:solidFill>
                  <a:schemeClr val="bg2"/>
                </a:solidFill>
              </a:rPr>
              <a:t>Stands, ferias y eventos</a:t>
            </a:r>
            <a:endParaRPr lang="en-US" sz="1000" dirty="0"/>
          </a:p>
        </p:txBody>
      </p:sp>
      <p:sp>
        <p:nvSpPr>
          <p:cNvPr id="24" name="Shape 21"/>
          <p:cNvSpPr/>
          <p:nvPr/>
        </p:nvSpPr>
        <p:spPr>
          <a:xfrm>
            <a:off x="9664739" y="4096512"/>
            <a:ext cx="321681" cy="201168"/>
          </a:xfrm>
          <a:prstGeom prst="rect">
            <a:avLst/>
          </a:prstGeom>
          <a:solidFill>
            <a:schemeClr val="accent1"/>
          </a:solidFill>
          <a:ln w="12700">
            <a:solidFill>
              <a:schemeClr val="accent1"/>
            </a:solidFill>
            <a:prstDash val="solid"/>
          </a:ln>
        </p:spPr>
      </p:sp>
      <p:sp>
        <p:nvSpPr>
          <p:cNvPr id="25" name="Text 22"/>
          <p:cNvSpPr txBox="1"/>
          <p:nvPr/>
        </p:nvSpPr>
        <p:spPr>
          <a:xfrm>
            <a:off x="10954512" y="407822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−S/0.98</a:t>
            </a:r>
            <a:endParaRPr lang="en-US" sz="1050" dirty="0"/>
          </a:p>
        </p:txBody>
      </p:sp>
      <p:sp>
        <p:nvSpPr>
          <p:cNvPr id="26" name="Text 23"/>
          <p:cNvSpPr txBox="1"/>
          <p:nvPr/>
        </p:nvSpPr>
        <p:spPr>
          <a:xfrm>
            <a:off x="9372600" y="4407408"/>
            <a:ext cx="2194560" cy="219456"/>
          </a:xfrm>
          <a:prstGeom prst="rect">
            <a:avLst/>
          </a:prstGeom>
          <a:noFill/>
          <a:ln/>
        </p:spPr>
        <p:txBody>
          <a:bodyPr wrap="square" lIns="0" tIns="0" rIns="0" bIns="0" rtlCol="0" anchor="t"/>
          <a:lstStyle/>
          <a:p>
            <a:pPr indent="0" marL="0">
              <a:buNone/>
            </a:pPr>
            <a:r>
              <a:rPr lang="en-US" sz="1000" dirty="0">
                <a:solidFill>
                  <a:schemeClr val="bg2"/>
                </a:solidFill>
              </a:rPr>
              <a:t>Gastos fijos</a:t>
            </a:r>
            <a:endParaRPr lang="en-US" sz="1000" dirty="0"/>
          </a:p>
        </p:txBody>
      </p:sp>
      <p:sp>
        <p:nvSpPr>
          <p:cNvPr id="27" name="Shape 24"/>
          <p:cNvSpPr/>
          <p:nvPr/>
        </p:nvSpPr>
        <p:spPr>
          <a:xfrm>
            <a:off x="9457944" y="4645152"/>
            <a:ext cx="206795" cy="201168"/>
          </a:xfrm>
          <a:prstGeom prst="rect">
            <a:avLst/>
          </a:prstGeom>
          <a:solidFill>
            <a:schemeClr val="accent1"/>
          </a:solidFill>
          <a:ln w="12700">
            <a:solidFill>
              <a:schemeClr val="accent1"/>
            </a:solidFill>
            <a:prstDash val="solid"/>
          </a:ln>
        </p:spPr>
      </p:sp>
      <p:sp>
        <p:nvSpPr>
          <p:cNvPr id="28" name="Text 25"/>
          <p:cNvSpPr txBox="1"/>
          <p:nvPr/>
        </p:nvSpPr>
        <p:spPr>
          <a:xfrm>
            <a:off x="10954512" y="462686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−S/0.63</a:t>
            </a:r>
            <a:endParaRPr lang="en-US" sz="1050" dirty="0"/>
          </a:p>
        </p:txBody>
      </p:sp>
      <p:sp>
        <p:nvSpPr>
          <p:cNvPr id="29" name="Text 26"/>
          <p:cNvSpPr txBox="1"/>
          <p:nvPr/>
        </p:nvSpPr>
        <p:spPr>
          <a:xfrm>
            <a:off x="9372600" y="4956048"/>
            <a:ext cx="2194560" cy="219456"/>
          </a:xfrm>
          <a:prstGeom prst="rect">
            <a:avLst/>
          </a:prstGeom>
          <a:noFill/>
          <a:ln/>
        </p:spPr>
        <p:txBody>
          <a:bodyPr wrap="square" lIns="0" tIns="0" rIns="0" bIns="0" rtlCol="0" anchor="t"/>
          <a:lstStyle/>
          <a:p>
            <a:pPr indent="0" marL="0">
              <a:buNone/>
            </a:pPr>
            <a:r>
              <a:rPr lang="en-US" sz="1000" dirty="0">
                <a:solidFill>
                  <a:schemeClr val="bg2"/>
                </a:solidFill>
              </a:rPr>
              <a:t>Intereses e impuesto</a:t>
            </a:r>
            <a:endParaRPr lang="en-US" sz="1000" dirty="0"/>
          </a:p>
        </p:txBody>
      </p:sp>
      <p:sp>
        <p:nvSpPr>
          <p:cNvPr id="30" name="Shape 27"/>
          <p:cNvSpPr/>
          <p:nvPr/>
        </p:nvSpPr>
        <p:spPr>
          <a:xfrm>
            <a:off x="9438249" y="5193792"/>
            <a:ext cx="27432" cy="201168"/>
          </a:xfrm>
          <a:prstGeom prst="rect">
            <a:avLst/>
          </a:prstGeom>
          <a:solidFill>
            <a:schemeClr val="accent1"/>
          </a:solidFill>
          <a:ln w="12700">
            <a:solidFill>
              <a:schemeClr val="accent1"/>
            </a:solidFill>
            <a:prstDash val="solid"/>
          </a:ln>
        </p:spPr>
      </p:sp>
      <p:sp>
        <p:nvSpPr>
          <p:cNvPr id="31" name="Text 28"/>
          <p:cNvSpPr txBox="1"/>
          <p:nvPr/>
        </p:nvSpPr>
        <p:spPr>
          <a:xfrm>
            <a:off x="10954512" y="51755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−S/0.06</a:t>
            </a:r>
            <a:endParaRPr lang="en-US" sz="1050" dirty="0"/>
          </a:p>
        </p:txBody>
      </p:sp>
      <p:sp>
        <p:nvSpPr>
          <p:cNvPr id="32" name="Text 29"/>
          <p:cNvSpPr txBox="1"/>
          <p:nvPr/>
        </p:nvSpPr>
        <p:spPr>
          <a:xfrm>
            <a:off x="9372600" y="5504688"/>
            <a:ext cx="2194560" cy="219456"/>
          </a:xfrm>
          <a:prstGeom prst="rect">
            <a:avLst/>
          </a:prstGeom>
          <a:noFill/>
          <a:ln/>
        </p:spPr>
        <p:txBody>
          <a:bodyPr wrap="square" lIns="0" tIns="0" rIns="0" bIns="0" rtlCol="0" anchor="t"/>
          <a:lstStyle/>
          <a:p>
            <a:pPr indent="0" marL="0">
              <a:buNone/>
            </a:pPr>
            <a:r>
              <a:rPr lang="en-US" sz="1000" b="1" dirty="0">
                <a:solidFill>
                  <a:schemeClr val="bg2"/>
                </a:solidFill>
              </a:rPr>
              <a:t>Ganancia final</a:t>
            </a:r>
            <a:endParaRPr lang="en-US" sz="1000" dirty="0"/>
          </a:p>
        </p:txBody>
      </p:sp>
      <p:sp>
        <p:nvSpPr>
          <p:cNvPr id="33" name="Shape 30"/>
          <p:cNvSpPr/>
          <p:nvPr/>
        </p:nvSpPr>
        <p:spPr>
          <a:xfrm>
            <a:off x="9372600" y="5742432"/>
            <a:ext cx="65649" cy="201168"/>
          </a:xfrm>
          <a:prstGeom prst="rect">
            <a:avLst/>
          </a:prstGeom>
          <a:solidFill>
            <a:schemeClr val="accent3"/>
          </a:solidFill>
          <a:ln w="12700">
            <a:solidFill>
              <a:schemeClr val="accent3"/>
            </a:solidFill>
            <a:prstDash val="solid"/>
          </a:ln>
        </p:spPr>
      </p:sp>
      <p:sp>
        <p:nvSpPr>
          <p:cNvPr id="34" name="Text 31"/>
          <p:cNvSpPr txBox="1"/>
          <p:nvPr/>
        </p:nvSpPr>
        <p:spPr>
          <a:xfrm>
            <a:off x="10954512" y="5724144"/>
            <a:ext cx="603504" cy="237744"/>
          </a:xfrm>
          <a:prstGeom prst="rect">
            <a:avLst/>
          </a:prstGeom>
          <a:noFill/>
          <a:ln/>
        </p:spPr>
        <p:txBody>
          <a:bodyPr wrap="square" lIns="0" tIns="0" rIns="0" bIns="0" rtlCol="0" anchor="ctr"/>
          <a:lstStyle/>
          <a:p>
            <a:pPr algn="r" indent="0" marL="0">
              <a:buNone/>
            </a:pPr>
            <a:r>
              <a:rPr lang="en-US" sz="1050" b="1" dirty="0">
                <a:solidFill>
                  <a:schemeClr val="accent3"/>
                </a:solidFill>
              </a:rPr>
              <a:t>S/0.20</a:t>
            </a:r>
            <a:endParaRPr lang="en-US" sz="1050" dirty="0"/>
          </a:p>
        </p:txBody>
      </p:sp>
      <p:sp>
        <p:nvSpPr>
          <p:cNvPr id="35" name="Shape 32"/>
          <p:cNvSpPr/>
          <p:nvPr/>
        </p:nvSpPr>
        <p:spPr>
          <a:xfrm>
            <a:off x="6675120" y="4553712"/>
            <a:ext cx="2331720" cy="1618488"/>
          </a:xfrm>
          <a:prstGeom prst="roundRect">
            <a:avLst>
              <a:gd name="adj" fmla="val 678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6" name="Text 33"/>
          <p:cNvSpPr txBox="1"/>
          <p:nvPr/>
        </p:nvSpPr>
        <p:spPr>
          <a:xfrm>
            <a:off x="6839712" y="4553712"/>
            <a:ext cx="2057400" cy="1618488"/>
          </a:xfrm>
          <a:prstGeom prst="rect">
            <a:avLst/>
          </a:prstGeom>
          <a:noFill/>
          <a:ln/>
        </p:spPr>
        <p:txBody>
          <a:bodyPr wrap="square" lIns="0" tIns="0" rIns="0" bIns="0" rtlCol="0" anchor="ctr"/>
          <a:lstStyle/>
          <a:p>
            <a:pPr indent="0" marL="0">
              <a:buNone/>
            </a:pPr>
            <a:r>
              <a:rPr lang="en-US" sz="1900" b="1" dirty="0">
                <a:solidFill>
                  <a:schemeClr val="bg1"/>
                </a:solidFill>
              </a:rPr>
              <a:t>S/0.20 → S/0.40</a:t>
            </a:r>
            <a:endParaRPr lang="en-US" sz="1400" dirty="0"/>
          </a:p>
          <a:p>
            <a:pPr indent="0" marL="0">
              <a:buNone/>
            </a:pPr>
            <a:r>
              <a:rPr lang="en-US" sz="1100" dirty="0">
                <a:solidFill>
                  <a:schemeClr val="bg1"/>
                </a:solidFill>
              </a:rPr>
              <a:t>ganancia final por brownie en el año 1 y en el año 2,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necesitamos para empezar: S/40,876, con todos los permisos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Crear la empresa (S.A.C.) ante notario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registro de microempresa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registrada en INDECOPI (alimentos)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con la planta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cuánto dura el producto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de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Seguro para los stands (1 año)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S/6,176</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S/16,000</a:t>
            </a:r>
            <a:endParaRPr lang="en-US" sz="1400" dirty="0"/>
          </a:p>
          <a:p>
            <a:pPr indent="0" marL="0">
              <a:buNone/>
            </a:pPr>
            <a:r>
              <a:rPr lang="en-US" sz="1200" dirty="0">
                <a:solidFill>
                  <a:schemeClr val="bg1"/>
                </a:solidFill>
              </a:rPr>
              <a:t>24 cuotas de S/898 (interés de 35 % al año) · línea de crédito de respaldo S/3,000</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Cuántos brownies hay que vender cada mes para no perder</a:t>
            </a:r>
            <a:endParaRPr lang="en-US" sz="3400" dirty="0"/>
          </a:p>
        </p:txBody>
      </p:sp>
      <p:graphicFrame>
        <p:nvGraphicFramePr>
          <p:cNvPr id="4" name="Chart 0" descr=""/>
          <p:cNvGraphicFramePr/>
          <p:nvPr/>
        </p:nvGraphicFramePr>
        <p:xfrm>
          <a:off x="365760" y="1417320"/>
          <a:ext cx="438912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17320"/>
          <a:ext cx="6858000" cy="434340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31520"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1 punto: </a:t>
            </a:r>
            <a:pPr indent="0" marL="0">
              <a:buNone/>
            </a:pPr>
            <a:r>
              <a:rPr lang="en-US" sz="1300" b="1" dirty="0">
                <a:solidFill>
                  <a:schemeClr val="tx1"/>
                </a:solidFill>
              </a:rPr>
              <a:t>≈ 2,100 al mes </a:t>
            </a:r>
            <a:pPr indent="0" marL="0">
              <a:buNone/>
            </a:pPr>
            <a:r>
              <a:rPr lang="en-US" sz="1100" dirty="0">
                <a:solidFill>
                  <a:schemeClr val="tx1"/>
                </a:solidFill>
              </a:rPr>
              <a:t>(enero)</a:t>
            </a:r>
            <a:endParaRPr lang="en-US" sz="1300" dirty="0"/>
          </a:p>
        </p:txBody>
      </p:sp>
      <p:sp>
        <p:nvSpPr>
          <p:cNvPr id="8" name="Shape 4"/>
          <p:cNvSpPr/>
          <p:nvPr/>
        </p:nvSpPr>
        <p:spPr>
          <a:xfrm>
            <a:off x="4288536"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471416"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2 puntos: </a:t>
            </a:r>
            <a:pPr indent="0" marL="0">
              <a:buNone/>
            </a:pPr>
            <a:r>
              <a:rPr lang="en-US" sz="1300" b="1" dirty="0">
                <a:solidFill>
                  <a:schemeClr val="tx1"/>
                </a:solidFill>
              </a:rPr>
              <a:t>≈ 3,100 a 3,500 </a:t>
            </a:r>
            <a:pPr indent="0" marL="0">
              <a:buNone/>
            </a:pPr>
            <a:r>
              <a:rPr lang="en-US" sz="1100" dirty="0">
                <a:solidFill>
                  <a:schemeClr val="tx1"/>
                </a:solidFill>
              </a:rPr>
              <a:t>(febrero a julio)</a:t>
            </a:r>
            <a:endParaRPr lang="en-US" sz="1300" dirty="0"/>
          </a:p>
        </p:txBody>
      </p:sp>
      <p:sp>
        <p:nvSpPr>
          <p:cNvPr id="10" name="Shape 6"/>
          <p:cNvSpPr/>
          <p:nvPr/>
        </p:nvSpPr>
        <p:spPr>
          <a:xfrm>
            <a:off x="8028432" y="5833872"/>
            <a:ext cx="3611880" cy="475488"/>
          </a:xfrm>
          <a:prstGeom prst="roundRect">
            <a:avLst>
              <a:gd name="adj" fmla="val 1923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211312" y="5833872"/>
            <a:ext cx="3337560" cy="475488"/>
          </a:xfrm>
          <a:prstGeom prst="rect">
            <a:avLst/>
          </a:prstGeom>
          <a:noFill/>
          <a:ln/>
        </p:spPr>
        <p:txBody>
          <a:bodyPr wrap="square" lIns="0" tIns="0" rIns="0" bIns="0" rtlCol="0" anchor="ctr"/>
          <a:lstStyle/>
          <a:p>
            <a:pPr indent="0" marL="0">
              <a:buNone/>
            </a:pPr>
            <a:r>
              <a:rPr lang="en-US" sz="1300" b="1" dirty="0">
                <a:solidFill>
                  <a:schemeClr val="accent3"/>
                </a:solidFill>
              </a:rPr>
              <a:t>3 puntos: </a:t>
            </a:r>
            <a:pPr indent="0" marL="0">
              <a:buNone/>
            </a:pPr>
            <a:r>
              <a:rPr lang="en-US" sz="1300" b="1" dirty="0">
                <a:solidFill>
                  <a:schemeClr val="bg1"/>
                </a:solidFill>
              </a:rPr>
              <a:t>≈ 4,200 a 4,400 </a:t>
            </a:r>
            <a:pPr indent="0" marL="0">
              <a:buNone/>
            </a:pPr>
            <a:r>
              <a:rPr lang="en-US" sz="1100" dirty="0">
                <a:solidFill>
                  <a:schemeClr val="bg1"/>
                </a:solidFill>
              </a:rPr>
              <a:t>(agosto a diciembre)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Desde marzo, todos los meses dan ganancia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33872"/>
            <a:ext cx="7589520" cy="475488"/>
          </a:xfrm>
          <a:prstGeom prst="roundRect">
            <a:avLst>
              <a:gd name="adj" fmla="val 19231"/>
            </a:avLst>
          </a:prstGeom>
          <a:solidFill>
            <a:schemeClr val="bg2"/>
          </a:solidFill>
          <a:ln w="12700">
            <a:solidFill>
              <a:schemeClr val="bg2"/>
            </a:solidFill>
            <a:prstDash val="solid"/>
          </a:ln>
        </p:spPr>
      </p:sp>
      <p:sp>
        <p:nvSpPr>
          <p:cNvPr id="6" name="Text 3"/>
          <p:cNvSpPr txBox="1"/>
          <p:nvPr/>
        </p:nvSpPr>
        <p:spPr>
          <a:xfrm>
            <a:off x="731520" y="5833872"/>
            <a:ext cx="7315200" cy="475488"/>
          </a:xfrm>
          <a:prstGeom prst="rect">
            <a:avLst/>
          </a:prstGeom>
          <a:noFill/>
          <a:ln/>
        </p:spPr>
        <p:txBody>
          <a:bodyPr wrap="square" lIns="0" tIns="0" rIns="0" bIns="0" rtlCol="0" anchor="ctr"/>
          <a:lstStyle/>
          <a:p>
            <a:pPr indent="0" marL="0">
              <a:buNone/>
            </a:pPr>
            <a:r>
              <a:rPr lang="en-US" sz="1200" b="1" dirty="0">
                <a:solidFill>
                  <a:schemeClr val="accent1"/>
                </a:solidFill>
              </a:rPr>
              <a:t>Respaldo: </a:t>
            </a:r>
            <a:pPr indent="0" marL="0">
              <a:buNone/>
            </a:pPr>
            <a:r>
              <a:rPr lang="en-US" sz="1200" dirty="0">
                <a:solidFill>
                  <a:schemeClr val="tx1"/>
                </a:solidFill>
              </a:rPr>
              <a:t>la caja más baja es S/2,545 (febrero). Si vendemos 20 % menos, llega a −S/2,188 y la cubre la línea de crédito de S/3,000.</a:t>
            </a:r>
            <a:endParaRPr lang="en-US" sz="1200" dirty="0"/>
          </a:p>
        </p:txBody>
      </p:sp>
      <p:sp>
        <p:nvSpPr>
          <p:cNvPr id="7" name="Shape 4"/>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S/244,728</a:t>
            </a:r>
            <a:endParaRPr lang="en-US" sz="1400" dirty="0"/>
          </a:p>
          <a:p>
            <a:pPr indent="0" marL="0">
              <a:buNone/>
            </a:pPr>
            <a:r>
              <a:rPr lang="en-US" sz="1200" dirty="0">
                <a:solidFill>
                  <a:schemeClr val="accent2"/>
                </a:solidFill>
              </a:rPr>
              <a:t>ventas con IGV</a:t>
            </a:r>
            <a:endParaRPr lang="en-US" sz="1400" dirty="0"/>
          </a:p>
        </p:txBody>
      </p:sp>
      <p:sp>
        <p:nvSpPr>
          <p:cNvPr id="9" name="Shape 6"/>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S/13,423</a:t>
            </a:r>
            <a:endParaRPr lang="en-US" sz="1400" dirty="0"/>
          </a:p>
          <a:p>
            <a:pPr indent="0" marL="0">
              <a:buNone/>
            </a:pPr>
            <a:r>
              <a:rPr lang="en-US" sz="1200" dirty="0">
                <a:solidFill>
                  <a:schemeClr val="accent2"/>
                </a:solidFill>
              </a:rPr>
              <a:t>resultado operativo (6.5 % de las ventas)</a:t>
            </a:r>
            <a:endParaRPr lang="en-US" sz="1400" dirty="0"/>
          </a:p>
        </p:txBody>
      </p:sp>
      <p:sp>
        <p:nvSpPr>
          <p:cNvPr id="11" name="Shape 8"/>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S/10,379</a:t>
            </a:r>
            <a:endParaRPr lang="en-US" sz="1400" dirty="0"/>
          </a:p>
          <a:p>
            <a:pPr indent="0" marL="0">
              <a:buNone/>
            </a:pPr>
            <a:r>
              <a:rPr lang="en-US" sz="1200" dirty="0">
                <a:solidFill>
                  <a:schemeClr val="bg1"/>
                </a:solidFill>
              </a:rPr>
              <a:t>utilidad neta: 42 % de lo que pusieron los socios</a:t>
            </a:r>
            <a:endParaRPr lang="en-US" sz="1400" dirty="0"/>
          </a:p>
        </p:txBody>
      </p:sp>
      <p:sp>
        <p:nvSpPr>
          <p:cNvPr id="13" name="Shape 10"/>
          <p:cNvSpPr/>
          <p:nvPr/>
        </p:nvSpPr>
        <p:spPr>
          <a:xfrm>
            <a:off x="8321040" y="5111496"/>
            <a:ext cx="3319272" cy="1078992"/>
          </a:xfrm>
          <a:prstGeom prst="roundRect">
            <a:avLst>
              <a:gd name="adj" fmla="val 101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3"/>
                </a:solidFill>
              </a:rPr>
              <a:t>Año 2: S/28,447</a:t>
            </a:r>
            <a:endParaRPr lang="en-US" sz="1400" dirty="0"/>
          </a:p>
          <a:p>
            <a:pPr indent="0" marL="0">
              <a:buNone/>
            </a:pPr>
            <a:r>
              <a:rPr lang="en-US" sz="1200" dirty="0">
                <a:solidFill>
                  <a:schemeClr val="bg1"/>
                </a:solidFill>
              </a:rPr>
              <a:t>de utilidad neta,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2</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Año 2: con 3 puntos todo el año, la utilidad casi se triplica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70448"/>
            <a:ext cx="1810512" cy="411480"/>
          </a:xfrm>
          <a:prstGeom prst="roundRect">
            <a:avLst>
              <a:gd name="adj" fmla="val 48889"/>
            </a:avLst>
          </a:prstGeom>
          <a:solidFill>
            <a:schemeClr val="bg1"/>
          </a:solidFill>
          <a:ln w="12700">
            <a:solidFill>
              <a:schemeClr val="accent5"/>
            </a:solidFill>
            <a:prstDash val="solid"/>
          </a:ln>
        </p:spPr>
      </p:sp>
      <p:sp>
        <p:nvSpPr>
          <p:cNvPr id="6" name="Text 3"/>
          <p:cNvSpPr txBox="1"/>
          <p:nvPr/>
        </p:nvSpPr>
        <p:spPr>
          <a:xfrm>
            <a:off x="548640"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3 puntos todo el año</a:t>
            </a:r>
            <a:endParaRPr lang="en-US" sz="1100" dirty="0"/>
          </a:p>
        </p:txBody>
      </p:sp>
      <p:sp>
        <p:nvSpPr>
          <p:cNvPr id="7" name="Shape 4"/>
          <p:cNvSpPr/>
          <p:nvPr/>
        </p:nvSpPr>
        <p:spPr>
          <a:xfrm>
            <a:off x="2478024" y="5870448"/>
            <a:ext cx="1810512" cy="411480"/>
          </a:xfrm>
          <a:prstGeom prst="roundRect">
            <a:avLst>
              <a:gd name="adj" fmla="val 48889"/>
            </a:avLst>
          </a:prstGeom>
          <a:solidFill>
            <a:schemeClr val="bg1"/>
          </a:solidFill>
          <a:ln w="12700">
            <a:solidFill>
              <a:schemeClr val="accent5"/>
            </a:solidFill>
            <a:prstDash val="solid"/>
          </a:ln>
        </p:spPr>
      </p:sp>
      <p:sp>
        <p:nvSpPr>
          <p:cNvPr id="8" name="Text 5"/>
          <p:cNvSpPr txBox="1"/>
          <p:nvPr/>
        </p:nvSpPr>
        <p:spPr>
          <a:xfrm>
            <a:off x="2478024"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80 a 90 brownies por día</a:t>
            </a:r>
            <a:endParaRPr lang="en-US" sz="1100" dirty="0"/>
          </a:p>
        </p:txBody>
      </p:sp>
      <p:sp>
        <p:nvSpPr>
          <p:cNvPr id="9" name="Shape 6"/>
          <p:cNvSpPr/>
          <p:nvPr/>
        </p:nvSpPr>
        <p:spPr>
          <a:xfrm>
            <a:off x="4407408" y="5870448"/>
            <a:ext cx="1810512" cy="411480"/>
          </a:xfrm>
          <a:prstGeom prst="roundRect">
            <a:avLst>
              <a:gd name="adj" fmla="val 48889"/>
            </a:avLst>
          </a:prstGeom>
          <a:solidFill>
            <a:schemeClr val="bg1"/>
          </a:solidFill>
          <a:ln w="12700">
            <a:solidFill>
              <a:schemeClr val="accent5"/>
            </a:solidFill>
            <a:prstDash val="solid"/>
          </a:ln>
        </p:spPr>
      </p:sp>
      <p:sp>
        <p:nvSpPr>
          <p:cNvPr id="10" name="Text 7"/>
          <p:cNvSpPr txBox="1"/>
          <p:nvPr/>
        </p:nvSpPr>
        <p:spPr>
          <a:xfrm>
            <a:off x="4407408"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quioscos todo el año escolar</a:t>
            </a:r>
            <a:endParaRPr lang="en-US" sz="1100" dirty="0"/>
          </a:p>
        </p:txBody>
      </p:sp>
      <p:sp>
        <p:nvSpPr>
          <p:cNvPr id="11" name="Shape 8"/>
          <p:cNvSpPr/>
          <p:nvPr/>
        </p:nvSpPr>
        <p:spPr>
          <a:xfrm>
            <a:off x="6336792" y="5870448"/>
            <a:ext cx="1810512" cy="411480"/>
          </a:xfrm>
          <a:prstGeom prst="roundRect">
            <a:avLst>
              <a:gd name="adj" fmla="val 48889"/>
            </a:avLst>
          </a:prstGeom>
          <a:solidFill>
            <a:schemeClr val="bg1"/>
          </a:solidFill>
          <a:ln w="12700">
            <a:solidFill>
              <a:schemeClr val="accent5"/>
            </a:solidFill>
            <a:prstDash val="solid"/>
          </a:ln>
        </p:spPr>
      </p:sp>
      <p:sp>
        <p:nvSpPr>
          <p:cNvPr id="12" name="Text 9"/>
          <p:cNvSpPr txBox="1"/>
          <p:nvPr/>
        </p:nvSpPr>
        <p:spPr>
          <a:xfrm>
            <a:off x="6336792"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mismos precios y costos</a:t>
            </a:r>
            <a:endParaRPr lang="en-US" sz="1100" dirty="0"/>
          </a:p>
        </p:txBody>
      </p:sp>
      <p:sp>
        <p:nvSpPr>
          <p:cNvPr id="13" name="Shape 10"/>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S/322,329</a:t>
            </a:r>
            <a:endParaRPr lang="en-US" sz="1400" dirty="0"/>
          </a:p>
          <a:p>
            <a:pPr indent="0" marL="0">
              <a:buNone/>
            </a:pPr>
            <a:r>
              <a:rPr lang="en-US" sz="1200" dirty="0">
                <a:solidFill>
                  <a:schemeClr val="accent2"/>
                </a:solidFill>
              </a:rPr>
              <a:t>ventas con IGV (+32 %)</a:t>
            </a:r>
            <a:endParaRPr lang="en-US" sz="1400" dirty="0"/>
          </a:p>
        </p:txBody>
      </p:sp>
      <p:sp>
        <p:nvSpPr>
          <p:cNvPr id="15" name="Shape 12"/>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3"/>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S/30,459</a:t>
            </a:r>
            <a:endParaRPr lang="en-US" sz="1400" dirty="0"/>
          </a:p>
          <a:p>
            <a:pPr indent="0" marL="0">
              <a:buNone/>
            </a:pPr>
            <a:r>
              <a:rPr lang="en-US" sz="1200" dirty="0">
                <a:solidFill>
                  <a:schemeClr val="accent2"/>
                </a:solidFill>
              </a:rPr>
              <a:t>resultado operativo (11.2 % de las ventas)</a:t>
            </a:r>
            <a:endParaRPr lang="en-US" sz="1400" dirty="0"/>
          </a:p>
        </p:txBody>
      </p:sp>
      <p:sp>
        <p:nvSpPr>
          <p:cNvPr id="17" name="Shape 14"/>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S/28,447</a:t>
            </a:r>
            <a:endParaRPr lang="en-US" sz="1400" dirty="0"/>
          </a:p>
          <a:p>
            <a:pPr indent="0" marL="0">
              <a:buNone/>
            </a:pPr>
            <a:r>
              <a:rPr lang="en-US" sz="1200" dirty="0">
                <a:solidFill>
                  <a:schemeClr val="bg1"/>
                </a:solidFill>
              </a:rPr>
              <a:t>utilidad neta: 2.7 veces la del año 1</a:t>
            </a:r>
            <a:endParaRPr lang="en-US" sz="1400" dirty="0"/>
          </a:p>
        </p:txBody>
      </p:sp>
      <p:sp>
        <p:nvSpPr>
          <p:cNvPr id="19" name="Shape 16"/>
          <p:cNvSpPr/>
          <p:nvPr/>
        </p:nvSpPr>
        <p:spPr>
          <a:xfrm>
            <a:off x="8321040" y="5111496"/>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Text 17"/>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Mes 23</a:t>
            </a:r>
            <a:endParaRPr lang="en-US" sz="1400" dirty="0"/>
          </a:p>
          <a:p>
            <a:pPr indent="0" marL="0">
              <a:buNone/>
            </a:pPr>
            <a:r>
              <a:rPr lang="en-US" sz="1200" dirty="0">
                <a:solidFill>
                  <a:schemeClr val="accent2"/>
                </a:solidFill>
              </a:rPr>
              <a:t>recuperamos los S/40,876 (noviembre de 2028)</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negocio en una página: por qué AndiBite funciona</a:t>
            </a:r>
            <a:endParaRPr lang="en-US" sz="3400" dirty="0"/>
          </a:p>
        </p:txBody>
      </p:sp>
      <p:sp>
        <p:nvSpPr>
          <p:cNvPr id="4" name="Shape 2"/>
          <p:cNvSpPr/>
          <p:nvPr/>
        </p:nvSpPr>
        <p:spPr>
          <a:xfrm>
            <a:off x="548640"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490472"/>
            <a:ext cx="237744" cy="237744"/>
          </a:xfrm>
          <a:prstGeom prst="rect">
            <a:avLst/>
          </a:prstGeom>
        </p:spPr>
      </p:pic>
      <p:sp>
        <p:nvSpPr>
          <p:cNvPr id="6" name="Text 3"/>
          <p:cNvSpPr txBox="1"/>
          <p:nvPr/>
        </p:nvSpPr>
        <p:spPr>
          <a:xfrm>
            <a:off x="96926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4008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Planta con certificación que fabrica por nosotros</a:t>
            </a:r>
            <a:endParaRPr lang="en-US" sz="1200" dirty="0"/>
          </a:p>
          <a:p>
            <a:pPr marL="114300" indent="-114300">
              <a:spcAft>
                <a:spcPts val="300"/>
              </a:spcAft>
              <a:buSzPct val="100000"/>
              <a:buChar char="•"/>
            </a:pPr>
            <a:r>
              <a:rPr lang="en-US" sz="1200" dirty="0">
                <a:solidFill>
                  <a:schemeClr val="tx1"/>
                </a:solidFill>
              </a:rPr>
              <a:t>Laboratorio que mide el hierro de cada lote</a:t>
            </a:r>
            <a:endParaRPr lang="en-US" sz="1200" dirty="0"/>
          </a:p>
          <a:p>
            <a:pPr marL="114300" indent="-114300">
              <a:spcAft>
                <a:spcPts val="300"/>
              </a:spcAft>
              <a:buSzPct val="100000"/>
              <a:buChar char="•"/>
            </a:pPr>
            <a:r>
              <a:rPr lang="en-US" sz="1200" dirty="0">
                <a:solidFill>
                  <a:schemeClr val="tx1"/>
                </a:solidFill>
              </a:rPr>
              <a:t>Proveedor de sangrecita en polvo con registro sanitario</a:t>
            </a:r>
            <a:endParaRPr lang="en-US" sz="1200" dirty="0"/>
          </a:p>
          <a:p>
            <a:pPr marL="114300" indent="-114300">
              <a:spcAft>
                <a:spcPts val="300"/>
              </a:spcAft>
              <a:buSzPct val="100000"/>
              <a:buChar char="•"/>
            </a:pPr>
            <a:r>
              <a:rPr lang="en-US" sz="1200" dirty="0">
                <a:solidFill>
                  <a:schemeClr val="tx1"/>
                </a:solidFill>
              </a:rPr>
              <a:t>Malls, Wong y Vivanda</a:t>
            </a:r>
            <a:endParaRPr lang="en-US" sz="1200" dirty="0"/>
          </a:p>
          <a:p>
            <a:pPr marL="114300" indent="-114300">
              <a:spcAft>
                <a:spcPts val="300"/>
              </a:spcAft>
              <a:buSzPct val="100000"/>
              <a:buChar char="•"/>
            </a:pPr>
            <a:r>
              <a:rPr lang="en-US" sz="1200" dirty="0">
                <a:solidFill>
                  <a:schemeClr val="tx1"/>
                </a:solidFill>
              </a:rPr>
              <a:t>Pediatras y nutricionista que nos recomiendan</a:t>
            </a:r>
            <a:endParaRPr lang="en-US" sz="1200" dirty="0"/>
          </a:p>
        </p:txBody>
      </p:sp>
      <p:sp>
        <p:nvSpPr>
          <p:cNvPr id="8" name="Shape 5"/>
          <p:cNvSpPr/>
          <p:nvPr/>
        </p:nvSpPr>
        <p:spPr>
          <a:xfrm>
            <a:off x="2781605"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490472"/>
            <a:ext cx="237744" cy="237744"/>
          </a:xfrm>
          <a:prstGeom prst="rect">
            <a:avLst/>
          </a:prstGeom>
        </p:spPr>
      </p:pic>
      <p:sp>
        <p:nvSpPr>
          <p:cNvPr id="10" name="Text 6"/>
          <p:cNvSpPr txBox="1"/>
          <p:nvPr/>
        </p:nvSpPr>
        <p:spPr>
          <a:xfrm>
            <a:off x="3202229"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73045"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Fabricar sin planta propia</a:t>
            </a:r>
            <a:endParaRPr lang="en-US" sz="1200" dirty="0"/>
          </a:p>
          <a:p>
            <a:pPr marL="114300" indent="-114300">
              <a:spcAft>
                <a:spcPts val="300"/>
              </a:spcAft>
              <a:buSzPct val="100000"/>
              <a:buChar char="•"/>
            </a:pPr>
            <a:r>
              <a:rPr lang="en-US" sz="1200" dirty="0">
                <a:solidFill>
                  <a:schemeClr val="tx1"/>
                </a:solidFill>
              </a:rPr>
              <a:t>Medir y publicar el hierro</a:t>
            </a:r>
            <a:endParaRPr lang="en-US" sz="1200" dirty="0"/>
          </a:p>
          <a:p>
            <a:pPr marL="114300" indent="-114300">
              <a:spcAft>
                <a:spcPts val="300"/>
              </a:spcAft>
              <a:buSzPct val="100000"/>
              <a:buChar char="•"/>
            </a:pPr>
            <a:r>
              <a:rPr lang="en-US" sz="1200" dirty="0">
                <a:solidFill>
                  <a:schemeClr val="tx1"/>
                </a:solidFill>
              </a:rPr>
              <a:t>Vender en stands y ferias</a:t>
            </a:r>
            <a:endParaRPr lang="en-US" sz="1200" dirty="0"/>
          </a:p>
          <a:p>
            <a:pPr marL="114300" indent="-114300">
              <a:spcAft>
                <a:spcPts val="300"/>
              </a:spcAft>
              <a:buSzPct val="100000"/>
              <a:buChar char="•"/>
            </a:pPr>
            <a:r>
              <a:rPr lang="en-US" sz="1200" dirty="0">
                <a:solidFill>
                  <a:schemeClr val="tx1"/>
                </a:solidFill>
              </a:rPr>
              <a:t>Recompra con la app</a:t>
            </a:r>
            <a:endParaRPr lang="en-US" sz="1200" dirty="0"/>
          </a:p>
        </p:txBody>
      </p:sp>
      <p:sp>
        <p:nvSpPr>
          <p:cNvPr id="12" name="Shape 8"/>
          <p:cNvSpPr/>
          <p:nvPr/>
        </p:nvSpPr>
        <p:spPr>
          <a:xfrm>
            <a:off x="2781605"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182112"/>
            <a:ext cx="237744" cy="237744"/>
          </a:xfrm>
          <a:prstGeom prst="rect">
            <a:avLst/>
          </a:prstGeom>
        </p:spPr>
      </p:pic>
      <p:sp>
        <p:nvSpPr>
          <p:cNvPr id="14" name="Text 9"/>
          <p:cNvSpPr txBox="1"/>
          <p:nvPr/>
        </p:nvSpPr>
        <p:spPr>
          <a:xfrm>
            <a:off x="3202229"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73045"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Receta que esconde la sangrecita</a:t>
            </a:r>
            <a:endParaRPr lang="en-US" sz="1200" dirty="0"/>
          </a:p>
          <a:p>
            <a:pPr marL="114300" indent="-114300">
              <a:spcAft>
                <a:spcPts val="300"/>
              </a:spcAft>
              <a:buSzPct val="100000"/>
              <a:buChar char="•"/>
            </a:pPr>
            <a:r>
              <a:rPr lang="en-US" sz="1200" dirty="0">
                <a:solidFill>
                  <a:schemeClr val="tx1"/>
                </a:solidFill>
              </a:rPr>
              <a:t>Marca y registro sanitario</a:t>
            </a:r>
            <a:endParaRPr lang="en-US" sz="1200" dirty="0"/>
          </a:p>
          <a:p>
            <a:pPr marL="114300" indent="-114300">
              <a:spcAft>
                <a:spcPts val="300"/>
              </a:spcAft>
              <a:buSzPct val="100000"/>
              <a:buChar char="•"/>
            </a:pPr>
            <a:r>
              <a:rPr lang="en-US" sz="1200" dirty="0">
                <a:solidFill>
                  <a:schemeClr val="tx1"/>
                </a:solidFill>
              </a:rPr>
              <a:t>App y datos de cada familia</a:t>
            </a:r>
            <a:endParaRPr lang="en-US" sz="1200" dirty="0"/>
          </a:p>
          <a:p>
            <a:pPr marL="114300" indent="-114300">
              <a:spcAft>
                <a:spcPts val="300"/>
              </a:spcAft>
              <a:buSzPct val="100000"/>
              <a:buChar char="•"/>
            </a:pPr>
            <a:r>
              <a:rPr lang="en-US" sz="1200" dirty="0">
                <a:solidFill>
                  <a:schemeClr val="tx1"/>
                </a:solidFill>
              </a:rPr>
              <a:t>Equipo de venta pagado</a:t>
            </a:r>
            <a:endParaRPr lang="en-US" sz="1200" dirty="0"/>
          </a:p>
        </p:txBody>
      </p:sp>
      <p:sp>
        <p:nvSpPr>
          <p:cNvPr id="16" name="Shape 11"/>
          <p:cNvSpPr/>
          <p:nvPr/>
        </p:nvSpPr>
        <p:spPr>
          <a:xfrm>
            <a:off x="5014570" y="1389888"/>
            <a:ext cx="2159813" cy="3310128"/>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490472"/>
            <a:ext cx="237744" cy="237744"/>
          </a:xfrm>
          <a:prstGeom prst="rect">
            <a:avLst/>
          </a:prstGeom>
        </p:spPr>
      </p:pic>
      <p:sp>
        <p:nvSpPr>
          <p:cNvPr id="18" name="Text 12"/>
          <p:cNvSpPr txBox="1"/>
          <p:nvPr/>
        </p:nvSpPr>
        <p:spPr>
          <a:xfrm>
            <a:off x="543519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0601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b="1" dirty="0">
                <a:solidFill>
                  <a:schemeClr val="bg1"/>
                </a:solidFill>
              </a:rPr>
              <a:t>El snack de lonchera con hierro que el niño sí se come</a:t>
            </a:r>
            <a:endParaRPr lang="en-US" sz="1200" dirty="0"/>
          </a:p>
          <a:p>
            <a:pPr marL="114300" indent="-114300">
              <a:spcAft>
                <a:spcPts val="300"/>
              </a:spcAft>
              <a:buSzPct val="100000"/>
              <a:buChar char="•"/>
            </a:pPr>
            <a:r>
              <a:rPr lang="en-US" sz="1200" dirty="0">
                <a:solidFill>
                  <a:schemeClr val="bg1"/>
                </a:solidFill>
              </a:rPr>
              <a:t>Hierro medido en cada lote, visible en la app</a:t>
            </a:r>
            <a:endParaRPr lang="en-US" sz="1200" dirty="0"/>
          </a:p>
          <a:p>
            <a:pPr marL="114300" indent="-114300">
              <a:spcAft>
                <a:spcPts val="300"/>
              </a:spcAft>
              <a:buSzPct val="100000"/>
              <a:buChar char="•"/>
            </a:pPr>
            <a:r>
              <a:rPr lang="en-US" sz="1200" dirty="0">
                <a:solidFill>
                  <a:schemeClr val="bg1"/>
                </a:solidFill>
              </a:rPr>
              <a:t>Sabor a brownie, sin octógono</a:t>
            </a:r>
            <a:endParaRPr lang="en-US" sz="1200" dirty="0"/>
          </a:p>
          <a:p>
            <a:pPr marL="114300" indent="-114300">
              <a:spcAft>
                <a:spcPts val="300"/>
              </a:spcAft>
              <a:buSzPct val="100000"/>
              <a:buChar char="•"/>
            </a:pPr>
            <a:r>
              <a:rPr lang="en-US" sz="1200" dirty="0">
                <a:solidFill>
                  <a:schemeClr val="bg1"/>
                </a:solidFill>
              </a:rPr>
              <a:t>App para padres y juego para niños</a:t>
            </a:r>
            <a:endParaRPr lang="en-US" sz="1200" dirty="0"/>
          </a:p>
          <a:p>
            <a:pPr marL="114300" indent="-114300">
              <a:spcAft>
                <a:spcPts val="300"/>
              </a:spcAft>
              <a:buSzPct val="100000"/>
              <a:buChar char="•"/>
            </a:pPr>
            <a:r>
              <a:rPr lang="en-US" sz="1200" dirty="0">
                <a:solidFill>
                  <a:schemeClr val="bg1"/>
                </a:solidFill>
              </a:rPr>
              <a:t>Se prueba gratis antes de comprar</a:t>
            </a:r>
            <a:endParaRPr lang="en-US" sz="1200" dirty="0"/>
          </a:p>
        </p:txBody>
      </p:sp>
      <p:sp>
        <p:nvSpPr>
          <p:cNvPr id="20" name="Shape 14"/>
          <p:cNvSpPr/>
          <p:nvPr/>
        </p:nvSpPr>
        <p:spPr>
          <a:xfrm>
            <a:off x="7247534"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490472"/>
            <a:ext cx="237744" cy="237744"/>
          </a:xfrm>
          <a:prstGeom prst="rect">
            <a:avLst/>
          </a:prstGeom>
        </p:spPr>
      </p:pic>
      <p:sp>
        <p:nvSpPr>
          <p:cNvPr id="22" name="Text 15"/>
          <p:cNvSpPr txBox="1"/>
          <p:nvPr/>
        </p:nvSpPr>
        <p:spPr>
          <a:xfrm>
            <a:off x="7668158"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38974"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Degustación cara a cara</a:t>
            </a:r>
            <a:endParaRPr lang="en-US" sz="1200" dirty="0"/>
          </a:p>
          <a:p>
            <a:pPr marL="114300" indent="-114300">
              <a:spcAft>
                <a:spcPts val="300"/>
              </a:spcAft>
              <a:buSzPct val="100000"/>
              <a:buChar char="•"/>
            </a:pPr>
            <a:r>
              <a:rPr lang="en-US" sz="1200" dirty="0">
                <a:solidFill>
                  <a:schemeClr val="tx1"/>
                </a:solidFill>
              </a:rPr>
              <a:t>La app avisa cuándo recomprar</a:t>
            </a:r>
            <a:endParaRPr lang="en-US" sz="1200" dirty="0"/>
          </a:p>
          <a:p>
            <a:pPr marL="114300" indent="-114300">
              <a:spcAft>
                <a:spcPts val="300"/>
              </a:spcAft>
              <a:buSzPct val="100000"/>
              <a:buChar char="•"/>
            </a:pPr>
            <a:r>
              <a:rPr lang="en-US" sz="1200" dirty="0">
                <a:solidFill>
                  <a:schemeClr val="tx1"/>
                </a:solidFill>
              </a:rPr>
              <a:t>Mamás embajadoras por salón</a:t>
            </a:r>
            <a:endParaRPr lang="en-US" sz="1200" dirty="0"/>
          </a:p>
        </p:txBody>
      </p:sp>
      <p:sp>
        <p:nvSpPr>
          <p:cNvPr id="24" name="Shape 17"/>
          <p:cNvSpPr/>
          <p:nvPr/>
        </p:nvSpPr>
        <p:spPr>
          <a:xfrm>
            <a:off x="7247534"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182112"/>
            <a:ext cx="237744" cy="237744"/>
          </a:xfrm>
          <a:prstGeom prst="rect">
            <a:avLst/>
          </a:prstGeom>
        </p:spPr>
      </p:pic>
      <p:sp>
        <p:nvSpPr>
          <p:cNvPr id="26" name="Text 18"/>
          <p:cNvSpPr txBox="1"/>
          <p:nvPr/>
        </p:nvSpPr>
        <p:spPr>
          <a:xfrm>
            <a:off x="7668158"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38974"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Stands y carrito 43 %</a:t>
            </a:r>
            <a:endParaRPr lang="en-US" sz="1200" dirty="0"/>
          </a:p>
          <a:p>
            <a:pPr marL="114300" indent="-114300">
              <a:spcAft>
                <a:spcPts val="300"/>
              </a:spcAft>
              <a:buSzPct val="100000"/>
              <a:buChar char="•"/>
            </a:pPr>
            <a:r>
              <a:rPr lang="en-US" sz="1200" dirty="0">
                <a:solidFill>
                  <a:schemeClr val="tx1"/>
                </a:solidFill>
              </a:rPr>
              <a:t>WhatsApp 18 % · ferias 14 %</a:t>
            </a:r>
            <a:endParaRPr lang="en-US" sz="1200" dirty="0"/>
          </a:p>
          <a:p>
            <a:pPr marL="114300" indent="-114300">
              <a:spcAft>
                <a:spcPts val="300"/>
              </a:spcAft>
              <a:buSzPct val="100000"/>
              <a:buChar char="•"/>
            </a:pPr>
            <a:r>
              <a:rPr lang="en-US" sz="1200" dirty="0">
                <a:solidFill>
                  <a:schemeClr val="tx1"/>
                </a:solidFill>
              </a:rPr>
              <a:t>Colegios y naturistas 25 %</a:t>
            </a:r>
            <a:endParaRPr lang="en-US" sz="1200" dirty="0"/>
          </a:p>
        </p:txBody>
      </p:sp>
      <p:sp>
        <p:nvSpPr>
          <p:cNvPr id="28" name="Shape 20"/>
          <p:cNvSpPr/>
          <p:nvPr/>
        </p:nvSpPr>
        <p:spPr>
          <a:xfrm>
            <a:off x="9480499"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490472"/>
            <a:ext cx="237744" cy="237744"/>
          </a:xfrm>
          <a:prstGeom prst="rect">
            <a:avLst/>
          </a:prstGeom>
        </p:spPr>
      </p:pic>
      <p:sp>
        <p:nvSpPr>
          <p:cNvPr id="30" name="Text 21"/>
          <p:cNvSpPr txBox="1"/>
          <p:nvPr/>
        </p:nvSpPr>
        <p:spPr>
          <a:xfrm>
            <a:off x="9901123"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71939"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Padres A/B de 32 a 45 años que leen etiquetas</a:t>
            </a:r>
            <a:endParaRPr lang="en-US" sz="1200" dirty="0"/>
          </a:p>
          <a:p>
            <a:pPr marL="114300" indent="-114300">
              <a:spcAft>
                <a:spcPts val="300"/>
              </a:spcAft>
              <a:buSzPct val="100000"/>
              <a:buChar char="•"/>
            </a:pPr>
            <a:r>
              <a:rPr lang="en-US" sz="1200" dirty="0">
                <a:solidFill>
                  <a:schemeClr val="tx1"/>
                </a:solidFill>
              </a:rPr>
              <a:t>Hijos de 4 a 11 en colegio privado</a:t>
            </a:r>
            <a:endParaRPr lang="en-US" sz="1200" dirty="0"/>
          </a:p>
          <a:p>
            <a:pPr marL="114300" indent="-114300">
              <a:spcAft>
                <a:spcPts val="300"/>
              </a:spcAft>
              <a:buSzPct val="100000"/>
              <a:buChar char="•"/>
            </a:pPr>
            <a:r>
              <a:rPr lang="en-US" sz="1200" dirty="0">
                <a:solidFill>
                  <a:schemeClr val="tx1"/>
                </a:solidFill>
              </a:rPr>
              <a:t>46,000 hogares en Lima Top y Moderna</a:t>
            </a:r>
            <a:endParaRPr lang="en-US" sz="1200" dirty="0"/>
          </a:p>
          <a:p>
            <a:pPr marL="114300" indent="-114300">
              <a:spcAft>
                <a:spcPts val="300"/>
              </a:spcAft>
              <a:buSzPct val="100000"/>
              <a:buChar char="•"/>
            </a:pPr>
            <a:r>
              <a:rPr lang="en-US" sz="1200" dirty="0">
                <a:solidFill>
                  <a:schemeClr val="tx1"/>
                </a:solidFill>
              </a:rPr>
              <a:t>Colegios y tiendas naturistas</a:t>
            </a:r>
            <a:endParaRPr lang="en-US" sz="1200" dirty="0"/>
          </a:p>
        </p:txBody>
      </p:sp>
      <p:sp>
        <p:nvSpPr>
          <p:cNvPr id="32" name="Shape 23"/>
          <p:cNvSpPr/>
          <p:nvPr/>
        </p:nvSpPr>
        <p:spPr>
          <a:xfrm>
            <a:off x="548640" y="4773168"/>
            <a:ext cx="5545836"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4873752"/>
            <a:ext cx="237744" cy="237744"/>
          </a:xfrm>
          <a:prstGeom prst="rect">
            <a:avLst/>
          </a:prstGeom>
        </p:spPr>
      </p:pic>
      <p:sp>
        <p:nvSpPr>
          <p:cNvPr id="34" name="Text 24"/>
          <p:cNvSpPr txBox="1"/>
          <p:nvPr/>
        </p:nvSpPr>
        <p:spPr>
          <a:xfrm>
            <a:off x="969264" y="4846320"/>
            <a:ext cx="5070348"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40080" y="5175504"/>
            <a:ext cx="5381244"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Producir S/1.64 por brownie, sin comprar planta</a:t>
            </a:r>
            <a:endParaRPr lang="en-US" sz="1150" dirty="0"/>
          </a:p>
          <a:p>
            <a:pPr marL="114300" indent="-114300">
              <a:spcAft>
                <a:spcPts val="300"/>
              </a:spcAft>
              <a:buSzPct val="100000"/>
              <a:buChar char="•"/>
            </a:pPr>
            <a:r>
              <a:rPr lang="en-US" sz="1150" dirty="0">
                <a:solidFill>
                  <a:schemeClr val="tx1"/>
                </a:solidFill>
              </a:rPr>
              <a:t>Stands, ferias y vendedores S/51,010 al año · fijos S/2,738 al mes</a:t>
            </a:r>
            <a:endParaRPr lang="en-US" sz="1150" dirty="0"/>
          </a:p>
          <a:p>
            <a:pPr marL="114300" indent="-114300">
              <a:spcAft>
                <a:spcPts val="300"/>
              </a:spcAft>
              <a:buSzPct val="100000"/>
              <a:buChar char="•"/>
            </a:pPr>
            <a:r>
              <a:rPr lang="en-US" sz="1150" dirty="0">
                <a:solidFill>
                  <a:schemeClr val="tx1"/>
                </a:solidFill>
              </a:rPr>
              <a:t>Equilibrio: 2,100 a 4,400 brownies al mes, según los puntos abiertos</a:t>
            </a:r>
            <a:endParaRPr lang="en-US" sz="1150" dirty="0"/>
          </a:p>
        </p:txBody>
      </p:sp>
      <p:sp>
        <p:nvSpPr>
          <p:cNvPr id="36" name="Shape 26"/>
          <p:cNvSpPr/>
          <p:nvPr/>
        </p:nvSpPr>
        <p:spPr>
          <a:xfrm>
            <a:off x="6167628" y="4773168"/>
            <a:ext cx="5472684"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4873752"/>
            <a:ext cx="237744" cy="237744"/>
          </a:xfrm>
          <a:prstGeom prst="rect">
            <a:avLst/>
          </a:prstGeom>
        </p:spPr>
      </p:pic>
      <p:sp>
        <p:nvSpPr>
          <p:cNvPr id="38" name="Text 27"/>
          <p:cNvSpPr txBox="1"/>
          <p:nvPr/>
        </p:nvSpPr>
        <p:spPr>
          <a:xfrm>
            <a:off x="6588252" y="4846320"/>
            <a:ext cx="4997196"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59068" y="5175504"/>
            <a:ext cx="5308092"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Unidad S/6.00 · caja de 3 S/16.50 · pack de 6 S/27.90</a:t>
            </a:r>
            <a:endParaRPr lang="en-US" sz="1150" dirty="0"/>
          </a:p>
          <a:p>
            <a:pPr marL="114300" indent="-114300">
              <a:spcAft>
                <a:spcPts val="300"/>
              </a:spcAft>
              <a:buSzPct val="100000"/>
              <a:buChar char="•"/>
            </a:pPr>
            <a:r>
              <a:rPr lang="en-US" sz="1150" dirty="0">
                <a:solidFill>
                  <a:schemeClr val="tx1"/>
                </a:solidFill>
              </a:rPr>
              <a:t>Año 1: S/244,728 de ventas y S/10,379 de utilidad neta</a:t>
            </a:r>
            <a:endParaRPr lang="en-US" sz="1150" dirty="0"/>
          </a:p>
          <a:p>
            <a:pPr marL="114300" indent="-114300">
              <a:spcAft>
                <a:spcPts val="300"/>
              </a:spcAft>
              <a:buSzPct val="100000"/>
              <a:buChar char="•"/>
            </a:pPr>
            <a:r>
              <a:rPr lang="en-US" sz="1150" dirty="0">
                <a:solidFill>
                  <a:schemeClr val="tx1"/>
                </a:solidFill>
              </a:rPr>
              <a:t>Año 2: S/322,329 de ventas y S/28,447 de utilidad neta</a:t>
            </a:r>
            <a:endParaRPr lang="en-US" sz="1150" dirty="0"/>
          </a:p>
        </p:txBody>
      </p:sp>
      <p:sp>
        <p:nvSpPr>
          <p:cNvPr id="40" name="Text 29"/>
          <p:cNvSpPr txBox="1"/>
          <p:nvPr/>
        </p:nvSpPr>
        <p:spPr>
          <a:xfrm>
            <a:off x="5124298" y="4133088"/>
            <a:ext cx="1940357" cy="45720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41" name="Shape 30"/>
          <p:cNvSpPr/>
          <p:nvPr/>
        </p:nvSpPr>
        <p:spPr>
          <a:xfrm>
            <a:off x="548640" y="5925312"/>
            <a:ext cx="11091672" cy="420624"/>
          </a:xfrm>
          <a:prstGeom prst="roundRect">
            <a:avLst>
              <a:gd name="adj" fmla="val 50000"/>
            </a:avLst>
          </a:prstGeom>
          <a:solidFill>
            <a:schemeClr val="tx2"/>
          </a:solidFill>
          <a:ln w="12700">
            <a:solidFill>
              <a:schemeClr val="tx2"/>
            </a:solidFill>
            <a:prstDash val="solid"/>
          </a:ln>
        </p:spPr>
      </p:sp>
      <p:sp>
        <p:nvSpPr>
          <p:cNvPr id="42" name="Text 31"/>
          <p:cNvSpPr txBox="1"/>
          <p:nvPr/>
        </p:nvSpPr>
        <p:spPr>
          <a:xfrm>
            <a:off x="777240" y="5925312"/>
            <a:ext cx="10698480" cy="420624"/>
          </a:xfrm>
          <a:prstGeom prst="rect">
            <a:avLst/>
          </a:prstGeom>
          <a:noFill/>
          <a:ln/>
        </p:spPr>
        <p:txBody>
          <a:bodyPr wrap="square" lIns="0" tIns="0" rIns="0" bIns="0" rtlCol="0" anchor="ctr"/>
          <a:lstStyle/>
          <a:p>
            <a:pPr indent="0" marL="0">
              <a:buNone/>
            </a:pPr>
            <a:r>
              <a:rPr lang="en-US" sz="1300" b="1" dirty="0">
                <a:solidFill>
                  <a:schemeClr val="accent3"/>
                </a:solidFill>
              </a:rPr>
              <a:t>Para el inversionista:  </a:t>
            </a:r>
            <a:pPr indent="0" marL="0">
              <a:buNone/>
            </a:pPr>
            <a:r>
              <a:rPr lang="en-US" sz="1300" dirty="0">
                <a:solidFill>
                  <a:schemeClr val="bg1"/>
                </a:solidFill>
              </a:rPr>
              <a:t>margen bruto de 58 a 66 % · sin planta propia · ganancia desde marzo · inversión recuperada en 23 meses · utilidad ×2.7 en el año 2</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 · Plan de marketing</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 3 sabores (S/16.50)</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problema del padre tiene una respuesta de AndiBite</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PROBLEMA DEL PADRE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LO QUE HACE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pic>
        <p:nvPicPr>
          <p:cNvPr id="40" name="Image 10" descr="img/app-lote.png">    </p:cNvPr>
          <p:cNvPicPr>
            <a:picLocks noChangeAspect="1"/>
          </p:cNvPicPr>
          <p:nvPr/>
        </p:nvPicPr>
        <p:blipFill>
          <a:blip r:embed="rId11"/>
          <a:stretch>
            <a:fillRect/>
          </a:stretch>
        </p:blipFill>
        <p:spPr>
          <a:xfrm>
            <a:off x="9445752" y="1371600"/>
            <a:ext cx="2029968" cy="4096512"/>
          </a:xfrm>
          <a:prstGeom prst="rect">
            <a:avLst/>
          </a:prstGeom>
        </p:spPr>
      </p:pic>
      <p:sp>
        <p:nvSpPr>
          <p:cNvPr id="41" name="Shape 28"/>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2" name="Text 29"/>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S/2,000</a:t>
            </a:r>
            <a:endParaRPr lang="en-US" sz="1400" dirty="0"/>
          </a:p>
          <a:p>
            <a:pPr indent="0" marL="0">
              <a:buNone/>
            </a:pPr>
            <a:r>
              <a:rPr lang="en-US" sz="1300" dirty="0">
                <a:solidFill>
                  <a:schemeClr val="bg1"/>
                </a:solidFill>
              </a:rPr>
              <a:t>para terminar y publicar: el prototipo ya funciona</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por análisis de hierro (cada 2 meses desde julio)</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se abre con el QR, sin descargar nada · servidor en Google Cloud · plan de loncheras con IA de Gemini · funciona sin internet</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Cuesta un poco más que Fika, pero mide su hierro y trae app</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OCTUBRE DE 2026 A DICIEMBRE DE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 y cuánto invertimos</a:t>
            </a:r>
            <a:endParaRPr lang="en-US" sz="3400" dirty="0"/>
          </a:p>
        </p:txBody>
      </p:sp>
      <p:sp>
        <p:nvSpPr>
          <p:cNvPr id="4" name="Shape 2"/>
          <p:cNvSpPr/>
          <p:nvPr/>
        </p:nvSpPr>
        <p:spPr>
          <a:xfrm>
            <a:off x="3264408" y="1371600"/>
            <a:ext cx="1642262" cy="274320"/>
          </a:xfrm>
          <a:prstGeom prst="rect">
            <a:avLst/>
          </a:prstGeom>
          <a:solidFill>
            <a:schemeClr val="accent2"/>
          </a:solidFill>
          <a:ln w="12700">
            <a:solidFill>
              <a:schemeClr val="accent2"/>
            </a:solidFill>
            <a:prstDash val="solid"/>
          </a:ln>
        </p:spPr>
      </p:sp>
      <p:sp>
        <p:nvSpPr>
          <p:cNvPr id="5" name="Text 3"/>
          <p:cNvSpPr txBox="1"/>
          <p:nvPr/>
        </p:nvSpPr>
        <p:spPr>
          <a:xfrm>
            <a:off x="3246120" y="1371600"/>
            <a:ext cx="1678838"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 2026</a:t>
            </a:r>
            <a:endParaRPr lang="en-US" sz="900" dirty="0"/>
          </a:p>
        </p:txBody>
      </p:sp>
      <p:sp>
        <p:nvSpPr>
          <p:cNvPr id="6" name="Shape 4"/>
          <p:cNvSpPr/>
          <p:nvPr/>
        </p:nvSpPr>
        <p:spPr>
          <a:xfrm>
            <a:off x="4943246" y="1371600"/>
            <a:ext cx="1082650" cy="274320"/>
          </a:xfrm>
          <a:prstGeom prst="rect">
            <a:avLst/>
          </a:prstGeom>
          <a:solidFill>
            <a:schemeClr val="accent1"/>
          </a:solidFill>
          <a:ln w="12700">
            <a:solidFill>
              <a:schemeClr val="accent1"/>
            </a:solidFill>
            <a:prstDash val="solid"/>
          </a:ln>
        </p:spPr>
      </p:sp>
      <p:sp>
        <p:nvSpPr>
          <p:cNvPr id="7" name="Text 5"/>
          <p:cNvSpPr txBox="1"/>
          <p:nvPr/>
        </p:nvSpPr>
        <p:spPr>
          <a:xfrm>
            <a:off x="4924958" y="1371600"/>
            <a:ext cx="1119226"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 2027</a:t>
            </a:r>
            <a:endParaRPr lang="en-US" sz="900" dirty="0"/>
          </a:p>
        </p:txBody>
      </p:sp>
      <p:sp>
        <p:nvSpPr>
          <p:cNvPr id="8" name="Shape 6"/>
          <p:cNvSpPr/>
          <p:nvPr/>
        </p:nvSpPr>
        <p:spPr>
          <a:xfrm>
            <a:off x="6062472" y="1371600"/>
            <a:ext cx="2761488" cy="274320"/>
          </a:xfrm>
          <a:prstGeom prst="rect">
            <a:avLst/>
          </a:prstGeom>
          <a:solidFill>
            <a:schemeClr val="accent4"/>
          </a:solidFill>
          <a:ln w="12700">
            <a:solidFill>
              <a:schemeClr val="accent4"/>
            </a:solidFill>
            <a:prstDash val="solid"/>
          </a:ln>
        </p:spPr>
      </p:sp>
      <p:sp>
        <p:nvSpPr>
          <p:cNvPr id="9" name="Text 7"/>
          <p:cNvSpPr txBox="1"/>
          <p:nvPr/>
        </p:nvSpPr>
        <p:spPr>
          <a:xfrm>
            <a:off x="6044184" y="1371600"/>
            <a:ext cx="2798064"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 COLEGIOS Y EMBAJADORAS</a:t>
            </a:r>
            <a:endParaRPr lang="en-US" sz="900" dirty="0"/>
          </a:p>
        </p:txBody>
      </p:sp>
      <p:sp>
        <p:nvSpPr>
          <p:cNvPr id="10" name="Shape 8"/>
          <p:cNvSpPr/>
          <p:nvPr/>
        </p:nvSpPr>
        <p:spPr>
          <a:xfrm>
            <a:off x="8860536" y="1371600"/>
            <a:ext cx="2761488" cy="274320"/>
          </a:xfrm>
          <a:prstGeom prst="rect">
            <a:avLst/>
          </a:prstGeom>
          <a:solidFill>
            <a:schemeClr val="tx2"/>
          </a:solidFill>
          <a:ln w="12700">
            <a:solidFill>
              <a:schemeClr val="tx2"/>
            </a:solidFill>
            <a:prstDash val="solid"/>
          </a:ln>
        </p:spPr>
      </p:sp>
      <p:sp>
        <p:nvSpPr>
          <p:cNvPr id="11" name="Text 9"/>
          <p:cNvSpPr txBox="1"/>
          <p:nvPr/>
        </p:nvSpPr>
        <p:spPr>
          <a:xfrm>
            <a:off x="8842248" y="1371600"/>
            <a:ext cx="2798064"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 3 PUNTOS</a:t>
            </a:r>
            <a:endParaRPr lang="en-US" sz="900" dirty="0"/>
          </a:p>
        </p:txBody>
      </p:sp>
      <p:sp>
        <p:nvSpPr>
          <p:cNvPr id="12" name="Text 10"/>
          <p:cNvSpPr txBox="1"/>
          <p:nvPr/>
        </p:nvSpPr>
        <p:spPr>
          <a:xfrm>
            <a:off x="3246120"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Oct</a:t>
            </a:r>
            <a:endParaRPr lang="en-US" sz="1000" dirty="0"/>
          </a:p>
        </p:txBody>
      </p:sp>
      <p:sp>
        <p:nvSpPr>
          <p:cNvPr id="13" name="Text 11"/>
          <p:cNvSpPr txBox="1"/>
          <p:nvPr/>
        </p:nvSpPr>
        <p:spPr>
          <a:xfrm>
            <a:off x="3805733"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Nov</a:t>
            </a:r>
            <a:endParaRPr lang="en-US" sz="1000" dirty="0"/>
          </a:p>
        </p:txBody>
      </p:sp>
      <p:sp>
        <p:nvSpPr>
          <p:cNvPr id="14" name="Text 12"/>
          <p:cNvSpPr txBox="1"/>
          <p:nvPr/>
        </p:nvSpPr>
        <p:spPr>
          <a:xfrm>
            <a:off x="4365346"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Dic</a:t>
            </a:r>
            <a:endParaRPr lang="en-US" sz="1000" dirty="0"/>
          </a:p>
        </p:txBody>
      </p:sp>
      <p:sp>
        <p:nvSpPr>
          <p:cNvPr id="15" name="Text 13"/>
          <p:cNvSpPr txBox="1"/>
          <p:nvPr/>
        </p:nvSpPr>
        <p:spPr>
          <a:xfrm>
            <a:off x="4924958"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Ene</a:t>
            </a:r>
            <a:endParaRPr lang="en-US" sz="1000" dirty="0"/>
          </a:p>
        </p:txBody>
      </p:sp>
      <p:sp>
        <p:nvSpPr>
          <p:cNvPr id="16" name="Text 14"/>
          <p:cNvSpPr txBox="1"/>
          <p:nvPr/>
        </p:nvSpPr>
        <p:spPr>
          <a:xfrm>
            <a:off x="5484571"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Feb</a:t>
            </a:r>
            <a:endParaRPr lang="en-US" sz="1000" dirty="0"/>
          </a:p>
        </p:txBody>
      </p:sp>
      <p:sp>
        <p:nvSpPr>
          <p:cNvPr id="17" name="Text 15"/>
          <p:cNvSpPr txBox="1"/>
          <p:nvPr/>
        </p:nvSpPr>
        <p:spPr>
          <a:xfrm>
            <a:off x="6044184"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Mar</a:t>
            </a:r>
            <a:endParaRPr lang="en-US" sz="1000" dirty="0"/>
          </a:p>
        </p:txBody>
      </p:sp>
      <p:sp>
        <p:nvSpPr>
          <p:cNvPr id="18" name="Text 16"/>
          <p:cNvSpPr txBox="1"/>
          <p:nvPr/>
        </p:nvSpPr>
        <p:spPr>
          <a:xfrm>
            <a:off x="6603797"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Abr</a:t>
            </a:r>
            <a:endParaRPr lang="en-US" sz="1000" dirty="0"/>
          </a:p>
        </p:txBody>
      </p:sp>
      <p:sp>
        <p:nvSpPr>
          <p:cNvPr id="19" name="Text 17"/>
          <p:cNvSpPr txBox="1"/>
          <p:nvPr/>
        </p:nvSpPr>
        <p:spPr>
          <a:xfrm>
            <a:off x="7163410"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May</a:t>
            </a:r>
            <a:endParaRPr lang="en-US" sz="1000" dirty="0"/>
          </a:p>
        </p:txBody>
      </p:sp>
      <p:sp>
        <p:nvSpPr>
          <p:cNvPr id="20" name="Text 18"/>
          <p:cNvSpPr txBox="1"/>
          <p:nvPr/>
        </p:nvSpPr>
        <p:spPr>
          <a:xfrm>
            <a:off x="7723022"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Jun</a:t>
            </a:r>
            <a:endParaRPr lang="en-US" sz="1000" dirty="0"/>
          </a:p>
        </p:txBody>
      </p:sp>
      <p:sp>
        <p:nvSpPr>
          <p:cNvPr id="21" name="Text 19"/>
          <p:cNvSpPr txBox="1"/>
          <p:nvPr/>
        </p:nvSpPr>
        <p:spPr>
          <a:xfrm>
            <a:off x="8282635"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Jul</a:t>
            </a:r>
            <a:endParaRPr lang="en-US" sz="1000" dirty="0"/>
          </a:p>
        </p:txBody>
      </p:sp>
      <p:sp>
        <p:nvSpPr>
          <p:cNvPr id="22" name="Text 20"/>
          <p:cNvSpPr txBox="1"/>
          <p:nvPr/>
        </p:nvSpPr>
        <p:spPr>
          <a:xfrm>
            <a:off x="8842248"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Ago</a:t>
            </a:r>
            <a:endParaRPr lang="en-US" sz="1000" dirty="0"/>
          </a:p>
        </p:txBody>
      </p:sp>
      <p:sp>
        <p:nvSpPr>
          <p:cNvPr id="23" name="Text 21"/>
          <p:cNvSpPr txBox="1"/>
          <p:nvPr/>
        </p:nvSpPr>
        <p:spPr>
          <a:xfrm>
            <a:off x="9401861"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Set</a:t>
            </a:r>
            <a:endParaRPr lang="en-US" sz="1000" dirty="0"/>
          </a:p>
        </p:txBody>
      </p:sp>
      <p:sp>
        <p:nvSpPr>
          <p:cNvPr id="24" name="Text 22"/>
          <p:cNvSpPr txBox="1"/>
          <p:nvPr/>
        </p:nvSpPr>
        <p:spPr>
          <a:xfrm>
            <a:off x="9961474"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Oct</a:t>
            </a:r>
            <a:endParaRPr lang="en-US" sz="1000" dirty="0"/>
          </a:p>
        </p:txBody>
      </p:sp>
      <p:sp>
        <p:nvSpPr>
          <p:cNvPr id="25" name="Text 23"/>
          <p:cNvSpPr txBox="1"/>
          <p:nvPr/>
        </p:nvSpPr>
        <p:spPr>
          <a:xfrm>
            <a:off x="10521086"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Nov</a:t>
            </a:r>
            <a:endParaRPr lang="en-US" sz="1000" dirty="0"/>
          </a:p>
        </p:txBody>
      </p:sp>
      <p:sp>
        <p:nvSpPr>
          <p:cNvPr id="26" name="Text 24"/>
          <p:cNvSpPr txBox="1"/>
          <p:nvPr/>
        </p:nvSpPr>
        <p:spPr>
          <a:xfrm>
            <a:off x="11080699"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Dic</a:t>
            </a:r>
            <a:endParaRPr lang="en-US" sz="1000" dirty="0"/>
          </a:p>
        </p:txBody>
      </p:sp>
      <p:sp>
        <p:nvSpPr>
          <p:cNvPr id="27" name="Shape 25"/>
          <p:cNvSpPr/>
          <p:nvPr/>
        </p:nvSpPr>
        <p:spPr>
          <a:xfrm>
            <a:off x="3805733" y="1938528"/>
            <a:ext cx="559613" cy="3570732"/>
          </a:xfrm>
          <a:prstGeom prst="rect">
            <a:avLst/>
          </a:prstGeom>
          <a:solidFill>
            <a:srgbClr val="F4E6D3"/>
          </a:solidFill>
          <a:ln w="12700">
            <a:solidFill>
              <a:srgbClr val="F4E6D3"/>
            </a:solidFill>
            <a:prstDash val="solid"/>
          </a:ln>
        </p:spPr>
      </p:sp>
      <p:sp>
        <p:nvSpPr>
          <p:cNvPr id="28" name="Shape 26"/>
          <p:cNvSpPr/>
          <p:nvPr/>
        </p:nvSpPr>
        <p:spPr>
          <a:xfrm>
            <a:off x="4924958" y="1938528"/>
            <a:ext cx="559613" cy="3570732"/>
          </a:xfrm>
          <a:prstGeom prst="rect">
            <a:avLst/>
          </a:prstGeom>
          <a:solidFill>
            <a:srgbClr val="F4E6D3"/>
          </a:solidFill>
          <a:ln w="12700">
            <a:solidFill>
              <a:srgbClr val="F4E6D3"/>
            </a:solidFill>
            <a:prstDash val="solid"/>
          </a:ln>
        </p:spPr>
      </p:sp>
      <p:sp>
        <p:nvSpPr>
          <p:cNvPr id="29" name="Shape 27"/>
          <p:cNvSpPr/>
          <p:nvPr/>
        </p:nvSpPr>
        <p:spPr>
          <a:xfrm>
            <a:off x="6044184" y="1938528"/>
            <a:ext cx="559613" cy="3570732"/>
          </a:xfrm>
          <a:prstGeom prst="rect">
            <a:avLst/>
          </a:prstGeom>
          <a:solidFill>
            <a:srgbClr val="F4E6D3"/>
          </a:solidFill>
          <a:ln w="12700">
            <a:solidFill>
              <a:srgbClr val="F4E6D3"/>
            </a:solidFill>
            <a:prstDash val="solid"/>
          </a:ln>
        </p:spPr>
      </p:sp>
      <p:sp>
        <p:nvSpPr>
          <p:cNvPr id="30" name="Shape 28"/>
          <p:cNvSpPr/>
          <p:nvPr/>
        </p:nvSpPr>
        <p:spPr>
          <a:xfrm>
            <a:off x="7163410" y="1938528"/>
            <a:ext cx="559613" cy="3570732"/>
          </a:xfrm>
          <a:prstGeom prst="rect">
            <a:avLst/>
          </a:prstGeom>
          <a:solidFill>
            <a:srgbClr val="F4E6D3"/>
          </a:solidFill>
          <a:ln w="12700">
            <a:solidFill>
              <a:srgbClr val="F4E6D3"/>
            </a:solidFill>
            <a:prstDash val="solid"/>
          </a:ln>
        </p:spPr>
      </p:sp>
      <p:sp>
        <p:nvSpPr>
          <p:cNvPr id="31" name="Shape 29"/>
          <p:cNvSpPr/>
          <p:nvPr/>
        </p:nvSpPr>
        <p:spPr>
          <a:xfrm>
            <a:off x="8282635" y="1938528"/>
            <a:ext cx="559613" cy="3570732"/>
          </a:xfrm>
          <a:prstGeom prst="rect">
            <a:avLst/>
          </a:prstGeom>
          <a:solidFill>
            <a:srgbClr val="F4E6D3"/>
          </a:solidFill>
          <a:ln w="12700">
            <a:solidFill>
              <a:srgbClr val="F4E6D3"/>
            </a:solidFill>
            <a:prstDash val="solid"/>
          </a:ln>
        </p:spPr>
      </p:sp>
      <p:sp>
        <p:nvSpPr>
          <p:cNvPr id="32" name="Shape 30"/>
          <p:cNvSpPr/>
          <p:nvPr/>
        </p:nvSpPr>
        <p:spPr>
          <a:xfrm>
            <a:off x="9401861" y="1938528"/>
            <a:ext cx="559613" cy="3570732"/>
          </a:xfrm>
          <a:prstGeom prst="rect">
            <a:avLst/>
          </a:prstGeom>
          <a:solidFill>
            <a:srgbClr val="F4E6D3"/>
          </a:solidFill>
          <a:ln w="12700">
            <a:solidFill>
              <a:srgbClr val="F4E6D3"/>
            </a:solidFill>
            <a:prstDash val="solid"/>
          </a:ln>
        </p:spPr>
      </p:sp>
      <p:sp>
        <p:nvSpPr>
          <p:cNvPr id="33" name="Shape 31"/>
          <p:cNvSpPr/>
          <p:nvPr/>
        </p:nvSpPr>
        <p:spPr>
          <a:xfrm>
            <a:off x="10521086" y="1938528"/>
            <a:ext cx="559613" cy="3570732"/>
          </a:xfrm>
          <a:prstGeom prst="rect">
            <a:avLst/>
          </a:prstGeom>
          <a:solidFill>
            <a:srgbClr val="F4E6D3"/>
          </a:solidFill>
          <a:ln w="12700">
            <a:solidFill>
              <a:srgbClr val="F4E6D3"/>
            </a:solidFill>
            <a:prstDash val="solid"/>
          </a:ln>
        </p:spPr>
      </p:sp>
      <p:sp>
        <p:nvSpPr>
          <p:cNvPr id="34" name="Shape 32"/>
          <p:cNvSpPr/>
          <p:nvPr/>
        </p:nvSpPr>
        <p:spPr>
          <a:xfrm>
            <a:off x="4924958" y="1645920"/>
            <a:ext cx="0" cy="3863340"/>
          </a:xfrm>
          <a:prstGeom prst="line">
            <a:avLst/>
          </a:prstGeom>
          <a:noFill/>
          <a:ln w="15875">
            <a:solidFill>
              <a:schemeClr val="accent1"/>
            </a:solidFill>
            <a:prstDash val="dash"/>
          </a:ln>
        </p:spPr>
      </p:sp>
      <p:sp>
        <p:nvSpPr>
          <p:cNvPr id="35" name="Shape 33"/>
          <p:cNvSpPr/>
          <p:nvPr/>
        </p:nvSpPr>
        <p:spPr>
          <a:xfrm>
            <a:off x="548640" y="2029968"/>
            <a:ext cx="109728" cy="141732"/>
          </a:xfrm>
          <a:prstGeom prst="rect">
            <a:avLst/>
          </a:prstGeom>
          <a:solidFill>
            <a:schemeClr val="accent2"/>
          </a:solidFill>
          <a:ln w="12700">
            <a:solidFill>
              <a:schemeClr val="accent2"/>
            </a:solidFill>
            <a:prstDash val="solid"/>
          </a:ln>
        </p:spPr>
      </p:sp>
      <p:sp>
        <p:nvSpPr>
          <p:cNvPr id="36" name="Text 34"/>
          <p:cNvSpPr txBox="1"/>
          <p:nvPr/>
        </p:nvSpPr>
        <p:spPr>
          <a:xfrm>
            <a:off x="731520" y="1938528"/>
            <a:ext cx="2468880" cy="324612"/>
          </a:xfrm>
          <a:prstGeom prst="rect">
            <a:avLst/>
          </a:prstGeom>
          <a:noFill/>
          <a:ln/>
        </p:spPr>
        <p:txBody>
          <a:bodyPr wrap="square" lIns="0" tIns="0" rIns="0" bIns="0" rtlCol="0" anchor="ctr"/>
          <a:lstStyle/>
          <a:p>
            <a:pPr indent="0" marL="0">
              <a:buNone/>
            </a:pPr>
            <a:r>
              <a:rPr lang="en-US" sz="1050" dirty="0">
                <a:solidFill>
                  <a:schemeClr val="tx1"/>
                </a:solidFill>
              </a:rPr>
              <a:t>Permisos, registro sanitario y etiqueta</a:t>
            </a:r>
            <a:endParaRPr lang="en-US" sz="1050" dirty="0"/>
          </a:p>
        </p:txBody>
      </p:sp>
      <p:sp>
        <p:nvSpPr>
          <p:cNvPr id="37" name="Shape 35"/>
          <p:cNvSpPr/>
          <p:nvPr/>
        </p:nvSpPr>
        <p:spPr>
          <a:xfrm>
            <a:off x="3282696" y="2002536"/>
            <a:ext cx="1605686" cy="196596"/>
          </a:xfrm>
          <a:prstGeom prst="roundRect">
            <a:avLst>
              <a:gd name="adj" fmla="val 46512"/>
            </a:avLst>
          </a:prstGeom>
          <a:solidFill>
            <a:schemeClr val="accent2"/>
          </a:solidFill>
          <a:ln w="12700">
            <a:solidFill>
              <a:schemeClr val="accent2"/>
            </a:solidFill>
            <a:prstDash val="solid"/>
          </a:ln>
        </p:spPr>
      </p:sp>
      <p:sp>
        <p:nvSpPr>
          <p:cNvPr id="38" name="Shape 36"/>
          <p:cNvSpPr/>
          <p:nvPr/>
        </p:nvSpPr>
        <p:spPr>
          <a:xfrm>
            <a:off x="548640" y="2354580"/>
            <a:ext cx="109728" cy="141732"/>
          </a:xfrm>
          <a:prstGeom prst="rect">
            <a:avLst/>
          </a:prstGeom>
          <a:solidFill>
            <a:schemeClr val="accent2"/>
          </a:solidFill>
          <a:ln w="12700">
            <a:solidFill>
              <a:schemeClr val="accent2"/>
            </a:solidFill>
            <a:prstDash val="solid"/>
          </a:ln>
        </p:spPr>
      </p:sp>
      <p:sp>
        <p:nvSpPr>
          <p:cNvPr id="39" name="Text 37"/>
          <p:cNvSpPr txBox="1"/>
          <p:nvPr/>
        </p:nvSpPr>
        <p:spPr>
          <a:xfrm>
            <a:off x="731520" y="2263140"/>
            <a:ext cx="2468880" cy="324612"/>
          </a:xfrm>
          <a:prstGeom prst="rect">
            <a:avLst/>
          </a:prstGeom>
          <a:noFill/>
          <a:ln/>
        </p:spPr>
        <p:txBody>
          <a:bodyPr wrap="square" lIns="0" tIns="0" rIns="0" bIns="0" rtlCol="0" anchor="ctr"/>
          <a:lstStyle/>
          <a:p>
            <a:pPr indent="0" marL="0">
              <a:buNone/>
            </a:pPr>
            <a:r>
              <a:rPr lang="en-US" sz="1050" dirty="0">
                <a:solidFill>
                  <a:schemeClr val="tx1"/>
                </a:solidFill>
              </a:rPr>
              <a:t>Probar la app y la receta con 10 familias</a:t>
            </a:r>
            <a:endParaRPr lang="en-US" sz="1050" dirty="0"/>
          </a:p>
        </p:txBody>
      </p:sp>
      <p:sp>
        <p:nvSpPr>
          <p:cNvPr id="40" name="Shape 38"/>
          <p:cNvSpPr/>
          <p:nvPr/>
        </p:nvSpPr>
        <p:spPr>
          <a:xfrm>
            <a:off x="3842309" y="2327148"/>
            <a:ext cx="486461" cy="196596"/>
          </a:xfrm>
          <a:prstGeom prst="roundRect">
            <a:avLst>
              <a:gd name="adj" fmla="val 46512"/>
            </a:avLst>
          </a:prstGeom>
          <a:solidFill>
            <a:schemeClr val="accent2"/>
          </a:solidFill>
          <a:ln w="12700">
            <a:solidFill>
              <a:schemeClr val="accent2"/>
            </a:solidFill>
            <a:prstDash val="solid"/>
          </a:ln>
        </p:spPr>
      </p:sp>
      <p:sp>
        <p:nvSpPr>
          <p:cNvPr id="41" name="Shape 39"/>
          <p:cNvSpPr/>
          <p:nvPr/>
        </p:nvSpPr>
        <p:spPr>
          <a:xfrm>
            <a:off x="548640" y="2679192"/>
            <a:ext cx="109728" cy="141732"/>
          </a:xfrm>
          <a:prstGeom prst="rect">
            <a:avLst/>
          </a:prstGeom>
          <a:solidFill>
            <a:schemeClr val="accent2"/>
          </a:solidFill>
          <a:ln w="12700">
            <a:solidFill>
              <a:schemeClr val="accent2"/>
            </a:solidFill>
            <a:prstDash val="solid"/>
          </a:ln>
        </p:spPr>
      </p:sp>
      <p:sp>
        <p:nvSpPr>
          <p:cNvPr id="42" name="Text 40"/>
          <p:cNvSpPr txBox="1"/>
          <p:nvPr/>
        </p:nvSpPr>
        <p:spPr>
          <a:xfrm>
            <a:off x="731520" y="2587752"/>
            <a:ext cx="2468880" cy="324612"/>
          </a:xfrm>
          <a:prstGeom prst="rect">
            <a:avLst/>
          </a:prstGeom>
          <a:noFill/>
          <a:ln/>
        </p:spPr>
        <p:txBody>
          <a:bodyPr wrap="square" lIns="0" tIns="0" rIns="0" bIns="0" rtlCol="0" anchor="ctr"/>
          <a:lstStyle/>
          <a:p>
            <a:pPr indent="0" marL="0">
              <a:buNone/>
            </a:pPr>
            <a:r>
              <a:rPr lang="en-US" sz="1050" dirty="0">
                <a:solidFill>
                  <a:schemeClr val="tx1"/>
                </a:solidFill>
              </a:rPr>
              <a:t>Fotos, video y lista de espera en WhatsApp</a:t>
            </a:r>
            <a:endParaRPr lang="en-US" sz="1050" dirty="0"/>
          </a:p>
        </p:txBody>
      </p:sp>
      <p:sp>
        <p:nvSpPr>
          <p:cNvPr id="43" name="Shape 41"/>
          <p:cNvSpPr/>
          <p:nvPr/>
        </p:nvSpPr>
        <p:spPr>
          <a:xfrm>
            <a:off x="3842309" y="2651760"/>
            <a:ext cx="1046074" cy="196596"/>
          </a:xfrm>
          <a:prstGeom prst="roundRect">
            <a:avLst>
              <a:gd name="adj" fmla="val 46512"/>
            </a:avLst>
          </a:prstGeom>
          <a:solidFill>
            <a:schemeClr val="accent2"/>
          </a:solidFill>
          <a:ln w="12700">
            <a:solidFill>
              <a:schemeClr val="accent2"/>
            </a:solidFill>
            <a:prstDash val="solid"/>
          </a:ln>
        </p:spPr>
      </p:sp>
      <p:sp>
        <p:nvSpPr>
          <p:cNvPr id="44" name="Shape 42"/>
          <p:cNvSpPr/>
          <p:nvPr/>
        </p:nvSpPr>
        <p:spPr>
          <a:xfrm>
            <a:off x="548640" y="3003804"/>
            <a:ext cx="109728" cy="141732"/>
          </a:xfrm>
          <a:prstGeom prst="rect">
            <a:avLst/>
          </a:prstGeom>
          <a:solidFill>
            <a:schemeClr val="accent1"/>
          </a:solidFill>
          <a:ln w="12700">
            <a:solidFill>
              <a:schemeClr val="accent1"/>
            </a:solidFill>
            <a:prstDash val="solid"/>
          </a:ln>
        </p:spPr>
      </p:sp>
      <p:sp>
        <p:nvSpPr>
          <p:cNvPr id="45" name="Text 43"/>
          <p:cNvSpPr txBox="1"/>
          <p:nvPr/>
        </p:nvSpPr>
        <p:spPr>
          <a:xfrm>
            <a:off x="731520" y="2912364"/>
            <a:ext cx="2468880" cy="324612"/>
          </a:xfrm>
          <a:prstGeom prst="rect">
            <a:avLst/>
          </a:prstGeom>
          <a:noFill/>
          <a:ln/>
        </p:spPr>
        <p:txBody>
          <a:bodyPr wrap="square" lIns="0" tIns="0" rIns="0" bIns="0" rtlCol="0" anchor="ctr"/>
          <a:lstStyle/>
          <a:p>
            <a:pPr indent="0" marL="0">
              <a:buNone/>
            </a:pPr>
            <a:r>
              <a:rPr lang="en-US" sz="1050" dirty="0">
                <a:solidFill>
                  <a:schemeClr val="tx1"/>
                </a:solidFill>
              </a:rPr>
              <a:t>Influencers y pauta de expectativa</a:t>
            </a:r>
            <a:endParaRPr lang="en-US" sz="1050" dirty="0"/>
          </a:p>
        </p:txBody>
      </p:sp>
      <p:sp>
        <p:nvSpPr>
          <p:cNvPr id="46" name="Shape 44"/>
          <p:cNvSpPr/>
          <p:nvPr/>
        </p:nvSpPr>
        <p:spPr>
          <a:xfrm>
            <a:off x="4401922" y="2976372"/>
            <a:ext cx="1046074" cy="196596"/>
          </a:xfrm>
          <a:prstGeom prst="roundRect">
            <a:avLst>
              <a:gd name="adj" fmla="val 46512"/>
            </a:avLst>
          </a:prstGeom>
          <a:solidFill>
            <a:schemeClr val="accent1"/>
          </a:solidFill>
          <a:ln w="12700">
            <a:solidFill>
              <a:schemeClr val="accent1"/>
            </a:solidFill>
            <a:prstDash val="solid"/>
          </a:ln>
        </p:spPr>
      </p:sp>
      <p:sp>
        <p:nvSpPr>
          <p:cNvPr id="47" name="Shape 45"/>
          <p:cNvSpPr/>
          <p:nvPr/>
        </p:nvSpPr>
        <p:spPr>
          <a:xfrm>
            <a:off x="548640" y="3328416"/>
            <a:ext cx="109728" cy="141732"/>
          </a:xfrm>
          <a:prstGeom prst="rect">
            <a:avLst/>
          </a:prstGeom>
          <a:solidFill>
            <a:schemeClr val="accent1"/>
          </a:solidFill>
          <a:ln w="12700">
            <a:solidFill>
              <a:schemeClr val="accent1"/>
            </a:solidFill>
            <a:prstDash val="solid"/>
          </a:ln>
        </p:spPr>
      </p:sp>
      <p:sp>
        <p:nvSpPr>
          <p:cNvPr id="48" name="Text 46"/>
          <p:cNvSpPr txBox="1"/>
          <p:nvPr/>
        </p:nvSpPr>
        <p:spPr>
          <a:xfrm>
            <a:off x="731520" y="3236976"/>
            <a:ext cx="2468880" cy="324612"/>
          </a:xfrm>
          <a:prstGeom prst="rect">
            <a:avLst/>
          </a:prstGeom>
          <a:noFill/>
          <a:ln/>
        </p:spPr>
        <p:txBody>
          <a:bodyPr wrap="square" lIns="0" tIns="0" rIns="0" bIns="0" rtlCol="0" anchor="ctr"/>
          <a:lstStyle/>
          <a:p>
            <a:pPr indent="0" marL="0">
              <a:buNone/>
            </a:pPr>
            <a:r>
              <a:rPr lang="en-US" sz="1050" dirty="0">
                <a:solidFill>
                  <a:schemeClr val="tx1"/>
                </a:solidFill>
              </a:rPr>
              <a:t>Degustación en stands: 1, 2 y 3 puntos</a:t>
            </a:r>
            <a:endParaRPr lang="en-US" sz="1050" dirty="0"/>
          </a:p>
        </p:txBody>
      </p:sp>
      <p:sp>
        <p:nvSpPr>
          <p:cNvPr id="49" name="Shape 47"/>
          <p:cNvSpPr/>
          <p:nvPr/>
        </p:nvSpPr>
        <p:spPr>
          <a:xfrm>
            <a:off x="4961534" y="3300984"/>
            <a:ext cx="486461" cy="196596"/>
          </a:xfrm>
          <a:prstGeom prst="roundRect">
            <a:avLst>
              <a:gd name="adj" fmla="val 46512"/>
            </a:avLst>
          </a:prstGeom>
          <a:solidFill>
            <a:schemeClr val="accent1"/>
          </a:solidFill>
          <a:ln w="12700">
            <a:solidFill>
              <a:schemeClr val="accent1"/>
            </a:solidFill>
            <a:prstDash val="solid"/>
          </a:ln>
        </p:spPr>
      </p:sp>
      <p:sp>
        <p:nvSpPr>
          <p:cNvPr id="50" name="Text 48"/>
          <p:cNvSpPr txBox="1"/>
          <p:nvPr/>
        </p:nvSpPr>
        <p:spPr>
          <a:xfrm>
            <a:off x="4924958" y="3300984"/>
            <a:ext cx="559613" cy="196596"/>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1" name="Shape 49"/>
          <p:cNvSpPr/>
          <p:nvPr/>
        </p:nvSpPr>
        <p:spPr>
          <a:xfrm>
            <a:off x="5521147" y="3300984"/>
            <a:ext cx="3284525" cy="196596"/>
          </a:xfrm>
          <a:prstGeom prst="roundRect">
            <a:avLst>
              <a:gd name="adj" fmla="val 46512"/>
            </a:avLst>
          </a:prstGeom>
          <a:solidFill>
            <a:schemeClr val="accent1"/>
          </a:solidFill>
          <a:ln w="12700">
            <a:solidFill>
              <a:schemeClr val="accent1"/>
            </a:solidFill>
            <a:prstDash val="solid"/>
          </a:ln>
        </p:spPr>
      </p:sp>
      <p:sp>
        <p:nvSpPr>
          <p:cNvPr id="52" name="Text 50"/>
          <p:cNvSpPr txBox="1"/>
          <p:nvPr/>
        </p:nvSpPr>
        <p:spPr>
          <a:xfrm>
            <a:off x="5484571" y="3300984"/>
            <a:ext cx="3357677" cy="196596"/>
          </a:xfrm>
          <a:prstGeom prst="rect">
            <a:avLst/>
          </a:prstGeom>
          <a:noFill/>
          <a:ln/>
        </p:spPr>
        <p:txBody>
          <a:bodyPr wrap="square" lIns="0" tIns="0" rIns="0" bIns="0" rtlCol="0" anchor="ctr"/>
          <a:lstStyle/>
          <a:p>
            <a:pPr algn="ctr" indent="0" marL="0">
              <a:buNone/>
            </a:pPr>
            <a:r>
              <a:rPr lang="en-US" sz="900" b="1" dirty="0">
                <a:solidFill>
                  <a:schemeClr val="bg1"/>
                </a:solidFill>
              </a:rPr>
              <a:t>2 puntos</a:t>
            </a:r>
            <a:endParaRPr lang="en-US" sz="900" dirty="0"/>
          </a:p>
        </p:txBody>
      </p:sp>
      <p:sp>
        <p:nvSpPr>
          <p:cNvPr id="53" name="Shape 51"/>
          <p:cNvSpPr/>
          <p:nvPr/>
        </p:nvSpPr>
        <p:spPr>
          <a:xfrm>
            <a:off x="8878824" y="3300984"/>
            <a:ext cx="2724912" cy="196596"/>
          </a:xfrm>
          <a:prstGeom prst="roundRect">
            <a:avLst>
              <a:gd name="adj" fmla="val 46512"/>
            </a:avLst>
          </a:prstGeom>
          <a:solidFill>
            <a:schemeClr val="accent1"/>
          </a:solidFill>
          <a:ln w="12700">
            <a:solidFill>
              <a:schemeClr val="accent1"/>
            </a:solidFill>
            <a:prstDash val="solid"/>
          </a:ln>
        </p:spPr>
      </p:sp>
      <p:sp>
        <p:nvSpPr>
          <p:cNvPr id="54" name="Text 52"/>
          <p:cNvSpPr txBox="1"/>
          <p:nvPr/>
        </p:nvSpPr>
        <p:spPr>
          <a:xfrm>
            <a:off x="8842248" y="3300984"/>
            <a:ext cx="2798064" cy="196596"/>
          </a:xfrm>
          <a:prstGeom prst="rect">
            <a:avLst/>
          </a:prstGeom>
          <a:noFill/>
          <a:ln/>
        </p:spPr>
        <p:txBody>
          <a:bodyPr wrap="square" lIns="0" tIns="0" rIns="0" bIns="0" rtlCol="0" anchor="ctr"/>
          <a:lstStyle/>
          <a:p>
            <a:pPr algn="ctr" indent="0" marL="0">
              <a:buNone/>
            </a:pPr>
            <a:r>
              <a:rPr lang="en-US" sz="900" b="1" dirty="0">
                <a:solidFill>
                  <a:schemeClr val="bg1"/>
                </a:solidFill>
              </a:rPr>
              <a:t>3 puntos</a:t>
            </a:r>
            <a:endParaRPr lang="en-US" sz="900" dirty="0"/>
          </a:p>
        </p:txBody>
      </p:sp>
      <p:sp>
        <p:nvSpPr>
          <p:cNvPr id="55" name="Shape 53"/>
          <p:cNvSpPr/>
          <p:nvPr/>
        </p:nvSpPr>
        <p:spPr>
          <a:xfrm>
            <a:off x="548640" y="3653028"/>
            <a:ext cx="109728" cy="141732"/>
          </a:xfrm>
          <a:prstGeom prst="rect">
            <a:avLst/>
          </a:prstGeom>
          <a:solidFill>
            <a:schemeClr val="accent6"/>
          </a:solidFill>
          <a:ln w="12700">
            <a:solidFill>
              <a:schemeClr val="accent6"/>
            </a:solidFill>
            <a:prstDash val="solid"/>
          </a:ln>
        </p:spPr>
      </p:sp>
      <p:sp>
        <p:nvSpPr>
          <p:cNvPr id="56" name="Text 54"/>
          <p:cNvSpPr txBox="1"/>
          <p:nvPr/>
        </p:nvSpPr>
        <p:spPr>
          <a:xfrm>
            <a:off x="731520" y="3561588"/>
            <a:ext cx="2468880" cy="324612"/>
          </a:xfrm>
          <a:prstGeom prst="rect">
            <a:avLst/>
          </a:prstGeom>
          <a:noFill/>
          <a:ln/>
        </p:spPr>
        <p:txBody>
          <a:bodyPr wrap="square" lIns="0" tIns="0" rIns="0" bIns="0" rtlCol="0" anchor="ctr"/>
          <a:lstStyle/>
          <a:p>
            <a:pPr indent="0" marL="0">
              <a:buNone/>
            </a:pPr>
            <a:r>
              <a:rPr lang="en-US" sz="1050" dirty="0">
                <a:solidFill>
                  <a:schemeClr val="tx1"/>
                </a:solidFill>
              </a:rPr>
              <a:t>Ferias pagadas: escolar y Día del Niño</a:t>
            </a:r>
            <a:endParaRPr lang="en-US" sz="1050" dirty="0"/>
          </a:p>
        </p:txBody>
      </p:sp>
      <p:sp>
        <p:nvSpPr>
          <p:cNvPr id="57" name="Shape 55"/>
          <p:cNvSpPr/>
          <p:nvPr/>
        </p:nvSpPr>
        <p:spPr>
          <a:xfrm>
            <a:off x="5521147" y="3625596"/>
            <a:ext cx="486461" cy="196596"/>
          </a:xfrm>
          <a:prstGeom prst="roundRect">
            <a:avLst>
              <a:gd name="adj" fmla="val 46512"/>
            </a:avLst>
          </a:prstGeom>
          <a:solidFill>
            <a:schemeClr val="accent6"/>
          </a:solidFill>
          <a:ln w="12700">
            <a:solidFill>
              <a:schemeClr val="accent6"/>
            </a:solidFill>
            <a:prstDash val="solid"/>
          </a:ln>
        </p:spPr>
      </p:sp>
      <p:sp>
        <p:nvSpPr>
          <p:cNvPr id="58" name="Shape 56"/>
          <p:cNvSpPr/>
          <p:nvPr/>
        </p:nvSpPr>
        <p:spPr>
          <a:xfrm>
            <a:off x="6640373" y="3625596"/>
            <a:ext cx="486461" cy="196596"/>
          </a:xfrm>
          <a:prstGeom prst="roundRect">
            <a:avLst>
              <a:gd name="adj" fmla="val 46512"/>
            </a:avLst>
          </a:prstGeom>
          <a:solidFill>
            <a:schemeClr val="accent6"/>
          </a:solidFill>
          <a:ln w="12700">
            <a:solidFill>
              <a:schemeClr val="accent6"/>
            </a:solidFill>
            <a:prstDash val="solid"/>
          </a:ln>
        </p:spPr>
      </p:sp>
      <p:sp>
        <p:nvSpPr>
          <p:cNvPr id="59" name="Shape 57"/>
          <p:cNvSpPr/>
          <p:nvPr/>
        </p:nvSpPr>
        <p:spPr>
          <a:xfrm>
            <a:off x="548640" y="3977640"/>
            <a:ext cx="109728" cy="141732"/>
          </a:xfrm>
          <a:prstGeom prst="rect">
            <a:avLst/>
          </a:prstGeom>
          <a:solidFill>
            <a:schemeClr val="accent3"/>
          </a:solidFill>
          <a:ln w="12700">
            <a:solidFill>
              <a:schemeClr val="accent3"/>
            </a:solidFill>
            <a:prstDash val="solid"/>
          </a:ln>
        </p:spPr>
      </p:sp>
      <p:sp>
        <p:nvSpPr>
          <p:cNvPr id="60" name="Text 58"/>
          <p:cNvSpPr txBox="1"/>
          <p:nvPr/>
        </p:nvSpPr>
        <p:spPr>
          <a:xfrm>
            <a:off x="731520" y="3886200"/>
            <a:ext cx="2468880" cy="324612"/>
          </a:xfrm>
          <a:prstGeom prst="rect">
            <a:avLst/>
          </a:prstGeom>
          <a:noFill/>
          <a:ln/>
        </p:spPr>
        <p:txBody>
          <a:bodyPr wrap="square" lIns="0" tIns="0" rIns="0" bIns="0" rtlCol="0" anchor="ctr"/>
          <a:lstStyle/>
          <a:p>
            <a:pPr indent="0" marL="0">
              <a:buNone/>
            </a:pPr>
            <a:r>
              <a:rPr lang="en-US" sz="1050" dirty="0">
                <a:solidFill>
                  <a:schemeClr val="tx1"/>
                </a:solidFill>
              </a:rPr>
              <a:t>Kermeses, cumpleaños y ferias saludables</a:t>
            </a:r>
            <a:endParaRPr lang="en-US" sz="1050" dirty="0"/>
          </a:p>
        </p:txBody>
      </p:sp>
      <p:sp>
        <p:nvSpPr>
          <p:cNvPr id="61" name="Shape 59"/>
          <p:cNvSpPr/>
          <p:nvPr/>
        </p:nvSpPr>
        <p:spPr>
          <a:xfrm>
            <a:off x="4961534" y="3950208"/>
            <a:ext cx="6642202" cy="196596"/>
          </a:xfrm>
          <a:prstGeom prst="roundRect">
            <a:avLst>
              <a:gd name="adj" fmla="val 46512"/>
            </a:avLst>
          </a:prstGeom>
          <a:solidFill>
            <a:schemeClr val="accent3"/>
          </a:solidFill>
          <a:ln w="12700">
            <a:solidFill>
              <a:schemeClr val="accent3"/>
            </a:solidFill>
            <a:prstDash val="solid"/>
          </a:ln>
        </p:spPr>
      </p:sp>
      <p:sp>
        <p:nvSpPr>
          <p:cNvPr id="62" name="Shape 60"/>
          <p:cNvSpPr/>
          <p:nvPr/>
        </p:nvSpPr>
        <p:spPr>
          <a:xfrm>
            <a:off x="548640" y="4302252"/>
            <a:ext cx="109728" cy="141732"/>
          </a:xfrm>
          <a:prstGeom prst="rect">
            <a:avLst/>
          </a:prstGeom>
          <a:solidFill>
            <a:schemeClr val="accent5"/>
          </a:solidFill>
          <a:ln w="12700">
            <a:solidFill>
              <a:schemeClr val="accent5"/>
            </a:solidFill>
            <a:prstDash val="solid"/>
          </a:ln>
        </p:spPr>
      </p:sp>
      <p:sp>
        <p:nvSpPr>
          <p:cNvPr id="63" name="Text 61"/>
          <p:cNvSpPr txBox="1"/>
          <p:nvPr/>
        </p:nvSpPr>
        <p:spPr>
          <a:xfrm>
            <a:off x="731520" y="4210812"/>
            <a:ext cx="2468880" cy="324612"/>
          </a:xfrm>
          <a:prstGeom prst="rect">
            <a:avLst/>
          </a:prstGeom>
          <a:noFill/>
          <a:ln/>
        </p:spPr>
        <p:txBody>
          <a:bodyPr wrap="square" lIns="0" tIns="0" rIns="0" bIns="0" rtlCol="0" anchor="ctr"/>
          <a:lstStyle/>
          <a:p>
            <a:pPr indent="0" marL="0">
              <a:buNone/>
            </a:pPr>
            <a:r>
              <a:rPr lang="en-US" sz="1050" dirty="0">
                <a:solidFill>
                  <a:schemeClr val="tx1"/>
                </a:solidFill>
              </a:rPr>
              <a:t>Pauta digital (fuerte en feb., abr. y dic.)</a:t>
            </a:r>
            <a:endParaRPr lang="en-US" sz="1050" dirty="0"/>
          </a:p>
        </p:txBody>
      </p:sp>
      <p:sp>
        <p:nvSpPr>
          <p:cNvPr id="64" name="Shape 62"/>
          <p:cNvSpPr/>
          <p:nvPr/>
        </p:nvSpPr>
        <p:spPr>
          <a:xfrm>
            <a:off x="4961534" y="4274820"/>
            <a:ext cx="6642202" cy="196596"/>
          </a:xfrm>
          <a:prstGeom prst="roundRect">
            <a:avLst>
              <a:gd name="adj" fmla="val 46512"/>
            </a:avLst>
          </a:prstGeom>
          <a:solidFill>
            <a:schemeClr val="accent5"/>
          </a:solidFill>
          <a:ln w="12700">
            <a:solidFill>
              <a:schemeClr val="accent5"/>
            </a:solidFill>
            <a:prstDash val="solid"/>
          </a:ln>
        </p:spPr>
      </p:sp>
      <p:sp>
        <p:nvSpPr>
          <p:cNvPr id="65" name="Shape 63"/>
          <p:cNvSpPr/>
          <p:nvPr/>
        </p:nvSpPr>
        <p:spPr>
          <a:xfrm>
            <a:off x="5521147" y="4274820"/>
            <a:ext cx="486461" cy="196596"/>
          </a:xfrm>
          <a:prstGeom prst="roundRect">
            <a:avLst>
              <a:gd name="adj" fmla="val 46512"/>
            </a:avLst>
          </a:prstGeom>
          <a:solidFill>
            <a:schemeClr val="accent1"/>
          </a:solidFill>
          <a:ln w="12700">
            <a:solidFill>
              <a:schemeClr val="accent1"/>
            </a:solidFill>
            <a:prstDash val="solid"/>
          </a:ln>
        </p:spPr>
      </p:sp>
      <p:sp>
        <p:nvSpPr>
          <p:cNvPr id="66" name="Shape 64"/>
          <p:cNvSpPr/>
          <p:nvPr/>
        </p:nvSpPr>
        <p:spPr>
          <a:xfrm>
            <a:off x="6640373" y="4274820"/>
            <a:ext cx="486461" cy="196596"/>
          </a:xfrm>
          <a:prstGeom prst="roundRect">
            <a:avLst>
              <a:gd name="adj" fmla="val 46512"/>
            </a:avLst>
          </a:prstGeom>
          <a:solidFill>
            <a:schemeClr val="accent1"/>
          </a:solidFill>
          <a:ln w="12700">
            <a:solidFill>
              <a:schemeClr val="accent1"/>
            </a:solidFill>
            <a:prstDash val="solid"/>
          </a:ln>
        </p:spPr>
      </p:sp>
      <p:sp>
        <p:nvSpPr>
          <p:cNvPr id="67" name="Shape 65"/>
          <p:cNvSpPr/>
          <p:nvPr/>
        </p:nvSpPr>
        <p:spPr>
          <a:xfrm>
            <a:off x="11117275" y="4274820"/>
            <a:ext cx="486461" cy="196596"/>
          </a:xfrm>
          <a:prstGeom prst="roundRect">
            <a:avLst>
              <a:gd name="adj" fmla="val 46512"/>
            </a:avLst>
          </a:prstGeom>
          <a:solidFill>
            <a:schemeClr val="accent1"/>
          </a:solidFill>
          <a:ln w="12700">
            <a:solidFill>
              <a:schemeClr val="accent1"/>
            </a:solidFill>
            <a:prstDash val="solid"/>
          </a:ln>
        </p:spPr>
      </p:sp>
      <p:sp>
        <p:nvSpPr>
          <p:cNvPr id="68" name="Shape 66"/>
          <p:cNvSpPr/>
          <p:nvPr/>
        </p:nvSpPr>
        <p:spPr>
          <a:xfrm>
            <a:off x="548640" y="4626864"/>
            <a:ext cx="109728" cy="141732"/>
          </a:xfrm>
          <a:prstGeom prst="rect">
            <a:avLst/>
          </a:prstGeom>
          <a:solidFill>
            <a:schemeClr val="accent4"/>
          </a:solidFill>
          <a:ln w="12700">
            <a:solidFill>
              <a:schemeClr val="accent4"/>
            </a:solidFill>
            <a:prstDash val="solid"/>
          </a:ln>
        </p:spPr>
      </p:sp>
      <p:sp>
        <p:nvSpPr>
          <p:cNvPr id="69" name="Text 67"/>
          <p:cNvSpPr txBox="1"/>
          <p:nvPr/>
        </p:nvSpPr>
        <p:spPr>
          <a:xfrm>
            <a:off x="731520" y="4535424"/>
            <a:ext cx="2468880" cy="324612"/>
          </a:xfrm>
          <a:prstGeom prst="rect">
            <a:avLst/>
          </a:prstGeom>
          <a:noFill/>
          <a:ln/>
        </p:spPr>
        <p:txBody>
          <a:bodyPr wrap="square" lIns="0" tIns="0" rIns="0" bIns="0" rtlCol="0" anchor="ctr"/>
          <a:lstStyle/>
          <a:p>
            <a:pPr indent="0" marL="0">
              <a:buNone/>
            </a:pPr>
            <a:r>
              <a:rPr lang="en-US" sz="1050" dirty="0">
                <a:solidFill>
                  <a:schemeClr val="tx1"/>
                </a:solidFill>
              </a:rPr>
              <a:t>Mamás embajadoras por salón</a:t>
            </a:r>
            <a:endParaRPr lang="en-US" sz="1050" dirty="0"/>
          </a:p>
        </p:txBody>
      </p:sp>
      <p:sp>
        <p:nvSpPr>
          <p:cNvPr id="70" name="Shape 68"/>
          <p:cNvSpPr/>
          <p:nvPr/>
        </p:nvSpPr>
        <p:spPr>
          <a:xfrm>
            <a:off x="4961534" y="4599432"/>
            <a:ext cx="6642202" cy="196596"/>
          </a:xfrm>
          <a:prstGeom prst="roundRect">
            <a:avLst>
              <a:gd name="adj" fmla="val 46512"/>
            </a:avLst>
          </a:prstGeom>
          <a:solidFill>
            <a:schemeClr val="accent4"/>
          </a:solidFill>
          <a:ln w="12700">
            <a:solidFill>
              <a:schemeClr val="accent4"/>
            </a:solidFill>
            <a:prstDash val="solid"/>
          </a:ln>
        </p:spPr>
      </p:sp>
      <p:sp>
        <p:nvSpPr>
          <p:cNvPr id="71" name="Shape 69"/>
          <p:cNvSpPr/>
          <p:nvPr/>
        </p:nvSpPr>
        <p:spPr>
          <a:xfrm>
            <a:off x="548640" y="4951476"/>
            <a:ext cx="109728" cy="141732"/>
          </a:xfrm>
          <a:prstGeom prst="rect">
            <a:avLst/>
          </a:prstGeom>
          <a:solidFill>
            <a:schemeClr val="accent4"/>
          </a:solidFill>
          <a:ln w="12700">
            <a:solidFill>
              <a:schemeClr val="accent4"/>
            </a:solidFill>
            <a:prstDash val="solid"/>
          </a:ln>
        </p:spPr>
      </p:sp>
      <p:sp>
        <p:nvSpPr>
          <p:cNvPr id="72" name="Text 70"/>
          <p:cNvSpPr txBox="1"/>
          <p:nvPr/>
        </p:nvSpPr>
        <p:spPr>
          <a:xfrm>
            <a:off x="731520" y="4860036"/>
            <a:ext cx="2468880" cy="324612"/>
          </a:xfrm>
          <a:prstGeom prst="rect">
            <a:avLst/>
          </a:prstGeom>
          <a:noFill/>
          <a:ln/>
        </p:spPr>
        <p:txBody>
          <a:bodyPr wrap="square" lIns="0" tIns="0" rIns="0" bIns="0" rtlCol="0" anchor="ctr"/>
          <a:lstStyle/>
          <a:p>
            <a:pPr indent="0" marL="0">
              <a:buNone/>
            </a:pPr>
            <a:r>
              <a:rPr lang="en-US" sz="1050" dirty="0">
                <a:solidFill>
                  <a:schemeClr val="tx1"/>
                </a:solidFill>
              </a:rPr>
              <a:t>App Andi: aviso de recompra y loncheras</a:t>
            </a:r>
            <a:endParaRPr lang="en-US" sz="1050" dirty="0"/>
          </a:p>
        </p:txBody>
      </p:sp>
      <p:sp>
        <p:nvSpPr>
          <p:cNvPr id="73" name="Shape 71"/>
          <p:cNvSpPr/>
          <p:nvPr/>
        </p:nvSpPr>
        <p:spPr>
          <a:xfrm>
            <a:off x="4961534" y="4924044"/>
            <a:ext cx="6642202" cy="196596"/>
          </a:xfrm>
          <a:prstGeom prst="roundRect">
            <a:avLst>
              <a:gd name="adj" fmla="val 46512"/>
            </a:avLst>
          </a:prstGeom>
          <a:solidFill>
            <a:schemeClr val="accent4"/>
          </a:solidFill>
          <a:ln w="12700">
            <a:solidFill>
              <a:schemeClr val="accent4"/>
            </a:solidFill>
            <a:prstDash val="solid"/>
          </a:ln>
        </p:spPr>
      </p:sp>
      <p:sp>
        <p:nvSpPr>
          <p:cNvPr id="74" name="Shape 72"/>
          <p:cNvSpPr/>
          <p:nvPr/>
        </p:nvSpPr>
        <p:spPr>
          <a:xfrm>
            <a:off x="548640" y="5276088"/>
            <a:ext cx="109728" cy="141732"/>
          </a:xfrm>
          <a:prstGeom prst="rect">
            <a:avLst/>
          </a:prstGeom>
          <a:solidFill>
            <a:schemeClr val="accent2"/>
          </a:solidFill>
          <a:ln w="12700">
            <a:solidFill>
              <a:schemeClr val="accent2"/>
            </a:solidFill>
            <a:prstDash val="solid"/>
          </a:ln>
        </p:spPr>
      </p:sp>
      <p:sp>
        <p:nvSpPr>
          <p:cNvPr id="75" name="Text 73"/>
          <p:cNvSpPr txBox="1"/>
          <p:nvPr/>
        </p:nvSpPr>
        <p:spPr>
          <a:xfrm>
            <a:off x="731520" y="5184648"/>
            <a:ext cx="2468880" cy="324612"/>
          </a:xfrm>
          <a:prstGeom prst="rect">
            <a:avLst/>
          </a:prstGeom>
          <a:noFill/>
          <a:ln/>
        </p:spPr>
        <p:txBody>
          <a:bodyPr wrap="square" lIns="0" tIns="0" rIns="0" bIns="0" rtlCol="0" anchor="ctr"/>
          <a:lstStyle/>
          <a:p>
            <a:pPr indent="0" marL="0">
              <a:buNone/>
            </a:pPr>
            <a:r>
              <a:rPr lang="en-US" sz="1050" dirty="0">
                <a:solidFill>
                  <a:schemeClr val="tx1"/>
                </a:solidFill>
              </a:rPr>
              <a:t>Quioscos escolares y tiendas naturistas</a:t>
            </a:r>
            <a:endParaRPr lang="en-US" sz="1050" dirty="0"/>
          </a:p>
        </p:txBody>
      </p:sp>
      <p:sp>
        <p:nvSpPr>
          <p:cNvPr id="76" name="Shape 74"/>
          <p:cNvSpPr/>
          <p:nvPr/>
        </p:nvSpPr>
        <p:spPr>
          <a:xfrm>
            <a:off x="4961534" y="5248656"/>
            <a:ext cx="1046074" cy="196596"/>
          </a:xfrm>
          <a:prstGeom prst="roundRect">
            <a:avLst>
              <a:gd name="adj" fmla="val 46512"/>
            </a:avLst>
          </a:prstGeom>
          <a:solidFill>
            <a:schemeClr val="accent2"/>
          </a:solidFill>
          <a:ln w="12700">
            <a:solidFill>
              <a:schemeClr val="accent2"/>
            </a:solidFill>
            <a:prstDash val="solid"/>
          </a:ln>
        </p:spPr>
      </p:sp>
      <p:sp>
        <p:nvSpPr>
          <p:cNvPr id="77" name="Text 75"/>
          <p:cNvSpPr txBox="1"/>
          <p:nvPr/>
        </p:nvSpPr>
        <p:spPr>
          <a:xfrm>
            <a:off x="4924958" y="5248656"/>
            <a:ext cx="1119226" cy="196596"/>
          </a:xfrm>
          <a:prstGeom prst="rect">
            <a:avLst/>
          </a:prstGeom>
          <a:noFill/>
          <a:ln/>
        </p:spPr>
        <p:txBody>
          <a:bodyPr wrap="square" lIns="0" tIns="0" rIns="0" bIns="0" rtlCol="0" anchor="ctr"/>
          <a:lstStyle/>
          <a:p>
            <a:pPr algn="ctr" indent="0" marL="0">
              <a:buNone/>
            </a:pPr>
            <a:r>
              <a:rPr lang="en-US" sz="900" b="1" dirty="0">
                <a:solidFill>
                  <a:schemeClr val="bg1"/>
                </a:solidFill>
              </a:rPr>
              <a:t>naturistas</a:t>
            </a:r>
            <a:endParaRPr lang="en-US" sz="900" dirty="0"/>
          </a:p>
        </p:txBody>
      </p:sp>
      <p:sp>
        <p:nvSpPr>
          <p:cNvPr id="78" name="Shape 76"/>
          <p:cNvSpPr/>
          <p:nvPr/>
        </p:nvSpPr>
        <p:spPr>
          <a:xfrm>
            <a:off x="6080760" y="5248656"/>
            <a:ext cx="5522976" cy="196596"/>
          </a:xfrm>
          <a:prstGeom prst="roundRect">
            <a:avLst>
              <a:gd name="adj" fmla="val 46512"/>
            </a:avLst>
          </a:prstGeom>
          <a:solidFill>
            <a:schemeClr val="accent2"/>
          </a:solidFill>
          <a:ln w="12700">
            <a:solidFill>
              <a:schemeClr val="accent2"/>
            </a:solidFill>
            <a:prstDash val="solid"/>
          </a:ln>
        </p:spPr>
      </p:sp>
      <p:sp>
        <p:nvSpPr>
          <p:cNvPr id="79" name="Text 77"/>
          <p:cNvSpPr txBox="1"/>
          <p:nvPr/>
        </p:nvSpPr>
        <p:spPr>
          <a:xfrm>
            <a:off x="6044184" y="5248656"/>
            <a:ext cx="5596128" cy="196596"/>
          </a:xfrm>
          <a:prstGeom prst="rect">
            <a:avLst/>
          </a:prstGeom>
          <a:noFill/>
          <a:ln/>
        </p:spPr>
        <p:txBody>
          <a:bodyPr wrap="square" lIns="0" tIns="0" rIns="0" bIns="0" rtlCol="0" anchor="ctr"/>
          <a:lstStyle/>
          <a:p>
            <a:pPr algn="ctr" indent="0" marL="0">
              <a:buNone/>
            </a:pPr>
            <a:r>
              <a:rPr lang="en-US" sz="900" b="1" dirty="0">
                <a:solidFill>
                  <a:schemeClr val="bg1"/>
                </a:solidFill>
              </a:rPr>
              <a:t>+ quioscos</a:t>
            </a:r>
            <a:endParaRPr lang="en-US" sz="900" dirty="0"/>
          </a:p>
        </p:txBody>
      </p:sp>
      <p:sp>
        <p:nvSpPr>
          <p:cNvPr id="80" name="Shape 78"/>
          <p:cNvSpPr/>
          <p:nvPr/>
        </p:nvSpPr>
        <p:spPr>
          <a:xfrm>
            <a:off x="548640" y="5582412"/>
            <a:ext cx="11091672" cy="457200"/>
          </a:xfrm>
          <a:prstGeom prst="roundRect">
            <a:avLst>
              <a:gd name="adj" fmla="val 16000"/>
            </a:avLst>
          </a:prstGeom>
          <a:solidFill>
            <a:schemeClr val="tx2"/>
          </a:solidFill>
          <a:ln w="12700">
            <a:solidFill>
              <a:schemeClr val="tx2"/>
            </a:solidFill>
            <a:prstDash val="solid"/>
          </a:ln>
        </p:spPr>
      </p:sp>
      <p:sp>
        <p:nvSpPr>
          <p:cNvPr id="81" name="Text 79"/>
          <p:cNvSpPr txBox="1"/>
          <p:nvPr/>
        </p:nvSpPr>
        <p:spPr>
          <a:xfrm>
            <a:off x="731520" y="5582412"/>
            <a:ext cx="2468880" cy="457200"/>
          </a:xfrm>
          <a:prstGeom prst="rect">
            <a:avLst/>
          </a:prstGeom>
          <a:noFill/>
          <a:ln/>
        </p:spPr>
        <p:txBody>
          <a:bodyPr wrap="square" lIns="0" tIns="0" rIns="0" bIns="0" rtlCol="0" anchor="ctr"/>
          <a:lstStyle/>
          <a:p>
            <a:pPr indent="0" marL="0">
              <a:buNone/>
            </a:pPr>
            <a:r>
              <a:rPr lang="en-US" sz="1100" b="1" dirty="0">
                <a:solidFill>
                  <a:schemeClr val="bg1"/>
                </a:solidFill>
              </a:rPr>
              <a:t>Inversión del mes (S/)</a:t>
            </a:r>
            <a:endParaRPr lang="en-US" sz="1100" dirty="0"/>
          </a:p>
          <a:p>
            <a:pPr indent="0" marL="0">
              <a:buNone/>
            </a:pPr>
            <a:r>
              <a:rPr lang="en-US" sz="950" dirty="0">
                <a:solidFill>
                  <a:schemeClr val="accent3"/>
                </a:solidFill>
              </a:rPr>
              <a:t>total S/24,544</a:t>
            </a:r>
            <a:endParaRPr lang="en-US" sz="1100" dirty="0"/>
          </a:p>
        </p:txBody>
      </p:sp>
      <p:sp>
        <p:nvSpPr>
          <p:cNvPr id="82" name="Text 80"/>
          <p:cNvSpPr txBox="1"/>
          <p:nvPr/>
        </p:nvSpPr>
        <p:spPr>
          <a:xfrm>
            <a:off x="3246120"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a:t>
            </a:r>
            <a:endParaRPr lang="en-US" sz="1050" dirty="0"/>
          </a:p>
        </p:txBody>
      </p:sp>
      <p:sp>
        <p:nvSpPr>
          <p:cNvPr id="83" name="Text 81"/>
          <p:cNvSpPr txBox="1"/>
          <p:nvPr/>
        </p:nvSpPr>
        <p:spPr>
          <a:xfrm>
            <a:off x="3805733"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300</a:t>
            </a:r>
            <a:endParaRPr lang="en-US" sz="1050" dirty="0"/>
          </a:p>
        </p:txBody>
      </p:sp>
      <p:sp>
        <p:nvSpPr>
          <p:cNvPr id="84" name="Text 82"/>
          <p:cNvSpPr txBox="1"/>
          <p:nvPr/>
        </p:nvSpPr>
        <p:spPr>
          <a:xfrm>
            <a:off x="4365346"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1,458</a:t>
            </a:r>
            <a:endParaRPr lang="en-US" sz="1050" dirty="0"/>
          </a:p>
        </p:txBody>
      </p:sp>
      <p:sp>
        <p:nvSpPr>
          <p:cNvPr id="85" name="Text 83"/>
          <p:cNvSpPr txBox="1"/>
          <p:nvPr/>
        </p:nvSpPr>
        <p:spPr>
          <a:xfrm>
            <a:off x="4924958"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2,506</a:t>
            </a:r>
            <a:endParaRPr lang="en-US" sz="1050" dirty="0"/>
          </a:p>
        </p:txBody>
      </p:sp>
      <p:sp>
        <p:nvSpPr>
          <p:cNvPr id="86" name="Text 84"/>
          <p:cNvSpPr txBox="1"/>
          <p:nvPr/>
        </p:nvSpPr>
        <p:spPr>
          <a:xfrm>
            <a:off x="5484571" y="5582412"/>
            <a:ext cx="559613" cy="457200"/>
          </a:xfrm>
          <a:prstGeom prst="rect">
            <a:avLst/>
          </a:prstGeom>
          <a:noFill/>
          <a:ln/>
        </p:spPr>
        <p:txBody>
          <a:bodyPr wrap="square" lIns="0" tIns="0" rIns="0" bIns="0" rtlCol="0" anchor="ctr"/>
          <a:lstStyle/>
          <a:p>
            <a:pPr algn="ctr" indent="0" marL="0">
              <a:buNone/>
            </a:pPr>
            <a:r>
              <a:rPr lang="en-US" sz="1050" b="1" dirty="0">
                <a:solidFill>
                  <a:schemeClr val="accent3"/>
                </a:solidFill>
              </a:rPr>
              <a:t>3,290</a:t>
            </a:r>
            <a:endParaRPr lang="en-US" sz="1050" dirty="0"/>
          </a:p>
        </p:txBody>
      </p:sp>
      <p:sp>
        <p:nvSpPr>
          <p:cNvPr id="87" name="Text 85"/>
          <p:cNvSpPr txBox="1"/>
          <p:nvPr/>
        </p:nvSpPr>
        <p:spPr>
          <a:xfrm>
            <a:off x="6044184"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88" name="Text 86"/>
          <p:cNvSpPr txBox="1"/>
          <p:nvPr/>
        </p:nvSpPr>
        <p:spPr>
          <a:xfrm>
            <a:off x="6603797" y="5582412"/>
            <a:ext cx="559613" cy="457200"/>
          </a:xfrm>
          <a:prstGeom prst="rect">
            <a:avLst/>
          </a:prstGeom>
          <a:noFill/>
          <a:ln/>
        </p:spPr>
        <p:txBody>
          <a:bodyPr wrap="square" lIns="0" tIns="0" rIns="0" bIns="0" rtlCol="0" anchor="ctr"/>
          <a:lstStyle/>
          <a:p>
            <a:pPr algn="ctr" indent="0" marL="0">
              <a:buNone/>
            </a:pPr>
            <a:r>
              <a:rPr lang="en-US" sz="1050" b="1" dirty="0">
                <a:solidFill>
                  <a:schemeClr val="accent3"/>
                </a:solidFill>
              </a:rPr>
              <a:t>3,610</a:t>
            </a:r>
            <a:endParaRPr lang="en-US" sz="1050" dirty="0"/>
          </a:p>
        </p:txBody>
      </p:sp>
      <p:sp>
        <p:nvSpPr>
          <p:cNvPr id="89" name="Text 87"/>
          <p:cNvSpPr txBox="1"/>
          <p:nvPr/>
        </p:nvSpPr>
        <p:spPr>
          <a:xfrm>
            <a:off x="7163410"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1,700</a:t>
            </a:r>
            <a:endParaRPr lang="en-US" sz="1050" dirty="0"/>
          </a:p>
        </p:txBody>
      </p:sp>
      <p:sp>
        <p:nvSpPr>
          <p:cNvPr id="90" name="Text 88"/>
          <p:cNvSpPr txBox="1"/>
          <p:nvPr/>
        </p:nvSpPr>
        <p:spPr>
          <a:xfrm>
            <a:off x="7723022"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1" name="Text 89"/>
          <p:cNvSpPr txBox="1"/>
          <p:nvPr/>
        </p:nvSpPr>
        <p:spPr>
          <a:xfrm>
            <a:off x="8282635"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1,380</a:t>
            </a:r>
            <a:endParaRPr lang="en-US" sz="1050" dirty="0"/>
          </a:p>
        </p:txBody>
      </p:sp>
      <p:sp>
        <p:nvSpPr>
          <p:cNvPr id="92" name="Text 90"/>
          <p:cNvSpPr txBox="1"/>
          <p:nvPr/>
        </p:nvSpPr>
        <p:spPr>
          <a:xfrm>
            <a:off x="8842248"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3" name="Text 91"/>
          <p:cNvSpPr txBox="1"/>
          <p:nvPr/>
        </p:nvSpPr>
        <p:spPr>
          <a:xfrm>
            <a:off x="9401861"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4" name="Text 92"/>
          <p:cNvSpPr txBox="1"/>
          <p:nvPr/>
        </p:nvSpPr>
        <p:spPr>
          <a:xfrm>
            <a:off x="9961474"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5" name="Text 93"/>
          <p:cNvSpPr txBox="1"/>
          <p:nvPr/>
        </p:nvSpPr>
        <p:spPr>
          <a:xfrm>
            <a:off x="10521086"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1,380</a:t>
            </a:r>
            <a:endParaRPr lang="en-US" sz="1050" dirty="0"/>
          </a:p>
        </p:txBody>
      </p:sp>
      <p:sp>
        <p:nvSpPr>
          <p:cNvPr id="96" name="Text 94"/>
          <p:cNvSpPr txBox="1"/>
          <p:nvPr/>
        </p:nvSpPr>
        <p:spPr>
          <a:xfrm>
            <a:off x="11080699"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1,220</a:t>
            </a:r>
            <a:endParaRPr lang="en-US" sz="1050" dirty="0"/>
          </a:p>
        </p:txBody>
      </p:sp>
      <p:sp>
        <p:nvSpPr>
          <p:cNvPr id="97" name="Text 95"/>
          <p:cNvSpPr txBox="1"/>
          <p:nvPr/>
        </p:nvSpPr>
        <p:spPr>
          <a:xfrm>
            <a:off x="548640" y="6067044"/>
            <a:ext cx="11091672" cy="274320"/>
          </a:xfrm>
          <a:prstGeom prst="rect">
            <a:avLst/>
          </a:prstGeom>
          <a:noFill/>
          <a:ln/>
        </p:spPr>
        <p:txBody>
          <a:bodyPr wrap="square" lIns="0" tIns="0" rIns="0" bIns="0" rtlCol="0" anchor="t"/>
          <a:lstStyle/>
          <a:p>
            <a:pPr indent="0" marL="0">
              <a:buNone/>
            </a:pPr>
            <a:r>
              <a:rPr lang="en-US" sz="950" i="1" dirty="0">
                <a:solidFill>
                  <a:schemeClr val="accent2"/>
                </a:solidFill>
              </a:rPr>
              <a:t>Incluye pauta S/700 y embajadoras S/200 al mes, ferias (S/1,800 + vendedor/a 3 días), eventos (vendedor/a + aporte, S/160) y el lanzamiento (S/3,204, ya en la inversión). El espacio y los vendedores de los stands van aparte.</a:t>
            </a:r>
            <a:endParaRPr lang="en-US" sz="9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CIERRE · CÓMO SEGUIMOS CRECIENDO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Crecemos paso a paso: cada inversión se activa con una meta</a:t>
            </a:r>
            <a:endParaRPr lang="en-US" sz="3400" dirty="0"/>
          </a:p>
        </p:txBody>
      </p:sp>
      <p:sp>
        <p:nvSpPr>
          <p:cNvPr id="4" name="Shape 2"/>
          <p:cNvSpPr/>
          <p:nvPr/>
        </p:nvSpPr>
        <p:spPr>
          <a:xfrm>
            <a:off x="548640" y="1481328"/>
            <a:ext cx="2670048" cy="2057400"/>
          </a:xfrm>
          <a:prstGeom prst="roundRect">
            <a:avLst>
              <a:gd name="adj" fmla="val 533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82496"/>
            <a:ext cx="566928" cy="566928"/>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74532" y="1807220"/>
            <a:ext cx="317480" cy="317480"/>
          </a:xfrm>
          <a:prstGeom prst="rect">
            <a:avLst/>
          </a:prstGeom>
        </p:spPr>
      </p:pic>
      <p:sp>
        <p:nvSpPr>
          <p:cNvPr id="7" name="Text 4"/>
          <p:cNvSpPr txBox="1"/>
          <p:nvPr/>
        </p:nvSpPr>
        <p:spPr>
          <a:xfrm>
            <a:off x="1444752"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5"/>
                </a:solidFill>
              </a:rPr>
              <a:t>META → ACCIÓN</a:t>
            </a:r>
            <a:endParaRPr lang="en-US" sz="900" dirty="0"/>
          </a:p>
        </p:txBody>
      </p:sp>
      <p:sp>
        <p:nvSpPr>
          <p:cNvPr id="8" name="Text 5"/>
          <p:cNvSpPr txBox="1"/>
          <p:nvPr/>
        </p:nvSpPr>
        <p:spPr>
          <a:xfrm>
            <a:off x="749808" y="2350008"/>
            <a:ext cx="2304288" cy="365760"/>
          </a:xfrm>
          <a:prstGeom prst="rect">
            <a:avLst/>
          </a:prstGeom>
          <a:noFill/>
          <a:ln/>
        </p:spPr>
        <p:txBody>
          <a:bodyPr wrap="square" lIns="0" tIns="0" rIns="0" bIns="0" rtlCol="0" anchor="t"/>
          <a:lstStyle/>
          <a:p>
            <a:pPr indent="0" marL="0">
              <a:buNone/>
            </a:pPr>
            <a:r>
              <a:rPr lang="en-US" sz="1500" b="1" dirty="0">
                <a:solidFill>
                  <a:schemeClr val="bg1"/>
                </a:solidFill>
              </a:rPr>
              <a:t>4.º punto de venta</a:t>
            </a:r>
            <a:endParaRPr lang="en-US" sz="1500" dirty="0"/>
          </a:p>
        </p:txBody>
      </p:sp>
      <p:sp>
        <p:nvSpPr>
          <p:cNvPr id="9" name="Text 6"/>
          <p:cNvSpPr txBox="1"/>
          <p:nvPr/>
        </p:nvSpPr>
        <p:spPr>
          <a:xfrm>
            <a:off x="749808" y="2743200"/>
            <a:ext cx="2304288" cy="731520"/>
          </a:xfrm>
          <a:prstGeom prst="rect">
            <a:avLst/>
          </a:prstGeom>
          <a:noFill/>
          <a:ln/>
        </p:spPr>
        <p:txBody>
          <a:bodyPr wrap="square" lIns="0" tIns="0" rIns="0" bIns="0" rtlCol="0" anchor="t"/>
          <a:lstStyle/>
          <a:p>
            <a:pPr indent="0" marL="0">
              <a:buNone/>
            </a:pPr>
            <a:r>
              <a:rPr lang="en-US" sz="1200" dirty="0">
                <a:solidFill>
                  <a:schemeClr val="bg1"/>
                </a:solidFill>
              </a:rPr>
              <a:t>Si los 3 puntos venden 85 o más brownies por día durante 3 meses seguidos</a:t>
            </a:r>
            <a:endParaRPr lang="en-US" sz="1200" dirty="0"/>
          </a:p>
        </p:txBody>
      </p:sp>
      <p:sp>
        <p:nvSpPr>
          <p:cNvPr id="10" name="Shape 7"/>
          <p:cNvSpPr/>
          <p:nvPr/>
        </p:nvSpPr>
        <p:spPr>
          <a:xfrm>
            <a:off x="3355848"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557016" y="1682496"/>
            <a:ext cx="566928" cy="566928"/>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3681740" y="1807220"/>
            <a:ext cx="317480" cy="317480"/>
          </a:xfrm>
          <a:prstGeom prst="rect">
            <a:avLst/>
          </a:prstGeom>
        </p:spPr>
      </p:pic>
      <p:sp>
        <p:nvSpPr>
          <p:cNvPr id="13" name="Text 9"/>
          <p:cNvSpPr txBox="1"/>
          <p:nvPr/>
        </p:nvSpPr>
        <p:spPr>
          <a:xfrm>
            <a:off x="4251960"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14" name="Text 10"/>
          <p:cNvSpPr txBox="1"/>
          <p:nvPr/>
        </p:nvSpPr>
        <p:spPr>
          <a:xfrm>
            <a:off x="3557016"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Fabricación más barata</a:t>
            </a:r>
            <a:endParaRPr lang="en-US" sz="1500" dirty="0"/>
          </a:p>
        </p:txBody>
      </p:sp>
      <p:sp>
        <p:nvSpPr>
          <p:cNvPr id="15" name="Text 11"/>
          <p:cNvSpPr txBox="1"/>
          <p:nvPr/>
        </p:nvSpPr>
        <p:spPr>
          <a:xfrm>
            <a:off x="3557016"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Al pasar 5,000 brownies al mes, negociar con la planta S/0.40 en vez de S/0.45</a:t>
            </a:r>
            <a:endParaRPr lang="en-US" sz="1200" dirty="0"/>
          </a:p>
        </p:txBody>
      </p:sp>
      <p:sp>
        <p:nvSpPr>
          <p:cNvPr id="16" name="Shape 12"/>
          <p:cNvSpPr/>
          <p:nvPr/>
        </p:nvSpPr>
        <p:spPr>
          <a:xfrm>
            <a:off x="6163056"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6364224" y="1682496"/>
            <a:ext cx="566928" cy="566928"/>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6488948" y="1807220"/>
            <a:ext cx="317480" cy="317480"/>
          </a:xfrm>
          <a:prstGeom prst="rect">
            <a:avLst/>
          </a:prstGeom>
        </p:spPr>
      </p:pic>
      <p:sp>
        <p:nvSpPr>
          <p:cNvPr id="19" name="Text 14"/>
          <p:cNvSpPr txBox="1"/>
          <p:nvPr/>
        </p:nvSpPr>
        <p:spPr>
          <a:xfrm>
            <a:off x="7059168"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0" name="Text 15"/>
          <p:cNvSpPr txBox="1"/>
          <p:nvPr/>
        </p:nvSpPr>
        <p:spPr>
          <a:xfrm>
            <a:off x="6364224"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Contrato anual de sangrecita</a:t>
            </a:r>
            <a:endParaRPr lang="en-US" sz="1500" dirty="0"/>
          </a:p>
        </p:txBody>
      </p:sp>
      <p:sp>
        <p:nvSpPr>
          <p:cNvPr id="21" name="Text 16"/>
          <p:cNvSpPr txBox="1"/>
          <p:nvPr/>
        </p:nvSpPr>
        <p:spPr>
          <a:xfrm>
            <a:off x="6364224"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Precio fijo por un año al comprar unos 50 kg de polvo al año</a:t>
            </a:r>
            <a:endParaRPr lang="en-US" sz="1200" dirty="0"/>
          </a:p>
        </p:txBody>
      </p:sp>
      <p:sp>
        <p:nvSpPr>
          <p:cNvPr id="22" name="Shape 17"/>
          <p:cNvSpPr/>
          <p:nvPr/>
        </p:nvSpPr>
        <p:spPr>
          <a:xfrm>
            <a:off x="8970264"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9171432" y="1682496"/>
            <a:ext cx="566928" cy="566928"/>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9296156" y="1807220"/>
            <a:ext cx="317480" cy="317480"/>
          </a:xfrm>
          <a:prstGeom prst="rect">
            <a:avLst/>
          </a:prstGeom>
        </p:spPr>
      </p:pic>
      <p:sp>
        <p:nvSpPr>
          <p:cNvPr id="25" name="Text 19"/>
          <p:cNvSpPr txBox="1"/>
          <p:nvPr/>
        </p:nvSpPr>
        <p:spPr>
          <a:xfrm>
            <a:off x="9866376"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6" name="Text 20"/>
          <p:cNvSpPr txBox="1"/>
          <p:nvPr/>
        </p:nvSpPr>
        <p:spPr>
          <a:xfrm>
            <a:off x="9171432"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Cajas para fiestas</a:t>
            </a:r>
            <a:endParaRPr lang="en-US" sz="1500" dirty="0"/>
          </a:p>
        </p:txBody>
      </p:sp>
      <p:sp>
        <p:nvSpPr>
          <p:cNvPr id="27" name="Text 21"/>
          <p:cNvSpPr txBox="1"/>
          <p:nvPr/>
        </p:nvSpPr>
        <p:spPr>
          <a:xfrm>
            <a:off x="9171432"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Para cumpleaños y empresas: por pedido con 2 semanas de anticipación, sin costo fijo</a:t>
            </a:r>
            <a:endParaRPr lang="en-US" sz="1200" dirty="0"/>
          </a:p>
        </p:txBody>
      </p:sp>
      <p:sp>
        <p:nvSpPr>
          <p:cNvPr id="28" name="Shape 22"/>
          <p:cNvSpPr/>
          <p:nvPr/>
        </p:nvSpPr>
        <p:spPr>
          <a:xfrm>
            <a:off x="548640"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3"/>
          <p:cNvSpPr/>
          <p:nvPr/>
        </p:nvSpPr>
        <p:spPr>
          <a:xfrm>
            <a:off x="749808" y="3904488"/>
            <a:ext cx="566928" cy="566928"/>
          </a:xfrm>
          <a:prstGeom prst="ellipse">
            <a:avLst/>
          </a:prstGeom>
          <a:solidFill>
            <a:schemeClr val="accent1"/>
          </a:solidFill>
          <a:ln w="12700">
            <a:solidFill>
              <a:schemeClr val="accent1"/>
            </a:solidFill>
            <a:prstDash val="solid"/>
          </a:ln>
        </p:spPr>
      </p:sp>
      <p:pic>
        <p:nvPicPr>
          <p:cNvPr id="30" name="Image 4" descr="preencoded.png">    </p:cNvPr>
          <p:cNvPicPr>
            <a:picLocks noChangeAspect="1"/>
          </p:cNvPicPr>
          <p:nvPr/>
        </p:nvPicPr>
        <p:blipFill>
          <a:blip r:embed="rId5"/>
          <a:stretch>
            <a:fillRect/>
          </a:stretch>
        </p:blipFill>
        <p:spPr>
          <a:xfrm>
            <a:off x="874532" y="4029212"/>
            <a:ext cx="317480" cy="317480"/>
          </a:xfrm>
          <a:prstGeom prst="rect">
            <a:avLst/>
          </a:prstGeom>
        </p:spPr>
      </p:pic>
      <p:sp>
        <p:nvSpPr>
          <p:cNvPr id="31" name="Text 24"/>
          <p:cNvSpPr txBox="1"/>
          <p:nvPr/>
        </p:nvSpPr>
        <p:spPr>
          <a:xfrm>
            <a:off x="1444752"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2" name="Text 25"/>
          <p:cNvSpPr txBox="1"/>
          <p:nvPr/>
        </p:nvSpPr>
        <p:spPr>
          <a:xfrm>
            <a:off x="749808"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Góndola en Wong o Vivanda</a:t>
            </a:r>
            <a:endParaRPr lang="en-US" sz="1500" dirty="0"/>
          </a:p>
        </p:txBody>
      </p:sp>
      <p:sp>
        <p:nvSpPr>
          <p:cNvPr id="33" name="Text 26"/>
          <p:cNvSpPr txBox="1"/>
          <p:nvPr/>
        </p:nvSpPr>
        <p:spPr>
          <a:xfrm>
            <a:off x="749808"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En el año 2, solo si cada punto de venta ya gana dinero por sí solo</a:t>
            </a:r>
            <a:endParaRPr lang="en-US" sz="1200" dirty="0"/>
          </a:p>
        </p:txBody>
      </p:sp>
      <p:sp>
        <p:nvSpPr>
          <p:cNvPr id="34" name="Shape 27"/>
          <p:cNvSpPr/>
          <p:nvPr/>
        </p:nvSpPr>
        <p:spPr>
          <a:xfrm>
            <a:off x="3355848"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8"/>
          <p:cNvSpPr/>
          <p:nvPr/>
        </p:nvSpPr>
        <p:spPr>
          <a:xfrm>
            <a:off x="3557016" y="3904488"/>
            <a:ext cx="566928" cy="566928"/>
          </a:xfrm>
          <a:prstGeom prst="ellipse">
            <a:avLst/>
          </a:prstGeom>
          <a:solidFill>
            <a:schemeClr val="accent1"/>
          </a:solidFill>
          <a:ln w="12700">
            <a:solidFill>
              <a:schemeClr val="accent1"/>
            </a:solidFill>
            <a:prstDash val="solid"/>
          </a:ln>
        </p:spPr>
      </p:sp>
      <p:pic>
        <p:nvPicPr>
          <p:cNvPr id="36" name="Image 5" descr="preencoded.png">    </p:cNvPr>
          <p:cNvPicPr>
            <a:picLocks noChangeAspect="1"/>
          </p:cNvPicPr>
          <p:nvPr/>
        </p:nvPicPr>
        <p:blipFill>
          <a:blip r:embed="rId6"/>
          <a:stretch>
            <a:fillRect/>
          </a:stretch>
        </p:blipFill>
        <p:spPr>
          <a:xfrm>
            <a:off x="3681740" y="4029212"/>
            <a:ext cx="317480" cy="317480"/>
          </a:xfrm>
          <a:prstGeom prst="rect">
            <a:avLst/>
          </a:prstGeom>
        </p:spPr>
      </p:pic>
      <p:sp>
        <p:nvSpPr>
          <p:cNvPr id="37" name="Text 29"/>
          <p:cNvSpPr txBox="1"/>
          <p:nvPr/>
        </p:nvSpPr>
        <p:spPr>
          <a:xfrm>
            <a:off x="4251960"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8" name="Text 30"/>
          <p:cNvSpPr txBox="1"/>
          <p:nvPr/>
        </p:nvSpPr>
        <p:spPr>
          <a:xfrm>
            <a:off x="3557016"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Pago variable a vendedores</a:t>
            </a:r>
            <a:endParaRPr lang="en-US" sz="1500" dirty="0"/>
          </a:p>
        </p:txBody>
      </p:sp>
      <p:sp>
        <p:nvSpPr>
          <p:cNvPr id="39" name="Text 31"/>
          <p:cNvSpPr txBox="1"/>
          <p:nvPr/>
        </p:nvSpPr>
        <p:spPr>
          <a:xfrm>
            <a:off x="3557016"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S/60 por día + S/0.30 por brownie vendido: gana más quien vende más</a:t>
            </a:r>
            <a:endParaRPr lang="en-US" sz="1200" dirty="0"/>
          </a:p>
        </p:txBody>
      </p:sp>
      <p:sp>
        <p:nvSpPr>
          <p:cNvPr id="40" name="Shape 32"/>
          <p:cNvSpPr/>
          <p:nvPr/>
        </p:nvSpPr>
        <p:spPr>
          <a:xfrm>
            <a:off x="6163056"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1" name="Shape 33"/>
          <p:cNvSpPr/>
          <p:nvPr/>
        </p:nvSpPr>
        <p:spPr>
          <a:xfrm>
            <a:off x="6364224" y="3904488"/>
            <a:ext cx="566928" cy="566928"/>
          </a:xfrm>
          <a:prstGeom prst="ellipse">
            <a:avLst/>
          </a:prstGeom>
          <a:solidFill>
            <a:schemeClr val="accent1"/>
          </a:solidFill>
          <a:ln w="12700">
            <a:solidFill>
              <a:schemeClr val="accent1"/>
            </a:solidFill>
            <a:prstDash val="solid"/>
          </a:ln>
        </p:spPr>
      </p:sp>
      <p:pic>
        <p:nvPicPr>
          <p:cNvPr id="42" name="Image 6" descr="preencoded.png">    </p:cNvPr>
          <p:cNvPicPr>
            <a:picLocks noChangeAspect="1"/>
          </p:cNvPicPr>
          <p:nvPr/>
        </p:nvPicPr>
        <p:blipFill>
          <a:blip r:embed="rId7"/>
          <a:stretch>
            <a:fillRect/>
          </a:stretch>
        </p:blipFill>
        <p:spPr>
          <a:xfrm>
            <a:off x="6488948" y="4029212"/>
            <a:ext cx="317480" cy="317480"/>
          </a:xfrm>
          <a:prstGeom prst="rect">
            <a:avLst/>
          </a:prstGeom>
        </p:spPr>
      </p:pic>
      <p:sp>
        <p:nvSpPr>
          <p:cNvPr id="43" name="Text 34"/>
          <p:cNvSpPr txBox="1"/>
          <p:nvPr/>
        </p:nvSpPr>
        <p:spPr>
          <a:xfrm>
            <a:off x="7059168"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44" name="Text 35"/>
          <p:cNvSpPr txBox="1"/>
          <p:nvPr/>
        </p:nvSpPr>
        <p:spPr>
          <a:xfrm>
            <a:off x="6364224"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Repetir una feria pagada</a:t>
            </a:r>
            <a:endParaRPr lang="en-US" sz="1500" dirty="0"/>
          </a:p>
        </p:txBody>
      </p:sp>
      <p:sp>
        <p:nvSpPr>
          <p:cNvPr id="45" name="Text 36"/>
          <p:cNvSpPr txBox="1"/>
          <p:nvPr/>
        </p:nvSpPr>
        <p:spPr>
          <a:xfrm>
            <a:off x="6364224"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Solo si dejó 50 contactos de WhatsApp y cumplió 3 de los 4 criterios</a:t>
            </a:r>
            <a:endParaRPr lang="en-US" sz="1200" dirty="0"/>
          </a:p>
        </p:txBody>
      </p:sp>
      <p:sp>
        <p:nvSpPr>
          <p:cNvPr id="46" name="Shape 37"/>
          <p:cNvSpPr/>
          <p:nvPr/>
        </p:nvSpPr>
        <p:spPr>
          <a:xfrm>
            <a:off x="8970264"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8"/>
          <p:cNvSpPr/>
          <p:nvPr/>
        </p:nvSpPr>
        <p:spPr>
          <a:xfrm>
            <a:off x="9171432" y="3904488"/>
            <a:ext cx="566928" cy="566928"/>
          </a:xfrm>
          <a:prstGeom prst="ellipse">
            <a:avLst/>
          </a:prstGeom>
          <a:solidFill>
            <a:schemeClr val="accent1"/>
          </a:solidFill>
          <a:ln w="12700">
            <a:solidFill>
              <a:schemeClr val="accent1"/>
            </a:solidFill>
            <a:prstDash val="solid"/>
          </a:ln>
        </p:spPr>
      </p:sp>
      <p:pic>
        <p:nvPicPr>
          <p:cNvPr id="48" name="Image 7" descr="preencoded.png">    </p:cNvPr>
          <p:cNvPicPr>
            <a:picLocks noChangeAspect="1"/>
          </p:cNvPicPr>
          <p:nvPr/>
        </p:nvPicPr>
        <p:blipFill>
          <a:blip r:embed="rId8"/>
          <a:stretch>
            <a:fillRect/>
          </a:stretch>
        </p:blipFill>
        <p:spPr>
          <a:xfrm>
            <a:off x="9296156" y="4029212"/>
            <a:ext cx="317480" cy="317480"/>
          </a:xfrm>
          <a:prstGeom prst="rect">
            <a:avLst/>
          </a:prstGeom>
        </p:spPr>
      </p:pic>
      <p:sp>
        <p:nvSpPr>
          <p:cNvPr id="49" name="Text 39"/>
          <p:cNvSpPr txBox="1"/>
          <p:nvPr/>
        </p:nvSpPr>
        <p:spPr>
          <a:xfrm>
            <a:off x="9866376"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50" name="Text 40"/>
          <p:cNvSpPr txBox="1"/>
          <p:nvPr/>
        </p:nvSpPr>
        <p:spPr>
          <a:xfrm>
            <a:off x="9171432"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Línea de crédito</a:t>
            </a:r>
            <a:endParaRPr lang="en-US" sz="1500" dirty="0"/>
          </a:p>
        </p:txBody>
      </p:sp>
      <p:sp>
        <p:nvSpPr>
          <p:cNvPr id="51" name="Text 41"/>
          <p:cNvSpPr txBox="1"/>
          <p:nvPr/>
        </p:nvSpPr>
        <p:spPr>
          <a:xfrm>
            <a:off x="9171432"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Se usa solo si la caja baja de S/1,000; se devuelve con la venta de los meses fuertes</a:t>
            </a:r>
            <a:endParaRPr lang="en-US" sz="1200" dirty="0"/>
          </a:p>
        </p:txBody>
      </p:sp>
      <p:sp>
        <p:nvSpPr>
          <p:cNvPr id="52" name="Shape 42"/>
          <p:cNvSpPr/>
          <p:nvPr/>
        </p:nvSpPr>
        <p:spPr>
          <a:xfrm>
            <a:off x="548640" y="5870448"/>
            <a:ext cx="11091672" cy="438912"/>
          </a:xfrm>
          <a:prstGeom prst="roundRect">
            <a:avLst>
              <a:gd name="adj" fmla="val 50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3"/>
          <p:cNvSpPr txBox="1"/>
          <p:nvPr/>
        </p:nvSpPr>
        <p:spPr>
          <a:xfrm>
            <a:off x="777240" y="5870448"/>
            <a:ext cx="10698480" cy="438912"/>
          </a:xfrm>
          <a:prstGeom prst="rect">
            <a:avLst/>
          </a:prstGeom>
          <a:noFill/>
          <a:ln/>
        </p:spPr>
        <p:txBody>
          <a:bodyPr wrap="square" lIns="0" tIns="0" rIns="0" bIns="0" rtlCol="0" anchor="ctr"/>
          <a:lstStyle/>
          <a:p>
            <a:pPr indent="0" marL="0">
              <a:buNone/>
            </a:pPr>
            <a:r>
              <a:rPr lang="en-US" sz="1250" b="1" dirty="0">
                <a:solidFill>
                  <a:schemeClr val="accent3"/>
                </a:solidFill>
              </a:rPr>
              <a:t>Criterios de una feria pagada: </a:t>
            </a:r>
            <a:pPr indent="0" marL="0">
              <a:buNone/>
            </a:pPr>
            <a:r>
              <a:rPr lang="en-US" sz="1250" dirty="0">
                <a:solidFill>
                  <a:schemeClr val="bg1"/>
                </a:solidFill>
              </a:rPr>
              <a:t>padres con hijos de 4 a 11 · buscan comida saludable · temporada escolar · en Lima Top o Moderna</a:t>
            </a:r>
            <a:endParaRPr lang="en-US" sz="12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ferias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2026-10-10T18:49:29Z</dcterms:created>
  <dcterms:modified xsi:type="dcterms:W3CDTF">2026-10-10T18:49:29Z</dcterms:modified>
</cp:coreProperties>
</file>