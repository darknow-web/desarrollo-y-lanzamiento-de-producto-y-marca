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7.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0.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58c28603-5c79-6be5-f038-702f44f413f7}">
          <p14:sldIdLst>
            <p14:sldId id="256"/>
            <p14:sldId id="257"/>
          </p14:sldIdLst>
        </p14:section>
        <p14:section name="TC5 · Cliente, mercado y canal" id="{356e8dd0-1b33-37c3-5477-9f45dd74eb1d}">
          <p14:sldIdLst>
            <p14:sldId id="258"/>
            <p14:sldId id="259"/>
            <p14:sldId id="260"/>
            <p14:sldId id="261"/>
            <p14:sldId id="262"/>
            <p14:sldId id="263"/>
            <p14:sldId id="264"/>
            <p14:sldId id="265"/>
            <p14:sldId id="266"/>
          </p14:sldIdLst>
        </p14:section>
        <p14:section name="TC6 · Relación e ingresos" id="{418e365e-0b4e-0326-c863-85ab513c4554}">
          <p14:sldIdLst>
            <p14:sldId id="267"/>
            <p14:sldId id="268"/>
            <p14:sldId id="269"/>
            <p14:sldId id="270"/>
            <p14:sldId id="271"/>
          </p14:sldIdLst>
        </p14:section>
        <p14:section name="TC7 · Canvas" id="{8486f2dc-92b0-aba6-aad4-87250ac1362d}">
          <p14:sldIdLst>
            <p14:sldId id="272"/>
            <p14:sldId id="273"/>
            <p14:sldId id="274"/>
            <p14:sldId id="275"/>
            <p14:sldId id="276"/>
            <p14:sldId id="277"/>
            <p14:sldId id="278"/>
            <p14:sldId id="279"/>
          </p14:sldIdLst>
        </p14:section>
        <p14:section name="TC8 · Propuesta de valor" id="{95010878-a3db-5d3a-f54a-aff0b76f1436}">
          <p14:sldIdLst>
            <p14:sldId id="280"/>
            <p14:sldId id="281"/>
            <p14:sldId id="282"/>
            <p14:sldId id="283"/>
          </p14:sldIdLst>
        </p14:section>
        <p14:section name="Cierre" id="{f9de01f9-fae2-4a58-20bf-455b7dc5f262}">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Unidades del año 1 por canal</a:t>
            </a:r>
          </a:p>
        </c:rich>
      </c:tx>
      <c:layout/>
      <c:overlay val="0"/>
    </c:title>
    <c:autoTitleDeleted val="0"/>
    <c:plotArea>
      <c:layout/>
      <c:doughnutChart>
        <c:varyColors val="1"/>
        <c:ser>
          <c:idx val="0"/>
          <c:order val="0"/>
          <c:tx>
            <c:strRef>
              <c:f>Sheet1!$B$1</c:f>
              <c:strCache>
                <c:ptCount val="1"/>
                <c:pt idx="0">
                  <c:v>Unidades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Pt>
            <c:idx val="3"/>
            <c:bubble3D val="0"/>
            <c:spPr>
              <a:solidFill>
                <a:srgbClr val="7C8A3A"/>
              </a:solidFill>
              <a:effectLst/>
            </c:spPr>
          </c:dPt>
          <c:dPt>
            <c:idx val="4"/>
            <c:bubble3D val="0"/>
            <c:spPr>
              <a:solidFill>
                <a:srgbClr val="D9B48F"/>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Stands y carritos</c:v>
                </c:pt>
                <c:pt idx="1">
                  <c:v>WhatsApp (recompra)</c:v>
                </c:pt>
                <c:pt idx="2">
                  <c:v>Ferias y eventos</c:v>
                </c:pt>
                <c:pt idx="3">
                  <c:v>Quioscos escolares</c:v>
                </c:pt>
                <c:pt idx="4">
                  <c:v>Tiendas naturistas</c:v>
                </c:pt>
              </c:strCache>
            </c:strRef>
          </c:cat>
          <c:val>
            <c:numRef>
              <c:f>Sheet1!$B$2:$B$6</c:f>
              <c:numCache>
                <c:ptCount val="5"/>
                <c:pt idx="0">
                  <c:v>19565</c:v>
                </c:pt>
                <c:pt idx="1">
                  <c:v>8773</c:v>
                </c:pt>
                <c:pt idx="2">
                  <c:v>8100</c:v>
                </c:pt>
                <c:pt idx="3">
                  <c:v>7065</c:v>
                </c:pt>
                <c:pt idx="4">
                  <c:v>3720</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vendidos al mes por canal (nov-2026 a oct-2027)</a:t>
            </a:r>
          </a:p>
        </c:rich>
      </c:tx>
      <c:layout/>
      <c:overlay val="0"/>
    </c:title>
    <c:autoTitleDeleted val="0"/>
    <c:plotArea>
      <c:layout/>
      <c:barChart>
        <c:barDir val="col"/>
        <c:grouping val="stacked"/>
        <c:varyColors val="0"/>
        <c:ser>
          <c:idx val="0"/>
          <c:order val="0"/>
          <c:tx>
            <c:strRef>
              <c:f>Sheet1!$B$1</c:f>
              <c:strCache>
                <c:ptCount val="1"/>
                <c:pt idx="0">
                  <c:v>Stands y carritos</c:v>
                </c:pt>
              </c:strCache>
            </c:strRef>
          </c:tx>
          <c:spPr>
            <a:solidFill>
              <a:srgbClr val="BA4036"/>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Nov</c:v>
                  </c:pt>
                  <c:pt idx="1">
                    <c:v>Dic</c:v>
                  </c:pt>
                  <c:pt idx="2">
                    <c:v>Ene</c:v>
                  </c:pt>
                  <c:pt idx="3">
                    <c:v>Feb</c:v>
                  </c:pt>
                  <c:pt idx="4">
                    <c:v>Mar</c:v>
                  </c:pt>
                  <c:pt idx="5">
                    <c:v>Abr</c:v>
                  </c:pt>
                  <c:pt idx="6">
                    <c:v>May</c:v>
                  </c:pt>
                  <c:pt idx="7">
                    <c:v>Jun</c:v>
                  </c:pt>
                  <c:pt idx="8">
                    <c:v>Jul</c:v>
                  </c:pt>
                  <c:pt idx="9">
                    <c:v>Ago</c:v>
                  </c:pt>
                  <c:pt idx="10">
                    <c:v>Set</c:v>
                  </c:pt>
                  <c:pt idx="11">
                    <c:v>Oct</c:v>
                  </c:pt>
                </c:lvl>
              </c:multiLvlStrCache>
            </c:multiLvlStrRef>
          </c:cat>
          <c:val>
            <c:numRef>
              <c:f>Sheet1!$B$2:$B$13</c:f>
              <c:numCache>
                <c:formatCode>General</c:formatCode>
                <c:ptCount val="12"/>
                <c:pt idx="0">
                  <c:v>450</c:v>
                </c:pt>
                <c:pt idx="1">
                  <c:v>2160</c:v>
                </c:pt>
                <c:pt idx="2">
                  <c:v>450</c:v>
                </c:pt>
                <c:pt idx="3">
                  <c:v>1440</c:v>
                </c:pt>
                <c:pt idx="4">
                  <c:v>1800</c:v>
                </c:pt>
                <c:pt idx="5">
                  <c:v>1440</c:v>
                </c:pt>
                <c:pt idx="6">
                  <c:v>1530</c:v>
                </c:pt>
                <c:pt idx="7">
                  <c:v>1440</c:v>
                </c:pt>
                <c:pt idx="8">
                  <c:v>1700</c:v>
                </c:pt>
                <c:pt idx="9">
                  <c:v>2295</c:v>
                </c:pt>
                <c:pt idx="10">
                  <c:v>2430</c:v>
                </c:pt>
                <c:pt idx="11">
                  <c:v>2430</c:v>
                </c:pt>
              </c:numCache>
            </c:numRef>
          </c:val>
        </c:ser>
        <c:ser>
          <c:idx val="1"/>
          <c:order val="1"/>
          <c:tx>
            <c:strRef>
              <c:f>Sheet1!$C$1</c:f>
              <c:strCache>
                <c:ptCount val="1"/>
                <c:pt idx="0">
                  <c:v>Ferias y eventos</c:v>
                </c:pt>
              </c:strCache>
            </c:strRef>
          </c:tx>
          <c:spPr>
            <a:solidFill>
              <a:srgbClr val="E3A33B"/>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Nov</c:v>
                  </c:pt>
                  <c:pt idx="1">
                    <c:v>Dic</c:v>
                  </c:pt>
                  <c:pt idx="2">
                    <c:v>Ene</c:v>
                  </c:pt>
                  <c:pt idx="3">
                    <c:v>Feb</c:v>
                  </c:pt>
                  <c:pt idx="4">
                    <c:v>Mar</c:v>
                  </c:pt>
                  <c:pt idx="5">
                    <c:v>Abr</c:v>
                  </c:pt>
                  <c:pt idx="6">
                    <c:v>May</c:v>
                  </c:pt>
                  <c:pt idx="7">
                    <c:v>Jun</c:v>
                  </c:pt>
                  <c:pt idx="8">
                    <c:v>Jul</c:v>
                  </c:pt>
                  <c:pt idx="9">
                    <c:v>Ago</c:v>
                  </c:pt>
                  <c:pt idx="10">
                    <c:v>Set</c:v>
                  </c:pt>
                  <c:pt idx="11">
                    <c:v>Oct</c:v>
                  </c:pt>
                </c:lvl>
              </c:multiLvlStrCache>
            </c:multiLvlStrRef>
          </c:cat>
          <c:val>
            <c:numRef>
              <c:f>Sheet1!$C$2:$C$13</c:f>
              <c:numCache>
                <c:formatCode>General</c:formatCode>
                <c:ptCount val="12"/>
                <c:pt idx="0">
                  <c:v>450</c:v>
                </c:pt>
                <c:pt idx="1">
                  <c:v>1700</c:v>
                </c:pt>
                <c:pt idx="2">
                  <c:v>150</c:v>
                </c:pt>
                <c:pt idx="3">
                  <c:v>1000</c:v>
                </c:pt>
                <c:pt idx="4">
                  <c:v>600</c:v>
                </c:pt>
                <c:pt idx="5">
                  <c:v>600</c:v>
                </c:pt>
                <c:pt idx="6">
                  <c:v>750</c:v>
                </c:pt>
                <c:pt idx="7">
                  <c:v>600</c:v>
                </c:pt>
                <c:pt idx="8">
                  <c:v>450</c:v>
                </c:pt>
                <c:pt idx="9">
                  <c:v>600</c:v>
                </c:pt>
                <c:pt idx="10">
                  <c:v>600</c:v>
                </c:pt>
                <c:pt idx="11">
                  <c:v>600</c:v>
                </c:pt>
              </c:numCache>
            </c:numRef>
          </c:val>
        </c:ser>
        <c:ser>
          <c:idx val="2"/>
          <c:order val="2"/>
          <c:tx>
            <c:strRef>
              <c:f>Sheet1!$D$1</c:f>
              <c:strCache>
                <c:ptCount val="1"/>
                <c:pt idx="0">
                  <c:v>WhatsApp</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Nov</c:v>
                  </c:pt>
                  <c:pt idx="1">
                    <c:v>Dic</c:v>
                  </c:pt>
                  <c:pt idx="2">
                    <c:v>Ene</c:v>
                  </c:pt>
                  <c:pt idx="3">
                    <c:v>Feb</c:v>
                  </c:pt>
                  <c:pt idx="4">
                    <c:v>Mar</c:v>
                  </c:pt>
                  <c:pt idx="5">
                    <c:v>Abr</c:v>
                  </c:pt>
                  <c:pt idx="6">
                    <c:v>May</c:v>
                  </c:pt>
                  <c:pt idx="7">
                    <c:v>Jun</c:v>
                  </c:pt>
                  <c:pt idx="8">
                    <c:v>Jul</c:v>
                  </c:pt>
                  <c:pt idx="9">
                    <c:v>Ago</c:v>
                  </c:pt>
                  <c:pt idx="10">
                    <c:v>Set</c:v>
                  </c:pt>
                  <c:pt idx="11">
                    <c:v>Oct</c:v>
                  </c:pt>
                </c:lvl>
              </c:multiLvlStrCache>
            </c:multiLvlStrRef>
          </c:cat>
          <c:val>
            <c:numRef>
              <c:f>Sheet1!$D$2:$D$13</c:f>
              <c:numCache>
                <c:formatCode>General</c:formatCode>
                <c:ptCount val="12"/>
                <c:pt idx="0">
                  <c:v>150</c:v>
                </c:pt>
                <c:pt idx="1">
                  <c:v>315</c:v>
                </c:pt>
                <c:pt idx="2">
                  <c:v>1351</c:v>
                </c:pt>
                <c:pt idx="3">
                  <c:v>210</c:v>
                </c:pt>
                <c:pt idx="4">
                  <c:v>854</c:v>
                </c:pt>
                <c:pt idx="5">
                  <c:v>840</c:v>
                </c:pt>
                <c:pt idx="6">
                  <c:v>714</c:v>
                </c:pt>
                <c:pt idx="7">
                  <c:v>798</c:v>
                </c:pt>
                <c:pt idx="8">
                  <c:v>714</c:v>
                </c:pt>
                <c:pt idx="9">
                  <c:v>753</c:v>
                </c:pt>
                <c:pt idx="10">
                  <c:v>1013</c:v>
                </c:pt>
                <c:pt idx="11">
                  <c:v>1061</c:v>
                </c:pt>
              </c:numCache>
            </c:numRef>
          </c:val>
        </c:ser>
        <c:ser>
          <c:idx val="3"/>
          <c:order val="3"/>
          <c:tx>
            <c:strRef>
              <c:f>Sheet1!$E$1</c:f>
              <c:strCache>
                <c:ptCount val="1"/>
                <c:pt idx="0">
                  <c:v>Colegios y naturistas</c:v>
                </c:pt>
              </c:strCache>
            </c:strRef>
          </c:tx>
          <c:spPr>
            <a:solidFill>
              <a:srgbClr val="7C8A3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Nov</c:v>
                  </c:pt>
                  <c:pt idx="1">
                    <c:v>Dic</c:v>
                  </c:pt>
                  <c:pt idx="2">
                    <c:v>Ene</c:v>
                  </c:pt>
                  <c:pt idx="3">
                    <c:v>Feb</c:v>
                  </c:pt>
                  <c:pt idx="4">
                    <c:v>Mar</c:v>
                  </c:pt>
                  <c:pt idx="5">
                    <c:v>Abr</c:v>
                  </c:pt>
                  <c:pt idx="6">
                    <c:v>May</c:v>
                  </c:pt>
                  <c:pt idx="7">
                    <c:v>Jun</c:v>
                  </c:pt>
                  <c:pt idx="8">
                    <c:v>Jul</c:v>
                  </c:pt>
                  <c:pt idx="9">
                    <c:v>Ago</c:v>
                  </c:pt>
                  <c:pt idx="10">
                    <c:v>Set</c:v>
                  </c:pt>
                  <c:pt idx="11">
                    <c:v>Oct</c:v>
                  </c:pt>
                </c:lvl>
              </c:multiLvlStrCache>
            </c:multiLvlStrRef>
          </c:cat>
          <c:val>
            <c:numRef>
              <c:f>Sheet1!$E$2:$E$13</c:f>
              <c:numCache>
                <c:formatCode>General</c:formatCode>
                <c:ptCount val="12"/>
                <c:pt idx="0">
                  <c:v>120</c:v>
                </c:pt>
                <c:pt idx="1">
                  <c:v>180</c:v>
                </c:pt>
                <c:pt idx="2">
                  <c:v>180</c:v>
                </c:pt>
                <c:pt idx="3">
                  <c:v>240</c:v>
                </c:pt>
                <c:pt idx="4">
                  <c:v>600</c:v>
                </c:pt>
                <c:pt idx="5">
                  <c:v>900</c:v>
                </c:pt>
                <c:pt idx="6">
                  <c:v>1125</c:v>
                </c:pt>
                <c:pt idx="7">
                  <c:v>1260</c:v>
                </c:pt>
                <c:pt idx="8">
                  <c:v>960</c:v>
                </c:pt>
                <c:pt idx="9">
                  <c:v>1620</c:v>
                </c:pt>
                <c:pt idx="10">
                  <c:v>1620</c:v>
                </c:pt>
                <c:pt idx="11">
                  <c:v>1980</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Ingresos por presentación</a:t>
            </a:r>
          </a:p>
        </c:rich>
      </c:tx>
      <c:layout/>
      <c:overlay val="0"/>
    </c:title>
    <c:autoTitleDeleted val="0"/>
    <c:plotArea>
      <c:layout/>
      <c:doughnutChart>
        <c:varyColors val="1"/>
        <c:ser>
          <c:idx val="0"/>
          <c:order val="0"/>
          <c:tx>
            <c:strRef>
              <c:f>Sheet1!$B$1</c:f>
              <c:strCache>
                <c:ptCount val="1"/>
                <c:pt idx="0">
                  <c:v>Ingreso</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Unidad</c:v>
                </c:pt>
                <c:pt idx="1">
                  <c:v>Pack de 6</c:v>
                </c:pt>
                <c:pt idx="2">
                  <c:v>Pack de 12</c:v>
                </c:pt>
              </c:strCache>
            </c:strRef>
          </c:cat>
          <c:val>
            <c:numRef>
              <c:f>Sheet1!$B$2:$B$4</c:f>
              <c:numCache>
                <c:ptCount val="3"/>
                <c:pt idx="0">
                  <c:v>111749</c:v>
                </c:pt>
                <c:pt idx="1">
                  <c:v>72799</c:v>
                </c:pt>
                <c:pt idx="2">
                  <c:v>14199</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Ventas mensuales con IGV (noviembre 2026 a octubre 2027)</a:t>
            </a:r>
          </a:p>
        </c:rich>
      </c:tx>
      <c:layout/>
      <c:overlay val="0"/>
    </c:title>
    <c:autoTitleDeleted val="0"/>
    <c:plotArea>
      <c:layout/>
      <c:barChart>
        <c:barDir val="col"/>
        <c:grouping val="clustered"/>
        <c:varyColors val="0"/>
        <c:ser>
          <c:idx val="0"/>
          <c:order val="0"/>
          <c:tx>
            <c:strRef>
              <c:f>Sheet1!$B$1</c:f>
              <c:strCache>
                <c:ptCount val="1"/>
                <c:pt idx="0">
                  <c:v>Ventas con IGV</c:v>
                </c:pt>
              </c:strCache>
            </c:strRef>
          </c:tx>
          <c:spPr>
            <a:solidFill>
              <a:srgbClr val="6B3A2A"/>
            </a:solidFill>
            <a:effectLst/>
          </c:spPr>
          <c:invertIfNegative val="0"/>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cat>
            <c:multiLvlStrRef>
              <c:f>Sheet1!$A$2:$A$13</c:f>
              <c:multiLvlStrCache>
                <c:ptCount val="12"/>
                <c:lvl>
                  <c:pt idx="0">
                    <c:v>Nov</c:v>
                  </c:pt>
                  <c:pt idx="1">
                    <c:v>Dic</c:v>
                  </c:pt>
                  <c:pt idx="2">
                    <c:v>Ene</c:v>
                  </c:pt>
                  <c:pt idx="3">
                    <c:v>Feb</c:v>
                  </c:pt>
                  <c:pt idx="4">
                    <c:v>Mar</c:v>
                  </c:pt>
                  <c:pt idx="5">
                    <c:v>Abr</c:v>
                  </c:pt>
                  <c:pt idx="6">
                    <c:v>May</c:v>
                  </c:pt>
                  <c:pt idx="7">
                    <c:v>Jun</c:v>
                  </c:pt>
                  <c:pt idx="8">
                    <c:v>Jul</c:v>
                  </c:pt>
                  <c:pt idx="9">
                    <c:v>Ago</c:v>
                  </c:pt>
                  <c:pt idx="10">
                    <c:v>Set</c:v>
                  </c:pt>
                  <c:pt idx="11">
                    <c:v>Oct</c:v>
                  </c:pt>
                </c:lvl>
              </c:multiLvlStrCache>
            </c:multiLvlStrRef>
          </c:cat>
          <c:val>
            <c:numRef>
              <c:f>Sheet1!$B$2:$B$13</c:f>
              <c:numCache>
                <c:formatCode>General</c:formatCode>
                <c:ptCount val="12"/>
                <c:pt idx="0">
                  <c:v>5239</c:v>
                </c:pt>
                <c:pt idx="1">
                  <c:v>20148</c:v>
                </c:pt>
                <c:pt idx="2">
                  <c:v>8851</c:v>
                </c:pt>
                <c:pt idx="3">
                  <c:v>13139</c:v>
                </c:pt>
                <c:pt idx="4">
                  <c:v>16606</c:v>
                </c:pt>
                <c:pt idx="5">
                  <c:v>15752</c:v>
                </c:pt>
                <c:pt idx="6">
                  <c:v>17053</c:v>
                </c:pt>
                <c:pt idx="7">
                  <c:v>16654</c:v>
                </c:pt>
                <c:pt idx="8">
                  <c:v>15919</c:v>
                </c:pt>
                <c:pt idx="9">
                  <c:v>21578</c:v>
                </c:pt>
                <c:pt idx="10">
                  <c:v>23271</c:v>
                </c:pt>
                <c:pt idx="11">
                  <c:v>24539</c:v>
                </c:pt>
              </c:numCache>
            </c:numRef>
          </c:val>
        </c:ser>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Costo de producción del pack de 6 (S/ sin IGV)</a:t>
            </a:r>
          </a:p>
        </c:rich>
      </c:tx>
      <c:layout/>
      <c:overlay val="0"/>
    </c:title>
    <c:autoTitleDeleted val="0"/>
    <c:plotArea>
      <c:layout/>
      <c:barChart>
        <c:barDir val="bar"/>
        <c:grouping val="clustered"/>
        <c:varyColors val="0"/>
        <c:ser>
          <c:idx val="0"/>
          <c:order val="0"/>
          <c:tx>
            <c:strRef>
              <c:f>Sheet1!$B$1</c:f>
              <c:strCache>
                <c:ptCount val="1"/>
                <c:pt idx="0">
                  <c:v>S/ por pack</c:v>
                </c:pt>
              </c:strCache>
            </c:strRef>
          </c:tx>
          <c:spPr>
            <a:solidFill>
              <a:srgbClr val="6B3A2A"/>
            </a:solidFill>
            <a:effectLst/>
          </c:spPr>
          <c:invertIfNegative val="0"/>
          <c:dLbls>
            <c:numFmt formatCode="&quot;S/&quot;0.00" sourceLinked="0"/>
            <c:txPr>
              <a:bodyPr/>
              <a:lstStyle/>
              <a:p>
                <a:pPr>
                  <a:defRPr b="0" i="0" strike="noStrike" sz="1300" u="none">
                    <a:solidFill>
                      <a:srgbClr val="3B1A14"/>
                    </a:solidFill>
                    <a:latin typeface="+mn-lt"/>
                  </a:defRPr>
                </a:pPr>
              </a:p>
            </c:txPr>
            <c:showLegendKey val="0"/>
            <c:showVal val="1"/>
            <c:showCatName val="0"/>
            <c:showSerName val="0"/>
            <c:showPercent val="0"/>
            <c:showBubbleSize val="0"/>
            <c:showLeaderLines val="0"/>
          </c:dLbls>
          <c:cat>
            <c:multiLvlStrRef>
              <c:f>Sheet1!$A$2:$A$6</c:f>
              <c:multiLvlStrCache>
                <c:ptCount val="5"/>
                <c:lvl>
                  <c:pt idx="0">
                    <c:v>Merma</c:v>
                  </c:pt>
                  <c:pt idx="1">
                    <c:v>Calidad, transporte y almacén</c:v>
                  </c:pt>
                  <c:pt idx="2">
                    <c:v>Empaque y etiquetas</c:v>
                  </c:pt>
                  <c:pt idx="3">
                    <c:v>Maquila</c:v>
                  </c:pt>
                  <c:pt idx="4">
                    <c:v>Insumos</c:v>
                  </c:pt>
                </c:lvl>
              </c:multiLvlStrCache>
            </c:multiLvlStrRef>
          </c:cat>
          <c:val>
            <c:numRef>
              <c:f>Sheet1!$B$2:$B$6</c:f>
              <c:numCache>
                <c:formatCode>General</c:formatCode>
                <c:ptCount val="5"/>
                <c:pt idx="0">
                  <c:v>0.42</c:v>
                </c:pt>
                <c:pt idx="1">
                  <c:v>1.06</c:v>
                </c:pt>
                <c:pt idx="2">
                  <c:v>1.79</c:v>
                </c:pt>
                <c:pt idx="3">
                  <c:v>3</c:v>
                </c:pt>
                <c:pt idx="4">
                  <c:v>3.63</c:v>
                </c:pt>
              </c:numCache>
            </c:numRef>
          </c:val>
        </c:ser>
        <c:dLbls>
          <c:numFmt formatCode="&quot;S/&quot;0.00" sourceLinked="0"/>
          <c:txPr>
            <a:bodyPr/>
            <a:lstStyle/>
            <a:p>
              <a:pPr>
                <a:defRPr b="0" i="0" strike="noStrike" sz="1300" u="none">
                  <a:solidFill>
                    <a:srgbClr val="3B1A1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A dónde va el precio</a:t>
            </a:r>
          </a:p>
        </c:rich>
      </c:tx>
      <c:layout/>
      <c:overlay val="0"/>
    </c:title>
    <c:autoTitleDeleted val="0"/>
    <c:plotArea>
      <c:layout/>
      <c:barChart>
        <c:barDir val="col"/>
        <c:grouping val="stacked"/>
        <c:varyColors val="0"/>
        <c:ser>
          <c:idx val="0"/>
          <c:order val="0"/>
          <c:tx>
            <c:strRef>
              <c:f>Sheet1!$B$1</c:f>
              <c:strCache>
                <c:ptCount val="1"/>
                <c:pt idx="0">
                  <c:v>Producción</c:v>
                </c:pt>
              </c:strCache>
            </c:strRef>
          </c:tx>
          <c:spPr>
            <a:solidFill>
              <a:srgbClr val="6B3A2A"/>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Pack de 6 en stand</c:v>
                  </c:pt>
                </c:lvl>
              </c:multiLvlStrCache>
            </c:multiLvlStrRef>
          </c:cat>
          <c:val>
            <c:numRef>
              <c:f>Sheet1!$B$2:$B$2</c:f>
              <c:numCache>
                <c:formatCode>General</c:formatCode>
                <c:ptCount val="1"/>
                <c:pt idx="0">
                  <c:v>9.9</c:v>
                </c:pt>
              </c:numCache>
            </c:numRef>
          </c:val>
        </c:ser>
        <c:ser>
          <c:idx val="1"/>
          <c:order val="1"/>
          <c:tx>
            <c:strRef>
              <c:f>Sheet1!$C$1</c:f>
              <c:strCache>
                <c:ptCount val="1"/>
                <c:pt idx="0">
                  <c:v>Degustación, pasarela y renta</c:v>
                </c:pt>
              </c:strCache>
            </c:strRef>
          </c:tx>
          <c:spPr>
            <a:solidFill>
              <a:srgbClr val="D9B48F"/>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Pack de 6 en stand</c:v>
                  </c:pt>
                </c:lvl>
              </c:multiLvlStrCache>
            </c:multiLvlStrRef>
          </c:cat>
          <c:val>
            <c:numRef>
              <c:f>Sheet1!$C$2:$C$2</c:f>
              <c:numCache>
                <c:formatCode>General</c:formatCode>
                <c:ptCount val="1"/>
                <c:pt idx="0">
                  <c:v>2.62</c:v>
                </c:pt>
              </c:numCache>
            </c:numRef>
          </c:val>
        </c:ser>
        <c:ser>
          <c:idx val="2"/>
          <c:order val="2"/>
          <c:tx>
            <c:strRef>
              <c:f>Sheet1!$D$1</c:f>
              <c:strCache>
                <c:ptCount val="1"/>
                <c:pt idx="0">
                  <c:v>Contribución</c:v>
                </c:pt>
              </c:strCache>
            </c:strRef>
          </c:tx>
          <c:spPr>
            <a:solidFill>
              <a:srgbClr val="BA4036"/>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Pack de 6 en stand</c:v>
                  </c:pt>
                </c:lvl>
              </c:multiLvlStrCache>
            </c:multiLvlStrRef>
          </c:cat>
          <c:val>
            <c:numRef>
              <c:f>Sheet1!$D$2:$D$2</c:f>
              <c:numCache>
                <c:formatCode>General</c:formatCode>
                <c:ptCount val="1"/>
                <c:pt idx="0">
                  <c:v>9.51</c:v>
                </c:pt>
              </c:numCache>
            </c:numRef>
          </c:val>
        </c:ser>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Inversión inicial: S/40,644</a:t>
            </a:r>
          </a:p>
        </c:rich>
      </c:tx>
      <c:layout/>
      <c:overlay val="0"/>
    </c:title>
    <c:autoTitleDeleted val="0"/>
    <c:plotArea>
      <c:layout/>
      <c:doughnutChart>
        <c:varyColors val="1"/>
        <c:ser>
          <c:idx val="0"/>
          <c:order val="0"/>
          <c:tx>
            <c:strRef>
              <c:f>Sheet1!$B$1</c:f>
              <c:strCache>
                <c:ptCount val="1"/>
                <c:pt idx="0">
                  <c:v>Inversión</c:v>
                </c:pt>
              </c:strCache>
            </c:strRef>
          </c:tx>
          <c:spPr>
            <a:solidFill>
              <a:schemeClr val="accent1"/>
            </a:solidFill>
            <a:ln w="9525" cap="flat">
              <a:solidFill>
                <a:srgbClr val="F9F9F9"/>
              </a:solidFill>
              <a:prstDash val="solid"/>
              <a:round/>
            </a:ln>
            <a:effectLst/>
          </c:spPr>
          <c:dPt>
            <c:idx val="0"/>
            <c:bubble3D val="0"/>
            <c:spPr>
              <a:solidFill>
                <a:srgbClr val="6B3A2A"/>
              </a:solidFill>
              <a:effectLst/>
            </c:spPr>
          </c:dPt>
          <c:dPt>
            <c:idx val="1"/>
            <c:bubble3D val="0"/>
            <c:spPr>
              <a:solidFill>
                <a:srgbClr val="E3A33B"/>
              </a:solidFill>
              <a:effectLst/>
            </c:spPr>
          </c:dPt>
          <c:dPt>
            <c:idx val="2"/>
            <c:bubble3D val="0"/>
            <c:spPr>
              <a:solidFill>
                <a:srgbClr val="BA4036"/>
              </a:solidFill>
              <a:effectLst/>
            </c:spPr>
          </c:dPt>
          <c:dPt>
            <c:idx val="3"/>
            <c:bubble3D val="0"/>
            <c:spPr>
              <a:solidFill>
                <a:srgbClr val="7C8A3A"/>
              </a:solidFill>
              <a:effectLst/>
            </c:spPr>
          </c:dPt>
          <c:dPt>
            <c:idx val="4"/>
            <c:bubble3D val="0"/>
            <c:spPr>
              <a:solidFill>
                <a:srgbClr val="D9B48F"/>
              </a:solidFill>
              <a:effectLst/>
            </c:spPr>
          </c:dPt>
          <c:dPt>
            <c:idx val="5"/>
            <c:bubble3D val="0"/>
            <c:spPr>
              <a:solidFill>
                <a:srgbClr val="8A1C2B"/>
              </a:solidFill>
              <a:effectLst/>
            </c:spPr>
          </c:dPt>
          <c:dLbls>
            <c:dLbl>
              <c:idx val="0"/>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5"/>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Arranque</c:v>
                </c:pt>
                <c:pt idx="1">
                  <c:v>Equipos y 2 carritos</c:v>
                </c:pt>
                <c:pt idx="2">
                  <c:v>Documentos y permisos</c:v>
                </c:pt>
                <c:pt idx="3">
                  <c:v>Desarrollo del producto</c:v>
                </c:pt>
                <c:pt idx="4">
                  <c:v>Imprevistos</c:v>
                </c:pt>
                <c:pt idx="5">
                  <c:v>Marca</c:v>
                </c:pt>
              </c:strCache>
            </c:strRef>
          </c:cat>
          <c:val>
            <c:numRef>
              <c:f>Sheet1!$B$2:$B$7</c:f>
              <c:numCache>
                <c:ptCount val="6"/>
                <c:pt idx="0">
                  <c:v>18369</c:v>
                </c:pt>
                <c:pt idx="1">
                  <c:v>7338</c:v>
                </c:pt>
                <c:pt idx="2">
                  <c:v>6251</c:v>
                </c:pt>
                <c:pt idx="3">
                  <c:v>3741</c:v>
                </c:pt>
                <c:pt idx="4">
                  <c:v>3695</c:v>
                </c:pt>
                <c:pt idx="5">
                  <c:v>1250</c:v>
                </c:pt>
              </c:numCache>
            </c:numRef>
          </c:val>
        </c:ser>
        <c:firstSliceAng val="0"/>
        <c:holeSize val="50"/>
      </c:doughnutChart>
      <c:spPr>
        <a:noFill/>
        <a:ln>
          <a:noFill/>
        </a:ln>
        <a:effectLst/>
      </c:spPr>
    </c:plotArea>
    <c:legend>
      <c:legendPos val="b"/>
      <c:overlay val="0"/>
      <c:txPr>
        <a:bodyPr/>
        <a:lstStyle/>
        <a:p>
          <a:pPr>
            <a:defRPr sz="10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Costos de operar al mes (promedio): S/4,209</a:t>
            </a:r>
          </a:p>
        </c:rich>
      </c:tx>
      <c:layout/>
      <c:overlay val="0"/>
    </c:title>
    <c:autoTitleDeleted val="0"/>
    <c:plotArea>
      <c:layout/>
      <c:doughnutChart>
        <c:varyColors val="1"/>
        <c:ser>
          <c:idx val="0"/>
          <c:order val="0"/>
          <c:tx>
            <c:strRef>
              <c:f>Sheet1!$B$1</c:f>
              <c:strCache>
                <c:ptCount val="1"/>
                <c:pt idx="0">
                  <c:v>Costos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8A1C2B"/>
              </a:solidFill>
              <a:effectLst/>
            </c:spPr>
          </c:dPt>
          <c:dPt>
            <c:idx val="2"/>
            <c:bubble3D val="0"/>
            <c:spPr>
              <a:solidFill>
                <a:srgbClr val="6B3A2A"/>
              </a:solidFill>
              <a:effectLst/>
            </c:spPr>
          </c:dPt>
          <c:dPt>
            <c:idx val="3"/>
            <c:bubble3D val="0"/>
            <c:spPr>
              <a:solidFill>
                <a:srgbClr val="E3A33B"/>
              </a:solidFill>
              <a:effectLst/>
            </c:spPr>
          </c:dPt>
          <c:dPt>
            <c:idx val="4"/>
            <c:bubble3D val="0"/>
            <c:spPr>
              <a:solidFill>
                <a:srgbClr val="D9B48F"/>
              </a:solidFill>
              <a:effectLst/>
            </c:spPr>
          </c:dPt>
          <c:dPt>
            <c:idx val="5"/>
            <c:bubble3D val="0"/>
            <c:spPr>
              <a:solidFill>
                <a:srgbClr val="7C8A3A"/>
              </a:solidFill>
              <a:effectLst/>
            </c:spPr>
          </c:dPt>
          <c:dLbls>
            <c:dLbl>
              <c:idx val="0"/>
              <c:numFmt formatCode="&quot;S/&quot;#,##0" sourceLinked="0"/>
              <c:spPr/>
              <c:txPr>
                <a:bodyPr/>
                <a:lstStyle/>
                <a:p>
                  <a:pPr>
                    <a:defRPr sz="1100" b="1" i="0" u="none" strike="noStrike">
                      <a:solidFill>
                        <a:srgbClr val="FFFFFF"/>
                      </a:solidFill>
                      <a:latin typeface="+mn-lt"/>
                    </a:defRPr>
                  </a:pPr>
                </a:p>
              </c:txPr>
              <c:showLegendKey val="0"/>
              <c:showVal val="1"/>
              <c:showCatName val="0"/>
              <c:showSerName val="0"/>
              <c:showPercent val="0"/>
              <c:showBubbleSize val="0"/>
            </c:dLbl>
            <c:dLbl>
              <c:idx val="1"/>
              <c:numFmt formatCode="&quot;S/&quot;#,##0" sourceLinked="0"/>
              <c:spPr/>
              <c:txPr>
                <a:bodyPr/>
                <a:lstStyle/>
                <a:p>
                  <a:pPr>
                    <a:defRPr sz="1100" b="1" i="0" u="none" strike="noStrike">
                      <a:solidFill>
                        <a:srgbClr val="FFFFFF"/>
                      </a:solidFill>
                      <a:latin typeface="+mn-lt"/>
                    </a:defRPr>
                  </a:pPr>
                </a:p>
              </c:txPr>
              <c:showLegendKey val="0"/>
              <c:showVal val="1"/>
              <c:showCatName val="0"/>
              <c:showSerName val="0"/>
              <c:showPercent val="0"/>
              <c:showBubbleSize val="0"/>
            </c:dLbl>
            <c:dLbl>
              <c:idx val="2"/>
              <c:numFmt formatCode="&quot;S/&quot;#,##0" sourceLinked="0"/>
              <c:spPr/>
              <c:txPr>
                <a:bodyPr/>
                <a:lstStyle/>
                <a:p>
                  <a:pPr>
                    <a:defRPr sz="1100" b="1" i="0" u="none" strike="noStrike">
                      <a:solidFill>
                        <a:srgbClr val="FFFFFF"/>
                      </a:solidFill>
                      <a:latin typeface="+mn-lt"/>
                    </a:defRPr>
                  </a:pPr>
                </a:p>
              </c:txPr>
              <c:showLegendKey val="0"/>
              <c:showVal val="1"/>
              <c:showCatName val="0"/>
              <c:showSerName val="0"/>
              <c:showPercent val="0"/>
              <c:showBubbleSize val="0"/>
            </c:dLbl>
            <c:dLbl>
              <c:idx val="3"/>
              <c:numFmt formatCode="&quot;S/&quot;#,##0" sourceLinked="0"/>
              <c:spPr/>
              <c:txPr>
                <a:bodyPr/>
                <a:lstStyle/>
                <a:p>
                  <a:pPr>
                    <a:defRPr sz="1100" b="1" i="0" u="none" strike="noStrike">
                      <a:solidFill>
                        <a:srgbClr val="FFFFFF"/>
                      </a:solidFill>
                      <a:latin typeface="+mn-lt"/>
                    </a:defRPr>
                  </a:pPr>
                </a:p>
              </c:txPr>
              <c:showLegendKey val="0"/>
              <c:showVal val="1"/>
              <c:showCatName val="0"/>
              <c:showSerName val="0"/>
              <c:showPercent val="0"/>
              <c:showBubbleSize val="0"/>
            </c:dLbl>
            <c:dLbl>
              <c:idx val="4"/>
              <c:numFmt formatCode="&quot;S/&quot;#,##0" sourceLinked="0"/>
              <c:spPr/>
              <c:txPr>
                <a:bodyPr/>
                <a:lstStyle/>
                <a:p>
                  <a:pPr>
                    <a:defRPr sz="1100" b="1" i="0" u="none" strike="noStrike">
                      <a:solidFill>
                        <a:srgbClr val="FFFFFF"/>
                      </a:solidFill>
                      <a:latin typeface="+mn-lt"/>
                    </a:defRPr>
                  </a:pPr>
                </a:p>
              </c:txPr>
              <c:showLegendKey val="0"/>
              <c:showVal val="1"/>
              <c:showCatName val="0"/>
              <c:showSerName val="0"/>
              <c:showPercent val="0"/>
              <c:showBubbleSize val="0"/>
            </c:dLbl>
            <c:dLbl>
              <c:idx val="5"/>
              <c:numFmt formatCode="&quot;S/&quot;#,##0" sourceLinked="0"/>
              <c:spPr/>
              <c:txPr>
                <a:bodyPr/>
                <a:lstStyle/>
                <a:p>
                  <a:pPr>
                    <a:defRPr sz="1100" b="1" i="0" u="none" strike="noStrike">
                      <a:solidFill>
                        <a:srgbClr val="FFFFFF"/>
                      </a:solidFill>
                      <a:latin typeface="+mn-lt"/>
                    </a:defRPr>
                  </a:pPr>
                </a:p>
              </c:txPr>
              <c:showLegendKey val="0"/>
              <c:showVal val="1"/>
              <c:showCatName val="0"/>
              <c:showSerName val="0"/>
              <c:showPercent val="0"/>
              <c:showBubbleSize val="0"/>
            </c:dLbl>
            <c:numFmt formatCode="&quot;S/&quot;#,##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Alquiler de stands</c:v>
                </c:pt>
                <c:pt idx="1">
                  <c:v>Impulsadoras</c:v>
                </c:pt>
                <c:pt idx="2">
                  <c:v>Marketing</c:v>
                </c:pt>
                <c:pt idx="3">
                  <c:v>Administración</c:v>
                </c:pt>
                <c:pt idx="4">
                  <c:v>Ferias pagadas</c:v>
                </c:pt>
                <c:pt idx="5">
                  <c:v>Depreciación</c:v>
                </c:pt>
              </c:strCache>
            </c:strRef>
          </c:cat>
          <c:val>
            <c:numRef>
              <c:f>Sheet1!$B$2:$B$7</c:f>
              <c:numCache>
                <c:ptCount val="6"/>
                <c:pt idx="0">
                  <c:v>1042</c:v>
                </c:pt>
                <c:pt idx="1">
                  <c:v>908</c:v>
                </c:pt>
                <c:pt idx="2">
                  <c:v>900</c:v>
                </c:pt>
                <c:pt idx="3">
                  <c:v>700</c:v>
                </c:pt>
                <c:pt idx="4">
                  <c:v>456</c:v>
                </c:pt>
                <c:pt idx="5">
                  <c:v>204</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al mes frente al punto de equilibrio</a:t>
            </a:r>
          </a:p>
        </c:rich>
      </c:tx>
      <c:layout/>
      <c:overlay val="0"/>
    </c:title>
    <c:autoTitleDeleted val="0"/>
    <c:plotArea>
      <c:layout/>
      <c:barChart>
        <c:barDir val="col"/>
        <c:grouping val="clustered"/>
        <c:varyColors val="0"/>
        <c:ser>
          <c:idx val="0"/>
          <c:order val="0"/>
          <c:tx>
            <c:strRef>
              <c:f>Sheet1!$B$1</c:f>
              <c:strCache>
                <c:ptCount val="1"/>
                <c:pt idx="0">
                  <c:v>Brownies vendidos</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Nov</c:v>
                  </c:pt>
                  <c:pt idx="1">
                    <c:v>Dic</c:v>
                  </c:pt>
                  <c:pt idx="2">
                    <c:v>Ene</c:v>
                  </c:pt>
                  <c:pt idx="3">
                    <c:v>Feb</c:v>
                  </c:pt>
                  <c:pt idx="4">
                    <c:v>Mar</c:v>
                  </c:pt>
                  <c:pt idx="5">
                    <c:v>Abr</c:v>
                  </c:pt>
                  <c:pt idx="6">
                    <c:v>May</c:v>
                  </c:pt>
                  <c:pt idx="7">
                    <c:v>Jun</c:v>
                  </c:pt>
                  <c:pt idx="8">
                    <c:v>Jul</c:v>
                  </c:pt>
                  <c:pt idx="9">
                    <c:v>Ago</c:v>
                  </c:pt>
                  <c:pt idx="10">
                    <c:v>Set</c:v>
                  </c:pt>
                  <c:pt idx="11">
                    <c:v>Oct</c:v>
                  </c:pt>
                </c:lvl>
              </c:multiLvlStrCache>
            </c:multiLvlStrRef>
          </c:cat>
          <c:val>
            <c:numRef>
              <c:f>Sheet1!$B$2:$B$13</c:f>
              <c:numCache>
                <c:formatCode>General</c:formatCode>
                <c:ptCount val="12"/>
                <c:pt idx="0">
                  <c:v>1170</c:v>
                </c:pt>
                <c:pt idx="1">
                  <c:v>4355</c:v>
                </c:pt>
                <c:pt idx="2">
                  <c:v>2131</c:v>
                </c:pt>
                <c:pt idx="3">
                  <c:v>2890</c:v>
                </c:pt>
                <c:pt idx="4">
                  <c:v>3854</c:v>
                </c:pt>
                <c:pt idx="5">
                  <c:v>3780</c:v>
                </c:pt>
                <c:pt idx="6">
                  <c:v>4119</c:v>
                </c:pt>
                <c:pt idx="7">
                  <c:v>4098</c:v>
                </c:pt>
                <c:pt idx="8">
                  <c:v>3824</c:v>
                </c:pt>
                <c:pt idx="9">
                  <c:v>5268</c:v>
                </c:pt>
                <c:pt idx="10">
                  <c:v>5663</c:v>
                </c:pt>
                <c:pt idx="11">
                  <c:v>6071</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Punto de equilibrio (2,215)</c:v>
                </c:pt>
              </c:strCache>
            </c:strRef>
          </c:tx>
          <c:spPr>
            <a:solidFill>
              <a:srgbClr val="BA4036"/>
            </a:solidFill>
            <a:ln w="38100" cap="flat">
              <a:solidFill>
                <a:srgbClr val="BA4036"/>
              </a:solidFill>
              <a:prstDash val="solid"/>
              <a:round/>
            </a:ln>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c:symbol val="none"/>
            <c:size val="6"/>
            <c:spPr>
              <a:solidFill>
                <a:srgbClr val="BA4036"/>
              </a:solidFill>
              <a:ln w="9525" cap="flat">
                <a:solidFill>
                  <a:srgbClr val="BA4036"/>
                </a:solidFill>
                <a:prstDash val="solid"/>
                <a:round/>
              </a:ln>
              <a:effectLst/>
            </c:spPr>
          </c:marker>
          <c:cat>
            <c:multiLvlStrRef>
              <c:f>Sheet1!$A$2:$A$13</c:f>
              <c:multiLvlStrCache>
                <c:ptCount val="12"/>
                <c:lvl>
                  <c:pt idx="0">
                    <c:v>Nov</c:v>
                  </c:pt>
                  <c:pt idx="1">
                    <c:v>Dic</c:v>
                  </c:pt>
                  <c:pt idx="2">
                    <c:v>Ene</c:v>
                  </c:pt>
                  <c:pt idx="3">
                    <c:v>Feb</c:v>
                  </c:pt>
                  <c:pt idx="4">
                    <c:v>Mar</c:v>
                  </c:pt>
                  <c:pt idx="5">
                    <c:v>Abr</c:v>
                  </c:pt>
                  <c:pt idx="6">
                    <c:v>May</c:v>
                  </c:pt>
                  <c:pt idx="7">
                    <c:v>Jun</c:v>
                  </c:pt>
                  <c:pt idx="8">
                    <c:v>Jul</c:v>
                  </c:pt>
                  <c:pt idx="9">
                    <c:v>Ago</c:v>
                  </c:pt>
                  <c:pt idx="10">
                    <c:v>Set</c:v>
                  </c:pt>
                  <c:pt idx="11">
                    <c:v>Oct</c:v>
                  </c:pt>
                </c:lvl>
              </c:multiLvlStrCache>
            </c:multiLvlStrRef>
          </c:cat>
          <c:val>
            <c:numRef>
              <c:f>Sheet1!$C$2:$C$13</c:f>
              <c:numCache>
                <c:formatCode>General</c:formatCode>
                <c:ptCount val="12"/>
                <c:pt idx="0">
                  <c:v>2215</c:v>
                </c:pt>
                <c:pt idx="1">
                  <c:v>2215</c:v>
                </c:pt>
                <c:pt idx="2">
                  <c:v>2215</c:v>
                </c:pt>
                <c:pt idx="3">
                  <c:v>2215</c:v>
                </c:pt>
                <c:pt idx="4">
                  <c:v>2215</c:v>
                </c:pt>
                <c:pt idx="5">
                  <c:v>2215</c:v>
                </c:pt>
                <c:pt idx="6">
                  <c:v>2215</c:v>
                </c:pt>
                <c:pt idx="7">
                  <c:v>2215</c:v>
                </c:pt>
                <c:pt idx="8">
                  <c:v>2215</c:v>
                </c:pt>
                <c:pt idx="9">
                  <c:v>2215</c:v>
                </c:pt>
                <c:pt idx="10">
                  <c:v>2215</c:v>
                </c:pt>
                <c:pt idx="11">
                  <c:v>2215</c:v>
                </c:pt>
              </c:numCache>
            </c:numRef>
          </c:val>
          <c:smooth val="0"/>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Resultado operativo mensual (S/)</a:t>
            </a:r>
          </a:p>
        </c:rich>
      </c:tx>
      <c:layout/>
      <c:overlay val="0"/>
    </c:title>
    <c:autoTitleDeleted val="0"/>
    <c:plotArea>
      <c:layout/>
      <c:barChart>
        <c:barDir val="col"/>
        <c:grouping val="clustered"/>
        <c:varyColors val="0"/>
        <c:ser>
          <c:idx val="0"/>
          <c:order val="0"/>
          <c:tx>
            <c:strRef>
              <c:f>Sheet1!$B$1</c:f>
              <c:strCache>
                <c:ptCount val="1"/>
                <c:pt idx="0">
                  <c:v>Resultado operativo</c:v>
                </c:pt>
              </c:strCache>
            </c:strRef>
          </c:tx>
          <c:spPr>
            <a:solidFill>
              <a:srgbClr val="7C8A3A"/>
            </a:solidFill>
            <a:effectLst/>
          </c:spPr>
          <c:invertIfNegative val="0"/>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dPt>
            <c:idx val="0"/>
            <c:invertIfNegative val="0"/>
            <c:bubble3D val="0"/>
            <c:spPr>
              <a:solidFill>
                <a:srgbClr val="BA4036"/>
              </a:solidFill>
              <a:effectLst/>
            </c:spPr>
          </c:dPt>
          <c:dPt>
            <c:idx val="1"/>
            <c:invertIfNegative val="0"/>
            <c:bubble3D val="0"/>
            <c:spPr>
              <a:solidFill>
                <a:srgbClr val="7C8A3A"/>
              </a:solidFill>
              <a:effectLst/>
            </c:spPr>
          </c:dPt>
          <c:dPt>
            <c:idx val="2"/>
            <c:invertIfNegative val="0"/>
            <c:bubble3D val="0"/>
            <c:spPr>
              <a:solidFill>
                <a:srgbClr val="7C8A3A"/>
              </a:solidFill>
              <a:effectLst/>
            </c:spPr>
          </c:dPt>
          <c:dPt>
            <c:idx val="3"/>
            <c:invertIfNegative val="0"/>
            <c:bubble3D val="0"/>
            <c:spPr>
              <a:solidFill>
                <a:srgbClr val="BA4036"/>
              </a:solidFill>
              <a:effectLst/>
            </c:spPr>
          </c:dPt>
          <c:dPt>
            <c:idx val="4"/>
            <c:invertIfNegative val="0"/>
            <c:bubble3D val="0"/>
            <c:spPr>
              <a:solidFill>
                <a:srgbClr val="7C8A3A"/>
              </a:solidFill>
              <a:effectLst/>
            </c:spPr>
          </c:dPt>
          <c:dPt>
            <c:idx val="5"/>
            <c:invertIfNegative val="0"/>
            <c:bubble3D val="0"/>
            <c:spPr>
              <a:solidFill>
                <a:srgbClr val="7C8A3A"/>
              </a:solidFill>
              <a:effectLst/>
            </c:spPr>
          </c:dPt>
          <c:dPt>
            <c:idx val="6"/>
            <c:invertIfNegative val="0"/>
            <c:bubble3D val="0"/>
            <c:spPr>
              <a:solidFill>
                <a:srgbClr val="7C8A3A"/>
              </a:solidFill>
              <a:effectLst/>
            </c:spPr>
          </c:dPt>
          <c:dPt>
            <c:idx val="7"/>
            <c:invertIfNegative val="0"/>
            <c:bubble3D val="0"/>
            <c:spPr>
              <a:solidFill>
                <a:srgbClr val="7C8A3A"/>
              </a:solidFill>
              <a:effectLst/>
            </c:spPr>
          </c:dPt>
          <c:dPt>
            <c:idx val="8"/>
            <c:invertIfNegative val="0"/>
            <c:bubble3D val="0"/>
            <c:spPr>
              <a:solidFill>
                <a:srgbClr val="7C8A3A"/>
              </a:solidFill>
              <a:effectLst/>
            </c:spPr>
          </c:dPt>
          <c:dPt>
            <c:idx val="9"/>
            <c:invertIfNegative val="0"/>
            <c:bubble3D val="0"/>
            <c:spPr>
              <a:solidFill>
                <a:srgbClr val="7C8A3A"/>
              </a:solidFill>
              <a:effectLst/>
            </c:spPr>
          </c:dPt>
          <c:dPt>
            <c:idx val="10"/>
            <c:invertIfNegative val="0"/>
            <c:bubble3D val="0"/>
            <c:spPr>
              <a:solidFill>
                <a:srgbClr val="7C8A3A"/>
              </a:solidFill>
              <a:effectLst/>
            </c:spPr>
          </c:dPt>
          <c:dPt>
            <c:idx val="11"/>
            <c:invertIfNegative val="0"/>
            <c:bubble3D val="0"/>
            <c:spPr>
              <a:solidFill>
                <a:srgbClr val="7C8A3A"/>
              </a:solidFill>
              <a:effectLst/>
            </c:spPr>
          </c:dPt>
          <c:cat>
            <c:multiLvlStrRef>
              <c:f>Sheet1!$A$2:$A$13</c:f>
              <c:multiLvlStrCache>
                <c:ptCount val="12"/>
                <c:lvl>
                  <c:pt idx="0">
                    <c:v>Nov</c:v>
                  </c:pt>
                  <c:pt idx="1">
                    <c:v>Dic</c:v>
                  </c:pt>
                  <c:pt idx="2">
                    <c:v>Ene</c:v>
                  </c:pt>
                  <c:pt idx="3">
                    <c:v>Feb</c:v>
                  </c:pt>
                  <c:pt idx="4">
                    <c:v>Mar</c:v>
                  </c:pt>
                  <c:pt idx="5">
                    <c:v>Abr</c:v>
                  </c:pt>
                  <c:pt idx="6">
                    <c:v>May</c:v>
                  </c:pt>
                  <c:pt idx="7">
                    <c:v>Jun</c:v>
                  </c:pt>
                  <c:pt idx="8">
                    <c:v>Jul</c:v>
                  </c:pt>
                  <c:pt idx="9">
                    <c:v>Ago</c:v>
                  </c:pt>
                  <c:pt idx="10">
                    <c:v>Set</c:v>
                  </c:pt>
                  <c:pt idx="11">
                    <c:v>Oct</c:v>
                  </c:pt>
                </c:lvl>
              </c:multiLvlStrCache>
            </c:multiLvlStrRef>
          </c:cat>
          <c:val>
            <c:numRef>
              <c:f>Sheet1!$B$2:$B$13</c:f>
              <c:numCache>
                <c:formatCode>General</c:formatCode>
                <c:ptCount val="12"/>
                <c:pt idx="0">
                  <c:v>-386</c:v>
                </c:pt>
                <c:pt idx="1">
                  <c:v>185</c:v>
                </c:pt>
                <c:pt idx="2">
                  <c:v>105</c:v>
                </c:pt>
                <c:pt idx="3">
                  <c:v>-475</c:v>
                </c:pt>
                <c:pt idx="4">
                  <c:v>2060</c:v>
                </c:pt>
                <c:pt idx="5">
                  <c:v>1590</c:v>
                </c:pt>
                <c:pt idx="6">
                  <c:v>2098</c:v>
                </c:pt>
                <c:pt idx="7">
                  <c:v>1809</c:v>
                </c:pt>
                <c:pt idx="8">
                  <c:v>1627</c:v>
                </c:pt>
                <c:pt idx="9">
                  <c:v>2318</c:v>
                </c:pt>
                <c:pt idx="10">
                  <c:v>2795</c:v>
                </c:pt>
                <c:pt idx="11">
                  <c:v>3091</c:v>
                </c:pt>
              </c:numCache>
            </c:numRef>
          </c:val>
        </c:ser>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Precio por 20 g (S/)</a:t>
            </a:r>
          </a:p>
        </c:rich>
      </c:tx>
      <c:layout/>
      <c:overlay val="0"/>
    </c:title>
    <c:autoTitleDeleted val="0"/>
    <c:plotArea>
      <c:layout/>
      <c:barChart>
        <c:barDir val="bar"/>
        <c:grouping val="stacked"/>
        <c:varyColors val="0"/>
        <c:ser>
          <c:idx val="0"/>
          <c:order val="0"/>
          <c:tx>
            <c:strRef>
              <c:f>Sheet1!$B$1</c:f>
              <c:strCache>
                <c:ptCount val="1"/>
                <c:pt idx="0">
                  <c:v>Competencia</c:v>
                </c:pt>
              </c:strCache>
            </c:strRef>
          </c:tx>
          <c:spPr>
            <a:solidFill>
              <a:srgbClr val="D9B48F"/>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AndiBite pack de 12</c:v>
                  </c:pt>
                  <c:pt idx="4">
                    <c:v>Fika</c:v>
                  </c:pt>
                  <c:pt idx="5">
                    <c:v>Mamalama</c:v>
                  </c:pt>
                  <c:pt idx="6">
                    <c:v>AndiBite pack de 6</c:v>
                  </c:pt>
                </c:lvl>
              </c:multiLvlStrCache>
            </c:multiLvlStrRef>
          </c:cat>
          <c:val>
            <c:numRef>
              <c:f>Sheet1!$B$2:$B$8</c:f>
              <c:numCache>
                <c:formatCode>General</c:formatCode>
                <c:ptCount val="7"/>
                <c:pt idx="0">
                  <c:v>1.67</c:v>
                </c:pt>
                <c:pt idx="1">
                  <c:v>3.01</c:v>
                </c:pt>
                <c:pt idx="2">
                  <c:v>3.2</c:v>
                </c:pt>
                <c:pt idx="3">
                  <c:v>0</c:v>
                </c:pt>
                <c:pt idx="4">
                  <c:v>4</c:v>
                </c:pt>
                <c:pt idx="5">
                  <c:v>4.1</c:v>
                </c:pt>
                <c:pt idx="6">
                  <c:v>0</c:v>
                </c:pt>
              </c:numCache>
            </c:numRef>
          </c:val>
        </c:ser>
        <c:ser>
          <c:idx val="1"/>
          <c:order val="1"/>
          <c:tx>
            <c:strRef>
              <c:f>Sheet1!$C$1</c:f>
              <c:strCache>
                <c:ptCount val="1"/>
                <c:pt idx="0">
                  <c:v>AndiBite</c:v>
                </c:pt>
              </c:strCache>
            </c:strRef>
          </c:tx>
          <c:spPr>
            <a:solidFill>
              <a:srgbClr val="BA4036"/>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AndiBite pack de 12</c:v>
                  </c:pt>
                  <c:pt idx="4">
                    <c:v>Fika</c:v>
                  </c:pt>
                  <c:pt idx="5">
                    <c:v>Mamalama</c:v>
                  </c:pt>
                  <c:pt idx="6">
                    <c:v>AndiBite pack de 6</c:v>
                  </c:pt>
                </c:lvl>
              </c:multiLvlStrCache>
            </c:multiLvlStrRef>
          </c:cat>
          <c:val>
            <c:numRef>
              <c:f>Sheet1!$C$2:$C$8</c:f>
              <c:numCache>
                <c:formatCode>General</c:formatCode>
                <c:ptCount val="7"/>
                <c:pt idx="0">
                  <c:v>0</c:v>
                </c:pt>
                <c:pt idx="1">
                  <c:v>0</c:v>
                </c:pt>
                <c:pt idx="2">
                  <c:v>0</c:v>
                </c:pt>
                <c:pt idx="3">
                  <c:v>3.91</c:v>
                </c:pt>
                <c:pt idx="4">
                  <c:v>0</c:v>
                </c:pt>
                <c:pt idx="5">
                  <c:v>0</c:v>
                </c:pt>
                <c:pt idx="6">
                  <c:v>4.15</c:v>
                </c:pt>
              </c:numCache>
            </c:numRef>
          </c:val>
        </c:ser>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los trabajos de campo 5 a 8 de AndiBite, el mini brownie de 20 g con sangrecita. Todo sale de la misma base: el público reformulado (padres conscientes y planificados, NSE A/B), el costeo con maquila y los precios confirmados por el equipo el 9 de octubre de 2026 (pack de 6 a S/24.90).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trabajos se conectan: el cliente (TC5) define cómo nos relacionamos y cobramos (TC6); eso arma el Canvas con socios, recursos, actividades y costos (TC7); y todo se resume en el mapa de propuesta de valor (TC8).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5: arquetipo de cliente, buyer persona, tipos de mercado y selección del canal de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mercado según el bloque de segmentos del Canvas (Osterwalder y Pigneur): masivo, nicho, segmentado, diversificado y multilateral. AndiBite es un NICHO (padres A/B con hijos de 4 a 11 años en Lima Top y Lima Moderna) y dentro de él SEGMENTA dos necesidades: salud verificable (Claudia) y ahorro de tiempo (Rodrigo). Por tipo de comprador, el 77.2 % de las unidades va a consumidor final (B2C: stands, carritos, ferias y WhatsApp) y el 22.8 % a negocios (B2B: concesionarios de quioscos escolares y tiendas naturistas). Fuente de unidades: Costeo-presentaciones-AndiBite.xlsx, hoja Mensual.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Embudo del documento 04 (APEIM 2025, CPI 2026, INEI, Kantar). TAM: todas las loncheras con horneado o snack envasado de niños de 4 a 11 años en Lima y Callao (S/130.9 millones). SAM: niños de NSE A/B en toda Lima a precio premium (S/62.8 millones). Núcleo: NSE A/B de las zonas 6 y 7 de APEIM (S/17.3 millones). SOM del año 1 (noviembre 2026 a octubre 2027): 47,223 brownies y S/198,748 con IGV, vendidos sobre todo en stands, carritos y ferias; es apenas el 1.1 % del núcleo. Ajuste de -5 % por el Censo 2025 aplicado en el documento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arquetipo es el patrón de compra de un grupo; la buyer persona es la ficha de una persona que lo representa. Guardiana del Hierro: compra por salud verificable (la representa Claudia). El Resolutivo: compra tiempo y practicidad (lo representa Rodrigo). El Prescriptor: quiosco, nutricionista o pediatra que valida la marca ante los otros dos. Los porcentajes de volumen son hipótesis del equipo (documento 03-entregables/01).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Claudia Mendoza Ríos, 38 años, San Borja (zona 7 de APEIM, 71.6 % de hogares A/B). Abogada corporativa, casada con Diego, hijos Matías (7) y Luciana (4); fue madre a los 31 y 34, como el 53.1 % de las madres de Lima que tienen hijos después de los 30. Ingreso familiar S/13,500 (hipótesis entre los promedios B y A de APEIM 2025). Objeciones: ¿no sabe a sangrecita?, ¿cuántos mg de hierro?, ¿tiene registro sanitario? Cómo le vendemos: degustación con el niño delante, hierro en mg y registro sanitario visibles.
IMAGEN 1 — prompt para Nano Banana (proporción 3:4):
Photorealistic editorial portrait of a 38-year-old Peruvian woman, a corporate lawyer from San Borja, Lima. Latin American mestiza features, shoulder-length dark brown hair, natural makeup, warm and confident half-smile. She wears a cream silk blouse under a camel blazer. She stands in a bright modern kitchen early in the morning, holding a child's school lunchbox in both hands. Soft window light from the left, background softly blurred with warm wood and cream tones and small accents of chocolate brown and brick red. Shot on an 85mm lens at f/2, shallow depth of field, natural skin texture, no retouched plastic look. Vertical 3:4 composition, waist-up framing, subject centered with some space above the head.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Rodrigo Salazar, 42 años, La Molina. Gerente de operaciones; su esposa viaja por trabajo y él arma las loncheras. Ingreso familiar S/18,000 (hipótesis, A2). No busca salud, busca resolver: un pack que dure la semana, que aguante la mochila y que pueda pedir por WhatsApp con recordatorio. El pack de 12 a S/46.90 equivale a S/23.45 por cada 6, dentro de lo que pagaría (S/18 a 24).
IMAGEN 2 — prompt para Nano Banana (proporción 3:4):
Photorealistic editorial portrait of a 42-year-old Peruvian man, an operations manager from La Molina, Lima. Short dark hair with a few grey strands, light stubble, friendly and practical expression, slightly hurried morning energy. He wears a navy quarter-zip sweater over a light blue shirt and a smartwatch. Early morning in a modern home kitchen: he holds his phone in one hand (a chat app on screen, not legible) while closing a child's school lunchbox with the other. Warm morning light, cream walls, wooden counter, small accents of chocolate brown and brick red. 85mm lens, f/2, shallow depth of field, natural skin texture. Vertical 3:4 composition, waist-up framing.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fases del canal según Osterwalder. Por indicación de la profesora, la venta física es el mejor escenario: el focus 1 mostró que sin prueba del niño no hay compra, y en el stand el niño prueba delante del padre. La compra se cierra en el stand (fase en rojo) y la recompra llega por WhatsApp con un recordatorio, sin suscripción. Unidades del año 1 (Excel, hoja Mensual): stands y carritos 19,565; ferias 8,100; WhatsApp 8,773; colegios 7,065; naturistas 3,720.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margen por brownie (contribución por unidad del Excel antes de alquiler y personal: stand S/1.87, feria S/1.93, WhatsApp S/0.86, quiosco S/0.72, naturista S/0.63), control del mensaje, costo de entrada, alcance del segmento y prueba del niño, que según el focus 1 es la condición para comprar. La góndola del supermercado se queda con 20 a 40 % y paga a 30-90 días: entra en el año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Puntos de venta (documento 08): programas para emprendedores de Jockey Plaza, Larcomar (El Mercadito del Emprendedor) y La Rambla San Borja; carrito en la entrada de Wong o Vivanda; ferias navideñas (Bazar CCL, Navi Fest) y de campaña escolar; kermeses y cumpleaños. Plan: 1 punto en noviembre, 2 de diciembre a julio y 3 desde agosto de 2027, solo fines de semana. Un punto lo atienden los socios; los demás, una impulsadora (S/90 por día). Alquiler supuesto: S/500 por punto al mes [POR CONFIRMAR].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6: relaciones con el cliente y los diferentes tipos de ingresos.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seis tipos de relación de Osterwalder y cómo los usa AndiBite. Las tres fuertes (asistencia personal por WhatsApp, recordatorio automático de recompra y comunidad de mamás embajadoras) sostienen la recompra; las de apoyo crecen con el volumen. Con los colegios y naturistas la relación es exclusiva: un socio responde por cada cuenta.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Captar: en el stand el niño prueba gratis delante del padre, que compra ahí mismo; la caja de 3 sabores (S/12) se lleva para la semana. Fidelizar: recordatorio por WhatsApp cuando el pack está por acabarse (unos 12 días después de la compra), sin suscripción ni compromiso. Crecer: mamá embajadora por salón y paso al pack de 12. Metas del modelo: 80 brownies por día en cada punto, 35 % de lo vendido en físico vuelve por WhatsApp y 3 puntos de venta desde agosto de 2027.
IMAGEN 3 — prompt para Nano Banana (proporción 9:16 · adjuntar la foto del empaque):
Use the attached AndiBite package image only as a reference for the brand colors and the product. Top-down flat-lay photo of an open children's school lunchbox on a light wooden table: one mini chocolate brownie (about 5 x 3 cm, fudgy, dark cocoa color, crackly top) inside a small clear individual bag, fresh strawberries and banana slices in a small container, a reusable water bottle and a folded cloth napkin. Next to the lunchbox, the AndiBite stand-up pouch from the reference, slightly out of focus, label turned partly away. Soft natural morning light, clean food styling, warm palette of cream and chocolate brown with brick red accents. Vertical 9:16 composition, lunchbox centered, calm empty area at the top. Do not invent or rewrite any text on the package,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ingreso (Osterwalder): venta de activos en stands y carritos, en ferias y eventos, y por WhatsApp; y venta mayorista B2B. Porcentajes sobre las ventas con IGV del año 1 (S/198,748), hoja Proyeccion del Excel. Mecanismo de precio: fijo por lista, con descuento por volumen. Precios confirmados por el equipo el 9 de octubre de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del Excel (hojas Proyeccion y Mensual). En el stand 6 de cada 10 brownies se venden sueltos, por eso la unidad trae el 56 % de los ingresos. Diciembre sube por las ferias navideñas; enero baja por vacaciones; desde marzo suben los colegios y en agosto se abre el tercer punto de venta.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7: asociaciones, recursos, actividades y costos; presentación del modelo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Socios clave del documento 07. La planta maquiladora (con HACCP o PGH) produce y empaca, así que no necesitamos planta propia ni su certificación; la S.A.C. es titular del registro sanitario y la planta, fabricante. Motivos de alianza según Osterwalder: optimización y economía de escala (maquila), reducción de riesgo (laboratorio), adquisición de recursos (proveedores). Tarifa de maquila supuesta S/0.50 por unidad [POR CONFIRMAR con MAKING y Panificadora Unión].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Recursos clave en los cuatro tipos de Osterwalder: físicos, intelectuales, humanos y financieros. La inversión inicial de S/40,644 está en la hoja Inversion del Excel: S/25,000 de los socios y un préstamo de S/16,000 en 24 cuotas. Actividades clave: producción a través de la maquila, solución de problemas (I+D, regulación) y la red de venta directa.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Costeo del Excel, opción B (cada brownie en bolsita, dentro del doypack). Precio en stand S/26.00 con IGV = S/22.03 sin IGV. Producción S/9.90; degustación (1 brownie por cada 10 vendidos), movilidad, pasarela de 3 % y renta de 1 %: S/2.62; contribución S/9.51 por pack, antes del alquiler del espacio y de la impulsadora. La maquila (S/0.50 por brownie) y el polvo de sangrecita están por confirmar: son el 40 % del costo.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Inversion del Excel. Los documentos se consideran listos desde el primer día de ventas (noviembre de 2026): su costo se paga una sola vez dentro de la inversión inicial y no limita la proyección. La póliza (S/600) es una hipótesis; la tasa del registro sanitario es S/0 con el TUPA 2026. El arranque incluye empaque (S/3,030), stock de noviembre y diciembre (S/4,135), marketing de lanzamiento (S/3,204) y capital de trabajo (S/8,000).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Costos fijos (hoja Supuestos): administración S/700, marketing S/900 y depreciación de equipos y carritos S/204; el asistente pasa a S/0 porque los socios atienden pedidos. Stands y ferias del año (hoja Mensual): alquiler S/12,500, impulsadoras S/10,890 y 3 ferias pagadas S/5,475. Cada brownie deja S/0.81 después de stands y ferias; el equilibrio es de 2,215 brownies al mes (369 packs de 6 equivalentes). Noviembre (un solo punto) y enero quedan debajo.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operativo mensual de la opción B (hoja Mensual del Excel). Noviembre pierde S/386 (un solo punto) y febrero S/475 (feria pagada de campaña escolar); desde marzo, con colegios y dos puntos, todos los meses ganan. Total del año: S/16,816, margen de 10 % sobre las ventas sin IGV. La inversión de S/40,644 no se recupera dentro del año 1: falta S/23,828. La caja cierra el año en S/16,844.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Canvas con los nueve bloques de Osterwalder y Pigneur, actualizado con la venta física como canal principal, los documentos dentro de la inversión inicial y el costeo con maquila. El detalle de cada bloque está en las diapositivas anteriores y en el documento 04-reformulacion/07.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8: mapa de propuesta de valor (Value Proposition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Proposition Canvas de Osterwalder. A la derecha, el perfil del cliente: trabajos, dolores y alegrías, con evidencia de las 10 entrevistas, el focus 1 y datos secundarios (Ipsos 2025, Kantar 2025, ENDES). A la izquierda, el mapa de valor: productos y servicios, aliviadores de dolor y creadores de alegrías. El encaje se detalla en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Encaje problema-solución. Evidencias: rechazo de la sangrecita visible en las entrevistas ("olía feo", "parecía carbón"); 83 % cambia su compra por los octógonos (Ipsos Perú, 21/02/2025); 42 % desconfía de que un envasado sea saludable (Kantar, 2025); "el jueves ya no sé qué mandar" y la mochila que malogra la comida (entrevistas). El "sin octógono" solo se imprime cuando el laboratorio lo confirme.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Precios por 20 g consultados el 3 de octubre de 2026 (documento 02): Nutri H S/3.20, Fika S/4.00, Mamalama S/4.10, Siete Dragones S/3.01, Bimbo Nutra Bien S/1.67. AndiBite: pack de 6 a S/24.90 (S/4.15 por brownie) y pack de 12 a S/46.90 (S/3.91). Completar con los datos del store check de La Molina.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con la propuesta de valor en una frase y los tres pasos siguientes: cargar los resultados del focus 2, cotizar los stands (Jockey, Larcomar, La Rambla, Wong, Vivanda) y la maquila, y elegir los dos primeros puntos de venta para diciembre.
IMAGEN 4 — prompt para Nano Banana (proporción 2:3 · adjuntar la foto del empaque):
Use the attached AndiBite package image only as a reference for the pouch and colors. Warm candid lifestyle photo of a 7-year-old Peruvian boy in a private school uniform (white polo shirt and navy sweater) sitting on a bench in a school courtyard at recess. He has just opened his lunchbox and smiles while holding a mini chocolate brownie; the AndiBite pouch is visible in the lunchbox with the label partly turned away. Soft daylight, shallow depth of field, background of blurred green trees and classmates. Warm color grading with chocolate brown, cream and brick red accents. Natural and unposed, eye-level camera, vertical 2:3 composition with the boy on the center-left. No text,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3246120"/>
            <a:ext cx="6766560" cy="777240"/>
          </a:xfrm>
          <a:prstGeom prst="rect">
            <a:avLst/>
          </a:prstGeom>
          <a:noFill/>
          <a:ln/>
        </p:spPr>
        <p:txBody>
          <a:bodyPr wrap="square" rtlCol="0"/>
          <a:lstStyle>
            <a:lvl1pPr algn="l" indent="0" marL="0">
              <a:buNone/>
              <a:defRPr lang="en-US" sz="4000" b="1" dirty="0">
                <a:solidFill>
                  <a:schemeClr val="bg2"/>
                </a:solidFill>
              </a:defRPr>
            </a:lvl1pPr>
          </a:lstStyle>
          <a:p>
            <a:pPr algn="l" indent="0" marL="0">
              <a:buNone/>
            </a:pPr>
            <a:endParaRPr lang="en-US" sz="4000" dirty="0"/>
          </a:p>
        </p:txBody>
      </p:sp>
      <p:sp>
        <p:nvSpPr>
          <p:cNvPr id="3" name="Text 0"/>
          <p:cNvSpPr/>
          <p:nvPr>
            <p:ph idx="101" type="body" hasCustomPrompt="1"/>
          </p:nvPr>
        </p:nvSpPr>
        <p:spPr>
          <a:xfrm>
            <a:off x="731520" y="4069080"/>
            <a:ext cx="6766560" cy="7315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234440"/>
            <a:ext cx="6766560" cy="1463040"/>
          </a:xfrm>
          <a:prstGeom prst="rect">
            <a:avLst/>
          </a:prstGeom>
          <a:noFill/>
          <a:ln/>
        </p:spPr>
        <p:txBody>
          <a:bodyPr wrap="square" rtlCol="0"/>
          <a:lstStyle>
            <a:lvl1pPr algn="l" indent="0" marL="0">
              <a:buNone/>
              <a:defRPr lang="en-US" sz="4800" b="1" dirty="0">
                <a:solidFill>
                  <a:schemeClr val="bg2"/>
                </a:solidFill>
              </a:defRPr>
            </a:lvl1pPr>
          </a:lstStyle>
          <a:p>
            <a:pPr algn="l" indent="0" marL="0">
              <a:buNone/>
            </a:pPr>
            <a:endParaRPr lang="en-US" sz="4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ION">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6949440" cy="1417320"/>
          </a:xfrm>
          <a:prstGeom prst="rect">
            <a:avLst/>
          </a:prstGeom>
          <a:noFill/>
          <a:ln/>
        </p:spPr>
        <p:txBody>
          <a:bodyPr wrap="square" rtlCol="0"/>
          <a:lstStyle>
            <a:lvl1pPr algn="l" indent="0" marL="0">
              <a:buNone/>
              <a:defRPr lang="en-US" sz="4400" b="1" dirty="0">
                <a:solidFill>
                  <a:schemeClr val="bg2"/>
                </a:solidFill>
              </a:defRPr>
            </a:lvl1pPr>
          </a:lstStyle>
          <a:p>
            <a:pPr algn="l" indent="0" marL="0">
              <a:buNone/>
            </a:pPr>
            <a:endParaRPr lang="en-US" sz="4400" dirty="0"/>
          </a:p>
        </p:txBody>
      </p:sp>
      <p:sp>
        <p:nvSpPr>
          <p:cNvPr id="3" name="Text 0"/>
          <p:cNvSpPr/>
          <p:nvPr>
            <p:ph idx="101" type="body" hasCustomPrompt="1"/>
          </p:nvPr>
        </p:nvSpPr>
        <p:spPr>
          <a:xfrm>
            <a:off x="731520" y="4069080"/>
            <a:ext cx="6949440" cy="11887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pic>
        <p:nvPicPr>
          <p:cNvPr id="4" name="Image 0" descr="img/logo_light.png">    </p:cNvPr>
          <p:cNvPicPr>
            <a:picLocks noChangeAspect="1"/>
          </p:cNvPicPr>
          <p:nvPr/>
        </p:nvPicPr>
        <p:blipFill>
          <a:blip r:embed="rId1"/>
          <a:stretch>
            <a:fillRect/>
          </a:stretch>
        </p:blipFill>
        <p:spPr>
          <a:xfrm>
            <a:off x="731520" y="5989320"/>
            <a:ext cx="1325880" cy="4572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BF3E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4" name="Text 0"/>
          <p:cNvSpPr/>
          <p:nvPr/>
        </p:nvSpPr>
        <p:spPr>
          <a:xfrm>
            <a:off x="548640" y="6455664"/>
            <a:ext cx="7315200" cy="256032"/>
          </a:xfrm>
          <a:prstGeom prst="rect">
            <a:avLst/>
          </a:prstGeom>
          <a:noFill/>
          <a:ln/>
        </p:spPr>
        <p:txBody>
          <a:bodyPr wrap="square" lIns="0" tIns="0" rIns="0" bIns="0" rtlCol="0" anchor="ctr"/>
          <a:lstStyle/>
          <a:p>
            <a:pPr indent="0" marL="0">
              <a:buNone/>
            </a:pPr>
            <a:r>
              <a:rPr lang="en-US" sz="1000" dirty="0">
                <a:solidFill>
                  <a:schemeClr val="accent2"/>
                </a:solidFill>
              </a:rPr>
              <a:t>AndiBite · Grupo 2 · Desarrollo y lanzamiento de nuevos productos</a:t>
            </a:r>
            <a:endParaRPr lang="en-US" sz="1000" dirty="0"/>
          </a:p>
        </p:txBody>
      </p:sp>
      <p:pic>
        <p:nvPicPr>
          <p:cNvPr id="5" name="Image 0" descr="img/logo_color.png">    </p:cNvPr>
          <p:cNvPicPr>
            <a:picLocks noChangeAspect="1"/>
          </p:cNvPicPr>
          <p:nvPr/>
        </p:nvPicPr>
        <p:blipFill>
          <a:blip r:embed="rId1"/>
          <a:stretch>
            <a:fillRect/>
          </a:stretch>
        </p:blipFill>
        <p:spPr>
          <a:xfrm>
            <a:off x="10469880" y="6391656"/>
            <a:ext cx="868680" cy="297180"/>
          </a:xfrm>
          <a:prstGeom prst="rect">
            <a:avLst/>
          </a:prstGeom>
        </p:spPr>
      </p:pic>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5.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5.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5.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5.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5.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5" Type="http://schemas.openxmlformats.org/officeDocument/2006/relationships/chart" Target="/ppt/charts/chart2.xml"/><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6" Type="http://schemas.openxmlformats.org/officeDocument/2006/relationships/slideLayout" Target="../slideLayouts/slideLayout5.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5.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5.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5.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5.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5.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5.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5.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5.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5.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image" Target="../media/image-24-9.png"/><Relationship Id="rId10" Type="http://schemas.openxmlformats.org/officeDocument/2006/relationships/slideLayout" Target="../slideLayouts/slideLayout5.xml"/><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5.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5.xml"/><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logo_light.png">    </p:cNvPr>
          <p:cNvPicPr>
            <a:picLocks noChangeAspect="1"/>
          </p:cNvPicPr>
          <p:nvPr/>
        </p:nvPicPr>
        <p:blipFill>
          <a:blip r:embed="rId1"/>
          <a:stretch>
            <a:fillRect/>
          </a:stretch>
        </p:blipFill>
        <p:spPr>
          <a:xfrm>
            <a:off x="731520" y="1005840"/>
            <a:ext cx="5120640" cy="1755648"/>
          </a:xfrm>
          <a:prstGeom prst="rect">
            <a:avLst/>
          </a:prstGeom>
        </p:spPr>
      </p:pic>
      <p:sp>
        <p:nvSpPr>
          <p:cNvPr id="3" name="Text 0"/>
          <p:cNvSpPr/>
          <p:nvPr>
            <p:ph idx="100" type="title" hasCustomPrompt="1"/>
          </p:nvPr>
        </p:nvSpPr>
        <p:spPr>
          <a:xfrm>
            <a:off x="731520" y="3246120"/>
            <a:ext cx="6766560" cy="777240"/>
          </a:xfrm>
          <a:prstGeom prst="rect">
            <a:avLst/>
          </a:prstGeom>
          <a:noFill/>
          <a:ln/>
        </p:spPr>
        <p:txBody>
          <a:bodyPr wrap="square" lIns="0" tIns="0" rIns="0" bIns="0" rtlCol="0" anchor="t"/>
          <a:lstStyle/>
          <a:p>
            <a:pPr algn="l" indent="0" marL="0">
              <a:buNone/>
            </a:pPr>
            <a:r>
              <a:rPr lang="en-US" sz="4000" b="1" dirty="0">
                <a:solidFill>
                  <a:schemeClr val="bg2"/>
                </a:solidFill>
              </a:rPr>
              <a:t>Trabajos de campo 5 a 8</a:t>
            </a:r>
            <a:endParaRPr lang="en-US" sz="4000" dirty="0"/>
          </a:p>
        </p:txBody>
      </p:sp>
      <p:sp>
        <p:nvSpPr>
          <p:cNvPr id="4" name="Text 0"/>
          <p:cNvSpPr/>
          <p:nvPr>
            <p:ph idx="101" type="body" hasCustomPrompt="1"/>
          </p:nvPr>
        </p:nvSpPr>
        <p:spPr>
          <a:xfrm>
            <a:off x="731520" y="4069080"/>
            <a:ext cx="6766560" cy="731520"/>
          </a:xfrm>
          <a:prstGeom prst="rect">
            <a:avLst/>
          </a:prstGeom>
          <a:noFill/>
          <a:ln/>
        </p:spPr>
        <p:txBody>
          <a:bodyPr wrap="square" lIns="0" tIns="0" rIns="0" bIns="0" rtlCol="0" anchor="t"/>
          <a:lstStyle/>
          <a:p>
            <a:pPr indent="0" marL="0">
              <a:buNone/>
            </a:pPr>
            <a:r>
              <a:rPr lang="en-US" sz="1800" dirty="0">
                <a:solidFill>
                  <a:schemeClr val="accent5"/>
                </a:solidFill>
              </a:rPr>
              <a:t>Cliente, canal, relación, ingresos, Canvas y propuesta de valor</a:t>
            </a:r>
            <a:endParaRPr lang="en-US" sz="1800" dirty="0"/>
          </a:p>
        </p:txBody>
      </p:sp>
      <p:sp>
        <p:nvSpPr>
          <p:cNvPr id="5" name="Text 2"/>
          <p:cNvSpPr txBox="1"/>
          <p:nvPr/>
        </p:nvSpPr>
        <p:spPr>
          <a:xfrm>
            <a:off x="731520" y="5257800"/>
            <a:ext cx="6949440" cy="320040"/>
          </a:xfrm>
          <a:prstGeom prst="rect">
            <a:avLst/>
          </a:prstGeom>
          <a:noFill/>
          <a:ln/>
        </p:spPr>
        <p:txBody>
          <a:bodyPr wrap="square" lIns="0" tIns="0" rIns="0" bIns="0" rtlCol="0" anchor="t"/>
          <a:lstStyle/>
          <a:p>
            <a:pPr indent="0" marL="0">
              <a:buNone/>
            </a:pPr>
            <a:r>
              <a:rPr lang="en-US" sz="1400" dirty="0">
                <a:solidFill>
                  <a:schemeClr val="bg2"/>
                </a:solidFill>
              </a:rPr>
              <a:t>Grupo 2 · Diana Ayoso · Carlos Inga · Angie Blas · Patricia Cárdenas · Adela Robles</a:t>
            </a:r>
            <a:endParaRPr lang="en-US" sz="1400" dirty="0"/>
          </a:p>
        </p:txBody>
      </p:sp>
      <p:sp>
        <p:nvSpPr>
          <p:cNvPr id="6" name="Text 3"/>
          <p:cNvSpPr txBox="1"/>
          <p:nvPr/>
        </p:nvSpPr>
        <p:spPr>
          <a:xfrm>
            <a:off x="731520" y="5623560"/>
            <a:ext cx="6949440" cy="320040"/>
          </a:xfrm>
          <a:prstGeom prst="rect">
            <a:avLst/>
          </a:prstGeom>
          <a:noFill/>
          <a:ln/>
        </p:spPr>
        <p:txBody>
          <a:bodyPr wrap="square" lIns="0" tIns="0" rIns="0" bIns="0" rtlCol="0" anchor="t"/>
          <a:lstStyle/>
          <a:p>
            <a:pPr indent="0" marL="0">
              <a:buNone/>
            </a:pPr>
            <a:r>
              <a:rPr lang="en-US" sz="1200" dirty="0">
                <a:solidFill>
                  <a:schemeClr val="accent5"/>
                </a:solidFill>
              </a:rPr>
              <a:t>Desarrollo y lanzamiento de nuevos productos · Prof. Paola Cevallos · Octubre de 2026</a:t>
            </a:r>
            <a:endParaRPr lang="en-US" sz="1200" dirty="0"/>
          </a:p>
        </p:txBody>
      </p:sp>
      <p:pic>
        <p:nvPicPr>
          <p:cNvPr id="7" name="Image 1" descr="/home/user/Desarrollo-y-lanzamiento-de-producto-y-marca/assets/empaque/B1_frente.png">    </p:cNvPr>
          <p:cNvPicPr>
            <a:picLocks noChangeAspect="1"/>
          </p:cNvPicPr>
          <p:nvPr/>
        </p:nvPicPr>
        <p:blipFill>
          <a:blip r:embed="rId2"/>
          <a:stretch>
            <a:fillRect/>
          </a:stretch>
        </p:blipFill>
        <p:spPr>
          <a:xfrm rot="240000">
            <a:off x="8001000" y="548640"/>
            <a:ext cx="4023360" cy="5596128"/>
          </a:xfrm>
          <a:prstGeom prst="rect">
            <a:avLst/>
          </a:prstGeom>
          <a:effectLst>
            <a:outerShdw sx="100000" sy="100000" kx="0" ky="0" algn="bl" rotWithShape="0" blurRad="152400" dist="50800" dir="5400000">
              <a:srgbClr val="000000">
                <a:alpha val="35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RUTA DEL TRABAJO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Cuatro trabajos, un solo modelo de negocio</a:t>
            </a:r>
            <a:endParaRPr lang="en-US" sz="3400" dirty="0"/>
          </a:p>
        </p:txBody>
      </p:sp>
      <p:sp>
        <p:nvSpPr>
          <p:cNvPr id="4" name="Shape 2"/>
          <p:cNvSpPr/>
          <p:nvPr/>
        </p:nvSpPr>
        <p:spPr>
          <a:xfrm>
            <a:off x="548640"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05</a:t>
            </a:r>
            <a:endParaRPr lang="en-US" sz="4000" dirty="0"/>
          </a:p>
        </p:txBody>
      </p:sp>
      <p:sp>
        <p:nvSpPr>
          <p:cNvPr id="6" name="Shape 4"/>
          <p:cNvSpPr/>
          <p:nvPr/>
        </p:nvSpPr>
        <p:spPr>
          <a:xfrm>
            <a:off x="2157984" y="1874520"/>
            <a:ext cx="685800" cy="685800"/>
          </a:xfrm>
          <a:prstGeom prst="ellipse">
            <a:avLst/>
          </a:prstGeom>
          <a:solidFill>
            <a:schemeClr val="tx2"/>
          </a:solidFill>
          <a:ln w="12700">
            <a:solidFill>
              <a:schemeClr val="tx2"/>
            </a:solidFill>
            <a:prstDash val="solid"/>
          </a:ln>
        </p:spPr>
      </p:sp>
      <p:pic>
        <p:nvPicPr>
          <p:cNvPr id="7" name="Image 0" descr="preencoded.png">    </p:cNvPr>
          <p:cNvPicPr>
            <a:picLocks noChangeAspect="1"/>
          </p:cNvPicPr>
          <p:nvPr/>
        </p:nvPicPr>
        <p:blipFill>
          <a:blip r:embed="rId1"/>
          <a:stretch>
            <a:fillRect/>
          </a:stretch>
        </p:blipFill>
        <p:spPr>
          <a:xfrm>
            <a:off x="2308860" y="2025396"/>
            <a:ext cx="384048" cy="384048"/>
          </a:xfrm>
          <a:prstGeom prst="rect">
            <a:avLst/>
          </a:prstGeom>
        </p:spPr>
      </p:pic>
      <p:sp>
        <p:nvSpPr>
          <p:cNvPr id="8" name="Text 5"/>
          <p:cNvSpPr txBox="1"/>
          <p:nvPr/>
        </p:nvSpPr>
        <p:spPr>
          <a:xfrm>
            <a:off x="822960"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Cliente y canal</a:t>
            </a:r>
            <a:endParaRPr lang="en-US" sz="1900" dirty="0"/>
          </a:p>
        </p:txBody>
      </p:sp>
      <p:sp>
        <p:nvSpPr>
          <p:cNvPr id="9" name="Text 6"/>
          <p:cNvSpPr txBox="1"/>
          <p:nvPr/>
        </p:nvSpPr>
        <p:spPr>
          <a:xfrm>
            <a:off x="822960"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Arquetipos, buyer persona, tipos de mercado y canal</a:t>
            </a:r>
            <a:endParaRPr lang="en-US" sz="1500" dirty="0"/>
          </a:p>
        </p:txBody>
      </p:sp>
      <p:sp>
        <p:nvSpPr>
          <p:cNvPr id="10" name="Shape 7"/>
          <p:cNvSpPr/>
          <p:nvPr/>
        </p:nvSpPr>
        <p:spPr>
          <a:xfrm>
            <a:off x="3392424"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8"/>
          <p:cNvSpPr txBox="1"/>
          <p:nvPr/>
        </p:nvSpPr>
        <p:spPr>
          <a:xfrm>
            <a:off x="3666744"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06</a:t>
            </a:r>
            <a:endParaRPr lang="en-US" sz="4000" dirty="0"/>
          </a:p>
        </p:txBody>
      </p:sp>
      <p:sp>
        <p:nvSpPr>
          <p:cNvPr id="12" name="Shape 9"/>
          <p:cNvSpPr/>
          <p:nvPr/>
        </p:nvSpPr>
        <p:spPr>
          <a:xfrm>
            <a:off x="5001768" y="1874520"/>
            <a:ext cx="685800" cy="685800"/>
          </a:xfrm>
          <a:prstGeom prst="ellipse">
            <a:avLst/>
          </a:prstGeom>
          <a:solidFill>
            <a:schemeClr val="tx2"/>
          </a:solidFill>
          <a:ln w="12700">
            <a:solidFill>
              <a:schemeClr val="tx2"/>
            </a:solidFill>
            <a:prstDash val="solid"/>
          </a:ln>
        </p:spPr>
      </p:sp>
      <p:pic>
        <p:nvPicPr>
          <p:cNvPr id="13" name="Image 1" descr="preencoded.png">    </p:cNvPr>
          <p:cNvPicPr>
            <a:picLocks noChangeAspect="1"/>
          </p:cNvPicPr>
          <p:nvPr/>
        </p:nvPicPr>
        <p:blipFill>
          <a:blip r:embed="rId2"/>
          <a:stretch>
            <a:fillRect/>
          </a:stretch>
        </p:blipFill>
        <p:spPr>
          <a:xfrm>
            <a:off x="5152644" y="2025396"/>
            <a:ext cx="384048" cy="384048"/>
          </a:xfrm>
          <a:prstGeom prst="rect">
            <a:avLst/>
          </a:prstGeom>
        </p:spPr>
      </p:pic>
      <p:sp>
        <p:nvSpPr>
          <p:cNvPr id="14" name="Text 10"/>
          <p:cNvSpPr txBox="1"/>
          <p:nvPr/>
        </p:nvSpPr>
        <p:spPr>
          <a:xfrm>
            <a:off x="3666744"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Relación e ingresos</a:t>
            </a:r>
            <a:endParaRPr lang="en-US" sz="1900" dirty="0"/>
          </a:p>
        </p:txBody>
      </p:sp>
      <p:sp>
        <p:nvSpPr>
          <p:cNvPr id="15" name="Text 11"/>
          <p:cNvSpPr txBox="1"/>
          <p:nvPr/>
        </p:nvSpPr>
        <p:spPr>
          <a:xfrm>
            <a:off x="3666744"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Cómo captamos y retenemos, y de dónde viene el dinero</a:t>
            </a:r>
            <a:endParaRPr lang="en-US" sz="1500" dirty="0"/>
          </a:p>
        </p:txBody>
      </p:sp>
      <p:sp>
        <p:nvSpPr>
          <p:cNvPr id="16" name="Shape 12"/>
          <p:cNvSpPr/>
          <p:nvPr/>
        </p:nvSpPr>
        <p:spPr>
          <a:xfrm>
            <a:off x="6236208"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Text 13"/>
          <p:cNvSpPr txBox="1"/>
          <p:nvPr/>
        </p:nvSpPr>
        <p:spPr>
          <a:xfrm>
            <a:off x="6510528"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07</a:t>
            </a:r>
            <a:endParaRPr lang="en-US" sz="4000" dirty="0"/>
          </a:p>
        </p:txBody>
      </p:sp>
      <p:sp>
        <p:nvSpPr>
          <p:cNvPr id="18" name="Shape 14"/>
          <p:cNvSpPr/>
          <p:nvPr/>
        </p:nvSpPr>
        <p:spPr>
          <a:xfrm>
            <a:off x="7845552" y="1874520"/>
            <a:ext cx="685800" cy="685800"/>
          </a:xfrm>
          <a:prstGeom prst="ellipse">
            <a:avLst/>
          </a:prstGeom>
          <a:solidFill>
            <a:schemeClr val="tx2"/>
          </a:solidFill>
          <a:ln w="12700">
            <a:solidFill>
              <a:schemeClr val="tx2"/>
            </a:solidFill>
            <a:prstDash val="solid"/>
          </a:ln>
        </p:spPr>
      </p:sp>
      <p:pic>
        <p:nvPicPr>
          <p:cNvPr id="19" name="Image 2" descr="preencoded.png">    </p:cNvPr>
          <p:cNvPicPr>
            <a:picLocks noChangeAspect="1"/>
          </p:cNvPicPr>
          <p:nvPr/>
        </p:nvPicPr>
        <p:blipFill>
          <a:blip r:embed="rId3"/>
          <a:stretch>
            <a:fillRect/>
          </a:stretch>
        </p:blipFill>
        <p:spPr>
          <a:xfrm>
            <a:off x="7996428" y="2025396"/>
            <a:ext cx="384048" cy="384048"/>
          </a:xfrm>
          <a:prstGeom prst="rect">
            <a:avLst/>
          </a:prstGeom>
        </p:spPr>
      </p:pic>
      <p:sp>
        <p:nvSpPr>
          <p:cNvPr id="20" name="Text 15"/>
          <p:cNvSpPr txBox="1"/>
          <p:nvPr/>
        </p:nvSpPr>
        <p:spPr>
          <a:xfrm>
            <a:off x="6510528"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Modelo Canvas</a:t>
            </a:r>
            <a:endParaRPr lang="en-US" sz="1900" dirty="0"/>
          </a:p>
        </p:txBody>
      </p:sp>
      <p:sp>
        <p:nvSpPr>
          <p:cNvPr id="21" name="Text 16"/>
          <p:cNvSpPr txBox="1"/>
          <p:nvPr/>
        </p:nvSpPr>
        <p:spPr>
          <a:xfrm>
            <a:off x="6510528"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Socios, recursos, actividades, costos y los 9 bloques</a:t>
            </a:r>
            <a:endParaRPr lang="en-US" sz="1500" dirty="0"/>
          </a:p>
        </p:txBody>
      </p:sp>
      <p:sp>
        <p:nvSpPr>
          <p:cNvPr id="22" name="Shape 17"/>
          <p:cNvSpPr/>
          <p:nvPr/>
        </p:nvSpPr>
        <p:spPr>
          <a:xfrm>
            <a:off x="9079992"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3" name="Text 18"/>
          <p:cNvSpPr txBox="1"/>
          <p:nvPr/>
        </p:nvSpPr>
        <p:spPr>
          <a:xfrm>
            <a:off x="9354312"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08</a:t>
            </a:r>
            <a:endParaRPr lang="en-US" sz="4000" dirty="0"/>
          </a:p>
        </p:txBody>
      </p:sp>
      <p:sp>
        <p:nvSpPr>
          <p:cNvPr id="24" name="Shape 19"/>
          <p:cNvSpPr/>
          <p:nvPr/>
        </p:nvSpPr>
        <p:spPr>
          <a:xfrm>
            <a:off x="10689336" y="1874520"/>
            <a:ext cx="685800" cy="685800"/>
          </a:xfrm>
          <a:prstGeom prst="ellipse">
            <a:avLst/>
          </a:prstGeom>
          <a:solidFill>
            <a:schemeClr val="tx2"/>
          </a:solidFill>
          <a:ln w="12700">
            <a:solidFill>
              <a:schemeClr val="tx2"/>
            </a:solidFill>
            <a:prstDash val="solid"/>
          </a:ln>
        </p:spPr>
      </p:sp>
      <p:pic>
        <p:nvPicPr>
          <p:cNvPr id="25" name="Image 3" descr="preencoded.png">    </p:cNvPr>
          <p:cNvPicPr>
            <a:picLocks noChangeAspect="1"/>
          </p:cNvPicPr>
          <p:nvPr/>
        </p:nvPicPr>
        <p:blipFill>
          <a:blip r:embed="rId4"/>
          <a:stretch>
            <a:fillRect/>
          </a:stretch>
        </p:blipFill>
        <p:spPr>
          <a:xfrm>
            <a:off x="10840212" y="2025396"/>
            <a:ext cx="384048" cy="384048"/>
          </a:xfrm>
          <a:prstGeom prst="rect">
            <a:avLst/>
          </a:prstGeom>
        </p:spPr>
      </p:pic>
      <p:sp>
        <p:nvSpPr>
          <p:cNvPr id="26" name="Text 20"/>
          <p:cNvSpPr txBox="1"/>
          <p:nvPr/>
        </p:nvSpPr>
        <p:spPr>
          <a:xfrm>
            <a:off x="9354312"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Propuesta de valor</a:t>
            </a:r>
            <a:endParaRPr lang="en-US" sz="1900" dirty="0"/>
          </a:p>
        </p:txBody>
      </p:sp>
      <p:sp>
        <p:nvSpPr>
          <p:cNvPr id="27" name="Text 21"/>
          <p:cNvSpPr txBox="1"/>
          <p:nvPr/>
        </p:nvSpPr>
        <p:spPr>
          <a:xfrm>
            <a:off x="9354312"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Mapa de valor frente al perfil del cliente</a:t>
            </a:r>
            <a:endParaRPr lang="en-US" sz="1500" dirty="0"/>
          </a:p>
        </p:txBody>
      </p:sp>
      <p:sp>
        <p:nvSpPr>
          <p:cNvPr id="28" name="Shape 22"/>
          <p:cNvSpPr/>
          <p:nvPr/>
        </p:nvSpPr>
        <p:spPr>
          <a:xfrm>
            <a:off x="548640" y="5440680"/>
            <a:ext cx="11091672" cy="685800"/>
          </a:xfrm>
          <a:prstGeom prst="roundRect">
            <a:avLst>
              <a:gd name="adj" fmla="val 49333"/>
            </a:avLst>
          </a:prstGeom>
          <a:solidFill>
            <a:schemeClr val="tx2"/>
          </a:solidFill>
          <a:ln w="12700">
            <a:solidFill>
              <a:schemeClr val="tx2"/>
            </a:solidFill>
            <a:prstDash val="solid"/>
          </a:ln>
        </p:spPr>
      </p:sp>
      <p:sp>
        <p:nvSpPr>
          <p:cNvPr id="29" name="Text 23"/>
          <p:cNvSpPr txBox="1"/>
          <p:nvPr/>
        </p:nvSpPr>
        <p:spPr>
          <a:xfrm>
            <a:off x="868680" y="5440680"/>
            <a:ext cx="10515600" cy="685800"/>
          </a:xfrm>
          <a:prstGeom prst="rect">
            <a:avLst/>
          </a:prstGeom>
          <a:noFill/>
          <a:ln/>
        </p:spPr>
        <p:txBody>
          <a:bodyPr wrap="square" lIns="0" tIns="0" rIns="0" bIns="0" rtlCol="0" anchor="ctr"/>
          <a:lstStyle/>
          <a:p>
            <a:pPr indent="0" marL="0">
              <a:buNone/>
            </a:pPr>
            <a:r>
              <a:rPr lang="en-US" sz="1600" b="1" dirty="0">
                <a:solidFill>
                  <a:schemeClr val="accent3"/>
                </a:solidFill>
              </a:rPr>
              <a:t>El producto: </a:t>
            </a:r>
            <a:pPr indent="0" marL="0">
              <a:buNone/>
            </a:pPr>
            <a:r>
              <a:rPr lang="en-US" sz="1600" dirty="0">
                <a:solidFill>
                  <a:schemeClr val="bg2"/>
                </a:solidFill>
              </a:rPr>
              <a:t>mini brownie de 20 g con sangrecita · 3 sabores · se vende en stands, carritos y ferias, y se recompra por WhatsApp</a:t>
            </a:r>
            <a:endParaRPr lang="en-US" sz="16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05</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Cliente, mercado y canal</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Tipos de mercado · Tamaño del nicho · Arquetipos · Buyer persona · Canal y puntos de venta</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TIPOS DE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Elegimos un nicho, con dos segmentos dentro</a:t>
            </a:r>
            <a:endParaRPr lang="en-US" sz="3400" dirty="0"/>
          </a:p>
        </p:txBody>
      </p:sp>
      <p:sp>
        <p:nvSpPr>
          <p:cNvPr id="4" name="Shape 2"/>
          <p:cNvSpPr/>
          <p:nvPr/>
        </p:nvSpPr>
        <p:spPr>
          <a:xfrm>
            <a:off x="548640"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77240" y="1783080"/>
            <a:ext cx="640080" cy="640080"/>
          </a:xfrm>
          <a:prstGeom prst="ellipse">
            <a:avLst/>
          </a:prstGeom>
          <a:solidFill>
            <a:schemeClr val="bg2"/>
          </a:solidFill>
          <a:ln w="12700">
            <a:solidFill>
              <a:schemeClr val="bg2"/>
            </a:solidFill>
            <a:prstDash val="solid"/>
          </a:ln>
        </p:spPr>
      </p:sp>
      <p:pic>
        <p:nvPicPr>
          <p:cNvPr id="6" name="Image 0" descr="preencoded.png">    </p:cNvPr>
          <p:cNvPicPr>
            <a:picLocks noChangeAspect="1"/>
          </p:cNvPicPr>
          <p:nvPr/>
        </p:nvPicPr>
        <p:blipFill>
          <a:blip r:embed="rId1"/>
          <a:stretch>
            <a:fillRect/>
          </a:stretch>
        </p:blipFill>
        <p:spPr>
          <a:xfrm>
            <a:off x="918058" y="1923898"/>
            <a:ext cx="358445" cy="358445"/>
          </a:xfrm>
          <a:prstGeom prst="rect">
            <a:avLst/>
          </a:prstGeom>
        </p:spPr>
      </p:pic>
      <p:sp>
        <p:nvSpPr>
          <p:cNvPr id="7" name="Text 4"/>
          <p:cNvSpPr txBox="1"/>
          <p:nvPr/>
        </p:nvSpPr>
        <p:spPr>
          <a:xfrm>
            <a:off x="777240"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Masivo</a:t>
            </a:r>
            <a:endParaRPr lang="en-US" sz="1800" dirty="0"/>
          </a:p>
        </p:txBody>
      </p:sp>
      <p:sp>
        <p:nvSpPr>
          <p:cNvPr id="8" name="Text 5"/>
          <p:cNvSpPr txBox="1"/>
          <p:nvPr/>
        </p:nvSpPr>
        <p:spPr>
          <a:xfrm>
            <a:off x="777240"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Un producto para todos</a:t>
            </a:r>
            <a:endParaRPr lang="en-US" sz="1200" dirty="0"/>
          </a:p>
        </p:txBody>
      </p:sp>
      <p:sp>
        <p:nvSpPr>
          <p:cNvPr id="9" name="Shape 6"/>
          <p:cNvSpPr/>
          <p:nvPr/>
        </p:nvSpPr>
        <p:spPr>
          <a:xfrm>
            <a:off x="777240" y="3520440"/>
            <a:ext cx="1188720" cy="292608"/>
          </a:xfrm>
          <a:prstGeom prst="roundRect">
            <a:avLst>
              <a:gd name="adj" fmla="val 50000"/>
            </a:avLst>
          </a:prstGeom>
          <a:solidFill>
            <a:schemeClr val="bg2"/>
          </a:solidFill>
          <a:ln w="12700">
            <a:solidFill>
              <a:schemeClr val="bg2"/>
            </a:solidFill>
            <a:prstDash val="solid"/>
          </a:ln>
        </p:spPr>
      </p:sp>
      <p:sp>
        <p:nvSpPr>
          <p:cNvPr id="10" name="Text 7"/>
          <p:cNvSpPr txBox="1"/>
          <p:nvPr/>
        </p:nvSpPr>
        <p:spPr>
          <a:xfrm>
            <a:off x="777240"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NO APLICA</a:t>
            </a:r>
            <a:endParaRPr lang="en-US" sz="1000" dirty="0"/>
          </a:p>
        </p:txBody>
      </p:sp>
      <p:sp>
        <p:nvSpPr>
          <p:cNvPr id="11" name="Text 8"/>
          <p:cNvSpPr txBox="1"/>
          <p:nvPr/>
        </p:nvSpPr>
        <p:spPr>
          <a:xfrm>
            <a:off x="777240"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El precio premium no llega a todos</a:t>
            </a:r>
            <a:endParaRPr lang="en-US" sz="1400" dirty="0"/>
          </a:p>
        </p:txBody>
      </p:sp>
      <p:sp>
        <p:nvSpPr>
          <p:cNvPr id="12" name="Shape 9"/>
          <p:cNvSpPr/>
          <p:nvPr/>
        </p:nvSpPr>
        <p:spPr>
          <a:xfrm>
            <a:off x="2812694" y="1554480"/>
            <a:ext cx="2035454" cy="3383280"/>
          </a:xfrm>
          <a:prstGeom prst="roundRect">
            <a:avLst>
              <a:gd name="adj" fmla="val 539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3" name="Shape 10"/>
          <p:cNvSpPr/>
          <p:nvPr/>
        </p:nvSpPr>
        <p:spPr>
          <a:xfrm>
            <a:off x="3041294" y="1783080"/>
            <a:ext cx="640080" cy="640080"/>
          </a:xfrm>
          <a:prstGeom prst="ellipse">
            <a:avLst/>
          </a:prstGeom>
          <a:solidFill>
            <a:schemeClr val="bg1"/>
          </a:solidFill>
          <a:ln w="12700">
            <a:solidFill>
              <a:schemeClr val="bg1"/>
            </a:solidFill>
            <a:prstDash val="solid"/>
          </a:ln>
        </p:spPr>
      </p:sp>
      <p:pic>
        <p:nvPicPr>
          <p:cNvPr id="14" name="Image 1" descr="preencoded.png">    </p:cNvPr>
          <p:cNvPicPr>
            <a:picLocks noChangeAspect="1"/>
          </p:cNvPicPr>
          <p:nvPr/>
        </p:nvPicPr>
        <p:blipFill>
          <a:blip r:embed="rId2"/>
          <a:stretch>
            <a:fillRect/>
          </a:stretch>
        </p:blipFill>
        <p:spPr>
          <a:xfrm>
            <a:off x="3182112" y="1923898"/>
            <a:ext cx="358445" cy="358445"/>
          </a:xfrm>
          <a:prstGeom prst="rect">
            <a:avLst/>
          </a:prstGeom>
        </p:spPr>
      </p:pic>
      <p:sp>
        <p:nvSpPr>
          <p:cNvPr id="15" name="Text 11"/>
          <p:cNvSpPr txBox="1"/>
          <p:nvPr/>
        </p:nvSpPr>
        <p:spPr>
          <a:xfrm>
            <a:off x="3041294" y="2542032"/>
            <a:ext cx="1669694" cy="384048"/>
          </a:xfrm>
          <a:prstGeom prst="rect">
            <a:avLst/>
          </a:prstGeom>
          <a:noFill/>
          <a:ln/>
        </p:spPr>
        <p:txBody>
          <a:bodyPr wrap="square" lIns="0" tIns="0" rIns="0" bIns="0" rtlCol="0" anchor="t"/>
          <a:lstStyle/>
          <a:p>
            <a:pPr indent="0" marL="0">
              <a:buNone/>
            </a:pPr>
            <a:r>
              <a:rPr lang="en-US" sz="1800" b="1" dirty="0">
                <a:solidFill>
                  <a:schemeClr val="bg1"/>
                </a:solidFill>
              </a:rPr>
              <a:t>Nicho</a:t>
            </a:r>
            <a:endParaRPr lang="en-US" sz="1800" dirty="0"/>
          </a:p>
        </p:txBody>
      </p:sp>
      <p:sp>
        <p:nvSpPr>
          <p:cNvPr id="16" name="Text 12"/>
          <p:cNvSpPr txBox="1"/>
          <p:nvPr/>
        </p:nvSpPr>
        <p:spPr>
          <a:xfrm>
            <a:off x="3041294" y="2926080"/>
            <a:ext cx="1669694" cy="548640"/>
          </a:xfrm>
          <a:prstGeom prst="rect">
            <a:avLst/>
          </a:prstGeom>
          <a:noFill/>
          <a:ln/>
        </p:spPr>
        <p:txBody>
          <a:bodyPr wrap="square" lIns="0" tIns="0" rIns="0" bIns="0" rtlCol="0" anchor="t"/>
          <a:lstStyle/>
          <a:p>
            <a:pPr indent="0" marL="0">
              <a:buNone/>
            </a:pPr>
            <a:r>
              <a:rPr lang="en-US" sz="1200" dirty="0">
                <a:solidFill>
                  <a:schemeClr val="bg2"/>
                </a:solidFill>
              </a:rPr>
              <a:t>Clientes muy específicos</a:t>
            </a:r>
            <a:endParaRPr lang="en-US" sz="1200" dirty="0"/>
          </a:p>
        </p:txBody>
      </p:sp>
      <p:sp>
        <p:nvSpPr>
          <p:cNvPr id="17" name="Shape 13"/>
          <p:cNvSpPr/>
          <p:nvPr/>
        </p:nvSpPr>
        <p:spPr>
          <a:xfrm>
            <a:off x="3041294" y="3520440"/>
            <a:ext cx="1188720" cy="292608"/>
          </a:xfrm>
          <a:prstGeom prst="roundRect">
            <a:avLst>
              <a:gd name="adj" fmla="val 50000"/>
            </a:avLst>
          </a:prstGeom>
          <a:solidFill>
            <a:schemeClr val="bg1"/>
          </a:solidFill>
          <a:ln w="12700">
            <a:solidFill>
              <a:schemeClr val="bg1"/>
            </a:solidFill>
            <a:prstDash val="solid"/>
          </a:ln>
        </p:spPr>
      </p:sp>
      <p:sp>
        <p:nvSpPr>
          <p:cNvPr id="18" name="Text 14"/>
          <p:cNvSpPr txBox="1"/>
          <p:nvPr/>
        </p:nvSpPr>
        <p:spPr>
          <a:xfrm>
            <a:off x="3041294"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ELEGIDO</a:t>
            </a:r>
            <a:endParaRPr lang="en-US" sz="1000" dirty="0"/>
          </a:p>
        </p:txBody>
      </p:sp>
      <p:sp>
        <p:nvSpPr>
          <p:cNvPr id="19" name="Text 15"/>
          <p:cNvSpPr txBox="1"/>
          <p:nvPr/>
        </p:nvSpPr>
        <p:spPr>
          <a:xfrm>
            <a:off x="3041294" y="3931920"/>
            <a:ext cx="1669694" cy="914400"/>
          </a:xfrm>
          <a:prstGeom prst="rect">
            <a:avLst/>
          </a:prstGeom>
          <a:noFill/>
          <a:ln/>
        </p:spPr>
        <p:txBody>
          <a:bodyPr wrap="square" lIns="0" tIns="0" rIns="0" bIns="0" rtlCol="0" anchor="t"/>
          <a:lstStyle/>
          <a:p>
            <a:pPr indent="0" marL="0">
              <a:buNone/>
            </a:pPr>
            <a:r>
              <a:rPr lang="en-US" sz="1400" dirty="0">
                <a:solidFill>
                  <a:schemeClr val="bg1"/>
                </a:solidFill>
              </a:rPr>
              <a:t>Padres A/B con hijos de 4 a 11 en Lima Top y Moderna</a:t>
            </a:r>
            <a:endParaRPr lang="en-US" sz="1400" dirty="0"/>
          </a:p>
        </p:txBody>
      </p:sp>
      <p:sp>
        <p:nvSpPr>
          <p:cNvPr id="20" name="Shape 16"/>
          <p:cNvSpPr/>
          <p:nvPr/>
        </p:nvSpPr>
        <p:spPr>
          <a:xfrm>
            <a:off x="5076749" y="1554480"/>
            <a:ext cx="2035454" cy="3383280"/>
          </a:xfrm>
          <a:prstGeom prst="roundRect">
            <a:avLst>
              <a:gd name="adj" fmla="val 539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21" name="Shape 17"/>
          <p:cNvSpPr/>
          <p:nvPr/>
        </p:nvSpPr>
        <p:spPr>
          <a:xfrm>
            <a:off x="5305349" y="1783080"/>
            <a:ext cx="640080" cy="640080"/>
          </a:xfrm>
          <a:prstGeom prst="ellipse">
            <a:avLst/>
          </a:prstGeom>
          <a:solidFill>
            <a:schemeClr val="bg1"/>
          </a:solidFill>
          <a:ln w="12700">
            <a:solidFill>
              <a:schemeClr val="bg1"/>
            </a:solidFill>
            <a:prstDash val="solid"/>
          </a:ln>
        </p:spPr>
      </p:sp>
      <p:pic>
        <p:nvPicPr>
          <p:cNvPr id="22" name="Image 2" descr="preencoded.png">    </p:cNvPr>
          <p:cNvPicPr>
            <a:picLocks noChangeAspect="1"/>
          </p:cNvPicPr>
          <p:nvPr/>
        </p:nvPicPr>
        <p:blipFill>
          <a:blip r:embed="rId3"/>
          <a:stretch>
            <a:fillRect/>
          </a:stretch>
        </p:blipFill>
        <p:spPr>
          <a:xfrm>
            <a:off x="5446166" y="1923898"/>
            <a:ext cx="358445" cy="358445"/>
          </a:xfrm>
          <a:prstGeom prst="rect">
            <a:avLst/>
          </a:prstGeom>
        </p:spPr>
      </p:pic>
      <p:sp>
        <p:nvSpPr>
          <p:cNvPr id="23" name="Text 18"/>
          <p:cNvSpPr txBox="1"/>
          <p:nvPr/>
        </p:nvSpPr>
        <p:spPr>
          <a:xfrm>
            <a:off x="5305349" y="2542032"/>
            <a:ext cx="1669694" cy="384048"/>
          </a:xfrm>
          <a:prstGeom prst="rect">
            <a:avLst/>
          </a:prstGeom>
          <a:noFill/>
          <a:ln/>
        </p:spPr>
        <p:txBody>
          <a:bodyPr wrap="square" lIns="0" tIns="0" rIns="0" bIns="0" rtlCol="0" anchor="t"/>
          <a:lstStyle/>
          <a:p>
            <a:pPr indent="0" marL="0">
              <a:buNone/>
            </a:pPr>
            <a:r>
              <a:rPr lang="en-US" sz="1800" b="1" dirty="0">
                <a:solidFill>
                  <a:schemeClr val="bg1"/>
                </a:solidFill>
              </a:rPr>
              <a:t>Segmentado</a:t>
            </a:r>
            <a:endParaRPr lang="en-US" sz="1800" dirty="0"/>
          </a:p>
        </p:txBody>
      </p:sp>
      <p:sp>
        <p:nvSpPr>
          <p:cNvPr id="24" name="Text 19"/>
          <p:cNvSpPr txBox="1"/>
          <p:nvPr/>
        </p:nvSpPr>
        <p:spPr>
          <a:xfrm>
            <a:off x="5305349" y="2926080"/>
            <a:ext cx="1669694" cy="548640"/>
          </a:xfrm>
          <a:prstGeom prst="rect">
            <a:avLst/>
          </a:prstGeom>
          <a:noFill/>
          <a:ln/>
        </p:spPr>
        <p:txBody>
          <a:bodyPr wrap="square" lIns="0" tIns="0" rIns="0" bIns="0" rtlCol="0" anchor="t"/>
          <a:lstStyle/>
          <a:p>
            <a:pPr indent="0" marL="0">
              <a:buNone/>
            </a:pPr>
            <a:r>
              <a:rPr lang="en-US" sz="1200" dirty="0">
                <a:solidFill>
                  <a:schemeClr val="bg2"/>
                </a:solidFill>
              </a:rPr>
              <a:t>Mismo núcleo, necesidades distintas</a:t>
            </a:r>
            <a:endParaRPr lang="en-US" sz="1200" dirty="0"/>
          </a:p>
        </p:txBody>
      </p:sp>
      <p:sp>
        <p:nvSpPr>
          <p:cNvPr id="25" name="Shape 20"/>
          <p:cNvSpPr/>
          <p:nvPr/>
        </p:nvSpPr>
        <p:spPr>
          <a:xfrm>
            <a:off x="5305349" y="3520440"/>
            <a:ext cx="1188720" cy="292608"/>
          </a:xfrm>
          <a:prstGeom prst="roundRect">
            <a:avLst>
              <a:gd name="adj" fmla="val 50000"/>
            </a:avLst>
          </a:prstGeom>
          <a:solidFill>
            <a:schemeClr val="bg1"/>
          </a:solidFill>
          <a:ln w="12700">
            <a:solidFill>
              <a:schemeClr val="bg1"/>
            </a:solidFill>
            <a:prstDash val="solid"/>
          </a:ln>
        </p:spPr>
      </p:sp>
      <p:sp>
        <p:nvSpPr>
          <p:cNvPr id="26" name="Text 21"/>
          <p:cNvSpPr txBox="1"/>
          <p:nvPr/>
        </p:nvSpPr>
        <p:spPr>
          <a:xfrm>
            <a:off x="5305349"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ELEGIDO</a:t>
            </a:r>
            <a:endParaRPr lang="en-US" sz="1000" dirty="0"/>
          </a:p>
        </p:txBody>
      </p:sp>
      <p:sp>
        <p:nvSpPr>
          <p:cNvPr id="27" name="Text 22"/>
          <p:cNvSpPr txBox="1"/>
          <p:nvPr/>
        </p:nvSpPr>
        <p:spPr>
          <a:xfrm>
            <a:off x="5305349" y="3931920"/>
            <a:ext cx="1669694" cy="914400"/>
          </a:xfrm>
          <a:prstGeom prst="rect">
            <a:avLst/>
          </a:prstGeom>
          <a:noFill/>
          <a:ln/>
        </p:spPr>
        <p:txBody>
          <a:bodyPr wrap="square" lIns="0" tIns="0" rIns="0" bIns="0" rtlCol="0" anchor="t"/>
          <a:lstStyle/>
          <a:p>
            <a:pPr indent="0" marL="0">
              <a:buNone/>
            </a:pPr>
            <a:r>
              <a:rPr lang="en-US" sz="1400" dirty="0">
                <a:solidFill>
                  <a:schemeClr val="bg1"/>
                </a:solidFill>
              </a:rPr>
              <a:t>Claudia busca salud; Rodrigo busca tiempo</a:t>
            </a:r>
            <a:endParaRPr lang="en-US" sz="1400" dirty="0"/>
          </a:p>
        </p:txBody>
      </p:sp>
      <p:sp>
        <p:nvSpPr>
          <p:cNvPr id="28" name="Shape 23"/>
          <p:cNvSpPr/>
          <p:nvPr/>
        </p:nvSpPr>
        <p:spPr>
          <a:xfrm>
            <a:off x="7340803"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9" name="Shape 24"/>
          <p:cNvSpPr/>
          <p:nvPr/>
        </p:nvSpPr>
        <p:spPr>
          <a:xfrm>
            <a:off x="7569403" y="1783080"/>
            <a:ext cx="640080" cy="640080"/>
          </a:xfrm>
          <a:prstGeom prst="ellipse">
            <a:avLst/>
          </a:prstGeom>
          <a:solidFill>
            <a:schemeClr val="bg2"/>
          </a:solidFill>
          <a:ln w="12700">
            <a:solidFill>
              <a:schemeClr val="bg2"/>
            </a:solidFill>
            <a:prstDash val="solid"/>
          </a:ln>
        </p:spPr>
      </p:sp>
      <p:pic>
        <p:nvPicPr>
          <p:cNvPr id="30" name="Image 3" descr="preencoded.png">    </p:cNvPr>
          <p:cNvPicPr>
            <a:picLocks noChangeAspect="1"/>
          </p:cNvPicPr>
          <p:nvPr/>
        </p:nvPicPr>
        <p:blipFill>
          <a:blip r:embed="rId4"/>
          <a:stretch>
            <a:fillRect/>
          </a:stretch>
        </p:blipFill>
        <p:spPr>
          <a:xfrm>
            <a:off x="7710221" y="1923898"/>
            <a:ext cx="358445" cy="358445"/>
          </a:xfrm>
          <a:prstGeom prst="rect">
            <a:avLst/>
          </a:prstGeom>
        </p:spPr>
      </p:pic>
      <p:sp>
        <p:nvSpPr>
          <p:cNvPr id="31" name="Text 25"/>
          <p:cNvSpPr txBox="1"/>
          <p:nvPr/>
        </p:nvSpPr>
        <p:spPr>
          <a:xfrm>
            <a:off x="7569403"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Diversificado</a:t>
            </a:r>
            <a:endParaRPr lang="en-US" sz="1800" dirty="0"/>
          </a:p>
        </p:txBody>
      </p:sp>
      <p:sp>
        <p:nvSpPr>
          <p:cNvPr id="32" name="Text 26"/>
          <p:cNvSpPr txBox="1"/>
          <p:nvPr/>
        </p:nvSpPr>
        <p:spPr>
          <a:xfrm>
            <a:off x="7569403"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Segmentos sin relación entre sí</a:t>
            </a:r>
            <a:endParaRPr lang="en-US" sz="1200" dirty="0"/>
          </a:p>
        </p:txBody>
      </p:sp>
      <p:sp>
        <p:nvSpPr>
          <p:cNvPr id="33" name="Shape 27"/>
          <p:cNvSpPr/>
          <p:nvPr/>
        </p:nvSpPr>
        <p:spPr>
          <a:xfrm>
            <a:off x="7569403" y="3520440"/>
            <a:ext cx="1188720" cy="292608"/>
          </a:xfrm>
          <a:prstGeom prst="roundRect">
            <a:avLst>
              <a:gd name="adj" fmla="val 50000"/>
            </a:avLst>
          </a:prstGeom>
          <a:solidFill>
            <a:schemeClr val="bg2"/>
          </a:solidFill>
          <a:ln w="12700">
            <a:solidFill>
              <a:schemeClr val="bg2"/>
            </a:solidFill>
            <a:prstDash val="solid"/>
          </a:ln>
        </p:spPr>
      </p:sp>
      <p:sp>
        <p:nvSpPr>
          <p:cNvPr id="34" name="Text 28"/>
          <p:cNvSpPr txBox="1"/>
          <p:nvPr/>
        </p:nvSpPr>
        <p:spPr>
          <a:xfrm>
            <a:off x="7569403"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NO APLICA</a:t>
            </a:r>
            <a:endParaRPr lang="en-US" sz="1000" dirty="0"/>
          </a:p>
        </p:txBody>
      </p:sp>
      <p:sp>
        <p:nvSpPr>
          <p:cNvPr id="35" name="Text 29"/>
          <p:cNvSpPr txBox="1"/>
          <p:nvPr/>
        </p:nvSpPr>
        <p:spPr>
          <a:xfrm>
            <a:off x="7569403"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Un solo producto y un solo público</a:t>
            </a:r>
            <a:endParaRPr lang="en-US" sz="1400" dirty="0"/>
          </a:p>
        </p:txBody>
      </p:sp>
      <p:sp>
        <p:nvSpPr>
          <p:cNvPr id="36" name="Shape 30"/>
          <p:cNvSpPr/>
          <p:nvPr/>
        </p:nvSpPr>
        <p:spPr>
          <a:xfrm>
            <a:off x="9604858"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1"/>
          <p:cNvSpPr/>
          <p:nvPr/>
        </p:nvSpPr>
        <p:spPr>
          <a:xfrm>
            <a:off x="9833458" y="1783080"/>
            <a:ext cx="640080" cy="640080"/>
          </a:xfrm>
          <a:prstGeom prst="ellipse">
            <a:avLst/>
          </a:prstGeom>
          <a:solidFill>
            <a:schemeClr val="bg2"/>
          </a:solidFill>
          <a:ln w="12700">
            <a:solidFill>
              <a:schemeClr val="bg2"/>
            </a:solidFill>
            <a:prstDash val="solid"/>
          </a:ln>
        </p:spPr>
      </p:sp>
      <p:pic>
        <p:nvPicPr>
          <p:cNvPr id="38" name="Image 4" descr="preencoded.png">    </p:cNvPr>
          <p:cNvPicPr>
            <a:picLocks noChangeAspect="1"/>
          </p:cNvPicPr>
          <p:nvPr/>
        </p:nvPicPr>
        <p:blipFill>
          <a:blip r:embed="rId5"/>
          <a:stretch>
            <a:fillRect/>
          </a:stretch>
        </p:blipFill>
        <p:spPr>
          <a:xfrm>
            <a:off x="9974275" y="1923898"/>
            <a:ext cx="358445" cy="358445"/>
          </a:xfrm>
          <a:prstGeom prst="rect">
            <a:avLst/>
          </a:prstGeom>
        </p:spPr>
      </p:pic>
      <p:sp>
        <p:nvSpPr>
          <p:cNvPr id="39" name="Text 32"/>
          <p:cNvSpPr txBox="1"/>
          <p:nvPr/>
        </p:nvSpPr>
        <p:spPr>
          <a:xfrm>
            <a:off x="9833458"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Multilateral</a:t>
            </a:r>
            <a:endParaRPr lang="en-US" sz="1800" dirty="0"/>
          </a:p>
        </p:txBody>
      </p:sp>
      <p:sp>
        <p:nvSpPr>
          <p:cNvPr id="40" name="Text 33"/>
          <p:cNvSpPr txBox="1"/>
          <p:nvPr/>
        </p:nvSpPr>
        <p:spPr>
          <a:xfrm>
            <a:off x="9833458"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Dos grupos que se necesitan</a:t>
            </a:r>
            <a:endParaRPr lang="en-US" sz="1200" dirty="0"/>
          </a:p>
        </p:txBody>
      </p:sp>
      <p:sp>
        <p:nvSpPr>
          <p:cNvPr id="41" name="Shape 34"/>
          <p:cNvSpPr/>
          <p:nvPr/>
        </p:nvSpPr>
        <p:spPr>
          <a:xfrm>
            <a:off x="9833458" y="3520440"/>
            <a:ext cx="1188720" cy="292608"/>
          </a:xfrm>
          <a:prstGeom prst="roundRect">
            <a:avLst>
              <a:gd name="adj" fmla="val 50000"/>
            </a:avLst>
          </a:prstGeom>
          <a:solidFill>
            <a:schemeClr val="bg2"/>
          </a:solidFill>
          <a:ln w="12700">
            <a:solidFill>
              <a:schemeClr val="bg2"/>
            </a:solidFill>
            <a:prstDash val="solid"/>
          </a:ln>
        </p:spPr>
      </p:sp>
      <p:sp>
        <p:nvSpPr>
          <p:cNvPr id="42" name="Text 35"/>
          <p:cNvSpPr txBox="1"/>
          <p:nvPr/>
        </p:nvSpPr>
        <p:spPr>
          <a:xfrm>
            <a:off x="9833458"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NO APLICA</a:t>
            </a:r>
            <a:endParaRPr lang="en-US" sz="1000" dirty="0"/>
          </a:p>
        </p:txBody>
      </p:sp>
      <p:sp>
        <p:nvSpPr>
          <p:cNvPr id="43" name="Text 36"/>
          <p:cNvSpPr txBox="1"/>
          <p:nvPr/>
        </p:nvSpPr>
        <p:spPr>
          <a:xfrm>
            <a:off x="9833458"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No conectamos dos lados de un mercado</a:t>
            </a:r>
            <a:endParaRPr lang="en-US" sz="1400" dirty="0"/>
          </a:p>
        </p:txBody>
      </p:sp>
      <p:sp>
        <p:nvSpPr>
          <p:cNvPr id="44" name="Text 37"/>
          <p:cNvSpPr txBox="1"/>
          <p:nvPr/>
        </p:nvSpPr>
        <p:spPr>
          <a:xfrm>
            <a:off x="548640" y="5138928"/>
            <a:ext cx="5486400" cy="292608"/>
          </a:xfrm>
          <a:prstGeom prst="rect">
            <a:avLst/>
          </a:prstGeom>
          <a:noFill/>
          <a:ln/>
        </p:spPr>
        <p:txBody>
          <a:bodyPr wrap="square" lIns="0" tIns="0" rIns="0" bIns="0" rtlCol="0" anchor="t"/>
          <a:lstStyle/>
          <a:p>
            <a:pPr indent="0" marL="0">
              <a:buNone/>
            </a:pPr>
            <a:r>
              <a:rPr lang="en-US" sz="1400" b="1" dirty="0">
                <a:solidFill>
                  <a:schemeClr val="tx2"/>
                </a:solidFill>
              </a:rPr>
              <a:t>Por tipo de comprador (unidades del año 1)</a:t>
            </a:r>
            <a:endParaRPr lang="en-US" sz="1400" dirty="0"/>
          </a:p>
        </p:txBody>
      </p:sp>
      <p:sp>
        <p:nvSpPr>
          <p:cNvPr id="45" name="Shape 38"/>
          <p:cNvSpPr/>
          <p:nvPr/>
        </p:nvSpPr>
        <p:spPr>
          <a:xfrm>
            <a:off x="548640" y="5486400"/>
            <a:ext cx="8513064" cy="566928"/>
          </a:xfrm>
          <a:prstGeom prst="roundRect">
            <a:avLst>
              <a:gd name="adj" fmla="val 16129"/>
            </a:avLst>
          </a:prstGeom>
          <a:solidFill>
            <a:schemeClr val="tx2"/>
          </a:solidFill>
          <a:ln w="12700">
            <a:solidFill>
              <a:schemeClr val="tx2"/>
            </a:solidFill>
            <a:prstDash val="solid"/>
          </a:ln>
        </p:spPr>
      </p:sp>
      <p:sp>
        <p:nvSpPr>
          <p:cNvPr id="46" name="Text 39"/>
          <p:cNvSpPr txBox="1"/>
          <p:nvPr/>
        </p:nvSpPr>
        <p:spPr>
          <a:xfrm>
            <a:off x="777240" y="5486400"/>
            <a:ext cx="8138160" cy="566928"/>
          </a:xfrm>
          <a:prstGeom prst="rect">
            <a:avLst/>
          </a:prstGeom>
          <a:noFill/>
          <a:ln/>
        </p:spPr>
        <p:txBody>
          <a:bodyPr wrap="square" lIns="0" tIns="0" rIns="0" bIns="0" rtlCol="0" anchor="ctr"/>
          <a:lstStyle/>
          <a:p>
            <a:pPr indent="0" marL="0">
              <a:buNone/>
            </a:pPr>
            <a:r>
              <a:rPr lang="en-US" sz="1500" b="1" dirty="0">
                <a:solidFill>
                  <a:schemeClr val="bg1"/>
                </a:solidFill>
              </a:rPr>
              <a:t>Mercado de consumo (B2C): familias en stands, ferias y WhatsApp · 77.2 %</a:t>
            </a:r>
            <a:endParaRPr lang="en-US" sz="1500" dirty="0"/>
          </a:p>
        </p:txBody>
      </p:sp>
      <p:sp>
        <p:nvSpPr>
          <p:cNvPr id="47" name="Shape 40"/>
          <p:cNvSpPr/>
          <p:nvPr/>
        </p:nvSpPr>
        <p:spPr>
          <a:xfrm>
            <a:off x="9107424" y="5486400"/>
            <a:ext cx="2532888" cy="566928"/>
          </a:xfrm>
          <a:prstGeom prst="roundRect">
            <a:avLst>
              <a:gd name="adj" fmla="val 16129"/>
            </a:avLst>
          </a:prstGeom>
          <a:solidFill>
            <a:schemeClr val="accent3"/>
          </a:solidFill>
          <a:ln w="12700">
            <a:solidFill>
              <a:schemeClr val="accent3"/>
            </a:solidFill>
            <a:prstDash val="solid"/>
          </a:ln>
        </p:spPr>
      </p:sp>
      <p:sp>
        <p:nvSpPr>
          <p:cNvPr id="48" name="Text 41"/>
          <p:cNvSpPr txBox="1"/>
          <p:nvPr/>
        </p:nvSpPr>
        <p:spPr>
          <a:xfrm>
            <a:off x="9107424" y="5486400"/>
            <a:ext cx="2532888" cy="566928"/>
          </a:xfrm>
          <a:prstGeom prst="rect">
            <a:avLst/>
          </a:prstGeom>
          <a:noFill/>
          <a:ln/>
        </p:spPr>
        <p:txBody>
          <a:bodyPr wrap="square" lIns="0" tIns="0" rIns="0" bIns="0" rtlCol="0" anchor="ctr"/>
          <a:lstStyle/>
          <a:p>
            <a:pPr algn="ctr" indent="0" marL="0">
              <a:buNone/>
            </a:pPr>
            <a:r>
              <a:rPr lang="en-US" sz="1400" b="1" dirty="0">
                <a:solidFill>
                  <a:schemeClr val="tx1"/>
                </a:solidFill>
              </a:rPr>
              <a:t>B2B 22.8 %</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TAMAÑO DEL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Un nicho chico, pero con billetera</a:t>
            </a:r>
            <a:endParaRPr lang="en-US" sz="3400" dirty="0"/>
          </a:p>
        </p:txBody>
      </p:sp>
      <p:sp>
        <p:nvSpPr>
          <p:cNvPr id="4" name="Shape 2"/>
          <p:cNvSpPr/>
          <p:nvPr/>
        </p:nvSpPr>
        <p:spPr>
          <a:xfrm>
            <a:off x="594360" y="1554480"/>
            <a:ext cx="6035040" cy="914400"/>
          </a:xfrm>
          <a:prstGeom prst="roundRect">
            <a:avLst>
              <a:gd name="adj" fmla="val 12000"/>
            </a:avLst>
          </a:prstGeom>
          <a:solidFill>
            <a:schemeClr val="accent5"/>
          </a:solidFill>
          <a:ln w="12700">
            <a:solidFill>
              <a:schemeClr val="accent5"/>
            </a:solidFill>
            <a:prstDash val="solid"/>
          </a:ln>
        </p:spPr>
      </p:sp>
      <p:sp>
        <p:nvSpPr>
          <p:cNvPr id="5" name="Text 3"/>
          <p:cNvSpPr txBox="1"/>
          <p:nvPr/>
        </p:nvSpPr>
        <p:spPr>
          <a:xfrm>
            <a:off x="731520" y="1554480"/>
            <a:ext cx="5760720" cy="914400"/>
          </a:xfrm>
          <a:prstGeom prst="rect">
            <a:avLst/>
          </a:prstGeom>
          <a:noFill/>
          <a:ln/>
        </p:spPr>
        <p:txBody>
          <a:bodyPr wrap="square" lIns="0" tIns="0" rIns="0" bIns="0" rtlCol="0" anchor="ctr"/>
          <a:lstStyle/>
          <a:p>
            <a:pPr algn="ctr" indent="0" marL="0">
              <a:buNone/>
            </a:pPr>
            <a:r>
              <a:rPr lang="en-US" sz="1800" b="1" dirty="0">
                <a:solidFill>
                  <a:schemeClr val="tx1"/>
                </a:solidFill>
              </a:rPr>
              <a:t>TAM · S/130.9 millones</a:t>
            </a:r>
            <a:endParaRPr lang="en-US" sz="1400" dirty="0"/>
          </a:p>
          <a:p>
            <a:pPr algn="ctr" indent="0" marL="0">
              <a:buNone/>
            </a:pPr>
            <a:r>
              <a:rPr lang="en-US" sz="1200" dirty="0">
                <a:solidFill>
                  <a:schemeClr val="tx1"/>
                </a:solidFill>
              </a:rPr>
              <a:t>932 mil hogares · todas las loncheras de Lima</a:t>
            </a:r>
            <a:endParaRPr lang="en-US" sz="1400" dirty="0"/>
          </a:p>
        </p:txBody>
      </p:sp>
      <p:sp>
        <p:nvSpPr>
          <p:cNvPr id="6" name="Shape 4"/>
          <p:cNvSpPr/>
          <p:nvPr/>
        </p:nvSpPr>
        <p:spPr>
          <a:xfrm>
            <a:off x="1143000" y="2633472"/>
            <a:ext cx="4937760" cy="914400"/>
          </a:xfrm>
          <a:prstGeom prst="roundRect">
            <a:avLst>
              <a:gd name="adj" fmla="val 12000"/>
            </a:avLst>
          </a:prstGeom>
          <a:solidFill>
            <a:schemeClr val="accent2"/>
          </a:solidFill>
          <a:ln w="12700">
            <a:solidFill>
              <a:schemeClr val="accent2"/>
            </a:solidFill>
            <a:prstDash val="solid"/>
          </a:ln>
        </p:spPr>
      </p:sp>
      <p:sp>
        <p:nvSpPr>
          <p:cNvPr id="7" name="Text 5"/>
          <p:cNvSpPr txBox="1"/>
          <p:nvPr/>
        </p:nvSpPr>
        <p:spPr>
          <a:xfrm>
            <a:off x="1280160" y="2633472"/>
            <a:ext cx="4663440" cy="914400"/>
          </a:xfrm>
          <a:prstGeom prst="rect">
            <a:avLst/>
          </a:prstGeom>
          <a:noFill/>
          <a:ln/>
        </p:spPr>
        <p:txBody>
          <a:bodyPr wrap="square" lIns="0" tIns="0" rIns="0" bIns="0" rtlCol="0" anchor="ctr"/>
          <a:lstStyle/>
          <a:p>
            <a:pPr algn="ctr" indent="0" marL="0">
              <a:buNone/>
            </a:pPr>
            <a:r>
              <a:rPr lang="en-US" sz="1800" b="1" dirty="0">
                <a:solidFill>
                  <a:schemeClr val="bg1"/>
                </a:solidFill>
              </a:rPr>
              <a:t>SAM · S/62.8 millones</a:t>
            </a:r>
            <a:endParaRPr lang="en-US" sz="1400" dirty="0"/>
          </a:p>
          <a:p>
            <a:pPr algn="ctr" indent="0" marL="0">
              <a:buNone/>
            </a:pPr>
            <a:r>
              <a:rPr lang="en-US" sz="1200" dirty="0">
                <a:solidFill>
                  <a:schemeClr val="bg1"/>
                </a:solidFill>
              </a:rPr>
              <a:t>168 mil hogares A/B con niños de 4 a 11</a:t>
            </a:r>
            <a:endParaRPr lang="en-US" sz="1400" dirty="0"/>
          </a:p>
        </p:txBody>
      </p:sp>
      <p:sp>
        <p:nvSpPr>
          <p:cNvPr id="8" name="Shape 6"/>
          <p:cNvSpPr/>
          <p:nvPr/>
        </p:nvSpPr>
        <p:spPr>
          <a:xfrm>
            <a:off x="1691640" y="3712464"/>
            <a:ext cx="3840480" cy="914400"/>
          </a:xfrm>
          <a:prstGeom prst="roundRect">
            <a:avLst>
              <a:gd name="adj" fmla="val 12000"/>
            </a:avLst>
          </a:prstGeom>
          <a:solidFill>
            <a:schemeClr val="accent1"/>
          </a:solidFill>
          <a:ln w="12700">
            <a:solidFill>
              <a:schemeClr val="accent1"/>
            </a:solidFill>
            <a:prstDash val="solid"/>
          </a:ln>
        </p:spPr>
      </p:sp>
      <p:sp>
        <p:nvSpPr>
          <p:cNvPr id="9" name="Text 7"/>
          <p:cNvSpPr txBox="1"/>
          <p:nvPr/>
        </p:nvSpPr>
        <p:spPr>
          <a:xfrm>
            <a:off x="1828800" y="3712464"/>
            <a:ext cx="3566160" cy="914400"/>
          </a:xfrm>
          <a:prstGeom prst="rect">
            <a:avLst/>
          </a:prstGeom>
          <a:noFill/>
          <a:ln/>
        </p:spPr>
        <p:txBody>
          <a:bodyPr wrap="square" lIns="0" tIns="0" rIns="0" bIns="0" rtlCol="0" anchor="ctr"/>
          <a:lstStyle/>
          <a:p>
            <a:pPr algn="ctr" indent="0" marL="0">
              <a:buNone/>
            </a:pPr>
            <a:r>
              <a:rPr lang="en-US" sz="1800" b="1" dirty="0">
                <a:solidFill>
                  <a:schemeClr val="bg1"/>
                </a:solidFill>
              </a:rPr>
              <a:t>Núcleo · S/17.3 millones</a:t>
            </a:r>
            <a:endParaRPr lang="en-US" sz="1400" dirty="0"/>
          </a:p>
          <a:p>
            <a:pPr algn="ctr" indent="0" marL="0">
              <a:buNone/>
            </a:pPr>
            <a:r>
              <a:rPr lang="en-US" sz="1200" dirty="0">
                <a:solidFill>
                  <a:schemeClr val="bg1"/>
                </a:solidFill>
              </a:rPr>
              <a:t>46 mil hogares en Lima Top y Moderna</a:t>
            </a:r>
            <a:endParaRPr lang="en-US" sz="1400" dirty="0"/>
          </a:p>
        </p:txBody>
      </p:sp>
      <p:sp>
        <p:nvSpPr>
          <p:cNvPr id="10" name="Shape 8"/>
          <p:cNvSpPr/>
          <p:nvPr/>
        </p:nvSpPr>
        <p:spPr>
          <a:xfrm>
            <a:off x="2240280" y="4791456"/>
            <a:ext cx="2743200" cy="914400"/>
          </a:xfrm>
          <a:prstGeom prst="roundRect">
            <a:avLst>
              <a:gd name="adj" fmla="val 12000"/>
            </a:avLst>
          </a:prstGeom>
          <a:solidFill>
            <a:schemeClr val="tx2"/>
          </a:solidFill>
          <a:ln w="12700">
            <a:solidFill>
              <a:schemeClr val="tx2"/>
            </a:solidFill>
            <a:prstDash val="solid"/>
          </a:ln>
        </p:spPr>
      </p:sp>
      <p:sp>
        <p:nvSpPr>
          <p:cNvPr id="11" name="Text 9"/>
          <p:cNvSpPr txBox="1"/>
          <p:nvPr/>
        </p:nvSpPr>
        <p:spPr>
          <a:xfrm>
            <a:off x="2377440" y="4791456"/>
            <a:ext cx="2468880" cy="914400"/>
          </a:xfrm>
          <a:prstGeom prst="rect">
            <a:avLst/>
          </a:prstGeom>
          <a:noFill/>
          <a:ln/>
        </p:spPr>
        <p:txBody>
          <a:bodyPr wrap="square" lIns="0" tIns="0" rIns="0" bIns="0" rtlCol="0" anchor="ctr"/>
          <a:lstStyle/>
          <a:p>
            <a:pPr algn="ctr" indent="0" marL="0">
              <a:buNone/>
            </a:pPr>
            <a:r>
              <a:rPr lang="en-US" sz="1800" b="1" dirty="0">
                <a:solidFill>
                  <a:schemeClr val="bg1"/>
                </a:solidFill>
              </a:rPr>
              <a:t>SOM año 1 · S/0.20 M</a:t>
            </a:r>
            <a:endParaRPr lang="en-US" sz="1400" dirty="0"/>
          </a:p>
          <a:p>
            <a:pPr algn="ctr" indent="0" marL="0">
              <a:buNone/>
            </a:pPr>
            <a:r>
              <a:rPr lang="en-US" sz="1200" dirty="0">
                <a:solidFill>
                  <a:schemeClr val="bg1"/>
                </a:solidFill>
              </a:rPr>
              <a:t>47,223 brownies · 2 a 3 puntos</a:t>
            </a:r>
            <a:endParaRPr lang="en-US" sz="1400" dirty="0"/>
          </a:p>
        </p:txBody>
      </p:sp>
      <p:sp>
        <p:nvSpPr>
          <p:cNvPr id="12" name="Shape 10"/>
          <p:cNvSpPr/>
          <p:nvPr/>
        </p:nvSpPr>
        <p:spPr>
          <a:xfrm>
            <a:off x="7086600" y="1554480"/>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7315200" y="1554480"/>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53.1 %</a:t>
            </a:r>
            <a:endParaRPr lang="en-US" sz="3200" dirty="0"/>
          </a:p>
        </p:txBody>
      </p:sp>
      <p:sp>
        <p:nvSpPr>
          <p:cNvPr id="14" name="Text 12"/>
          <p:cNvSpPr txBox="1"/>
          <p:nvPr/>
        </p:nvSpPr>
        <p:spPr>
          <a:xfrm>
            <a:off x="9144000" y="1691640"/>
            <a:ext cx="2313432" cy="1024128"/>
          </a:xfrm>
          <a:prstGeom prst="rect">
            <a:avLst/>
          </a:prstGeom>
          <a:noFill/>
          <a:ln/>
        </p:spPr>
        <p:txBody>
          <a:bodyPr wrap="square" lIns="0" tIns="0" rIns="0" bIns="0" rtlCol="0" anchor="ctr"/>
          <a:lstStyle/>
          <a:p>
            <a:pPr indent="0" marL="0">
              <a:buNone/>
            </a:pPr>
            <a:r>
              <a:rPr lang="en-US" sz="1400" dirty="0">
                <a:solidFill>
                  <a:schemeClr val="tx1"/>
                </a:solidFill>
              </a:rPr>
              <a:t>de los nacimientos de Lima son de madres de 30 años o más</a:t>
            </a:r>
            <a:endParaRPr lang="en-US" sz="1400" dirty="0"/>
          </a:p>
          <a:p>
            <a:pPr indent="0" marL="0">
              <a:buNone/>
            </a:pPr>
            <a:r>
              <a:rPr lang="en-US" sz="1100" i="1" dirty="0">
                <a:solidFill>
                  <a:schemeClr val="accent2"/>
                </a:solidFill>
              </a:rPr>
              <a:t>INEI 2022</a:t>
            </a:r>
            <a:endParaRPr lang="en-US" sz="1400" dirty="0"/>
          </a:p>
        </p:txBody>
      </p:sp>
      <p:sp>
        <p:nvSpPr>
          <p:cNvPr id="15" name="Shape 13"/>
          <p:cNvSpPr/>
          <p:nvPr/>
        </p:nvSpPr>
        <p:spPr>
          <a:xfrm>
            <a:off x="7086600" y="3035808"/>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Text 14"/>
          <p:cNvSpPr txBox="1"/>
          <p:nvPr/>
        </p:nvSpPr>
        <p:spPr>
          <a:xfrm>
            <a:off x="7315200" y="3035808"/>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83 %</a:t>
            </a:r>
            <a:endParaRPr lang="en-US" sz="3200" dirty="0"/>
          </a:p>
        </p:txBody>
      </p:sp>
      <p:sp>
        <p:nvSpPr>
          <p:cNvPr id="17" name="Text 15"/>
          <p:cNvSpPr txBox="1"/>
          <p:nvPr/>
        </p:nvSpPr>
        <p:spPr>
          <a:xfrm>
            <a:off x="9144000" y="3172968"/>
            <a:ext cx="2313432" cy="1024128"/>
          </a:xfrm>
          <a:prstGeom prst="rect">
            <a:avLst/>
          </a:prstGeom>
          <a:noFill/>
          <a:ln/>
        </p:spPr>
        <p:txBody>
          <a:bodyPr wrap="square" lIns="0" tIns="0" rIns="0" bIns="0" rtlCol="0" anchor="ctr"/>
          <a:lstStyle/>
          <a:p>
            <a:pPr indent="0" marL="0">
              <a:buNone/>
            </a:pPr>
            <a:r>
              <a:rPr lang="en-US" sz="1400" dirty="0">
                <a:solidFill>
                  <a:schemeClr val="tx1"/>
                </a:solidFill>
              </a:rPr>
              <a:t>cambia su compra por los octógonos; 70 % teme el "Alto en azúcar"</a:t>
            </a:r>
            <a:endParaRPr lang="en-US" sz="1400" dirty="0"/>
          </a:p>
          <a:p>
            <a:pPr indent="0" marL="0">
              <a:buNone/>
            </a:pPr>
            <a:r>
              <a:rPr lang="en-US" sz="1100" i="1" dirty="0">
                <a:solidFill>
                  <a:schemeClr val="accent2"/>
                </a:solidFill>
              </a:rPr>
              <a:t>Ipsos 2025</a:t>
            </a:r>
            <a:endParaRPr lang="en-US" sz="1400" dirty="0"/>
          </a:p>
        </p:txBody>
      </p:sp>
      <p:sp>
        <p:nvSpPr>
          <p:cNvPr id="18" name="Shape 16"/>
          <p:cNvSpPr/>
          <p:nvPr/>
        </p:nvSpPr>
        <p:spPr>
          <a:xfrm>
            <a:off x="7086600" y="4517136"/>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Text 17"/>
          <p:cNvSpPr txBox="1"/>
          <p:nvPr/>
        </p:nvSpPr>
        <p:spPr>
          <a:xfrm>
            <a:off x="7315200" y="4517136"/>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S/1,709</a:t>
            </a:r>
            <a:endParaRPr lang="en-US" sz="3200" dirty="0"/>
          </a:p>
        </p:txBody>
      </p:sp>
      <p:sp>
        <p:nvSpPr>
          <p:cNvPr id="20" name="Text 18"/>
          <p:cNvSpPr txBox="1"/>
          <p:nvPr/>
        </p:nvSpPr>
        <p:spPr>
          <a:xfrm>
            <a:off x="9144000" y="4654296"/>
            <a:ext cx="2313432" cy="1024128"/>
          </a:xfrm>
          <a:prstGeom prst="rect">
            <a:avLst/>
          </a:prstGeom>
          <a:noFill/>
          <a:ln/>
        </p:spPr>
        <p:txBody>
          <a:bodyPr wrap="square" lIns="0" tIns="0" rIns="0" bIns="0" rtlCol="0" anchor="ctr"/>
          <a:lstStyle/>
          <a:p>
            <a:pPr indent="0" marL="0">
              <a:buNone/>
            </a:pPr>
            <a:r>
              <a:rPr lang="en-US" sz="1400" dirty="0">
                <a:solidFill>
                  <a:schemeClr val="tx1"/>
                </a:solidFill>
              </a:rPr>
              <a:t>gasta al mes un hogar A en educación y salud</a:t>
            </a:r>
            <a:endParaRPr lang="en-US" sz="1400" dirty="0"/>
          </a:p>
          <a:p>
            <a:pPr indent="0" marL="0">
              <a:buNone/>
            </a:pPr>
            <a:r>
              <a:rPr lang="en-US" sz="1100" i="1" dirty="0">
                <a:solidFill>
                  <a:schemeClr val="accent2"/>
                </a:solidFill>
              </a:rPr>
              <a:t>APEIM 2025</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ARQUETIPOS DE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Tres arquetipos ordenan a quién le vendemos</a:t>
            </a:r>
            <a:endParaRPr lang="en-US" sz="3400" dirty="0"/>
          </a:p>
        </p:txBody>
      </p:sp>
      <p:sp>
        <p:nvSpPr>
          <p:cNvPr id="4" name="Shape 2"/>
          <p:cNvSpPr/>
          <p:nvPr/>
        </p:nvSpPr>
        <p:spPr>
          <a:xfrm>
            <a:off x="548640"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731520" cy="73152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83894" y="1989734"/>
            <a:ext cx="409651" cy="409651"/>
          </a:xfrm>
          <a:prstGeom prst="rect">
            <a:avLst/>
          </a:prstGeom>
        </p:spPr>
      </p:pic>
      <p:sp>
        <p:nvSpPr>
          <p:cNvPr id="7" name="Text 4"/>
          <p:cNvSpPr txBox="1"/>
          <p:nvPr/>
        </p:nvSpPr>
        <p:spPr>
          <a:xfrm>
            <a:off x="1691640"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Guardiana del Hierro</a:t>
            </a:r>
            <a:endParaRPr lang="en-US" sz="1900" dirty="0"/>
          </a:p>
        </p:txBody>
      </p:sp>
      <p:sp>
        <p:nvSpPr>
          <p:cNvPr id="8" name="Text 5"/>
          <p:cNvSpPr txBox="1"/>
          <p:nvPr/>
        </p:nvSpPr>
        <p:spPr>
          <a:xfrm>
            <a:off x="1691640"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Mide la salud de su hijo</a:t>
            </a:r>
            <a:endParaRPr lang="en-US" sz="1200" dirty="0"/>
          </a:p>
        </p:txBody>
      </p:sp>
      <p:sp>
        <p:nvSpPr>
          <p:cNvPr id="9" name="Text 6"/>
          <p:cNvSpPr txBox="1"/>
          <p:nvPr/>
        </p:nvSpPr>
        <p:spPr>
          <a:xfrm>
            <a:off x="822960" y="2880360"/>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LO MUEVE</a:t>
            </a:r>
            <a:endParaRPr lang="en-US" sz="1100" dirty="0"/>
          </a:p>
        </p:txBody>
      </p:sp>
      <p:sp>
        <p:nvSpPr>
          <p:cNvPr id="10" name="Text 7"/>
          <p:cNvSpPr txBox="1"/>
          <p:nvPr/>
        </p:nvSpPr>
        <p:spPr>
          <a:xfrm>
            <a:off x="822960" y="3127248"/>
            <a:ext cx="2971800" cy="548640"/>
          </a:xfrm>
          <a:prstGeom prst="rect">
            <a:avLst/>
          </a:prstGeom>
          <a:noFill/>
          <a:ln/>
        </p:spPr>
        <p:txBody>
          <a:bodyPr wrap="square" lIns="0" tIns="0" rIns="0" bIns="0" rtlCol="0" anchor="t"/>
          <a:lstStyle/>
          <a:p>
            <a:pPr indent="0" marL="0">
              <a:buNone/>
            </a:pPr>
            <a:r>
              <a:rPr lang="en-US" sz="1500" dirty="0">
                <a:solidFill>
                  <a:schemeClr val="tx1"/>
                </a:solidFill>
              </a:rPr>
              <a:t>Hierro verificable y cero octógonos</a:t>
            </a:r>
            <a:endParaRPr lang="en-US" sz="1500" dirty="0"/>
          </a:p>
        </p:txBody>
      </p:sp>
      <p:sp>
        <p:nvSpPr>
          <p:cNvPr id="11" name="Text 8"/>
          <p:cNvSpPr txBox="1"/>
          <p:nvPr/>
        </p:nvSpPr>
        <p:spPr>
          <a:xfrm>
            <a:off x="822960" y="3721608"/>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LE TEME</a:t>
            </a:r>
            <a:endParaRPr lang="en-US" sz="1100" dirty="0"/>
          </a:p>
        </p:txBody>
      </p:sp>
      <p:sp>
        <p:nvSpPr>
          <p:cNvPr id="12" name="Text 9"/>
          <p:cNvSpPr txBox="1"/>
          <p:nvPr/>
        </p:nvSpPr>
        <p:spPr>
          <a:xfrm>
            <a:off x="822960" y="3968496"/>
            <a:ext cx="2971800" cy="548640"/>
          </a:xfrm>
          <a:prstGeom prst="rect">
            <a:avLst/>
          </a:prstGeom>
          <a:noFill/>
          <a:ln/>
        </p:spPr>
        <p:txBody>
          <a:bodyPr wrap="square" lIns="0" tIns="0" rIns="0" bIns="0" rtlCol="0" anchor="t"/>
          <a:lstStyle/>
          <a:p>
            <a:pPr indent="0" marL="0">
              <a:buNone/>
            </a:pPr>
            <a:r>
              <a:rPr lang="en-US" sz="1500" dirty="0">
                <a:solidFill>
                  <a:schemeClr val="tx1"/>
                </a:solidFill>
              </a:rPr>
              <a:t>Lo "saludable" que no tiene pruebas</a:t>
            </a:r>
            <a:endParaRPr lang="en-US" sz="1500" dirty="0"/>
          </a:p>
        </p:txBody>
      </p:sp>
      <p:sp>
        <p:nvSpPr>
          <p:cNvPr id="13" name="Text 10"/>
          <p:cNvSpPr txBox="1"/>
          <p:nvPr/>
        </p:nvSpPr>
        <p:spPr>
          <a:xfrm>
            <a:off x="822960" y="4562856"/>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MENSAJE</a:t>
            </a:r>
            <a:endParaRPr lang="en-US" sz="1100" dirty="0"/>
          </a:p>
        </p:txBody>
      </p:sp>
      <p:sp>
        <p:nvSpPr>
          <p:cNvPr id="14" name="Text 11"/>
          <p:cNvSpPr txBox="1"/>
          <p:nvPr/>
        </p:nvSpPr>
        <p:spPr>
          <a:xfrm>
            <a:off x="822960" y="4809744"/>
            <a:ext cx="2971800" cy="548640"/>
          </a:xfrm>
          <a:prstGeom prst="rect">
            <a:avLst/>
          </a:prstGeom>
          <a:noFill/>
          <a:ln/>
        </p:spPr>
        <p:txBody>
          <a:bodyPr wrap="square" lIns="0" tIns="0" rIns="0" bIns="0" rtlCol="0" anchor="t"/>
          <a:lstStyle/>
          <a:p>
            <a:pPr indent="0" marL="0">
              <a:buNone/>
            </a:pPr>
            <a:r>
              <a:rPr lang="en-US" sz="1500" i="1" dirty="0">
                <a:solidFill>
                  <a:schemeClr val="tx1"/>
                </a:solidFill>
              </a:rPr>
              <a:t>"Hierro medido, sabor a brownie"</a:t>
            </a:r>
            <a:endParaRPr lang="en-US" sz="1500" dirty="0"/>
          </a:p>
        </p:txBody>
      </p:sp>
      <p:sp>
        <p:nvSpPr>
          <p:cNvPr id="15" name="Text 12"/>
          <p:cNvSpPr txBox="1"/>
          <p:nvPr/>
        </p:nvSpPr>
        <p:spPr>
          <a:xfrm>
            <a:off x="822960" y="5321808"/>
            <a:ext cx="1554480" cy="731520"/>
          </a:xfrm>
          <a:prstGeom prst="rect">
            <a:avLst/>
          </a:prstGeom>
          <a:noFill/>
          <a:ln/>
        </p:spPr>
        <p:txBody>
          <a:bodyPr wrap="square" lIns="0" tIns="0" rIns="0" bIns="0" rtlCol="0" anchor="t"/>
          <a:lstStyle/>
          <a:p>
            <a:pPr indent="0" marL="0">
              <a:buNone/>
            </a:pPr>
            <a:r>
              <a:rPr lang="en-US" sz="3000" b="1" dirty="0">
                <a:solidFill>
                  <a:schemeClr val="accent1"/>
                </a:solidFill>
              </a:rPr>
              <a:t>30 %</a:t>
            </a:r>
            <a:endParaRPr lang="en-US" sz="1400" dirty="0"/>
          </a:p>
          <a:p>
            <a:pPr indent="0" marL="0">
              <a:buNone/>
            </a:pPr>
            <a:r>
              <a:rPr lang="en-US" sz="1100" dirty="0">
                <a:solidFill>
                  <a:schemeClr val="accent2"/>
                </a:solidFill>
              </a:rPr>
              <a:t>del volumen (hipótesis)</a:t>
            </a:r>
            <a:endParaRPr lang="en-US" sz="1400" dirty="0"/>
          </a:p>
        </p:txBody>
      </p:sp>
      <p:sp>
        <p:nvSpPr>
          <p:cNvPr id="16" name="Shape 13"/>
          <p:cNvSpPr/>
          <p:nvPr/>
        </p:nvSpPr>
        <p:spPr>
          <a:xfrm>
            <a:off x="2331720" y="5486400"/>
            <a:ext cx="1463040" cy="384048"/>
          </a:xfrm>
          <a:prstGeom prst="roundRect">
            <a:avLst>
              <a:gd name="adj" fmla="val 50000"/>
            </a:avLst>
          </a:prstGeom>
          <a:solidFill>
            <a:schemeClr val="bg2"/>
          </a:solidFill>
          <a:ln w="12700">
            <a:solidFill>
              <a:schemeClr val="accent5"/>
            </a:solidFill>
            <a:prstDash val="solid"/>
          </a:ln>
        </p:spPr>
      </p:sp>
      <p:sp>
        <p:nvSpPr>
          <p:cNvPr id="17" name="Text 14"/>
          <p:cNvSpPr txBox="1"/>
          <p:nvPr/>
        </p:nvSpPr>
        <p:spPr>
          <a:xfrm>
            <a:off x="2331720"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Claudia</a:t>
            </a:r>
            <a:endParaRPr lang="en-US" sz="1100" dirty="0"/>
          </a:p>
        </p:txBody>
      </p:sp>
      <p:sp>
        <p:nvSpPr>
          <p:cNvPr id="18" name="Shape 15"/>
          <p:cNvSpPr/>
          <p:nvPr/>
        </p:nvSpPr>
        <p:spPr>
          <a:xfrm>
            <a:off x="4334256"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Shape 16"/>
          <p:cNvSpPr/>
          <p:nvPr/>
        </p:nvSpPr>
        <p:spPr>
          <a:xfrm>
            <a:off x="4608576" y="1828800"/>
            <a:ext cx="731520" cy="731520"/>
          </a:xfrm>
          <a:prstGeom prst="ellipse">
            <a:avLst/>
          </a:prstGeom>
          <a:solidFill>
            <a:schemeClr val="accent2"/>
          </a:solidFill>
          <a:ln w="12700">
            <a:solidFill>
              <a:schemeClr val="accent2"/>
            </a:solidFill>
            <a:prstDash val="solid"/>
          </a:ln>
        </p:spPr>
      </p:sp>
      <p:pic>
        <p:nvPicPr>
          <p:cNvPr id="20" name="Image 1" descr="preencoded.png">    </p:cNvPr>
          <p:cNvPicPr>
            <a:picLocks noChangeAspect="1"/>
          </p:cNvPicPr>
          <p:nvPr/>
        </p:nvPicPr>
        <p:blipFill>
          <a:blip r:embed="rId2"/>
          <a:stretch>
            <a:fillRect/>
          </a:stretch>
        </p:blipFill>
        <p:spPr>
          <a:xfrm>
            <a:off x="4769510" y="1989734"/>
            <a:ext cx="409651" cy="409651"/>
          </a:xfrm>
          <a:prstGeom prst="rect">
            <a:avLst/>
          </a:prstGeom>
        </p:spPr>
      </p:pic>
      <p:sp>
        <p:nvSpPr>
          <p:cNvPr id="21" name="Text 17"/>
          <p:cNvSpPr txBox="1"/>
          <p:nvPr/>
        </p:nvSpPr>
        <p:spPr>
          <a:xfrm>
            <a:off x="5477256"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Resolutivo</a:t>
            </a:r>
            <a:endParaRPr lang="en-US" sz="1900" dirty="0"/>
          </a:p>
        </p:txBody>
      </p:sp>
      <p:sp>
        <p:nvSpPr>
          <p:cNvPr id="22" name="Text 18"/>
          <p:cNvSpPr txBox="1"/>
          <p:nvPr/>
        </p:nvSpPr>
        <p:spPr>
          <a:xfrm>
            <a:off x="5477256"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Mamá o papá contra el reloj</a:t>
            </a:r>
            <a:endParaRPr lang="en-US" sz="1200" dirty="0"/>
          </a:p>
        </p:txBody>
      </p:sp>
      <p:sp>
        <p:nvSpPr>
          <p:cNvPr id="23" name="Text 19"/>
          <p:cNvSpPr txBox="1"/>
          <p:nvPr/>
        </p:nvSpPr>
        <p:spPr>
          <a:xfrm>
            <a:off x="4608576" y="2880360"/>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LO MUEVE</a:t>
            </a:r>
            <a:endParaRPr lang="en-US" sz="1100" dirty="0"/>
          </a:p>
        </p:txBody>
      </p:sp>
      <p:sp>
        <p:nvSpPr>
          <p:cNvPr id="24" name="Text 20"/>
          <p:cNvSpPr txBox="1"/>
          <p:nvPr/>
        </p:nvSpPr>
        <p:spPr>
          <a:xfrm>
            <a:off x="4608576" y="3127248"/>
            <a:ext cx="2971800" cy="548640"/>
          </a:xfrm>
          <a:prstGeom prst="rect">
            <a:avLst/>
          </a:prstGeom>
          <a:noFill/>
          <a:ln/>
        </p:spPr>
        <p:txBody>
          <a:bodyPr wrap="square" lIns="0" tIns="0" rIns="0" bIns="0" rtlCol="0" anchor="t"/>
          <a:lstStyle/>
          <a:p>
            <a:pPr indent="0" marL="0">
              <a:buNone/>
            </a:pPr>
            <a:r>
              <a:rPr lang="en-US" sz="1500" dirty="0">
                <a:solidFill>
                  <a:schemeClr val="tx1"/>
                </a:solidFill>
              </a:rPr>
              <a:t>Resolver la lonchera en un minuto</a:t>
            </a:r>
            <a:endParaRPr lang="en-US" sz="1500" dirty="0"/>
          </a:p>
        </p:txBody>
      </p:sp>
      <p:sp>
        <p:nvSpPr>
          <p:cNvPr id="25" name="Text 21"/>
          <p:cNvSpPr txBox="1"/>
          <p:nvPr/>
        </p:nvSpPr>
        <p:spPr>
          <a:xfrm>
            <a:off x="4608576" y="3721608"/>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LE TEME</a:t>
            </a:r>
            <a:endParaRPr lang="en-US" sz="1100" dirty="0"/>
          </a:p>
        </p:txBody>
      </p:sp>
      <p:sp>
        <p:nvSpPr>
          <p:cNvPr id="26" name="Text 22"/>
          <p:cNvSpPr txBox="1"/>
          <p:nvPr/>
        </p:nvSpPr>
        <p:spPr>
          <a:xfrm>
            <a:off x="4608576" y="3968496"/>
            <a:ext cx="2971800" cy="548640"/>
          </a:xfrm>
          <a:prstGeom prst="rect">
            <a:avLst/>
          </a:prstGeom>
          <a:noFill/>
          <a:ln/>
        </p:spPr>
        <p:txBody>
          <a:bodyPr wrap="square" lIns="0" tIns="0" rIns="0" bIns="0" rtlCol="0" anchor="t"/>
          <a:lstStyle/>
          <a:p>
            <a:pPr indent="0" marL="0">
              <a:buNone/>
            </a:pPr>
            <a:r>
              <a:rPr lang="en-US" sz="1500" dirty="0">
                <a:solidFill>
                  <a:schemeClr val="tx1"/>
                </a:solidFill>
              </a:rPr>
              <a:t>Que regrese intacta o aplastada</a:t>
            </a:r>
            <a:endParaRPr lang="en-US" sz="1500" dirty="0"/>
          </a:p>
        </p:txBody>
      </p:sp>
      <p:sp>
        <p:nvSpPr>
          <p:cNvPr id="27" name="Text 23"/>
          <p:cNvSpPr txBox="1"/>
          <p:nvPr/>
        </p:nvSpPr>
        <p:spPr>
          <a:xfrm>
            <a:off x="4608576" y="4562856"/>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MENSAJE</a:t>
            </a:r>
            <a:endParaRPr lang="en-US" sz="1100" dirty="0"/>
          </a:p>
        </p:txBody>
      </p:sp>
      <p:sp>
        <p:nvSpPr>
          <p:cNvPr id="28" name="Text 24"/>
          <p:cNvSpPr txBox="1"/>
          <p:nvPr/>
        </p:nvSpPr>
        <p:spPr>
          <a:xfrm>
            <a:off x="4608576" y="4809744"/>
            <a:ext cx="2971800" cy="548640"/>
          </a:xfrm>
          <a:prstGeom prst="rect">
            <a:avLst/>
          </a:prstGeom>
          <a:noFill/>
          <a:ln/>
        </p:spPr>
        <p:txBody>
          <a:bodyPr wrap="square" lIns="0" tIns="0" rIns="0" bIns="0" rtlCol="0" anchor="t"/>
          <a:lstStyle/>
          <a:p>
            <a:pPr indent="0" marL="0">
              <a:buNone/>
            </a:pPr>
            <a:r>
              <a:rPr lang="en-US" sz="1500" i="1" dirty="0">
                <a:solidFill>
                  <a:schemeClr val="tx1"/>
                </a:solidFill>
              </a:rPr>
              <a:t>"Una mañana menos"</a:t>
            </a:r>
            <a:endParaRPr lang="en-US" sz="1500" dirty="0"/>
          </a:p>
        </p:txBody>
      </p:sp>
      <p:sp>
        <p:nvSpPr>
          <p:cNvPr id="29" name="Text 25"/>
          <p:cNvSpPr txBox="1"/>
          <p:nvPr/>
        </p:nvSpPr>
        <p:spPr>
          <a:xfrm>
            <a:off x="4608576" y="5321808"/>
            <a:ext cx="1554480" cy="731520"/>
          </a:xfrm>
          <a:prstGeom prst="rect">
            <a:avLst/>
          </a:prstGeom>
          <a:noFill/>
          <a:ln/>
        </p:spPr>
        <p:txBody>
          <a:bodyPr wrap="square" lIns="0" tIns="0" rIns="0" bIns="0" rtlCol="0" anchor="t"/>
          <a:lstStyle/>
          <a:p>
            <a:pPr indent="0" marL="0">
              <a:buNone/>
            </a:pPr>
            <a:r>
              <a:rPr lang="en-US" sz="3000" b="1" dirty="0">
                <a:solidFill>
                  <a:schemeClr val="accent2"/>
                </a:solidFill>
              </a:rPr>
              <a:t>45 %</a:t>
            </a:r>
            <a:endParaRPr lang="en-US" sz="1400" dirty="0"/>
          </a:p>
          <a:p>
            <a:pPr indent="0" marL="0">
              <a:buNone/>
            </a:pPr>
            <a:r>
              <a:rPr lang="en-US" sz="1100" dirty="0">
                <a:solidFill>
                  <a:schemeClr val="accent2"/>
                </a:solidFill>
              </a:rPr>
              <a:t>del volumen (hipótesis)</a:t>
            </a:r>
            <a:endParaRPr lang="en-US" sz="1400" dirty="0"/>
          </a:p>
        </p:txBody>
      </p:sp>
      <p:sp>
        <p:nvSpPr>
          <p:cNvPr id="30" name="Shape 26"/>
          <p:cNvSpPr/>
          <p:nvPr/>
        </p:nvSpPr>
        <p:spPr>
          <a:xfrm>
            <a:off x="6117336" y="5486400"/>
            <a:ext cx="1463040" cy="384048"/>
          </a:xfrm>
          <a:prstGeom prst="roundRect">
            <a:avLst>
              <a:gd name="adj" fmla="val 50000"/>
            </a:avLst>
          </a:prstGeom>
          <a:solidFill>
            <a:schemeClr val="bg2"/>
          </a:solidFill>
          <a:ln w="12700">
            <a:solidFill>
              <a:schemeClr val="accent5"/>
            </a:solidFill>
            <a:prstDash val="solid"/>
          </a:ln>
        </p:spPr>
      </p:sp>
      <p:sp>
        <p:nvSpPr>
          <p:cNvPr id="31" name="Text 27"/>
          <p:cNvSpPr txBox="1"/>
          <p:nvPr/>
        </p:nvSpPr>
        <p:spPr>
          <a:xfrm>
            <a:off x="6117336"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Rodrigo</a:t>
            </a:r>
            <a:endParaRPr lang="en-US" sz="1100" dirty="0"/>
          </a:p>
        </p:txBody>
      </p:sp>
      <p:sp>
        <p:nvSpPr>
          <p:cNvPr id="32" name="Shape 28"/>
          <p:cNvSpPr/>
          <p:nvPr/>
        </p:nvSpPr>
        <p:spPr>
          <a:xfrm>
            <a:off x="8119872"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9"/>
          <p:cNvSpPr/>
          <p:nvPr/>
        </p:nvSpPr>
        <p:spPr>
          <a:xfrm>
            <a:off x="8394192" y="1828800"/>
            <a:ext cx="731520" cy="731520"/>
          </a:xfrm>
          <a:prstGeom prst="ellipse">
            <a:avLst/>
          </a:prstGeom>
          <a:solidFill>
            <a:schemeClr val="accent4"/>
          </a:solidFill>
          <a:ln w="12700">
            <a:solidFill>
              <a:schemeClr val="accent4"/>
            </a:solidFill>
            <a:prstDash val="solid"/>
          </a:ln>
        </p:spPr>
      </p:sp>
      <p:pic>
        <p:nvPicPr>
          <p:cNvPr id="34" name="Image 2" descr="preencoded.png">    </p:cNvPr>
          <p:cNvPicPr>
            <a:picLocks noChangeAspect="1"/>
          </p:cNvPicPr>
          <p:nvPr/>
        </p:nvPicPr>
        <p:blipFill>
          <a:blip r:embed="rId3"/>
          <a:stretch>
            <a:fillRect/>
          </a:stretch>
        </p:blipFill>
        <p:spPr>
          <a:xfrm>
            <a:off x="8555126" y="1989734"/>
            <a:ext cx="409651" cy="409651"/>
          </a:xfrm>
          <a:prstGeom prst="rect">
            <a:avLst/>
          </a:prstGeom>
        </p:spPr>
      </p:pic>
      <p:sp>
        <p:nvSpPr>
          <p:cNvPr id="35" name="Text 30"/>
          <p:cNvSpPr txBox="1"/>
          <p:nvPr/>
        </p:nvSpPr>
        <p:spPr>
          <a:xfrm>
            <a:off x="9262872"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Prescriptor (B2B)</a:t>
            </a:r>
            <a:endParaRPr lang="en-US" sz="1900" dirty="0"/>
          </a:p>
        </p:txBody>
      </p:sp>
      <p:sp>
        <p:nvSpPr>
          <p:cNvPr id="36" name="Text 31"/>
          <p:cNvSpPr txBox="1"/>
          <p:nvPr/>
        </p:nvSpPr>
        <p:spPr>
          <a:xfrm>
            <a:off x="9262872"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Quiosco, nutricionista, pediatra</a:t>
            </a:r>
            <a:endParaRPr lang="en-US" sz="1200" dirty="0"/>
          </a:p>
        </p:txBody>
      </p:sp>
      <p:sp>
        <p:nvSpPr>
          <p:cNvPr id="37" name="Text 32"/>
          <p:cNvSpPr txBox="1"/>
          <p:nvPr/>
        </p:nvSpPr>
        <p:spPr>
          <a:xfrm>
            <a:off x="8394192" y="2880360"/>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LO MUEVE</a:t>
            </a:r>
            <a:endParaRPr lang="en-US" sz="1100" dirty="0"/>
          </a:p>
        </p:txBody>
      </p:sp>
      <p:sp>
        <p:nvSpPr>
          <p:cNvPr id="38" name="Text 33"/>
          <p:cNvSpPr txBox="1"/>
          <p:nvPr/>
        </p:nvSpPr>
        <p:spPr>
          <a:xfrm>
            <a:off x="8394192" y="3127248"/>
            <a:ext cx="2971800" cy="548640"/>
          </a:xfrm>
          <a:prstGeom prst="rect">
            <a:avLst/>
          </a:prstGeom>
          <a:noFill/>
          <a:ln/>
        </p:spPr>
        <p:txBody>
          <a:bodyPr wrap="square" lIns="0" tIns="0" rIns="0" bIns="0" rtlCol="0" anchor="t"/>
          <a:lstStyle/>
          <a:p>
            <a:pPr indent="0" marL="0">
              <a:buNone/>
            </a:pPr>
            <a:r>
              <a:rPr lang="en-US" sz="1500" dirty="0">
                <a:solidFill>
                  <a:schemeClr val="tx1"/>
                </a:solidFill>
              </a:rPr>
              <a:t>Cumplir la lonchera saludable</a:t>
            </a:r>
            <a:endParaRPr lang="en-US" sz="1500" dirty="0"/>
          </a:p>
        </p:txBody>
      </p:sp>
      <p:sp>
        <p:nvSpPr>
          <p:cNvPr id="39" name="Text 34"/>
          <p:cNvSpPr txBox="1"/>
          <p:nvPr/>
        </p:nvSpPr>
        <p:spPr>
          <a:xfrm>
            <a:off x="8394192" y="3721608"/>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LE TEME</a:t>
            </a:r>
            <a:endParaRPr lang="en-US" sz="1100" dirty="0"/>
          </a:p>
        </p:txBody>
      </p:sp>
      <p:sp>
        <p:nvSpPr>
          <p:cNvPr id="40" name="Text 35"/>
          <p:cNvSpPr txBox="1"/>
          <p:nvPr/>
        </p:nvSpPr>
        <p:spPr>
          <a:xfrm>
            <a:off x="8394192" y="3968496"/>
            <a:ext cx="2971800" cy="548640"/>
          </a:xfrm>
          <a:prstGeom prst="rect">
            <a:avLst/>
          </a:prstGeom>
          <a:noFill/>
          <a:ln/>
        </p:spPr>
        <p:txBody>
          <a:bodyPr wrap="square" lIns="0" tIns="0" rIns="0" bIns="0" rtlCol="0" anchor="t"/>
          <a:lstStyle/>
          <a:p>
            <a:pPr indent="0" marL="0">
              <a:buNone/>
            </a:pPr>
            <a:r>
              <a:rPr lang="en-US" sz="1500" dirty="0">
                <a:solidFill>
                  <a:schemeClr val="tx1"/>
                </a:solidFill>
              </a:rPr>
              <a:t>Productos sin registro o sin stock</a:t>
            </a:r>
            <a:endParaRPr lang="en-US" sz="1500" dirty="0"/>
          </a:p>
        </p:txBody>
      </p:sp>
      <p:sp>
        <p:nvSpPr>
          <p:cNvPr id="41" name="Text 36"/>
          <p:cNvSpPr txBox="1"/>
          <p:nvPr/>
        </p:nvSpPr>
        <p:spPr>
          <a:xfrm>
            <a:off x="8394192" y="4562856"/>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MENSAJE</a:t>
            </a:r>
            <a:endParaRPr lang="en-US" sz="1100" dirty="0"/>
          </a:p>
        </p:txBody>
      </p:sp>
      <p:sp>
        <p:nvSpPr>
          <p:cNvPr id="42" name="Text 37"/>
          <p:cNvSpPr txBox="1"/>
          <p:nvPr/>
        </p:nvSpPr>
        <p:spPr>
          <a:xfrm>
            <a:off x="8394192" y="4809744"/>
            <a:ext cx="2971800" cy="548640"/>
          </a:xfrm>
          <a:prstGeom prst="rect">
            <a:avLst/>
          </a:prstGeom>
          <a:noFill/>
          <a:ln/>
        </p:spPr>
        <p:txBody>
          <a:bodyPr wrap="square" lIns="0" tIns="0" rIns="0" bIns="0" rtlCol="0" anchor="t"/>
          <a:lstStyle/>
          <a:p>
            <a:pPr indent="0" marL="0">
              <a:buNone/>
            </a:pPr>
            <a:r>
              <a:rPr lang="en-US" sz="1500" i="1" dirty="0">
                <a:solidFill>
                  <a:schemeClr val="tx1"/>
                </a:solidFill>
              </a:rPr>
              <a:t>"Cumple la norma y los niños lo piden"</a:t>
            </a:r>
            <a:endParaRPr lang="en-US" sz="1500" dirty="0"/>
          </a:p>
        </p:txBody>
      </p:sp>
      <p:sp>
        <p:nvSpPr>
          <p:cNvPr id="43" name="Text 38"/>
          <p:cNvSpPr txBox="1"/>
          <p:nvPr/>
        </p:nvSpPr>
        <p:spPr>
          <a:xfrm>
            <a:off x="8394192" y="5321808"/>
            <a:ext cx="1554480" cy="731520"/>
          </a:xfrm>
          <a:prstGeom prst="rect">
            <a:avLst/>
          </a:prstGeom>
          <a:noFill/>
          <a:ln/>
        </p:spPr>
        <p:txBody>
          <a:bodyPr wrap="square" lIns="0" tIns="0" rIns="0" bIns="0" rtlCol="0" anchor="t"/>
          <a:lstStyle/>
          <a:p>
            <a:pPr indent="0" marL="0">
              <a:buNone/>
            </a:pPr>
            <a:r>
              <a:rPr lang="en-US" sz="3000" b="1" dirty="0">
                <a:solidFill>
                  <a:schemeClr val="accent4"/>
                </a:solidFill>
              </a:rPr>
              <a:t>25 %</a:t>
            </a:r>
            <a:endParaRPr lang="en-US" sz="1400" dirty="0"/>
          </a:p>
          <a:p>
            <a:pPr indent="0" marL="0">
              <a:buNone/>
            </a:pPr>
            <a:r>
              <a:rPr lang="en-US" sz="1100" dirty="0">
                <a:solidFill>
                  <a:schemeClr val="accent2"/>
                </a:solidFill>
              </a:rPr>
              <a:t>del volumen (hipótesis)</a:t>
            </a:r>
            <a:endParaRPr lang="en-US" sz="1400" dirty="0"/>
          </a:p>
        </p:txBody>
      </p:sp>
      <p:sp>
        <p:nvSpPr>
          <p:cNvPr id="44" name="Shape 39"/>
          <p:cNvSpPr/>
          <p:nvPr/>
        </p:nvSpPr>
        <p:spPr>
          <a:xfrm>
            <a:off x="9902952" y="5486400"/>
            <a:ext cx="1463040" cy="384048"/>
          </a:xfrm>
          <a:prstGeom prst="roundRect">
            <a:avLst>
              <a:gd name="adj" fmla="val 50000"/>
            </a:avLst>
          </a:prstGeom>
          <a:solidFill>
            <a:schemeClr val="bg2"/>
          </a:solidFill>
          <a:ln w="12700">
            <a:solidFill>
              <a:schemeClr val="accent5"/>
            </a:solidFill>
            <a:prstDash val="solid"/>
          </a:ln>
        </p:spPr>
      </p:sp>
      <p:sp>
        <p:nvSpPr>
          <p:cNvPr id="45" name="Text 40"/>
          <p:cNvSpPr txBox="1"/>
          <p:nvPr/>
        </p:nvSpPr>
        <p:spPr>
          <a:xfrm>
            <a:off x="9902952"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Valida la marca</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PRINCIPAL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Claudia Mendoza</a:t>
            </a:r>
            <a:endParaRPr lang="en-US" sz="3400" dirty="0"/>
          </a:p>
        </p:txBody>
      </p:sp>
      <p:sp>
        <p:nvSpPr>
          <p:cNvPr id="4" name="IMAGEN_1"/>
          <p:cNvSpPr/>
          <p:nvPr/>
        </p:nvSpPr>
        <p:spPr>
          <a:xfrm>
            <a:off x="548640"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1874520" y="2880360"/>
            <a:ext cx="731520" cy="731520"/>
          </a:xfrm>
          <a:prstGeom prst="rect">
            <a:avLst/>
          </a:prstGeom>
        </p:spPr>
      </p:pic>
      <p:sp>
        <p:nvSpPr>
          <p:cNvPr id="6" name="Text 3"/>
          <p:cNvSpPr txBox="1"/>
          <p:nvPr/>
        </p:nvSpPr>
        <p:spPr>
          <a:xfrm>
            <a:off x="731520"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1</a:t>
            </a:r>
            <a:endParaRPr lang="en-US" sz="1400" dirty="0"/>
          </a:p>
          <a:p>
            <a:pPr algn="ctr" indent="0" marL="0">
              <a:buNone/>
            </a:pPr>
            <a:r>
              <a:rPr lang="en-US" sz="1300" dirty="0">
                <a:solidFill>
                  <a:schemeClr val="accent2"/>
                </a:solidFill>
              </a:rPr>
              <a:t>Retrato de Claudia (38, San Borja)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42062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La mamá que lee etiquetas</a:t>
            </a:r>
            <a:endParaRPr lang="en-US" sz="2200" dirty="0"/>
          </a:p>
        </p:txBody>
      </p:sp>
      <p:sp>
        <p:nvSpPr>
          <p:cNvPr id="8" name="Shape 5"/>
          <p:cNvSpPr/>
          <p:nvPr/>
        </p:nvSpPr>
        <p:spPr>
          <a:xfrm>
            <a:off x="42062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43708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43708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38 años · San Borja</a:t>
            </a:r>
            <a:endParaRPr lang="en-US" sz="1500" dirty="0"/>
          </a:p>
        </p:txBody>
      </p:sp>
      <p:sp>
        <p:nvSpPr>
          <p:cNvPr id="11" name="Shape 8"/>
          <p:cNvSpPr/>
          <p:nvPr/>
        </p:nvSpPr>
        <p:spPr>
          <a:xfrm>
            <a:off x="67574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69220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69220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Abogada corporativa</a:t>
            </a:r>
            <a:endParaRPr lang="en-US" sz="1500" dirty="0"/>
          </a:p>
        </p:txBody>
      </p:sp>
      <p:sp>
        <p:nvSpPr>
          <p:cNvPr id="14" name="Shape 11"/>
          <p:cNvSpPr/>
          <p:nvPr/>
        </p:nvSpPr>
        <p:spPr>
          <a:xfrm>
            <a:off x="93085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94731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94731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(7 y 4)</a:t>
            </a:r>
            <a:endParaRPr lang="en-US" sz="1500" dirty="0"/>
          </a:p>
        </p:txBody>
      </p:sp>
      <p:sp>
        <p:nvSpPr>
          <p:cNvPr id="17" name="Shape 14"/>
          <p:cNvSpPr/>
          <p:nvPr/>
        </p:nvSpPr>
        <p:spPr>
          <a:xfrm>
            <a:off x="42062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43708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43708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S/13,500 al mes</a:t>
            </a:r>
            <a:endParaRPr lang="en-US" sz="1500" dirty="0"/>
          </a:p>
        </p:txBody>
      </p:sp>
      <p:sp>
        <p:nvSpPr>
          <p:cNvPr id="20" name="Shape 17"/>
          <p:cNvSpPr/>
          <p:nvPr/>
        </p:nvSpPr>
        <p:spPr>
          <a:xfrm>
            <a:off x="67574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69220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SE INFORMA</a:t>
            </a:r>
            <a:endParaRPr lang="en-US" sz="1000" dirty="0"/>
          </a:p>
        </p:txBody>
      </p:sp>
      <p:sp>
        <p:nvSpPr>
          <p:cNvPr id="22" name="Text 19"/>
          <p:cNvSpPr txBox="1"/>
          <p:nvPr/>
        </p:nvSpPr>
        <p:spPr>
          <a:xfrm>
            <a:off x="69220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Pediatra e Instagram</a:t>
            </a:r>
            <a:endParaRPr lang="en-US" sz="1500" dirty="0"/>
          </a:p>
        </p:txBody>
      </p:sp>
      <p:sp>
        <p:nvSpPr>
          <p:cNvPr id="23" name="Shape 20"/>
          <p:cNvSpPr/>
          <p:nvPr/>
        </p:nvSpPr>
        <p:spPr>
          <a:xfrm>
            <a:off x="93085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94731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94731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S/24 a 30 el pack</a:t>
            </a:r>
            <a:endParaRPr lang="en-US" sz="1500" dirty="0"/>
          </a:p>
        </p:txBody>
      </p:sp>
      <p:sp>
        <p:nvSpPr>
          <p:cNvPr id="26" name="Shape 23"/>
          <p:cNvSpPr/>
          <p:nvPr/>
        </p:nvSpPr>
        <p:spPr>
          <a:xfrm>
            <a:off x="42062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43891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4489704" y="4261104"/>
            <a:ext cx="256032" cy="256032"/>
          </a:xfrm>
          <a:prstGeom prst="rect">
            <a:avLst/>
          </a:prstGeom>
        </p:spPr>
      </p:pic>
      <p:sp>
        <p:nvSpPr>
          <p:cNvPr id="29" name="Text 25"/>
          <p:cNvSpPr txBox="1"/>
          <p:nvPr/>
        </p:nvSpPr>
        <p:spPr>
          <a:xfrm>
            <a:off x="49834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44348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Hemoglobina baja en el control</a:t>
            </a:r>
            <a:endParaRPr lang="en-US" sz="1400" dirty="0"/>
          </a:p>
          <a:p>
            <a:pPr marL="342900" indent="-342900">
              <a:spcAft>
                <a:spcPts val="200"/>
              </a:spcAft>
              <a:buSzPct val="100000"/>
              <a:buChar char="•"/>
            </a:pPr>
            <a:r>
              <a:rPr lang="en-US" sz="1400" dirty="0">
                <a:solidFill>
                  <a:schemeClr val="tx1"/>
                </a:solidFill>
              </a:rPr>
              <a:t>Lo nutritivo regresa intacto</a:t>
            </a:r>
            <a:endParaRPr lang="en-US" sz="1400" dirty="0"/>
          </a:p>
        </p:txBody>
      </p:sp>
      <p:sp>
        <p:nvSpPr>
          <p:cNvPr id="31" name="Shape 27"/>
          <p:cNvSpPr/>
          <p:nvPr/>
        </p:nvSpPr>
        <p:spPr>
          <a:xfrm>
            <a:off x="80284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82113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8311896" y="4261104"/>
            <a:ext cx="256032" cy="256032"/>
          </a:xfrm>
          <a:prstGeom prst="rect">
            <a:avLst/>
          </a:prstGeom>
        </p:spPr>
      </p:pic>
      <p:sp>
        <p:nvSpPr>
          <p:cNvPr id="34" name="Text 29"/>
          <p:cNvSpPr txBox="1"/>
          <p:nvPr/>
        </p:nvSpPr>
        <p:spPr>
          <a:xfrm>
            <a:off x="88056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82570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Hierro en mg y cero octógonos</a:t>
            </a:r>
            <a:endParaRPr lang="en-US" sz="1400" dirty="0"/>
          </a:p>
          <a:p>
            <a:pPr marL="342900" indent="-342900">
              <a:spcAft>
                <a:spcPts val="200"/>
              </a:spcAft>
              <a:buSzPct val="100000"/>
              <a:buChar char="•"/>
            </a:pPr>
            <a:r>
              <a:rPr lang="en-US" sz="1400" dirty="0">
                <a:solidFill>
                  <a:schemeClr val="tx1"/>
                </a:solidFill>
              </a:rPr>
              <a:t>Que su hijo lo pida solo</a:t>
            </a:r>
            <a:endParaRPr lang="en-US" sz="1400" dirty="0"/>
          </a:p>
        </p:txBody>
      </p:sp>
      <p:sp>
        <p:nvSpPr>
          <p:cNvPr id="36" name="Shape 31"/>
          <p:cNvSpPr/>
          <p:nvPr/>
        </p:nvSpPr>
        <p:spPr>
          <a:xfrm>
            <a:off x="42062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44805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"Todo lo que le hace bien, mi hijo lo escupe."</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SECUNDARIO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Rodrigo Salazar</a:t>
            </a:r>
            <a:endParaRPr lang="en-US" sz="3400" dirty="0"/>
          </a:p>
        </p:txBody>
      </p:sp>
      <p:sp>
        <p:nvSpPr>
          <p:cNvPr id="4" name="IMAGEN_2"/>
          <p:cNvSpPr/>
          <p:nvPr/>
        </p:nvSpPr>
        <p:spPr>
          <a:xfrm>
            <a:off x="8257032"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9582912" y="2880360"/>
            <a:ext cx="731520" cy="731520"/>
          </a:xfrm>
          <a:prstGeom prst="rect">
            <a:avLst/>
          </a:prstGeom>
        </p:spPr>
      </p:pic>
      <p:sp>
        <p:nvSpPr>
          <p:cNvPr id="6" name="Text 3"/>
          <p:cNvSpPr txBox="1"/>
          <p:nvPr/>
        </p:nvSpPr>
        <p:spPr>
          <a:xfrm>
            <a:off x="8439912"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2</a:t>
            </a:r>
            <a:endParaRPr lang="en-US" sz="1400" dirty="0"/>
          </a:p>
          <a:p>
            <a:pPr algn="ctr" indent="0" marL="0">
              <a:buNone/>
            </a:pPr>
            <a:r>
              <a:rPr lang="en-US" sz="1300" dirty="0">
                <a:solidFill>
                  <a:schemeClr val="accent2"/>
                </a:solidFill>
              </a:rPr>
              <a:t>Retrato de Rodrigo (42, La Molina)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5486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El papá que resuelve la mañana</a:t>
            </a:r>
            <a:endParaRPr lang="en-US" sz="2200" dirty="0"/>
          </a:p>
        </p:txBody>
      </p:sp>
      <p:sp>
        <p:nvSpPr>
          <p:cNvPr id="8" name="Shape 5"/>
          <p:cNvSpPr/>
          <p:nvPr/>
        </p:nvSpPr>
        <p:spPr>
          <a:xfrm>
            <a:off x="5486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7132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7132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42 años · La Molina</a:t>
            </a:r>
            <a:endParaRPr lang="en-US" sz="1500" dirty="0"/>
          </a:p>
        </p:txBody>
      </p:sp>
      <p:sp>
        <p:nvSpPr>
          <p:cNvPr id="11" name="Shape 8"/>
          <p:cNvSpPr/>
          <p:nvPr/>
        </p:nvSpPr>
        <p:spPr>
          <a:xfrm>
            <a:off x="30998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32644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32644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Gerente de operaciones</a:t>
            </a:r>
            <a:endParaRPr lang="en-US" sz="1500" dirty="0"/>
          </a:p>
        </p:txBody>
      </p:sp>
      <p:sp>
        <p:nvSpPr>
          <p:cNvPr id="14" name="Shape 11"/>
          <p:cNvSpPr/>
          <p:nvPr/>
        </p:nvSpPr>
        <p:spPr>
          <a:xfrm>
            <a:off x="56509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58155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58155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(9 y 6)</a:t>
            </a:r>
            <a:endParaRPr lang="en-US" sz="1500" dirty="0"/>
          </a:p>
        </p:txBody>
      </p:sp>
      <p:sp>
        <p:nvSpPr>
          <p:cNvPr id="17" name="Shape 14"/>
          <p:cNvSpPr/>
          <p:nvPr/>
        </p:nvSpPr>
        <p:spPr>
          <a:xfrm>
            <a:off x="5486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7132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7132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S/18,000 al mes</a:t>
            </a:r>
            <a:endParaRPr lang="en-US" sz="1500" dirty="0"/>
          </a:p>
        </p:txBody>
      </p:sp>
      <p:sp>
        <p:nvSpPr>
          <p:cNvPr id="20" name="Shape 17"/>
          <p:cNvSpPr/>
          <p:nvPr/>
        </p:nvSpPr>
        <p:spPr>
          <a:xfrm>
            <a:off x="30998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32644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COMPRA</a:t>
            </a:r>
            <a:endParaRPr lang="en-US" sz="1000" dirty="0"/>
          </a:p>
        </p:txBody>
      </p:sp>
      <p:sp>
        <p:nvSpPr>
          <p:cNvPr id="22" name="Text 19"/>
          <p:cNvSpPr txBox="1"/>
          <p:nvPr/>
        </p:nvSpPr>
        <p:spPr>
          <a:xfrm>
            <a:off x="32644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Apps, IG y TikTok</a:t>
            </a:r>
            <a:endParaRPr lang="en-US" sz="1500" dirty="0"/>
          </a:p>
        </p:txBody>
      </p:sp>
      <p:sp>
        <p:nvSpPr>
          <p:cNvPr id="23" name="Shape 20"/>
          <p:cNvSpPr/>
          <p:nvPr/>
        </p:nvSpPr>
        <p:spPr>
          <a:xfrm>
            <a:off x="56509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58155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58155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S/18 a 24 por 6 u</a:t>
            </a:r>
            <a:endParaRPr lang="en-US" sz="1500" dirty="0"/>
          </a:p>
        </p:txBody>
      </p:sp>
      <p:sp>
        <p:nvSpPr>
          <p:cNvPr id="26" name="Shape 23"/>
          <p:cNvSpPr/>
          <p:nvPr/>
        </p:nvSpPr>
        <p:spPr>
          <a:xfrm>
            <a:off x="5486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7315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832104" y="4261104"/>
            <a:ext cx="256032" cy="256032"/>
          </a:xfrm>
          <a:prstGeom prst="rect">
            <a:avLst/>
          </a:prstGeom>
        </p:spPr>
      </p:pic>
      <p:sp>
        <p:nvSpPr>
          <p:cNvPr id="29" name="Text 25"/>
          <p:cNvSpPr txBox="1"/>
          <p:nvPr/>
        </p:nvSpPr>
        <p:spPr>
          <a:xfrm>
            <a:off x="13258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7772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Jueves y viernes sin ideas</a:t>
            </a:r>
            <a:endParaRPr lang="en-US" sz="1400" dirty="0"/>
          </a:p>
          <a:p>
            <a:pPr marL="342900" indent="-342900">
              <a:spcAft>
                <a:spcPts val="200"/>
              </a:spcAft>
              <a:buSzPct val="100000"/>
              <a:buChar char="•"/>
            </a:pPr>
            <a:r>
              <a:rPr lang="en-US" sz="1400" dirty="0">
                <a:solidFill>
                  <a:schemeClr val="tx1"/>
                </a:solidFill>
              </a:rPr>
              <a:t>Snacks aplastados en la mochila</a:t>
            </a:r>
            <a:endParaRPr lang="en-US" sz="1400" dirty="0"/>
          </a:p>
        </p:txBody>
      </p:sp>
      <p:sp>
        <p:nvSpPr>
          <p:cNvPr id="31" name="Shape 27"/>
          <p:cNvSpPr/>
          <p:nvPr/>
        </p:nvSpPr>
        <p:spPr>
          <a:xfrm>
            <a:off x="43708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45537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4654296" y="4261104"/>
            <a:ext cx="256032" cy="256032"/>
          </a:xfrm>
          <a:prstGeom prst="rect">
            <a:avLst/>
          </a:prstGeom>
        </p:spPr>
      </p:pic>
      <p:sp>
        <p:nvSpPr>
          <p:cNvPr id="34" name="Text 29"/>
          <p:cNvSpPr txBox="1"/>
          <p:nvPr/>
        </p:nvSpPr>
        <p:spPr>
          <a:xfrm>
            <a:off x="51480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45994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Que resuelva toda la semana</a:t>
            </a:r>
            <a:endParaRPr lang="en-US" sz="1400" dirty="0"/>
          </a:p>
          <a:p>
            <a:pPr marL="342900" indent="-342900">
              <a:spcAft>
                <a:spcPts val="200"/>
              </a:spcAft>
              <a:buSzPct val="100000"/>
              <a:buChar char="•"/>
            </a:pPr>
            <a:r>
              <a:rPr lang="en-US" sz="1400" dirty="0">
                <a:solidFill>
                  <a:schemeClr val="tx1"/>
                </a:solidFill>
              </a:rPr>
              <a:t>Recordatorio para recomprar</a:t>
            </a:r>
            <a:endParaRPr lang="en-US" sz="1400" dirty="0"/>
          </a:p>
        </p:txBody>
      </p:sp>
      <p:sp>
        <p:nvSpPr>
          <p:cNvPr id="36" name="Shape 31"/>
          <p:cNvSpPr/>
          <p:nvPr/>
        </p:nvSpPr>
        <p:spPr>
          <a:xfrm>
            <a:off x="5486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8229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"No me vendas salud, véndeme una mañana menos."</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CANAL DE DISTRIBUCIÓN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niño prueba en el stand y el padre compra ahí</a:t>
            </a:r>
            <a:endParaRPr lang="en-US" sz="3400" dirty="0"/>
          </a:p>
        </p:txBody>
      </p:sp>
      <p:sp>
        <p:nvSpPr>
          <p:cNvPr id="4" name="Shape 2"/>
          <p:cNvSpPr/>
          <p:nvPr/>
        </p:nvSpPr>
        <p:spPr>
          <a:xfrm>
            <a:off x="1600200" y="2057400"/>
            <a:ext cx="1207008" cy="0"/>
          </a:xfrm>
          <a:prstGeom prst="line">
            <a:avLst/>
          </a:prstGeom>
          <a:noFill/>
          <a:ln w="25400">
            <a:solidFill>
              <a:schemeClr val="accent5"/>
            </a:solidFill>
            <a:prstDash val="dash"/>
            <a:tailEnd type="triangle"/>
          </a:ln>
        </p:spPr>
      </p:sp>
      <p:sp>
        <p:nvSpPr>
          <p:cNvPr id="5" name="Shape 3"/>
          <p:cNvSpPr/>
          <p:nvPr/>
        </p:nvSpPr>
        <p:spPr>
          <a:xfrm>
            <a:off x="548640" y="1600200"/>
            <a:ext cx="914400" cy="91440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749808" y="1801368"/>
            <a:ext cx="512064" cy="512064"/>
          </a:xfrm>
          <a:prstGeom prst="rect">
            <a:avLst/>
          </a:prstGeom>
        </p:spPr>
      </p:pic>
      <p:sp>
        <p:nvSpPr>
          <p:cNvPr id="7" name="Text 4"/>
          <p:cNvSpPr txBox="1"/>
          <p:nvPr/>
        </p:nvSpPr>
        <p:spPr>
          <a:xfrm>
            <a:off x="548640"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1 · Información</a:t>
            </a:r>
            <a:endParaRPr lang="en-US" sz="1700" dirty="0"/>
          </a:p>
        </p:txBody>
      </p:sp>
      <p:sp>
        <p:nvSpPr>
          <p:cNvPr id="8" name="Text 5"/>
          <p:cNvSpPr txBox="1"/>
          <p:nvPr/>
        </p:nvSpPr>
        <p:spPr>
          <a:xfrm>
            <a:off x="548640"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Stand en mall o súper, Instagram y chat del salón</a:t>
            </a:r>
            <a:endParaRPr lang="en-US" sz="1400" dirty="0"/>
          </a:p>
        </p:txBody>
      </p:sp>
      <p:sp>
        <p:nvSpPr>
          <p:cNvPr id="9" name="Shape 6"/>
          <p:cNvSpPr/>
          <p:nvPr/>
        </p:nvSpPr>
        <p:spPr>
          <a:xfrm>
            <a:off x="3858768" y="2057400"/>
            <a:ext cx="1207008" cy="0"/>
          </a:xfrm>
          <a:prstGeom prst="line">
            <a:avLst/>
          </a:prstGeom>
          <a:noFill/>
          <a:ln w="25400">
            <a:solidFill>
              <a:schemeClr val="accent5"/>
            </a:solidFill>
            <a:prstDash val="dash"/>
            <a:tailEnd type="triangle"/>
          </a:ln>
        </p:spPr>
      </p:sp>
      <p:sp>
        <p:nvSpPr>
          <p:cNvPr id="10" name="Shape 7"/>
          <p:cNvSpPr/>
          <p:nvPr/>
        </p:nvSpPr>
        <p:spPr>
          <a:xfrm>
            <a:off x="2807208" y="1600200"/>
            <a:ext cx="914400" cy="91440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3008376" y="1801368"/>
            <a:ext cx="512064" cy="512064"/>
          </a:xfrm>
          <a:prstGeom prst="rect">
            <a:avLst/>
          </a:prstGeom>
        </p:spPr>
      </p:pic>
      <p:sp>
        <p:nvSpPr>
          <p:cNvPr id="12" name="Text 8"/>
          <p:cNvSpPr txBox="1"/>
          <p:nvPr/>
        </p:nvSpPr>
        <p:spPr>
          <a:xfrm>
            <a:off x="2807208"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2 · Evaluación</a:t>
            </a:r>
            <a:endParaRPr lang="en-US" sz="1700" dirty="0"/>
          </a:p>
        </p:txBody>
      </p:sp>
      <p:sp>
        <p:nvSpPr>
          <p:cNvPr id="13" name="Text 9"/>
          <p:cNvSpPr txBox="1"/>
          <p:nvPr/>
        </p:nvSpPr>
        <p:spPr>
          <a:xfrm>
            <a:off x="2807208"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Degustación gratis: el niño prueba delante del padre</a:t>
            </a:r>
            <a:endParaRPr lang="en-US" sz="1400" dirty="0"/>
          </a:p>
        </p:txBody>
      </p:sp>
      <p:sp>
        <p:nvSpPr>
          <p:cNvPr id="14" name="Shape 10"/>
          <p:cNvSpPr/>
          <p:nvPr/>
        </p:nvSpPr>
        <p:spPr>
          <a:xfrm>
            <a:off x="6117336" y="2057400"/>
            <a:ext cx="1207008" cy="0"/>
          </a:xfrm>
          <a:prstGeom prst="line">
            <a:avLst/>
          </a:prstGeom>
          <a:noFill/>
          <a:ln w="25400">
            <a:solidFill>
              <a:schemeClr val="accent5"/>
            </a:solidFill>
            <a:prstDash val="dash"/>
            <a:tailEnd type="triangle"/>
          </a:ln>
        </p:spPr>
      </p:sp>
      <p:sp>
        <p:nvSpPr>
          <p:cNvPr id="15" name="Shape 11"/>
          <p:cNvSpPr/>
          <p:nvPr/>
        </p:nvSpPr>
        <p:spPr>
          <a:xfrm>
            <a:off x="5065776" y="1600200"/>
            <a:ext cx="914400" cy="91440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5266944" y="1801368"/>
            <a:ext cx="512064" cy="512064"/>
          </a:xfrm>
          <a:prstGeom prst="rect">
            <a:avLst/>
          </a:prstGeom>
        </p:spPr>
      </p:pic>
      <p:sp>
        <p:nvSpPr>
          <p:cNvPr id="17" name="Text 12"/>
          <p:cNvSpPr txBox="1"/>
          <p:nvPr/>
        </p:nvSpPr>
        <p:spPr>
          <a:xfrm>
            <a:off x="5065776"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3 · Compra</a:t>
            </a:r>
            <a:endParaRPr lang="en-US" sz="1700" dirty="0"/>
          </a:p>
        </p:txBody>
      </p:sp>
      <p:sp>
        <p:nvSpPr>
          <p:cNvPr id="18" name="Text 13"/>
          <p:cNvSpPr txBox="1"/>
          <p:nvPr/>
        </p:nvSpPr>
        <p:spPr>
          <a:xfrm>
            <a:off x="5065776"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En el stand: unidad a S/5 o pack a S/26, con Yape, Plin o tarjeta</a:t>
            </a:r>
            <a:endParaRPr lang="en-US" sz="1400" dirty="0"/>
          </a:p>
        </p:txBody>
      </p:sp>
      <p:sp>
        <p:nvSpPr>
          <p:cNvPr id="19" name="Shape 14"/>
          <p:cNvSpPr/>
          <p:nvPr/>
        </p:nvSpPr>
        <p:spPr>
          <a:xfrm>
            <a:off x="8375904" y="2057400"/>
            <a:ext cx="1207008" cy="0"/>
          </a:xfrm>
          <a:prstGeom prst="line">
            <a:avLst/>
          </a:prstGeom>
          <a:noFill/>
          <a:ln w="25400">
            <a:solidFill>
              <a:schemeClr val="accent5"/>
            </a:solidFill>
            <a:prstDash val="dash"/>
            <a:tailEnd type="triangle"/>
          </a:ln>
        </p:spPr>
      </p:sp>
      <p:sp>
        <p:nvSpPr>
          <p:cNvPr id="20" name="Shape 15"/>
          <p:cNvSpPr/>
          <p:nvPr/>
        </p:nvSpPr>
        <p:spPr>
          <a:xfrm>
            <a:off x="7324344" y="1600200"/>
            <a:ext cx="914400" cy="91440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7525512" y="1801368"/>
            <a:ext cx="512064" cy="512064"/>
          </a:xfrm>
          <a:prstGeom prst="rect">
            <a:avLst/>
          </a:prstGeom>
        </p:spPr>
      </p:pic>
      <p:sp>
        <p:nvSpPr>
          <p:cNvPr id="22" name="Text 16"/>
          <p:cNvSpPr txBox="1"/>
          <p:nvPr/>
        </p:nvSpPr>
        <p:spPr>
          <a:xfrm>
            <a:off x="7324344"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4 · Entrega</a:t>
            </a:r>
            <a:endParaRPr lang="en-US" sz="1700" dirty="0"/>
          </a:p>
        </p:txBody>
      </p:sp>
      <p:sp>
        <p:nvSpPr>
          <p:cNvPr id="23" name="Text 17"/>
          <p:cNvSpPr txBox="1"/>
          <p:nvPr/>
        </p:nvSpPr>
        <p:spPr>
          <a:xfrm>
            <a:off x="7324344"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En el momento; por WhatsApp, delivery gratis desde 2 packs</a:t>
            </a:r>
            <a:endParaRPr lang="en-US" sz="1400" dirty="0"/>
          </a:p>
        </p:txBody>
      </p:sp>
      <p:sp>
        <p:nvSpPr>
          <p:cNvPr id="24" name="Shape 18"/>
          <p:cNvSpPr/>
          <p:nvPr/>
        </p:nvSpPr>
        <p:spPr>
          <a:xfrm>
            <a:off x="9582912" y="1600200"/>
            <a:ext cx="914400" cy="914400"/>
          </a:xfrm>
          <a:prstGeom prst="ellipse">
            <a:avLst/>
          </a:prstGeom>
          <a:solidFill>
            <a:schemeClr val="tx2"/>
          </a:solidFill>
          <a:ln w="12700">
            <a:solidFill>
              <a:schemeClr val="tx2"/>
            </a:solidFill>
            <a:prstDash val="solid"/>
          </a:ln>
        </p:spPr>
      </p:sp>
      <p:pic>
        <p:nvPicPr>
          <p:cNvPr id="25" name="Image 4" descr="preencoded.png">    </p:cNvPr>
          <p:cNvPicPr>
            <a:picLocks noChangeAspect="1"/>
          </p:cNvPicPr>
          <p:nvPr/>
        </p:nvPicPr>
        <p:blipFill>
          <a:blip r:embed="rId5"/>
          <a:stretch>
            <a:fillRect/>
          </a:stretch>
        </p:blipFill>
        <p:spPr>
          <a:xfrm>
            <a:off x="9784080" y="1801368"/>
            <a:ext cx="512064" cy="512064"/>
          </a:xfrm>
          <a:prstGeom prst="rect">
            <a:avLst/>
          </a:prstGeom>
        </p:spPr>
      </p:pic>
      <p:sp>
        <p:nvSpPr>
          <p:cNvPr id="26" name="Text 19"/>
          <p:cNvSpPr txBox="1"/>
          <p:nvPr/>
        </p:nvSpPr>
        <p:spPr>
          <a:xfrm>
            <a:off x="9582912"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5 · Posventa</a:t>
            </a:r>
            <a:endParaRPr lang="en-US" sz="1700" dirty="0"/>
          </a:p>
        </p:txBody>
      </p:sp>
      <p:sp>
        <p:nvSpPr>
          <p:cNvPr id="27" name="Text 20"/>
          <p:cNvSpPr txBox="1"/>
          <p:nvPr/>
        </p:nvSpPr>
        <p:spPr>
          <a:xfrm>
            <a:off x="9582912"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Recordatorio de recompra por WhatsApp y QR del lote</a:t>
            </a:r>
            <a:endParaRPr lang="en-US" sz="1400" dirty="0"/>
          </a:p>
        </p:txBody>
      </p:sp>
      <p:sp>
        <p:nvSpPr>
          <p:cNvPr id="28" name="Shape 21"/>
          <p:cNvSpPr/>
          <p:nvPr/>
        </p:nvSpPr>
        <p:spPr>
          <a:xfrm>
            <a:off x="548640" y="3931920"/>
            <a:ext cx="6949440" cy="1508760"/>
          </a:xfrm>
          <a:prstGeom prst="roundRect">
            <a:avLst>
              <a:gd name="adj" fmla="val 7273"/>
            </a:avLst>
          </a:prstGeom>
          <a:solidFill>
            <a:schemeClr val="tx2"/>
          </a:solidFill>
          <a:ln w="12700">
            <a:solidFill>
              <a:schemeClr val="tx2"/>
            </a:solidFill>
            <a:prstDash val="solid"/>
          </a:ln>
        </p:spPr>
      </p:sp>
      <p:sp>
        <p:nvSpPr>
          <p:cNvPr id="29" name="Text 22"/>
          <p:cNvSpPr txBox="1"/>
          <p:nvPr/>
        </p:nvSpPr>
        <p:spPr>
          <a:xfrm>
            <a:off x="868680" y="4069080"/>
            <a:ext cx="6400800" cy="1280160"/>
          </a:xfrm>
          <a:prstGeom prst="rect">
            <a:avLst/>
          </a:prstGeom>
          <a:noFill/>
          <a:ln/>
        </p:spPr>
        <p:txBody>
          <a:bodyPr wrap="square" lIns="0" tIns="0" rIns="0" bIns="0" rtlCol="0" anchor="ctr"/>
          <a:lstStyle/>
          <a:p>
            <a:pPr indent="0" marL="0">
              <a:buNone/>
            </a:pPr>
            <a:r>
              <a:rPr lang="en-US" sz="2000" b="1" dirty="0">
                <a:solidFill>
                  <a:schemeClr val="accent3"/>
                </a:solidFill>
              </a:rPr>
              <a:t>Canal propio y físico</a:t>
            </a:r>
            <a:endParaRPr lang="en-US" sz="1400" dirty="0"/>
          </a:p>
          <a:p>
            <a:pPr indent="0" marL="0">
              <a:buNone/>
            </a:pPr>
            <a:r>
              <a:rPr lang="en-US" sz="1500" dirty="0">
                <a:solidFill>
                  <a:schemeClr val="bg1"/>
                </a:solidFill>
              </a:rPr>
              <a:t>Stands, carritos y ferias: 58.6 % de las unidades. Es donde el niño prueba y el padre decide.</a:t>
            </a:r>
            <a:endParaRPr lang="en-US" sz="1400" dirty="0"/>
          </a:p>
        </p:txBody>
      </p:sp>
      <p:sp>
        <p:nvSpPr>
          <p:cNvPr id="30" name="Shape 23"/>
          <p:cNvSpPr/>
          <p:nvPr/>
        </p:nvSpPr>
        <p:spPr>
          <a:xfrm>
            <a:off x="7726680" y="3931920"/>
            <a:ext cx="3913632" cy="1508760"/>
          </a:xfrm>
          <a:prstGeom prst="roundRect">
            <a:avLst>
              <a:gd name="adj" fmla="val 72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Text 24"/>
          <p:cNvSpPr txBox="1"/>
          <p:nvPr/>
        </p:nvSpPr>
        <p:spPr>
          <a:xfrm>
            <a:off x="7955280" y="4069080"/>
            <a:ext cx="3520440" cy="1280160"/>
          </a:xfrm>
          <a:prstGeom prst="rect">
            <a:avLst/>
          </a:prstGeom>
          <a:noFill/>
          <a:ln/>
        </p:spPr>
        <p:txBody>
          <a:bodyPr wrap="square" lIns="0" tIns="0" rIns="0" bIns="0" rtlCol="0" anchor="ctr"/>
          <a:lstStyle/>
          <a:p>
            <a:pPr indent="0" marL="0">
              <a:buNone/>
            </a:pPr>
            <a:r>
              <a:rPr lang="en-US" sz="2000" b="1" dirty="0">
                <a:solidFill>
                  <a:schemeClr val="tx2"/>
                </a:solidFill>
              </a:rPr>
              <a:t>Recompra y socios</a:t>
            </a:r>
            <a:endParaRPr lang="en-US" sz="1400" dirty="0"/>
          </a:p>
          <a:p>
            <a:pPr indent="0" marL="0">
              <a:buNone/>
            </a:pPr>
            <a:r>
              <a:rPr lang="en-US" sz="1500" dirty="0">
                <a:solidFill>
                  <a:schemeClr val="tx1"/>
                </a:solidFill>
              </a:rPr>
              <a:t>WhatsApp 18.6 %; quioscos y naturistas 22.8 %, con comisión de 25 a 40 %</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SELECCIÓN DEL CANAL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Elegimos la venta física en stands y carritos</a:t>
            </a:r>
            <a:endParaRPr lang="en-US" sz="3400" dirty="0"/>
          </a:p>
        </p:txBody>
      </p:sp>
      <p:graphicFrame>
        <p:nvGraphicFramePr>
          <p:cNvPr id="4" name="Chart 0" descr=""/>
          <p:cNvGraphicFramePr/>
          <p:nvPr/>
        </p:nvGraphicFramePr>
        <p:xfrm>
          <a:off x="365760" y="1463040"/>
          <a:ext cx="48463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0" y="1554480"/>
          <a:ext cx="6153912" cy="914400"/>
        </p:xfrm>
        <a:graphic>
          <a:graphicData uri="http://schemas.openxmlformats.org/drawingml/2006/table">
            <a:tbl>
              <a:tblPr/>
              <a:tblGrid>
                <a:gridCol w="2039112"/>
                <a:gridCol w="685800"/>
                <a:gridCol w="685800"/>
                <a:gridCol w="685800"/>
                <a:gridCol w="685800"/>
                <a:gridCol w="685800"/>
                <a:gridCol w="685800"/>
              </a:tblGrid>
              <a:tr h="411480">
                <a:tc>
                  <a:txBody>
                    <a:bodyPr/>
                    <a:lstStyle/>
                    <a:p>
                      <a:pPr indent="0" marL="0">
                        <a:buNone/>
                      </a:pPr>
                      <a:r>
                        <a:rPr lang="en-US" sz="1200" b="1" dirty="0">
                          <a:solidFill>
                            <a:schemeClr val="bg1"/>
                          </a:solidFill>
                        </a:rPr>
                        <a:t>Canal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Margen</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Control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Entrada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Alcance</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Prueba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Total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11480">
                <a:tc>
                  <a:txBody>
                    <a:bodyPr/>
                    <a:lstStyle/>
                    <a:p>
                      <a:pPr indent="0" marL="0">
                        <a:buNone/>
                      </a:pPr>
                      <a:r>
                        <a:rPr lang="en-US" sz="1300" b="1" dirty="0">
                          <a:solidFill>
                            <a:schemeClr val="tx1"/>
                          </a:solidFill>
                        </a:rPr>
                        <a:t>Stands y carritos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500" b="1" dirty="0">
                          <a:solidFill>
                            <a:schemeClr val="accent1"/>
                          </a:solidFill>
                        </a:rPr>
                        <a:t>23</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411480">
                <a:tc>
                  <a:txBody>
                    <a:bodyPr/>
                    <a:lstStyle/>
                    <a:p>
                      <a:pPr indent="0" marL="0">
                        <a:buNone/>
                      </a:pPr>
                      <a:r>
                        <a:rPr lang="en-US" sz="1300" dirty="0">
                          <a:solidFill>
                            <a:schemeClr val="tx1"/>
                          </a:solidFill>
                        </a:rPr>
                        <a:t>Ferias y eventos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21</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WhatsApp (recompra)</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17</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Quioscos escolares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17</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Tiendas naturistas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13</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Góndola de súper (año 2)</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8</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0" y="4498848"/>
            <a:ext cx="6153912" cy="274320"/>
          </a:xfrm>
          <a:prstGeom prst="rect">
            <a:avLst/>
          </a:prstGeom>
          <a:noFill/>
          <a:ln/>
        </p:spPr>
        <p:txBody>
          <a:bodyPr wrap="square" lIns="0" tIns="0" rIns="0" bIns="0" rtlCol="0" anchor="t"/>
          <a:lstStyle/>
          <a:p>
            <a:pPr indent="0" marL="0">
              <a:buNone/>
            </a:pPr>
            <a:r>
              <a:rPr lang="en-US" sz="1100" i="1" dirty="0">
                <a:solidFill>
                  <a:schemeClr val="accent2"/>
                </a:solidFill>
              </a:rPr>
              <a:t>Puntaje del equipo, de 1 a 5. Prueba = el niño prueba delante del padre.</a:t>
            </a:r>
            <a:endParaRPr lang="en-US" sz="1100" dirty="0"/>
          </a:p>
        </p:txBody>
      </p:sp>
      <p:sp>
        <p:nvSpPr>
          <p:cNvPr id="7" name="Shape 3"/>
          <p:cNvSpPr/>
          <p:nvPr/>
        </p:nvSpPr>
        <p:spPr>
          <a:xfrm>
            <a:off x="5486400" y="4846320"/>
            <a:ext cx="6153912" cy="1280160"/>
          </a:xfrm>
          <a:prstGeom prst="roundRect">
            <a:avLst>
              <a:gd name="adj" fmla="val 857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5760720" y="4919472"/>
            <a:ext cx="5669280" cy="1143000"/>
          </a:xfrm>
          <a:prstGeom prst="rect">
            <a:avLst/>
          </a:prstGeom>
          <a:noFill/>
          <a:ln/>
        </p:spPr>
        <p:txBody>
          <a:bodyPr wrap="square" lIns="0" tIns="0" rIns="0" bIns="0" rtlCol="0" anchor="ctr"/>
          <a:lstStyle/>
          <a:p>
            <a:pPr indent="0" marL="0">
              <a:buNone/>
            </a:pPr>
            <a:r>
              <a:rPr lang="en-US" sz="2000" b="1" dirty="0">
                <a:solidFill>
                  <a:schemeClr val="bg1"/>
                </a:solidFill>
              </a:rPr>
              <a:t>23 de 25 puntos</a:t>
            </a:r>
            <a:endParaRPr lang="en-US" sz="1400" dirty="0"/>
          </a:p>
          <a:p>
            <a:pPr indent="0" marL="0">
              <a:buNone/>
            </a:pPr>
            <a:r>
              <a:rPr lang="en-US" sz="1400" dirty="0">
                <a:solidFill>
                  <a:schemeClr val="bg1"/>
                </a:solidFill>
              </a:rPr>
              <a:t>Stands para que el niño pruebe y el padre compre; ferias en Navidad y campaña escolar; WhatsApp para volver a comprar.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PUNTOS DE VENTA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Vendemos donde está la familia: malls, súper y ferias</a:t>
            </a:r>
            <a:endParaRPr lang="en-US" sz="3400" dirty="0"/>
          </a:p>
        </p:txBody>
      </p:sp>
      <p:sp>
        <p:nvSpPr>
          <p:cNvPr id="4" name="Shape 2"/>
          <p:cNvSpPr/>
          <p:nvPr/>
        </p:nvSpPr>
        <p:spPr>
          <a:xfrm>
            <a:off x="548640" y="1554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31520" y="1737360"/>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72338" y="1878178"/>
            <a:ext cx="358445" cy="358445"/>
          </a:xfrm>
          <a:prstGeom prst="rect">
            <a:avLst/>
          </a:prstGeom>
        </p:spPr>
      </p:pic>
      <p:sp>
        <p:nvSpPr>
          <p:cNvPr id="7" name="Text 4"/>
          <p:cNvSpPr txBox="1"/>
          <p:nvPr/>
        </p:nvSpPr>
        <p:spPr>
          <a:xfrm>
            <a:off x="1554480" y="1554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Malls de Lima Top</a:t>
            </a:r>
            <a:endParaRPr lang="en-US" sz="1400" dirty="0"/>
          </a:p>
          <a:p>
            <a:pPr indent="0" marL="0">
              <a:buNone/>
            </a:pPr>
            <a:r>
              <a:rPr lang="en-US" sz="1300" dirty="0">
                <a:solidFill>
                  <a:schemeClr val="accent2"/>
                </a:solidFill>
              </a:rPr>
              <a:t>Jockey Plaza, Larcomar y La Rambla: programas para emprendedores</a:t>
            </a:r>
            <a:endParaRPr lang="en-US" sz="1400" dirty="0"/>
          </a:p>
        </p:txBody>
      </p:sp>
      <p:sp>
        <p:nvSpPr>
          <p:cNvPr id="8" name="Shape 5"/>
          <p:cNvSpPr/>
          <p:nvPr/>
        </p:nvSpPr>
        <p:spPr>
          <a:xfrm>
            <a:off x="548640" y="2697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731520" y="2880360"/>
            <a:ext cx="640080" cy="64008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872338" y="3021178"/>
            <a:ext cx="358445" cy="358445"/>
          </a:xfrm>
          <a:prstGeom prst="rect">
            <a:avLst/>
          </a:prstGeom>
        </p:spPr>
      </p:pic>
      <p:sp>
        <p:nvSpPr>
          <p:cNvPr id="11" name="Text 7"/>
          <p:cNvSpPr txBox="1"/>
          <p:nvPr/>
        </p:nvSpPr>
        <p:spPr>
          <a:xfrm>
            <a:off x="1554480" y="2697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Supermercados</a:t>
            </a:r>
            <a:endParaRPr lang="en-US" sz="1400" dirty="0"/>
          </a:p>
          <a:p>
            <a:pPr indent="0" marL="0">
              <a:buNone/>
            </a:pPr>
            <a:r>
              <a:rPr lang="en-US" sz="1300" dirty="0">
                <a:solidFill>
                  <a:schemeClr val="accent2"/>
                </a:solidFill>
              </a:rPr>
              <a:t>Carrito en la entrada de Wong o Vivanda, los fines de semana</a:t>
            </a:r>
            <a:endParaRPr lang="en-US" sz="1400" dirty="0"/>
          </a:p>
        </p:txBody>
      </p:sp>
      <p:sp>
        <p:nvSpPr>
          <p:cNvPr id="12" name="Shape 8"/>
          <p:cNvSpPr/>
          <p:nvPr/>
        </p:nvSpPr>
        <p:spPr>
          <a:xfrm>
            <a:off x="548640" y="3840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9"/>
          <p:cNvSpPr/>
          <p:nvPr/>
        </p:nvSpPr>
        <p:spPr>
          <a:xfrm>
            <a:off x="731520" y="4023360"/>
            <a:ext cx="640080" cy="640080"/>
          </a:xfrm>
          <a:prstGeom prst="ellipse">
            <a:avLst/>
          </a:prstGeom>
          <a:solidFill>
            <a:schemeClr val="tx2"/>
          </a:solidFill>
          <a:ln w="12700">
            <a:solidFill>
              <a:schemeClr val="tx2"/>
            </a:solidFill>
            <a:prstDash val="solid"/>
          </a:ln>
        </p:spPr>
      </p:sp>
      <p:pic>
        <p:nvPicPr>
          <p:cNvPr id="14" name="Image 2" descr="preencoded.png">    </p:cNvPr>
          <p:cNvPicPr>
            <a:picLocks noChangeAspect="1"/>
          </p:cNvPicPr>
          <p:nvPr/>
        </p:nvPicPr>
        <p:blipFill>
          <a:blip r:embed="rId3"/>
          <a:stretch>
            <a:fillRect/>
          </a:stretch>
        </p:blipFill>
        <p:spPr>
          <a:xfrm>
            <a:off x="872338" y="4164178"/>
            <a:ext cx="358445" cy="358445"/>
          </a:xfrm>
          <a:prstGeom prst="rect">
            <a:avLst/>
          </a:prstGeom>
        </p:spPr>
      </p:pic>
      <p:sp>
        <p:nvSpPr>
          <p:cNvPr id="15" name="Text 10"/>
          <p:cNvSpPr txBox="1"/>
          <p:nvPr/>
        </p:nvSpPr>
        <p:spPr>
          <a:xfrm>
            <a:off x="1554480" y="3840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Ferias de temporada</a:t>
            </a:r>
            <a:endParaRPr lang="en-US" sz="1400" dirty="0"/>
          </a:p>
          <a:p>
            <a:pPr indent="0" marL="0">
              <a:buNone/>
            </a:pPr>
            <a:r>
              <a:rPr lang="en-US" sz="1300" dirty="0">
                <a:solidFill>
                  <a:schemeClr val="accent2"/>
                </a:solidFill>
              </a:rPr>
              <a:t>Navidad (Bazar CCL, Navi Fest) y campaña escolar</a:t>
            </a:r>
            <a:endParaRPr lang="en-US" sz="1400" dirty="0"/>
          </a:p>
        </p:txBody>
      </p:sp>
      <p:sp>
        <p:nvSpPr>
          <p:cNvPr id="16" name="Shape 11"/>
          <p:cNvSpPr/>
          <p:nvPr/>
        </p:nvSpPr>
        <p:spPr>
          <a:xfrm>
            <a:off x="548640" y="4983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Shape 12"/>
          <p:cNvSpPr/>
          <p:nvPr/>
        </p:nvSpPr>
        <p:spPr>
          <a:xfrm>
            <a:off x="731520" y="5166360"/>
            <a:ext cx="640080" cy="640080"/>
          </a:xfrm>
          <a:prstGeom prst="ellipse">
            <a:avLst/>
          </a:prstGeom>
          <a:solidFill>
            <a:schemeClr val="tx2"/>
          </a:solidFill>
          <a:ln w="12700">
            <a:solidFill>
              <a:schemeClr val="tx2"/>
            </a:solidFill>
            <a:prstDash val="solid"/>
          </a:ln>
        </p:spPr>
      </p:sp>
      <p:pic>
        <p:nvPicPr>
          <p:cNvPr id="18" name="Image 3" descr="preencoded.png">    </p:cNvPr>
          <p:cNvPicPr>
            <a:picLocks noChangeAspect="1"/>
          </p:cNvPicPr>
          <p:nvPr/>
        </p:nvPicPr>
        <p:blipFill>
          <a:blip r:embed="rId4"/>
          <a:stretch>
            <a:fillRect/>
          </a:stretch>
        </p:blipFill>
        <p:spPr>
          <a:xfrm>
            <a:off x="872338" y="5307178"/>
            <a:ext cx="358445" cy="358445"/>
          </a:xfrm>
          <a:prstGeom prst="rect">
            <a:avLst/>
          </a:prstGeom>
        </p:spPr>
      </p:pic>
      <p:sp>
        <p:nvSpPr>
          <p:cNvPr id="19" name="Text 13"/>
          <p:cNvSpPr txBox="1"/>
          <p:nvPr/>
        </p:nvSpPr>
        <p:spPr>
          <a:xfrm>
            <a:off x="1554480" y="4983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Colegios y comunidad</a:t>
            </a:r>
            <a:endParaRPr lang="en-US" sz="1400" dirty="0"/>
          </a:p>
          <a:p>
            <a:pPr indent="0" marL="0">
              <a:buNone/>
            </a:pPr>
            <a:r>
              <a:rPr lang="en-US" sz="1300" dirty="0">
                <a:solidFill>
                  <a:schemeClr val="accent2"/>
                </a:solidFill>
              </a:rPr>
              <a:t>Kermeses, cumpleaños y quioscos sin octógono</a:t>
            </a:r>
            <a:endParaRPr lang="en-US" sz="1400" dirty="0"/>
          </a:p>
        </p:txBody>
      </p:sp>
      <p:graphicFrame>
        <p:nvGraphicFramePr>
          <p:cNvPr id="20" name="Chart 0" descr=""/>
          <p:cNvGraphicFramePr/>
          <p:nvPr/>
        </p:nvGraphicFramePr>
        <p:xfrm>
          <a:off x="5212080" y="1463040"/>
          <a:ext cx="6583680" cy="4663440"/>
        </p:xfrm>
        <a:graphic xmlns:a="http://schemas.openxmlformats.org/drawingml/2006/main">
          <a:graphicData uri="http://schemas.openxmlformats.org/drawingml/2006/chart">
            <c:chart xmlns:c="http://schemas.openxmlformats.org/drawingml/2006/chart" r:id="rId5"/>
          </a:graphicData>
        </a:graphic>
      </p:graphicFrame>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06</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Relación con el cliente e ingresos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Tipos de relación · Captar, fidelizar y crecer · Fuentes de ingreso · Ventas del año 1</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RELACIÓN CON EL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Cara a cara en el stand, automática al recomprar</a:t>
            </a:r>
            <a:endParaRPr lang="en-US" sz="3400" dirty="0"/>
          </a:p>
        </p:txBody>
      </p:sp>
      <p:sp>
        <p:nvSpPr>
          <p:cNvPr id="4" name="Shape 2"/>
          <p:cNvSpPr/>
          <p:nvPr/>
        </p:nvSpPr>
        <p:spPr>
          <a:xfrm>
            <a:off x="548640"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685800" cy="68580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73836" y="1979676"/>
            <a:ext cx="384048" cy="384048"/>
          </a:xfrm>
          <a:prstGeom prst="rect">
            <a:avLst/>
          </a:prstGeom>
        </p:spPr>
      </p:pic>
      <p:sp>
        <p:nvSpPr>
          <p:cNvPr id="7" name="Text 4"/>
          <p:cNvSpPr txBox="1"/>
          <p:nvPr/>
        </p:nvSpPr>
        <p:spPr>
          <a:xfrm>
            <a:off x="1645920"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personal</a:t>
            </a:r>
            <a:endParaRPr lang="en-US" sz="1700" dirty="0"/>
          </a:p>
        </p:txBody>
      </p:sp>
      <p:sp>
        <p:nvSpPr>
          <p:cNvPr id="8" name="Shape 5"/>
          <p:cNvSpPr/>
          <p:nvPr/>
        </p:nvSpPr>
        <p:spPr>
          <a:xfrm>
            <a:off x="1645920" y="2249424"/>
            <a:ext cx="868680" cy="256032"/>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1645920" y="2249424"/>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10" name="Text 7"/>
          <p:cNvSpPr txBox="1"/>
          <p:nvPr/>
        </p:nvSpPr>
        <p:spPr>
          <a:xfrm>
            <a:off x="822960"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En el stand: degustación y consejo de sabores; luego por WhatsApp</a:t>
            </a:r>
            <a:endParaRPr lang="en-US" sz="1500" dirty="0"/>
          </a:p>
        </p:txBody>
      </p:sp>
      <p:sp>
        <p:nvSpPr>
          <p:cNvPr id="11" name="Shape 8"/>
          <p:cNvSpPr/>
          <p:nvPr/>
        </p:nvSpPr>
        <p:spPr>
          <a:xfrm>
            <a:off x="4311396"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4585716" y="1828800"/>
            <a:ext cx="685800" cy="685800"/>
          </a:xfrm>
          <a:prstGeom prst="ellipse">
            <a:avLst/>
          </a:prstGeom>
          <a:solidFill>
            <a:schemeClr val="accent5"/>
          </a:solidFill>
          <a:ln w="12700">
            <a:solidFill>
              <a:schemeClr val="accent5"/>
            </a:solidFill>
            <a:prstDash val="solid"/>
          </a:ln>
        </p:spPr>
      </p:sp>
      <p:pic>
        <p:nvPicPr>
          <p:cNvPr id="13" name="Image 1" descr="preencoded.png">    </p:cNvPr>
          <p:cNvPicPr>
            <a:picLocks noChangeAspect="1"/>
          </p:cNvPicPr>
          <p:nvPr/>
        </p:nvPicPr>
        <p:blipFill>
          <a:blip r:embed="rId2"/>
          <a:stretch>
            <a:fillRect/>
          </a:stretch>
        </p:blipFill>
        <p:spPr>
          <a:xfrm>
            <a:off x="4736592" y="1979676"/>
            <a:ext cx="384048" cy="384048"/>
          </a:xfrm>
          <a:prstGeom prst="rect">
            <a:avLst/>
          </a:prstGeom>
        </p:spPr>
      </p:pic>
      <p:sp>
        <p:nvSpPr>
          <p:cNvPr id="14" name="Text 10"/>
          <p:cNvSpPr txBox="1"/>
          <p:nvPr/>
        </p:nvSpPr>
        <p:spPr>
          <a:xfrm>
            <a:off x="5408676"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exclusiva</a:t>
            </a:r>
            <a:endParaRPr lang="en-US" sz="1700" dirty="0"/>
          </a:p>
        </p:txBody>
      </p:sp>
      <p:sp>
        <p:nvSpPr>
          <p:cNvPr id="15" name="Shape 11"/>
          <p:cNvSpPr/>
          <p:nvPr/>
        </p:nvSpPr>
        <p:spPr>
          <a:xfrm>
            <a:off x="5408676" y="2249424"/>
            <a:ext cx="868680" cy="256032"/>
          </a:xfrm>
          <a:prstGeom prst="roundRect">
            <a:avLst>
              <a:gd name="adj" fmla="val 50000"/>
            </a:avLst>
          </a:prstGeom>
          <a:solidFill>
            <a:schemeClr val="bg2"/>
          </a:solidFill>
          <a:ln w="9525">
            <a:solidFill>
              <a:schemeClr val="accent5"/>
            </a:solidFill>
            <a:prstDash val="solid"/>
          </a:ln>
        </p:spPr>
      </p:sp>
      <p:sp>
        <p:nvSpPr>
          <p:cNvPr id="16" name="Text 12"/>
          <p:cNvSpPr txBox="1"/>
          <p:nvPr/>
        </p:nvSpPr>
        <p:spPr>
          <a:xfrm>
            <a:off x="5408676" y="2249424"/>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17" name="Text 13"/>
          <p:cNvSpPr txBox="1"/>
          <p:nvPr/>
        </p:nvSpPr>
        <p:spPr>
          <a:xfrm>
            <a:off x="4585716"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Un socio a cargo de cada colegio y de cada naturista</a:t>
            </a:r>
            <a:endParaRPr lang="en-US" sz="1500" dirty="0"/>
          </a:p>
        </p:txBody>
      </p:sp>
      <p:sp>
        <p:nvSpPr>
          <p:cNvPr id="18" name="Shape 14"/>
          <p:cNvSpPr/>
          <p:nvPr/>
        </p:nvSpPr>
        <p:spPr>
          <a:xfrm>
            <a:off x="8074152"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Shape 15"/>
          <p:cNvSpPr/>
          <p:nvPr/>
        </p:nvSpPr>
        <p:spPr>
          <a:xfrm>
            <a:off x="8348472" y="1828800"/>
            <a:ext cx="685800" cy="685800"/>
          </a:xfrm>
          <a:prstGeom prst="ellipse">
            <a:avLst/>
          </a:prstGeom>
          <a:solidFill>
            <a:schemeClr val="accent5"/>
          </a:solidFill>
          <a:ln w="12700">
            <a:solidFill>
              <a:schemeClr val="accent5"/>
            </a:solidFill>
            <a:prstDash val="solid"/>
          </a:ln>
        </p:spPr>
      </p:sp>
      <p:pic>
        <p:nvPicPr>
          <p:cNvPr id="20" name="Image 2" descr="preencoded.png">    </p:cNvPr>
          <p:cNvPicPr>
            <a:picLocks noChangeAspect="1"/>
          </p:cNvPicPr>
          <p:nvPr/>
        </p:nvPicPr>
        <p:blipFill>
          <a:blip r:embed="rId3"/>
          <a:stretch>
            <a:fillRect/>
          </a:stretch>
        </p:blipFill>
        <p:spPr>
          <a:xfrm>
            <a:off x="8499348" y="1979676"/>
            <a:ext cx="384048" cy="384048"/>
          </a:xfrm>
          <a:prstGeom prst="rect">
            <a:avLst/>
          </a:prstGeom>
        </p:spPr>
      </p:pic>
      <p:sp>
        <p:nvSpPr>
          <p:cNvPr id="21" name="Text 16"/>
          <p:cNvSpPr txBox="1"/>
          <p:nvPr/>
        </p:nvSpPr>
        <p:spPr>
          <a:xfrm>
            <a:off x="9171432"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Autoservicio</a:t>
            </a:r>
            <a:endParaRPr lang="en-US" sz="1700" dirty="0"/>
          </a:p>
        </p:txBody>
      </p:sp>
      <p:sp>
        <p:nvSpPr>
          <p:cNvPr id="22" name="Shape 17"/>
          <p:cNvSpPr/>
          <p:nvPr/>
        </p:nvSpPr>
        <p:spPr>
          <a:xfrm>
            <a:off x="9171432" y="2249424"/>
            <a:ext cx="868680" cy="256032"/>
          </a:xfrm>
          <a:prstGeom prst="roundRect">
            <a:avLst>
              <a:gd name="adj" fmla="val 50000"/>
            </a:avLst>
          </a:prstGeom>
          <a:solidFill>
            <a:schemeClr val="bg2"/>
          </a:solidFill>
          <a:ln w="9525">
            <a:solidFill>
              <a:schemeClr val="accent5"/>
            </a:solidFill>
            <a:prstDash val="solid"/>
          </a:ln>
        </p:spPr>
      </p:sp>
      <p:sp>
        <p:nvSpPr>
          <p:cNvPr id="23" name="Text 18"/>
          <p:cNvSpPr txBox="1"/>
          <p:nvPr/>
        </p:nvSpPr>
        <p:spPr>
          <a:xfrm>
            <a:off x="9171432" y="2249424"/>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24" name="Text 19"/>
          <p:cNvSpPr txBox="1"/>
          <p:nvPr/>
        </p:nvSpPr>
        <p:spPr>
          <a:xfrm>
            <a:off x="8348472"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Catálogo de WhatsApp y link de pago, sin esperar respuesta</a:t>
            </a:r>
            <a:endParaRPr lang="en-US" sz="1500" dirty="0"/>
          </a:p>
        </p:txBody>
      </p:sp>
      <p:sp>
        <p:nvSpPr>
          <p:cNvPr id="25" name="Shape 20"/>
          <p:cNvSpPr/>
          <p:nvPr/>
        </p:nvSpPr>
        <p:spPr>
          <a:xfrm>
            <a:off x="548640"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6" name="Shape 21"/>
          <p:cNvSpPr/>
          <p:nvPr/>
        </p:nvSpPr>
        <p:spPr>
          <a:xfrm>
            <a:off x="822960" y="4224528"/>
            <a:ext cx="685800" cy="685800"/>
          </a:xfrm>
          <a:prstGeom prst="ellipse">
            <a:avLst/>
          </a:prstGeom>
          <a:solidFill>
            <a:schemeClr val="accent1"/>
          </a:solidFill>
          <a:ln w="12700">
            <a:solidFill>
              <a:schemeClr val="accent1"/>
            </a:solidFill>
            <a:prstDash val="solid"/>
          </a:ln>
        </p:spPr>
      </p:sp>
      <p:pic>
        <p:nvPicPr>
          <p:cNvPr id="27" name="Image 3" descr="preencoded.png">    </p:cNvPr>
          <p:cNvPicPr>
            <a:picLocks noChangeAspect="1"/>
          </p:cNvPicPr>
          <p:nvPr/>
        </p:nvPicPr>
        <p:blipFill>
          <a:blip r:embed="rId4"/>
          <a:stretch>
            <a:fillRect/>
          </a:stretch>
        </p:blipFill>
        <p:spPr>
          <a:xfrm>
            <a:off x="973836" y="4375404"/>
            <a:ext cx="384048" cy="384048"/>
          </a:xfrm>
          <a:prstGeom prst="rect">
            <a:avLst/>
          </a:prstGeom>
        </p:spPr>
      </p:pic>
      <p:sp>
        <p:nvSpPr>
          <p:cNvPr id="28" name="Text 22"/>
          <p:cNvSpPr txBox="1"/>
          <p:nvPr/>
        </p:nvSpPr>
        <p:spPr>
          <a:xfrm>
            <a:off x="1645920"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Servicio automático</a:t>
            </a:r>
            <a:endParaRPr lang="en-US" sz="1700" dirty="0"/>
          </a:p>
        </p:txBody>
      </p:sp>
      <p:sp>
        <p:nvSpPr>
          <p:cNvPr id="29" name="Shape 23"/>
          <p:cNvSpPr/>
          <p:nvPr/>
        </p:nvSpPr>
        <p:spPr>
          <a:xfrm>
            <a:off x="1645920" y="4645152"/>
            <a:ext cx="868680" cy="256032"/>
          </a:xfrm>
          <a:prstGeom prst="roundRect">
            <a:avLst>
              <a:gd name="adj" fmla="val 50000"/>
            </a:avLst>
          </a:prstGeom>
          <a:solidFill>
            <a:schemeClr val="accent1"/>
          </a:solidFill>
          <a:ln w="9525">
            <a:solidFill>
              <a:schemeClr val="accent1"/>
            </a:solidFill>
            <a:prstDash val="solid"/>
          </a:ln>
        </p:spPr>
      </p:sp>
      <p:sp>
        <p:nvSpPr>
          <p:cNvPr id="30" name="Text 24"/>
          <p:cNvSpPr txBox="1"/>
          <p:nvPr/>
        </p:nvSpPr>
        <p:spPr>
          <a:xfrm>
            <a:off x="1645920"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1" name="Text 25"/>
          <p:cNvSpPr txBox="1"/>
          <p:nvPr/>
        </p:nvSpPr>
        <p:spPr>
          <a:xfrm>
            <a:off x="822960"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Recordatorio de recompra por WhatsApp a los 12 días</a:t>
            </a:r>
            <a:endParaRPr lang="en-US" sz="1500" dirty="0"/>
          </a:p>
        </p:txBody>
      </p:sp>
      <p:sp>
        <p:nvSpPr>
          <p:cNvPr id="32" name="Shape 26"/>
          <p:cNvSpPr/>
          <p:nvPr/>
        </p:nvSpPr>
        <p:spPr>
          <a:xfrm>
            <a:off x="4311396"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7"/>
          <p:cNvSpPr/>
          <p:nvPr/>
        </p:nvSpPr>
        <p:spPr>
          <a:xfrm>
            <a:off x="4585716" y="4224528"/>
            <a:ext cx="685800" cy="685800"/>
          </a:xfrm>
          <a:prstGeom prst="ellipse">
            <a:avLst/>
          </a:prstGeom>
          <a:solidFill>
            <a:schemeClr val="accent1"/>
          </a:solidFill>
          <a:ln w="12700">
            <a:solidFill>
              <a:schemeClr val="accent1"/>
            </a:solidFill>
            <a:prstDash val="solid"/>
          </a:ln>
        </p:spPr>
      </p:sp>
      <p:pic>
        <p:nvPicPr>
          <p:cNvPr id="34" name="Image 4" descr="preencoded.png">    </p:cNvPr>
          <p:cNvPicPr>
            <a:picLocks noChangeAspect="1"/>
          </p:cNvPicPr>
          <p:nvPr/>
        </p:nvPicPr>
        <p:blipFill>
          <a:blip r:embed="rId5"/>
          <a:stretch>
            <a:fillRect/>
          </a:stretch>
        </p:blipFill>
        <p:spPr>
          <a:xfrm>
            <a:off x="4736592" y="4375404"/>
            <a:ext cx="384048" cy="384048"/>
          </a:xfrm>
          <a:prstGeom prst="rect">
            <a:avLst/>
          </a:prstGeom>
        </p:spPr>
      </p:pic>
      <p:sp>
        <p:nvSpPr>
          <p:cNvPr id="35" name="Text 28"/>
          <p:cNvSpPr txBox="1"/>
          <p:nvPr/>
        </p:nvSpPr>
        <p:spPr>
          <a:xfrm>
            <a:off x="5408676"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Comunidades</a:t>
            </a:r>
            <a:endParaRPr lang="en-US" sz="1700" dirty="0"/>
          </a:p>
        </p:txBody>
      </p:sp>
      <p:sp>
        <p:nvSpPr>
          <p:cNvPr id="36" name="Shape 29"/>
          <p:cNvSpPr/>
          <p:nvPr/>
        </p:nvSpPr>
        <p:spPr>
          <a:xfrm>
            <a:off x="5408676" y="4645152"/>
            <a:ext cx="868680" cy="256032"/>
          </a:xfrm>
          <a:prstGeom prst="roundRect">
            <a:avLst>
              <a:gd name="adj" fmla="val 50000"/>
            </a:avLst>
          </a:prstGeom>
          <a:solidFill>
            <a:schemeClr val="accent1"/>
          </a:solidFill>
          <a:ln w="9525">
            <a:solidFill>
              <a:schemeClr val="accent1"/>
            </a:solidFill>
            <a:prstDash val="solid"/>
          </a:ln>
        </p:spPr>
      </p:sp>
      <p:sp>
        <p:nvSpPr>
          <p:cNvPr id="37" name="Text 30"/>
          <p:cNvSpPr txBox="1"/>
          <p:nvPr/>
        </p:nvSpPr>
        <p:spPr>
          <a:xfrm>
            <a:off x="5408676"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8" name="Text 31"/>
          <p:cNvSpPr txBox="1"/>
          <p:nvPr/>
        </p:nvSpPr>
        <p:spPr>
          <a:xfrm>
            <a:off x="4585716"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y comunidad en Instagram</a:t>
            </a:r>
            <a:endParaRPr lang="en-US" sz="1500" dirty="0"/>
          </a:p>
        </p:txBody>
      </p:sp>
      <p:sp>
        <p:nvSpPr>
          <p:cNvPr id="39" name="Shape 32"/>
          <p:cNvSpPr/>
          <p:nvPr/>
        </p:nvSpPr>
        <p:spPr>
          <a:xfrm>
            <a:off x="8074152"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0" name="Shape 33"/>
          <p:cNvSpPr/>
          <p:nvPr/>
        </p:nvSpPr>
        <p:spPr>
          <a:xfrm>
            <a:off x="8348472" y="4224528"/>
            <a:ext cx="685800" cy="685800"/>
          </a:xfrm>
          <a:prstGeom prst="ellipse">
            <a:avLst/>
          </a:prstGeom>
          <a:solidFill>
            <a:schemeClr val="accent5"/>
          </a:solidFill>
          <a:ln w="12700">
            <a:solidFill>
              <a:schemeClr val="accent5"/>
            </a:solidFill>
            <a:prstDash val="solid"/>
          </a:ln>
        </p:spPr>
      </p:sp>
      <p:pic>
        <p:nvPicPr>
          <p:cNvPr id="41" name="Image 5" descr="preencoded.png">    </p:cNvPr>
          <p:cNvPicPr>
            <a:picLocks noChangeAspect="1"/>
          </p:cNvPicPr>
          <p:nvPr/>
        </p:nvPicPr>
        <p:blipFill>
          <a:blip r:embed="rId6"/>
          <a:stretch>
            <a:fillRect/>
          </a:stretch>
        </p:blipFill>
        <p:spPr>
          <a:xfrm>
            <a:off x="8499348" y="4375404"/>
            <a:ext cx="384048" cy="384048"/>
          </a:xfrm>
          <a:prstGeom prst="rect">
            <a:avLst/>
          </a:prstGeom>
        </p:spPr>
      </p:pic>
      <p:sp>
        <p:nvSpPr>
          <p:cNvPr id="42" name="Text 34"/>
          <p:cNvSpPr txBox="1"/>
          <p:nvPr/>
        </p:nvSpPr>
        <p:spPr>
          <a:xfrm>
            <a:off x="9171432"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Creación colectiva</a:t>
            </a:r>
            <a:endParaRPr lang="en-US" sz="1700" dirty="0"/>
          </a:p>
        </p:txBody>
      </p:sp>
      <p:sp>
        <p:nvSpPr>
          <p:cNvPr id="43" name="Shape 35"/>
          <p:cNvSpPr/>
          <p:nvPr/>
        </p:nvSpPr>
        <p:spPr>
          <a:xfrm>
            <a:off x="9171432" y="4645152"/>
            <a:ext cx="868680" cy="256032"/>
          </a:xfrm>
          <a:prstGeom prst="roundRect">
            <a:avLst>
              <a:gd name="adj" fmla="val 50000"/>
            </a:avLst>
          </a:prstGeom>
          <a:solidFill>
            <a:schemeClr val="bg2"/>
          </a:solidFill>
          <a:ln w="9525">
            <a:solidFill>
              <a:schemeClr val="accent5"/>
            </a:solidFill>
            <a:prstDash val="solid"/>
          </a:ln>
        </p:spPr>
      </p:sp>
      <p:sp>
        <p:nvSpPr>
          <p:cNvPr id="44" name="Text 36"/>
          <p:cNvSpPr txBox="1"/>
          <p:nvPr/>
        </p:nvSpPr>
        <p:spPr>
          <a:xfrm>
            <a:off x="9171432" y="4645152"/>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45" name="Text 37"/>
          <p:cNvSpPr txBox="1"/>
          <p:nvPr/>
        </p:nvSpPr>
        <p:spPr>
          <a:xfrm>
            <a:off x="8348472"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Los niños votan el sabor del mes en el stand</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CICLO DE RELACIÓN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Captar, fidelizar y crecer con cada familia</a:t>
            </a:r>
            <a:endParaRPr lang="en-US" sz="3400" dirty="0"/>
          </a:p>
        </p:txBody>
      </p:sp>
      <p:sp>
        <p:nvSpPr>
          <p:cNvPr id="4" name="Shape 2"/>
          <p:cNvSpPr/>
          <p:nvPr/>
        </p:nvSpPr>
        <p:spPr>
          <a:xfrm>
            <a:off x="54864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1 · CAPTAR</a:t>
            </a:r>
            <a:endParaRPr lang="en-US" sz="1200" dirty="0"/>
          </a:p>
        </p:txBody>
      </p:sp>
      <p:sp>
        <p:nvSpPr>
          <p:cNvPr id="6" name="Text 4"/>
          <p:cNvSpPr txBox="1"/>
          <p:nvPr/>
        </p:nvSpPr>
        <p:spPr>
          <a:xfrm>
            <a:off x="82296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lo prueben</a:t>
            </a:r>
            <a:endParaRPr lang="en-US" sz="2100" dirty="0"/>
          </a:p>
        </p:txBody>
      </p:sp>
      <p:sp>
        <p:nvSpPr>
          <p:cNvPr id="7" name="Text 5"/>
          <p:cNvSpPr txBox="1"/>
          <p:nvPr/>
        </p:nvSpPr>
        <p:spPr>
          <a:xfrm>
            <a:off x="82296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Degustación gratis en el stand y caja de 3 a S/12 para llevar</a:t>
            </a:r>
            <a:endParaRPr lang="en-US" sz="1500" dirty="0"/>
          </a:p>
        </p:txBody>
      </p:sp>
      <p:sp>
        <p:nvSpPr>
          <p:cNvPr id="8" name="Shape 6"/>
          <p:cNvSpPr/>
          <p:nvPr/>
        </p:nvSpPr>
        <p:spPr>
          <a:xfrm>
            <a:off x="731520" y="4480560"/>
            <a:ext cx="2331720" cy="1463040"/>
          </a:xfrm>
          <a:prstGeom prst="roundRect">
            <a:avLst>
              <a:gd name="adj" fmla="val 6250"/>
            </a:avLst>
          </a:prstGeom>
          <a:solidFill>
            <a:schemeClr val="bg2"/>
          </a:solidFill>
          <a:ln w="12700">
            <a:solidFill>
              <a:schemeClr val="bg2"/>
            </a:solidFill>
            <a:prstDash val="solid"/>
          </a:ln>
        </p:spPr>
      </p:sp>
      <p:sp>
        <p:nvSpPr>
          <p:cNvPr id="9" name="Text 7"/>
          <p:cNvSpPr txBox="1"/>
          <p:nvPr/>
        </p:nvSpPr>
        <p:spPr>
          <a:xfrm>
            <a:off x="91440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80</a:t>
            </a:r>
            <a:endParaRPr lang="en-US" sz="1400" dirty="0"/>
          </a:p>
          <a:p>
            <a:pPr indent="0" marL="0">
              <a:buNone/>
            </a:pPr>
            <a:r>
              <a:rPr lang="en-US" sz="1300" dirty="0">
                <a:solidFill>
                  <a:schemeClr val="accent2"/>
                </a:solidFill>
              </a:rPr>
              <a:t>brownies por día en cada punto de venta</a:t>
            </a:r>
            <a:endParaRPr lang="en-US" sz="1400" dirty="0"/>
          </a:p>
        </p:txBody>
      </p:sp>
      <p:sp>
        <p:nvSpPr>
          <p:cNvPr id="10" name="Shape 8"/>
          <p:cNvSpPr/>
          <p:nvPr/>
        </p:nvSpPr>
        <p:spPr>
          <a:xfrm>
            <a:off x="3200400" y="3566160"/>
            <a:ext cx="411480" cy="411480"/>
          </a:xfrm>
          <a:prstGeom prst="ellipse">
            <a:avLst/>
          </a:prstGeom>
          <a:solidFill>
            <a:schemeClr val="accent3"/>
          </a:solidFill>
          <a:ln w="12700">
            <a:solidFill>
              <a:schemeClr val="accent3"/>
            </a:solidFill>
            <a:prstDash val="solid"/>
          </a:ln>
        </p:spPr>
      </p:sp>
      <p:pic>
        <p:nvPicPr>
          <p:cNvPr id="11" name="Image 0" descr="preencoded.png">    </p:cNvPr>
          <p:cNvPicPr>
            <a:picLocks noChangeAspect="1"/>
          </p:cNvPicPr>
          <p:nvPr/>
        </p:nvPicPr>
        <p:blipFill>
          <a:blip r:embed="rId1"/>
          <a:stretch>
            <a:fillRect/>
          </a:stretch>
        </p:blipFill>
        <p:spPr>
          <a:xfrm>
            <a:off x="3290926" y="3656686"/>
            <a:ext cx="230429" cy="230429"/>
          </a:xfrm>
          <a:prstGeom prst="rect">
            <a:avLst/>
          </a:prstGeom>
        </p:spPr>
      </p:pic>
      <p:sp>
        <p:nvSpPr>
          <p:cNvPr id="12" name="Shape 9"/>
          <p:cNvSpPr/>
          <p:nvPr/>
        </p:nvSpPr>
        <p:spPr>
          <a:xfrm>
            <a:off x="356616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0"/>
          <p:cNvSpPr txBox="1"/>
          <p:nvPr/>
        </p:nvSpPr>
        <p:spPr>
          <a:xfrm>
            <a:off x="384048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2 · FIDELIZAR</a:t>
            </a:r>
            <a:endParaRPr lang="en-US" sz="1200" dirty="0"/>
          </a:p>
        </p:txBody>
      </p:sp>
      <p:sp>
        <p:nvSpPr>
          <p:cNvPr id="14" name="Text 11"/>
          <p:cNvSpPr txBox="1"/>
          <p:nvPr/>
        </p:nvSpPr>
        <p:spPr>
          <a:xfrm>
            <a:off x="384048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vuelvan</a:t>
            </a:r>
            <a:endParaRPr lang="en-US" sz="2100" dirty="0"/>
          </a:p>
        </p:txBody>
      </p:sp>
      <p:sp>
        <p:nvSpPr>
          <p:cNvPr id="15" name="Text 12"/>
          <p:cNvSpPr txBox="1"/>
          <p:nvPr/>
        </p:nvSpPr>
        <p:spPr>
          <a:xfrm>
            <a:off x="384048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Recordatorio de recompra por WhatsApp y cambio de sabores en cada pedido</a:t>
            </a:r>
            <a:endParaRPr lang="en-US" sz="1500" dirty="0"/>
          </a:p>
        </p:txBody>
      </p:sp>
      <p:sp>
        <p:nvSpPr>
          <p:cNvPr id="16" name="Shape 13"/>
          <p:cNvSpPr/>
          <p:nvPr/>
        </p:nvSpPr>
        <p:spPr>
          <a:xfrm>
            <a:off x="3749040" y="4480560"/>
            <a:ext cx="2331720" cy="1463040"/>
          </a:xfrm>
          <a:prstGeom prst="roundRect">
            <a:avLst>
              <a:gd name="adj" fmla="val 6250"/>
            </a:avLst>
          </a:prstGeom>
          <a:solidFill>
            <a:schemeClr val="bg2"/>
          </a:solidFill>
          <a:ln w="12700">
            <a:solidFill>
              <a:schemeClr val="bg2"/>
            </a:solidFill>
            <a:prstDash val="solid"/>
          </a:ln>
        </p:spPr>
      </p:sp>
      <p:sp>
        <p:nvSpPr>
          <p:cNvPr id="17" name="Text 14"/>
          <p:cNvSpPr txBox="1"/>
          <p:nvPr/>
        </p:nvSpPr>
        <p:spPr>
          <a:xfrm>
            <a:off x="393192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35 %</a:t>
            </a:r>
            <a:endParaRPr lang="en-US" sz="1400" dirty="0"/>
          </a:p>
          <a:p>
            <a:pPr indent="0" marL="0">
              <a:buNone/>
            </a:pPr>
            <a:r>
              <a:rPr lang="en-US" sz="1300" dirty="0">
                <a:solidFill>
                  <a:schemeClr val="accent2"/>
                </a:solidFill>
              </a:rPr>
              <a:t>de lo vendido en físico vuelve por WhatsApp</a:t>
            </a:r>
            <a:endParaRPr lang="en-US" sz="1400" dirty="0"/>
          </a:p>
        </p:txBody>
      </p:sp>
      <p:sp>
        <p:nvSpPr>
          <p:cNvPr id="18" name="Shape 15"/>
          <p:cNvSpPr/>
          <p:nvPr/>
        </p:nvSpPr>
        <p:spPr>
          <a:xfrm>
            <a:off x="6217920" y="3566160"/>
            <a:ext cx="411480" cy="411480"/>
          </a:xfrm>
          <a:prstGeom prst="ellipse">
            <a:avLst/>
          </a:prstGeom>
          <a:solidFill>
            <a:schemeClr val="accent3"/>
          </a:solidFill>
          <a:ln w="12700">
            <a:solidFill>
              <a:schemeClr val="accent3"/>
            </a:solidFill>
            <a:prstDash val="solid"/>
          </a:ln>
        </p:spPr>
      </p:sp>
      <p:pic>
        <p:nvPicPr>
          <p:cNvPr id="19" name="Image 1" descr="preencoded.png">    </p:cNvPr>
          <p:cNvPicPr>
            <a:picLocks noChangeAspect="1"/>
          </p:cNvPicPr>
          <p:nvPr/>
        </p:nvPicPr>
        <p:blipFill>
          <a:blip r:embed="rId2"/>
          <a:stretch>
            <a:fillRect/>
          </a:stretch>
        </p:blipFill>
        <p:spPr>
          <a:xfrm>
            <a:off x="6308446" y="3656686"/>
            <a:ext cx="230429" cy="230429"/>
          </a:xfrm>
          <a:prstGeom prst="rect">
            <a:avLst/>
          </a:prstGeom>
        </p:spPr>
      </p:pic>
      <p:sp>
        <p:nvSpPr>
          <p:cNvPr id="20" name="Shape 16"/>
          <p:cNvSpPr/>
          <p:nvPr/>
        </p:nvSpPr>
        <p:spPr>
          <a:xfrm>
            <a:off x="658368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7"/>
          <p:cNvSpPr txBox="1"/>
          <p:nvPr/>
        </p:nvSpPr>
        <p:spPr>
          <a:xfrm>
            <a:off x="685800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3 · CRECER</a:t>
            </a:r>
            <a:endParaRPr lang="en-US" sz="1200" dirty="0"/>
          </a:p>
        </p:txBody>
      </p:sp>
      <p:sp>
        <p:nvSpPr>
          <p:cNvPr id="22" name="Text 18"/>
          <p:cNvSpPr txBox="1"/>
          <p:nvPr/>
        </p:nvSpPr>
        <p:spPr>
          <a:xfrm>
            <a:off x="685800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nos recomienden</a:t>
            </a:r>
            <a:endParaRPr lang="en-US" sz="2100" dirty="0"/>
          </a:p>
        </p:txBody>
      </p:sp>
      <p:sp>
        <p:nvSpPr>
          <p:cNvPr id="23" name="Text 19"/>
          <p:cNvSpPr txBox="1"/>
          <p:nvPr/>
        </p:nvSpPr>
        <p:spPr>
          <a:xfrm>
            <a:off x="685800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y nuevos puntos de venta</a:t>
            </a:r>
            <a:endParaRPr lang="en-US" sz="1500" dirty="0"/>
          </a:p>
        </p:txBody>
      </p:sp>
      <p:sp>
        <p:nvSpPr>
          <p:cNvPr id="24" name="Shape 20"/>
          <p:cNvSpPr/>
          <p:nvPr/>
        </p:nvSpPr>
        <p:spPr>
          <a:xfrm>
            <a:off x="6766560" y="4480560"/>
            <a:ext cx="2331720" cy="1463040"/>
          </a:xfrm>
          <a:prstGeom prst="roundRect">
            <a:avLst>
              <a:gd name="adj" fmla="val 6250"/>
            </a:avLst>
          </a:prstGeom>
          <a:solidFill>
            <a:schemeClr val="bg2"/>
          </a:solidFill>
          <a:ln w="12700">
            <a:solidFill>
              <a:schemeClr val="bg2"/>
            </a:solidFill>
            <a:prstDash val="solid"/>
          </a:ln>
        </p:spPr>
      </p:sp>
      <p:sp>
        <p:nvSpPr>
          <p:cNvPr id="25" name="Text 21"/>
          <p:cNvSpPr txBox="1"/>
          <p:nvPr/>
        </p:nvSpPr>
        <p:spPr>
          <a:xfrm>
            <a:off x="694944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a:t>
            </a:r>
            <a:endParaRPr lang="en-US" sz="1400" dirty="0"/>
          </a:p>
          <a:p>
            <a:pPr indent="0" marL="0">
              <a:buNone/>
            </a:pPr>
            <a:r>
              <a:rPr lang="en-US" sz="1300" dirty="0">
                <a:solidFill>
                  <a:schemeClr val="accent2"/>
                </a:solidFill>
              </a:rPr>
              <a:t>puntos de venta desde agosto de 2027</a:t>
            </a:r>
            <a:endParaRPr lang="en-US" sz="1400" dirty="0"/>
          </a:p>
        </p:txBody>
      </p:sp>
      <p:sp>
        <p:nvSpPr>
          <p:cNvPr id="26" name="IMAGEN_3"/>
          <p:cNvSpPr/>
          <p:nvPr/>
        </p:nvSpPr>
        <p:spPr>
          <a:xfrm>
            <a:off x="9555480" y="1554480"/>
            <a:ext cx="2084832" cy="4572000"/>
          </a:xfrm>
          <a:prstGeom prst="roundRect">
            <a:avLst>
              <a:gd name="adj" fmla="val 6579"/>
            </a:avLst>
          </a:prstGeom>
          <a:solidFill>
            <a:srgbClr val="F0E2CF"/>
          </a:solidFill>
          <a:ln w="19050">
            <a:solidFill>
              <a:schemeClr val="accent5"/>
            </a:solidFill>
            <a:prstDash val="dash"/>
          </a:ln>
        </p:spPr>
      </p:sp>
      <p:pic>
        <p:nvPicPr>
          <p:cNvPr id="27" name="Image 2" descr="preencoded.png">    </p:cNvPr>
          <p:cNvPicPr>
            <a:picLocks noChangeAspect="1"/>
          </p:cNvPicPr>
          <p:nvPr/>
        </p:nvPicPr>
        <p:blipFill>
          <a:blip r:embed="rId3"/>
          <a:stretch>
            <a:fillRect/>
          </a:stretch>
        </p:blipFill>
        <p:spPr>
          <a:xfrm>
            <a:off x="10232136" y="2926080"/>
            <a:ext cx="731520" cy="731520"/>
          </a:xfrm>
          <a:prstGeom prst="rect">
            <a:avLst/>
          </a:prstGeom>
        </p:spPr>
      </p:pic>
      <p:sp>
        <p:nvSpPr>
          <p:cNvPr id="28" name="Text 23"/>
          <p:cNvSpPr txBox="1"/>
          <p:nvPr/>
        </p:nvSpPr>
        <p:spPr>
          <a:xfrm>
            <a:off x="9738360" y="3840480"/>
            <a:ext cx="1719072"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3</a:t>
            </a:r>
            <a:endParaRPr lang="en-US" sz="1400" dirty="0"/>
          </a:p>
          <a:p>
            <a:pPr algn="ctr" indent="0" marL="0">
              <a:buNone/>
            </a:pPr>
            <a:r>
              <a:rPr lang="en-US" sz="1300" dirty="0">
                <a:solidFill>
                  <a:schemeClr val="accent2"/>
                </a:solidFill>
              </a:rPr>
              <a:t>Lonchera con AndiBite y fruta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FUENTES DE INGRESO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Cuatro fuentes de ingreso, una sola línea de producto</a:t>
            </a:r>
            <a:endParaRPr lang="en-US" sz="3400" dirty="0"/>
          </a:p>
        </p:txBody>
      </p:sp>
      <p:sp>
        <p:nvSpPr>
          <p:cNvPr id="4" name="Shape 2"/>
          <p:cNvSpPr/>
          <p:nvPr/>
        </p:nvSpPr>
        <p:spPr>
          <a:xfrm>
            <a:off x="548640" y="1554480"/>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31520" y="1728216"/>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72338" y="1869034"/>
            <a:ext cx="358445" cy="358445"/>
          </a:xfrm>
          <a:prstGeom prst="rect">
            <a:avLst/>
          </a:prstGeom>
        </p:spPr>
      </p:pic>
      <p:sp>
        <p:nvSpPr>
          <p:cNvPr id="7" name="Text 4"/>
          <p:cNvSpPr txBox="1"/>
          <p:nvPr/>
        </p:nvSpPr>
        <p:spPr>
          <a:xfrm>
            <a:off x="1554480" y="1554480"/>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en stands y carritos</a:t>
            </a:r>
            <a:endParaRPr lang="en-US" sz="1400" dirty="0"/>
          </a:p>
          <a:p>
            <a:pPr indent="0" marL="0">
              <a:buNone/>
            </a:pPr>
            <a:r>
              <a:rPr lang="en-US" sz="1300" dirty="0">
                <a:solidFill>
                  <a:schemeClr val="accent2"/>
                </a:solidFill>
              </a:rPr>
              <a:t>Unidades y packs en malls y supermercados</a:t>
            </a:r>
            <a:endParaRPr lang="en-US" sz="1400" dirty="0"/>
          </a:p>
        </p:txBody>
      </p:sp>
      <p:sp>
        <p:nvSpPr>
          <p:cNvPr id="8" name="Text 5"/>
          <p:cNvSpPr txBox="1"/>
          <p:nvPr/>
        </p:nvSpPr>
        <p:spPr>
          <a:xfrm>
            <a:off x="5120640" y="1554480"/>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46.4 %</a:t>
            </a:r>
            <a:endParaRPr lang="en-US" sz="1400" dirty="0"/>
          </a:p>
          <a:p>
            <a:pPr algn="r" indent="0" marL="0">
              <a:buNone/>
            </a:pPr>
            <a:r>
              <a:rPr lang="en-US" sz="1000" dirty="0">
                <a:solidFill>
                  <a:schemeClr val="accent2"/>
                </a:solidFill>
              </a:rPr>
              <a:t>de los ingresos</a:t>
            </a:r>
            <a:endParaRPr lang="en-US" sz="1400" dirty="0"/>
          </a:p>
        </p:txBody>
      </p:sp>
      <p:sp>
        <p:nvSpPr>
          <p:cNvPr id="9" name="Shape 6"/>
          <p:cNvSpPr/>
          <p:nvPr/>
        </p:nvSpPr>
        <p:spPr>
          <a:xfrm>
            <a:off x="548640" y="2679192"/>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Shape 7"/>
          <p:cNvSpPr/>
          <p:nvPr/>
        </p:nvSpPr>
        <p:spPr>
          <a:xfrm>
            <a:off x="731520" y="2852928"/>
            <a:ext cx="640080" cy="64008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872338" y="2993746"/>
            <a:ext cx="358445" cy="358445"/>
          </a:xfrm>
          <a:prstGeom prst="rect">
            <a:avLst/>
          </a:prstGeom>
        </p:spPr>
      </p:pic>
      <p:sp>
        <p:nvSpPr>
          <p:cNvPr id="12" name="Text 8"/>
          <p:cNvSpPr txBox="1"/>
          <p:nvPr/>
        </p:nvSpPr>
        <p:spPr>
          <a:xfrm>
            <a:off x="1554480" y="2679192"/>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Ferias y eventos</a:t>
            </a:r>
            <a:endParaRPr lang="en-US" sz="1400" dirty="0"/>
          </a:p>
          <a:p>
            <a:pPr indent="0" marL="0">
              <a:buNone/>
            </a:pPr>
            <a:r>
              <a:rPr lang="en-US" sz="1300" dirty="0">
                <a:solidFill>
                  <a:schemeClr val="accent2"/>
                </a:solidFill>
              </a:rPr>
              <a:t>Navidad, campaña escolar, kermeses y cumpleaños</a:t>
            </a:r>
            <a:endParaRPr lang="en-US" sz="1400" dirty="0"/>
          </a:p>
        </p:txBody>
      </p:sp>
      <p:sp>
        <p:nvSpPr>
          <p:cNvPr id="13" name="Text 9"/>
          <p:cNvSpPr txBox="1"/>
          <p:nvPr/>
        </p:nvSpPr>
        <p:spPr>
          <a:xfrm>
            <a:off x="5120640" y="2679192"/>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19.6 %</a:t>
            </a:r>
            <a:endParaRPr lang="en-US" sz="1400" dirty="0"/>
          </a:p>
          <a:p>
            <a:pPr algn="r" indent="0" marL="0">
              <a:buNone/>
            </a:pPr>
            <a:r>
              <a:rPr lang="en-US" sz="1000" dirty="0">
                <a:solidFill>
                  <a:schemeClr val="accent2"/>
                </a:solidFill>
              </a:rPr>
              <a:t>de los ingresos</a:t>
            </a:r>
            <a:endParaRPr lang="en-US" sz="1400" dirty="0"/>
          </a:p>
        </p:txBody>
      </p:sp>
      <p:sp>
        <p:nvSpPr>
          <p:cNvPr id="14" name="Shape 10"/>
          <p:cNvSpPr/>
          <p:nvPr/>
        </p:nvSpPr>
        <p:spPr>
          <a:xfrm>
            <a:off x="548640" y="3803904"/>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Shape 11"/>
          <p:cNvSpPr/>
          <p:nvPr/>
        </p:nvSpPr>
        <p:spPr>
          <a:xfrm>
            <a:off x="731520" y="3977640"/>
            <a:ext cx="640080" cy="640080"/>
          </a:xfrm>
          <a:prstGeom prst="ellipse">
            <a:avLst/>
          </a:prstGeom>
          <a:solidFill>
            <a:schemeClr val="tx2"/>
          </a:solidFill>
          <a:ln w="12700">
            <a:solidFill>
              <a:schemeClr val="tx2"/>
            </a:solidFill>
            <a:prstDash val="solid"/>
          </a:ln>
        </p:spPr>
      </p:sp>
      <p:pic>
        <p:nvPicPr>
          <p:cNvPr id="16" name="Image 2" descr="preencoded.png">    </p:cNvPr>
          <p:cNvPicPr>
            <a:picLocks noChangeAspect="1"/>
          </p:cNvPicPr>
          <p:nvPr/>
        </p:nvPicPr>
        <p:blipFill>
          <a:blip r:embed="rId3"/>
          <a:stretch>
            <a:fillRect/>
          </a:stretch>
        </p:blipFill>
        <p:spPr>
          <a:xfrm>
            <a:off x="872338" y="4118458"/>
            <a:ext cx="358445" cy="358445"/>
          </a:xfrm>
          <a:prstGeom prst="rect">
            <a:avLst/>
          </a:prstGeom>
        </p:spPr>
      </p:pic>
      <p:sp>
        <p:nvSpPr>
          <p:cNvPr id="17" name="Text 12"/>
          <p:cNvSpPr txBox="1"/>
          <p:nvPr/>
        </p:nvSpPr>
        <p:spPr>
          <a:xfrm>
            <a:off x="1554480" y="3803904"/>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Recompra por WhatsApp</a:t>
            </a:r>
            <a:endParaRPr lang="en-US" sz="1400" dirty="0"/>
          </a:p>
          <a:p>
            <a:pPr indent="0" marL="0">
              <a:buNone/>
            </a:pPr>
            <a:r>
              <a:rPr lang="en-US" sz="1300" dirty="0">
                <a:solidFill>
                  <a:schemeClr val="accent2"/>
                </a:solidFill>
              </a:rPr>
              <a:t>Packs de 6 y de 12 con delivery</a:t>
            </a:r>
            <a:endParaRPr lang="en-US" sz="1400" dirty="0"/>
          </a:p>
        </p:txBody>
      </p:sp>
      <p:sp>
        <p:nvSpPr>
          <p:cNvPr id="18" name="Text 13"/>
          <p:cNvSpPr txBox="1"/>
          <p:nvPr/>
        </p:nvSpPr>
        <p:spPr>
          <a:xfrm>
            <a:off x="5120640" y="3803904"/>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17.9 %</a:t>
            </a:r>
            <a:endParaRPr lang="en-US" sz="1400" dirty="0"/>
          </a:p>
          <a:p>
            <a:pPr algn="r" indent="0" marL="0">
              <a:buNone/>
            </a:pPr>
            <a:r>
              <a:rPr lang="en-US" sz="1000" dirty="0">
                <a:solidFill>
                  <a:schemeClr val="accent2"/>
                </a:solidFill>
              </a:rPr>
              <a:t>de los ingresos</a:t>
            </a:r>
            <a:endParaRPr lang="en-US" sz="1400" dirty="0"/>
          </a:p>
        </p:txBody>
      </p:sp>
      <p:sp>
        <p:nvSpPr>
          <p:cNvPr id="19" name="Shape 14"/>
          <p:cNvSpPr/>
          <p:nvPr/>
        </p:nvSpPr>
        <p:spPr>
          <a:xfrm>
            <a:off x="548640" y="4928616"/>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5"/>
          <p:cNvSpPr/>
          <p:nvPr/>
        </p:nvSpPr>
        <p:spPr>
          <a:xfrm>
            <a:off x="731520" y="5102352"/>
            <a:ext cx="640080" cy="64008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872338" y="5243170"/>
            <a:ext cx="358445" cy="358445"/>
          </a:xfrm>
          <a:prstGeom prst="rect">
            <a:avLst/>
          </a:prstGeom>
        </p:spPr>
      </p:pic>
      <p:sp>
        <p:nvSpPr>
          <p:cNvPr id="22" name="Text 16"/>
          <p:cNvSpPr txBox="1"/>
          <p:nvPr/>
        </p:nvSpPr>
        <p:spPr>
          <a:xfrm>
            <a:off x="1554480" y="4928616"/>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mayorista (B2B)</a:t>
            </a:r>
            <a:endParaRPr lang="en-US" sz="1400" dirty="0"/>
          </a:p>
          <a:p>
            <a:pPr indent="0" marL="0">
              <a:buNone/>
            </a:pPr>
            <a:r>
              <a:rPr lang="en-US" sz="1300" dirty="0">
                <a:solidFill>
                  <a:schemeClr val="accent2"/>
                </a:solidFill>
              </a:rPr>
              <a:t>Quioscos escolares y tiendas naturistas, con factura</a:t>
            </a:r>
            <a:endParaRPr lang="en-US" sz="1400" dirty="0"/>
          </a:p>
        </p:txBody>
      </p:sp>
      <p:sp>
        <p:nvSpPr>
          <p:cNvPr id="23" name="Text 17"/>
          <p:cNvSpPr txBox="1"/>
          <p:nvPr/>
        </p:nvSpPr>
        <p:spPr>
          <a:xfrm>
            <a:off x="5120640" y="4928616"/>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16.1 %</a:t>
            </a:r>
            <a:endParaRPr lang="en-US" sz="1400" dirty="0"/>
          </a:p>
          <a:p>
            <a:pPr algn="r" indent="0" marL="0">
              <a:buNone/>
            </a:pPr>
            <a:r>
              <a:rPr lang="en-US" sz="1000" dirty="0">
                <a:solidFill>
                  <a:schemeClr val="accent2"/>
                </a:solidFill>
              </a:rPr>
              <a:t>de los ingresos</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83680" y="1554480"/>
          <a:ext cx="5056632" cy="914400"/>
        </p:xfrm>
        <a:graphic>
          <a:graphicData uri="http://schemas.openxmlformats.org/drawingml/2006/table">
            <a:tbl>
              <a:tblPr/>
              <a:tblGrid>
                <a:gridCol w="1764792"/>
                <a:gridCol w="1005840"/>
                <a:gridCol w="1143000"/>
                <a:gridCol w="1143000"/>
              </a:tblGrid>
              <a:tr h="502920">
                <a:tc>
                  <a:txBody>
                    <a:bodyPr/>
                    <a:lstStyle/>
                    <a:p>
                      <a:pPr indent="0" marL="0">
                        <a:buNone/>
                      </a:pPr>
                      <a:r>
                        <a:rPr lang="en-US" sz="1300" b="1" dirty="0">
                          <a:solidFill>
                            <a:schemeClr val="bg1"/>
                          </a:solidFill>
                        </a:rPr>
                        <a:t>Precio con IGV</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Unidad</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Pack de 6</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Pack de 12</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02920">
                <a:tc>
                  <a:txBody>
                    <a:bodyPr/>
                    <a:lstStyle/>
                    <a:p>
                      <a:pPr indent="0" marL="0">
                        <a:buNone/>
                      </a:pPr>
                      <a:r>
                        <a:rPr lang="en-US" sz="1400" b="1" dirty="0">
                          <a:solidFill>
                            <a:schemeClr val="tx1"/>
                          </a:solidFill>
                        </a:rPr>
                        <a:t>Stand y ferias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b="1" dirty="0">
                          <a:solidFill>
                            <a:schemeClr val="tx1"/>
                          </a:solidFill>
                        </a:rPr>
                        <a:t>S/5.00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b="1" dirty="0">
                          <a:solidFill>
                            <a:schemeClr val="tx1"/>
                          </a:solidFill>
                        </a:rPr>
                        <a:t>S/26.00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b="1" dirty="0">
                          <a:solidFill>
                            <a:schemeClr val="tx1"/>
                          </a:solidFill>
                        </a:rPr>
                        <a:t>S/48.00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502920">
                <a:tc>
                  <a:txBody>
                    <a:bodyPr/>
                    <a:lstStyle/>
                    <a:p>
                      <a:pPr indent="0" marL="0">
                        <a:buNone/>
                      </a:pPr>
                      <a:r>
                        <a:rPr lang="en-US" sz="1400" b="1" dirty="0">
                          <a:solidFill>
                            <a:schemeClr val="tx1"/>
                          </a:solidFill>
                        </a:rPr>
                        <a:t>WhatsApp</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S/4.00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S/24.90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S/46.90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chemeClr val="tx1"/>
                          </a:solidFill>
                        </a:rPr>
                        <a:t>Quiosco escolar</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S/4.00*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chemeClr val="tx1"/>
                          </a:solidFill>
                        </a:rPr>
                        <a:t>Tienda naturista</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S/28.90*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25" name="Shape 18"/>
          <p:cNvSpPr/>
          <p:nvPr/>
        </p:nvSpPr>
        <p:spPr>
          <a:xfrm>
            <a:off x="6583680" y="4343400"/>
            <a:ext cx="5056632" cy="1783080"/>
          </a:xfrm>
          <a:prstGeom prst="roundRect">
            <a:avLst>
              <a:gd name="adj" fmla="val 6154"/>
            </a:avLst>
          </a:prstGeom>
          <a:solidFill>
            <a:schemeClr val="bg2"/>
          </a:solidFill>
          <a:ln w="12700">
            <a:solidFill>
              <a:schemeClr val="bg2"/>
            </a:solidFill>
            <a:prstDash val="solid"/>
          </a:ln>
        </p:spPr>
      </p:sp>
      <p:sp>
        <p:nvSpPr>
          <p:cNvPr id="26" name="Text 19"/>
          <p:cNvSpPr txBox="1"/>
          <p:nvPr/>
        </p:nvSpPr>
        <p:spPr>
          <a:xfrm>
            <a:off x="6812280" y="4434840"/>
            <a:ext cx="4617720" cy="1600200"/>
          </a:xfrm>
          <a:prstGeom prst="rect">
            <a:avLst/>
          </a:prstGeom>
          <a:noFill/>
          <a:ln/>
        </p:spPr>
        <p:txBody>
          <a:bodyPr wrap="square" lIns="0" tIns="0" rIns="0" bIns="0" rtlCol="0" anchor="ctr"/>
          <a:lstStyle/>
          <a:p>
            <a:pPr indent="0" marL="0">
              <a:spcAft>
                <a:spcPts val="400"/>
              </a:spcAft>
              <a:buNone/>
            </a:pPr>
            <a:r>
              <a:rPr lang="en-US" sz="1500" b="1" dirty="0">
                <a:solidFill>
                  <a:schemeClr val="tx2"/>
                </a:solidFill>
              </a:rPr>
              <a:t>Precio fijo por lista</a:t>
            </a:r>
            <a:endParaRPr lang="en-US" sz="1400" dirty="0"/>
          </a:p>
          <a:p>
            <a:pPr indent="0" marL="0">
              <a:spcAft>
                <a:spcPts val="400"/>
              </a:spcAft>
              <a:buNone/>
            </a:pPr>
            <a:r>
              <a:rPr lang="en-US" sz="1400" dirty="0">
                <a:solidFill>
                  <a:schemeClr val="tx1"/>
                </a:solidFill>
              </a:rPr>
              <a:t>En el stand se cobra algo más porque hay alquiler y personal. El pack de 12 premia la compra grande.</a:t>
            </a:r>
            <a:endParaRPr lang="en-US" sz="1400" dirty="0"/>
          </a:p>
          <a:p>
            <a:pPr indent="0" marL="0">
              <a:spcAft>
                <a:spcPts val="400"/>
              </a:spcAft>
              <a:buNone/>
            </a:pPr>
            <a:r>
              <a:rPr lang="en-US" sz="1100" i="1" dirty="0">
                <a:solidFill>
                  <a:schemeClr val="accent2"/>
                </a:solidFill>
              </a:rPr>
              <a:t>* Precio al público. AndiBite recibe S/3.00 en el quiosco y S/17.34 en la naturista.</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VENTAS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S/198,700 en el primer año de ventas</a:t>
            </a:r>
            <a:endParaRPr lang="en-US" sz="3400" dirty="0"/>
          </a:p>
        </p:txBody>
      </p:sp>
      <p:graphicFrame>
        <p:nvGraphicFramePr>
          <p:cNvPr id="4" name="Chart 0" descr=""/>
          <p:cNvGraphicFramePr/>
          <p:nvPr/>
        </p:nvGraphicFramePr>
        <p:xfrm>
          <a:off x="365760" y="1463040"/>
          <a:ext cx="402336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572000" y="1463040"/>
          <a:ext cx="7223760" cy="406908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777240"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47,223  </a:t>
            </a:r>
            <a:pPr indent="0" marL="0">
              <a:buNone/>
            </a:pPr>
            <a:r>
              <a:rPr lang="en-US" sz="1300" dirty="0">
                <a:solidFill>
                  <a:schemeClr val="accent2"/>
                </a:solidFill>
              </a:rPr>
              <a:t>brownies vendidos</a:t>
            </a:r>
            <a:endParaRPr lang="en-US" sz="1400" dirty="0"/>
          </a:p>
        </p:txBody>
      </p:sp>
      <p:sp>
        <p:nvSpPr>
          <p:cNvPr id="8" name="Shape 4"/>
          <p:cNvSpPr/>
          <p:nvPr/>
        </p:nvSpPr>
        <p:spPr>
          <a:xfrm>
            <a:off x="4311396"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4539996"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3,044 + 301  </a:t>
            </a:r>
            <a:pPr indent="0" marL="0">
              <a:buNone/>
            </a:pPr>
            <a:r>
              <a:rPr lang="en-US" sz="1300" dirty="0">
                <a:solidFill>
                  <a:schemeClr val="accent2"/>
                </a:solidFill>
              </a:rPr>
              <a:t>packs de 6 y de 12</a:t>
            </a:r>
            <a:endParaRPr lang="en-US" sz="1400" dirty="0"/>
          </a:p>
        </p:txBody>
      </p:sp>
      <p:sp>
        <p:nvSpPr>
          <p:cNvPr id="10" name="Shape 6"/>
          <p:cNvSpPr/>
          <p:nvPr/>
        </p:nvSpPr>
        <p:spPr>
          <a:xfrm>
            <a:off x="8074152"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8302752"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S/4.21  </a:t>
            </a:r>
            <a:pPr indent="0" marL="0">
              <a:buNone/>
            </a:pPr>
            <a:r>
              <a:rPr lang="en-US" sz="1300" dirty="0">
                <a:solidFill>
                  <a:schemeClr val="accent2"/>
                </a:solidFill>
              </a:rPr>
              <a:t>de ingreso promedio por brownie</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07</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Socios, recursos, actividades y costos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Socios clave · Recursos y actividades · Estructura de costos · Punto de equilibrio · Modelo Canvas</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SOCIOS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Socios que nos dejan crecer sin planta propia</a:t>
            </a:r>
            <a:endParaRPr lang="en-US" sz="3400" dirty="0"/>
          </a:p>
        </p:txBody>
      </p:sp>
      <p:sp>
        <p:nvSpPr>
          <p:cNvPr id="4" name="Shape 2"/>
          <p:cNvSpPr/>
          <p:nvPr/>
        </p:nvSpPr>
        <p:spPr>
          <a:xfrm>
            <a:off x="4956048" y="2697480"/>
            <a:ext cx="2286000" cy="2286000"/>
          </a:xfrm>
          <a:prstGeom prst="ellipse">
            <a:avLst/>
          </a:prstGeom>
          <a:solidFill>
            <a:schemeClr val="tx2"/>
          </a:solidFill>
          <a:ln w="38100">
            <a:solidFill>
              <a:schemeClr val="accent5"/>
            </a:solidFill>
            <a:prstDash val="solid"/>
          </a:ln>
        </p:spPr>
      </p:sp>
      <p:pic>
        <p:nvPicPr>
          <p:cNvPr id="5" name="Image 0" descr="img/logo_light.png">    </p:cNvPr>
          <p:cNvPicPr>
            <a:picLocks noChangeAspect="1"/>
          </p:cNvPicPr>
          <p:nvPr/>
        </p:nvPicPr>
        <p:blipFill>
          <a:blip r:embed="rId1"/>
          <a:stretch>
            <a:fillRect/>
          </a:stretch>
        </p:blipFill>
        <p:spPr>
          <a:xfrm>
            <a:off x="5276088" y="3310128"/>
            <a:ext cx="1645920" cy="566928"/>
          </a:xfrm>
          <a:prstGeom prst="rect">
            <a:avLst/>
          </a:prstGeom>
        </p:spPr>
      </p:pic>
      <p:sp>
        <p:nvSpPr>
          <p:cNvPr id="6" name="Text 3"/>
          <p:cNvSpPr txBox="1"/>
          <p:nvPr/>
        </p:nvSpPr>
        <p:spPr>
          <a:xfrm>
            <a:off x="4956048" y="4023360"/>
            <a:ext cx="2286000" cy="320040"/>
          </a:xfrm>
          <a:prstGeom prst="rect">
            <a:avLst/>
          </a:prstGeom>
          <a:noFill/>
          <a:ln/>
        </p:spPr>
        <p:txBody>
          <a:bodyPr wrap="square" lIns="0" tIns="0" rIns="0" bIns="0" rtlCol="0" anchor="t"/>
          <a:lstStyle/>
          <a:p>
            <a:pPr algn="ctr" indent="0" marL="0">
              <a:buNone/>
            </a:pPr>
            <a:r>
              <a:rPr lang="en-US" sz="1300" b="1" dirty="0">
                <a:solidFill>
                  <a:schemeClr val="accent5"/>
                </a:solidFill>
              </a:rPr>
              <a:t>AndiBite S.A.C.</a:t>
            </a:r>
            <a:endParaRPr lang="en-US" sz="1300" dirty="0"/>
          </a:p>
        </p:txBody>
      </p:sp>
      <p:sp>
        <p:nvSpPr>
          <p:cNvPr id="7" name="Shape 4"/>
          <p:cNvSpPr/>
          <p:nvPr/>
        </p:nvSpPr>
        <p:spPr>
          <a:xfrm>
            <a:off x="4480560" y="2217420"/>
            <a:ext cx="795528" cy="1623060"/>
          </a:xfrm>
          <a:prstGeom prst="line">
            <a:avLst/>
          </a:prstGeom>
          <a:noFill/>
          <a:ln w="19050">
            <a:solidFill>
              <a:schemeClr val="accent5"/>
            </a:solidFill>
            <a:prstDash val="dash"/>
          </a:ln>
        </p:spPr>
      </p:sp>
      <p:sp>
        <p:nvSpPr>
          <p:cNvPr id="8" name="Shape 5"/>
          <p:cNvSpPr/>
          <p:nvPr/>
        </p:nvSpPr>
        <p:spPr>
          <a:xfrm>
            <a:off x="548640"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731520" y="1783080"/>
            <a:ext cx="594360" cy="59436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862279" y="1913839"/>
            <a:ext cx="332842" cy="332842"/>
          </a:xfrm>
          <a:prstGeom prst="rect">
            <a:avLst/>
          </a:prstGeom>
        </p:spPr>
      </p:pic>
      <p:sp>
        <p:nvSpPr>
          <p:cNvPr id="11" name="Text 7"/>
          <p:cNvSpPr txBox="1"/>
          <p:nvPr/>
        </p:nvSpPr>
        <p:spPr>
          <a:xfrm>
            <a:off x="1508760" y="1719072"/>
            <a:ext cx="2834640" cy="347472"/>
          </a:xfrm>
          <a:prstGeom prst="rect">
            <a:avLst/>
          </a:prstGeom>
          <a:noFill/>
          <a:ln/>
        </p:spPr>
        <p:txBody>
          <a:bodyPr wrap="square" lIns="0" tIns="0" rIns="0" bIns="0" rtlCol="0" anchor="t"/>
          <a:lstStyle/>
          <a:p>
            <a:pPr indent="0" marL="0">
              <a:buNone/>
            </a:pPr>
            <a:r>
              <a:rPr lang="en-US" sz="1600" b="1" dirty="0">
                <a:solidFill>
                  <a:schemeClr val="tx2"/>
                </a:solidFill>
              </a:rPr>
              <a:t>Planta maquiladora</a:t>
            </a:r>
            <a:endParaRPr lang="en-US" sz="1600" dirty="0"/>
          </a:p>
        </p:txBody>
      </p:sp>
      <p:sp>
        <p:nvSpPr>
          <p:cNvPr id="12" name="Text 8"/>
          <p:cNvSpPr txBox="1"/>
          <p:nvPr/>
        </p:nvSpPr>
        <p:spPr>
          <a:xfrm>
            <a:off x="1508760" y="2066544"/>
            <a:ext cx="2834640" cy="365760"/>
          </a:xfrm>
          <a:prstGeom prst="rect">
            <a:avLst/>
          </a:prstGeom>
          <a:noFill/>
          <a:ln/>
        </p:spPr>
        <p:txBody>
          <a:bodyPr wrap="square" lIns="0" tIns="0" rIns="0" bIns="0" rtlCol="0" anchor="t"/>
          <a:lstStyle/>
          <a:p>
            <a:pPr indent="0" marL="0">
              <a:buNone/>
            </a:pPr>
            <a:r>
              <a:rPr lang="en-US" sz="1300" dirty="0">
                <a:solidFill>
                  <a:schemeClr val="tx1"/>
                </a:solidFill>
              </a:rPr>
              <a:t>MAKING, Panificadora Unión, INDDA</a:t>
            </a:r>
            <a:endParaRPr lang="en-US" sz="1300" dirty="0"/>
          </a:p>
        </p:txBody>
      </p:sp>
      <p:sp>
        <p:nvSpPr>
          <p:cNvPr id="13" name="Text 9"/>
          <p:cNvSpPr txBox="1"/>
          <p:nvPr/>
        </p:nvSpPr>
        <p:spPr>
          <a:xfrm>
            <a:off x="1508760" y="2468880"/>
            <a:ext cx="2834640" cy="274320"/>
          </a:xfrm>
          <a:prstGeom prst="rect">
            <a:avLst/>
          </a:prstGeom>
          <a:noFill/>
          <a:ln/>
        </p:spPr>
        <p:txBody>
          <a:bodyPr wrap="square" lIns="0" tIns="0" rIns="0" bIns="0" rtlCol="0" anchor="t"/>
          <a:lstStyle/>
          <a:p>
            <a:pPr indent="0" marL="0">
              <a:buNone/>
            </a:pPr>
            <a:r>
              <a:rPr lang="en-US" sz="1100" b="1" i="1" dirty="0">
                <a:solidFill>
                  <a:schemeClr val="accent4"/>
                </a:solidFill>
              </a:rPr>
              <a:t>Economía de escala</a:t>
            </a:r>
            <a:endParaRPr lang="en-US" sz="1100" dirty="0"/>
          </a:p>
        </p:txBody>
      </p:sp>
      <p:sp>
        <p:nvSpPr>
          <p:cNvPr id="14" name="Shape 10"/>
          <p:cNvSpPr/>
          <p:nvPr/>
        </p:nvSpPr>
        <p:spPr>
          <a:xfrm>
            <a:off x="4480560" y="3753612"/>
            <a:ext cx="795528" cy="86868"/>
          </a:xfrm>
          <a:prstGeom prst="line">
            <a:avLst/>
          </a:prstGeom>
          <a:noFill/>
          <a:ln w="19050">
            <a:solidFill>
              <a:schemeClr val="accent5"/>
            </a:solidFill>
            <a:prstDash val="dash"/>
          </a:ln>
        </p:spPr>
      </p:sp>
      <p:sp>
        <p:nvSpPr>
          <p:cNvPr id="15" name="Shape 11"/>
          <p:cNvSpPr/>
          <p:nvPr/>
        </p:nvSpPr>
        <p:spPr>
          <a:xfrm>
            <a:off x="548640"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Shape 12"/>
          <p:cNvSpPr/>
          <p:nvPr/>
        </p:nvSpPr>
        <p:spPr>
          <a:xfrm>
            <a:off x="731520" y="3319272"/>
            <a:ext cx="594360" cy="594360"/>
          </a:xfrm>
          <a:prstGeom prst="ellipse">
            <a:avLst/>
          </a:prstGeom>
          <a:solidFill>
            <a:schemeClr val="accent1"/>
          </a:solidFill>
          <a:ln w="12700">
            <a:solidFill>
              <a:schemeClr val="accent1"/>
            </a:solidFill>
            <a:prstDash val="solid"/>
          </a:ln>
        </p:spPr>
      </p:sp>
      <p:pic>
        <p:nvPicPr>
          <p:cNvPr id="17" name="Image 2" descr="preencoded.png">    </p:cNvPr>
          <p:cNvPicPr>
            <a:picLocks noChangeAspect="1"/>
          </p:cNvPicPr>
          <p:nvPr/>
        </p:nvPicPr>
        <p:blipFill>
          <a:blip r:embed="rId3"/>
          <a:stretch>
            <a:fillRect/>
          </a:stretch>
        </p:blipFill>
        <p:spPr>
          <a:xfrm>
            <a:off x="862279" y="3450031"/>
            <a:ext cx="332842" cy="332842"/>
          </a:xfrm>
          <a:prstGeom prst="rect">
            <a:avLst/>
          </a:prstGeom>
        </p:spPr>
      </p:pic>
      <p:sp>
        <p:nvSpPr>
          <p:cNvPr id="18" name="Text 13"/>
          <p:cNvSpPr txBox="1"/>
          <p:nvPr/>
        </p:nvSpPr>
        <p:spPr>
          <a:xfrm>
            <a:off x="1508760" y="3255264"/>
            <a:ext cx="2834640" cy="347472"/>
          </a:xfrm>
          <a:prstGeom prst="rect">
            <a:avLst/>
          </a:prstGeom>
          <a:noFill/>
          <a:ln/>
        </p:spPr>
        <p:txBody>
          <a:bodyPr wrap="square" lIns="0" tIns="0" rIns="0" bIns="0" rtlCol="0" anchor="t"/>
          <a:lstStyle/>
          <a:p>
            <a:pPr indent="0" marL="0">
              <a:buNone/>
            </a:pPr>
            <a:r>
              <a:rPr lang="en-US" sz="1600" b="1" dirty="0">
                <a:solidFill>
                  <a:schemeClr val="tx2"/>
                </a:solidFill>
              </a:rPr>
              <a:t>Laboratorio INACAL</a:t>
            </a:r>
            <a:endParaRPr lang="en-US" sz="1600" dirty="0"/>
          </a:p>
        </p:txBody>
      </p:sp>
      <p:sp>
        <p:nvSpPr>
          <p:cNvPr id="19" name="Text 14"/>
          <p:cNvSpPr txBox="1"/>
          <p:nvPr/>
        </p:nvSpPr>
        <p:spPr>
          <a:xfrm>
            <a:off x="1508760" y="3602736"/>
            <a:ext cx="2834640" cy="365760"/>
          </a:xfrm>
          <a:prstGeom prst="rect">
            <a:avLst/>
          </a:prstGeom>
          <a:noFill/>
          <a:ln/>
        </p:spPr>
        <p:txBody>
          <a:bodyPr wrap="square" lIns="0" tIns="0" rIns="0" bIns="0" rtlCol="0" anchor="t"/>
          <a:lstStyle/>
          <a:p>
            <a:pPr indent="0" marL="0">
              <a:buNone/>
            </a:pPr>
            <a:r>
              <a:rPr lang="en-US" sz="1300" dirty="0">
                <a:solidFill>
                  <a:schemeClr val="tx1"/>
                </a:solidFill>
              </a:rPr>
              <a:t>SAT Perú y La Molina Calidad Total</a:t>
            </a:r>
            <a:endParaRPr lang="en-US" sz="1300" dirty="0"/>
          </a:p>
        </p:txBody>
      </p:sp>
      <p:sp>
        <p:nvSpPr>
          <p:cNvPr id="20" name="Text 15"/>
          <p:cNvSpPr txBox="1"/>
          <p:nvPr/>
        </p:nvSpPr>
        <p:spPr>
          <a:xfrm>
            <a:off x="1508760" y="4005072"/>
            <a:ext cx="2834640" cy="274320"/>
          </a:xfrm>
          <a:prstGeom prst="rect">
            <a:avLst/>
          </a:prstGeom>
          <a:noFill/>
          <a:ln/>
        </p:spPr>
        <p:txBody>
          <a:bodyPr wrap="square" lIns="0" tIns="0" rIns="0" bIns="0" rtlCol="0" anchor="t"/>
          <a:lstStyle/>
          <a:p>
            <a:pPr indent="0" marL="0">
              <a:buNone/>
            </a:pPr>
            <a:r>
              <a:rPr lang="en-US" sz="1100" b="1" i="1" dirty="0">
                <a:solidFill>
                  <a:schemeClr val="accent4"/>
                </a:solidFill>
              </a:rPr>
              <a:t>Reduce el riesgo</a:t>
            </a:r>
            <a:endParaRPr lang="en-US" sz="1100" dirty="0"/>
          </a:p>
        </p:txBody>
      </p:sp>
      <p:sp>
        <p:nvSpPr>
          <p:cNvPr id="21" name="Shape 16"/>
          <p:cNvSpPr/>
          <p:nvPr/>
        </p:nvSpPr>
        <p:spPr>
          <a:xfrm>
            <a:off x="4480560" y="5289804"/>
            <a:ext cx="795528" cy="-1449324"/>
          </a:xfrm>
          <a:prstGeom prst="line">
            <a:avLst/>
          </a:prstGeom>
          <a:noFill/>
          <a:ln w="19050">
            <a:solidFill>
              <a:schemeClr val="accent5"/>
            </a:solidFill>
            <a:prstDash val="dash"/>
          </a:ln>
        </p:spPr>
      </p:sp>
      <p:sp>
        <p:nvSpPr>
          <p:cNvPr id="22" name="Shape 17"/>
          <p:cNvSpPr/>
          <p:nvPr/>
        </p:nvSpPr>
        <p:spPr>
          <a:xfrm>
            <a:off x="548640"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3" name="Shape 18"/>
          <p:cNvSpPr/>
          <p:nvPr/>
        </p:nvSpPr>
        <p:spPr>
          <a:xfrm>
            <a:off x="731520" y="4855464"/>
            <a:ext cx="594360" cy="594360"/>
          </a:xfrm>
          <a:prstGeom prst="ellipse">
            <a:avLst/>
          </a:prstGeom>
          <a:solidFill>
            <a:schemeClr val="accent1"/>
          </a:solidFill>
          <a:ln w="12700">
            <a:solidFill>
              <a:schemeClr val="accent1"/>
            </a:solidFill>
            <a:prstDash val="solid"/>
          </a:ln>
        </p:spPr>
      </p:sp>
      <p:pic>
        <p:nvPicPr>
          <p:cNvPr id="24" name="Image 3" descr="preencoded.png">    </p:cNvPr>
          <p:cNvPicPr>
            <a:picLocks noChangeAspect="1"/>
          </p:cNvPicPr>
          <p:nvPr/>
        </p:nvPicPr>
        <p:blipFill>
          <a:blip r:embed="rId4"/>
          <a:stretch>
            <a:fillRect/>
          </a:stretch>
        </p:blipFill>
        <p:spPr>
          <a:xfrm>
            <a:off x="862279" y="4986223"/>
            <a:ext cx="332842" cy="332842"/>
          </a:xfrm>
          <a:prstGeom prst="rect">
            <a:avLst/>
          </a:prstGeom>
        </p:spPr>
      </p:pic>
      <p:sp>
        <p:nvSpPr>
          <p:cNvPr id="25" name="Text 19"/>
          <p:cNvSpPr txBox="1"/>
          <p:nvPr/>
        </p:nvSpPr>
        <p:spPr>
          <a:xfrm>
            <a:off x="1508760" y="4791456"/>
            <a:ext cx="2834640" cy="347472"/>
          </a:xfrm>
          <a:prstGeom prst="rect">
            <a:avLst/>
          </a:prstGeom>
          <a:noFill/>
          <a:ln/>
        </p:spPr>
        <p:txBody>
          <a:bodyPr wrap="square" lIns="0" tIns="0" rIns="0" bIns="0" rtlCol="0" anchor="t"/>
          <a:lstStyle/>
          <a:p>
            <a:pPr indent="0" marL="0">
              <a:buNone/>
            </a:pPr>
            <a:r>
              <a:rPr lang="en-US" sz="1600" b="1" dirty="0">
                <a:solidFill>
                  <a:schemeClr val="tx2"/>
                </a:solidFill>
              </a:rPr>
              <a:t>Proveedores y servicios</a:t>
            </a:r>
            <a:endParaRPr lang="en-US" sz="1600" dirty="0"/>
          </a:p>
        </p:txBody>
      </p:sp>
      <p:sp>
        <p:nvSpPr>
          <p:cNvPr id="26" name="Text 20"/>
          <p:cNvSpPr txBox="1"/>
          <p:nvPr/>
        </p:nvSpPr>
        <p:spPr>
          <a:xfrm>
            <a:off x="1508760" y="5138928"/>
            <a:ext cx="2834640" cy="365760"/>
          </a:xfrm>
          <a:prstGeom prst="rect">
            <a:avLst/>
          </a:prstGeom>
          <a:noFill/>
          <a:ln/>
        </p:spPr>
        <p:txBody>
          <a:bodyPr wrap="square" lIns="0" tIns="0" rIns="0" bIns="0" rtlCol="0" anchor="t"/>
          <a:lstStyle/>
          <a:p>
            <a:pPr indent="0" marL="0">
              <a:buNone/>
            </a:pPr>
            <a:r>
              <a:rPr lang="en-US" sz="1300" dirty="0">
                <a:solidFill>
                  <a:schemeClr val="tx1"/>
                </a:solidFill>
              </a:rPr>
              <a:t>Sangrecita con SENASA, empaques y pasarela</a:t>
            </a:r>
            <a:endParaRPr lang="en-US" sz="1300" dirty="0"/>
          </a:p>
        </p:txBody>
      </p:sp>
      <p:sp>
        <p:nvSpPr>
          <p:cNvPr id="27" name="Text 21"/>
          <p:cNvSpPr txBox="1"/>
          <p:nvPr/>
        </p:nvSpPr>
        <p:spPr>
          <a:xfrm>
            <a:off x="1508760" y="5541264"/>
            <a:ext cx="2834640" cy="274320"/>
          </a:xfrm>
          <a:prstGeom prst="rect">
            <a:avLst/>
          </a:prstGeom>
          <a:noFill/>
          <a:ln/>
        </p:spPr>
        <p:txBody>
          <a:bodyPr wrap="square" lIns="0" tIns="0" rIns="0" bIns="0" rtlCol="0" anchor="t"/>
          <a:lstStyle/>
          <a:p>
            <a:pPr indent="0" marL="0">
              <a:buNone/>
            </a:pPr>
            <a:r>
              <a:rPr lang="en-US" sz="1100" b="1" i="1" dirty="0">
                <a:solidFill>
                  <a:schemeClr val="accent4"/>
                </a:solidFill>
              </a:rPr>
              <a:t>Recursos clave</a:t>
            </a:r>
            <a:endParaRPr lang="en-US" sz="1100" dirty="0"/>
          </a:p>
        </p:txBody>
      </p:sp>
      <p:sp>
        <p:nvSpPr>
          <p:cNvPr id="28" name="Shape 22"/>
          <p:cNvSpPr/>
          <p:nvPr/>
        </p:nvSpPr>
        <p:spPr>
          <a:xfrm flipV="1">
            <a:off x="6922008" y="2217420"/>
            <a:ext cx="786384" cy="1623060"/>
          </a:xfrm>
          <a:prstGeom prst="line">
            <a:avLst/>
          </a:prstGeom>
          <a:noFill/>
          <a:ln w="19050">
            <a:solidFill>
              <a:schemeClr val="accent5"/>
            </a:solidFill>
            <a:prstDash val="dash"/>
          </a:ln>
        </p:spPr>
      </p:sp>
      <p:sp>
        <p:nvSpPr>
          <p:cNvPr id="29" name="Shape 23"/>
          <p:cNvSpPr/>
          <p:nvPr/>
        </p:nvSpPr>
        <p:spPr>
          <a:xfrm>
            <a:off x="7708392"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0" name="Shape 24"/>
          <p:cNvSpPr/>
          <p:nvPr/>
        </p:nvSpPr>
        <p:spPr>
          <a:xfrm>
            <a:off x="7891272" y="1783080"/>
            <a:ext cx="594360" cy="594360"/>
          </a:xfrm>
          <a:prstGeom prst="ellipse">
            <a:avLst/>
          </a:prstGeom>
          <a:solidFill>
            <a:schemeClr val="accent1"/>
          </a:solidFill>
          <a:ln w="12700">
            <a:solidFill>
              <a:schemeClr val="accent1"/>
            </a:solidFill>
            <a:prstDash val="solid"/>
          </a:ln>
        </p:spPr>
      </p:sp>
      <p:pic>
        <p:nvPicPr>
          <p:cNvPr id="31" name="Image 4" descr="preencoded.png">    </p:cNvPr>
          <p:cNvPicPr>
            <a:picLocks noChangeAspect="1"/>
          </p:cNvPicPr>
          <p:nvPr/>
        </p:nvPicPr>
        <p:blipFill>
          <a:blip r:embed="rId5"/>
          <a:stretch>
            <a:fillRect/>
          </a:stretch>
        </p:blipFill>
        <p:spPr>
          <a:xfrm>
            <a:off x="8022031" y="1913839"/>
            <a:ext cx="332842" cy="332842"/>
          </a:xfrm>
          <a:prstGeom prst="rect">
            <a:avLst/>
          </a:prstGeom>
        </p:spPr>
      </p:pic>
      <p:sp>
        <p:nvSpPr>
          <p:cNvPr id="32" name="Text 25"/>
          <p:cNvSpPr txBox="1"/>
          <p:nvPr/>
        </p:nvSpPr>
        <p:spPr>
          <a:xfrm>
            <a:off x="8668512" y="1719072"/>
            <a:ext cx="2834640" cy="347472"/>
          </a:xfrm>
          <a:prstGeom prst="rect">
            <a:avLst/>
          </a:prstGeom>
          <a:noFill/>
          <a:ln/>
        </p:spPr>
        <p:txBody>
          <a:bodyPr wrap="square" lIns="0" tIns="0" rIns="0" bIns="0" rtlCol="0" anchor="t"/>
          <a:lstStyle/>
          <a:p>
            <a:pPr indent="0" marL="0">
              <a:buNone/>
            </a:pPr>
            <a:r>
              <a:rPr lang="en-US" sz="1600" b="1" dirty="0">
                <a:solidFill>
                  <a:schemeClr val="tx2"/>
                </a:solidFill>
              </a:rPr>
              <a:t>Malls y supermercados</a:t>
            </a:r>
            <a:endParaRPr lang="en-US" sz="1600" dirty="0"/>
          </a:p>
        </p:txBody>
      </p:sp>
      <p:sp>
        <p:nvSpPr>
          <p:cNvPr id="33" name="Text 26"/>
          <p:cNvSpPr txBox="1"/>
          <p:nvPr/>
        </p:nvSpPr>
        <p:spPr>
          <a:xfrm>
            <a:off x="8668512" y="2066544"/>
            <a:ext cx="2834640" cy="365760"/>
          </a:xfrm>
          <a:prstGeom prst="rect">
            <a:avLst/>
          </a:prstGeom>
          <a:noFill/>
          <a:ln/>
        </p:spPr>
        <p:txBody>
          <a:bodyPr wrap="square" lIns="0" tIns="0" rIns="0" bIns="0" rtlCol="0" anchor="t"/>
          <a:lstStyle/>
          <a:p>
            <a:pPr indent="0" marL="0">
              <a:buNone/>
            </a:pPr>
            <a:r>
              <a:rPr lang="en-US" sz="1300" dirty="0">
                <a:solidFill>
                  <a:schemeClr val="tx1"/>
                </a:solidFill>
              </a:rPr>
              <a:t>Jockey, Larcomar, La Rambla, Wong y Vivanda</a:t>
            </a:r>
            <a:endParaRPr lang="en-US" sz="1300" dirty="0"/>
          </a:p>
        </p:txBody>
      </p:sp>
      <p:sp>
        <p:nvSpPr>
          <p:cNvPr id="34" name="Text 27"/>
          <p:cNvSpPr txBox="1"/>
          <p:nvPr/>
        </p:nvSpPr>
        <p:spPr>
          <a:xfrm>
            <a:off x="8668512" y="2468880"/>
            <a:ext cx="2834640" cy="274320"/>
          </a:xfrm>
          <a:prstGeom prst="rect">
            <a:avLst/>
          </a:prstGeom>
          <a:noFill/>
          <a:ln/>
        </p:spPr>
        <p:txBody>
          <a:bodyPr wrap="square" lIns="0" tIns="0" rIns="0" bIns="0" rtlCol="0" anchor="t"/>
          <a:lstStyle/>
          <a:p>
            <a:pPr indent="0" marL="0">
              <a:buNone/>
            </a:pPr>
            <a:r>
              <a:rPr lang="en-US" sz="1100" b="1" i="1" dirty="0">
                <a:solidFill>
                  <a:schemeClr val="accent4"/>
                </a:solidFill>
              </a:rPr>
              <a:t>Puntos de venta</a:t>
            </a:r>
            <a:endParaRPr lang="en-US" sz="1100" dirty="0"/>
          </a:p>
        </p:txBody>
      </p:sp>
      <p:sp>
        <p:nvSpPr>
          <p:cNvPr id="35" name="Shape 28"/>
          <p:cNvSpPr/>
          <p:nvPr/>
        </p:nvSpPr>
        <p:spPr>
          <a:xfrm flipV="1">
            <a:off x="6922008" y="3753612"/>
            <a:ext cx="786384" cy="86868"/>
          </a:xfrm>
          <a:prstGeom prst="line">
            <a:avLst/>
          </a:prstGeom>
          <a:noFill/>
          <a:ln w="19050">
            <a:solidFill>
              <a:schemeClr val="accent5"/>
            </a:solidFill>
            <a:prstDash val="dash"/>
          </a:ln>
        </p:spPr>
      </p:sp>
      <p:sp>
        <p:nvSpPr>
          <p:cNvPr id="36" name="Shape 29"/>
          <p:cNvSpPr/>
          <p:nvPr/>
        </p:nvSpPr>
        <p:spPr>
          <a:xfrm>
            <a:off x="7708392"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0"/>
          <p:cNvSpPr/>
          <p:nvPr/>
        </p:nvSpPr>
        <p:spPr>
          <a:xfrm>
            <a:off x="7891272" y="3319272"/>
            <a:ext cx="594360" cy="594360"/>
          </a:xfrm>
          <a:prstGeom prst="ellipse">
            <a:avLst/>
          </a:prstGeom>
          <a:solidFill>
            <a:schemeClr val="accent1"/>
          </a:solidFill>
          <a:ln w="12700">
            <a:solidFill>
              <a:schemeClr val="accent1"/>
            </a:solidFill>
            <a:prstDash val="solid"/>
          </a:ln>
        </p:spPr>
      </p:sp>
      <p:pic>
        <p:nvPicPr>
          <p:cNvPr id="38" name="Image 5" descr="preencoded.png">    </p:cNvPr>
          <p:cNvPicPr>
            <a:picLocks noChangeAspect="1"/>
          </p:cNvPicPr>
          <p:nvPr/>
        </p:nvPicPr>
        <p:blipFill>
          <a:blip r:embed="rId6"/>
          <a:stretch>
            <a:fillRect/>
          </a:stretch>
        </p:blipFill>
        <p:spPr>
          <a:xfrm>
            <a:off x="8022031" y="3450031"/>
            <a:ext cx="332842" cy="332842"/>
          </a:xfrm>
          <a:prstGeom prst="rect">
            <a:avLst/>
          </a:prstGeom>
        </p:spPr>
      </p:pic>
      <p:sp>
        <p:nvSpPr>
          <p:cNvPr id="39" name="Text 31"/>
          <p:cNvSpPr txBox="1"/>
          <p:nvPr/>
        </p:nvSpPr>
        <p:spPr>
          <a:xfrm>
            <a:off x="8668512" y="3255264"/>
            <a:ext cx="2834640" cy="347472"/>
          </a:xfrm>
          <a:prstGeom prst="rect">
            <a:avLst/>
          </a:prstGeom>
          <a:noFill/>
          <a:ln/>
        </p:spPr>
        <p:txBody>
          <a:bodyPr wrap="square" lIns="0" tIns="0" rIns="0" bIns="0" rtlCol="0" anchor="t"/>
          <a:lstStyle/>
          <a:p>
            <a:pPr indent="0" marL="0">
              <a:buNone/>
            </a:pPr>
            <a:r>
              <a:rPr lang="en-US" sz="1600" b="1" dirty="0">
                <a:solidFill>
                  <a:schemeClr val="tx2"/>
                </a:solidFill>
              </a:rPr>
              <a:t>Ferias, colegios y naturistas</a:t>
            </a:r>
            <a:endParaRPr lang="en-US" sz="1600" dirty="0"/>
          </a:p>
        </p:txBody>
      </p:sp>
      <p:sp>
        <p:nvSpPr>
          <p:cNvPr id="40" name="Text 32"/>
          <p:cNvSpPr txBox="1"/>
          <p:nvPr/>
        </p:nvSpPr>
        <p:spPr>
          <a:xfrm>
            <a:off x="8668512" y="3602736"/>
            <a:ext cx="2834640" cy="365760"/>
          </a:xfrm>
          <a:prstGeom prst="rect">
            <a:avLst/>
          </a:prstGeom>
          <a:noFill/>
          <a:ln/>
        </p:spPr>
        <p:txBody>
          <a:bodyPr wrap="square" lIns="0" tIns="0" rIns="0" bIns="0" rtlCol="0" anchor="t"/>
          <a:lstStyle/>
          <a:p>
            <a:pPr indent="0" marL="0">
              <a:buNone/>
            </a:pPr>
            <a:r>
              <a:rPr lang="en-US" sz="1300" dirty="0">
                <a:solidFill>
                  <a:schemeClr val="tx1"/>
                </a:solidFill>
              </a:rPr>
              <a:t>Organizadores, concesionarios y tiendas</a:t>
            </a:r>
            <a:endParaRPr lang="en-US" sz="1300" dirty="0"/>
          </a:p>
        </p:txBody>
      </p:sp>
      <p:sp>
        <p:nvSpPr>
          <p:cNvPr id="41" name="Text 33"/>
          <p:cNvSpPr txBox="1"/>
          <p:nvPr/>
        </p:nvSpPr>
        <p:spPr>
          <a:xfrm>
            <a:off x="8668512" y="4005072"/>
            <a:ext cx="2834640" cy="274320"/>
          </a:xfrm>
          <a:prstGeom prst="rect">
            <a:avLst/>
          </a:prstGeom>
          <a:noFill/>
          <a:ln/>
        </p:spPr>
        <p:txBody>
          <a:bodyPr wrap="square" lIns="0" tIns="0" rIns="0" bIns="0" rtlCol="0" anchor="t"/>
          <a:lstStyle/>
          <a:p>
            <a:pPr indent="0" marL="0">
              <a:buNone/>
            </a:pPr>
            <a:r>
              <a:rPr lang="en-US" sz="1100" b="1" i="1" dirty="0">
                <a:solidFill>
                  <a:schemeClr val="accent4"/>
                </a:solidFill>
              </a:rPr>
              <a:t>Llegada al cliente</a:t>
            </a:r>
            <a:endParaRPr lang="en-US" sz="1100" dirty="0"/>
          </a:p>
        </p:txBody>
      </p:sp>
      <p:sp>
        <p:nvSpPr>
          <p:cNvPr id="42" name="Shape 34"/>
          <p:cNvSpPr/>
          <p:nvPr/>
        </p:nvSpPr>
        <p:spPr>
          <a:xfrm>
            <a:off x="6922008" y="3840480"/>
            <a:ext cx="786384" cy="1449324"/>
          </a:xfrm>
          <a:prstGeom prst="line">
            <a:avLst/>
          </a:prstGeom>
          <a:noFill/>
          <a:ln w="19050">
            <a:solidFill>
              <a:schemeClr val="accent5"/>
            </a:solidFill>
            <a:prstDash val="dash"/>
          </a:ln>
        </p:spPr>
      </p:sp>
      <p:sp>
        <p:nvSpPr>
          <p:cNvPr id="43" name="Shape 35"/>
          <p:cNvSpPr/>
          <p:nvPr/>
        </p:nvSpPr>
        <p:spPr>
          <a:xfrm>
            <a:off x="7708392"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4" name="Shape 36"/>
          <p:cNvSpPr/>
          <p:nvPr/>
        </p:nvSpPr>
        <p:spPr>
          <a:xfrm>
            <a:off x="7891272" y="4855464"/>
            <a:ext cx="594360" cy="594360"/>
          </a:xfrm>
          <a:prstGeom prst="ellipse">
            <a:avLst/>
          </a:prstGeom>
          <a:solidFill>
            <a:schemeClr val="accent1"/>
          </a:solidFill>
          <a:ln w="12700">
            <a:solidFill>
              <a:schemeClr val="accent1"/>
            </a:solidFill>
            <a:prstDash val="solid"/>
          </a:ln>
        </p:spPr>
      </p:sp>
      <p:pic>
        <p:nvPicPr>
          <p:cNvPr id="45" name="Image 6" descr="preencoded.png">    </p:cNvPr>
          <p:cNvPicPr>
            <a:picLocks noChangeAspect="1"/>
          </p:cNvPicPr>
          <p:nvPr/>
        </p:nvPicPr>
        <p:blipFill>
          <a:blip r:embed="rId7"/>
          <a:stretch>
            <a:fillRect/>
          </a:stretch>
        </p:blipFill>
        <p:spPr>
          <a:xfrm>
            <a:off x="8022031" y="4986223"/>
            <a:ext cx="332842" cy="332842"/>
          </a:xfrm>
          <a:prstGeom prst="rect">
            <a:avLst/>
          </a:prstGeom>
        </p:spPr>
      </p:pic>
      <p:sp>
        <p:nvSpPr>
          <p:cNvPr id="46" name="Text 37"/>
          <p:cNvSpPr txBox="1"/>
          <p:nvPr/>
        </p:nvSpPr>
        <p:spPr>
          <a:xfrm>
            <a:off x="8668512" y="4791456"/>
            <a:ext cx="2834640" cy="347472"/>
          </a:xfrm>
          <a:prstGeom prst="rect">
            <a:avLst/>
          </a:prstGeom>
          <a:noFill/>
          <a:ln/>
        </p:spPr>
        <p:txBody>
          <a:bodyPr wrap="square" lIns="0" tIns="0" rIns="0" bIns="0" rtlCol="0" anchor="t"/>
          <a:lstStyle/>
          <a:p>
            <a:pPr indent="0" marL="0">
              <a:buNone/>
            </a:pPr>
            <a:r>
              <a:rPr lang="en-US" sz="1600" b="1" dirty="0">
                <a:solidFill>
                  <a:schemeClr val="tx2"/>
                </a:solidFill>
              </a:rPr>
              <a:t>Prescriptores</a:t>
            </a:r>
            <a:endParaRPr lang="en-US" sz="1600" dirty="0"/>
          </a:p>
        </p:txBody>
      </p:sp>
      <p:sp>
        <p:nvSpPr>
          <p:cNvPr id="47" name="Text 38"/>
          <p:cNvSpPr txBox="1"/>
          <p:nvPr/>
        </p:nvSpPr>
        <p:spPr>
          <a:xfrm>
            <a:off x="8668512" y="5138928"/>
            <a:ext cx="2834640" cy="365760"/>
          </a:xfrm>
          <a:prstGeom prst="rect">
            <a:avLst/>
          </a:prstGeom>
          <a:noFill/>
          <a:ln/>
        </p:spPr>
        <p:txBody>
          <a:bodyPr wrap="square" lIns="0" tIns="0" rIns="0" bIns="0" rtlCol="0" anchor="t"/>
          <a:lstStyle/>
          <a:p>
            <a:pPr indent="0" marL="0">
              <a:buNone/>
            </a:pPr>
            <a:r>
              <a:rPr lang="en-US" sz="1300" dirty="0">
                <a:solidFill>
                  <a:schemeClr val="tx1"/>
                </a:solidFill>
              </a:rPr>
              <a:t>Nutricionista colegiada y 20 pediatras</a:t>
            </a:r>
            <a:endParaRPr lang="en-US" sz="1300" dirty="0"/>
          </a:p>
        </p:txBody>
      </p:sp>
      <p:sp>
        <p:nvSpPr>
          <p:cNvPr id="48" name="Text 39"/>
          <p:cNvSpPr txBox="1"/>
          <p:nvPr/>
        </p:nvSpPr>
        <p:spPr>
          <a:xfrm>
            <a:off x="8668512" y="5541264"/>
            <a:ext cx="2834640" cy="274320"/>
          </a:xfrm>
          <a:prstGeom prst="rect">
            <a:avLst/>
          </a:prstGeom>
          <a:noFill/>
          <a:ln/>
        </p:spPr>
        <p:txBody>
          <a:bodyPr wrap="square" lIns="0" tIns="0" rIns="0" bIns="0" rtlCol="0" anchor="t"/>
          <a:lstStyle/>
          <a:p>
            <a:pPr indent="0" marL="0">
              <a:buNone/>
            </a:pPr>
            <a:r>
              <a:rPr lang="en-US" sz="1100" b="1" i="1" dirty="0">
                <a:solidFill>
                  <a:schemeClr val="accent4"/>
                </a:solidFill>
              </a:rPr>
              <a:t>Confianza</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RECURSOS Y ACTIVIDADES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tenemos y lo que hacemos cada semana</a:t>
            </a:r>
            <a:endParaRPr lang="en-US" sz="3400" dirty="0"/>
          </a:p>
        </p:txBody>
      </p:sp>
      <p:sp>
        <p:nvSpPr>
          <p:cNvPr id="4" name="Text 2"/>
          <p:cNvSpPr txBox="1"/>
          <p:nvPr/>
        </p:nvSpPr>
        <p:spPr>
          <a:xfrm>
            <a:off x="548640" y="1508760"/>
            <a:ext cx="5394960" cy="365760"/>
          </a:xfrm>
          <a:prstGeom prst="rect">
            <a:avLst/>
          </a:prstGeom>
          <a:noFill/>
          <a:ln/>
        </p:spPr>
        <p:txBody>
          <a:bodyPr wrap="square" lIns="0" tIns="0" rIns="0" bIns="0" rtlCol="0" anchor="t"/>
          <a:lstStyle/>
          <a:p>
            <a:pPr indent="0" marL="0">
              <a:buNone/>
            </a:pPr>
            <a:r>
              <a:rPr lang="en-US" sz="2000" b="1" dirty="0">
                <a:solidFill>
                  <a:schemeClr val="tx2"/>
                </a:solidFill>
              </a:rPr>
              <a:t>Recursos clave</a:t>
            </a:r>
            <a:endParaRPr lang="en-US" sz="2000" dirty="0"/>
          </a:p>
        </p:txBody>
      </p:sp>
      <p:sp>
        <p:nvSpPr>
          <p:cNvPr id="5" name="Shape 3"/>
          <p:cNvSpPr/>
          <p:nvPr/>
        </p:nvSpPr>
        <p:spPr>
          <a:xfrm>
            <a:off x="548640" y="2011680"/>
            <a:ext cx="2651760" cy="1938528"/>
          </a:xfrm>
          <a:prstGeom prst="roundRect">
            <a:avLst>
              <a:gd name="adj" fmla="val 566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 name="Shape 4"/>
          <p:cNvSpPr/>
          <p:nvPr/>
        </p:nvSpPr>
        <p:spPr>
          <a:xfrm>
            <a:off x="777240" y="2240280"/>
            <a:ext cx="594360" cy="594360"/>
          </a:xfrm>
          <a:prstGeom prst="ellipse">
            <a:avLst/>
          </a:prstGeom>
          <a:solidFill>
            <a:schemeClr val="accent2"/>
          </a:solidFill>
          <a:ln w="12700">
            <a:solidFill>
              <a:schemeClr val="accent2"/>
            </a:solidFill>
            <a:prstDash val="solid"/>
          </a:ln>
        </p:spPr>
      </p:sp>
      <p:pic>
        <p:nvPicPr>
          <p:cNvPr id="7" name="Image 0" descr="preencoded.png">    </p:cNvPr>
          <p:cNvPicPr>
            <a:picLocks noChangeAspect="1"/>
          </p:cNvPicPr>
          <p:nvPr/>
        </p:nvPicPr>
        <p:blipFill>
          <a:blip r:embed="rId1"/>
          <a:stretch>
            <a:fillRect/>
          </a:stretch>
        </p:blipFill>
        <p:spPr>
          <a:xfrm>
            <a:off x="907999" y="2371039"/>
            <a:ext cx="332842" cy="332842"/>
          </a:xfrm>
          <a:prstGeom prst="rect">
            <a:avLst/>
          </a:prstGeom>
        </p:spPr>
      </p:pic>
      <p:sp>
        <p:nvSpPr>
          <p:cNvPr id="8" name="Text 5"/>
          <p:cNvSpPr txBox="1"/>
          <p:nvPr/>
        </p:nvSpPr>
        <p:spPr>
          <a:xfrm>
            <a:off x="1508760" y="2240280"/>
            <a:ext cx="1554480" cy="594360"/>
          </a:xfrm>
          <a:prstGeom prst="rect">
            <a:avLst/>
          </a:prstGeom>
          <a:noFill/>
          <a:ln/>
        </p:spPr>
        <p:txBody>
          <a:bodyPr wrap="square" lIns="0" tIns="0" rIns="0" bIns="0" rtlCol="0" anchor="ctr"/>
          <a:lstStyle/>
          <a:p>
            <a:pPr indent="0" marL="0">
              <a:buNone/>
            </a:pPr>
            <a:r>
              <a:rPr lang="en-US" sz="1700" b="1" dirty="0">
                <a:solidFill>
                  <a:schemeClr val="tx2"/>
                </a:solidFill>
              </a:rPr>
              <a:t>Físicos</a:t>
            </a:r>
            <a:endParaRPr lang="en-US" sz="1700" dirty="0"/>
          </a:p>
        </p:txBody>
      </p:sp>
      <p:sp>
        <p:nvSpPr>
          <p:cNvPr id="9" name="Text 6"/>
          <p:cNvSpPr txBox="1"/>
          <p:nvPr/>
        </p:nvSpPr>
        <p:spPr>
          <a:xfrm>
            <a:off x="777240" y="2971800"/>
            <a:ext cx="2240280" cy="868680"/>
          </a:xfrm>
          <a:prstGeom prst="rect">
            <a:avLst/>
          </a:prstGeom>
          <a:noFill/>
          <a:ln/>
        </p:spPr>
        <p:txBody>
          <a:bodyPr wrap="square" lIns="0" tIns="0" rIns="0" bIns="0" rtlCol="0" anchor="t"/>
          <a:lstStyle/>
          <a:p>
            <a:pPr indent="0" marL="0">
              <a:buNone/>
            </a:pPr>
            <a:r>
              <a:rPr lang="en-US" sz="1400" dirty="0">
                <a:solidFill>
                  <a:schemeClr val="tx1"/>
                </a:solidFill>
              </a:rPr>
              <a:t>2 carritos de exhibición, equipos y stock (S/7,338 en activos)</a:t>
            </a:r>
            <a:endParaRPr lang="en-US" sz="1400" dirty="0"/>
          </a:p>
        </p:txBody>
      </p:sp>
      <p:sp>
        <p:nvSpPr>
          <p:cNvPr id="10" name="Shape 7"/>
          <p:cNvSpPr/>
          <p:nvPr/>
        </p:nvSpPr>
        <p:spPr>
          <a:xfrm>
            <a:off x="3383280" y="2011680"/>
            <a:ext cx="2651760" cy="1938528"/>
          </a:xfrm>
          <a:prstGeom prst="roundRect">
            <a:avLst>
              <a:gd name="adj" fmla="val 566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Shape 8"/>
          <p:cNvSpPr/>
          <p:nvPr/>
        </p:nvSpPr>
        <p:spPr>
          <a:xfrm>
            <a:off x="3611880" y="2240280"/>
            <a:ext cx="594360" cy="594360"/>
          </a:xfrm>
          <a:prstGeom prst="ellipse">
            <a:avLst/>
          </a:prstGeom>
          <a:solidFill>
            <a:schemeClr val="accent2"/>
          </a:solidFill>
          <a:ln w="12700">
            <a:solidFill>
              <a:schemeClr val="accent2"/>
            </a:solidFill>
            <a:prstDash val="solid"/>
          </a:ln>
        </p:spPr>
      </p:sp>
      <p:pic>
        <p:nvPicPr>
          <p:cNvPr id="12" name="Image 1" descr="preencoded.png">    </p:cNvPr>
          <p:cNvPicPr>
            <a:picLocks noChangeAspect="1"/>
          </p:cNvPicPr>
          <p:nvPr/>
        </p:nvPicPr>
        <p:blipFill>
          <a:blip r:embed="rId2"/>
          <a:stretch>
            <a:fillRect/>
          </a:stretch>
        </p:blipFill>
        <p:spPr>
          <a:xfrm>
            <a:off x="3742639" y="2371039"/>
            <a:ext cx="332842" cy="332842"/>
          </a:xfrm>
          <a:prstGeom prst="rect">
            <a:avLst/>
          </a:prstGeom>
        </p:spPr>
      </p:pic>
      <p:sp>
        <p:nvSpPr>
          <p:cNvPr id="13" name="Text 9"/>
          <p:cNvSpPr txBox="1"/>
          <p:nvPr/>
        </p:nvSpPr>
        <p:spPr>
          <a:xfrm>
            <a:off x="4343400" y="2240280"/>
            <a:ext cx="1554480" cy="594360"/>
          </a:xfrm>
          <a:prstGeom prst="rect">
            <a:avLst/>
          </a:prstGeom>
          <a:noFill/>
          <a:ln/>
        </p:spPr>
        <p:txBody>
          <a:bodyPr wrap="square" lIns="0" tIns="0" rIns="0" bIns="0" rtlCol="0" anchor="ctr"/>
          <a:lstStyle/>
          <a:p>
            <a:pPr indent="0" marL="0">
              <a:buNone/>
            </a:pPr>
            <a:r>
              <a:rPr lang="en-US" sz="1700" b="1" dirty="0">
                <a:solidFill>
                  <a:schemeClr val="tx2"/>
                </a:solidFill>
              </a:rPr>
              <a:t>Intelectuales</a:t>
            </a:r>
            <a:endParaRPr lang="en-US" sz="1700" dirty="0"/>
          </a:p>
        </p:txBody>
      </p:sp>
      <p:sp>
        <p:nvSpPr>
          <p:cNvPr id="14" name="Text 10"/>
          <p:cNvSpPr txBox="1"/>
          <p:nvPr/>
        </p:nvSpPr>
        <p:spPr>
          <a:xfrm>
            <a:off x="3611880" y="2971800"/>
            <a:ext cx="2240280" cy="868680"/>
          </a:xfrm>
          <a:prstGeom prst="rect">
            <a:avLst/>
          </a:prstGeom>
          <a:noFill/>
          <a:ln/>
        </p:spPr>
        <p:txBody>
          <a:bodyPr wrap="square" lIns="0" tIns="0" rIns="0" bIns="0" rtlCol="0" anchor="t"/>
          <a:lstStyle/>
          <a:p>
            <a:pPr indent="0" marL="0">
              <a:buNone/>
            </a:pPr>
            <a:r>
              <a:rPr lang="en-US" sz="1400" dirty="0">
                <a:solidFill>
                  <a:schemeClr val="tx1"/>
                </a:solidFill>
              </a:rPr>
              <a:t>Fórmula de 3 sabores, marca y registro sanitario</a:t>
            </a:r>
            <a:endParaRPr lang="en-US" sz="1400" dirty="0"/>
          </a:p>
        </p:txBody>
      </p:sp>
      <p:sp>
        <p:nvSpPr>
          <p:cNvPr id="15" name="Shape 11"/>
          <p:cNvSpPr/>
          <p:nvPr/>
        </p:nvSpPr>
        <p:spPr>
          <a:xfrm>
            <a:off x="548640" y="4151376"/>
            <a:ext cx="2651760" cy="1938528"/>
          </a:xfrm>
          <a:prstGeom prst="roundRect">
            <a:avLst>
              <a:gd name="adj" fmla="val 566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Shape 12"/>
          <p:cNvSpPr/>
          <p:nvPr/>
        </p:nvSpPr>
        <p:spPr>
          <a:xfrm>
            <a:off x="777240" y="4379976"/>
            <a:ext cx="594360" cy="594360"/>
          </a:xfrm>
          <a:prstGeom prst="ellipse">
            <a:avLst/>
          </a:prstGeom>
          <a:solidFill>
            <a:schemeClr val="accent2"/>
          </a:solidFill>
          <a:ln w="12700">
            <a:solidFill>
              <a:schemeClr val="accent2"/>
            </a:solidFill>
            <a:prstDash val="solid"/>
          </a:ln>
        </p:spPr>
      </p:sp>
      <p:pic>
        <p:nvPicPr>
          <p:cNvPr id="17" name="Image 2" descr="preencoded.png">    </p:cNvPr>
          <p:cNvPicPr>
            <a:picLocks noChangeAspect="1"/>
          </p:cNvPicPr>
          <p:nvPr/>
        </p:nvPicPr>
        <p:blipFill>
          <a:blip r:embed="rId3"/>
          <a:stretch>
            <a:fillRect/>
          </a:stretch>
        </p:blipFill>
        <p:spPr>
          <a:xfrm>
            <a:off x="907999" y="4510735"/>
            <a:ext cx="332842" cy="332842"/>
          </a:xfrm>
          <a:prstGeom prst="rect">
            <a:avLst/>
          </a:prstGeom>
        </p:spPr>
      </p:pic>
      <p:sp>
        <p:nvSpPr>
          <p:cNvPr id="18" name="Text 13"/>
          <p:cNvSpPr txBox="1"/>
          <p:nvPr/>
        </p:nvSpPr>
        <p:spPr>
          <a:xfrm>
            <a:off x="1508760" y="4379976"/>
            <a:ext cx="1554480" cy="594360"/>
          </a:xfrm>
          <a:prstGeom prst="rect">
            <a:avLst/>
          </a:prstGeom>
          <a:noFill/>
          <a:ln/>
        </p:spPr>
        <p:txBody>
          <a:bodyPr wrap="square" lIns="0" tIns="0" rIns="0" bIns="0" rtlCol="0" anchor="ctr"/>
          <a:lstStyle/>
          <a:p>
            <a:pPr indent="0" marL="0">
              <a:buNone/>
            </a:pPr>
            <a:r>
              <a:rPr lang="en-US" sz="1700" b="1" dirty="0">
                <a:solidFill>
                  <a:schemeClr val="tx2"/>
                </a:solidFill>
              </a:rPr>
              <a:t>Humanos</a:t>
            </a:r>
            <a:endParaRPr lang="en-US" sz="1700" dirty="0"/>
          </a:p>
        </p:txBody>
      </p:sp>
      <p:sp>
        <p:nvSpPr>
          <p:cNvPr id="19" name="Text 14"/>
          <p:cNvSpPr txBox="1"/>
          <p:nvPr/>
        </p:nvSpPr>
        <p:spPr>
          <a:xfrm>
            <a:off x="777240" y="5111496"/>
            <a:ext cx="2240280" cy="868680"/>
          </a:xfrm>
          <a:prstGeom prst="rect">
            <a:avLst/>
          </a:prstGeom>
          <a:noFill/>
          <a:ln/>
        </p:spPr>
        <p:txBody>
          <a:bodyPr wrap="square" lIns="0" tIns="0" rIns="0" bIns="0" rtlCol="0" anchor="t"/>
          <a:lstStyle/>
          <a:p>
            <a:pPr indent="0" marL="0">
              <a:buNone/>
            </a:pPr>
            <a:r>
              <a:rPr lang="en-US" sz="1400" dirty="0">
                <a:solidFill>
                  <a:schemeClr val="tx1"/>
                </a:solidFill>
              </a:rPr>
              <a:t>5 socios que atienden un punto e impulsadoras para el resto</a:t>
            </a:r>
            <a:endParaRPr lang="en-US" sz="1400" dirty="0"/>
          </a:p>
        </p:txBody>
      </p:sp>
      <p:sp>
        <p:nvSpPr>
          <p:cNvPr id="20" name="Shape 15"/>
          <p:cNvSpPr/>
          <p:nvPr/>
        </p:nvSpPr>
        <p:spPr>
          <a:xfrm>
            <a:off x="3383280" y="4151376"/>
            <a:ext cx="2651760" cy="1938528"/>
          </a:xfrm>
          <a:prstGeom prst="roundRect">
            <a:avLst>
              <a:gd name="adj" fmla="val 566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6"/>
          <p:cNvSpPr/>
          <p:nvPr/>
        </p:nvSpPr>
        <p:spPr>
          <a:xfrm>
            <a:off x="3611880" y="4379976"/>
            <a:ext cx="594360" cy="594360"/>
          </a:xfrm>
          <a:prstGeom prst="ellipse">
            <a:avLst/>
          </a:prstGeom>
          <a:solidFill>
            <a:schemeClr val="accent2"/>
          </a:solidFill>
          <a:ln w="12700">
            <a:solidFill>
              <a:schemeClr val="accent2"/>
            </a:solidFill>
            <a:prstDash val="solid"/>
          </a:ln>
        </p:spPr>
      </p:sp>
      <p:pic>
        <p:nvPicPr>
          <p:cNvPr id="22" name="Image 3" descr="preencoded.png">    </p:cNvPr>
          <p:cNvPicPr>
            <a:picLocks noChangeAspect="1"/>
          </p:cNvPicPr>
          <p:nvPr/>
        </p:nvPicPr>
        <p:blipFill>
          <a:blip r:embed="rId4"/>
          <a:stretch>
            <a:fillRect/>
          </a:stretch>
        </p:blipFill>
        <p:spPr>
          <a:xfrm>
            <a:off x="3742639" y="4510735"/>
            <a:ext cx="332842" cy="332842"/>
          </a:xfrm>
          <a:prstGeom prst="rect">
            <a:avLst/>
          </a:prstGeom>
        </p:spPr>
      </p:pic>
      <p:sp>
        <p:nvSpPr>
          <p:cNvPr id="23" name="Text 17"/>
          <p:cNvSpPr txBox="1"/>
          <p:nvPr/>
        </p:nvSpPr>
        <p:spPr>
          <a:xfrm>
            <a:off x="4343400" y="4379976"/>
            <a:ext cx="1554480" cy="594360"/>
          </a:xfrm>
          <a:prstGeom prst="rect">
            <a:avLst/>
          </a:prstGeom>
          <a:noFill/>
          <a:ln/>
        </p:spPr>
        <p:txBody>
          <a:bodyPr wrap="square" lIns="0" tIns="0" rIns="0" bIns="0" rtlCol="0" anchor="ctr"/>
          <a:lstStyle/>
          <a:p>
            <a:pPr indent="0" marL="0">
              <a:buNone/>
            </a:pPr>
            <a:r>
              <a:rPr lang="en-US" sz="1700" b="1" dirty="0">
                <a:solidFill>
                  <a:schemeClr val="tx2"/>
                </a:solidFill>
              </a:rPr>
              <a:t>Financieros</a:t>
            </a:r>
            <a:endParaRPr lang="en-US" sz="1700" dirty="0"/>
          </a:p>
        </p:txBody>
      </p:sp>
      <p:sp>
        <p:nvSpPr>
          <p:cNvPr id="24" name="Text 18"/>
          <p:cNvSpPr txBox="1"/>
          <p:nvPr/>
        </p:nvSpPr>
        <p:spPr>
          <a:xfrm>
            <a:off x="3611880" y="5111496"/>
            <a:ext cx="2240280" cy="868680"/>
          </a:xfrm>
          <a:prstGeom prst="rect">
            <a:avLst/>
          </a:prstGeom>
          <a:noFill/>
          <a:ln/>
        </p:spPr>
        <p:txBody>
          <a:bodyPr wrap="square" lIns="0" tIns="0" rIns="0" bIns="0" rtlCol="0" anchor="t"/>
          <a:lstStyle/>
          <a:p>
            <a:pPr indent="0" marL="0">
              <a:buNone/>
            </a:pPr>
            <a:r>
              <a:rPr lang="en-US" sz="1400" dirty="0">
                <a:solidFill>
                  <a:schemeClr val="tx1"/>
                </a:solidFill>
              </a:rPr>
              <a:t>S/40,644 de inversión: socios y préstamo</a:t>
            </a:r>
            <a:endParaRPr lang="en-US" sz="1400" dirty="0"/>
          </a:p>
        </p:txBody>
      </p:sp>
      <p:sp>
        <p:nvSpPr>
          <p:cNvPr id="25" name="Text 19"/>
          <p:cNvSpPr txBox="1"/>
          <p:nvPr/>
        </p:nvSpPr>
        <p:spPr>
          <a:xfrm>
            <a:off x="6245352" y="1508760"/>
            <a:ext cx="5394960" cy="365760"/>
          </a:xfrm>
          <a:prstGeom prst="rect">
            <a:avLst/>
          </a:prstGeom>
          <a:noFill/>
          <a:ln/>
        </p:spPr>
        <p:txBody>
          <a:bodyPr wrap="square" lIns="0" tIns="0" rIns="0" bIns="0" rtlCol="0" anchor="t"/>
          <a:lstStyle/>
          <a:p>
            <a:pPr indent="0" marL="0">
              <a:buNone/>
            </a:pPr>
            <a:r>
              <a:rPr lang="en-US" sz="2000" b="1" dirty="0">
                <a:solidFill>
                  <a:schemeClr val="tx2"/>
                </a:solidFill>
              </a:rPr>
              <a:t>Actividades clave</a:t>
            </a:r>
            <a:endParaRPr lang="en-US" sz="2000" dirty="0"/>
          </a:p>
        </p:txBody>
      </p:sp>
      <p:sp>
        <p:nvSpPr>
          <p:cNvPr id="26" name="Shape 20"/>
          <p:cNvSpPr/>
          <p:nvPr/>
        </p:nvSpPr>
        <p:spPr>
          <a:xfrm>
            <a:off x="6245352" y="2011680"/>
            <a:ext cx="5394960" cy="713232"/>
          </a:xfrm>
          <a:prstGeom prst="roundRect">
            <a:avLst>
              <a:gd name="adj" fmla="val 1282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1"/>
          <p:cNvSpPr/>
          <p:nvPr/>
        </p:nvSpPr>
        <p:spPr>
          <a:xfrm>
            <a:off x="6409944" y="2139696"/>
            <a:ext cx="457200" cy="457200"/>
          </a:xfrm>
          <a:prstGeom prst="ellipse">
            <a:avLst/>
          </a:prstGeom>
          <a:solidFill>
            <a:schemeClr val="accent1"/>
          </a:solidFill>
          <a:ln w="12700">
            <a:solidFill>
              <a:schemeClr val="accent1"/>
            </a:solidFill>
            <a:prstDash val="solid"/>
          </a:ln>
        </p:spPr>
      </p:sp>
      <p:sp>
        <p:nvSpPr>
          <p:cNvPr id="28" name="Text 22"/>
          <p:cNvSpPr txBox="1"/>
          <p:nvPr/>
        </p:nvSpPr>
        <p:spPr>
          <a:xfrm>
            <a:off x="6409944" y="21396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9" name="Text 23"/>
          <p:cNvSpPr txBox="1"/>
          <p:nvPr/>
        </p:nvSpPr>
        <p:spPr>
          <a:xfrm>
            <a:off x="7022592" y="2011680"/>
            <a:ext cx="4480560" cy="713232"/>
          </a:xfrm>
          <a:prstGeom prst="rect">
            <a:avLst/>
          </a:prstGeom>
          <a:noFill/>
          <a:ln/>
        </p:spPr>
        <p:txBody>
          <a:bodyPr wrap="square" lIns="0" tIns="0" rIns="0" bIns="0" rtlCol="0" anchor="ctr"/>
          <a:lstStyle/>
          <a:p>
            <a:pPr indent="0" marL="0">
              <a:buNone/>
            </a:pPr>
            <a:r>
              <a:rPr lang="en-US" sz="1500" b="1" dirty="0">
                <a:solidFill>
                  <a:schemeClr val="tx2"/>
                </a:solidFill>
              </a:rPr>
              <a:t>I+D y prueba con niños</a:t>
            </a:r>
            <a:endParaRPr lang="en-US" sz="1400" dirty="0"/>
          </a:p>
          <a:p>
            <a:pPr indent="0" marL="0">
              <a:buNone/>
            </a:pPr>
            <a:r>
              <a:rPr lang="en-US" sz="1200" dirty="0">
                <a:solidFill>
                  <a:schemeClr val="accent2"/>
                </a:solidFill>
              </a:rPr>
              <a:t>3 rondas de fórmula, 20 niños por sabor</a:t>
            </a:r>
            <a:endParaRPr lang="en-US" sz="1400" dirty="0"/>
          </a:p>
        </p:txBody>
      </p:sp>
      <p:sp>
        <p:nvSpPr>
          <p:cNvPr id="30" name="Shape 24"/>
          <p:cNvSpPr/>
          <p:nvPr/>
        </p:nvSpPr>
        <p:spPr>
          <a:xfrm>
            <a:off x="6245352" y="2834640"/>
            <a:ext cx="5394960" cy="713232"/>
          </a:xfrm>
          <a:prstGeom prst="roundRect">
            <a:avLst>
              <a:gd name="adj" fmla="val 1282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Shape 25"/>
          <p:cNvSpPr/>
          <p:nvPr/>
        </p:nvSpPr>
        <p:spPr>
          <a:xfrm>
            <a:off x="6409944" y="2962656"/>
            <a:ext cx="457200" cy="457200"/>
          </a:xfrm>
          <a:prstGeom prst="ellipse">
            <a:avLst/>
          </a:prstGeom>
          <a:solidFill>
            <a:schemeClr val="accent1"/>
          </a:solidFill>
          <a:ln w="12700">
            <a:solidFill>
              <a:schemeClr val="accent1"/>
            </a:solidFill>
            <a:prstDash val="solid"/>
          </a:ln>
        </p:spPr>
      </p:sp>
      <p:sp>
        <p:nvSpPr>
          <p:cNvPr id="32" name="Text 26"/>
          <p:cNvSpPr txBox="1"/>
          <p:nvPr/>
        </p:nvSpPr>
        <p:spPr>
          <a:xfrm>
            <a:off x="6409944" y="296265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33" name="Text 27"/>
          <p:cNvSpPr txBox="1"/>
          <p:nvPr/>
        </p:nvSpPr>
        <p:spPr>
          <a:xfrm>
            <a:off x="7022592" y="2834640"/>
            <a:ext cx="4480560" cy="713232"/>
          </a:xfrm>
          <a:prstGeom prst="rect">
            <a:avLst/>
          </a:prstGeom>
          <a:noFill/>
          <a:ln/>
        </p:spPr>
        <p:txBody>
          <a:bodyPr wrap="square" lIns="0" tIns="0" rIns="0" bIns="0" rtlCol="0" anchor="ctr"/>
          <a:lstStyle/>
          <a:p>
            <a:pPr indent="0" marL="0">
              <a:buNone/>
            </a:pPr>
            <a:r>
              <a:rPr lang="en-US" sz="1500" b="1" dirty="0">
                <a:solidFill>
                  <a:schemeClr val="tx2"/>
                </a:solidFill>
              </a:rPr>
              <a:t>Maquila y calidad por lote</a:t>
            </a:r>
            <a:endParaRPr lang="en-US" sz="1400" dirty="0"/>
          </a:p>
          <a:p>
            <a:pPr indent="0" marL="0">
              <a:buNone/>
            </a:pPr>
            <a:r>
              <a:rPr lang="en-US" sz="1200" dirty="0">
                <a:solidFill>
                  <a:schemeClr val="accent2"/>
                </a:solidFill>
              </a:rPr>
              <a:t>Lote piloto y análisis microbiológico de S/250</a:t>
            </a:r>
            <a:endParaRPr lang="en-US" sz="1400" dirty="0"/>
          </a:p>
        </p:txBody>
      </p:sp>
      <p:sp>
        <p:nvSpPr>
          <p:cNvPr id="34" name="Shape 28"/>
          <p:cNvSpPr/>
          <p:nvPr/>
        </p:nvSpPr>
        <p:spPr>
          <a:xfrm>
            <a:off x="6245352" y="3657600"/>
            <a:ext cx="5394960" cy="713232"/>
          </a:xfrm>
          <a:prstGeom prst="roundRect">
            <a:avLst>
              <a:gd name="adj" fmla="val 1282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5" name="Shape 29"/>
          <p:cNvSpPr/>
          <p:nvPr/>
        </p:nvSpPr>
        <p:spPr>
          <a:xfrm>
            <a:off x="6409944" y="3785616"/>
            <a:ext cx="457200" cy="457200"/>
          </a:xfrm>
          <a:prstGeom prst="ellipse">
            <a:avLst/>
          </a:prstGeom>
          <a:solidFill>
            <a:schemeClr val="accent1"/>
          </a:solidFill>
          <a:ln w="12700">
            <a:solidFill>
              <a:schemeClr val="accent1"/>
            </a:solidFill>
            <a:prstDash val="solid"/>
          </a:ln>
        </p:spPr>
      </p:sp>
      <p:sp>
        <p:nvSpPr>
          <p:cNvPr id="36" name="Text 30"/>
          <p:cNvSpPr txBox="1"/>
          <p:nvPr/>
        </p:nvSpPr>
        <p:spPr>
          <a:xfrm>
            <a:off x="6409944" y="378561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7" name="Text 31"/>
          <p:cNvSpPr txBox="1"/>
          <p:nvPr/>
        </p:nvSpPr>
        <p:spPr>
          <a:xfrm>
            <a:off x="7022592" y="3657600"/>
            <a:ext cx="4480560" cy="713232"/>
          </a:xfrm>
          <a:prstGeom prst="rect">
            <a:avLst/>
          </a:prstGeom>
          <a:noFill/>
          <a:ln/>
        </p:spPr>
        <p:txBody>
          <a:bodyPr wrap="square" lIns="0" tIns="0" rIns="0" bIns="0" rtlCol="0" anchor="ctr"/>
          <a:lstStyle/>
          <a:p>
            <a:pPr indent="0" marL="0">
              <a:buNone/>
            </a:pPr>
            <a:r>
              <a:rPr lang="en-US" sz="1500" b="1" dirty="0">
                <a:solidFill>
                  <a:schemeClr val="tx2"/>
                </a:solidFill>
              </a:rPr>
              <a:t>Calidad y documentos al día</a:t>
            </a:r>
            <a:endParaRPr lang="en-US" sz="1400" dirty="0"/>
          </a:p>
          <a:p>
            <a:pPr indent="0" marL="0">
              <a:buNone/>
            </a:pPr>
            <a:r>
              <a:rPr lang="en-US" sz="1200" dirty="0">
                <a:solidFill>
                  <a:schemeClr val="accent2"/>
                </a:solidFill>
              </a:rPr>
              <a:t>Registro sanitario, rotulado y carnés vigentes</a:t>
            </a:r>
            <a:endParaRPr lang="en-US" sz="1400" dirty="0"/>
          </a:p>
        </p:txBody>
      </p:sp>
      <p:sp>
        <p:nvSpPr>
          <p:cNvPr id="38" name="Shape 32"/>
          <p:cNvSpPr/>
          <p:nvPr/>
        </p:nvSpPr>
        <p:spPr>
          <a:xfrm>
            <a:off x="6245352" y="4480560"/>
            <a:ext cx="5394960" cy="713232"/>
          </a:xfrm>
          <a:prstGeom prst="roundRect">
            <a:avLst>
              <a:gd name="adj" fmla="val 1282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9" name="Shape 33"/>
          <p:cNvSpPr/>
          <p:nvPr/>
        </p:nvSpPr>
        <p:spPr>
          <a:xfrm>
            <a:off x="6409944" y="4608576"/>
            <a:ext cx="457200" cy="457200"/>
          </a:xfrm>
          <a:prstGeom prst="ellipse">
            <a:avLst/>
          </a:prstGeom>
          <a:solidFill>
            <a:schemeClr val="accent1"/>
          </a:solidFill>
          <a:ln w="12700">
            <a:solidFill>
              <a:schemeClr val="accent1"/>
            </a:solidFill>
            <a:prstDash val="solid"/>
          </a:ln>
        </p:spPr>
      </p:sp>
      <p:sp>
        <p:nvSpPr>
          <p:cNvPr id="40" name="Text 34"/>
          <p:cNvSpPr txBox="1"/>
          <p:nvPr/>
        </p:nvSpPr>
        <p:spPr>
          <a:xfrm>
            <a:off x="6409944" y="46085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41" name="Text 35"/>
          <p:cNvSpPr txBox="1"/>
          <p:nvPr/>
        </p:nvSpPr>
        <p:spPr>
          <a:xfrm>
            <a:off x="7022592" y="4480560"/>
            <a:ext cx="4480560" cy="713232"/>
          </a:xfrm>
          <a:prstGeom prst="rect">
            <a:avLst/>
          </a:prstGeom>
          <a:noFill/>
          <a:ln/>
        </p:spPr>
        <p:txBody>
          <a:bodyPr wrap="square" lIns="0" tIns="0" rIns="0" bIns="0" rtlCol="0" anchor="ctr"/>
          <a:lstStyle/>
          <a:p>
            <a:pPr indent="0" marL="0">
              <a:buNone/>
            </a:pPr>
            <a:r>
              <a:rPr lang="en-US" sz="1500" b="1" dirty="0">
                <a:solidFill>
                  <a:schemeClr val="tx2"/>
                </a:solidFill>
              </a:rPr>
              <a:t>Venta en stands y ferias</a:t>
            </a:r>
            <a:endParaRPr lang="en-US" sz="1400" dirty="0"/>
          </a:p>
          <a:p>
            <a:pPr indent="0" marL="0">
              <a:buNone/>
            </a:pPr>
            <a:r>
              <a:rPr lang="en-US" sz="1200" dirty="0">
                <a:solidFill>
                  <a:schemeClr val="accent2"/>
                </a:solidFill>
              </a:rPr>
              <a:t>Puntos de fin de semana, degustación y cobro digital</a:t>
            </a:r>
            <a:endParaRPr lang="en-US" sz="1400" dirty="0"/>
          </a:p>
        </p:txBody>
      </p:sp>
      <p:sp>
        <p:nvSpPr>
          <p:cNvPr id="42" name="Shape 36"/>
          <p:cNvSpPr/>
          <p:nvPr/>
        </p:nvSpPr>
        <p:spPr>
          <a:xfrm>
            <a:off x="6245352" y="5303520"/>
            <a:ext cx="5394960" cy="713232"/>
          </a:xfrm>
          <a:prstGeom prst="roundRect">
            <a:avLst>
              <a:gd name="adj" fmla="val 1282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3" name="Shape 37"/>
          <p:cNvSpPr/>
          <p:nvPr/>
        </p:nvSpPr>
        <p:spPr>
          <a:xfrm>
            <a:off x="6409944" y="5431536"/>
            <a:ext cx="457200" cy="457200"/>
          </a:xfrm>
          <a:prstGeom prst="ellipse">
            <a:avLst/>
          </a:prstGeom>
          <a:solidFill>
            <a:schemeClr val="accent1"/>
          </a:solidFill>
          <a:ln w="12700">
            <a:solidFill>
              <a:schemeClr val="accent1"/>
            </a:solidFill>
            <a:prstDash val="solid"/>
          </a:ln>
        </p:spPr>
      </p:sp>
      <p:sp>
        <p:nvSpPr>
          <p:cNvPr id="44" name="Text 38"/>
          <p:cNvSpPr txBox="1"/>
          <p:nvPr/>
        </p:nvSpPr>
        <p:spPr>
          <a:xfrm>
            <a:off x="6409944" y="54315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5" name="Text 39"/>
          <p:cNvSpPr txBox="1"/>
          <p:nvPr/>
        </p:nvSpPr>
        <p:spPr>
          <a:xfrm>
            <a:off x="7022592" y="5303520"/>
            <a:ext cx="4480560" cy="713232"/>
          </a:xfrm>
          <a:prstGeom prst="rect">
            <a:avLst/>
          </a:prstGeom>
          <a:noFill/>
          <a:ln/>
        </p:spPr>
        <p:txBody>
          <a:bodyPr wrap="square" lIns="0" tIns="0" rIns="0" bIns="0" rtlCol="0" anchor="ctr"/>
          <a:lstStyle/>
          <a:p>
            <a:pPr indent="0" marL="0">
              <a:buNone/>
            </a:pPr>
            <a:r>
              <a:rPr lang="en-US" sz="1500" b="1" dirty="0">
                <a:solidFill>
                  <a:schemeClr val="tx2"/>
                </a:solidFill>
              </a:rPr>
              <a:t>Recompra y comunidad</a:t>
            </a:r>
            <a:endParaRPr lang="en-US" sz="1400" dirty="0"/>
          </a:p>
          <a:p>
            <a:pPr indent="0" marL="0">
              <a:buNone/>
            </a:pPr>
            <a:r>
              <a:rPr lang="en-US" sz="1200" dirty="0">
                <a:solidFill>
                  <a:schemeClr val="accent2"/>
                </a:solidFill>
              </a:rPr>
              <a:t>WhatsApp, "La revelación" y mamás embajadoras</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ESTRUCTURA DE COSTOS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pack de 6 cuesta S/9.90 y en el stand deja S/9.51</a:t>
            </a:r>
            <a:endParaRPr lang="en-US" sz="3400" dirty="0"/>
          </a:p>
        </p:txBody>
      </p:sp>
      <p:graphicFrame>
        <p:nvGraphicFramePr>
          <p:cNvPr id="4" name="Chart 0" descr=""/>
          <p:cNvGraphicFramePr/>
          <p:nvPr/>
        </p:nvGraphicFramePr>
        <p:xfrm>
          <a:off x="365760" y="1463040"/>
          <a:ext cx="57607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09360" y="1463040"/>
          <a:ext cx="3017520" cy="466344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9509760" y="1554480"/>
            <a:ext cx="213055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9692640" y="1645920"/>
            <a:ext cx="1810512" cy="1188720"/>
          </a:xfrm>
          <a:prstGeom prst="rect">
            <a:avLst/>
          </a:prstGeom>
          <a:noFill/>
          <a:ln/>
        </p:spPr>
        <p:txBody>
          <a:bodyPr wrap="square" lIns="0" tIns="0" rIns="0" bIns="0" rtlCol="0" anchor="ctr"/>
          <a:lstStyle/>
          <a:p>
            <a:pPr indent="0" marL="0">
              <a:buNone/>
            </a:pPr>
            <a:r>
              <a:rPr lang="en-US" sz="2800" b="1" dirty="0">
                <a:solidFill>
                  <a:schemeClr val="accent1"/>
                </a:solidFill>
              </a:rPr>
              <a:t>55 %</a:t>
            </a:r>
            <a:endParaRPr lang="en-US" sz="1400" dirty="0"/>
          </a:p>
          <a:p>
            <a:pPr indent="0" marL="0">
              <a:buNone/>
            </a:pPr>
            <a:r>
              <a:rPr lang="en-US" sz="1200" dirty="0">
                <a:solidFill>
                  <a:schemeClr val="tx1"/>
                </a:solidFill>
              </a:rPr>
              <a:t>margen bruto del pack en el stand</a:t>
            </a:r>
            <a:endParaRPr lang="en-US" sz="1400" dirty="0"/>
          </a:p>
        </p:txBody>
      </p:sp>
      <p:sp>
        <p:nvSpPr>
          <p:cNvPr id="8" name="Shape 4"/>
          <p:cNvSpPr/>
          <p:nvPr/>
        </p:nvSpPr>
        <p:spPr>
          <a:xfrm>
            <a:off x="9509760" y="3108960"/>
            <a:ext cx="213055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9692640" y="3200400"/>
            <a:ext cx="1810512" cy="1188720"/>
          </a:xfrm>
          <a:prstGeom prst="rect">
            <a:avLst/>
          </a:prstGeom>
          <a:noFill/>
          <a:ln/>
        </p:spPr>
        <p:txBody>
          <a:bodyPr wrap="square" lIns="0" tIns="0" rIns="0" bIns="0" rtlCol="0" anchor="ctr"/>
          <a:lstStyle/>
          <a:p>
            <a:pPr indent="0" marL="0">
              <a:buNone/>
            </a:pPr>
            <a:r>
              <a:rPr lang="en-US" sz="2800" b="1" dirty="0">
                <a:solidFill>
                  <a:schemeClr val="accent1"/>
                </a:solidFill>
              </a:rPr>
              <a:t>S/1.65</a:t>
            </a:r>
            <a:endParaRPr lang="en-US" sz="1400" dirty="0"/>
          </a:p>
          <a:p>
            <a:pPr indent="0" marL="0">
              <a:buNone/>
            </a:pPr>
            <a:r>
              <a:rPr lang="en-US" sz="1200" dirty="0">
                <a:solidFill>
                  <a:schemeClr val="tx1"/>
                </a:solidFill>
              </a:rPr>
              <a:t>cuesta producir cada brownie</a:t>
            </a:r>
            <a:endParaRPr lang="en-US" sz="1400" dirty="0"/>
          </a:p>
        </p:txBody>
      </p:sp>
      <p:sp>
        <p:nvSpPr>
          <p:cNvPr id="10" name="Shape 6"/>
          <p:cNvSpPr/>
          <p:nvPr/>
        </p:nvSpPr>
        <p:spPr>
          <a:xfrm>
            <a:off x="9509760" y="4663440"/>
            <a:ext cx="213055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9692640" y="4754880"/>
            <a:ext cx="1810512" cy="1188720"/>
          </a:xfrm>
          <a:prstGeom prst="rect">
            <a:avLst/>
          </a:prstGeom>
          <a:noFill/>
          <a:ln/>
        </p:spPr>
        <p:txBody>
          <a:bodyPr wrap="square" lIns="0" tIns="0" rIns="0" bIns="0" rtlCol="0" anchor="ctr"/>
          <a:lstStyle/>
          <a:p>
            <a:pPr indent="0" marL="0">
              <a:buNone/>
            </a:pPr>
            <a:r>
              <a:rPr lang="en-US" sz="2800" b="1" dirty="0">
                <a:solidFill>
                  <a:schemeClr val="accent1"/>
                </a:solidFill>
              </a:rPr>
              <a:t>0</a:t>
            </a:r>
            <a:endParaRPr lang="en-US" sz="1400" dirty="0"/>
          </a:p>
          <a:p>
            <a:pPr indent="0" marL="0">
              <a:buNone/>
            </a:pPr>
            <a:r>
              <a:rPr lang="en-US" sz="1200" dirty="0">
                <a:solidFill>
                  <a:schemeClr val="tx1"/>
                </a:solidFill>
              </a:rPr>
              <a:t>plantas propias: pagamos por unidad hecha</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INVERSIÓN INICIAL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Todos los documentos para vender, pagados desde el inicio</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5852160" cy="914400"/>
        </p:xfrm>
        <a:graphic>
          <a:graphicData uri="http://schemas.openxmlformats.org/drawingml/2006/table">
            <a:tbl>
              <a:tblPr/>
              <a:tblGrid>
                <a:gridCol w="4754880"/>
                <a:gridCol w="1097280"/>
              </a:tblGrid>
              <a:tr h="365760">
                <a:tc>
                  <a:txBody>
                    <a:bodyPr/>
                    <a:lstStyle/>
                    <a:p>
                      <a:pPr algn="l" indent="0" marL="0">
                        <a:buNone/>
                      </a:pPr>
                      <a:r>
                        <a:rPr lang="en-US" sz="1300" b="1" dirty="0">
                          <a:solidFill>
                            <a:schemeClr val="bg1"/>
                          </a:solidFill>
                        </a:rPr>
                        <a:t>Documento o permiso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Costo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365760">
                <a:tc>
                  <a:txBody>
                    <a:bodyPr/>
                    <a:lstStyle/>
                    <a:p>
                      <a:pPr indent="0" marL="0">
                        <a:buNone/>
                      </a:pPr>
                      <a:r>
                        <a:rPr lang="en-US" sz="1300" dirty="0">
                          <a:solidFill>
                            <a:schemeClr val="tx1"/>
                          </a:solidFill>
                        </a:rPr>
                        <a:t>Constitución de la S.A.C. (notaría del CDE)</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RUC, REMYPE y libro de reclamaciones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Marca en INDECOPI, clase 30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S/401</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Revisión legal del contrato de maquila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S/400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Análisis para el registro sanitario (3 sabores)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S/1,800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Perfil nutricional y hierro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S/1,125</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Estudio de vida útil</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S/1,050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Etiqueta (rotulado y Ley 30021)</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S/650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Registro sanitario DIGESA (tasa)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Carnés de sanidad y póliza para stands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S/675</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400" b="1" dirty="0">
                          <a:solidFill>
                            <a:schemeClr val="tx1"/>
                          </a:solidFill>
                        </a:rPr>
                        <a:t>Total documentos y permisos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r" indent="0" marL="0">
                        <a:buNone/>
                      </a:pPr>
                      <a:r>
                        <a:rPr lang="en-US" sz="1400" b="1" dirty="0">
                          <a:solidFill>
                            <a:schemeClr val="accent1"/>
                          </a:solidFill>
                        </a:rPr>
                        <a:t>S/6,251</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bl>
          </a:graphicData>
        </a:graphic>
      </p:graphicFrame>
      <p:graphicFrame>
        <p:nvGraphicFramePr>
          <p:cNvPr id="5" name="Chart 0" descr=""/>
          <p:cNvGraphicFramePr/>
          <p:nvPr/>
        </p:nvGraphicFramePr>
        <p:xfrm>
          <a:off x="6583680" y="1417320"/>
          <a:ext cx="5212080" cy="37033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6766560" y="5212080"/>
            <a:ext cx="4873752" cy="914400"/>
          </a:xfrm>
          <a:prstGeom prst="roundRect">
            <a:avLst>
              <a:gd name="adj" fmla="val 12000"/>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6995160" y="5212080"/>
            <a:ext cx="4480560" cy="914400"/>
          </a:xfrm>
          <a:prstGeom prst="rect">
            <a:avLst/>
          </a:prstGeom>
          <a:noFill/>
          <a:ln/>
        </p:spPr>
        <p:txBody>
          <a:bodyPr wrap="square" lIns="0" tIns="0" rIns="0" bIns="0" rtlCol="0" anchor="ctr"/>
          <a:lstStyle/>
          <a:p>
            <a:pPr indent="0" marL="0">
              <a:buNone/>
            </a:pPr>
            <a:r>
              <a:rPr lang="en-US" sz="1600" b="1" dirty="0">
                <a:solidFill>
                  <a:schemeClr val="accent3"/>
                </a:solidFill>
              </a:rPr>
              <a:t>Socios S/25,000 · préstamo S/16,000</a:t>
            </a:r>
            <a:endParaRPr lang="en-US" sz="1400" dirty="0"/>
          </a:p>
          <a:p>
            <a:pPr indent="0" marL="0">
              <a:buNone/>
            </a:pPr>
            <a:r>
              <a:rPr lang="en-US" sz="1300" dirty="0">
                <a:solidFill>
                  <a:schemeClr val="bg1"/>
                </a:solidFill>
              </a:rPr>
              <a:t>24 cuotas de S/898 (TEA 35 %, por confirmar)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PUNTO DE EQUILIBRIO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Con 2,215 brownies al mes cubrimos todos los costos</a:t>
            </a:r>
            <a:endParaRPr lang="en-US" sz="3400" dirty="0"/>
          </a:p>
        </p:txBody>
      </p:sp>
      <p:graphicFrame>
        <p:nvGraphicFramePr>
          <p:cNvPr id="4" name="Chart 0" descr=""/>
          <p:cNvGraphicFramePr/>
          <p:nvPr/>
        </p:nvGraphicFramePr>
        <p:xfrm>
          <a:off x="365760" y="1463040"/>
          <a:ext cx="43891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937760" y="1463040"/>
          <a:ext cx="6858000" cy="4663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RESULTADO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Solo noviembre y febrero cierran en rojo</a:t>
            </a:r>
            <a:endParaRPr lang="en-US" sz="3400" dirty="0"/>
          </a:p>
        </p:txBody>
      </p:sp>
      <p:graphicFrame>
        <p:nvGraphicFramePr>
          <p:cNvPr id="4" name="Chart 0" descr=""/>
          <p:cNvGraphicFramePr/>
          <p:nvPr/>
        </p:nvGraphicFramePr>
        <p:xfrm>
          <a:off x="365760" y="1463040"/>
          <a:ext cx="7772400" cy="4526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6016752"/>
            <a:ext cx="7589520" cy="274320"/>
          </a:xfrm>
          <a:prstGeom prst="rect">
            <a:avLst/>
          </a:prstGeom>
          <a:noFill/>
          <a:ln/>
        </p:spPr>
        <p:txBody>
          <a:bodyPr wrap="square" lIns="0" tIns="0" rIns="0" bIns="0" rtlCol="0" anchor="t"/>
          <a:lstStyle/>
          <a:p>
            <a:pPr indent="0" marL="0">
              <a:buNone/>
            </a:pPr>
            <a:r>
              <a:rPr lang="en-US" sz="1100" i="1" dirty="0">
                <a:solidFill>
                  <a:schemeClr val="accent2"/>
                </a:solidFill>
              </a:rPr>
              <a:t>Antes de sueldos de los socios, intereses e impuesto a la renta. La caja nunca baja de S/5,009, ya con la cuota del préstamo.</a:t>
            </a:r>
            <a:endParaRPr lang="en-US" sz="1100" dirty="0"/>
          </a:p>
        </p:txBody>
      </p:sp>
      <p:sp>
        <p:nvSpPr>
          <p:cNvPr id="6" name="Shape 3"/>
          <p:cNvSpPr/>
          <p:nvPr/>
        </p:nvSpPr>
        <p:spPr>
          <a:xfrm>
            <a:off x="8321040" y="1554480"/>
            <a:ext cx="3319272"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4"/>
          <p:cNvSpPr txBox="1"/>
          <p:nvPr/>
        </p:nvSpPr>
        <p:spPr>
          <a:xfrm>
            <a:off x="8549640" y="1554480"/>
            <a:ext cx="2953512" cy="1005840"/>
          </a:xfrm>
          <a:prstGeom prst="rect">
            <a:avLst/>
          </a:prstGeom>
          <a:noFill/>
          <a:ln/>
        </p:spPr>
        <p:txBody>
          <a:bodyPr wrap="square" lIns="0" tIns="0" rIns="0" bIns="0" rtlCol="0" anchor="ctr"/>
          <a:lstStyle/>
          <a:p>
            <a:pPr indent="0" marL="0">
              <a:buNone/>
            </a:pPr>
            <a:r>
              <a:rPr lang="en-US" sz="2400" b="1" dirty="0">
                <a:solidFill>
                  <a:schemeClr val="accent1"/>
                </a:solidFill>
              </a:rPr>
              <a:t>S/198,748</a:t>
            </a:r>
            <a:endParaRPr lang="en-US" sz="1400" dirty="0"/>
          </a:p>
          <a:p>
            <a:pPr indent="0" marL="0">
              <a:buNone/>
            </a:pPr>
            <a:r>
              <a:rPr lang="en-US" sz="1300" dirty="0">
                <a:solidFill>
                  <a:schemeClr val="accent2"/>
                </a:solidFill>
              </a:rPr>
              <a:t>ventas con IGV</a:t>
            </a:r>
            <a:endParaRPr lang="en-US" sz="1400" dirty="0"/>
          </a:p>
        </p:txBody>
      </p:sp>
      <p:sp>
        <p:nvSpPr>
          <p:cNvPr id="8" name="Shape 5"/>
          <p:cNvSpPr/>
          <p:nvPr/>
        </p:nvSpPr>
        <p:spPr>
          <a:xfrm>
            <a:off x="8321040" y="2715768"/>
            <a:ext cx="3319272" cy="1005840"/>
          </a:xfrm>
          <a:prstGeom prst="roundRect">
            <a:avLst>
              <a:gd name="adj" fmla="val 1090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8549640" y="2715768"/>
            <a:ext cx="2953512" cy="1005840"/>
          </a:xfrm>
          <a:prstGeom prst="rect">
            <a:avLst/>
          </a:prstGeom>
          <a:noFill/>
          <a:ln/>
        </p:spPr>
        <p:txBody>
          <a:bodyPr wrap="square" lIns="0" tIns="0" rIns="0" bIns="0" rtlCol="0" anchor="ctr"/>
          <a:lstStyle/>
          <a:p>
            <a:pPr indent="0" marL="0">
              <a:buNone/>
            </a:pPr>
            <a:r>
              <a:rPr lang="en-US" sz="2400" b="1" dirty="0">
                <a:solidFill>
                  <a:schemeClr val="bg1"/>
                </a:solidFill>
              </a:rPr>
              <a:t>S/16,816</a:t>
            </a:r>
            <a:endParaRPr lang="en-US" sz="1400" dirty="0"/>
          </a:p>
          <a:p>
            <a:pPr indent="0" marL="0">
              <a:buNone/>
            </a:pPr>
            <a:r>
              <a:rPr lang="en-US" sz="1300" dirty="0">
                <a:solidFill>
                  <a:schemeClr val="bg1"/>
                </a:solidFill>
              </a:rPr>
              <a:t>resultado operativo (10.0 %)</a:t>
            </a:r>
            <a:endParaRPr lang="en-US" sz="1400" dirty="0"/>
          </a:p>
        </p:txBody>
      </p:sp>
      <p:sp>
        <p:nvSpPr>
          <p:cNvPr id="10" name="Shape 7"/>
          <p:cNvSpPr/>
          <p:nvPr/>
        </p:nvSpPr>
        <p:spPr>
          <a:xfrm>
            <a:off x="8321040" y="3877056"/>
            <a:ext cx="3319272"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8"/>
          <p:cNvSpPr txBox="1"/>
          <p:nvPr/>
        </p:nvSpPr>
        <p:spPr>
          <a:xfrm>
            <a:off x="8549640" y="3877056"/>
            <a:ext cx="2953512" cy="1005840"/>
          </a:xfrm>
          <a:prstGeom prst="rect">
            <a:avLst/>
          </a:prstGeom>
          <a:noFill/>
          <a:ln/>
        </p:spPr>
        <p:txBody>
          <a:bodyPr wrap="square" lIns="0" tIns="0" rIns="0" bIns="0" rtlCol="0" anchor="ctr"/>
          <a:lstStyle/>
          <a:p>
            <a:pPr indent="0" marL="0">
              <a:buNone/>
            </a:pPr>
            <a:r>
              <a:rPr lang="en-US" sz="2400" b="1" dirty="0">
                <a:solidFill>
                  <a:schemeClr val="accent1"/>
                </a:solidFill>
              </a:rPr>
              <a:t>369 packs</a:t>
            </a:r>
            <a:endParaRPr lang="en-US" sz="1400" dirty="0"/>
          </a:p>
          <a:p>
            <a:pPr indent="0" marL="0">
              <a:buNone/>
            </a:pPr>
            <a:r>
              <a:rPr lang="en-US" sz="1300" dirty="0">
                <a:solidFill>
                  <a:schemeClr val="accent2"/>
                </a:solidFill>
              </a:rPr>
              <a:t>de 6 al mes para no perder</a:t>
            </a:r>
            <a:endParaRPr lang="en-US" sz="1400" dirty="0"/>
          </a:p>
        </p:txBody>
      </p:sp>
      <p:sp>
        <p:nvSpPr>
          <p:cNvPr id="12" name="Shape 9"/>
          <p:cNvSpPr/>
          <p:nvPr/>
        </p:nvSpPr>
        <p:spPr>
          <a:xfrm>
            <a:off x="8321040" y="5038344"/>
            <a:ext cx="3319272"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0"/>
          <p:cNvSpPr txBox="1"/>
          <p:nvPr/>
        </p:nvSpPr>
        <p:spPr>
          <a:xfrm>
            <a:off x="8549640" y="5038344"/>
            <a:ext cx="2953512" cy="1005840"/>
          </a:xfrm>
          <a:prstGeom prst="rect">
            <a:avLst/>
          </a:prstGeom>
          <a:noFill/>
          <a:ln/>
        </p:spPr>
        <p:txBody>
          <a:bodyPr wrap="square" lIns="0" tIns="0" rIns="0" bIns="0" rtlCol="0" anchor="ctr"/>
          <a:lstStyle/>
          <a:p>
            <a:pPr indent="0" marL="0">
              <a:buNone/>
            </a:pPr>
            <a:r>
              <a:rPr lang="en-US" sz="2400" b="1" dirty="0">
                <a:solidFill>
                  <a:schemeClr val="accent1"/>
                </a:solidFill>
              </a:rPr>
              <a:t>S/40,644</a:t>
            </a:r>
            <a:endParaRPr lang="en-US" sz="1400" dirty="0"/>
          </a:p>
          <a:p>
            <a:pPr indent="0" marL="0">
              <a:buNone/>
            </a:pPr>
            <a:r>
              <a:rPr lang="en-US" sz="1300" dirty="0">
                <a:solidFill>
                  <a:schemeClr val="accent2"/>
                </a:solidFill>
              </a:rPr>
              <a:t>de inversión, con todos los documentos</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MODELO CANVAS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modelo de negocio de AndiBite en una página</a:t>
            </a:r>
            <a:endParaRPr lang="en-US" sz="3400" dirty="0"/>
          </a:p>
        </p:txBody>
      </p:sp>
      <p:sp>
        <p:nvSpPr>
          <p:cNvPr id="4" name="Shape 2"/>
          <p:cNvSpPr/>
          <p:nvPr/>
        </p:nvSpPr>
        <p:spPr>
          <a:xfrm>
            <a:off x="548640" y="1417320"/>
            <a:ext cx="2159813" cy="3474720"/>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5" name="Image 0" descr="preencoded.png">    </p:cNvPr>
          <p:cNvPicPr>
            <a:picLocks noChangeAspect="1"/>
          </p:cNvPicPr>
          <p:nvPr/>
        </p:nvPicPr>
        <p:blipFill>
          <a:blip r:embed="rId1"/>
          <a:stretch>
            <a:fillRect/>
          </a:stretch>
        </p:blipFill>
        <p:spPr>
          <a:xfrm>
            <a:off x="658368" y="1527048"/>
            <a:ext cx="256032" cy="256032"/>
          </a:xfrm>
          <a:prstGeom prst="rect">
            <a:avLst/>
          </a:prstGeom>
        </p:spPr>
      </p:pic>
      <p:sp>
        <p:nvSpPr>
          <p:cNvPr id="6" name="Text 3"/>
          <p:cNvSpPr txBox="1"/>
          <p:nvPr/>
        </p:nvSpPr>
        <p:spPr>
          <a:xfrm>
            <a:off x="987552"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SOCIOS CLAVE</a:t>
            </a:r>
            <a:endParaRPr lang="en-US" sz="1100" dirty="0"/>
          </a:p>
        </p:txBody>
      </p:sp>
      <p:sp>
        <p:nvSpPr>
          <p:cNvPr id="7" name="Text 4"/>
          <p:cNvSpPr txBox="1"/>
          <p:nvPr/>
        </p:nvSpPr>
        <p:spPr>
          <a:xfrm>
            <a:off x="658368" y="1874520"/>
            <a:ext cx="1958645" cy="2944368"/>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Planta maquiladora con HACCP</a:t>
            </a:r>
            <a:endParaRPr lang="en-US" sz="1300" dirty="0"/>
          </a:p>
          <a:p>
            <a:pPr marL="127000" indent="-127000">
              <a:spcAft>
                <a:spcPts val="400"/>
              </a:spcAft>
              <a:buSzPct val="100000"/>
              <a:buChar char="•"/>
            </a:pPr>
            <a:r>
              <a:rPr lang="en-US" sz="1300" dirty="0">
                <a:solidFill>
                  <a:schemeClr val="tx1"/>
                </a:solidFill>
              </a:rPr>
              <a:t>Malls, Wong y Vivanda</a:t>
            </a:r>
            <a:endParaRPr lang="en-US" sz="1300" dirty="0"/>
          </a:p>
          <a:p>
            <a:pPr marL="127000" indent="-127000">
              <a:spcAft>
                <a:spcPts val="400"/>
              </a:spcAft>
              <a:buSzPct val="100000"/>
              <a:buChar char="•"/>
            </a:pPr>
            <a:r>
              <a:rPr lang="en-US" sz="1300" dirty="0">
                <a:solidFill>
                  <a:schemeClr val="tx1"/>
                </a:solidFill>
              </a:rPr>
              <a:t>Laboratorio INACAL</a:t>
            </a:r>
            <a:endParaRPr lang="en-US" sz="1300" dirty="0"/>
          </a:p>
          <a:p>
            <a:pPr marL="127000" indent="-127000">
              <a:spcAft>
                <a:spcPts val="400"/>
              </a:spcAft>
              <a:buSzPct val="100000"/>
              <a:buChar char="•"/>
            </a:pPr>
            <a:r>
              <a:rPr lang="en-US" sz="1300" dirty="0">
                <a:solidFill>
                  <a:schemeClr val="tx1"/>
                </a:solidFill>
              </a:rPr>
              <a:t>Sangrecita con SENASA</a:t>
            </a:r>
            <a:endParaRPr lang="en-US" sz="1300" dirty="0"/>
          </a:p>
          <a:p>
            <a:pPr marL="127000" indent="-127000">
              <a:spcAft>
                <a:spcPts val="400"/>
              </a:spcAft>
              <a:buSzPct val="100000"/>
              <a:buChar char="•"/>
            </a:pPr>
            <a:r>
              <a:rPr lang="en-US" sz="1300" dirty="0">
                <a:solidFill>
                  <a:schemeClr val="tx1"/>
                </a:solidFill>
              </a:rPr>
              <a:t>Ferias, colegios y naturistas</a:t>
            </a:r>
            <a:endParaRPr lang="en-US" sz="1300" dirty="0"/>
          </a:p>
        </p:txBody>
      </p:sp>
      <p:sp>
        <p:nvSpPr>
          <p:cNvPr id="8" name="Shape 5"/>
          <p:cNvSpPr/>
          <p:nvPr/>
        </p:nvSpPr>
        <p:spPr>
          <a:xfrm>
            <a:off x="2781605" y="1417320"/>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9" name="Image 1" descr="preencoded.png">    </p:cNvPr>
          <p:cNvPicPr>
            <a:picLocks noChangeAspect="1"/>
          </p:cNvPicPr>
          <p:nvPr/>
        </p:nvPicPr>
        <p:blipFill>
          <a:blip r:embed="rId2"/>
          <a:stretch>
            <a:fillRect/>
          </a:stretch>
        </p:blipFill>
        <p:spPr>
          <a:xfrm>
            <a:off x="2891333" y="1527048"/>
            <a:ext cx="256032" cy="256032"/>
          </a:xfrm>
          <a:prstGeom prst="rect">
            <a:avLst/>
          </a:prstGeom>
        </p:spPr>
      </p:pic>
      <p:sp>
        <p:nvSpPr>
          <p:cNvPr id="10" name="Text 6"/>
          <p:cNvSpPr txBox="1"/>
          <p:nvPr/>
        </p:nvSpPr>
        <p:spPr>
          <a:xfrm>
            <a:off x="3220517"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ACTIVIDADES CLAVE</a:t>
            </a:r>
            <a:endParaRPr lang="en-US" sz="1100" dirty="0"/>
          </a:p>
        </p:txBody>
      </p:sp>
      <p:sp>
        <p:nvSpPr>
          <p:cNvPr id="11" name="Text 7"/>
          <p:cNvSpPr txBox="1"/>
          <p:nvPr/>
        </p:nvSpPr>
        <p:spPr>
          <a:xfrm>
            <a:off x="2891333" y="1874520"/>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I+D y prueba con niños</a:t>
            </a:r>
            <a:endParaRPr lang="en-US" sz="1300" dirty="0"/>
          </a:p>
          <a:p>
            <a:pPr marL="127000" indent="-127000">
              <a:spcAft>
                <a:spcPts val="400"/>
              </a:spcAft>
              <a:buSzPct val="100000"/>
              <a:buChar char="•"/>
            </a:pPr>
            <a:r>
              <a:rPr lang="en-US" sz="1300" dirty="0">
                <a:solidFill>
                  <a:schemeClr val="tx1"/>
                </a:solidFill>
              </a:rPr>
              <a:t>Maquila y calidad por lote</a:t>
            </a:r>
            <a:endParaRPr lang="en-US" sz="1300" dirty="0"/>
          </a:p>
          <a:p>
            <a:pPr marL="127000" indent="-127000">
              <a:spcAft>
                <a:spcPts val="400"/>
              </a:spcAft>
              <a:buSzPct val="100000"/>
              <a:buChar char="•"/>
            </a:pPr>
            <a:r>
              <a:rPr lang="en-US" sz="1300" dirty="0">
                <a:solidFill>
                  <a:schemeClr val="tx1"/>
                </a:solidFill>
              </a:rPr>
              <a:t>Venta en stands y ferias</a:t>
            </a:r>
            <a:endParaRPr lang="en-US" sz="1300" dirty="0"/>
          </a:p>
          <a:p>
            <a:pPr marL="127000" indent="-127000">
              <a:spcAft>
                <a:spcPts val="400"/>
              </a:spcAft>
              <a:buSzPct val="100000"/>
              <a:buChar char="•"/>
            </a:pPr>
            <a:r>
              <a:rPr lang="en-US" sz="1300" dirty="0">
                <a:solidFill>
                  <a:schemeClr val="tx1"/>
                </a:solidFill>
              </a:rPr>
              <a:t>Recompra por WhatsApp</a:t>
            </a:r>
            <a:endParaRPr lang="en-US" sz="1300" dirty="0"/>
          </a:p>
        </p:txBody>
      </p:sp>
      <p:sp>
        <p:nvSpPr>
          <p:cNvPr id="12" name="Shape 8"/>
          <p:cNvSpPr/>
          <p:nvPr/>
        </p:nvSpPr>
        <p:spPr>
          <a:xfrm>
            <a:off x="2781605" y="3191256"/>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13" name="Image 2" descr="preencoded.png">    </p:cNvPr>
          <p:cNvPicPr>
            <a:picLocks noChangeAspect="1"/>
          </p:cNvPicPr>
          <p:nvPr/>
        </p:nvPicPr>
        <p:blipFill>
          <a:blip r:embed="rId3"/>
          <a:stretch>
            <a:fillRect/>
          </a:stretch>
        </p:blipFill>
        <p:spPr>
          <a:xfrm>
            <a:off x="2891333" y="3300984"/>
            <a:ext cx="256032" cy="256032"/>
          </a:xfrm>
          <a:prstGeom prst="rect">
            <a:avLst/>
          </a:prstGeom>
        </p:spPr>
      </p:pic>
      <p:sp>
        <p:nvSpPr>
          <p:cNvPr id="14" name="Text 9"/>
          <p:cNvSpPr txBox="1"/>
          <p:nvPr/>
        </p:nvSpPr>
        <p:spPr>
          <a:xfrm>
            <a:off x="3220517" y="3282696"/>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RECURSOS CLAVE</a:t>
            </a:r>
            <a:endParaRPr lang="en-US" sz="1100" dirty="0"/>
          </a:p>
        </p:txBody>
      </p:sp>
      <p:sp>
        <p:nvSpPr>
          <p:cNvPr id="15" name="Text 10"/>
          <p:cNvSpPr txBox="1"/>
          <p:nvPr/>
        </p:nvSpPr>
        <p:spPr>
          <a:xfrm>
            <a:off x="2891333" y="3648456"/>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Fórmula de 3 sabores</a:t>
            </a:r>
            <a:endParaRPr lang="en-US" sz="1300" dirty="0"/>
          </a:p>
          <a:p>
            <a:pPr marL="127000" indent="-127000">
              <a:spcAft>
                <a:spcPts val="400"/>
              </a:spcAft>
              <a:buSzPct val="100000"/>
              <a:buChar char="•"/>
            </a:pPr>
            <a:r>
              <a:rPr lang="en-US" sz="1300" dirty="0">
                <a:solidFill>
                  <a:schemeClr val="tx1"/>
                </a:solidFill>
              </a:rPr>
              <a:t>Marca y registro sanitario</a:t>
            </a:r>
            <a:endParaRPr lang="en-US" sz="1300" dirty="0"/>
          </a:p>
          <a:p>
            <a:pPr marL="127000" indent="-127000">
              <a:spcAft>
                <a:spcPts val="400"/>
              </a:spcAft>
              <a:buSzPct val="100000"/>
              <a:buChar char="•"/>
            </a:pPr>
            <a:r>
              <a:rPr lang="en-US" sz="1300" dirty="0">
                <a:solidFill>
                  <a:schemeClr val="tx1"/>
                </a:solidFill>
              </a:rPr>
              <a:t>2 carritos y 5 socios</a:t>
            </a:r>
            <a:endParaRPr lang="en-US" sz="1300" dirty="0"/>
          </a:p>
          <a:p>
            <a:pPr marL="127000" indent="-127000">
              <a:spcAft>
                <a:spcPts val="400"/>
              </a:spcAft>
              <a:buSzPct val="100000"/>
              <a:buChar char="•"/>
            </a:pPr>
            <a:r>
              <a:rPr lang="en-US" sz="1300" dirty="0">
                <a:solidFill>
                  <a:schemeClr val="tx1"/>
                </a:solidFill>
              </a:rPr>
              <a:t>S/40,644 de inversión</a:t>
            </a:r>
            <a:endParaRPr lang="en-US" sz="1300" dirty="0"/>
          </a:p>
        </p:txBody>
      </p:sp>
      <p:sp>
        <p:nvSpPr>
          <p:cNvPr id="16" name="Shape 11"/>
          <p:cNvSpPr/>
          <p:nvPr/>
        </p:nvSpPr>
        <p:spPr>
          <a:xfrm>
            <a:off x="5014570" y="1417320"/>
            <a:ext cx="2159813" cy="3474720"/>
          </a:xfrm>
          <a:prstGeom prst="roundRect">
            <a:avLst>
              <a:gd name="adj" fmla="val 3387"/>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pic>
        <p:nvPicPr>
          <p:cNvPr id="17" name="Image 3" descr="preencoded.png">    </p:cNvPr>
          <p:cNvPicPr>
            <a:picLocks noChangeAspect="1"/>
          </p:cNvPicPr>
          <p:nvPr/>
        </p:nvPicPr>
        <p:blipFill>
          <a:blip r:embed="rId4"/>
          <a:stretch>
            <a:fillRect/>
          </a:stretch>
        </p:blipFill>
        <p:spPr>
          <a:xfrm>
            <a:off x="5124298" y="1527048"/>
            <a:ext cx="256032" cy="256032"/>
          </a:xfrm>
          <a:prstGeom prst="rect">
            <a:avLst/>
          </a:prstGeom>
        </p:spPr>
      </p:pic>
      <p:sp>
        <p:nvSpPr>
          <p:cNvPr id="18" name="Text 12"/>
          <p:cNvSpPr txBox="1"/>
          <p:nvPr/>
        </p:nvSpPr>
        <p:spPr>
          <a:xfrm>
            <a:off x="5453482"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bg1"/>
                </a:solidFill>
              </a:rPr>
              <a:t>PROPUESTA DE VALOR</a:t>
            </a:r>
            <a:endParaRPr lang="en-US" sz="1100" dirty="0"/>
          </a:p>
        </p:txBody>
      </p:sp>
      <p:sp>
        <p:nvSpPr>
          <p:cNvPr id="19" name="Text 13"/>
          <p:cNvSpPr txBox="1"/>
          <p:nvPr/>
        </p:nvSpPr>
        <p:spPr>
          <a:xfrm>
            <a:off x="5124298" y="1874520"/>
            <a:ext cx="1958645" cy="2944368"/>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bg1"/>
                </a:solidFill>
              </a:rPr>
              <a:t>Mini brownie de 20 g con sangrecita</a:t>
            </a:r>
            <a:endParaRPr lang="en-US" sz="1300" dirty="0"/>
          </a:p>
          <a:p>
            <a:pPr marL="127000" indent="-127000">
              <a:spcAft>
                <a:spcPts val="400"/>
              </a:spcAft>
              <a:buSzPct val="100000"/>
              <a:buChar char="•"/>
            </a:pPr>
            <a:r>
              <a:rPr lang="en-US" sz="1300" dirty="0">
                <a:solidFill>
                  <a:schemeClr val="bg1"/>
                </a:solidFill>
              </a:rPr>
              <a:t>Hierro medido por lote</a:t>
            </a:r>
            <a:endParaRPr lang="en-US" sz="1300" dirty="0"/>
          </a:p>
          <a:p>
            <a:pPr marL="127000" indent="-127000">
              <a:spcAft>
                <a:spcPts val="400"/>
              </a:spcAft>
              <a:buSzPct val="100000"/>
              <a:buChar char="•"/>
            </a:pPr>
            <a:r>
              <a:rPr lang="en-US" sz="1300" dirty="0">
                <a:solidFill>
                  <a:schemeClr val="bg1"/>
                </a:solidFill>
              </a:rPr>
              <a:t>Sin octógono</a:t>
            </a:r>
            <a:endParaRPr lang="en-US" sz="1300" dirty="0"/>
          </a:p>
          <a:p>
            <a:pPr marL="127000" indent="-127000">
              <a:spcAft>
                <a:spcPts val="400"/>
              </a:spcAft>
              <a:buSzPct val="100000"/>
              <a:buChar char="•"/>
            </a:pPr>
            <a:r>
              <a:rPr lang="en-US" sz="1300" dirty="0">
                <a:solidFill>
                  <a:schemeClr val="bg1"/>
                </a:solidFill>
              </a:rPr>
              <a:t>3 sabores en un pack</a:t>
            </a:r>
            <a:endParaRPr lang="en-US" sz="1300" dirty="0"/>
          </a:p>
          <a:p>
            <a:pPr marL="127000" indent="-127000">
              <a:spcAft>
                <a:spcPts val="400"/>
              </a:spcAft>
              <a:buSzPct val="100000"/>
              <a:buChar char="•"/>
            </a:pPr>
            <a:r>
              <a:rPr lang="en-US" sz="1300" dirty="0">
                <a:solidFill>
                  <a:schemeClr val="bg1"/>
                </a:solidFill>
              </a:rPr>
              <a:t>Se prueba en el stand</a:t>
            </a:r>
            <a:endParaRPr lang="en-US" sz="1300" dirty="0"/>
          </a:p>
        </p:txBody>
      </p:sp>
      <p:sp>
        <p:nvSpPr>
          <p:cNvPr id="20" name="Shape 14"/>
          <p:cNvSpPr/>
          <p:nvPr/>
        </p:nvSpPr>
        <p:spPr>
          <a:xfrm>
            <a:off x="7247534" y="1417320"/>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1" name="Image 4" descr="preencoded.png">    </p:cNvPr>
          <p:cNvPicPr>
            <a:picLocks noChangeAspect="1"/>
          </p:cNvPicPr>
          <p:nvPr/>
        </p:nvPicPr>
        <p:blipFill>
          <a:blip r:embed="rId5"/>
          <a:stretch>
            <a:fillRect/>
          </a:stretch>
        </p:blipFill>
        <p:spPr>
          <a:xfrm>
            <a:off x="7357262" y="1527048"/>
            <a:ext cx="256032" cy="256032"/>
          </a:xfrm>
          <a:prstGeom prst="rect">
            <a:avLst/>
          </a:prstGeom>
        </p:spPr>
      </p:pic>
      <p:sp>
        <p:nvSpPr>
          <p:cNvPr id="22" name="Text 15"/>
          <p:cNvSpPr txBox="1"/>
          <p:nvPr/>
        </p:nvSpPr>
        <p:spPr>
          <a:xfrm>
            <a:off x="7686446"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RELACIÓN CON CLIENTES</a:t>
            </a:r>
            <a:endParaRPr lang="en-US" sz="1100" dirty="0"/>
          </a:p>
        </p:txBody>
      </p:sp>
      <p:sp>
        <p:nvSpPr>
          <p:cNvPr id="23" name="Text 16"/>
          <p:cNvSpPr txBox="1"/>
          <p:nvPr/>
        </p:nvSpPr>
        <p:spPr>
          <a:xfrm>
            <a:off x="7357262" y="1874520"/>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Degustación en el stand</a:t>
            </a:r>
            <a:endParaRPr lang="en-US" sz="1300" dirty="0"/>
          </a:p>
          <a:p>
            <a:pPr marL="127000" indent="-127000">
              <a:spcAft>
                <a:spcPts val="400"/>
              </a:spcAft>
              <a:buSzPct val="100000"/>
              <a:buChar char="•"/>
            </a:pPr>
            <a:r>
              <a:rPr lang="en-US" sz="1300" dirty="0">
                <a:solidFill>
                  <a:schemeClr val="tx1"/>
                </a:solidFill>
              </a:rPr>
              <a:t>Asistencia por WhatsApp</a:t>
            </a:r>
            <a:endParaRPr lang="en-US" sz="1300" dirty="0"/>
          </a:p>
          <a:p>
            <a:pPr marL="127000" indent="-127000">
              <a:spcAft>
                <a:spcPts val="400"/>
              </a:spcAft>
              <a:buSzPct val="100000"/>
              <a:buChar char="•"/>
            </a:pPr>
            <a:r>
              <a:rPr lang="en-US" sz="1300" dirty="0">
                <a:solidFill>
                  <a:schemeClr val="tx1"/>
                </a:solidFill>
              </a:rPr>
              <a:t>Recordatorio de recompra</a:t>
            </a:r>
            <a:endParaRPr lang="en-US" sz="1300" dirty="0"/>
          </a:p>
          <a:p>
            <a:pPr marL="127000" indent="-127000">
              <a:spcAft>
                <a:spcPts val="400"/>
              </a:spcAft>
              <a:buSzPct val="100000"/>
              <a:buChar char="•"/>
            </a:pPr>
            <a:r>
              <a:rPr lang="en-US" sz="1300" dirty="0">
                <a:solidFill>
                  <a:schemeClr val="tx1"/>
                </a:solidFill>
              </a:rPr>
              <a:t>Mamá embajadora</a:t>
            </a:r>
            <a:endParaRPr lang="en-US" sz="1300" dirty="0"/>
          </a:p>
        </p:txBody>
      </p:sp>
      <p:sp>
        <p:nvSpPr>
          <p:cNvPr id="24" name="Shape 17"/>
          <p:cNvSpPr/>
          <p:nvPr/>
        </p:nvSpPr>
        <p:spPr>
          <a:xfrm>
            <a:off x="7247534" y="3191256"/>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5" name="Image 5" descr="preencoded.png">    </p:cNvPr>
          <p:cNvPicPr>
            <a:picLocks noChangeAspect="1"/>
          </p:cNvPicPr>
          <p:nvPr/>
        </p:nvPicPr>
        <p:blipFill>
          <a:blip r:embed="rId6"/>
          <a:stretch>
            <a:fillRect/>
          </a:stretch>
        </p:blipFill>
        <p:spPr>
          <a:xfrm>
            <a:off x="7357262" y="3300984"/>
            <a:ext cx="256032" cy="256032"/>
          </a:xfrm>
          <a:prstGeom prst="rect">
            <a:avLst/>
          </a:prstGeom>
        </p:spPr>
      </p:pic>
      <p:sp>
        <p:nvSpPr>
          <p:cNvPr id="26" name="Text 18"/>
          <p:cNvSpPr txBox="1"/>
          <p:nvPr/>
        </p:nvSpPr>
        <p:spPr>
          <a:xfrm>
            <a:off x="7686446" y="3282696"/>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CANALES</a:t>
            </a:r>
            <a:endParaRPr lang="en-US" sz="1100" dirty="0"/>
          </a:p>
        </p:txBody>
      </p:sp>
      <p:sp>
        <p:nvSpPr>
          <p:cNvPr id="27" name="Text 19"/>
          <p:cNvSpPr txBox="1"/>
          <p:nvPr/>
        </p:nvSpPr>
        <p:spPr>
          <a:xfrm>
            <a:off x="7357262" y="3648456"/>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Stands y carritos 41 %</a:t>
            </a:r>
            <a:endParaRPr lang="en-US" sz="1300" dirty="0"/>
          </a:p>
          <a:p>
            <a:pPr marL="127000" indent="-127000">
              <a:spcAft>
                <a:spcPts val="400"/>
              </a:spcAft>
              <a:buSzPct val="100000"/>
              <a:buChar char="•"/>
            </a:pPr>
            <a:r>
              <a:rPr lang="en-US" sz="1300" dirty="0">
                <a:solidFill>
                  <a:schemeClr val="tx1"/>
                </a:solidFill>
              </a:rPr>
              <a:t>WhatsApp 19 %</a:t>
            </a:r>
            <a:endParaRPr lang="en-US" sz="1300" dirty="0"/>
          </a:p>
          <a:p>
            <a:pPr marL="127000" indent="-127000">
              <a:spcAft>
                <a:spcPts val="400"/>
              </a:spcAft>
              <a:buSzPct val="100000"/>
              <a:buChar char="•"/>
            </a:pPr>
            <a:r>
              <a:rPr lang="en-US" sz="1300" dirty="0">
                <a:solidFill>
                  <a:schemeClr val="tx1"/>
                </a:solidFill>
              </a:rPr>
              <a:t>Ferias 17 %</a:t>
            </a:r>
            <a:endParaRPr lang="en-US" sz="1300" dirty="0"/>
          </a:p>
          <a:p>
            <a:pPr marL="127000" indent="-127000">
              <a:spcAft>
                <a:spcPts val="400"/>
              </a:spcAft>
              <a:buSzPct val="100000"/>
              <a:buChar char="•"/>
            </a:pPr>
            <a:r>
              <a:rPr lang="en-US" sz="1300" dirty="0">
                <a:solidFill>
                  <a:schemeClr val="tx1"/>
                </a:solidFill>
              </a:rPr>
              <a:t>Colegios y naturistas 23 %</a:t>
            </a:r>
            <a:endParaRPr lang="en-US" sz="1300" dirty="0"/>
          </a:p>
        </p:txBody>
      </p:sp>
      <p:sp>
        <p:nvSpPr>
          <p:cNvPr id="28" name="Shape 20"/>
          <p:cNvSpPr/>
          <p:nvPr/>
        </p:nvSpPr>
        <p:spPr>
          <a:xfrm>
            <a:off x="9480499" y="1417320"/>
            <a:ext cx="2159813" cy="3474720"/>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9" name="Image 6" descr="preencoded.png">    </p:cNvPr>
          <p:cNvPicPr>
            <a:picLocks noChangeAspect="1"/>
          </p:cNvPicPr>
          <p:nvPr/>
        </p:nvPicPr>
        <p:blipFill>
          <a:blip r:embed="rId7"/>
          <a:stretch>
            <a:fillRect/>
          </a:stretch>
        </p:blipFill>
        <p:spPr>
          <a:xfrm>
            <a:off x="9590227" y="1527048"/>
            <a:ext cx="256032" cy="256032"/>
          </a:xfrm>
          <a:prstGeom prst="rect">
            <a:avLst/>
          </a:prstGeom>
        </p:spPr>
      </p:pic>
      <p:sp>
        <p:nvSpPr>
          <p:cNvPr id="30" name="Text 21"/>
          <p:cNvSpPr txBox="1"/>
          <p:nvPr/>
        </p:nvSpPr>
        <p:spPr>
          <a:xfrm>
            <a:off x="9919411"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SEGMENTOS</a:t>
            </a:r>
            <a:endParaRPr lang="en-US" sz="1100" dirty="0"/>
          </a:p>
        </p:txBody>
      </p:sp>
      <p:sp>
        <p:nvSpPr>
          <p:cNvPr id="31" name="Text 22"/>
          <p:cNvSpPr txBox="1"/>
          <p:nvPr/>
        </p:nvSpPr>
        <p:spPr>
          <a:xfrm>
            <a:off x="9590227" y="1874520"/>
            <a:ext cx="1958645" cy="2944368"/>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Padres A/B de 32 a 45 años</a:t>
            </a:r>
            <a:endParaRPr lang="en-US" sz="1300" dirty="0"/>
          </a:p>
          <a:p>
            <a:pPr marL="127000" indent="-127000">
              <a:spcAft>
                <a:spcPts val="400"/>
              </a:spcAft>
              <a:buSzPct val="100000"/>
              <a:buChar char="•"/>
            </a:pPr>
            <a:r>
              <a:rPr lang="en-US" sz="1300" dirty="0">
                <a:solidFill>
                  <a:schemeClr val="tx1"/>
                </a:solidFill>
              </a:rPr>
              <a:t>Hijos de 4 a 11 en colegio privado</a:t>
            </a:r>
            <a:endParaRPr lang="en-US" sz="1300" dirty="0"/>
          </a:p>
          <a:p>
            <a:pPr marL="127000" indent="-127000">
              <a:spcAft>
                <a:spcPts val="400"/>
              </a:spcAft>
              <a:buSzPct val="100000"/>
              <a:buChar char="•"/>
            </a:pPr>
            <a:r>
              <a:rPr lang="en-US" sz="1300" dirty="0">
                <a:solidFill>
                  <a:schemeClr val="tx1"/>
                </a:solidFill>
              </a:rPr>
              <a:t>46,000 hogares en Lima Top y Moderna</a:t>
            </a:r>
            <a:endParaRPr lang="en-US" sz="1300" dirty="0"/>
          </a:p>
          <a:p>
            <a:pPr marL="127000" indent="-127000">
              <a:spcAft>
                <a:spcPts val="400"/>
              </a:spcAft>
              <a:buSzPct val="100000"/>
              <a:buChar char="•"/>
            </a:pPr>
            <a:r>
              <a:rPr lang="en-US" sz="1300" dirty="0">
                <a:solidFill>
                  <a:schemeClr val="tx1"/>
                </a:solidFill>
              </a:rPr>
              <a:t>B2B: quioscos y naturistas</a:t>
            </a:r>
            <a:endParaRPr lang="en-US" sz="1300" dirty="0"/>
          </a:p>
        </p:txBody>
      </p:sp>
      <p:sp>
        <p:nvSpPr>
          <p:cNvPr id="32" name="Shape 23"/>
          <p:cNvSpPr/>
          <p:nvPr/>
        </p:nvSpPr>
        <p:spPr>
          <a:xfrm>
            <a:off x="548640" y="4965192"/>
            <a:ext cx="5545836" cy="1298448"/>
          </a:xfrm>
          <a:prstGeom prst="roundRect">
            <a:avLst>
              <a:gd name="adj" fmla="val 5634"/>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3" name="Image 7" descr="preencoded.png">    </p:cNvPr>
          <p:cNvPicPr>
            <a:picLocks noChangeAspect="1"/>
          </p:cNvPicPr>
          <p:nvPr/>
        </p:nvPicPr>
        <p:blipFill>
          <a:blip r:embed="rId8"/>
          <a:stretch>
            <a:fillRect/>
          </a:stretch>
        </p:blipFill>
        <p:spPr>
          <a:xfrm>
            <a:off x="658368" y="5074920"/>
            <a:ext cx="256032" cy="256032"/>
          </a:xfrm>
          <a:prstGeom prst="rect">
            <a:avLst/>
          </a:prstGeom>
        </p:spPr>
      </p:pic>
      <p:sp>
        <p:nvSpPr>
          <p:cNvPr id="34" name="Text 24"/>
          <p:cNvSpPr txBox="1"/>
          <p:nvPr/>
        </p:nvSpPr>
        <p:spPr>
          <a:xfrm>
            <a:off x="987552" y="5056632"/>
            <a:ext cx="5042916" cy="292608"/>
          </a:xfrm>
          <a:prstGeom prst="rect">
            <a:avLst/>
          </a:prstGeom>
          <a:noFill/>
          <a:ln/>
        </p:spPr>
        <p:txBody>
          <a:bodyPr wrap="square" lIns="0" tIns="0" rIns="0" bIns="0" rtlCol="0" anchor="ctr"/>
          <a:lstStyle/>
          <a:p>
            <a:pPr indent="0" marL="0">
              <a:buNone/>
            </a:pPr>
            <a:r>
              <a:rPr lang="en-US" sz="1100" b="1" spc="100" kern="0" dirty="0">
                <a:solidFill>
                  <a:schemeClr val="tx2"/>
                </a:solidFill>
              </a:rPr>
              <a:t>ESTRUCTURA DE COSTOS</a:t>
            </a:r>
            <a:endParaRPr lang="en-US" sz="1100" dirty="0"/>
          </a:p>
        </p:txBody>
      </p:sp>
      <p:sp>
        <p:nvSpPr>
          <p:cNvPr id="35" name="Text 25"/>
          <p:cNvSpPr txBox="1"/>
          <p:nvPr/>
        </p:nvSpPr>
        <p:spPr>
          <a:xfrm>
            <a:off x="658368" y="5422392"/>
            <a:ext cx="5344668" cy="768096"/>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Producción S/1.65 por brownie · fijos S/1,804 al mes</a:t>
            </a:r>
            <a:endParaRPr lang="en-US" sz="1300" dirty="0"/>
          </a:p>
          <a:p>
            <a:pPr marL="127000" indent="-127000">
              <a:spcAft>
                <a:spcPts val="400"/>
              </a:spcAft>
              <a:buSzPct val="100000"/>
              <a:buChar char="•"/>
            </a:pPr>
            <a:r>
              <a:rPr lang="en-US" sz="1300" dirty="0">
                <a:solidFill>
                  <a:schemeClr val="tx1"/>
                </a:solidFill>
              </a:rPr>
              <a:t>Stands y ferias S/28,865 al año · equilibrio 2,215 brownies al mes</a:t>
            </a:r>
            <a:endParaRPr lang="en-US" sz="1300" dirty="0"/>
          </a:p>
        </p:txBody>
      </p:sp>
      <p:sp>
        <p:nvSpPr>
          <p:cNvPr id="36" name="Shape 26"/>
          <p:cNvSpPr/>
          <p:nvPr/>
        </p:nvSpPr>
        <p:spPr>
          <a:xfrm>
            <a:off x="6167628" y="4965192"/>
            <a:ext cx="5472684" cy="1298448"/>
          </a:xfrm>
          <a:prstGeom prst="roundRect">
            <a:avLst>
              <a:gd name="adj" fmla="val 5634"/>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7" name="Image 8" descr="preencoded.png">    </p:cNvPr>
          <p:cNvPicPr>
            <a:picLocks noChangeAspect="1"/>
          </p:cNvPicPr>
          <p:nvPr/>
        </p:nvPicPr>
        <p:blipFill>
          <a:blip r:embed="rId9"/>
          <a:stretch>
            <a:fillRect/>
          </a:stretch>
        </p:blipFill>
        <p:spPr>
          <a:xfrm>
            <a:off x="6277356" y="5074920"/>
            <a:ext cx="256032" cy="256032"/>
          </a:xfrm>
          <a:prstGeom prst="rect">
            <a:avLst/>
          </a:prstGeom>
        </p:spPr>
      </p:pic>
      <p:sp>
        <p:nvSpPr>
          <p:cNvPr id="38" name="Text 27"/>
          <p:cNvSpPr txBox="1"/>
          <p:nvPr/>
        </p:nvSpPr>
        <p:spPr>
          <a:xfrm>
            <a:off x="6606540" y="5056632"/>
            <a:ext cx="4969764" cy="292608"/>
          </a:xfrm>
          <a:prstGeom prst="rect">
            <a:avLst/>
          </a:prstGeom>
          <a:noFill/>
          <a:ln/>
        </p:spPr>
        <p:txBody>
          <a:bodyPr wrap="square" lIns="0" tIns="0" rIns="0" bIns="0" rtlCol="0" anchor="ctr"/>
          <a:lstStyle/>
          <a:p>
            <a:pPr indent="0" marL="0">
              <a:buNone/>
            </a:pPr>
            <a:r>
              <a:rPr lang="en-US" sz="1100" b="1" spc="100" kern="0" dirty="0">
                <a:solidFill>
                  <a:schemeClr val="tx2"/>
                </a:solidFill>
              </a:rPr>
              <a:t>FUENTES DE INGRESO</a:t>
            </a:r>
            <a:endParaRPr lang="en-US" sz="1100" dirty="0"/>
          </a:p>
        </p:txBody>
      </p:sp>
      <p:sp>
        <p:nvSpPr>
          <p:cNvPr id="39" name="Text 28"/>
          <p:cNvSpPr txBox="1"/>
          <p:nvPr/>
        </p:nvSpPr>
        <p:spPr>
          <a:xfrm>
            <a:off x="6277356" y="5422392"/>
            <a:ext cx="5271516" cy="768096"/>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Stand: unidad S/5.00 · pack de 6 S/26.00 · WhatsApp S/24.90</a:t>
            </a:r>
            <a:endParaRPr lang="en-US" sz="1300" dirty="0"/>
          </a:p>
          <a:p>
            <a:pPr marL="127000" indent="-127000">
              <a:spcAft>
                <a:spcPts val="400"/>
              </a:spcAft>
              <a:buSzPct val="100000"/>
              <a:buChar char="•"/>
            </a:pPr>
            <a:r>
              <a:rPr lang="en-US" sz="1300" dirty="0">
                <a:solidFill>
                  <a:schemeClr val="tx1"/>
                </a:solidFill>
              </a:rPr>
              <a:t>Año 1: S/198,748 con IGV · resultado S/16,816</a:t>
            </a:r>
            <a:endParaRPr lang="en-US" sz="1300" dirty="0"/>
          </a:p>
        </p:txBody>
      </p:sp>
      <p:sp>
        <p:nvSpPr>
          <p:cNvPr id="40" name="Text 29"/>
          <p:cNvSpPr txBox="1"/>
          <p:nvPr/>
        </p:nvSpPr>
        <p:spPr>
          <a:xfrm>
            <a:off x="5124298" y="4297680"/>
            <a:ext cx="1940357" cy="502920"/>
          </a:xfrm>
          <a:prstGeom prst="rect">
            <a:avLst/>
          </a:prstGeom>
          <a:noFill/>
          <a:ln/>
        </p:spPr>
        <p:txBody>
          <a:bodyPr wrap="square" lIns="0" tIns="0" rIns="0" bIns="0" rtlCol="0" anchor="t"/>
          <a:lstStyle/>
          <a:p>
            <a:pPr indent="0" marL="0">
              <a:buNone/>
            </a:pPr>
            <a:r>
              <a:rPr lang="en-US" sz="1300" b="1" i="1" dirty="0">
                <a:solidFill>
                  <a:schemeClr val="accent3"/>
                </a:solidFill>
              </a:rPr>
              <a:t>"Hierro medido. Sabor a brownie."</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08</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Mapa de propuesta de valor</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Perfil del cliente · Mapa de valor · Encaje dolor-aliviador · Frente a la competencia</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MAPA DE PROPUESTA DE VALOR</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ofrecemos encaja con lo que vive el cliente</a:t>
            </a:r>
            <a:endParaRPr lang="en-US" sz="3400" dirty="0"/>
          </a:p>
        </p:txBody>
      </p:sp>
      <p:sp>
        <p:nvSpPr>
          <p:cNvPr id="4" name="Shape 2"/>
          <p:cNvSpPr/>
          <p:nvPr/>
        </p:nvSpPr>
        <p:spPr>
          <a:xfrm>
            <a:off x="640080" y="1463040"/>
            <a:ext cx="4480560" cy="4480560"/>
          </a:xfrm>
          <a:prstGeom prst="roundRect">
            <a:avLst>
              <a:gd name="adj" fmla="val 2041"/>
            </a:avLst>
          </a:prstGeom>
          <a:solidFill>
            <a:schemeClr val="bg1"/>
          </a:solidFill>
          <a:ln w="25400">
            <a:solidFill>
              <a:schemeClr val="accent2"/>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2880360" y="1463040"/>
            <a:ext cx="0" cy="4480560"/>
          </a:xfrm>
          <a:prstGeom prst="line">
            <a:avLst/>
          </a:prstGeom>
          <a:noFill/>
          <a:ln w="19050">
            <a:solidFill>
              <a:schemeClr val="accent2"/>
            </a:solidFill>
            <a:prstDash val="solid"/>
          </a:ln>
        </p:spPr>
      </p:sp>
      <p:sp>
        <p:nvSpPr>
          <p:cNvPr id="6" name="Shape 4"/>
          <p:cNvSpPr/>
          <p:nvPr/>
        </p:nvSpPr>
        <p:spPr>
          <a:xfrm>
            <a:off x="2880360" y="3703320"/>
            <a:ext cx="2240280" cy="0"/>
          </a:xfrm>
          <a:prstGeom prst="line">
            <a:avLst/>
          </a:prstGeom>
          <a:noFill/>
          <a:ln w="19050">
            <a:solidFill>
              <a:schemeClr val="accent2"/>
            </a:solidFill>
            <a:prstDash val="solid"/>
          </a:ln>
        </p:spPr>
      </p:sp>
      <p:sp>
        <p:nvSpPr>
          <p:cNvPr id="7" name="Shape 5"/>
          <p:cNvSpPr/>
          <p:nvPr/>
        </p:nvSpPr>
        <p:spPr>
          <a:xfrm>
            <a:off x="7178040" y="1463040"/>
            <a:ext cx="4480560" cy="4480560"/>
          </a:xfrm>
          <a:prstGeom prst="ellipse">
            <a:avLst/>
          </a:prstGeom>
          <a:solidFill>
            <a:schemeClr val="bg1"/>
          </a:solidFill>
          <a:ln w="25400">
            <a:solidFill>
              <a:schemeClr val="accent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9418320" y="1463040"/>
            <a:ext cx="0" cy="4480560"/>
          </a:xfrm>
          <a:prstGeom prst="line">
            <a:avLst/>
          </a:prstGeom>
          <a:noFill/>
          <a:ln w="19050">
            <a:solidFill>
              <a:schemeClr val="accent1"/>
            </a:solidFill>
            <a:prstDash val="solid"/>
          </a:ln>
        </p:spPr>
      </p:sp>
      <p:sp>
        <p:nvSpPr>
          <p:cNvPr id="9" name="Shape 7"/>
          <p:cNvSpPr/>
          <p:nvPr/>
        </p:nvSpPr>
        <p:spPr>
          <a:xfrm>
            <a:off x="7178040" y="3703320"/>
            <a:ext cx="2240280" cy="0"/>
          </a:xfrm>
          <a:prstGeom prst="line">
            <a:avLst/>
          </a:prstGeom>
          <a:noFill/>
          <a:ln w="19050">
            <a:solidFill>
              <a:schemeClr val="accent1"/>
            </a:solidFill>
            <a:prstDash val="solid"/>
          </a:ln>
        </p:spPr>
      </p:sp>
      <p:pic>
        <p:nvPicPr>
          <p:cNvPr id="10" name="Image 0" descr="preencoded.png">    </p:cNvPr>
          <p:cNvPicPr>
            <a:picLocks noChangeAspect="1"/>
          </p:cNvPicPr>
          <p:nvPr/>
        </p:nvPicPr>
        <p:blipFill>
          <a:blip r:embed="rId1"/>
          <a:stretch>
            <a:fillRect/>
          </a:stretch>
        </p:blipFill>
        <p:spPr>
          <a:xfrm>
            <a:off x="777240" y="1645920"/>
            <a:ext cx="274320" cy="274320"/>
          </a:xfrm>
          <a:prstGeom prst="rect">
            <a:avLst/>
          </a:prstGeom>
        </p:spPr>
      </p:pic>
      <p:sp>
        <p:nvSpPr>
          <p:cNvPr id="11" name="Text 8"/>
          <p:cNvSpPr txBox="1"/>
          <p:nvPr/>
        </p:nvSpPr>
        <p:spPr>
          <a:xfrm>
            <a:off x="112471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Productos y servicios</a:t>
            </a:r>
            <a:endParaRPr lang="en-US" sz="1200" dirty="0"/>
          </a:p>
        </p:txBody>
      </p:sp>
      <p:sp>
        <p:nvSpPr>
          <p:cNvPr id="12" name="Text 9"/>
          <p:cNvSpPr txBox="1"/>
          <p:nvPr/>
        </p:nvSpPr>
        <p:spPr>
          <a:xfrm>
            <a:off x="777240" y="2029968"/>
            <a:ext cx="2011680" cy="373075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Pack de 6 (S/26 en stand)</a:t>
            </a:r>
            <a:endParaRPr lang="en-US" sz="1200" dirty="0"/>
          </a:p>
          <a:p>
            <a:pPr marL="127000" indent="-127000">
              <a:spcAft>
                <a:spcPts val="400"/>
              </a:spcAft>
              <a:buSzPct val="100000"/>
              <a:buChar char="•"/>
            </a:pPr>
            <a:r>
              <a:rPr lang="en-US" sz="1200" dirty="0">
                <a:solidFill>
                  <a:schemeClr val="tx1"/>
                </a:solidFill>
              </a:rPr>
              <a:t>Pack de 12 "Semana completa"</a:t>
            </a:r>
            <a:endParaRPr lang="en-US" sz="1200" dirty="0"/>
          </a:p>
          <a:p>
            <a:pPr marL="127000" indent="-127000">
              <a:spcAft>
                <a:spcPts val="400"/>
              </a:spcAft>
              <a:buSzPct val="100000"/>
              <a:buChar char="•"/>
            </a:pPr>
            <a:r>
              <a:rPr lang="en-US" sz="1200" dirty="0">
                <a:solidFill>
                  <a:schemeClr val="tx1"/>
                </a:solidFill>
              </a:rPr>
              <a:t>Caja degustación de 3</a:t>
            </a:r>
            <a:endParaRPr lang="en-US" sz="1200" dirty="0"/>
          </a:p>
          <a:p>
            <a:pPr marL="127000" indent="-127000">
              <a:spcAft>
                <a:spcPts val="400"/>
              </a:spcAft>
              <a:buSzPct val="100000"/>
              <a:buChar char="•"/>
            </a:pPr>
            <a:r>
              <a:rPr lang="en-US" sz="1200" dirty="0">
                <a:solidFill>
                  <a:schemeClr val="tx1"/>
                </a:solidFill>
              </a:rPr>
              <a:t>Stand con degustación gratis</a:t>
            </a:r>
            <a:endParaRPr lang="en-US" sz="1200" dirty="0"/>
          </a:p>
        </p:txBody>
      </p:sp>
      <p:pic>
        <p:nvPicPr>
          <p:cNvPr id="13" name="Image 1" descr="preencoded.png">    </p:cNvPr>
          <p:cNvPicPr>
            <a:picLocks noChangeAspect="1"/>
          </p:cNvPicPr>
          <p:nvPr/>
        </p:nvPicPr>
        <p:blipFill>
          <a:blip r:embed="rId2"/>
          <a:stretch>
            <a:fillRect/>
          </a:stretch>
        </p:blipFill>
        <p:spPr>
          <a:xfrm>
            <a:off x="3017520" y="1645920"/>
            <a:ext cx="274320" cy="274320"/>
          </a:xfrm>
          <a:prstGeom prst="rect">
            <a:avLst/>
          </a:prstGeom>
        </p:spPr>
      </p:pic>
      <p:sp>
        <p:nvSpPr>
          <p:cNvPr id="14" name="Text 10"/>
          <p:cNvSpPr txBox="1"/>
          <p:nvPr/>
        </p:nvSpPr>
        <p:spPr>
          <a:xfrm>
            <a:off x="336499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Creadores de alegrías</a:t>
            </a:r>
            <a:endParaRPr lang="en-US" sz="1200" dirty="0"/>
          </a:p>
        </p:txBody>
      </p:sp>
      <p:sp>
        <p:nvSpPr>
          <p:cNvPr id="15" name="Text 11"/>
          <p:cNvSpPr txBox="1"/>
          <p:nvPr/>
        </p:nvSpPr>
        <p:spPr>
          <a:xfrm>
            <a:off x="3017520" y="202996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El niño pide su sabor</a:t>
            </a:r>
            <a:endParaRPr lang="en-US" sz="1200" dirty="0"/>
          </a:p>
          <a:p>
            <a:pPr marL="127000" indent="-127000">
              <a:spcAft>
                <a:spcPts val="400"/>
              </a:spcAft>
              <a:buSzPct val="100000"/>
              <a:buChar char="•"/>
            </a:pPr>
            <a:r>
              <a:rPr lang="en-US" sz="1200" dirty="0">
                <a:solidFill>
                  <a:schemeClr val="tx1"/>
                </a:solidFill>
              </a:rPr>
              <a:t>Hierro en mg y QR del lote</a:t>
            </a:r>
            <a:endParaRPr lang="en-US" sz="1200" dirty="0"/>
          </a:p>
          <a:p>
            <a:pPr marL="127000" indent="-127000">
              <a:spcAft>
                <a:spcPts val="400"/>
              </a:spcAft>
              <a:buSzPct val="100000"/>
              <a:buChar char="•"/>
            </a:pPr>
            <a:r>
              <a:rPr lang="en-US" sz="1200" dirty="0">
                <a:solidFill>
                  <a:schemeClr val="tx1"/>
                </a:solidFill>
              </a:rPr>
              <a:t>Origen andino peruano</a:t>
            </a:r>
            <a:endParaRPr lang="en-US" sz="1200" dirty="0"/>
          </a:p>
        </p:txBody>
      </p:sp>
      <p:pic>
        <p:nvPicPr>
          <p:cNvPr id="16" name="Image 2" descr="preencoded.png">    </p:cNvPr>
          <p:cNvPicPr>
            <a:picLocks noChangeAspect="1"/>
          </p:cNvPicPr>
          <p:nvPr/>
        </p:nvPicPr>
        <p:blipFill>
          <a:blip r:embed="rId3"/>
          <a:stretch>
            <a:fillRect/>
          </a:stretch>
        </p:blipFill>
        <p:spPr>
          <a:xfrm>
            <a:off x="3017520" y="3886200"/>
            <a:ext cx="274320" cy="274320"/>
          </a:xfrm>
          <a:prstGeom prst="rect">
            <a:avLst/>
          </a:prstGeom>
        </p:spPr>
      </p:pic>
      <p:sp>
        <p:nvSpPr>
          <p:cNvPr id="17" name="Text 12"/>
          <p:cNvSpPr txBox="1"/>
          <p:nvPr/>
        </p:nvSpPr>
        <p:spPr>
          <a:xfrm>
            <a:off x="3364992" y="386791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Aliviadores de dolor</a:t>
            </a:r>
            <a:endParaRPr lang="en-US" sz="1200" dirty="0"/>
          </a:p>
        </p:txBody>
      </p:sp>
      <p:sp>
        <p:nvSpPr>
          <p:cNvPr id="18" name="Text 13"/>
          <p:cNvSpPr txBox="1"/>
          <p:nvPr/>
        </p:nvSpPr>
        <p:spPr>
          <a:xfrm>
            <a:off x="3017520" y="427024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Cacao que esconde la sangrecita</a:t>
            </a:r>
            <a:endParaRPr lang="en-US" sz="1200" dirty="0"/>
          </a:p>
          <a:p>
            <a:pPr marL="127000" indent="-127000">
              <a:spcAft>
                <a:spcPts val="400"/>
              </a:spcAft>
              <a:buSzPct val="100000"/>
              <a:buChar char="•"/>
            </a:pPr>
            <a:r>
              <a:rPr lang="en-US" sz="1200" dirty="0">
                <a:solidFill>
                  <a:schemeClr val="tx1"/>
                </a:solidFill>
              </a:rPr>
              <a:t>Menos de 10 g de azúcar</a:t>
            </a:r>
            <a:endParaRPr lang="en-US" sz="1200" dirty="0"/>
          </a:p>
          <a:p>
            <a:pPr marL="127000" indent="-127000">
              <a:spcAft>
                <a:spcPts val="400"/>
              </a:spcAft>
              <a:buSzPct val="100000"/>
              <a:buChar char="•"/>
            </a:pPr>
            <a:r>
              <a:rPr lang="en-US" sz="1200" dirty="0">
                <a:solidFill>
                  <a:schemeClr val="tx1"/>
                </a:solidFill>
              </a:rPr>
              <a:t>Porción sellada, sin frío</a:t>
            </a:r>
            <a:endParaRPr lang="en-US" sz="1200" dirty="0"/>
          </a:p>
        </p:txBody>
      </p:sp>
      <p:pic>
        <p:nvPicPr>
          <p:cNvPr id="19" name="Image 3" descr="preencoded.png">    </p:cNvPr>
          <p:cNvPicPr>
            <a:picLocks noChangeAspect="1"/>
          </p:cNvPicPr>
          <p:nvPr/>
        </p:nvPicPr>
        <p:blipFill>
          <a:blip r:embed="rId4"/>
          <a:stretch>
            <a:fillRect/>
          </a:stretch>
        </p:blipFill>
        <p:spPr>
          <a:xfrm>
            <a:off x="7680960" y="1965960"/>
            <a:ext cx="274320" cy="274320"/>
          </a:xfrm>
          <a:prstGeom prst="rect">
            <a:avLst/>
          </a:prstGeom>
        </p:spPr>
      </p:pic>
      <p:sp>
        <p:nvSpPr>
          <p:cNvPr id="20" name="Text 14"/>
          <p:cNvSpPr txBox="1"/>
          <p:nvPr/>
        </p:nvSpPr>
        <p:spPr>
          <a:xfrm>
            <a:off x="8028432" y="1947672"/>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Alegrías</a:t>
            </a:r>
            <a:endParaRPr lang="en-US" sz="1200" dirty="0"/>
          </a:p>
        </p:txBody>
      </p:sp>
      <p:sp>
        <p:nvSpPr>
          <p:cNvPr id="21" name="Text 15"/>
          <p:cNvSpPr txBox="1"/>
          <p:nvPr/>
        </p:nvSpPr>
        <p:spPr>
          <a:xfrm>
            <a:off x="7680960" y="2350008"/>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Que el niño lo pida</a:t>
            </a:r>
            <a:endParaRPr lang="en-US" sz="1200" dirty="0"/>
          </a:p>
          <a:p>
            <a:pPr marL="127000" indent="-127000">
              <a:spcAft>
                <a:spcPts val="400"/>
              </a:spcAft>
              <a:buSzPct val="100000"/>
              <a:buChar char="•"/>
            </a:pPr>
            <a:r>
              <a:rPr lang="en-US" sz="1200" dirty="0">
                <a:solidFill>
                  <a:schemeClr val="tx1"/>
                </a:solidFill>
              </a:rPr>
              <a:t>Ver el dato, no la promesa</a:t>
            </a:r>
            <a:endParaRPr lang="en-US" sz="1200" dirty="0"/>
          </a:p>
          <a:p>
            <a:pPr marL="127000" indent="-127000">
              <a:spcAft>
                <a:spcPts val="400"/>
              </a:spcAft>
              <a:buSzPct val="100000"/>
              <a:buChar char="•"/>
            </a:pPr>
            <a:r>
              <a:rPr lang="en-US" sz="1200" dirty="0">
                <a:solidFill>
                  <a:schemeClr val="tx1"/>
                </a:solidFill>
              </a:rPr>
              <a:t>Que no pese en el bolsillo</a:t>
            </a:r>
            <a:endParaRPr lang="en-US" sz="1200" dirty="0"/>
          </a:p>
        </p:txBody>
      </p:sp>
      <p:pic>
        <p:nvPicPr>
          <p:cNvPr id="22" name="Image 4" descr="preencoded.png">    </p:cNvPr>
          <p:cNvPicPr>
            <a:picLocks noChangeAspect="1"/>
          </p:cNvPicPr>
          <p:nvPr/>
        </p:nvPicPr>
        <p:blipFill>
          <a:blip r:embed="rId5"/>
          <a:stretch>
            <a:fillRect/>
          </a:stretch>
        </p:blipFill>
        <p:spPr>
          <a:xfrm>
            <a:off x="7680960" y="3813048"/>
            <a:ext cx="274320" cy="274320"/>
          </a:xfrm>
          <a:prstGeom prst="rect">
            <a:avLst/>
          </a:prstGeom>
        </p:spPr>
      </p:pic>
      <p:sp>
        <p:nvSpPr>
          <p:cNvPr id="23" name="Text 16"/>
          <p:cNvSpPr txBox="1"/>
          <p:nvPr/>
        </p:nvSpPr>
        <p:spPr>
          <a:xfrm>
            <a:off x="8028432" y="3794760"/>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Dolores</a:t>
            </a:r>
            <a:endParaRPr lang="en-US" sz="1200" dirty="0"/>
          </a:p>
        </p:txBody>
      </p:sp>
      <p:sp>
        <p:nvSpPr>
          <p:cNvPr id="24" name="Text 17"/>
          <p:cNvSpPr txBox="1"/>
          <p:nvPr/>
        </p:nvSpPr>
        <p:spPr>
          <a:xfrm>
            <a:off x="7680960" y="4197096"/>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Lo sano regresa intacto</a:t>
            </a:r>
            <a:endParaRPr lang="en-US" sz="1200" dirty="0"/>
          </a:p>
          <a:p>
            <a:pPr marL="127000" indent="-127000">
              <a:spcAft>
                <a:spcPts val="400"/>
              </a:spcAft>
              <a:buSzPct val="100000"/>
              <a:buChar char="•"/>
            </a:pPr>
            <a:r>
              <a:rPr lang="en-US" sz="1200" dirty="0">
                <a:solidFill>
                  <a:schemeClr val="tx1"/>
                </a:solidFill>
              </a:rPr>
              <a:t>Octógonos y desconfianza</a:t>
            </a:r>
            <a:endParaRPr lang="en-US" sz="1200" dirty="0"/>
          </a:p>
          <a:p>
            <a:pPr marL="127000" indent="-127000">
              <a:spcAft>
                <a:spcPts val="400"/>
              </a:spcAft>
              <a:buSzPct val="100000"/>
              <a:buChar char="•"/>
            </a:pPr>
            <a:r>
              <a:rPr lang="en-US" sz="1200" dirty="0">
                <a:solidFill>
                  <a:schemeClr val="tx1"/>
                </a:solidFill>
              </a:rPr>
              <a:t>Se acaba la variedad</a:t>
            </a:r>
            <a:endParaRPr lang="en-US" sz="1200" dirty="0"/>
          </a:p>
        </p:txBody>
      </p:sp>
      <p:pic>
        <p:nvPicPr>
          <p:cNvPr id="25" name="Image 5" descr="preencoded.png">    </p:cNvPr>
          <p:cNvPicPr>
            <a:picLocks noChangeAspect="1"/>
          </p:cNvPicPr>
          <p:nvPr/>
        </p:nvPicPr>
        <p:blipFill>
          <a:blip r:embed="rId6"/>
          <a:stretch>
            <a:fillRect/>
          </a:stretch>
        </p:blipFill>
        <p:spPr>
          <a:xfrm>
            <a:off x="9555480" y="2331720"/>
            <a:ext cx="274320" cy="274320"/>
          </a:xfrm>
          <a:prstGeom prst="rect">
            <a:avLst/>
          </a:prstGeom>
        </p:spPr>
      </p:pic>
      <p:sp>
        <p:nvSpPr>
          <p:cNvPr id="26" name="Text 18"/>
          <p:cNvSpPr txBox="1"/>
          <p:nvPr/>
        </p:nvSpPr>
        <p:spPr>
          <a:xfrm>
            <a:off x="9902952" y="2313432"/>
            <a:ext cx="1481328" cy="329184"/>
          </a:xfrm>
          <a:prstGeom prst="rect">
            <a:avLst/>
          </a:prstGeom>
          <a:noFill/>
          <a:ln/>
        </p:spPr>
        <p:txBody>
          <a:bodyPr wrap="square" lIns="0" tIns="0" rIns="0" bIns="0" rtlCol="0" anchor="ctr"/>
          <a:lstStyle/>
          <a:p>
            <a:pPr indent="0" marL="0">
              <a:buNone/>
            </a:pPr>
            <a:r>
              <a:rPr lang="en-US" sz="1200" b="1" dirty="0">
                <a:solidFill>
                  <a:schemeClr val="tx2"/>
                </a:solidFill>
              </a:rPr>
              <a:t>Trabajos del cliente</a:t>
            </a:r>
            <a:endParaRPr lang="en-US" sz="1200" dirty="0"/>
          </a:p>
        </p:txBody>
      </p:sp>
      <p:sp>
        <p:nvSpPr>
          <p:cNvPr id="27" name="Text 19"/>
          <p:cNvSpPr txBox="1"/>
          <p:nvPr/>
        </p:nvSpPr>
        <p:spPr>
          <a:xfrm>
            <a:off x="9555480" y="2715768"/>
            <a:ext cx="1828800" cy="25420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Darle hierro sin pelear</a:t>
            </a:r>
            <a:endParaRPr lang="en-US" sz="1200" dirty="0"/>
          </a:p>
          <a:p>
            <a:pPr marL="127000" indent="-127000">
              <a:spcAft>
                <a:spcPts val="400"/>
              </a:spcAft>
              <a:buSzPct val="100000"/>
              <a:buChar char="•"/>
            </a:pPr>
            <a:r>
              <a:rPr lang="en-US" sz="1200" dirty="0">
                <a:solidFill>
                  <a:schemeClr val="tx1"/>
                </a:solidFill>
              </a:rPr>
              <a:t>Lonchera variada en minutos</a:t>
            </a:r>
            <a:endParaRPr lang="en-US" sz="1200" dirty="0"/>
          </a:p>
          <a:p>
            <a:pPr marL="127000" indent="-127000">
              <a:spcAft>
                <a:spcPts val="400"/>
              </a:spcAft>
              <a:buSzPct val="100000"/>
              <a:buChar char="•"/>
            </a:pPr>
            <a:r>
              <a:rPr lang="en-US" sz="1200" dirty="0">
                <a:solidFill>
                  <a:schemeClr val="tx1"/>
                </a:solidFill>
              </a:rPr>
              <a:t>Cumplir la lonchera del colegio</a:t>
            </a:r>
            <a:endParaRPr lang="en-US" sz="1200" dirty="0"/>
          </a:p>
          <a:p>
            <a:pPr marL="127000" indent="-127000">
              <a:spcAft>
                <a:spcPts val="400"/>
              </a:spcAft>
              <a:buSzPct val="100000"/>
              <a:buChar char="•"/>
            </a:pPr>
            <a:r>
              <a:rPr lang="en-US" sz="1200" dirty="0">
                <a:solidFill>
                  <a:schemeClr val="tx1"/>
                </a:solidFill>
              </a:rPr>
              <a:t>Sentirse buen padre o madre</a:t>
            </a:r>
            <a:endParaRPr lang="en-US" sz="1200" dirty="0"/>
          </a:p>
        </p:txBody>
      </p:sp>
      <p:sp>
        <p:nvSpPr>
          <p:cNvPr id="28" name="Shape 20"/>
          <p:cNvSpPr/>
          <p:nvPr/>
        </p:nvSpPr>
        <p:spPr>
          <a:xfrm>
            <a:off x="5349240" y="3401568"/>
            <a:ext cx="1600200" cy="603504"/>
          </a:xfrm>
          <a:prstGeom prst="leftRightArrow">
            <a:avLst/>
          </a:prstGeom>
          <a:solidFill>
            <a:schemeClr val="accent3"/>
          </a:solidFill>
          <a:ln w="12700">
            <a:solidFill>
              <a:schemeClr val="accent3"/>
            </a:solidFill>
            <a:prstDash val="solid"/>
          </a:ln>
        </p:spPr>
      </p:sp>
      <p:sp>
        <p:nvSpPr>
          <p:cNvPr id="29" name="Text 21"/>
          <p:cNvSpPr txBox="1"/>
          <p:nvPr/>
        </p:nvSpPr>
        <p:spPr>
          <a:xfrm>
            <a:off x="5349240" y="3401568"/>
            <a:ext cx="1600200" cy="603504"/>
          </a:xfrm>
          <a:prstGeom prst="rect">
            <a:avLst/>
          </a:prstGeom>
          <a:noFill/>
          <a:ln/>
        </p:spPr>
        <p:txBody>
          <a:bodyPr wrap="square" lIns="0" tIns="0" rIns="0" bIns="0" rtlCol="0" anchor="ctr"/>
          <a:lstStyle/>
          <a:p>
            <a:pPr algn="ctr" indent="0" marL="0">
              <a:buNone/>
            </a:pPr>
            <a:r>
              <a:rPr lang="en-US" sz="1400" b="1" dirty="0">
                <a:solidFill>
                  <a:schemeClr val="tx1"/>
                </a:solidFill>
              </a:rPr>
              <a:t>Encaje</a:t>
            </a:r>
            <a:endParaRPr lang="en-US" sz="1400" dirty="0"/>
          </a:p>
        </p:txBody>
      </p:sp>
      <p:sp>
        <p:nvSpPr>
          <p:cNvPr id="30" name="Text 22"/>
          <p:cNvSpPr txBox="1"/>
          <p:nvPr/>
        </p:nvSpPr>
        <p:spPr>
          <a:xfrm>
            <a:off x="64008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2"/>
                </a:solidFill>
              </a:rPr>
              <a:t>MAPA DE VALOR · ANDIBITE</a:t>
            </a:r>
            <a:endParaRPr lang="en-US" sz="1100" dirty="0"/>
          </a:p>
        </p:txBody>
      </p:sp>
      <p:sp>
        <p:nvSpPr>
          <p:cNvPr id="31" name="Text 23"/>
          <p:cNvSpPr txBox="1"/>
          <p:nvPr/>
        </p:nvSpPr>
        <p:spPr>
          <a:xfrm>
            <a:off x="717804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1"/>
                </a:solidFill>
              </a:rPr>
              <a:t>PERFIL DEL CLIENTE · CLAUDIA Y RODRIGO</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ENCAJE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Cada dolor tiene su aliviador</a:t>
            </a:r>
            <a:endParaRPr lang="en-US" sz="3400" dirty="0"/>
          </a:p>
        </p:txBody>
      </p:sp>
      <p:sp>
        <p:nvSpPr>
          <p:cNvPr id="4" name="Text 2"/>
          <p:cNvSpPr txBox="1"/>
          <p:nvPr/>
        </p:nvSpPr>
        <p:spPr>
          <a:xfrm>
            <a:off x="548640" y="1463040"/>
            <a:ext cx="36576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DOLOR DEL CLIENTE</a:t>
            </a:r>
            <a:endParaRPr lang="en-US" sz="1200" dirty="0"/>
          </a:p>
        </p:txBody>
      </p:sp>
      <p:sp>
        <p:nvSpPr>
          <p:cNvPr id="5" name="Text 3"/>
          <p:cNvSpPr txBox="1"/>
          <p:nvPr/>
        </p:nvSpPr>
        <p:spPr>
          <a:xfrm>
            <a:off x="6217920" y="1463040"/>
            <a:ext cx="3657600" cy="274320"/>
          </a:xfrm>
          <a:prstGeom prst="rect">
            <a:avLst/>
          </a:prstGeom>
          <a:noFill/>
          <a:ln/>
        </p:spPr>
        <p:txBody>
          <a:bodyPr wrap="square" lIns="0" tIns="0" rIns="0" bIns="0" rtlCol="0" anchor="t"/>
          <a:lstStyle/>
          <a:p>
            <a:pPr indent="0" marL="0">
              <a:buNone/>
            </a:pPr>
            <a:r>
              <a:rPr lang="en-US" sz="1200" b="1" spc="100" kern="0" dirty="0">
                <a:solidFill>
                  <a:schemeClr val="tx2"/>
                </a:solidFill>
              </a:rPr>
              <a:t>ALIVIADOR ANDIBITE</a:t>
            </a:r>
            <a:endParaRPr lang="en-US" sz="1200" dirty="0"/>
          </a:p>
        </p:txBody>
      </p:sp>
      <p:sp>
        <p:nvSpPr>
          <p:cNvPr id="6" name="Text 4"/>
          <p:cNvSpPr txBox="1"/>
          <p:nvPr/>
        </p:nvSpPr>
        <p:spPr>
          <a:xfrm>
            <a:off x="10012680" y="1463040"/>
            <a:ext cx="1627632"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EVIDENCIA</a:t>
            </a:r>
            <a:endParaRPr lang="en-US" sz="1200" dirty="0"/>
          </a:p>
        </p:txBody>
      </p:sp>
      <p:sp>
        <p:nvSpPr>
          <p:cNvPr id="7" name="Shape 5"/>
          <p:cNvSpPr/>
          <p:nvPr/>
        </p:nvSpPr>
        <p:spPr>
          <a:xfrm>
            <a:off x="548640" y="1828800"/>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658368" y="1956816"/>
            <a:ext cx="457200" cy="457200"/>
          </a:xfrm>
          <a:prstGeom prst="ellipse">
            <a:avLst/>
          </a:prstGeom>
          <a:solidFill>
            <a:schemeClr val="accent6"/>
          </a:solidFill>
          <a:ln w="12700">
            <a:solidFill>
              <a:schemeClr val="accent6"/>
            </a:solidFill>
            <a:prstDash val="solid"/>
          </a:ln>
        </p:spPr>
      </p:sp>
      <p:pic>
        <p:nvPicPr>
          <p:cNvPr id="9" name="Image 0" descr="preencoded.png">    </p:cNvPr>
          <p:cNvPicPr>
            <a:picLocks noChangeAspect="1"/>
          </p:cNvPicPr>
          <p:nvPr/>
        </p:nvPicPr>
        <p:blipFill>
          <a:blip r:embed="rId1"/>
          <a:stretch>
            <a:fillRect/>
          </a:stretch>
        </p:blipFill>
        <p:spPr>
          <a:xfrm>
            <a:off x="758952" y="2057400"/>
            <a:ext cx="256032" cy="256032"/>
          </a:xfrm>
          <a:prstGeom prst="rect">
            <a:avLst/>
          </a:prstGeom>
        </p:spPr>
      </p:pic>
      <p:sp>
        <p:nvSpPr>
          <p:cNvPr id="10" name="Text 7"/>
          <p:cNvSpPr txBox="1"/>
          <p:nvPr/>
        </p:nvSpPr>
        <p:spPr>
          <a:xfrm>
            <a:off x="1234440" y="1828800"/>
            <a:ext cx="3794760" cy="713232"/>
          </a:xfrm>
          <a:prstGeom prst="rect">
            <a:avLst/>
          </a:prstGeom>
          <a:noFill/>
          <a:ln/>
        </p:spPr>
        <p:txBody>
          <a:bodyPr wrap="square" lIns="0" tIns="0" rIns="0" bIns="0" rtlCol="0" anchor="ctr"/>
          <a:lstStyle/>
          <a:p>
            <a:pPr indent="0" marL="0">
              <a:buNone/>
            </a:pPr>
            <a:r>
              <a:rPr lang="en-US" sz="1500" dirty="0">
                <a:solidFill>
                  <a:schemeClr val="tx1"/>
                </a:solidFill>
              </a:rPr>
              <a:t>Lo saludable regresa intacto</a:t>
            </a:r>
            <a:endParaRPr lang="en-US" sz="1500" dirty="0"/>
          </a:p>
        </p:txBody>
      </p:sp>
      <p:sp>
        <p:nvSpPr>
          <p:cNvPr id="11" name="Shape 8"/>
          <p:cNvSpPr/>
          <p:nvPr/>
        </p:nvSpPr>
        <p:spPr>
          <a:xfrm>
            <a:off x="5285232" y="2011680"/>
            <a:ext cx="777240" cy="347472"/>
          </a:xfrm>
          <a:prstGeom prst="rightArrow">
            <a:avLst/>
          </a:prstGeom>
          <a:solidFill>
            <a:schemeClr val="accent3"/>
          </a:solidFill>
          <a:ln w="12700">
            <a:solidFill>
              <a:schemeClr val="accent3"/>
            </a:solidFill>
            <a:prstDash val="solid"/>
          </a:ln>
        </p:spPr>
      </p:sp>
      <p:sp>
        <p:nvSpPr>
          <p:cNvPr id="12" name="Shape 9"/>
          <p:cNvSpPr/>
          <p:nvPr/>
        </p:nvSpPr>
        <p:spPr>
          <a:xfrm>
            <a:off x="6217920" y="1828800"/>
            <a:ext cx="3657600" cy="713232"/>
          </a:xfrm>
          <a:prstGeom prst="roundRect">
            <a:avLst>
              <a:gd name="adj" fmla="val 50000"/>
            </a:avLst>
          </a:prstGeom>
          <a:solidFill>
            <a:schemeClr val="tx2"/>
          </a:solidFill>
          <a:ln w="12700">
            <a:solidFill>
              <a:schemeClr val="tx2"/>
            </a:solidFill>
            <a:prstDash val="solid"/>
          </a:ln>
        </p:spPr>
      </p:sp>
      <p:sp>
        <p:nvSpPr>
          <p:cNvPr id="13" name="Shape 10"/>
          <p:cNvSpPr/>
          <p:nvPr/>
        </p:nvSpPr>
        <p:spPr>
          <a:xfrm>
            <a:off x="6327648" y="1956816"/>
            <a:ext cx="457200" cy="457200"/>
          </a:xfrm>
          <a:prstGeom prst="ellipse">
            <a:avLst/>
          </a:prstGeom>
          <a:solidFill>
            <a:schemeClr val="accent4"/>
          </a:solidFill>
          <a:ln w="12700">
            <a:solidFill>
              <a:schemeClr val="accent4"/>
            </a:solidFill>
            <a:prstDash val="solid"/>
          </a:ln>
        </p:spPr>
      </p:sp>
      <p:pic>
        <p:nvPicPr>
          <p:cNvPr id="14" name="Image 1" descr="preencoded.png">    </p:cNvPr>
          <p:cNvPicPr>
            <a:picLocks noChangeAspect="1"/>
          </p:cNvPicPr>
          <p:nvPr/>
        </p:nvPicPr>
        <p:blipFill>
          <a:blip r:embed="rId2"/>
          <a:stretch>
            <a:fillRect/>
          </a:stretch>
        </p:blipFill>
        <p:spPr>
          <a:xfrm>
            <a:off x="6428232" y="2057400"/>
            <a:ext cx="256032" cy="256032"/>
          </a:xfrm>
          <a:prstGeom prst="rect">
            <a:avLst/>
          </a:prstGeom>
        </p:spPr>
      </p:pic>
      <p:sp>
        <p:nvSpPr>
          <p:cNvPr id="15" name="Text 11"/>
          <p:cNvSpPr txBox="1"/>
          <p:nvPr/>
        </p:nvSpPr>
        <p:spPr>
          <a:xfrm>
            <a:off x="6903720" y="1828800"/>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Cacao y canela esconden la sangrecita</a:t>
            </a:r>
            <a:endParaRPr lang="en-US" sz="1500" dirty="0"/>
          </a:p>
        </p:txBody>
      </p:sp>
      <p:sp>
        <p:nvSpPr>
          <p:cNvPr id="16" name="Text 12"/>
          <p:cNvSpPr txBox="1"/>
          <p:nvPr/>
        </p:nvSpPr>
        <p:spPr>
          <a:xfrm>
            <a:off x="10012680" y="1828800"/>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 y focus 1</a:t>
            </a:r>
            <a:endParaRPr lang="en-US" sz="1200" dirty="0"/>
          </a:p>
        </p:txBody>
      </p:sp>
      <p:sp>
        <p:nvSpPr>
          <p:cNvPr id="17" name="Shape 13"/>
          <p:cNvSpPr/>
          <p:nvPr/>
        </p:nvSpPr>
        <p:spPr>
          <a:xfrm>
            <a:off x="548640" y="2679192"/>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Shape 14"/>
          <p:cNvSpPr/>
          <p:nvPr/>
        </p:nvSpPr>
        <p:spPr>
          <a:xfrm>
            <a:off x="658368" y="2807208"/>
            <a:ext cx="457200" cy="457200"/>
          </a:xfrm>
          <a:prstGeom prst="ellipse">
            <a:avLst/>
          </a:prstGeom>
          <a:solidFill>
            <a:schemeClr val="accent6"/>
          </a:solidFill>
          <a:ln w="12700">
            <a:solidFill>
              <a:schemeClr val="accent6"/>
            </a:solidFill>
            <a:prstDash val="solid"/>
          </a:ln>
        </p:spPr>
      </p:sp>
      <p:pic>
        <p:nvPicPr>
          <p:cNvPr id="19" name="Image 2" descr="preencoded.png">    </p:cNvPr>
          <p:cNvPicPr>
            <a:picLocks noChangeAspect="1"/>
          </p:cNvPicPr>
          <p:nvPr/>
        </p:nvPicPr>
        <p:blipFill>
          <a:blip r:embed="rId3"/>
          <a:stretch>
            <a:fillRect/>
          </a:stretch>
        </p:blipFill>
        <p:spPr>
          <a:xfrm>
            <a:off x="758952" y="2907792"/>
            <a:ext cx="256032" cy="256032"/>
          </a:xfrm>
          <a:prstGeom prst="rect">
            <a:avLst/>
          </a:prstGeom>
        </p:spPr>
      </p:pic>
      <p:sp>
        <p:nvSpPr>
          <p:cNvPr id="20" name="Text 15"/>
          <p:cNvSpPr txBox="1"/>
          <p:nvPr/>
        </p:nvSpPr>
        <p:spPr>
          <a:xfrm>
            <a:off x="1234440" y="2679192"/>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octógono contradice lo saludable</a:t>
            </a:r>
            <a:endParaRPr lang="en-US" sz="1500" dirty="0"/>
          </a:p>
        </p:txBody>
      </p:sp>
      <p:sp>
        <p:nvSpPr>
          <p:cNvPr id="21" name="Shape 16"/>
          <p:cNvSpPr/>
          <p:nvPr/>
        </p:nvSpPr>
        <p:spPr>
          <a:xfrm>
            <a:off x="5285232" y="2862072"/>
            <a:ext cx="777240" cy="347472"/>
          </a:xfrm>
          <a:prstGeom prst="rightArrow">
            <a:avLst/>
          </a:prstGeom>
          <a:solidFill>
            <a:schemeClr val="accent3"/>
          </a:solidFill>
          <a:ln w="12700">
            <a:solidFill>
              <a:schemeClr val="accent3"/>
            </a:solidFill>
            <a:prstDash val="solid"/>
          </a:ln>
        </p:spPr>
      </p:sp>
      <p:sp>
        <p:nvSpPr>
          <p:cNvPr id="22" name="Shape 17"/>
          <p:cNvSpPr/>
          <p:nvPr/>
        </p:nvSpPr>
        <p:spPr>
          <a:xfrm>
            <a:off x="6217920" y="2679192"/>
            <a:ext cx="3657600" cy="713232"/>
          </a:xfrm>
          <a:prstGeom prst="roundRect">
            <a:avLst>
              <a:gd name="adj" fmla="val 50000"/>
            </a:avLst>
          </a:prstGeom>
          <a:solidFill>
            <a:schemeClr val="tx2"/>
          </a:solidFill>
          <a:ln w="12700">
            <a:solidFill>
              <a:schemeClr val="tx2"/>
            </a:solidFill>
            <a:prstDash val="solid"/>
          </a:ln>
        </p:spPr>
      </p:sp>
      <p:sp>
        <p:nvSpPr>
          <p:cNvPr id="23" name="Shape 18"/>
          <p:cNvSpPr/>
          <p:nvPr/>
        </p:nvSpPr>
        <p:spPr>
          <a:xfrm>
            <a:off x="6327648" y="2807208"/>
            <a:ext cx="457200" cy="457200"/>
          </a:xfrm>
          <a:prstGeom prst="ellipse">
            <a:avLst/>
          </a:prstGeom>
          <a:solidFill>
            <a:schemeClr val="accent4"/>
          </a:solidFill>
          <a:ln w="12700">
            <a:solidFill>
              <a:schemeClr val="accent4"/>
            </a:solidFill>
            <a:prstDash val="solid"/>
          </a:ln>
        </p:spPr>
      </p:sp>
      <p:pic>
        <p:nvPicPr>
          <p:cNvPr id="24" name="Image 3" descr="preencoded.png">    </p:cNvPr>
          <p:cNvPicPr>
            <a:picLocks noChangeAspect="1"/>
          </p:cNvPicPr>
          <p:nvPr/>
        </p:nvPicPr>
        <p:blipFill>
          <a:blip r:embed="rId4"/>
          <a:stretch>
            <a:fillRect/>
          </a:stretch>
        </p:blipFill>
        <p:spPr>
          <a:xfrm>
            <a:off x="6428232" y="2907792"/>
            <a:ext cx="256032" cy="256032"/>
          </a:xfrm>
          <a:prstGeom prst="rect">
            <a:avLst/>
          </a:prstGeom>
        </p:spPr>
      </p:pic>
      <p:sp>
        <p:nvSpPr>
          <p:cNvPr id="25" name="Text 19"/>
          <p:cNvSpPr txBox="1"/>
          <p:nvPr/>
        </p:nvSpPr>
        <p:spPr>
          <a:xfrm>
            <a:off x="6903720" y="2679192"/>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Sin octógono: menos de 10 g de azúcar</a:t>
            </a:r>
            <a:endParaRPr lang="en-US" sz="1500" dirty="0"/>
          </a:p>
        </p:txBody>
      </p:sp>
      <p:sp>
        <p:nvSpPr>
          <p:cNvPr id="26" name="Text 20"/>
          <p:cNvSpPr txBox="1"/>
          <p:nvPr/>
        </p:nvSpPr>
        <p:spPr>
          <a:xfrm>
            <a:off x="10012680" y="2679192"/>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83 % · Ipsos 2025</a:t>
            </a:r>
            <a:endParaRPr lang="en-US" sz="1200" dirty="0"/>
          </a:p>
        </p:txBody>
      </p:sp>
      <p:sp>
        <p:nvSpPr>
          <p:cNvPr id="27" name="Shape 21"/>
          <p:cNvSpPr/>
          <p:nvPr/>
        </p:nvSpPr>
        <p:spPr>
          <a:xfrm>
            <a:off x="548640" y="3529584"/>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8" name="Shape 22"/>
          <p:cNvSpPr/>
          <p:nvPr/>
        </p:nvSpPr>
        <p:spPr>
          <a:xfrm>
            <a:off x="658368" y="3657600"/>
            <a:ext cx="457200" cy="457200"/>
          </a:xfrm>
          <a:prstGeom prst="ellipse">
            <a:avLst/>
          </a:prstGeom>
          <a:solidFill>
            <a:schemeClr val="accent6"/>
          </a:solidFill>
          <a:ln w="12700">
            <a:solidFill>
              <a:schemeClr val="accent6"/>
            </a:solidFill>
            <a:prstDash val="solid"/>
          </a:ln>
        </p:spPr>
      </p:sp>
      <p:pic>
        <p:nvPicPr>
          <p:cNvPr id="29" name="Image 4" descr="preencoded.png">    </p:cNvPr>
          <p:cNvPicPr>
            <a:picLocks noChangeAspect="1"/>
          </p:cNvPicPr>
          <p:nvPr/>
        </p:nvPicPr>
        <p:blipFill>
          <a:blip r:embed="rId5"/>
          <a:stretch>
            <a:fillRect/>
          </a:stretch>
        </p:blipFill>
        <p:spPr>
          <a:xfrm>
            <a:off x="758952" y="3758184"/>
            <a:ext cx="256032" cy="256032"/>
          </a:xfrm>
          <a:prstGeom prst="rect">
            <a:avLst/>
          </a:prstGeom>
        </p:spPr>
      </p:pic>
      <p:sp>
        <p:nvSpPr>
          <p:cNvPr id="30" name="Text 23"/>
          <p:cNvSpPr txBox="1"/>
          <p:nvPr/>
        </p:nvSpPr>
        <p:spPr>
          <a:xfrm>
            <a:off x="1234440" y="3529584"/>
            <a:ext cx="3794760" cy="713232"/>
          </a:xfrm>
          <a:prstGeom prst="rect">
            <a:avLst/>
          </a:prstGeom>
          <a:noFill/>
          <a:ln/>
        </p:spPr>
        <p:txBody>
          <a:bodyPr wrap="square" lIns="0" tIns="0" rIns="0" bIns="0" rtlCol="0" anchor="ctr"/>
          <a:lstStyle/>
          <a:p>
            <a:pPr indent="0" marL="0">
              <a:buNone/>
            </a:pPr>
            <a:r>
              <a:rPr lang="en-US" sz="1500" dirty="0">
                <a:solidFill>
                  <a:schemeClr val="tx1"/>
                </a:solidFill>
              </a:rPr>
              <a:t>No confío en lo envasado</a:t>
            </a:r>
            <a:endParaRPr lang="en-US" sz="1500" dirty="0"/>
          </a:p>
        </p:txBody>
      </p:sp>
      <p:sp>
        <p:nvSpPr>
          <p:cNvPr id="31" name="Shape 24"/>
          <p:cNvSpPr/>
          <p:nvPr/>
        </p:nvSpPr>
        <p:spPr>
          <a:xfrm>
            <a:off x="5285232" y="3712464"/>
            <a:ext cx="777240" cy="347472"/>
          </a:xfrm>
          <a:prstGeom prst="rightArrow">
            <a:avLst/>
          </a:prstGeom>
          <a:solidFill>
            <a:schemeClr val="accent3"/>
          </a:solidFill>
          <a:ln w="12700">
            <a:solidFill>
              <a:schemeClr val="accent3"/>
            </a:solidFill>
            <a:prstDash val="solid"/>
          </a:ln>
        </p:spPr>
      </p:sp>
      <p:sp>
        <p:nvSpPr>
          <p:cNvPr id="32" name="Shape 25"/>
          <p:cNvSpPr/>
          <p:nvPr/>
        </p:nvSpPr>
        <p:spPr>
          <a:xfrm>
            <a:off x="6217920" y="3529584"/>
            <a:ext cx="3657600" cy="713232"/>
          </a:xfrm>
          <a:prstGeom prst="roundRect">
            <a:avLst>
              <a:gd name="adj" fmla="val 50000"/>
            </a:avLst>
          </a:prstGeom>
          <a:solidFill>
            <a:schemeClr val="tx2"/>
          </a:solidFill>
          <a:ln w="12700">
            <a:solidFill>
              <a:schemeClr val="tx2"/>
            </a:solidFill>
            <a:prstDash val="solid"/>
          </a:ln>
        </p:spPr>
      </p:sp>
      <p:sp>
        <p:nvSpPr>
          <p:cNvPr id="33" name="Shape 26"/>
          <p:cNvSpPr/>
          <p:nvPr/>
        </p:nvSpPr>
        <p:spPr>
          <a:xfrm>
            <a:off x="6327648" y="3657600"/>
            <a:ext cx="457200" cy="457200"/>
          </a:xfrm>
          <a:prstGeom prst="ellipse">
            <a:avLst/>
          </a:prstGeom>
          <a:solidFill>
            <a:schemeClr val="accent4"/>
          </a:solidFill>
          <a:ln w="12700">
            <a:solidFill>
              <a:schemeClr val="accent4"/>
            </a:solidFill>
            <a:prstDash val="solid"/>
          </a:ln>
        </p:spPr>
      </p:sp>
      <p:pic>
        <p:nvPicPr>
          <p:cNvPr id="34" name="Image 5" descr="preencoded.png">    </p:cNvPr>
          <p:cNvPicPr>
            <a:picLocks noChangeAspect="1"/>
          </p:cNvPicPr>
          <p:nvPr/>
        </p:nvPicPr>
        <p:blipFill>
          <a:blip r:embed="rId6"/>
          <a:stretch>
            <a:fillRect/>
          </a:stretch>
        </p:blipFill>
        <p:spPr>
          <a:xfrm>
            <a:off x="6428232" y="3758184"/>
            <a:ext cx="256032" cy="256032"/>
          </a:xfrm>
          <a:prstGeom prst="rect">
            <a:avLst/>
          </a:prstGeom>
        </p:spPr>
      </p:pic>
      <p:sp>
        <p:nvSpPr>
          <p:cNvPr id="35" name="Text 27"/>
          <p:cNvSpPr txBox="1"/>
          <p:nvPr/>
        </p:nvSpPr>
        <p:spPr>
          <a:xfrm>
            <a:off x="6903720" y="3529584"/>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Hierro en mg y QR al laboratorio</a:t>
            </a:r>
            <a:endParaRPr lang="en-US" sz="1500" dirty="0"/>
          </a:p>
        </p:txBody>
      </p:sp>
      <p:sp>
        <p:nvSpPr>
          <p:cNvPr id="36" name="Text 28"/>
          <p:cNvSpPr txBox="1"/>
          <p:nvPr/>
        </p:nvSpPr>
        <p:spPr>
          <a:xfrm>
            <a:off x="10012680" y="3529584"/>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42 % · Kantar 2025</a:t>
            </a:r>
            <a:endParaRPr lang="en-US" sz="1200" dirty="0"/>
          </a:p>
        </p:txBody>
      </p:sp>
      <p:sp>
        <p:nvSpPr>
          <p:cNvPr id="37" name="Shape 29"/>
          <p:cNvSpPr/>
          <p:nvPr/>
        </p:nvSpPr>
        <p:spPr>
          <a:xfrm>
            <a:off x="548640" y="4379976"/>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8" name="Shape 30"/>
          <p:cNvSpPr/>
          <p:nvPr/>
        </p:nvSpPr>
        <p:spPr>
          <a:xfrm>
            <a:off x="658368" y="4507992"/>
            <a:ext cx="457200" cy="457200"/>
          </a:xfrm>
          <a:prstGeom prst="ellipse">
            <a:avLst/>
          </a:prstGeom>
          <a:solidFill>
            <a:schemeClr val="accent6"/>
          </a:solidFill>
          <a:ln w="12700">
            <a:solidFill>
              <a:schemeClr val="accent6"/>
            </a:solidFill>
            <a:prstDash val="solid"/>
          </a:ln>
        </p:spPr>
      </p:sp>
      <p:pic>
        <p:nvPicPr>
          <p:cNvPr id="39" name="Image 6" descr="preencoded.png">    </p:cNvPr>
          <p:cNvPicPr>
            <a:picLocks noChangeAspect="1"/>
          </p:cNvPicPr>
          <p:nvPr/>
        </p:nvPicPr>
        <p:blipFill>
          <a:blip r:embed="rId7"/>
          <a:stretch>
            <a:fillRect/>
          </a:stretch>
        </p:blipFill>
        <p:spPr>
          <a:xfrm>
            <a:off x="758952" y="4608576"/>
            <a:ext cx="256032" cy="256032"/>
          </a:xfrm>
          <a:prstGeom prst="rect">
            <a:avLst/>
          </a:prstGeom>
        </p:spPr>
      </p:pic>
      <p:sp>
        <p:nvSpPr>
          <p:cNvPr id="40" name="Text 31"/>
          <p:cNvSpPr txBox="1"/>
          <p:nvPr/>
        </p:nvSpPr>
        <p:spPr>
          <a:xfrm>
            <a:off x="1234440" y="4379976"/>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jueves ya no sé qué mandar</a:t>
            </a:r>
            <a:endParaRPr lang="en-US" sz="1500" dirty="0"/>
          </a:p>
        </p:txBody>
      </p:sp>
      <p:sp>
        <p:nvSpPr>
          <p:cNvPr id="41" name="Shape 32"/>
          <p:cNvSpPr/>
          <p:nvPr/>
        </p:nvSpPr>
        <p:spPr>
          <a:xfrm>
            <a:off x="5285232" y="4562856"/>
            <a:ext cx="777240" cy="347472"/>
          </a:xfrm>
          <a:prstGeom prst="rightArrow">
            <a:avLst/>
          </a:prstGeom>
          <a:solidFill>
            <a:schemeClr val="accent3"/>
          </a:solidFill>
          <a:ln w="12700">
            <a:solidFill>
              <a:schemeClr val="accent3"/>
            </a:solidFill>
            <a:prstDash val="solid"/>
          </a:ln>
        </p:spPr>
      </p:sp>
      <p:sp>
        <p:nvSpPr>
          <p:cNvPr id="42" name="Shape 33"/>
          <p:cNvSpPr/>
          <p:nvPr/>
        </p:nvSpPr>
        <p:spPr>
          <a:xfrm>
            <a:off x="6217920" y="4379976"/>
            <a:ext cx="3657600" cy="713232"/>
          </a:xfrm>
          <a:prstGeom prst="roundRect">
            <a:avLst>
              <a:gd name="adj" fmla="val 50000"/>
            </a:avLst>
          </a:prstGeom>
          <a:solidFill>
            <a:schemeClr val="tx2"/>
          </a:solidFill>
          <a:ln w="12700">
            <a:solidFill>
              <a:schemeClr val="tx2"/>
            </a:solidFill>
            <a:prstDash val="solid"/>
          </a:ln>
        </p:spPr>
      </p:sp>
      <p:sp>
        <p:nvSpPr>
          <p:cNvPr id="43" name="Shape 34"/>
          <p:cNvSpPr/>
          <p:nvPr/>
        </p:nvSpPr>
        <p:spPr>
          <a:xfrm>
            <a:off x="6327648" y="4507992"/>
            <a:ext cx="457200" cy="457200"/>
          </a:xfrm>
          <a:prstGeom prst="ellipse">
            <a:avLst/>
          </a:prstGeom>
          <a:solidFill>
            <a:schemeClr val="accent4"/>
          </a:solidFill>
          <a:ln w="12700">
            <a:solidFill>
              <a:schemeClr val="accent4"/>
            </a:solidFill>
            <a:prstDash val="solid"/>
          </a:ln>
        </p:spPr>
      </p:sp>
      <p:pic>
        <p:nvPicPr>
          <p:cNvPr id="44" name="Image 7" descr="preencoded.png">    </p:cNvPr>
          <p:cNvPicPr>
            <a:picLocks noChangeAspect="1"/>
          </p:cNvPicPr>
          <p:nvPr/>
        </p:nvPicPr>
        <p:blipFill>
          <a:blip r:embed="rId8"/>
          <a:stretch>
            <a:fillRect/>
          </a:stretch>
        </p:blipFill>
        <p:spPr>
          <a:xfrm>
            <a:off x="6428232" y="4608576"/>
            <a:ext cx="256032" cy="256032"/>
          </a:xfrm>
          <a:prstGeom prst="rect">
            <a:avLst/>
          </a:prstGeom>
        </p:spPr>
      </p:pic>
      <p:sp>
        <p:nvSpPr>
          <p:cNvPr id="45" name="Text 35"/>
          <p:cNvSpPr txBox="1"/>
          <p:nvPr/>
        </p:nvSpPr>
        <p:spPr>
          <a:xfrm>
            <a:off x="6903720" y="4379976"/>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Tres sabores en el mismo pack</a:t>
            </a:r>
            <a:endParaRPr lang="en-US" sz="1500" dirty="0"/>
          </a:p>
        </p:txBody>
      </p:sp>
      <p:sp>
        <p:nvSpPr>
          <p:cNvPr id="46" name="Text 36"/>
          <p:cNvSpPr txBox="1"/>
          <p:nvPr/>
        </p:nvSpPr>
        <p:spPr>
          <a:xfrm>
            <a:off x="10012680" y="4379976"/>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47" name="Shape 37"/>
          <p:cNvSpPr/>
          <p:nvPr/>
        </p:nvSpPr>
        <p:spPr>
          <a:xfrm>
            <a:off x="548640" y="5230368"/>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8" name="Shape 38"/>
          <p:cNvSpPr/>
          <p:nvPr/>
        </p:nvSpPr>
        <p:spPr>
          <a:xfrm>
            <a:off x="658368" y="5358384"/>
            <a:ext cx="457200" cy="457200"/>
          </a:xfrm>
          <a:prstGeom prst="ellipse">
            <a:avLst/>
          </a:prstGeom>
          <a:solidFill>
            <a:schemeClr val="accent6"/>
          </a:solidFill>
          <a:ln w="12700">
            <a:solidFill>
              <a:schemeClr val="accent6"/>
            </a:solidFill>
            <a:prstDash val="solid"/>
          </a:ln>
        </p:spPr>
      </p:sp>
      <p:pic>
        <p:nvPicPr>
          <p:cNvPr id="49" name="Image 8" descr="preencoded.png">    </p:cNvPr>
          <p:cNvPicPr>
            <a:picLocks noChangeAspect="1"/>
          </p:cNvPicPr>
          <p:nvPr/>
        </p:nvPicPr>
        <p:blipFill>
          <a:blip r:embed="rId9"/>
          <a:stretch>
            <a:fillRect/>
          </a:stretch>
        </p:blipFill>
        <p:spPr>
          <a:xfrm>
            <a:off x="758952" y="5458968"/>
            <a:ext cx="256032" cy="256032"/>
          </a:xfrm>
          <a:prstGeom prst="rect">
            <a:avLst/>
          </a:prstGeom>
        </p:spPr>
      </p:pic>
      <p:sp>
        <p:nvSpPr>
          <p:cNvPr id="50" name="Text 39"/>
          <p:cNvSpPr txBox="1"/>
          <p:nvPr/>
        </p:nvSpPr>
        <p:spPr>
          <a:xfrm>
            <a:off x="1234440" y="5230368"/>
            <a:ext cx="3794760" cy="713232"/>
          </a:xfrm>
          <a:prstGeom prst="rect">
            <a:avLst/>
          </a:prstGeom>
          <a:noFill/>
          <a:ln/>
        </p:spPr>
        <p:txBody>
          <a:bodyPr wrap="square" lIns="0" tIns="0" rIns="0" bIns="0" rtlCol="0" anchor="ctr"/>
          <a:lstStyle/>
          <a:p>
            <a:pPr indent="0" marL="0">
              <a:buNone/>
            </a:pPr>
            <a:r>
              <a:rPr lang="en-US" sz="1500" dirty="0">
                <a:solidFill>
                  <a:schemeClr val="tx1"/>
                </a:solidFill>
              </a:rPr>
              <a:t>La mochila malogra la comida</a:t>
            </a:r>
            <a:endParaRPr lang="en-US" sz="1500" dirty="0"/>
          </a:p>
        </p:txBody>
      </p:sp>
      <p:sp>
        <p:nvSpPr>
          <p:cNvPr id="51" name="Shape 40"/>
          <p:cNvSpPr/>
          <p:nvPr/>
        </p:nvSpPr>
        <p:spPr>
          <a:xfrm>
            <a:off x="5285232" y="5413248"/>
            <a:ext cx="777240" cy="347472"/>
          </a:xfrm>
          <a:prstGeom prst="rightArrow">
            <a:avLst/>
          </a:prstGeom>
          <a:solidFill>
            <a:schemeClr val="accent3"/>
          </a:solidFill>
          <a:ln w="12700">
            <a:solidFill>
              <a:schemeClr val="accent3"/>
            </a:solidFill>
            <a:prstDash val="solid"/>
          </a:ln>
        </p:spPr>
      </p:sp>
      <p:sp>
        <p:nvSpPr>
          <p:cNvPr id="52" name="Shape 41"/>
          <p:cNvSpPr/>
          <p:nvPr/>
        </p:nvSpPr>
        <p:spPr>
          <a:xfrm>
            <a:off x="6217920" y="5230368"/>
            <a:ext cx="3657600" cy="713232"/>
          </a:xfrm>
          <a:prstGeom prst="roundRect">
            <a:avLst>
              <a:gd name="adj" fmla="val 50000"/>
            </a:avLst>
          </a:prstGeom>
          <a:solidFill>
            <a:schemeClr val="tx2"/>
          </a:solidFill>
          <a:ln w="12700">
            <a:solidFill>
              <a:schemeClr val="tx2"/>
            </a:solidFill>
            <a:prstDash val="solid"/>
          </a:ln>
        </p:spPr>
      </p:sp>
      <p:sp>
        <p:nvSpPr>
          <p:cNvPr id="53" name="Shape 42"/>
          <p:cNvSpPr/>
          <p:nvPr/>
        </p:nvSpPr>
        <p:spPr>
          <a:xfrm>
            <a:off x="6327648" y="5358384"/>
            <a:ext cx="457200" cy="457200"/>
          </a:xfrm>
          <a:prstGeom prst="ellipse">
            <a:avLst/>
          </a:prstGeom>
          <a:solidFill>
            <a:schemeClr val="accent4"/>
          </a:solidFill>
          <a:ln w="12700">
            <a:solidFill>
              <a:schemeClr val="accent4"/>
            </a:solidFill>
            <a:prstDash val="solid"/>
          </a:ln>
        </p:spPr>
      </p:sp>
      <p:pic>
        <p:nvPicPr>
          <p:cNvPr id="54" name="Image 9" descr="preencoded.png">    </p:cNvPr>
          <p:cNvPicPr>
            <a:picLocks noChangeAspect="1"/>
          </p:cNvPicPr>
          <p:nvPr/>
        </p:nvPicPr>
        <p:blipFill>
          <a:blip r:embed="rId10"/>
          <a:stretch>
            <a:fillRect/>
          </a:stretch>
        </p:blipFill>
        <p:spPr>
          <a:xfrm>
            <a:off x="6428232" y="5458968"/>
            <a:ext cx="256032" cy="256032"/>
          </a:xfrm>
          <a:prstGeom prst="rect">
            <a:avLst/>
          </a:prstGeom>
        </p:spPr>
      </p:pic>
      <p:sp>
        <p:nvSpPr>
          <p:cNvPr id="55" name="Text 43"/>
          <p:cNvSpPr txBox="1"/>
          <p:nvPr/>
        </p:nvSpPr>
        <p:spPr>
          <a:xfrm>
            <a:off x="6903720" y="5230368"/>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Porción sellada que no necesita frío</a:t>
            </a:r>
            <a:endParaRPr lang="en-US" sz="1500" dirty="0"/>
          </a:p>
        </p:txBody>
      </p:sp>
      <p:sp>
        <p:nvSpPr>
          <p:cNvPr id="56" name="Text 44"/>
          <p:cNvSpPr txBox="1"/>
          <p:nvPr/>
        </p:nvSpPr>
        <p:spPr>
          <a:xfrm>
            <a:off x="10012680" y="5230368"/>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FRENTE A LA COMPETENCIA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Precio de Fika, con hierro medido y entrega en casa</a:t>
            </a:r>
            <a:endParaRPr lang="en-US" sz="3400" dirty="0"/>
          </a:p>
        </p:txBody>
      </p:sp>
      <p:graphicFrame>
        <p:nvGraphicFramePr>
          <p:cNvPr id="4" name="Chart 0" descr=""/>
          <p:cNvGraphicFramePr/>
          <p:nvPr/>
        </p:nvGraphicFramePr>
        <p:xfrm>
          <a:off x="365760" y="1463040"/>
          <a:ext cx="640080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040880" y="1600200"/>
          <a:ext cx="4599432" cy="914400"/>
        </p:xfrm>
        <a:graphic>
          <a:graphicData uri="http://schemas.openxmlformats.org/drawingml/2006/table">
            <a:tbl>
              <a:tblPr/>
              <a:tblGrid>
                <a:gridCol w="1399032"/>
                <a:gridCol w="800100"/>
                <a:gridCol w="800100"/>
                <a:gridCol w="800100"/>
                <a:gridCol w="800100"/>
              </a:tblGrid>
              <a:tr h="475488">
                <a:tc>
                  <a:txBody>
                    <a:bodyPr/>
                    <a:lstStyle/>
                    <a:p>
                      <a:pPr indent="0" marL="0">
                        <a:buNone/>
                      </a:pPr>
                      <a:r>
                        <a:rPr lang="en-US" sz="1200" b="1" dirty="0">
                          <a:solidFill>
                            <a:schemeClr val="bg1"/>
                          </a:solidFill>
                        </a:rPr>
                        <a:t>Atributo</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AndiBite</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accent1"/>
                    </a:solidFill>
                  </a:tcPr>
                </a:tc>
                <a:tc>
                  <a:txBody>
                    <a:bodyPr/>
                    <a:lstStyle/>
                    <a:p>
                      <a:pPr algn="ctr" indent="0" marL="0">
                        <a:buNone/>
                      </a:pPr>
                      <a:r>
                        <a:rPr lang="en-US" sz="1100" b="1" dirty="0">
                          <a:solidFill>
                            <a:schemeClr val="bg1"/>
                          </a:solidFill>
                        </a:rPr>
                        <a:t>Nutri H</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Fika</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Mamalama</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75488">
                <a:tc>
                  <a:txBody>
                    <a:bodyPr/>
                    <a:lstStyle/>
                    <a:p>
                      <a:pPr indent="0" marL="0">
                        <a:buNone/>
                      </a:pPr>
                      <a:r>
                        <a:rPr lang="en-US" sz="1300" dirty="0">
                          <a:solidFill>
                            <a:schemeClr val="tx1"/>
                          </a:solidFill>
                        </a:rPr>
                        <a:t>Hierro declarado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300" dirty="0">
                          <a:solidFill>
                            <a:schemeClr val="tx1"/>
                          </a:solidFill>
                        </a:rPr>
                        <a:t>Sin octógono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300" dirty="0">
                          <a:solidFill>
                            <a:schemeClr val="tx1"/>
                          </a:solidFill>
                        </a:rPr>
                        <a:t>Varios sabores en un pack</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300" dirty="0">
                          <a:solidFill>
                            <a:schemeClr val="tx1"/>
                          </a:solidFill>
                        </a:rPr>
                        <a:t>Entrega a domicilio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300" dirty="0">
                          <a:solidFill>
                            <a:schemeClr val="tx1"/>
                          </a:solidFill>
                        </a:rPr>
                        <a:t>Formato de postre</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040880" y="4526280"/>
            <a:ext cx="4599432" cy="274320"/>
          </a:xfrm>
          <a:prstGeom prst="rect">
            <a:avLst/>
          </a:prstGeom>
          <a:noFill/>
          <a:ln/>
        </p:spPr>
        <p:txBody>
          <a:bodyPr wrap="square" lIns="0" tIns="0" rIns="0" bIns="0" rtlCol="0" anchor="t"/>
          <a:lstStyle/>
          <a:p>
            <a:pPr indent="0" marL="0">
              <a:buNone/>
            </a:pPr>
            <a:r>
              <a:rPr lang="en-US" sz="1100" i="1" dirty="0">
                <a:solidFill>
                  <a:schemeClr val="accent2"/>
                </a:solidFill>
              </a:rPr>
              <a:t>* Se confirma en laboratorio. ? = por completar en el store check.</a:t>
            </a:r>
            <a:endParaRPr lang="en-US" sz="1100" dirty="0"/>
          </a:p>
        </p:txBody>
      </p:sp>
      <p:sp>
        <p:nvSpPr>
          <p:cNvPr id="7" name="Shape 3"/>
          <p:cNvSpPr/>
          <p:nvPr/>
        </p:nvSpPr>
        <p:spPr>
          <a:xfrm>
            <a:off x="7040880" y="4892040"/>
            <a:ext cx="4599432" cy="1234440"/>
          </a:xfrm>
          <a:prstGeom prst="roundRect">
            <a:avLst>
              <a:gd name="adj" fmla="val 888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7269480" y="4937760"/>
            <a:ext cx="4206240" cy="1143000"/>
          </a:xfrm>
          <a:prstGeom prst="rect">
            <a:avLst/>
          </a:prstGeom>
          <a:noFill/>
          <a:ln/>
        </p:spPr>
        <p:txBody>
          <a:bodyPr wrap="square" lIns="0" tIns="0" rIns="0" bIns="0" rtlCol="0" anchor="ctr"/>
          <a:lstStyle/>
          <a:p>
            <a:pPr indent="0" marL="0">
              <a:buNone/>
            </a:pPr>
            <a:r>
              <a:rPr lang="en-US" sz="2000" b="1" dirty="0">
                <a:solidFill>
                  <a:schemeClr val="accent3"/>
                </a:solidFill>
              </a:rPr>
              <a:t>S/4.15 por brownie</a:t>
            </a:r>
            <a:endParaRPr lang="en-US" sz="1400" dirty="0"/>
          </a:p>
          <a:p>
            <a:pPr indent="0" marL="0">
              <a:buNone/>
            </a:pPr>
            <a:r>
              <a:rPr lang="en-US" sz="1400" dirty="0">
                <a:solidFill>
                  <a:schemeClr val="bg1"/>
                </a:solidFill>
              </a:rPr>
              <a:t>Por WhatsApp; S/4.33 en el stand. Hasta 8 % más que Fika, con hierro medido y en tres sabores.</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731520" y="822960"/>
            <a:ext cx="6766560" cy="320040"/>
          </a:xfrm>
          <a:prstGeom prst="rect">
            <a:avLst/>
          </a:prstGeom>
          <a:noFill/>
          <a:ln/>
        </p:spPr>
        <p:txBody>
          <a:bodyPr wrap="square" lIns="0" tIns="0" rIns="0" bIns="0" rtlCol="0" anchor="t"/>
          <a:lstStyle/>
          <a:p>
            <a:pPr indent="0" marL="0">
              <a:buNone/>
            </a:pPr>
            <a:r>
              <a:rPr lang="en-US" sz="1300" b="1" spc="200" kern="0" dirty="0">
                <a:solidFill>
                  <a:schemeClr val="accent3"/>
                </a:solidFill>
              </a:rPr>
              <a:t>PROPUESTA DE VALOR EN UNA FRASE</a:t>
            </a:r>
            <a:endParaRPr lang="en-US" sz="1300" dirty="0"/>
          </a:p>
        </p:txBody>
      </p:sp>
      <p:sp>
        <p:nvSpPr>
          <p:cNvPr id="3" name="Text 0"/>
          <p:cNvSpPr/>
          <p:nvPr>
            <p:ph idx="100" type="title" hasCustomPrompt="1"/>
          </p:nvPr>
        </p:nvSpPr>
        <p:spPr>
          <a:xfrm>
            <a:off x="731520" y="1234440"/>
            <a:ext cx="6766560" cy="1463040"/>
          </a:xfrm>
          <a:prstGeom prst="rect">
            <a:avLst/>
          </a:prstGeom>
          <a:noFill/>
          <a:ln/>
        </p:spPr>
        <p:txBody>
          <a:bodyPr wrap="square" lIns="0" tIns="0" rIns="0" bIns="0" rtlCol="0" anchor="t"/>
          <a:lstStyle/>
          <a:p>
            <a:pPr algn="l" indent="0" marL="0">
              <a:buNone/>
            </a:pPr>
            <a:r>
              <a:rPr lang="en-US" sz="4800" b="1" dirty="0">
                <a:solidFill>
                  <a:schemeClr val="bg2"/>
                </a:solidFill>
              </a:rPr>
              <a:t>Hierro medido. Sabor a brownie.</a:t>
            </a:r>
            <a:endParaRPr lang="en-US" sz="4800" dirty="0"/>
          </a:p>
        </p:txBody>
      </p:sp>
      <p:sp>
        <p:nvSpPr>
          <p:cNvPr id="4" name="Text 2"/>
          <p:cNvSpPr txBox="1"/>
          <p:nvPr/>
        </p:nvSpPr>
        <p:spPr>
          <a:xfrm>
            <a:off x="731520" y="2834640"/>
            <a:ext cx="6766560" cy="457200"/>
          </a:xfrm>
          <a:prstGeom prst="rect">
            <a:avLst/>
          </a:prstGeom>
          <a:noFill/>
          <a:ln/>
        </p:spPr>
        <p:txBody>
          <a:bodyPr wrap="square" lIns="0" tIns="0" rIns="0" bIns="0" rtlCol="0" anchor="t"/>
          <a:lstStyle/>
          <a:p>
            <a:pPr indent="0" marL="0">
              <a:buNone/>
            </a:pPr>
            <a:r>
              <a:rPr lang="en-US" sz="2400" b="1" dirty="0">
                <a:solidFill>
                  <a:schemeClr val="accent5"/>
                </a:solidFill>
              </a:rPr>
              <a:t>El snack de lonchera que tu hijo sí se come</a:t>
            </a:r>
            <a:endParaRPr lang="en-US" sz="2400" dirty="0"/>
          </a:p>
        </p:txBody>
      </p:sp>
      <p:sp>
        <p:nvSpPr>
          <p:cNvPr id="5" name="Text 3"/>
          <p:cNvSpPr txBox="1"/>
          <p:nvPr/>
        </p:nvSpPr>
        <p:spPr>
          <a:xfrm>
            <a:off x="731520" y="3474720"/>
            <a:ext cx="6766560" cy="914400"/>
          </a:xfrm>
          <a:prstGeom prst="rect">
            <a:avLst/>
          </a:prstGeom>
          <a:noFill/>
          <a:ln/>
        </p:spPr>
        <p:txBody>
          <a:bodyPr wrap="square" lIns="0" tIns="0" rIns="0" bIns="0" rtlCol="0" anchor="t"/>
          <a:lstStyle/>
          <a:p>
            <a:pPr indent="0" marL="0">
              <a:buNone/>
            </a:pPr>
            <a:r>
              <a:rPr lang="en-US" sz="1700" dirty="0">
                <a:solidFill>
                  <a:schemeClr val="bg2"/>
                </a:solidFill>
              </a:rPr>
              <a:t>Para padres planificados que leen etiquetas: mini brownie de 20 g con sangrecita, sin octógono y en tres sabores que el niño sí pide.</a:t>
            </a:r>
            <a:endParaRPr lang="en-US" sz="1700" dirty="0"/>
          </a:p>
        </p:txBody>
      </p:sp>
      <p:sp>
        <p:nvSpPr>
          <p:cNvPr id="6" name="Text 4"/>
          <p:cNvSpPr txBox="1"/>
          <p:nvPr/>
        </p:nvSpPr>
        <p:spPr>
          <a:xfrm>
            <a:off x="731520" y="5074920"/>
            <a:ext cx="676656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PRÓXIMOS PASOS</a:t>
            </a:r>
            <a:endParaRPr lang="en-US" sz="1200" dirty="0"/>
          </a:p>
        </p:txBody>
      </p:sp>
      <p:sp>
        <p:nvSpPr>
          <p:cNvPr id="7" name="Shape 5"/>
          <p:cNvSpPr/>
          <p:nvPr/>
        </p:nvSpPr>
        <p:spPr>
          <a:xfrm>
            <a:off x="731520" y="5440680"/>
            <a:ext cx="2240280" cy="502920"/>
          </a:xfrm>
          <a:prstGeom prst="roundRect">
            <a:avLst>
              <a:gd name="adj" fmla="val 49091"/>
            </a:avLst>
          </a:prstGeom>
          <a:solidFill>
            <a:schemeClr val="accent2"/>
          </a:solidFill>
          <a:ln w="12700">
            <a:solidFill>
              <a:schemeClr val="accent5"/>
            </a:solidFill>
            <a:prstDash val="solid"/>
          </a:ln>
        </p:spPr>
      </p:sp>
      <p:sp>
        <p:nvSpPr>
          <p:cNvPr id="8" name="Text 6"/>
          <p:cNvSpPr txBox="1"/>
          <p:nvPr/>
        </p:nvSpPr>
        <p:spPr>
          <a:xfrm>
            <a:off x="73152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Cargar el focus 2</a:t>
            </a:r>
            <a:endParaRPr lang="en-US" sz="1300" dirty="0"/>
          </a:p>
        </p:txBody>
      </p:sp>
      <p:sp>
        <p:nvSpPr>
          <p:cNvPr id="9" name="Shape 7"/>
          <p:cNvSpPr/>
          <p:nvPr/>
        </p:nvSpPr>
        <p:spPr>
          <a:xfrm>
            <a:off x="3063240" y="5440680"/>
            <a:ext cx="2240280" cy="502920"/>
          </a:xfrm>
          <a:prstGeom prst="roundRect">
            <a:avLst>
              <a:gd name="adj" fmla="val 49091"/>
            </a:avLst>
          </a:prstGeom>
          <a:solidFill>
            <a:schemeClr val="accent2"/>
          </a:solidFill>
          <a:ln w="12700">
            <a:solidFill>
              <a:schemeClr val="accent5"/>
            </a:solidFill>
            <a:prstDash val="solid"/>
          </a:ln>
        </p:spPr>
      </p:sp>
      <p:sp>
        <p:nvSpPr>
          <p:cNvPr id="10" name="Text 8"/>
          <p:cNvSpPr txBox="1"/>
          <p:nvPr/>
        </p:nvSpPr>
        <p:spPr>
          <a:xfrm>
            <a:off x="306324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Cotizar stands y maquila</a:t>
            </a:r>
            <a:endParaRPr lang="en-US" sz="1300" dirty="0"/>
          </a:p>
        </p:txBody>
      </p:sp>
      <p:sp>
        <p:nvSpPr>
          <p:cNvPr id="11" name="Shape 9"/>
          <p:cNvSpPr/>
          <p:nvPr/>
        </p:nvSpPr>
        <p:spPr>
          <a:xfrm>
            <a:off x="5394960" y="5440680"/>
            <a:ext cx="2240280" cy="502920"/>
          </a:xfrm>
          <a:prstGeom prst="roundRect">
            <a:avLst>
              <a:gd name="adj" fmla="val 49091"/>
            </a:avLst>
          </a:prstGeom>
          <a:solidFill>
            <a:schemeClr val="accent2"/>
          </a:solidFill>
          <a:ln w="12700">
            <a:solidFill>
              <a:schemeClr val="accent5"/>
            </a:solidFill>
            <a:prstDash val="solid"/>
          </a:ln>
        </p:spPr>
      </p:sp>
      <p:sp>
        <p:nvSpPr>
          <p:cNvPr id="12" name="Text 10"/>
          <p:cNvSpPr txBox="1"/>
          <p:nvPr/>
        </p:nvSpPr>
        <p:spPr>
          <a:xfrm>
            <a:off x="539496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Elegir los 2 primeros puntos</a:t>
            </a:r>
            <a:endParaRPr lang="en-US" sz="1300" dirty="0"/>
          </a:p>
        </p:txBody>
      </p:sp>
      <p:sp>
        <p:nvSpPr>
          <p:cNvPr id="13" name="IMAGEN_4"/>
          <p:cNvSpPr/>
          <p:nvPr/>
        </p:nvSpPr>
        <p:spPr>
          <a:xfrm>
            <a:off x="8001000" y="685800"/>
            <a:ext cx="3611880" cy="5486400"/>
          </a:xfrm>
          <a:prstGeom prst="roundRect">
            <a:avLst>
              <a:gd name="adj" fmla="val 3797"/>
            </a:avLst>
          </a:prstGeom>
          <a:solidFill>
            <a:schemeClr val="accent2"/>
          </a:solidFill>
          <a:ln w="19050">
            <a:solidFill>
              <a:schemeClr val="accent5"/>
            </a:solidFill>
            <a:prstDash val="dash"/>
          </a:ln>
        </p:spPr>
      </p:sp>
      <p:pic>
        <p:nvPicPr>
          <p:cNvPr id="14" name="Image 0" descr="preencoded.png">    </p:cNvPr>
          <p:cNvPicPr>
            <a:picLocks noChangeAspect="1"/>
          </p:cNvPicPr>
          <p:nvPr/>
        </p:nvPicPr>
        <p:blipFill>
          <a:blip r:embed="rId1"/>
          <a:stretch>
            <a:fillRect/>
          </a:stretch>
        </p:blipFill>
        <p:spPr>
          <a:xfrm>
            <a:off x="9441180" y="2514600"/>
            <a:ext cx="731520" cy="731520"/>
          </a:xfrm>
          <a:prstGeom prst="rect">
            <a:avLst/>
          </a:prstGeom>
        </p:spPr>
      </p:pic>
      <p:sp>
        <p:nvSpPr>
          <p:cNvPr id="15" name="Text 12"/>
          <p:cNvSpPr txBox="1"/>
          <p:nvPr/>
        </p:nvSpPr>
        <p:spPr>
          <a:xfrm>
            <a:off x="8183880" y="3429000"/>
            <a:ext cx="3246120" cy="1097280"/>
          </a:xfrm>
          <a:prstGeom prst="rect">
            <a:avLst/>
          </a:prstGeom>
          <a:noFill/>
          <a:ln/>
        </p:spPr>
        <p:txBody>
          <a:bodyPr wrap="square" lIns="0" tIns="0" rIns="0" bIns="0" rtlCol="0" anchor="t"/>
          <a:lstStyle/>
          <a:p>
            <a:pPr algn="ctr" indent="0" marL="0">
              <a:buNone/>
            </a:pPr>
            <a:r>
              <a:rPr lang="en-US" sz="1600" b="1" dirty="0">
                <a:solidFill>
                  <a:schemeClr val="bg2"/>
                </a:solidFill>
              </a:rPr>
              <a:t>IMAGEN 4</a:t>
            </a:r>
            <a:endParaRPr lang="en-US" sz="1400" dirty="0"/>
          </a:p>
          <a:p>
            <a:pPr algn="ctr" indent="0" marL="0">
              <a:buNone/>
            </a:pPr>
            <a:r>
              <a:rPr lang="en-US" sz="1300" dirty="0">
                <a:solidFill>
                  <a:schemeClr val="bg2"/>
                </a:solidFill>
              </a:rPr>
              <a:t>Niño abriendo su lonchera con AndiBite</a:t>
            </a:r>
            <a:endParaRPr lang="en-US" sz="1400" dirty="0"/>
          </a:p>
          <a:p>
            <a:pPr algn="ctr" indent="0" marL="0">
              <a:buNone/>
            </a:pPr>
            <a:r>
              <a:rPr lang="en-US" sz="1100" i="1" dirty="0">
                <a:solidFill>
                  <a:schemeClr val="bg2"/>
                </a:solidFill>
              </a:rPr>
              <a:t>Prompt en las notas del orador</a:t>
            </a:r>
            <a:endParaRPr lang="en-US" sz="1400" dirty="0"/>
          </a:p>
        </p:txBody>
      </p:sp>
    </p:spTree>
  </p:cSld>
  <p:clrMapOvr>
    <a:masterClrMapping/>
  </p:clrMapOvr>
</p:sld>
</file>

<file path=ppt/theme/theme1.xml><?xml version="1.0" encoding="utf-8"?>
<a:theme xmlns:a="http://schemas.openxmlformats.org/drawingml/2006/main" name="AndiBite">
  <a:themeElements>
    <a:clrScheme name="AndiBite">
      <a:dk1>
        <a:srgbClr val="3B1A14"/>
      </a:dk1>
      <a:lt1>
        <a:srgbClr val="FFFFFF"/>
      </a:lt1>
      <a:dk2>
        <a:srgbClr val="4A2018"/>
      </a:dk2>
      <a:lt2>
        <a:srgbClr val="FBF3E8"/>
      </a:lt2>
      <a:accent1>
        <a:srgbClr val="BA4036"/>
      </a:accent1>
      <a:accent2>
        <a:srgbClr val="6B3A2A"/>
      </a:accent2>
      <a:accent3>
        <a:srgbClr val="E3A33B"/>
      </a:accent3>
      <a:accent4>
        <a:srgbClr val="7C8A3A"/>
      </a:accent4>
      <a:accent5>
        <a:srgbClr val="D9B48F"/>
      </a:accent5>
      <a:accent6>
        <a:srgbClr val="8A1C2B"/>
      </a:accent6>
      <a:hlink>
        <a:srgbClr val="BA4036"/>
      </a:hlink>
      <a:folHlink>
        <a:srgbClr val="8A1C2B"/>
      </a:folHlink>
    </a:clrScheme>
    <a:fontScheme name="AndiBi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AndiBite — Trabajos de campo 5 a 8</dc:title>
  <dc:subject>PptxGenJS Presentation</dc:subject>
  <dc:creator>Grupo 2</dc:creator>
  <cp:lastModifiedBy>Grupo 2</cp:lastModifiedBy>
  <cp:revision>1</cp:revision>
  <dcterms:created xsi:type="dcterms:W3CDTF">2026-10-09T21:37:14Z</dcterms:created>
  <dcterms:modified xsi:type="dcterms:W3CDTF">2026-10-09T21:37:14Z</dcterms:modified>
</cp:coreProperties>
</file>