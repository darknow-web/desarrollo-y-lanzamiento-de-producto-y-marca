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0.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b8bb69-b414-c396-18b3-a7f853d6049f}">
          <p14:sldIdLst>
            <p14:sldId id="256"/>
            <p14:sldId id="257"/>
          </p14:sldIdLst>
        </p14:section>
        <p14:section name="TC5 · Cliente, mercado y canal" id="{c75fdb58-3a5e-814a-8b50-0f6439749379}">
          <p14:sldIdLst>
            <p14:sldId id="258"/>
            <p14:sldId id="259"/>
            <p14:sldId id="260"/>
            <p14:sldId id="261"/>
            <p14:sldId id="262"/>
            <p14:sldId id="263"/>
            <p14:sldId id="264"/>
            <p14:sldId id="265"/>
            <p14:sldId id="266"/>
            <p14:sldId id="267"/>
          </p14:sldIdLst>
        </p14:section>
        <p14:section name="TC6 · Relación e ingresos" id="{067a395e-ce24-4e78-513e-f5a3ef12b990}">
          <p14:sldIdLst>
            <p14:sldId id="268"/>
            <p14:sldId id="269"/>
            <p14:sldId id="270"/>
            <p14:sldId id="271"/>
            <p14:sldId id="272"/>
          </p14:sldIdLst>
        </p14:section>
        <p14:section name="TC7 · Canvas" id="{0b9c3147-6d48-d61c-817e-90ab944da897}">
          <p14:sldIdLst>
            <p14:sldId id="273"/>
            <p14:sldId id="274"/>
            <p14:sldId id="275"/>
            <p14:sldId id="276"/>
            <p14:sldId id="277"/>
            <p14:sldId id="278"/>
            <p14:sldId id="279"/>
            <p14:sldId id="280"/>
            <p14:sldId id="281"/>
          </p14:sldIdLst>
        </p14:section>
        <p14:section name="TC8 · Propuesta de valor" id="{3ea92967-6eeb-7a23-3396-5ba5b4f6efc0}">
          <p14:sldIdLst>
            <p14:sldId id="282"/>
            <p14:sldId id="283"/>
            <p14:sldId id="284"/>
            <p14:sldId id="285"/>
            <p14:sldId id="286"/>
            <p14:sldId id="287"/>
          </p14:sldIdLst>
        </p14:section>
        <p14:section name="Cierre" id="{aa15a221-9c37-1279-6c02-4149f3c5b515}">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Pt>
            <c:idx val="4"/>
            <c:bubble3D val="0"/>
            <c:spPr>
              <a:solidFill>
                <a:srgbClr val="D9B48F"/>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Stands y carritos</c:v>
                </c:pt>
                <c:pt idx="1">
                  <c:v>WhatsApp (recompra)</c:v>
                </c:pt>
                <c:pt idx="2">
                  <c:v>Ferias y eventos</c:v>
                </c:pt>
                <c:pt idx="3">
                  <c:v>Quioscos escolares</c:v>
                </c:pt>
                <c:pt idx="4">
                  <c:v>Tiendas naturistas</c:v>
                </c:pt>
              </c:strCache>
            </c:strRef>
          </c:cat>
          <c:val>
            <c:numRef>
              <c:f>Sheet1!$B$2:$B$6</c:f>
              <c:numCache>
                <c:ptCount val="5"/>
                <c:pt idx="0">
                  <c:v>22625</c:v>
                </c:pt>
                <c:pt idx="1">
                  <c:v>9176</c:v>
                </c:pt>
                <c:pt idx="2">
                  <c:v>8100</c:v>
                </c:pt>
                <c:pt idx="3">
                  <c:v>9165</c:v>
                </c:pt>
                <c:pt idx="4">
                  <c:v>3720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vendidos al mes por canal (enero a diciembre de 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450</c:v>
                </c:pt>
                <c:pt idx="1">
                  <c:v>1440</c:v>
                </c:pt>
                <c:pt idx="2">
                  <c:v>1800</c:v>
                </c:pt>
                <c:pt idx="3">
                  <c:v>1440</c:v>
                </c:pt>
                <c:pt idx="4">
                  <c:v>1530</c:v>
                </c:pt>
                <c:pt idx="5">
                  <c:v>1440</c:v>
                </c:pt>
                <c:pt idx="6">
                  <c:v>1700</c:v>
                </c:pt>
                <c:pt idx="7">
                  <c:v>2295</c:v>
                </c:pt>
                <c:pt idx="8">
                  <c:v>2430</c:v>
                </c:pt>
                <c:pt idx="9">
                  <c:v>2430</c:v>
                </c:pt>
                <c:pt idx="10">
                  <c:v>2430</c:v>
                </c:pt>
                <c:pt idx="11">
                  <c:v>3240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150</c:v>
                </c:pt>
                <c:pt idx="1">
                  <c:v>1000</c:v>
                </c:pt>
                <c:pt idx="2">
                  <c:v>600</c:v>
                </c:pt>
                <c:pt idx="3">
                  <c:v>600</c:v>
                </c:pt>
                <c:pt idx="4">
                  <c:v>750</c:v>
                </c:pt>
                <c:pt idx="5">
                  <c:v>600</c:v>
                </c:pt>
                <c:pt idx="6">
                  <c:v>450</c:v>
                </c:pt>
                <c:pt idx="7">
                  <c:v>600</c:v>
                </c:pt>
                <c:pt idx="8">
                  <c:v>600</c:v>
                </c:pt>
                <c:pt idx="9">
                  <c:v>600</c:v>
                </c:pt>
                <c:pt idx="10">
                  <c:v>450</c:v>
                </c:pt>
                <c:pt idx="11">
                  <c:v>1700</c:v>
                </c:pt>
              </c:numCache>
            </c:numRef>
          </c:val>
        </c:ser>
        <c:ser>
          <c:idx val="2"/>
          <c:order val="2"/>
          <c:tx>
            <c:strRef>
              <c:f>Sheet1!$D$1</c:f>
              <c:strCache>
                <c:ptCount val="1"/>
                <c:pt idx="0">
                  <c:v>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Sheet1!$D$2:$D$13</c:f>
              <c:numCache>
                <c:formatCode>General</c:formatCode>
                <c:ptCount val="12"/>
                <c:pt idx="0">
                  <c:v>150</c:v>
                </c:pt>
                <c:pt idx="1">
                  <c:v>210</c:v>
                </c:pt>
                <c:pt idx="2">
                  <c:v>854</c:v>
                </c:pt>
                <c:pt idx="3">
                  <c:v>840</c:v>
                </c:pt>
                <c:pt idx="4">
                  <c:v>714</c:v>
                </c:pt>
                <c:pt idx="5">
                  <c:v>798</c:v>
                </c:pt>
                <c:pt idx="6">
                  <c:v>714</c:v>
                </c:pt>
                <c:pt idx="7">
                  <c:v>753</c:v>
                </c:pt>
                <c:pt idx="8">
                  <c:v>1013</c:v>
                </c:pt>
                <c:pt idx="9">
                  <c:v>1061</c:v>
                </c:pt>
                <c:pt idx="10">
                  <c:v>1061</c:v>
                </c:pt>
                <c:pt idx="11">
                  <c:v>1008</c:v>
                </c:pt>
              </c:numCache>
            </c:numRef>
          </c:val>
        </c:ser>
        <c:ser>
          <c:idx val="3"/>
          <c:order val="3"/>
          <c:tx>
            <c:strRef>
              <c:f>Sheet1!$E$1</c:f>
              <c:strCache>
                <c:ptCount val="1"/>
                <c:pt idx="0">
                  <c:v>Colegios y naturistas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Sheet1!$E$2:$E$13</c:f>
              <c:numCache>
                <c:formatCode>General</c:formatCode>
                <c:ptCount val="12"/>
                <c:pt idx="0">
                  <c:v>120</c:v>
                </c:pt>
                <c:pt idx="1">
                  <c:v>180</c:v>
                </c:pt>
                <c:pt idx="2">
                  <c:v>480</c:v>
                </c:pt>
                <c:pt idx="3">
                  <c:v>840</c:v>
                </c:pt>
                <c:pt idx="4">
                  <c:v>1065</c:v>
                </c:pt>
                <c:pt idx="5">
                  <c:v>1200</c:v>
                </c:pt>
                <c:pt idx="6">
                  <c:v>960</c:v>
                </c:pt>
                <c:pt idx="7">
                  <c:v>1560</c:v>
                </c:pt>
                <c:pt idx="8">
                  <c:v>1560</c:v>
                </c:pt>
                <c:pt idx="9">
                  <c:v>1920</c:v>
                </c:pt>
                <c:pt idx="10">
                  <c:v>1920</c:v>
                </c:pt>
                <c:pt idx="11">
                  <c:v>1080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Unidad</c:v>
                </c:pt>
                <c:pt idx="1">
                  <c:v>Pack de 6</c:v>
                </c:pt>
                <c:pt idx="2">
                  <c:v>Pack de 12</c:v>
                </c:pt>
              </c:strCache>
            </c:strRef>
          </c:cat>
          <c:val>
            <c:numRef>
              <c:f>Sheet1!$B$2:$B$4</c:f>
              <c:numCache>
                <c:ptCount val="3"/>
                <c:pt idx="0">
                  <c:v>146635</c:v>
                </c:pt>
                <c:pt idx="1">
                  <c:v>83556</c:v>
                </c:pt>
                <c:pt idx="2">
                  <c:v>16340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(enero a diciembre de 2027)</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4286</c:v>
                </c:pt>
                <c:pt idx="1">
                  <c:v>14865</c:v>
                </c:pt>
                <c:pt idx="2">
                  <c:v>18280</c:v>
                </c:pt>
                <c:pt idx="3">
                  <c:v>17333</c:v>
                </c:pt>
                <c:pt idx="4">
                  <c:v>18784</c:v>
                </c:pt>
                <c:pt idx="5">
                  <c:v>18224</c:v>
                </c:pt>
                <c:pt idx="6">
                  <c:v>17710</c:v>
                </c:pt>
                <c:pt idx="7">
                  <c:v>23757</c:v>
                </c:pt>
                <c:pt idx="8">
                  <c:v>25620</c:v>
                </c:pt>
                <c:pt idx="9">
                  <c:v>26901</c:v>
                </c:pt>
                <c:pt idx="10">
                  <c:v>26062</c:v>
                </c:pt>
                <c:pt idx="11">
                  <c:v>34709</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 de producción del pack de 6 (S/ sin IGV)</a:t>
            </a:r>
          </a:p>
        </c:rich>
      </c:tx>
      <c:layout/>
      <c:overlay val="0"/>
    </c:title>
    <c:autoTitleDeleted val="0"/>
    <c:plotArea>
      <c:layout/>
      <c:barChart>
        <c:barDir val="bar"/>
        <c:grouping val="clustered"/>
        <c:varyColors val="0"/>
        <c:ser>
          <c:idx val="0"/>
          <c:order val="0"/>
          <c:tx>
            <c:strRef>
              <c:f>Sheet1!$B$1</c:f>
              <c:strCache>
                <c:ptCount val="1"/>
                <c:pt idx="0">
                  <c:v>S/ por pack</c:v>
                </c:pt>
              </c:strCache>
            </c:strRef>
          </c:tx>
          <c:spPr>
            <a:solidFill>
              <a:srgbClr val="6B3A2A"/>
            </a:solidFill>
            <a:effectLst/>
          </c:spPr>
          <c:invertIfNegative val="0"/>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cat>
            <c:multiLvlStrRef>
              <c:f>Sheet1!$A$2:$A$6</c:f>
              <c:multiLvlStrCache>
                <c:ptCount val="5"/>
                <c:lvl>
                  <c:pt idx="0">
                    <c:v>Merma</c:v>
                  </c:pt>
                  <c:pt idx="1">
                    <c:v>Calidad, transporte y almacén</c:v>
                  </c:pt>
                  <c:pt idx="2">
                    <c:v>Empaque y etiquetas</c:v>
                  </c:pt>
                  <c:pt idx="3">
                    <c:v>Insumos</c:v>
                  </c:pt>
                  <c:pt idx="4">
                    <c:v>Maquila</c:v>
                  </c:pt>
                </c:lvl>
              </c:multiLvlStrCache>
            </c:multiLvlStrRef>
          </c:cat>
          <c:val>
            <c:numRef>
              <c:f>Sheet1!$B$2:$B$6</c:f>
              <c:numCache>
                <c:formatCode>General</c:formatCode>
                <c:ptCount val="5"/>
                <c:pt idx="0">
                  <c:v>0.41</c:v>
                </c:pt>
                <c:pt idx="1">
                  <c:v>1.41</c:v>
                </c:pt>
                <c:pt idx="2">
                  <c:v>1.83</c:v>
                </c:pt>
                <c:pt idx="3">
                  <c:v>3.63</c:v>
                </c:pt>
                <c:pt idx="4">
                  <c:v>2.7</c:v>
                </c:pt>
              </c:numCache>
            </c:numRef>
          </c:val>
        </c:ser>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A dónde va el precio</a:t>
            </a:r>
          </a:p>
        </c:rich>
      </c:tx>
      <c:layout/>
      <c:overlay val="0"/>
    </c:title>
    <c:autoTitleDeleted val="0"/>
    <c:plotArea>
      <c:layout/>
      <c:barChart>
        <c:barDir val="col"/>
        <c:grouping val="stacked"/>
        <c:varyColors val="0"/>
        <c:ser>
          <c:idx val="0"/>
          <c:order val="0"/>
          <c:tx>
            <c:strRef>
              <c:f>Sheet1!$B$1</c:f>
              <c:strCache>
                <c:ptCount val="1"/>
                <c:pt idx="0">
                  <c:v>Producción</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Sheet1!$B$2:$B$2</c:f>
              <c:numCache>
                <c:formatCode>General</c:formatCode>
                <c:ptCount val="1"/>
                <c:pt idx="0">
                  <c:v>9.98</c:v>
                </c:pt>
              </c:numCache>
            </c:numRef>
          </c:val>
        </c:ser>
        <c:ser>
          <c:idx val="1"/>
          <c:order val="1"/>
          <c:tx>
            <c:strRef>
              <c:f>Sheet1!$C$1</c:f>
              <c:strCache>
                <c:ptCount val="1"/>
                <c:pt idx="0">
                  <c:v>Degustación, pasarela y renta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Sheet1!$C$2:$C$2</c:f>
              <c:numCache>
                <c:formatCode>General</c:formatCode>
                <c:ptCount val="1"/>
                <c:pt idx="0">
                  <c:v>2.69</c:v>
                </c:pt>
              </c:numCache>
            </c:numRef>
          </c:val>
        </c:ser>
        <c:ser>
          <c:idx val="2"/>
          <c:order val="2"/>
          <c:tx>
            <c:strRef>
              <c:f>Sheet1!$D$1</c:f>
              <c:strCache>
                <c:ptCount val="1"/>
                <c:pt idx="0">
                  <c:v>Contribución</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Sheet1!$D$2:$D$2</c:f>
              <c:numCache>
                <c:formatCode>General</c:formatCode>
                <c:ptCount val="1"/>
                <c:pt idx="0">
                  <c:v>10.97</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inicial: S/45,358</a:t>
            </a:r>
          </a:p>
        </c:rich>
      </c:tx>
      <c:layout/>
      <c:overlay val="0"/>
    </c:title>
    <c:autoTitleDeleted val="0"/>
    <c:plotArea>
      <c:layout/>
      <c:doughnutChart>
        <c:varyColors val="1"/>
        <c:ser>
          <c:idx val="0"/>
          <c:order val="0"/>
          <c:tx>
            <c:strRef>
              <c:f>Sheet1!$B$1</c:f>
              <c:strCache>
                <c:ptCount val="1"/>
                <c:pt idx="0">
                  <c:v>Inversión</c:v>
                </c:pt>
              </c:strCache>
            </c:strRef>
          </c:tx>
          <c:spPr>
            <a:solidFill>
              <a:schemeClr val="accent1"/>
            </a:solidFill>
            <a:ln w="9525" cap="flat">
              <a:solidFill>
                <a:srgbClr val="F9F9F9"/>
              </a:solidFill>
              <a:prstDash val="solid"/>
              <a:round/>
            </a:ln>
            <a:effectLst/>
          </c:spPr>
          <c:dPt>
            <c:idx val="0"/>
            <c:bubble3D val="0"/>
            <c:spPr>
              <a:solidFill>
                <a:srgbClr val="6B3A2A"/>
              </a:solidFill>
              <a:effectLst/>
            </c:spPr>
          </c:dPt>
          <c:dPt>
            <c:idx val="1"/>
            <c:bubble3D val="0"/>
            <c:spPr>
              <a:solidFill>
                <a:srgbClr val="E3A33B"/>
              </a:solidFill>
              <a:effectLst/>
            </c:spPr>
          </c:dPt>
          <c:dPt>
            <c:idx val="2"/>
            <c:bubble3D val="0"/>
            <c:spPr>
              <a:solidFill>
                <a:srgbClr val="BA4036"/>
              </a:solidFill>
              <a:effectLst/>
            </c:spPr>
          </c:dPt>
          <c:dPt>
            <c:idx val="3"/>
            <c:bubble3D val="0"/>
            <c:spPr>
              <a:solidFill>
                <a:srgbClr val="7C8A3A"/>
              </a:solidFill>
              <a:effectLst/>
            </c:spPr>
          </c:dPt>
          <c:dPt>
            <c:idx val="4"/>
            <c:bubble3D val="0"/>
            <c:spPr>
              <a:solidFill>
                <a:srgbClr val="D9B48F"/>
              </a:solidFill>
              <a:effectLst/>
            </c:spPr>
          </c:dPt>
          <c:dPt>
            <c:idx val="5"/>
            <c:bubble3D val="0"/>
            <c:spPr>
              <a:solidFill>
                <a:srgbClr val="8A1C2B"/>
              </a:solidFill>
              <a:effectLst/>
            </c:spPr>
          </c:dPt>
          <c:dLbls>
            <c:dLbl>
              <c:idx val="0"/>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Arranque</c:v>
                </c:pt>
                <c:pt idx="1">
                  <c:v>Equipos y 1 carrito</c:v>
                </c:pt>
                <c:pt idx="2">
                  <c:v>Documentos y permisos</c:v>
                </c:pt>
                <c:pt idx="3">
                  <c:v>Desarrollo del producto</c:v>
                </c:pt>
                <c:pt idx="4">
                  <c:v>Imprevistos</c:v>
                </c:pt>
                <c:pt idx="5">
                  <c:v>Marca y app</c:v>
                </c:pt>
              </c:strCache>
            </c:strRef>
          </c:cat>
          <c:val>
            <c:numRef>
              <c:f>Sheet1!$B$2:$B$7</c:f>
              <c:numCache>
                <c:ptCount val="6"/>
                <c:pt idx="0">
                  <c:v>19155</c:v>
                </c:pt>
                <c:pt idx="1">
                  <c:v>4838</c:v>
                </c:pt>
                <c:pt idx="2">
                  <c:v>6251</c:v>
                </c:pt>
                <c:pt idx="3">
                  <c:v>3741</c:v>
                </c:pt>
                <c:pt idx="4">
                  <c:v>4123</c:v>
                </c:pt>
                <c:pt idx="5">
                  <c:v>7250</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Costos de operar al mes (promedio): S/6,576</a:t>
            </a:r>
          </a:p>
        </c:rich>
      </c:tx>
      <c:layout/>
      <c:overlay val="0"/>
    </c:title>
    <c:autoTitleDeleted val="0"/>
    <c:plotArea>
      <c:layout/>
      <c:doughnutChart>
        <c:varyColors val="1"/>
        <c:ser>
          <c:idx val="0"/>
          <c:order val="0"/>
          <c:tx>
            <c:strRef>
              <c:f>Sheet1!$B$1</c:f>
              <c:strCache>
                <c:ptCount val="1"/>
                <c:pt idx="0">
                  <c:v>Costos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8A1C2B"/>
              </a:solidFill>
              <a:effectLst/>
            </c:spPr>
          </c:dPt>
          <c:dPt>
            <c:idx val="2"/>
            <c:bubble3D val="0"/>
            <c:spPr>
              <a:solidFill>
                <a:srgbClr val="6B3A2A"/>
              </a:solidFill>
              <a:effectLst/>
            </c:spPr>
          </c:dPt>
          <c:dPt>
            <c:idx val="3"/>
            <c:bubble3D val="0"/>
            <c:spPr>
              <a:solidFill>
                <a:srgbClr val="E3A33B"/>
              </a:solidFill>
              <a:effectLst/>
            </c:spPr>
          </c:dPt>
          <c:dPt>
            <c:idx val="4"/>
            <c:bubble3D val="0"/>
            <c:spPr>
              <a:solidFill>
                <a:srgbClr val="D9B48F"/>
              </a:solidFill>
              <a:effectLst/>
            </c:spPr>
          </c:dPt>
          <c:dPt>
            <c:idx val="5"/>
            <c:bubble3D val="0"/>
            <c:spPr>
              <a:solidFill>
                <a:srgbClr val="7C8A3A"/>
              </a:solidFill>
              <a:effectLst/>
            </c:spPr>
          </c:dPt>
          <c:dPt>
            <c:idx val="6"/>
            <c:bubble3D val="0"/>
            <c:spPr>
              <a:solidFill>
                <a:srgbClr val="4F7CAC"/>
              </a:solidFill>
              <a:effectLst/>
            </c:spPr>
          </c:dPt>
          <c:dPt>
            <c:idx val="7"/>
            <c:bubble3D val="0"/>
            <c:spPr>
              <a:solidFill>
                <a:srgbClr val="B9A089"/>
              </a:solidFill>
              <a:effectLst/>
            </c:spPr>
          </c:dPt>
          <c:dLbls>
            <c:dLbl>
              <c:idx val="0"/>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4"/>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5"/>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6"/>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7"/>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Sheet1!$A$2:$A$9</c:f>
              <c:strCache>
                <c:ptCount val="8"/>
                <c:pt idx="0">
                  <c:v>Vendedores de stand</c:v>
                </c:pt>
                <c:pt idx="1">
                  <c:v>Espacio de stands</c:v>
                </c:pt>
                <c:pt idx="2">
                  <c:v>Marketing</c:v>
                </c:pt>
                <c:pt idx="3">
                  <c:v>Administración</c:v>
                </c:pt>
                <c:pt idx="4">
                  <c:v>Coordinador</c:v>
                </c:pt>
                <c:pt idx="5">
                  <c:v>Ferias</c:v>
                </c:pt>
                <c:pt idx="6">
                  <c:v>App Andi</c:v>
                </c:pt>
                <c:pt idx="7">
                  <c:v>Depreciación</c:v>
                </c:pt>
              </c:strCache>
            </c:strRef>
          </c:cat>
          <c:val>
            <c:numRef>
              <c:f>Sheet1!$B$2:$B$9</c:f>
              <c:numCache>
                <c:ptCount val="8"/>
                <c:pt idx="0">
                  <c:v>1973</c:v>
                </c:pt>
                <c:pt idx="1">
                  <c:v>1400</c:v>
                </c:pt>
                <c:pt idx="2">
                  <c:v>900</c:v>
                </c:pt>
                <c:pt idx="3">
                  <c:v>760</c:v>
                </c:pt>
                <c:pt idx="4">
                  <c:v>709</c:v>
                </c:pt>
                <c:pt idx="5">
                  <c:v>450</c:v>
                </c:pt>
                <c:pt idx="6">
                  <c:v>250</c:v>
                </c:pt>
                <c:pt idx="7">
                  <c:v>134</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al punto de equilibrio (2027)</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870</c:v>
                </c:pt>
                <c:pt idx="1">
                  <c:v>2830</c:v>
                </c:pt>
                <c:pt idx="2">
                  <c:v>3734</c:v>
                </c:pt>
                <c:pt idx="3">
                  <c:v>3720</c:v>
                </c:pt>
                <c:pt idx="4">
                  <c:v>4059</c:v>
                </c:pt>
                <c:pt idx="5">
                  <c:v>4038</c:v>
                </c:pt>
                <c:pt idx="6">
                  <c:v>3824</c:v>
                </c:pt>
                <c:pt idx="7">
                  <c:v>5208</c:v>
                </c:pt>
                <c:pt idx="8">
                  <c:v>5603</c:v>
                </c:pt>
                <c:pt idx="9">
                  <c:v>6011</c:v>
                </c:pt>
                <c:pt idx="10">
                  <c:v>5861</c:v>
                </c:pt>
                <c:pt idx="11">
                  <c:v>7028</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Punto de equilibrio (3,035)</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none"/>
            <c:size val="6"/>
            <c:spPr>
              <a:solidFill>
                <a:srgbClr val="BA4036"/>
              </a:solidFill>
              <a:ln w="9525" cap="flat">
                <a:solidFill>
                  <a:srgbClr val="BA4036"/>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3035</c:v>
                </c:pt>
                <c:pt idx="1">
                  <c:v>3035</c:v>
                </c:pt>
                <c:pt idx="2">
                  <c:v>3035</c:v>
                </c:pt>
                <c:pt idx="3">
                  <c:v>3035</c:v>
                </c:pt>
                <c:pt idx="4">
                  <c:v>3035</c:v>
                </c:pt>
                <c:pt idx="5">
                  <c:v>3035</c:v>
                </c:pt>
                <c:pt idx="6">
                  <c:v>3035</c:v>
                </c:pt>
                <c:pt idx="7">
                  <c:v>3035</c:v>
                </c:pt>
                <c:pt idx="8">
                  <c:v>3035</c:v>
                </c:pt>
                <c:pt idx="9">
                  <c:v>3035</c:v>
                </c:pt>
                <c:pt idx="10">
                  <c:v>3035</c:v>
                </c:pt>
                <c:pt idx="11">
                  <c:v>3035</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Resultado operativo mensual de 2027 (S/)</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BA4036"/>
              </a:solidFill>
              <a:effectLst/>
            </c:spPr>
          </c:dPt>
          <c:dPt>
            <c:idx val="2"/>
            <c:invertIfNegative val="0"/>
            <c:bubble3D val="0"/>
            <c:spPr>
              <a:solidFill>
                <a:srgbClr val="7C8A3A"/>
              </a:solidFill>
              <a:effectLst/>
            </c:spPr>
          </c:dPt>
          <c:dPt>
            <c:idx val="3"/>
            <c:invertIfNegative val="0"/>
            <c:bubble3D val="0"/>
            <c:spPr>
              <a:solidFill>
                <a:srgbClr val="7C8A3A"/>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-2456</c:v>
                </c:pt>
                <c:pt idx="1">
                  <c:v>-1004</c:v>
                </c:pt>
                <c:pt idx="2">
                  <c:v>1545</c:v>
                </c:pt>
                <c:pt idx="3">
                  <c:v>895</c:v>
                </c:pt>
                <c:pt idx="4">
                  <c:v>1508</c:v>
                </c:pt>
                <c:pt idx="5">
                  <c:v>1090</c:v>
                </c:pt>
                <c:pt idx="6">
                  <c:v>905</c:v>
                </c:pt>
                <c:pt idx="7">
                  <c:v>1947</c:v>
                </c:pt>
                <c:pt idx="8">
                  <c:v>2553</c:v>
                </c:pt>
                <c:pt idx="9">
                  <c:v>2843</c:v>
                </c:pt>
                <c:pt idx="10">
                  <c:v>2462</c:v>
                </c:pt>
                <c:pt idx="11">
                  <c:v>2565</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Sheet1!$B$2:$B$8</c:f>
              <c:numCache>
                <c:formatCode>General</c:formatCode>
                <c:ptCount val="7"/>
                <c:pt idx="0">
                  <c:v>1.67</c:v>
                </c:pt>
                <c:pt idx="1">
                  <c:v>3.01</c:v>
                </c:pt>
                <c:pt idx="2">
                  <c:v>3.2</c:v>
                </c:pt>
                <c:pt idx="3">
                  <c:v>4</c:v>
                </c:pt>
                <c:pt idx="4">
                  <c:v>4.1</c:v>
                </c:pt>
                <c:pt idx="5">
                  <c:v>0</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Sheet1!$C$2:$C$8</c:f>
              <c:numCache>
                <c:formatCode>General</c:formatCode>
                <c:ptCount val="7"/>
                <c:pt idx="0">
                  <c:v>0</c:v>
                </c:pt>
                <c:pt idx="1">
                  <c:v>0</c:v>
                </c:pt>
                <c:pt idx="2">
                  <c:v>0</c:v>
                </c:pt>
                <c:pt idx="3">
                  <c:v>0</c:v>
                </c:pt>
                <c:pt idx="4">
                  <c:v>0</c:v>
                </c:pt>
                <c:pt idx="5">
                  <c:v>4.16</c:v>
                </c:pt>
                <c:pt idx="6">
                  <c:v>4.48</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10 de octubre de 2026 (unidad a S/6.00 y pack de 6 a S/27.90 en el stand). La innovación tecnológica es la app Andi, Misión Hierro, que viene con cada envase.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05: el público objetivo orienta (un rango de edad, NSE y distrito) y el arquetipo conecta (una persona con nombre, dolor y hábito). Regla de 3 de la clase: nombre, dolor y hábito. Le vendemos a Claudia, no a "madres de 32 a 45". Datos: APEIM 2025, CPI 2026 y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Partes esenciales de un arquetipo según la sesión 05: nombre, edad y ocupación; hábitos, frustraciones y valores; canales y comportamiento de compra. Guardiana del Hierro (la representa Claudia), El Resolutivo (Rodrigo) y El Prescriptor, que valida la marca ante los otros dos. Los porcentajes son el peso esperado de cada arquetipo en el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42 años, La Molina. Gerente de operaciones; su esposa viaja por trabajo y él arma las loncheras. Ingreso familiar S/18,000 (hipótesis, A2). No busca salud, busca resolver: un pack que dure la semana, que aguante la mochila y que pueda pedir por WhatsApp con recordatorio. El pack de 12 por WhatsApp a S/49.90 equivale a S/24.95 por cada 6, en el borde de lo que pagaría (S/18 a 24): lo que justifica la diferencia es que la app le arma las loncheras y le avisa antes de que se acabe el pack.
IMAGEN 2 — prompt para Nano Banana (proporción 3:4):
Photorealistic editorial portrait of a 42-year-old Peruvian man, an operations manager from La Molina, Lima. Short dark hair with a few grey strands, light stubble, friendly and practical expression, slightly hurried morning energy. He wears a navy quarter-zip sweater over a light blue shirt and a smartwatch. Early morning in a modern home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de la sesión 05: consumo, industrial, servicios, gobierno y global. AndiBite vende en el MERCADO DE CONSUMO: personas que compran para su familia y buscan conveniencia y confianza. Industrial y servicios no aplican. Gobierno (programas contra la anemia) y global (peruanos en el exterior) quedan como opción para el año 3, cuando haya volumen y registro de exportación. Dentro del consumo atacamos un nicho (NSE A/B de Lima Top y Moderna) con dos segmentos: salud verificable y ahorro de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TAM: todas las loncheras con horneado o snack envasado de niños de 4 a 11 años en Lima y Callao (S/130.9 millones). SAM: niños de NSE A/B en toda Lima a precio premium (S/62.8 millones). Núcleo: NSE A/B de las zonas 6 y 7 de APEIM (S/17.3 millones). SOM del año 1 (enero a diciembre de 2027): 52,786 brownies y S/246,531 con IGV, vendidos sobre todo en stands, carritos y ferias; es apenas el 1.4 %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Por indicación de la profesora, la venta física es el mejor escenario: el focus 1 mostró que sin prueba del niño no hay compra, y en el stand el niño prueba delante del padre. La compra se cierra en el stand (fase en rojo). En la posventa, el padre escanea el QR del envase, ve en la app el hierro medido de su lote y recibe el aviso de recompra, que abre WhatsApp con el pedido listo, sin suscripción. Canal directo (sesión 05: sin intermediarios, más esfuerzo y más control) frente a canal indirecto (minoristas que venden por nosotros). Unidades del año 1 (Excel, hoja Mensual): stands y carritos 22,625; WhatsApp 9,176; colegios 9,165; ferias 8,100; naturistas 3,720.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(contribución por unidad del Excel antes de alquiler y personal: stand S/2.43, feria S/2.54, WhatsApp S/1.07, quiosco S/0.68, naturista S/0.61), control del mensaje, costo de entrada, alcance del segmento y prueba del niño, que según el focus 1 es la condición para comprar. La góndola del supermercado se queda con 20 a 40 % y paga a 30-90 días: entra en el año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Puntos de venta (documento 08): programas para emprendedores de Jockey Plaza, Larcomar (El Mercadito del Emprendedor) y La Rambla San Borja; carrito en la entrada de Wong o Vivanda; ferias navideñas (Bazar CCL, Navi Fest) y de campaña escolar; kermeses y cumpleaños. Plan: 1 punto en enero, 2 de febrero a julio y 3 de agosto a diciembre de 2027, solo fines de semana. Cada punto lo atiende un(a) vendedor(a) pagado(a) a S/90 por día; el espacio cuesta S/600 por punto al mes y el stand en feria, S/1,800.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fuertes (asistencia personal en el stand, autoservicio y servicio automático con la app Andi, Misión Hierro, y comunidad de mamás embajadoras) sostienen la recompra; las de apoyo crecen con el volumen. La app calcula cuándo se acaba el pack según cuántos come el niño a la semana y avisa al padre (documento 09). Con los colegios y naturistas la relación es exclusiva: un socio responde por cada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en el stand el niño prueba gratis delante del padre, que compra ahí mismo; la caja de 3 sabores (S/12) se lleva para la semana. Fidelizar: la app Andi, Misión Hierro avisa cuando el pack está por acabarse y abre WhatsApp con el pedido listo, sin suscripción; además da el semáforo de hierro y el plan de loncheras de la semana. Crecer: mamá embajadora por salón y paso al pack de 12. Metas del modelo: 80 brownies por día en cada punto, 35 % de lo vendido en físico vuelve por WhatsApp y 3 puntos de venta desde agosto de 2027.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en stands y carritos, en ferias y eventos, y por WhatsApp; y venta mayorista B2B. Porcentajes sobre las ventas con IGV del año 1 (S/246,531, enero a diciembre de 2027), hoja Proyeccion del Excel. Mecanismo de precio: fijo por lista, con descuento por volumen. Precios confirmados por el equipo el 10 de octubre de 2026: suben para cubrir la sangrecita en polvo, el análisis de hierro de cada lote y la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En el stand 6 de cada 10 brownies se venden sueltos a S/6.00, por eso la unidad trae el 59 % de los ingresos. Enero es el mes de arranque (un punto y vacaciones); en febrero entra la campaña escolar, en marzo los colegios, en agosto el tercer punto y diciembre sube con las 2 ferias navideñas.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 las 3 C (sesión 07): una alianza es clave si cumple 2 o más: conecta con tu cliente, convierte valor en acción y complementa lo que no tienes. Todos los socios cumplen al menos 2. La planta y los proveedores no conectan con el cliente, pero convierten (producen) y complementan (planta con HACCP que no tenemos). Malls, supermercados y ferias cumplen las 3: tienen el público, permiten vender sin local propio y ponen el espacio. El proveedor de sangrecita de res en polvo liofilizada tiene registro sanitario, así que la planta no manipula sangre cruda. El desarrollador de la app y Google Cloud (servidor y IA del plan de loncheras) complementan lo digital, y la nutricionista y los pediatras conectan y validan.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de la sesión 07: un recurso es clave si respondes sí a 2 de 3 preguntas: si falta, ¿la idea no funciona?, ¿te diferencia?, ¿es difícil de copiar? La fórmula, la marca con registro sanitario y la app Andi, Misión Hierro con su base de clientes pasan las 3: la app junta el hierro medido de cada lote con los hábitos de compra de cada familia, algo que un competidor no copia rápido. Tipos: físicos, digitales, humanos, financieros e intangibles. La inversión inicial de S/45,358 está en la hoja Inversion del Excel: S/25,000 de los socios y un préstamo de S/20,500 en 24 cuotas.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08: toda actividad genera un costo. Tipos de actividad: producción, resolución de problemas y plataforma. Producir cuesta S/0.605 de insumos (sangrecita de res en polvo, comprada lista a S/300 por kg) y S/0.45 de maquila por brownie; la calidad, S/625 por lote (microbiológico S/250 y hierro S/375, que se publica en la app); vender en stands, S/600 por punto al mes de espacio y S/90 por día de vendedor; las ferias, S/1,800 cada una; la recompra, S/0.80 de delivery por brownie y el coordinador en planilla (S/709 al mes); el contenido, S/900 al mes de marketing; y la app, S/250 al mes de servidor y mantenimiento más S/0.04 por código impreso.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opción B (cada brownie en bolsita, dentro del doypack). Precio en stand S/27.90 con IGV = S/23.64 sin IGV. Producción S/9.98: insumos S/3.63 (S/0.605 por brownie, con sangrecita de res en polvo liofilizada; la planta solo la hidrata), maquila S/2.70 (S/0.45 por brownie), empaque y etiquetas con el código de la app S/1.83, calidad con hierro medido por lote, transporte y almacén S/1.41 y merma S/0.41. Degustación (1 brownie por cada 10 vendidos), movilidad, pasarela de 3 % y renta de 1 %: S/2.69. Contribución S/10.97 por pack, antes del espacio y del vendedor.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Inversion del Excel. Los documentos se consideran listos desde el primer día de ventas (enero de 2027, mes 1): su costo se paga una sola vez dentro de la inversión inicial y no limita la proyección. La póliza de responsabilidad civil para stands cuesta S/600 al año; la tasa del registro sanitario es S/0 con el TUPA 2026. El arranque incluye empaque (S/3,150, con los códigos de la app), stock de enero y febrero (S/4,801, al costo con sangrecita en polvo), marketing de lanzamiento (S/3,204) y capital de trabajo (S/8,000). Marca y app suman S/7,250: identidad S/800, fotos S/300, web y dominio S/150 y la app Andi, Misión Hierro S/6,000 (documento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costo (sesión 08): variables (insumos, maquila, empaque, delivery, pasarela), fijos (administración S/760, app S/250, coordinador en planilla S/709, marketing S/900 y depreciación S/134: S/2,753 al mes) y de escala (espacio de S/600 y vendedor de S/90 por día por cada punto de venta que se abre). Stands y ferias del año: espacio S/16,800, vendedores S/23,670 y 3 ferias S/5,400. Cada brownie deja S/0.91 después de stands y ferias; el equilibrio es de 3,035 brownies al mes (506 packs de 6). Enero (un punto) y febrero quedan por debajo.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con vendedores en todos los stands y coordinador en planilla. Enero pierde S/2,456 (un solo punto y vacaciones) y febrero S/1,004 (feria de campaña escolar); desde marzo todos los meses ganan. Del resultado operativo (S/14,853) a la utilidad neta: más S/2,089 de pagos a cuenta ya restados, menos S/5,080 de intereses del préstamo y menos S/1,186 de impuesto a la renta (RMT, 10 %): S/10,676. La inversión de S/45,358 se recupera en el mes 24 (diciembre de 2028). Sensibilidad: si las ventas caen 20 %, la caja se vuelve negativa y haría falta una línea de crédito; si suben 20 %, se recupera en el mes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actualizado con la venta física como canal principal, los documentos dentro de la inversión inicial, el costeo con maquila y sangrecita de res en polvo, y la app Andi, Misión Hierro como innovación tecnológica (propuesta de valor, relación, recursos, actividades, socios y costos). El detalle de cada bloque está en las diapositivas anteriores y en el documento 04-reformulacion/07.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(incluida la app Andi, Misión Hierro),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innovación tecnológica que pidió la profesora: una app propia que viene con el producto (documento 09). Es una app web instalable (PWA): el padre escanea el QR del envase y se abre, sin descargar nada. Modo padres: ve el hierro medido en laboratorio de su lote, el semáforo de hierro de la semana frente a una referencia por edad, el plan de loncheras (con IA de Gemini), el recordatorio del control de hemoglobina y la recompra en un clic por WhatsApp. Modo niños: Misión Hierro, con Andi, una llamita exploradora; cuatro juegos que enseñan a combinar hierro con vitamina C, superalimentos andinos, mitos y hábitos, con voz para los que no leen. Lo abre el padre y fija el tiempo de juego. Por la Ley 30021 (art. 8), el modo niño no muestra el producto ni premia la compra; Andi nunca dice "come AndiBite". Solo pedimos apodo y edad del niño (Ley 29733).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el padre compra en el stand, escanea el QR del envase, ve el hierro medido de su lote (el dato que pedían Claudia y el 42 % que desconfía de lo envasado), usa el plan de loncheras y el semáforo durante la semana, y cuando el pack se está acabando la app le avisa y abre WhatsApp con el pedido listo. Costos, ya en el Excel v6: S/6,000 de inversión (diseño e ilustración S/1,500, modo padres y servidor S/2,500, modo niños S/1,500, pruebas y publicación S/500); S/250 al mes de Cloud Run, Firestore, IA y mantenimiento; S/0.04 por código impreso con dato variable; y S/375 por el análisis de hierro de cada lote, que se publica en la app. En total restan unos S/7,500 al resultado del año 1, a cambio de sostener el precio de S/6.00 y empujar la recompra.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por WhatsApp: pack de 6 a S/26.90 (S/4.48 por brownie) y pack de 12 a S/49.90 (S/4.16); en el stand, pack de 6 a S/27.90 (S/4.65). Ningún competidor publica el hierro medido de cada lote ni ofrece una app para la familia.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siguientes: cargar los resultados del focus 2; cotizar la sangrecita de res en polvo a granel y los stands (Jockey, Larcomar, La Rambla, Wong, Vivanda); y probar el prototipo de la app Andi, Misión Hierro con 10 familias en noviembre de 2026.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5.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6" Type="http://schemas.openxmlformats.org/officeDocument/2006/relationships/slideLayout" Target="../slideLayouts/slideLayout5.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5.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5.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5.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5.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5.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5.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5.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5.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5.xml"/><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slideLayout" Target="../slideLayouts/slideLayout5.xml"/><Relationship Id="rId1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5.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modelo de negocio</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actividades, costos y los 9 bloques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app Andi y competencia</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 app Andi en cada envase · se vende en stands y ferias, y se recompra por WhatsApp</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Arquetipo · Buyer persona · Tipos de mercado · Tamaño del nicho · Canales y puntos de venta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público nos orienta; el arquetipo nos conecta</a:t>
            </a:r>
            <a:endParaRPr lang="en-US" sz="3400" dirty="0"/>
          </a:p>
        </p:txBody>
      </p:sp>
      <p:sp>
        <p:nvSpPr>
          <p:cNvPr id="4" name="Shape 2"/>
          <p:cNvSpPr/>
          <p:nvPr/>
        </p:nvSpPr>
        <p:spPr>
          <a:xfrm>
            <a:off x="548640" y="1600200"/>
            <a:ext cx="5120640" cy="4480560"/>
          </a:xfrm>
          <a:prstGeom prst="roundRect">
            <a:avLst>
              <a:gd name="adj" fmla="val 244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74520"/>
            <a:ext cx="822960" cy="822960"/>
          </a:xfrm>
          <a:prstGeom prst="ellipse">
            <a:avLst/>
          </a:prstGeom>
          <a:solidFill>
            <a:schemeClr val="accent5"/>
          </a:solidFill>
          <a:ln w="12700">
            <a:solidFill>
              <a:schemeClr val="accent5"/>
            </a:solidFill>
            <a:prstDash val="solid"/>
          </a:ln>
        </p:spPr>
      </p:sp>
      <p:pic>
        <p:nvPicPr>
          <p:cNvPr id="6" name="Image 0" descr="preencoded.png">    </p:cNvPr>
          <p:cNvPicPr>
            <a:picLocks noChangeAspect="1"/>
          </p:cNvPicPr>
          <p:nvPr/>
        </p:nvPicPr>
        <p:blipFill>
          <a:blip r:embed="rId1"/>
          <a:stretch>
            <a:fillRect/>
          </a:stretch>
        </p:blipFill>
        <p:spPr>
          <a:xfrm>
            <a:off x="1004011" y="2055571"/>
            <a:ext cx="460858" cy="460858"/>
          </a:xfrm>
          <a:prstGeom prst="rect">
            <a:avLst/>
          </a:prstGeom>
        </p:spPr>
      </p:pic>
      <p:sp>
        <p:nvSpPr>
          <p:cNvPr id="7" name="Text 4"/>
          <p:cNvSpPr txBox="1"/>
          <p:nvPr/>
        </p:nvSpPr>
        <p:spPr>
          <a:xfrm>
            <a:off x="182880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PÚBLICO OBJETIVO</a:t>
            </a:r>
            <a:endParaRPr lang="en-US" sz="1300" dirty="0"/>
          </a:p>
        </p:txBody>
      </p:sp>
      <p:sp>
        <p:nvSpPr>
          <p:cNvPr id="8" name="Text 5"/>
          <p:cNvSpPr txBox="1"/>
          <p:nvPr/>
        </p:nvSpPr>
        <p:spPr>
          <a:xfrm>
            <a:off x="1828800" y="2240280"/>
            <a:ext cx="3657600" cy="411480"/>
          </a:xfrm>
          <a:prstGeom prst="rect">
            <a:avLst/>
          </a:prstGeom>
          <a:noFill/>
          <a:ln/>
        </p:spPr>
        <p:txBody>
          <a:bodyPr wrap="square" lIns="0" tIns="0" rIns="0" bIns="0" rtlCol="0" anchor="t"/>
          <a:lstStyle/>
          <a:p>
            <a:pPr indent="0" marL="0">
              <a:buNone/>
            </a:pPr>
            <a:r>
              <a:rPr lang="en-US" sz="2200" b="1" dirty="0">
                <a:solidFill>
                  <a:schemeClr val="tx2"/>
                </a:solidFill>
              </a:rPr>
              <a:t>Un grupo</a:t>
            </a:r>
            <a:endParaRPr lang="en-US" sz="2200" dirty="0"/>
          </a:p>
        </p:txBody>
      </p:sp>
      <p:sp>
        <p:nvSpPr>
          <p:cNvPr id="9" name="Text 6"/>
          <p:cNvSpPr txBox="1"/>
          <p:nvPr/>
        </p:nvSpPr>
        <p:spPr>
          <a:xfrm>
            <a:off x="868680" y="2971800"/>
            <a:ext cx="457200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Padres de 32 a 45 años</a:t>
            </a:r>
            <a:endParaRPr lang="en-US" sz="1600" dirty="0"/>
          </a:p>
          <a:p>
            <a:pPr marL="342900" indent="-342900">
              <a:spcAft>
                <a:spcPts val="800"/>
              </a:spcAft>
              <a:buSzPct val="100000"/>
              <a:buChar char="•"/>
            </a:pPr>
            <a:r>
              <a:rPr lang="en-US" sz="1600" dirty="0">
                <a:solidFill>
                  <a:schemeClr val="tx1"/>
                </a:solidFill>
              </a:rPr>
              <a:t>NSE A y B de Lima Top y Lima Moderna</a:t>
            </a:r>
            <a:endParaRPr lang="en-US" sz="1600" dirty="0"/>
          </a:p>
          <a:p>
            <a:pPr marL="342900" indent="-342900">
              <a:spcAft>
                <a:spcPts val="800"/>
              </a:spcAft>
              <a:buSzPct val="100000"/>
              <a:buChar char="•"/>
            </a:pPr>
            <a:r>
              <a:rPr lang="en-US" sz="1600" dirty="0">
                <a:solidFill>
                  <a:schemeClr val="tx1"/>
                </a:solidFill>
              </a:rPr>
              <a:t>Hijos de 4 a 11 en colegio privado</a:t>
            </a:r>
            <a:endParaRPr lang="en-US" sz="1600" dirty="0"/>
          </a:p>
          <a:p>
            <a:pPr marL="342900" indent="-342900">
              <a:spcAft>
                <a:spcPts val="800"/>
              </a:spcAft>
              <a:buSzPct val="100000"/>
              <a:buChar char="•"/>
            </a:pPr>
            <a:r>
              <a:rPr lang="en-US" sz="1600" dirty="0">
                <a:solidFill>
                  <a:schemeClr val="tx1"/>
                </a:solidFill>
              </a:rPr>
              <a:t>46,000 hogares núcleo</a:t>
            </a:r>
            <a:endParaRPr lang="en-US" sz="1600" dirty="0"/>
          </a:p>
        </p:txBody>
      </p:sp>
      <p:sp>
        <p:nvSpPr>
          <p:cNvPr id="10" name="Shape 7"/>
          <p:cNvSpPr/>
          <p:nvPr/>
        </p:nvSpPr>
        <p:spPr>
          <a:xfrm>
            <a:off x="5788152" y="3566160"/>
            <a:ext cx="685800" cy="548640"/>
          </a:xfrm>
          <a:prstGeom prst="rightArrow">
            <a:avLst/>
          </a:prstGeom>
          <a:solidFill>
            <a:schemeClr val="accent3"/>
          </a:solidFill>
          <a:ln w="12700">
            <a:solidFill>
              <a:schemeClr val="accent3"/>
            </a:solidFill>
            <a:prstDash val="solid"/>
          </a:ln>
        </p:spPr>
      </p:sp>
      <p:sp>
        <p:nvSpPr>
          <p:cNvPr id="11" name="Shape 8"/>
          <p:cNvSpPr/>
          <p:nvPr/>
        </p:nvSpPr>
        <p:spPr>
          <a:xfrm>
            <a:off x="6583680" y="1600200"/>
            <a:ext cx="5056632"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6858000" y="1874520"/>
            <a:ext cx="822960" cy="82296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7039051" y="2055571"/>
            <a:ext cx="460858" cy="460858"/>
          </a:xfrm>
          <a:prstGeom prst="rect">
            <a:avLst/>
          </a:prstGeom>
        </p:spPr>
      </p:pic>
      <p:sp>
        <p:nvSpPr>
          <p:cNvPr id="14" name="Text 10"/>
          <p:cNvSpPr txBox="1"/>
          <p:nvPr/>
        </p:nvSpPr>
        <p:spPr>
          <a:xfrm>
            <a:off x="786384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3"/>
                </a:solidFill>
              </a:rPr>
              <a:t>ARQUETIPO</a:t>
            </a:r>
            <a:endParaRPr lang="en-US" sz="1300" dirty="0"/>
          </a:p>
        </p:txBody>
      </p:sp>
      <p:sp>
        <p:nvSpPr>
          <p:cNvPr id="15" name="Text 11"/>
          <p:cNvSpPr txBox="1"/>
          <p:nvPr/>
        </p:nvSpPr>
        <p:spPr>
          <a:xfrm>
            <a:off x="7863840" y="2240280"/>
            <a:ext cx="3657600" cy="411480"/>
          </a:xfrm>
          <a:prstGeom prst="rect">
            <a:avLst/>
          </a:prstGeom>
          <a:noFill/>
          <a:ln/>
        </p:spPr>
        <p:txBody>
          <a:bodyPr wrap="square" lIns="0" tIns="0" rIns="0" bIns="0" rtlCol="0" anchor="t"/>
          <a:lstStyle/>
          <a:p>
            <a:pPr indent="0" marL="0">
              <a:buNone/>
            </a:pPr>
            <a:r>
              <a:rPr lang="en-US" sz="2200" b="1" dirty="0">
                <a:solidFill>
                  <a:schemeClr val="bg1"/>
                </a:solidFill>
              </a:rPr>
              <a:t>Una persona</a:t>
            </a:r>
            <a:endParaRPr lang="en-US" sz="2200" dirty="0"/>
          </a:p>
        </p:txBody>
      </p:sp>
      <p:sp>
        <p:nvSpPr>
          <p:cNvPr id="16" name="Text 12"/>
          <p:cNvSpPr txBox="1"/>
          <p:nvPr/>
        </p:nvSpPr>
        <p:spPr>
          <a:xfrm>
            <a:off x="6903720" y="2926080"/>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NOMBRE</a:t>
            </a:r>
            <a:endParaRPr lang="en-US" sz="1100" dirty="0"/>
          </a:p>
        </p:txBody>
      </p:sp>
      <p:sp>
        <p:nvSpPr>
          <p:cNvPr id="17" name="Text 13"/>
          <p:cNvSpPr txBox="1"/>
          <p:nvPr/>
        </p:nvSpPr>
        <p:spPr>
          <a:xfrm>
            <a:off x="6903720" y="3172968"/>
            <a:ext cx="4480560" cy="365760"/>
          </a:xfrm>
          <a:prstGeom prst="rect">
            <a:avLst/>
          </a:prstGeom>
          <a:noFill/>
          <a:ln/>
        </p:spPr>
        <p:txBody>
          <a:bodyPr wrap="square" lIns="0" tIns="0" rIns="0" bIns="0" rtlCol="0" anchor="t"/>
          <a:lstStyle/>
          <a:p>
            <a:pPr indent="0" marL="0">
              <a:buNone/>
            </a:pPr>
            <a:r>
              <a:rPr lang="en-US" sz="1600" b="1" dirty="0">
                <a:solidFill>
                  <a:schemeClr val="bg1"/>
                </a:solidFill>
              </a:rPr>
              <a:t>Claudia, 38, abogada en San Borja</a:t>
            </a:r>
            <a:endParaRPr lang="en-US" sz="1600" dirty="0"/>
          </a:p>
        </p:txBody>
      </p:sp>
      <p:sp>
        <p:nvSpPr>
          <p:cNvPr id="18" name="Text 14"/>
          <p:cNvSpPr txBox="1"/>
          <p:nvPr/>
        </p:nvSpPr>
        <p:spPr>
          <a:xfrm>
            <a:off x="6903720" y="3675888"/>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DOLOR</a:t>
            </a:r>
            <a:endParaRPr lang="en-US" sz="1100" dirty="0"/>
          </a:p>
        </p:txBody>
      </p:sp>
      <p:sp>
        <p:nvSpPr>
          <p:cNvPr id="19" name="Text 15"/>
          <p:cNvSpPr txBox="1"/>
          <p:nvPr/>
        </p:nvSpPr>
        <p:spPr>
          <a:xfrm>
            <a:off x="6903720" y="3922776"/>
            <a:ext cx="4480560" cy="365760"/>
          </a:xfrm>
          <a:prstGeom prst="rect">
            <a:avLst/>
          </a:prstGeom>
          <a:noFill/>
          <a:ln/>
        </p:spPr>
        <p:txBody>
          <a:bodyPr wrap="square" lIns="0" tIns="0" rIns="0" bIns="0" rtlCol="0" anchor="t"/>
          <a:lstStyle/>
          <a:p>
            <a:pPr indent="0" marL="0">
              <a:buNone/>
            </a:pPr>
            <a:r>
              <a:rPr lang="en-US" sz="1600" b="1" dirty="0">
                <a:solidFill>
                  <a:schemeClr val="bg1"/>
                </a:solidFill>
              </a:rPr>
              <a:t>Su hijo escupe lo nutritivo</a:t>
            </a:r>
            <a:endParaRPr lang="en-US" sz="1600" dirty="0"/>
          </a:p>
        </p:txBody>
      </p:sp>
      <p:sp>
        <p:nvSpPr>
          <p:cNvPr id="20" name="Text 16"/>
          <p:cNvSpPr txBox="1"/>
          <p:nvPr/>
        </p:nvSpPr>
        <p:spPr>
          <a:xfrm>
            <a:off x="6903720" y="4425696"/>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HÁBITO</a:t>
            </a:r>
            <a:endParaRPr lang="en-US" sz="1100" dirty="0"/>
          </a:p>
        </p:txBody>
      </p:sp>
      <p:sp>
        <p:nvSpPr>
          <p:cNvPr id="21" name="Text 17"/>
          <p:cNvSpPr txBox="1"/>
          <p:nvPr/>
        </p:nvSpPr>
        <p:spPr>
          <a:xfrm>
            <a:off x="6903720" y="4672584"/>
            <a:ext cx="4480560" cy="365760"/>
          </a:xfrm>
          <a:prstGeom prst="rect">
            <a:avLst/>
          </a:prstGeom>
          <a:noFill/>
          <a:ln/>
        </p:spPr>
        <p:txBody>
          <a:bodyPr wrap="square" lIns="0" tIns="0" rIns="0" bIns="0" rtlCol="0" anchor="t"/>
          <a:lstStyle/>
          <a:p>
            <a:pPr indent="0" marL="0">
              <a:buNone/>
            </a:pPr>
            <a:r>
              <a:rPr lang="en-US" sz="1600" b="1" dirty="0">
                <a:solidFill>
                  <a:schemeClr val="bg1"/>
                </a:solidFill>
              </a:rPr>
              <a:t>Arma 2 loncheras a las 6 a. m.</a:t>
            </a:r>
            <a:endParaRPr lang="en-US" sz="1600" dirty="0"/>
          </a:p>
        </p:txBody>
      </p:sp>
      <p:sp>
        <p:nvSpPr>
          <p:cNvPr id="22" name="Text 18"/>
          <p:cNvSpPr txBox="1"/>
          <p:nvPr/>
        </p:nvSpPr>
        <p:spPr>
          <a:xfrm>
            <a:off x="6903720" y="5175504"/>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COMPRA EN</a:t>
            </a:r>
            <a:endParaRPr lang="en-US" sz="1100" dirty="0"/>
          </a:p>
        </p:txBody>
      </p:sp>
      <p:sp>
        <p:nvSpPr>
          <p:cNvPr id="23" name="Text 19"/>
          <p:cNvSpPr txBox="1"/>
          <p:nvPr/>
        </p:nvSpPr>
        <p:spPr>
          <a:xfrm>
            <a:off x="6903720" y="5422392"/>
            <a:ext cx="4480560" cy="365760"/>
          </a:xfrm>
          <a:prstGeom prst="rect">
            <a:avLst/>
          </a:prstGeom>
          <a:noFill/>
          <a:ln/>
        </p:spPr>
        <p:txBody>
          <a:bodyPr wrap="square" lIns="0" tIns="0" rIns="0" bIns="0" rtlCol="0" anchor="t"/>
          <a:lstStyle/>
          <a:p>
            <a:pPr indent="0" marL="0">
              <a:buNone/>
            </a:pPr>
            <a:r>
              <a:rPr lang="en-US" sz="1600" b="1" dirty="0">
                <a:solidFill>
                  <a:schemeClr val="bg1"/>
                </a:solidFill>
              </a:rPr>
              <a:t>Wong, Flora &amp; Fauna e Instagram</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arquetipos: nombre, dolor y hábito</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de 35 a 42, profesional</a:t>
            </a:r>
            <a:endParaRPr lang="en-US" sz="1200" dirty="0"/>
          </a:p>
        </p:txBody>
      </p:sp>
      <p:sp>
        <p:nvSpPr>
          <p:cNvPr id="9" name="Text 6"/>
          <p:cNvSpPr txBox="1"/>
          <p:nvPr/>
        </p:nvSpPr>
        <p:spPr>
          <a:xfrm>
            <a:off x="822960"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10" name="Text 7"/>
          <p:cNvSpPr txBox="1"/>
          <p:nvPr/>
        </p:nvSpPr>
        <p:spPr>
          <a:xfrm>
            <a:off x="822960"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Lee etiquetas; pregunta al pediatra</a:t>
            </a:r>
            <a:endParaRPr lang="en-US" sz="1500" dirty="0"/>
          </a:p>
        </p:txBody>
      </p:sp>
      <p:sp>
        <p:nvSpPr>
          <p:cNvPr id="11" name="Text 8"/>
          <p:cNvSpPr txBox="1"/>
          <p:nvPr/>
        </p:nvSpPr>
        <p:spPr>
          <a:xfrm>
            <a:off x="822960"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12" name="Text 9"/>
          <p:cNvSpPr txBox="1"/>
          <p:nvPr/>
        </p:nvSpPr>
        <p:spPr>
          <a:xfrm>
            <a:off x="822960"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Su hijo rechaza lo nutritivo</a:t>
            </a:r>
            <a:endParaRPr lang="en-US" sz="1500" dirty="0"/>
          </a:p>
        </p:txBody>
      </p:sp>
      <p:sp>
        <p:nvSpPr>
          <p:cNvPr id="13" name="Text 10"/>
          <p:cNvSpPr txBox="1"/>
          <p:nvPr/>
        </p:nvSpPr>
        <p:spPr>
          <a:xfrm>
            <a:off x="822960"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14" name="Text 11"/>
          <p:cNvSpPr txBox="1"/>
          <p:nvPr/>
        </p:nvSpPr>
        <p:spPr>
          <a:xfrm>
            <a:off x="822960"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Pruebas: hierro en mg</a:t>
            </a:r>
            <a:endParaRPr lang="en-US" sz="1500" dirty="0"/>
          </a:p>
        </p:txBody>
      </p:sp>
      <p:sp>
        <p:nvSpPr>
          <p:cNvPr id="15" name="Text 12"/>
          <p:cNvSpPr txBox="1"/>
          <p:nvPr/>
        </p:nvSpPr>
        <p:spPr>
          <a:xfrm>
            <a:off x="822960"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16" name="Text 13"/>
          <p:cNvSpPr txBox="1"/>
          <p:nvPr/>
        </p:nvSpPr>
        <p:spPr>
          <a:xfrm>
            <a:off x="822960"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Wong, Flora &amp; Fauna, Instagram</a:t>
            </a:r>
            <a:endParaRPr lang="en-US" sz="1500" dirty="0"/>
          </a:p>
        </p:txBody>
      </p:sp>
      <p:sp>
        <p:nvSpPr>
          <p:cNvPr id="17" name="Text 14"/>
          <p:cNvSpPr txBox="1"/>
          <p:nvPr/>
        </p:nvSpPr>
        <p:spPr>
          <a:xfrm>
            <a:off x="822960" y="5376672"/>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a:t>
            </a:r>
            <a:endParaRPr lang="en-US" sz="1400" dirty="0"/>
          </a:p>
        </p:txBody>
      </p:sp>
      <p:sp>
        <p:nvSpPr>
          <p:cNvPr id="18" name="Shape 15"/>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9" name="Text 16"/>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20" name="Shape 17"/>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8"/>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2"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3" name="Text 19"/>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4" name="Text 20"/>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Papá o mamá de 38 a 45, gerente</a:t>
            </a:r>
            <a:endParaRPr lang="en-US" sz="1200" dirty="0"/>
          </a:p>
        </p:txBody>
      </p:sp>
      <p:sp>
        <p:nvSpPr>
          <p:cNvPr id="25" name="Text 21"/>
          <p:cNvSpPr txBox="1"/>
          <p:nvPr/>
        </p:nvSpPr>
        <p:spPr>
          <a:xfrm>
            <a:off x="4608576"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26" name="Text 22"/>
          <p:cNvSpPr txBox="1"/>
          <p:nvPr/>
        </p:nvSpPr>
        <p:spPr>
          <a:xfrm>
            <a:off x="4608576"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Compra por app y en el súper</a:t>
            </a:r>
            <a:endParaRPr lang="en-US" sz="1500" dirty="0"/>
          </a:p>
        </p:txBody>
      </p:sp>
      <p:sp>
        <p:nvSpPr>
          <p:cNvPr id="27" name="Text 23"/>
          <p:cNvSpPr txBox="1"/>
          <p:nvPr/>
        </p:nvSpPr>
        <p:spPr>
          <a:xfrm>
            <a:off x="4608576"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28" name="Text 24"/>
          <p:cNvSpPr txBox="1"/>
          <p:nvPr/>
        </p:nvSpPr>
        <p:spPr>
          <a:xfrm>
            <a:off x="4608576"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Mañanas contra el reloj</a:t>
            </a:r>
            <a:endParaRPr lang="en-US" sz="1500" dirty="0"/>
          </a:p>
        </p:txBody>
      </p:sp>
      <p:sp>
        <p:nvSpPr>
          <p:cNvPr id="29" name="Text 25"/>
          <p:cNvSpPr txBox="1"/>
          <p:nvPr/>
        </p:nvSpPr>
        <p:spPr>
          <a:xfrm>
            <a:off x="4608576"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30" name="Text 26"/>
          <p:cNvSpPr txBox="1"/>
          <p:nvPr/>
        </p:nvSpPr>
        <p:spPr>
          <a:xfrm>
            <a:off x="4608576"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Rapidez y practicidad</a:t>
            </a:r>
            <a:endParaRPr lang="en-US" sz="1500" dirty="0"/>
          </a:p>
        </p:txBody>
      </p:sp>
      <p:sp>
        <p:nvSpPr>
          <p:cNvPr id="31" name="Text 27"/>
          <p:cNvSpPr txBox="1"/>
          <p:nvPr/>
        </p:nvSpPr>
        <p:spPr>
          <a:xfrm>
            <a:off x="4608576"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32" name="Text 28"/>
          <p:cNvSpPr txBox="1"/>
          <p:nvPr/>
        </p:nvSpPr>
        <p:spPr>
          <a:xfrm>
            <a:off x="4608576"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Supermercado y WhatsApp</a:t>
            </a:r>
            <a:endParaRPr lang="en-US" sz="1500" dirty="0"/>
          </a:p>
        </p:txBody>
      </p:sp>
      <p:sp>
        <p:nvSpPr>
          <p:cNvPr id="33" name="Text 29"/>
          <p:cNvSpPr txBox="1"/>
          <p:nvPr/>
        </p:nvSpPr>
        <p:spPr>
          <a:xfrm>
            <a:off x="4608576" y="5376672"/>
            <a:ext cx="1554480" cy="68580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a:t>
            </a:r>
            <a:endParaRPr lang="en-US" sz="1400" dirty="0"/>
          </a:p>
        </p:txBody>
      </p:sp>
      <p:sp>
        <p:nvSpPr>
          <p:cNvPr id="34" name="Shape 30"/>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5" name="Text 31"/>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6" name="Shape 32"/>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3"/>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8"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9" name="Text 34"/>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Prescriptor (B2B)</a:t>
            </a:r>
            <a:endParaRPr lang="en-US" sz="1900" dirty="0"/>
          </a:p>
        </p:txBody>
      </p:sp>
      <p:sp>
        <p:nvSpPr>
          <p:cNvPr id="40" name="Text 35"/>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41" name="Text 36"/>
          <p:cNvSpPr txBox="1"/>
          <p:nvPr/>
        </p:nvSpPr>
        <p:spPr>
          <a:xfrm>
            <a:off x="8394192"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42" name="Text 37"/>
          <p:cNvSpPr txBox="1"/>
          <p:nvPr/>
        </p:nvSpPr>
        <p:spPr>
          <a:xfrm>
            <a:off x="8394192"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Elige qué entra al colegio</a:t>
            </a:r>
            <a:endParaRPr lang="en-US" sz="1500" dirty="0"/>
          </a:p>
        </p:txBody>
      </p:sp>
      <p:sp>
        <p:nvSpPr>
          <p:cNvPr id="43" name="Text 38"/>
          <p:cNvSpPr txBox="1"/>
          <p:nvPr/>
        </p:nvSpPr>
        <p:spPr>
          <a:xfrm>
            <a:off x="8394192"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44" name="Text 39"/>
          <p:cNvSpPr txBox="1"/>
          <p:nvPr/>
        </p:nvSpPr>
        <p:spPr>
          <a:xfrm>
            <a:off x="8394192"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Productos con octógono</a:t>
            </a:r>
            <a:endParaRPr lang="en-US" sz="1500" dirty="0"/>
          </a:p>
        </p:txBody>
      </p:sp>
      <p:sp>
        <p:nvSpPr>
          <p:cNvPr id="45" name="Text 40"/>
          <p:cNvSpPr txBox="1"/>
          <p:nvPr/>
        </p:nvSpPr>
        <p:spPr>
          <a:xfrm>
            <a:off x="8394192"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46" name="Text 41"/>
          <p:cNvSpPr txBox="1"/>
          <p:nvPr/>
        </p:nvSpPr>
        <p:spPr>
          <a:xfrm>
            <a:off x="8394192"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Norma y registro sanitario</a:t>
            </a:r>
            <a:endParaRPr lang="en-US" sz="1500" dirty="0"/>
          </a:p>
        </p:txBody>
      </p:sp>
      <p:sp>
        <p:nvSpPr>
          <p:cNvPr id="47" name="Text 42"/>
          <p:cNvSpPr txBox="1"/>
          <p:nvPr/>
        </p:nvSpPr>
        <p:spPr>
          <a:xfrm>
            <a:off x="8394192"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48" name="Text 43"/>
          <p:cNvSpPr txBox="1"/>
          <p:nvPr/>
        </p:nvSpPr>
        <p:spPr>
          <a:xfrm>
            <a:off x="8394192"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Directo al productor</a:t>
            </a:r>
            <a:endParaRPr lang="en-US" sz="1500" dirty="0"/>
          </a:p>
        </p:txBody>
      </p:sp>
      <p:sp>
        <p:nvSpPr>
          <p:cNvPr id="49" name="Text 44"/>
          <p:cNvSpPr txBox="1"/>
          <p:nvPr/>
        </p:nvSpPr>
        <p:spPr>
          <a:xfrm>
            <a:off x="8394192" y="5376672"/>
            <a:ext cx="1554480" cy="68580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a:t>
            </a:r>
            <a:endParaRPr lang="en-US" sz="1400" dirty="0"/>
          </a:p>
        </p:txBody>
      </p:sp>
      <p:sp>
        <p:nvSpPr>
          <p:cNvPr id="50" name="Shape 45"/>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51" name="Text 46"/>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Valida la marca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PRINCIPAL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SECUNDARIO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(42, La Molina)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42 años · La Molina</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Gerente de operaciones</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S/18,000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Apps, IG y TikTok</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Snacks aplastados en la mochila</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Recordatorio para recomprar</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en el mercado de consumo, a un nicho A/B</a:t>
            </a:r>
            <a:endParaRPr lang="en-US" sz="3400" dirty="0"/>
          </a:p>
        </p:txBody>
      </p:sp>
      <p:sp>
        <p:nvSpPr>
          <p:cNvPr id="4" name="Shape 2"/>
          <p:cNvSpPr/>
          <p:nvPr/>
        </p:nvSpPr>
        <p:spPr>
          <a:xfrm>
            <a:off x="548640"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Consumo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Personas que compran para su familia</a:t>
            </a:r>
            <a:endParaRPr lang="en-US" sz="1200" dirty="0"/>
          </a:p>
        </p:txBody>
      </p:sp>
      <p:sp>
        <p:nvSpPr>
          <p:cNvPr id="9" name="Shape 6"/>
          <p:cNvSpPr/>
          <p:nvPr/>
        </p:nvSpPr>
        <p:spPr>
          <a:xfrm>
            <a:off x="777240" y="3520440"/>
            <a:ext cx="1188720" cy="292608"/>
          </a:xfrm>
          <a:prstGeom prst="roundRect">
            <a:avLst>
              <a:gd name="adj" fmla="val 50000"/>
            </a:avLst>
          </a:prstGeom>
          <a:solidFill>
            <a:schemeClr val="bg1"/>
          </a:solidFill>
          <a:ln w="12700">
            <a:solidFill>
              <a:schemeClr val="bg1"/>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que compran la lonchera</a:t>
            </a:r>
            <a:endParaRPr lang="en-US" sz="1400" dirty="0"/>
          </a:p>
        </p:txBody>
      </p:sp>
      <p:sp>
        <p:nvSpPr>
          <p:cNvPr id="12" name="Shape 9"/>
          <p:cNvSpPr/>
          <p:nvPr/>
        </p:nvSpPr>
        <p:spPr>
          <a:xfrm>
            <a:off x="2812694"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2"/>
          </a:solidFill>
          <a:ln w="12700">
            <a:solidFill>
              <a:schemeClr val="bg2"/>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Industrial</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Empresas que compran para producir</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2"/>
          </a:solidFill>
          <a:ln w="12700">
            <a:solidFill>
              <a:schemeClr val="bg2"/>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vendemos insumos a otras empresas</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2"/>
          </a:solidFill>
          <a:ln w="12700">
            <a:solidFill>
              <a:schemeClr val="bg2"/>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Servicios</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Compras de algo que no se toca</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2"/>
          </a:solidFill>
          <a:ln w="12700">
            <a:solidFill>
              <a:schemeClr val="bg2"/>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Vendemos un producto, no un servicio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Gobierno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El Estado como cliente</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accent3"/>
          </a:solidFill>
          <a:ln w="12700">
            <a:solidFill>
              <a:schemeClr val="accent3"/>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Programas contra la anemia, con licitación</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Global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Clientes fuera del país</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accent3"/>
          </a:solidFill>
          <a:ln w="12700">
            <a:solidFill>
              <a:schemeClr val="accent3"/>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Peruanos en Chile y EE. UU.</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Dentro del mercado de consumo</a:t>
            </a:r>
            <a:endParaRPr lang="en-US" sz="1400" dirty="0"/>
          </a:p>
        </p:txBody>
      </p:sp>
      <p:sp>
        <p:nvSpPr>
          <p:cNvPr id="45" name="Shape 38"/>
          <p:cNvSpPr/>
          <p:nvPr/>
        </p:nvSpPr>
        <p:spPr>
          <a:xfrm>
            <a:off x="548640" y="5486400"/>
            <a:ext cx="11091672"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10698480" cy="566928"/>
          </a:xfrm>
          <a:prstGeom prst="rect">
            <a:avLst/>
          </a:prstGeom>
          <a:noFill/>
          <a:ln/>
        </p:spPr>
        <p:txBody>
          <a:bodyPr wrap="square" lIns="0" tIns="0" rIns="0" bIns="0" rtlCol="0" anchor="ctr"/>
          <a:lstStyle/>
          <a:p>
            <a:pPr indent="0" marL="0">
              <a:buNone/>
            </a:pPr>
            <a:r>
              <a:rPr lang="en-US" sz="1500" b="1" dirty="0">
                <a:solidFill>
                  <a:schemeClr val="bg1"/>
                </a:solidFill>
              </a:rPr>
              <a:t>Nicho: 46,000 hogares A/B con hijos de 4 a 11 · dos segmentos: salud (Claudia) y tiempo (Rodrigo)</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pero con billetera</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TAM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SAM · S/62.8 millones</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SOM año 1 · S/0.25 M</a:t>
            </a:r>
            <a:endParaRPr lang="en-US" sz="1400" dirty="0"/>
          </a:p>
          <a:p>
            <a:pPr algn="ctr" indent="0" marL="0">
              <a:buNone/>
            </a:pPr>
            <a:r>
              <a:rPr lang="en-US" sz="1200" dirty="0">
                <a:solidFill>
                  <a:schemeClr val="bg1"/>
                </a:solidFill>
              </a:rPr>
              <a:t>52,786 brownies · 1 a 3 puntos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niño prueba en el stand y el padre compra ahí</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Stand en mall o súper, Instagram y chat del salón</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Degustación gratis: el niño prueba delante del padre</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Unidad a S/6 o pack a S/27.90, con Yape o tarjeta</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En el momento; por WhatsApp, delivery gratis desde 2 packs</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App Andi: hierro del lote y aviso de recompra</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directo · 75.6 %</a:t>
            </a:r>
            <a:endParaRPr lang="en-US" sz="1400" dirty="0"/>
          </a:p>
          <a:p>
            <a:pPr indent="0" marL="0">
              <a:buNone/>
            </a:pPr>
            <a:r>
              <a:rPr lang="en-US" sz="1500" dirty="0">
                <a:solidFill>
                  <a:schemeClr val="bg1"/>
                </a:solidFill>
              </a:rPr>
              <a:t>Stands, carrito, ferias y WhatsApp: más esfuerzo, más control. El niño prueba y el padre decide.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Canal indirecto · 24.4 %</a:t>
            </a:r>
            <a:endParaRPr lang="en-US" sz="1400" dirty="0"/>
          </a:p>
          <a:p>
            <a:pPr indent="0" marL="0">
              <a:buNone/>
            </a:pPr>
            <a:r>
              <a:rPr lang="en-US" sz="1500" dirty="0">
                <a:solidFill>
                  <a:schemeClr val="tx1"/>
                </a:solidFill>
              </a:rPr>
              <a:t>Minoristas: quioscos escolares y naturistas, con comisión de 25 a 40 %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la venta física en stands y carritos</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0" y="1554480"/>
          <a:ext cx="6153912" cy="914400"/>
        </p:xfrm>
        <a:graphic>
          <a:graphicData uri="http://schemas.openxmlformats.org/drawingml/2006/table">
            <a:tbl>
              <a:tblPr/>
              <a:tblGrid>
                <a:gridCol w="2039112"/>
                <a:gridCol w="685800"/>
                <a:gridCol w="685800"/>
                <a:gridCol w="685800"/>
                <a:gridCol w="685800"/>
                <a:gridCol w="685800"/>
                <a:gridCol w="685800"/>
              </a:tblGrid>
              <a:tr h="411480">
                <a:tc>
                  <a:txBody>
                    <a:bodyPr/>
                    <a:lstStyle/>
                    <a:p>
                      <a:pPr indent="0" marL="0">
                        <a:buNone/>
                      </a:pPr>
                      <a:r>
                        <a:rPr lang="en-US" sz="1200" b="1" dirty="0">
                          <a:solidFill>
                            <a:schemeClr val="bg1"/>
                          </a:solidFill>
                        </a:rPr>
                        <a:t>Canal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Margen</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Control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Entrada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Alcance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Prueba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Total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tx1"/>
                          </a:solidFill>
                        </a:rPr>
                        <a:t>Stands y carritos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23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11480">
                <a:tc>
                  <a:txBody>
                    <a:bodyPr/>
                    <a:lstStyle/>
                    <a:p>
                      <a:pPr indent="0" marL="0">
                        <a:buNone/>
                      </a:pPr>
                      <a:r>
                        <a:rPr lang="en-US" sz="1300" dirty="0">
                          <a:solidFill>
                            <a:schemeClr val="tx1"/>
                          </a:solidFill>
                        </a:rPr>
                        <a:t>Ferias y eventos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21</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WhatsApp (recompra)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Quioscos escolares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Tiendas naturistas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Góndola de súper (año 2)</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8</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98848"/>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a 5. Prueba = el niño prueba delante del padre.</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23 de 25 puntos</a:t>
            </a:r>
            <a:endParaRPr lang="en-US" sz="1400" dirty="0"/>
          </a:p>
          <a:p>
            <a:pPr indent="0" marL="0">
              <a:buNone/>
            </a:pPr>
            <a:r>
              <a:rPr lang="en-US" sz="1400" dirty="0">
                <a:solidFill>
                  <a:schemeClr val="bg1"/>
                </a:solidFill>
              </a:rPr>
              <a:t>Stands para que el niño pruebe y el padre compre; ferias en Navidad y campaña escolar; WhatsApp para volver a comprar.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PUNTOS DE VENTA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donde está la familia: malls, súper y ferias</a:t>
            </a:r>
            <a:endParaRPr lang="en-US" sz="3400" dirty="0"/>
          </a:p>
        </p:txBody>
      </p:sp>
      <p:sp>
        <p:nvSpPr>
          <p:cNvPr id="4" name="Shape 2"/>
          <p:cNvSpPr/>
          <p:nvPr/>
        </p:nvSpPr>
        <p:spPr>
          <a:xfrm>
            <a:off x="548640" y="1554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3736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78178"/>
            <a:ext cx="358445" cy="358445"/>
          </a:xfrm>
          <a:prstGeom prst="rect">
            <a:avLst/>
          </a:prstGeom>
        </p:spPr>
      </p:pic>
      <p:sp>
        <p:nvSpPr>
          <p:cNvPr id="7" name="Text 4"/>
          <p:cNvSpPr txBox="1"/>
          <p:nvPr/>
        </p:nvSpPr>
        <p:spPr>
          <a:xfrm>
            <a:off x="1554480" y="1554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Malls de Lima Top</a:t>
            </a:r>
            <a:endParaRPr lang="en-US" sz="1400" dirty="0"/>
          </a:p>
          <a:p>
            <a:pPr indent="0" marL="0">
              <a:buNone/>
            </a:pPr>
            <a:r>
              <a:rPr lang="en-US" sz="1300" dirty="0">
                <a:solidFill>
                  <a:schemeClr val="accent2"/>
                </a:solidFill>
              </a:rPr>
              <a:t>Jockey Plaza, Larcomar y La Rambla: programas para emprendedores</a:t>
            </a:r>
            <a:endParaRPr lang="en-US" sz="1400" dirty="0"/>
          </a:p>
        </p:txBody>
      </p:sp>
      <p:sp>
        <p:nvSpPr>
          <p:cNvPr id="8" name="Shape 5"/>
          <p:cNvSpPr/>
          <p:nvPr/>
        </p:nvSpPr>
        <p:spPr>
          <a:xfrm>
            <a:off x="548640" y="2697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2880360"/>
            <a:ext cx="640080" cy="64008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72338" y="3021178"/>
            <a:ext cx="358445" cy="358445"/>
          </a:xfrm>
          <a:prstGeom prst="rect">
            <a:avLst/>
          </a:prstGeom>
        </p:spPr>
      </p:pic>
      <p:sp>
        <p:nvSpPr>
          <p:cNvPr id="11" name="Text 7"/>
          <p:cNvSpPr txBox="1"/>
          <p:nvPr/>
        </p:nvSpPr>
        <p:spPr>
          <a:xfrm>
            <a:off x="1554480" y="2697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Supermercados</a:t>
            </a:r>
            <a:endParaRPr lang="en-US" sz="1400" dirty="0"/>
          </a:p>
          <a:p>
            <a:pPr indent="0" marL="0">
              <a:buNone/>
            </a:pPr>
            <a:r>
              <a:rPr lang="en-US" sz="1300" dirty="0">
                <a:solidFill>
                  <a:schemeClr val="accent2"/>
                </a:solidFill>
              </a:rPr>
              <a:t>Carrito en la entrada de Wong o Vivanda, los fines de semana</a:t>
            </a:r>
            <a:endParaRPr lang="en-US" sz="1400" dirty="0"/>
          </a:p>
        </p:txBody>
      </p:sp>
      <p:sp>
        <p:nvSpPr>
          <p:cNvPr id="12" name="Shape 8"/>
          <p:cNvSpPr/>
          <p:nvPr/>
        </p:nvSpPr>
        <p:spPr>
          <a:xfrm>
            <a:off x="548640" y="3840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9"/>
          <p:cNvSpPr/>
          <p:nvPr/>
        </p:nvSpPr>
        <p:spPr>
          <a:xfrm>
            <a:off x="731520" y="4023360"/>
            <a:ext cx="640080" cy="64008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872338" y="4164178"/>
            <a:ext cx="358445" cy="358445"/>
          </a:xfrm>
          <a:prstGeom prst="rect">
            <a:avLst/>
          </a:prstGeom>
        </p:spPr>
      </p:pic>
      <p:sp>
        <p:nvSpPr>
          <p:cNvPr id="15" name="Text 10"/>
          <p:cNvSpPr txBox="1"/>
          <p:nvPr/>
        </p:nvSpPr>
        <p:spPr>
          <a:xfrm>
            <a:off x="1554480" y="3840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Ferias de temporada</a:t>
            </a:r>
            <a:endParaRPr lang="en-US" sz="1400" dirty="0"/>
          </a:p>
          <a:p>
            <a:pPr indent="0" marL="0">
              <a:buNone/>
            </a:pPr>
            <a:r>
              <a:rPr lang="en-US" sz="1300" dirty="0">
                <a:solidFill>
                  <a:schemeClr val="accent2"/>
                </a:solidFill>
              </a:rPr>
              <a:t>Navidad (Bazar CCL, Navi Fest) y campaña escolar</a:t>
            </a:r>
            <a:endParaRPr lang="en-US" sz="1400" dirty="0"/>
          </a:p>
        </p:txBody>
      </p:sp>
      <p:sp>
        <p:nvSpPr>
          <p:cNvPr id="16" name="Shape 11"/>
          <p:cNvSpPr/>
          <p:nvPr/>
        </p:nvSpPr>
        <p:spPr>
          <a:xfrm>
            <a:off x="548640" y="4983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2"/>
          <p:cNvSpPr/>
          <p:nvPr/>
        </p:nvSpPr>
        <p:spPr>
          <a:xfrm>
            <a:off x="731520" y="5166360"/>
            <a:ext cx="640080" cy="64008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872338" y="5307178"/>
            <a:ext cx="358445" cy="358445"/>
          </a:xfrm>
          <a:prstGeom prst="rect">
            <a:avLst/>
          </a:prstGeom>
        </p:spPr>
      </p:pic>
      <p:sp>
        <p:nvSpPr>
          <p:cNvPr id="19" name="Text 13"/>
          <p:cNvSpPr txBox="1"/>
          <p:nvPr/>
        </p:nvSpPr>
        <p:spPr>
          <a:xfrm>
            <a:off x="1554480" y="4983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Colegios y comunidad</a:t>
            </a:r>
            <a:endParaRPr lang="en-US" sz="1400" dirty="0"/>
          </a:p>
          <a:p>
            <a:pPr indent="0" marL="0">
              <a:buNone/>
            </a:pPr>
            <a:r>
              <a:rPr lang="en-US" sz="1300" dirty="0">
                <a:solidFill>
                  <a:schemeClr val="accent2"/>
                </a:solidFill>
              </a:rPr>
              <a:t>Kermeses, cumpleaños y quioscos sin octógono</a:t>
            </a:r>
            <a:endParaRPr lang="en-US" sz="1400" dirty="0"/>
          </a:p>
        </p:txBody>
      </p:sp>
      <p:graphicFrame>
        <p:nvGraphicFramePr>
          <p:cNvPr id="20" name="Chart 0" descr=""/>
          <p:cNvGraphicFramePr/>
          <p:nvPr/>
        </p:nvGraphicFramePr>
        <p:xfrm>
          <a:off x="5212080" y="1463040"/>
          <a:ext cx="6583680" cy="466344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Cara a cara en el stand, automática al recomprar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En el stand: degustación y consejo de sabores; luego por WhatsApp</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Un socio a cargo de cada colegio y de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1"/>
          </a:solidFill>
          <a:ln w="12700">
            <a:solidFill>
              <a:schemeClr val="accent1"/>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accent1"/>
          </a:solidFill>
          <a:ln w="9525">
            <a:solidFill>
              <a:schemeClr val="accent1"/>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App Andi: hierro del lote, loncheras y pedido en un clic</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La app avisa cuando el pack se está acabando</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 en el stand</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Captar, fidelizar y crecer con cada familia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Degustación gratis en el stand y caja de 3 a S/12 para llevar</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80</a:t>
            </a:r>
            <a:endParaRPr lang="en-US" sz="1400" dirty="0"/>
          </a:p>
          <a:p>
            <a:pPr indent="0" marL="0">
              <a:buNone/>
            </a:pPr>
            <a:r>
              <a:rPr lang="en-US" sz="1300" dirty="0">
                <a:solidFill>
                  <a:schemeClr val="accent2"/>
                </a:solidFill>
              </a:rPr>
              <a:t>brownies por día en cada punto de venta</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La app Andi avisa la recompra, arma loncheras y mide el hierro de la semana</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lo vendido en físico vuelve por WhatsApp</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nuevos puntos de venta</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a:t>
            </a:r>
            <a:endParaRPr lang="en-US" sz="1400" dirty="0"/>
          </a:p>
          <a:p>
            <a:pPr indent="0" marL="0">
              <a:buNone/>
            </a:pPr>
            <a:r>
              <a:rPr lang="en-US" sz="1300" dirty="0">
                <a:solidFill>
                  <a:schemeClr val="accent2"/>
                </a:solidFill>
              </a:rPr>
              <a:t>puntos de venta desde agosto de 2027</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fuentes de ingreso, una sola línea de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en stands y carritos</a:t>
            </a:r>
            <a:endParaRPr lang="en-US" sz="1400" dirty="0"/>
          </a:p>
          <a:p>
            <a:pPr indent="0" marL="0">
              <a:buNone/>
            </a:pPr>
            <a:r>
              <a:rPr lang="en-US" sz="1300" dirty="0">
                <a:solidFill>
                  <a:schemeClr val="accent2"/>
                </a:solidFill>
              </a:rPr>
              <a:t>Unidades y packs en malls y supermercados</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50.0 %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Navidad, campaña escolar, kermeses y cumpleaños</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18.4 %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Recompra por WhatsApp</a:t>
            </a:r>
            <a:endParaRPr lang="en-US" sz="1400" dirty="0"/>
          </a:p>
          <a:p>
            <a:pPr indent="0" marL="0">
              <a:buNone/>
            </a:pPr>
            <a:r>
              <a:rPr lang="en-US" sz="1300" dirty="0">
                <a:solidFill>
                  <a:schemeClr val="accent2"/>
                </a:solidFill>
              </a:rPr>
              <a:t>Packs de 6 y de 12 con delivery</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16.1 %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mayorista (B2B)</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15.5 %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764792"/>
                <a:gridCol w="1005840"/>
                <a:gridCol w="1143000"/>
                <a:gridCol w="1143000"/>
              </a:tblGrid>
              <a:tr h="502920">
                <a:tc>
                  <a:txBody>
                    <a:bodyPr/>
                    <a:lstStyle/>
                    <a:p>
                      <a:pPr indent="0" marL="0">
                        <a:buNone/>
                      </a:pPr>
                      <a:r>
                        <a:rPr lang="en-US" sz="1300" b="1" dirty="0">
                          <a:solidFill>
                            <a:schemeClr val="bg1"/>
                          </a:solidFill>
                        </a:rPr>
                        <a:t>Precio con IGV</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Unidad</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6</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12</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400" b="1" dirty="0">
                          <a:solidFill>
                            <a:schemeClr val="tx1"/>
                          </a:solidFill>
                        </a:rPr>
                        <a:t>Stand y ferias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S/6.00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S/27.90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S/51.90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400" b="1" dirty="0">
                          <a:solidFill>
                            <a:schemeClr val="tx1"/>
                          </a:solidFill>
                        </a:rPr>
                        <a:t>WhatsApp</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S/26.90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S/49.90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Quiosco escolar</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Tienda naturista</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S/28.90*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Incluye el hierro medido por lote y la app. En el stand se cobra algo más por el alquiler y el personal.</a:t>
            </a:r>
            <a:endParaRPr lang="en-US" sz="1400" dirty="0"/>
          </a:p>
          <a:p>
            <a:pPr indent="0" marL="0">
              <a:spcAft>
                <a:spcPts val="400"/>
              </a:spcAft>
              <a:buNone/>
            </a:pPr>
            <a:r>
              <a:rPr lang="en-US" sz="1100" i="1" dirty="0">
                <a:solidFill>
                  <a:schemeClr val="accent2"/>
                </a:solidFill>
              </a:rPr>
              <a:t>* Precio al público. AndiBite recibe S/3.00 en el quiosco y S/17.34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S/246,500 en el primer año de ventas</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52,786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3,262 + 324  </a:t>
            </a:r>
            <a:pPr indent="0" marL="0">
              <a:buNone/>
            </a:pPr>
            <a:r>
              <a:rPr lang="en-US" sz="1300" dirty="0">
                <a:solidFill>
                  <a:schemeClr val="accent2"/>
                </a:solidFill>
              </a:rPr>
              <a:t>packs de 6 y de 12</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S/4.67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clave · Recursos clave · Actividades y costos · Punto de equilibrio · Modelo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socios que pasan la regla de las 3 C</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Planta maquiladora</a:t>
            </a:r>
            <a:endParaRPr lang="en-US" sz="1600" dirty="0"/>
          </a:p>
        </p:txBody>
      </p:sp>
      <p:sp>
        <p:nvSpPr>
          <p:cNvPr id="12" name="Text 8"/>
          <p:cNvSpPr txBox="1"/>
          <p:nvPr/>
        </p:nvSpPr>
        <p:spPr>
          <a:xfrm>
            <a:off x="1508760"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MAKING, Panificadora Unión, INDDA</a:t>
            </a:r>
            <a:endParaRPr lang="en-US" sz="1200" dirty="0"/>
          </a:p>
        </p:txBody>
      </p:sp>
      <p:sp>
        <p:nvSpPr>
          <p:cNvPr id="13" name="Shape 9"/>
          <p:cNvSpPr/>
          <p:nvPr/>
        </p:nvSpPr>
        <p:spPr>
          <a:xfrm>
            <a:off x="1508760" y="2441448"/>
            <a:ext cx="914400" cy="274320"/>
          </a:xfrm>
          <a:prstGeom prst="roundRect">
            <a:avLst>
              <a:gd name="adj" fmla="val 50000"/>
            </a:avLst>
          </a:prstGeom>
          <a:solidFill>
            <a:schemeClr val="bg2"/>
          </a:solidFill>
          <a:ln w="9525">
            <a:solidFill>
              <a:schemeClr val="accent5"/>
            </a:solidFill>
            <a:prstDash val="solid"/>
          </a:ln>
        </p:spPr>
      </p:sp>
      <p:sp>
        <p:nvSpPr>
          <p:cNvPr id="14" name="Text 10"/>
          <p:cNvSpPr txBox="1"/>
          <p:nvPr/>
        </p:nvSpPr>
        <p:spPr>
          <a:xfrm>
            <a:off x="1508760" y="2441448"/>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15" name="Shape 11"/>
          <p:cNvSpPr/>
          <p:nvPr/>
        </p:nvSpPr>
        <p:spPr>
          <a:xfrm>
            <a:off x="2478024" y="2441448"/>
            <a:ext cx="914400" cy="274320"/>
          </a:xfrm>
          <a:prstGeom prst="roundRect">
            <a:avLst>
              <a:gd name="adj" fmla="val 50000"/>
            </a:avLst>
          </a:prstGeom>
          <a:solidFill>
            <a:schemeClr val="accent4"/>
          </a:solidFill>
          <a:ln w="9525">
            <a:solidFill>
              <a:schemeClr val="accent4"/>
            </a:solidFill>
            <a:prstDash val="solid"/>
          </a:ln>
        </p:spPr>
      </p:sp>
      <p:sp>
        <p:nvSpPr>
          <p:cNvPr id="16" name="Text 12"/>
          <p:cNvSpPr txBox="1"/>
          <p:nvPr/>
        </p:nvSpPr>
        <p:spPr>
          <a:xfrm>
            <a:off x="2478024"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17" name="Shape 13"/>
          <p:cNvSpPr/>
          <p:nvPr/>
        </p:nvSpPr>
        <p:spPr>
          <a:xfrm>
            <a:off x="3447288" y="2441448"/>
            <a:ext cx="914400" cy="274320"/>
          </a:xfrm>
          <a:prstGeom prst="roundRect">
            <a:avLst>
              <a:gd name="adj" fmla="val 50000"/>
            </a:avLst>
          </a:prstGeom>
          <a:solidFill>
            <a:schemeClr val="accent4"/>
          </a:solidFill>
          <a:ln w="9525">
            <a:solidFill>
              <a:schemeClr val="accent4"/>
            </a:solidFill>
            <a:prstDash val="solid"/>
          </a:ln>
        </p:spPr>
      </p:sp>
      <p:sp>
        <p:nvSpPr>
          <p:cNvPr id="18" name="Text 14"/>
          <p:cNvSpPr txBox="1"/>
          <p:nvPr/>
        </p:nvSpPr>
        <p:spPr>
          <a:xfrm>
            <a:off x="3447288"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19" name="Shape 15"/>
          <p:cNvSpPr/>
          <p:nvPr/>
        </p:nvSpPr>
        <p:spPr>
          <a:xfrm>
            <a:off x="4480560" y="3753612"/>
            <a:ext cx="795528" cy="86868"/>
          </a:xfrm>
          <a:prstGeom prst="line">
            <a:avLst/>
          </a:prstGeom>
          <a:noFill/>
          <a:ln w="19050">
            <a:solidFill>
              <a:schemeClr val="accent5"/>
            </a:solidFill>
            <a:prstDash val="dash"/>
          </a:ln>
        </p:spPr>
      </p:sp>
      <p:sp>
        <p:nvSpPr>
          <p:cNvPr id="20" name="Shape 16"/>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22"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23" name="Text 18"/>
          <p:cNvSpPr txBox="1"/>
          <p:nvPr/>
        </p:nvSpPr>
        <p:spPr>
          <a:xfrm>
            <a:off x="1508760"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Laboratorio INACAL</a:t>
            </a:r>
            <a:endParaRPr lang="en-US" sz="1600" dirty="0"/>
          </a:p>
        </p:txBody>
      </p:sp>
      <p:sp>
        <p:nvSpPr>
          <p:cNvPr id="24" name="Text 19"/>
          <p:cNvSpPr txBox="1"/>
          <p:nvPr/>
        </p:nvSpPr>
        <p:spPr>
          <a:xfrm>
            <a:off x="1508760"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SAT Perú y La Molina Calidad Total</a:t>
            </a:r>
            <a:endParaRPr lang="en-US" sz="1200" dirty="0"/>
          </a:p>
        </p:txBody>
      </p:sp>
      <p:sp>
        <p:nvSpPr>
          <p:cNvPr id="25" name="Shape 20"/>
          <p:cNvSpPr/>
          <p:nvPr/>
        </p:nvSpPr>
        <p:spPr>
          <a:xfrm>
            <a:off x="1508760" y="3977640"/>
            <a:ext cx="914400" cy="274320"/>
          </a:xfrm>
          <a:prstGeom prst="roundRect">
            <a:avLst>
              <a:gd name="adj" fmla="val 50000"/>
            </a:avLst>
          </a:prstGeom>
          <a:solidFill>
            <a:schemeClr val="accent4"/>
          </a:solidFill>
          <a:ln w="9525">
            <a:solidFill>
              <a:schemeClr val="accent4"/>
            </a:solidFill>
            <a:prstDash val="solid"/>
          </a:ln>
        </p:spPr>
      </p:sp>
      <p:sp>
        <p:nvSpPr>
          <p:cNvPr id="26" name="Text 21"/>
          <p:cNvSpPr txBox="1"/>
          <p:nvPr/>
        </p:nvSpPr>
        <p:spPr>
          <a:xfrm>
            <a:off x="150876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27" name="Shape 22"/>
          <p:cNvSpPr/>
          <p:nvPr/>
        </p:nvSpPr>
        <p:spPr>
          <a:xfrm>
            <a:off x="2478024" y="3977640"/>
            <a:ext cx="914400" cy="274320"/>
          </a:xfrm>
          <a:prstGeom prst="roundRect">
            <a:avLst>
              <a:gd name="adj" fmla="val 50000"/>
            </a:avLst>
          </a:prstGeom>
          <a:solidFill>
            <a:schemeClr val="accent4"/>
          </a:solidFill>
          <a:ln w="9525">
            <a:solidFill>
              <a:schemeClr val="accent4"/>
            </a:solidFill>
            <a:prstDash val="solid"/>
          </a:ln>
        </p:spPr>
      </p:sp>
      <p:sp>
        <p:nvSpPr>
          <p:cNvPr id="28" name="Text 23"/>
          <p:cNvSpPr txBox="1"/>
          <p:nvPr/>
        </p:nvSpPr>
        <p:spPr>
          <a:xfrm>
            <a:off x="2478024"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29" name="Shape 24"/>
          <p:cNvSpPr/>
          <p:nvPr/>
        </p:nvSpPr>
        <p:spPr>
          <a:xfrm>
            <a:off x="3447288" y="3977640"/>
            <a:ext cx="914400" cy="274320"/>
          </a:xfrm>
          <a:prstGeom prst="roundRect">
            <a:avLst>
              <a:gd name="adj" fmla="val 50000"/>
            </a:avLst>
          </a:prstGeom>
          <a:solidFill>
            <a:schemeClr val="accent4"/>
          </a:solidFill>
          <a:ln w="9525">
            <a:solidFill>
              <a:schemeClr val="accent4"/>
            </a:solidFill>
            <a:prstDash val="solid"/>
          </a:ln>
        </p:spPr>
      </p:sp>
      <p:sp>
        <p:nvSpPr>
          <p:cNvPr id="30" name="Text 25"/>
          <p:cNvSpPr txBox="1"/>
          <p:nvPr/>
        </p:nvSpPr>
        <p:spPr>
          <a:xfrm>
            <a:off x="3447288"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31" name="Shape 26"/>
          <p:cNvSpPr/>
          <p:nvPr/>
        </p:nvSpPr>
        <p:spPr>
          <a:xfrm>
            <a:off x="4480560" y="5289804"/>
            <a:ext cx="795528" cy="-1449324"/>
          </a:xfrm>
          <a:prstGeom prst="line">
            <a:avLst/>
          </a:prstGeom>
          <a:noFill/>
          <a:ln w="19050">
            <a:solidFill>
              <a:schemeClr val="accent5"/>
            </a:solidFill>
            <a:prstDash val="dash"/>
          </a:ln>
        </p:spPr>
      </p:sp>
      <p:sp>
        <p:nvSpPr>
          <p:cNvPr id="32" name="Shape 2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3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35" name="Text 29"/>
          <p:cNvSpPr txBox="1"/>
          <p:nvPr/>
        </p:nvSpPr>
        <p:spPr>
          <a:xfrm>
            <a:off x="1508760"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Proveedores</a:t>
            </a:r>
            <a:endParaRPr lang="en-US" sz="1600" dirty="0"/>
          </a:p>
        </p:txBody>
      </p:sp>
      <p:sp>
        <p:nvSpPr>
          <p:cNvPr id="36" name="Text 30"/>
          <p:cNvSpPr txBox="1"/>
          <p:nvPr/>
        </p:nvSpPr>
        <p:spPr>
          <a:xfrm>
            <a:off x="1508760"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Sangrecita en polvo con RS, Makro, empaques</a:t>
            </a:r>
            <a:endParaRPr lang="en-US" sz="1200" dirty="0"/>
          </a:p>
        </p:txBody>
      </p:sp>
      <p:sp>
        <p:nvSpPr>
          <p:cNvPr id="37" name="Shape 31"/>
          <p:cNvSpPr/>
          <p:nvPr/>
        </p:nvSpPr>
        <p:spPr>
          <a:xfrm>
            <a:off x="1508760" y="5513832"/>
            <a:ext cx="914400" cy="274320"/>
          </a:xfrm>
          <a:prstGeom prst="roundRect">
            <a:avLst>
              <a:gd name="adj" fmla="val 50000"/>
            </a:avLst>
          </a:prstGeom>
          <a:solidFill>
            <a:schemeClr val="bg2"/>
          </a:solidFill>
          <a:ln w="9525">
            <a:solidFill>
              <a:schemeClr val="accent5"/>
            </a:solidFill>
            <a:prstDash val="solid"/>
          </a:ln>
        </p:spPr>
      </p:sp>
      <p:sp>
        <p:nvSpPr>
          <p:cNvPr id="38" name="Text 32"/>
          <p:cNvSpPr txBox="1"/>
          <p:nvPr/>
        </p:nvSpPr>
        <p:spPr>
          <a:xfrm>
            <a:off x="150876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39" name="Shape 33"/>
          <p:cNvSpPr/>
          <p:nvPr/>
        </p:nvSpPr>
        <p:spPr>
          <a:xfrm>
            <a:off x="2478024" y="5513832"/>
            <a:ext cx="914400" cy="274320"/>
          </a:xfrm>
          <a:prstGeom prst="roundRect">
            <a:avLst>
              <a:gd name="adj" fmla="val 50000"/>
            </a:avLst>
          </a:prstGeom>
          <a:solidFill>
            <a:schemeClr val="accent4"/>
          </a:solidFill>
          <a:ln w="9525">
            <a:solidFill>
              <a:schemeClr val="accent4"/>
            </a:solidFill>
            <a:prstDash val="solid"/>
          </a:ln>
        </p:spPr>
      </p:sp>
      <p:sp>
        <p:nvSpPr>
          <p:cNvPr id="40" name="Text 34"/>
          <p:cNvSpPr txBox="1"/>
          <p:nvPr/>
        </p:nvSpPr>
        <p:spPr>
          <a:xfrm>
            <a:off x="2478024"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41" name="Shape 35"/>
          <p:cNvSpPr/>
          <p:nvPr/>
        </p:nvSpPr>
        <p:spPr>
          <a:xfrm>
            <a:off x="3447288" y="5513832"/>
            <a:ext cx="914400" cy="274320"/>
          </a:xfrm>
          <a:prstGeom prst="roundRect">
            <a:avLst>
              <a:gd name="adj" fmla="val 50000"/>
            </a:avLst>
          </a:prstGeom>
          <a:solidFill>
            <a:schemeClr val="accent4"/>
          </a:solidFill>
          <a:ln w="9525">
            <a:solidFill>
              <a:schemeClr val="accent4"/>
            </a:solidFill>
            <a:prstDash val="solid"/>
          </a:ln>
        </p:spPr>
      </p:sp>
      <p:sp>
        <p:nvSpPr>
          <p:cNvPr id="42" name="Text 36"/>
          <p:cNvSpPr txBox="1"/>
          <p:nvPr/>
        </p:nvSpPr>
        <p:spPr>
          <a:xfrm>
            <a:off x="3447288"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43" name="Shape 37"/>
          <p:cNvSpPr/>
          <p:nvPr/>
        </p:nvSpPr>
        <p:spPr>
          <a:xfrm flipV="1">
            <a:off x="6922008" y="2217420"/>
            <a:ext cx="786384" cy="1623060"/>
          </a:xfrm>
          <a:prstGeom prst="line">
            <a:avLst/>
          </a:prstGeom>
          <a:noFill/>
          <a:ln w="19050">
            <a:solidFill>
              <a:schemeClr val="accent5"/>
            </a:solidFill>
            <a:prstDash val="dash"/>
          </a:ln>
        </p:spPr>
      </p:sp>
      <p:sp>
        <p:nvSpPr>
          <p:cNvPr id="44" name="Shape 38"/>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5" name="Shape 39"/>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46"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47" name="Text 40"/>
          <p:cNvSpPr txBox="1"/>
          <p:nvPr/>
        </p:nvSpPr>
        <p:spPr>
          <a:xfrm>
            <a:off x="8668512"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Malls y supermercados</a:t>
            </a:r>
            <a:endParaRPr lang="en-US" sz="1600" dirty="0"/>
          </a:p>
        </p:txBody>
      </p:sp>
      <p:sp>
        <p:nvSpPr>
          <p:cNvPr id="48" name="Text 41"/>
          <p:cNvSpPr txBox="1"/>
          <p:nvPr/>
        </p:nvSpPr>
        <p:spPr>
          <a:xfrm>
            <a:off x="8668512"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Jockey, Larcomar, La Rambla, Wong, Vivanda</a:t>
            </a:r>
            <a:endParaRPr lang="en-US" sz="1200" dirty="0"/>
          </a:p>
        </p:txBody>
      </p:sp>
      <p:sp>
        <p:nvSpPr>
          <p:cNvPr id="49" name="Shape 42"/>
          <p:cNvSpPr/>
          <p:nvPr/>
        </p:nvSpPr>
        <p:spPr>
          <a:xfrm>
            <a:off x="8668512" y="2441448"/>
            <a:ext cx="914400" cy="274320"/>
          </a:xfrm>
          <a:prstGeom prst="roundRect">
            <a:avLst>
              <a:gd name="adj" fmla="val 50000"/>
            </a:avLst>
          </a:prstGeom>
          <a:solidFill>
            <a:schemeClr val="accent4"/>
          </a:solidFill>
          <a:ln w="9525">
            <a:solidFill>
              <a:schemeClr val="accent4"/>
            </a:solidFill>
            <a:prstDash val="solid"/>
          </a:ln>
        </p:spPr>
      </p:sp>
      <p:sp>
        <p:nvSpPr>
          <p:cNvPr id="50" name="Text 43"/>
          <p:cNvSpPr txBox="1"/>
          <p:nvPr/>
        </p:nvSpPr>
        <p:spPr>
          <a:xfrm>
            <a:off x="8668512"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51" name="Shape 44"/>
          <p:cNvSpPr/>
          <p:nvPr/>
        </p:nvSpPr>
        <p:spPr>
          <a:xfrm>
            <a:off x="9637776" y="2441448"/>
            <a:ext cx="914400" cy="274320"/>
          </a:xfrm>
          <a:prstGeom prst="roundRect">
            <a:avLst>
              <a:gd name="adj" fmla="val 50000"/>
            </a:avLst>
          </a:prstGeom>
          <a:solidFill>
            <a:schemeClr val="accent4"/>
          </a:solidFill>
          <a:ln w="9525">
            <a:solidFill>
              <a:schemeClr val="accent4"/>
            </a:solidFill>
            <a:prstDash val="solid"/>
          </a:ln>
        </p:spPr>
      </p:sp>
      <p:sp>
        <p:nvSpPr>
          <p:cNvPr id="52" name="Text 45"/>
          <p:cNvSpPr txBox="1"/>
          <p:nvPr/>
        </p:nvSpPr>
        <p:spPr>
          <a:xfrm>
            <a:off x="9637776"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53" name="Shape 46"/>
          <p:cNvSpPr/>
          <p:nvPr/>
        </p:nvSpPr>
        <p:spPr>
          <a:xfrm>
            <a:off x="10607040" y="2441448"/>
            <a:ext cx="914400" cy="274320"/>
          </a:xfrm>
          <a:prstGeom prst="roundRect">
            <a:avLst>
              <a:gd name="adj" fmla="val 50000"/>
            </a:avLst>
          </a:prstGeom>
          <a:solidFill>
            <a:schemeClr val="accent4"/>
          </a:solidFill>
          <a:ln w="9525">
            <a:solidFill>
              <a:schemeClr val="accent4"/>
            </a:solidFill>
            <a:prstDash val="solid"/>
          </a:ln>
        </p:spPr>
      </p:sp>
      <p:sp>
        <p:nvSpPr>
          <p:cNvPr id="54" name="Text 47"/>
          <p:cNvSpPr txBox="1"/>
          <p:nvPr/>
        </p:nvSpPr>
        <p:spPr>
          <a:xfrm>
            <a:off x="10607040"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55" name="Shape 48"/>
          <p:cNvSpPr/>
          <p:nvPr/>
        </p:nvSpPr>
        <p:spPr>
          <a:xfrm flipV="1">
            <a:off x="6922008" y="3753612"/>
            <a:ext cx="786384" cy="86868"/>
          </a:xfrm>
          <a:prstGeom prst="line">
            <a:avLst/>
          </a:prstGeom>
          <a:noFill/>
          <a:ln w="19050">
            <a:solidFill>
              <a:schemeClr val="accent5"/>
            </a:solidFill>
            <a:prstDash val="dash"/>
          </a:ln>
        </p:spPr>
      </p:sp>
      <p:sp>
        <p:nvSpPr>
          <p:cNvPr id="56" name="Shape 4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7" name="Shape 5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5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59" name="Text 51"/>
          <p:cNvSpPr txBox="1"/>
          <p:nvPr/>
        </p:nvSpPr>
        <p:spPr>
          <a:xfrm>
            <a:off x="8668512"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Ferias, colegios y naturistas</a:t>
            </a:r>
            <a:endParaRPr lang="en-US" sz="1600" dirty="0"/>
          </a:p>
        </p:txBody>
      </p:sp>
      <p:sp>
        <p:nvSpPr>
          <p:cNvPr id="60" name="Text 52"/>
          <p:cNvSpPr txBox="1"/>
          <p:nvPr/>
        </p:nvSpPr>
        <p:spPr>
          <a:xfrm>
            <a:off x="8668512"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Organizadores, concesionarios y tiendas</a:t>
            </a:r>
            <a:endParaRPr lang="en-US" sz="1200" dirty="0"/>
          </a:p>
        </p:txBody>
      </p:sp>
      <p:sp>
        <p:nvSpPr>
          <p:cNvPr id="61" name="Shape 53"/>
          <p:cNvSpPr/>
          <p:nvPr/>
        </p:nvSpPr>
        <p:spPr>
          <a:xfrm>
            <a:off x="8668512" y="3977640"/>
            <a:ext cx="914400" cy="274320"/>
          </a:xfrm>
          <a:prstGeom prst="roundRect">
            <a:avLst>
              <a:gd name="adj" fmla="val 50000"/>
            </a:avLst>
          </a:prstGeom>
          <a:solidFill>
            <a:schemeClr val="accent4"/>
          </a:solidFill>
          <a:ln w="9525">
            <a:solidFill>
              <a:schemeClr val="accent4"/>
            </a:solidFill>
            <a:prstDash val="solid"/>
          </a:ln>
        </p:spPr>
      </p:sp>
      <p:sp>
        <p:nvSpPr>
          <p:cNvPr id="62" name="Text 54"/>
          <p:cNvSpPr txBox="1"/>
          <p:nvPr/>
        </p:nvSpPr>
        <p:spPr>
          <a:xfrm>
            <a:off x="8668512"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63" name="Shape 55"/>
          <p:cNvSpPr/>
          <p:nvPr/>
        </p:nvSpPr>
        <p:spPr>
          <a:xfrm>
            <a:off x="9637776" y="3977640"/>
            <a:ext cx="914400" cy="274320"/>
          </a:xfrm>
          <a:prstGeom prst="roundRect">
            <a:avLst>
              <a:gd name="adj" fmla="val 50000"/>
            </a:avLst>
          </a:prstGeom>
          <a:solidFill>
            <a:schemeClr val="accent4"/>
          </a:solidFill>
          <a:ln w="9525">
            <a:solidFill>
              <a:schemeClr val="accent4"/>
            </a:solidFill>
            <a:prstDash val="solid"/>
          </a:ln>
        </p:spPr>
      </p:sp>
      <p:sp>
        <p:nvSpPr>
          <p:cNvPr id="64" name="Text 56"/>
          <p:cNvSpPr txBox="1"/>
          <p:nvPr/>
        </p:nvSpPr>
        <p:spPr>
          <a:xfrm>
            <a:off x="9637776"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65" name="Shape 57"/>
          <p:cNvSpPr/>
          <p:nvPr/>
        </p:nvSpPr>
        <p:spPr>
          <a:xfrm>
            <a:off x="10607040" y="3977640"/>
            <a:ext cx="914400" cy="274320"/>
          </a:xfrm>
          <a:prstGeom prst="roundRect">
            <a:avLst>
              <a:gd name="adj" fmla="val 50000"/>
            </a:avLst>
          </a:prstGeom>
          <a:solidFill>
            <a:schemeClr val="accent4"/>
          </a:solidFill>
          <a:ln w="9525">
            <a:solidFill>
              <a:schemeClr val="accent4"/>
            </a:solidFill>
            <a:prstDash val="solid"/>
          </a:ln>
        </p:spPr>
      </p:sp>
      <p:sp>
        <p:nvSpPr>
          <p:cNvPr id="66" name="Text 58"/>
          <p:cNvSpPr txBox="1"/>
          <p:nvPr/>
        </p:nvSpPr>
        <p:spPr>
          <a:xfrm>
            <a:off x="1060704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67" name="Shape 59"/>
          <p:cNvSpPr/>
          <p:nvPr/>
        </p:nvSpPr>
        <p:spPr>
          <a:xfrm>
            <a:off x="6922008" y="3840480"/>
            <a:ext cx="786384" cy="1449324"/>
          </a:xfrm>
          <a:prstGeom prst="line">
            <a:avLst/>
          </a:prstGeom>
          <a:noFill/>
          <a:ln w="19050">
            <a:solidFill>
              <a:schemeClr val="accent5"/>
            </a:solidFill>
            <a:prstDash val="dash"/>
          </a:ln>
        </p:spPr>
      </p:sp>
      <p:sp>
        <p:nvSpPr>
          <p:cNvPr id="68" name="Shape 60"/>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9" name="Shape 61"/>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70"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71" name="Text 62"/>
          <p:cNvSpPr txBox="1"/>
          <p:nvPr/>
        </p:nvSpPr>
        <p:spPr>
          <a:xfrm>
            <a:off x="8668512"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App y prescriptores</a:t>
            </a:r>
            <a:endParaRPr lang="en-US" sz="1600" dirty="0"/>
          </a:p>
        </p:txBody>
      </p:sp>
      <p:sp>
        <p:nvSpPr>
          <p:cNvPr id="72" name="Text 63"/>
          <p:cNvSpPr txBox="1"/>
          <p:nvPr/>
        </p:nvSpPr>
        <p:spPr>
          <a:xfrm>
            <a:off x="8668512"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Desarrollador, Google Cloud, pediatras</a:t>
            </a:r>
            <a:endParaRPr lang="en-US" sz="1200" dirty="0"/>
          </a:p>
        </p:txBody>
      </p:sp>
      <p:sp>
        <p:nvSpPr>
          <p:cNvPr id="73" name="Shape 64"/>
          <p:cNvSpPr/>
          <p:nvPr/>
        </p:nvSpPr>
        <p:spPr>
          <a:xfrm>
            <a:off x="8668512" y="5513832"/>
            <a:ext cx="914400" cy="274320"/>
          </a:xfrm>
          <a:prstGeom prst="roundRect">
            <a:avLst>
              <a:gd name="adj" fmla="val 50000"/>
            </a:avLst>
          </a:prstGeom>
          <a:solidFill>
            <a:schemeClr val="accent4"/>
          </a:solidFill>
          <a:ln w="9525">
            <a:solidFill>
              <a:schemeClr val="accent4"/>
            </a:solidFill>
            <a:prstDash val="solid"/>
          </a:ln>
        </p:spPr>
      </p:sp>
      <p:sp>
        <p:nvSpPr>
          <p:cNvPr id="74" name="Text 65"/>
          <p:cNvSpPr txBox="1"/>
          <p:nvPr/>
        </p:nvSpPr>
        <p:spPr>
          <a:xfrm>
            <a:off x="8668512"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75" name="Shape 66"/>
          <p:cNvSpPr/>
          <p:nvPr/>
        </p:nvSpPr>
        <p:spPr>
          <a:xfrm>
            <a:off x="9637776" y="5513832"/>
            <a:ext cx="914400" cy="274320"/>
          </a:xfrm>
          <a:prstGeom prst="roundRect">
            <a:avLst>
              <a:gd name="adj" fmla="val 50000"/>
            </a:avLst>
          </a:prstGeom>
          <a:solidFill>
            <a:schemeClr val="accent4"/>
          </a:solidFill>
          <a:ln w="9525">
            <a:solidFill>
              <a:schemeClr val="accent4"/>
            </a:solidFill>
            <a:prstDash val="solid"/>
          </a:ln>
        </p:spPr>
      </p:sp>
      <p:sp>
        <p:nvSpPr>
          <p:cNvPr id="76" name="Text 67"/>
          <p:cNvSpPr txBox="1"/>
          <p:nvPr/>
        </p:nvSpPr>
        <p:spPr>
          <a:xfrm>
            <a:off x="9637776"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77" name="Shape 68"/>
          <p:cNvSpPr/>
          <p:nvPr/>
        </p:nvSpPr>
        <p:spPr>
          <a:xfrm>
            <a:off x="10607040" y="5513832"/>
            <a:ext cx="914400" cy="274320"/>
          </a:xfrm>
          <a:prstGeom prst="roundRect">
            <a:avLst>
              <a:gd name="adj" fmla="val 50000"/>
            </a:avLst>
          </a:prstGeom>
          <a:solidFill>
            <a:schemeClr val="accent4"/>
          </a:solidFill>
          <a:ln w="9525">
            <a:solidFill>
              <a:schemeClr val="accent4"/>
            </a:solidFill>
            <a:prstDash val="solid"/>
          </a:ln>
        </p:spPr>
      </p:sp>
      <p:sp>
        <p:nvSpPr>
          <p:cNvPr id="78" name="Text 69"/>
          <p:cNvSpPr txBox="1"/>
          <p:nvPr/>
        </p:nvSpPr>
        <p:spPr>
          <a:xfrm>
            <a:off x="10607040"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recursos sin los que AndiBite no funciona</a:t>
            </a:r>
            <a:endParaRPr lang="en-US" sz="3400" dirty="0"/>
          </a:p>
        </p:txBody>
      </p:sp>
      <p:sp>
        <p:nvSpPr>
          <p:cNvPr id="4" name="Text 2"/>
          <p:cNvSpPr txBox="1"/>
          <p:nvPr/>
        </p:nvSpPr>
        <p:spPr>
          <a:xfrm>
            <a:off x="7269480" y="1417320"/>
            <a:ext cx="4370832" cy="274320"/>
          </a:xfrm>
          <a:prstGeom prst="rect">
            <a:avLst/>
          </a:prstGeom>
          <a:noFill/>
          <a:ln/>
        </p:spPr>
        <p:txBody>
          <a:bodyPr wrap="square" lIns="0" tIns="0" rIns="0" bIns="0" rtlCol="0" anchor="t"/>
          <a:lstStyle/>
          <a:p>
            <a:pPr indent="0" marL="0">
              <a:buNone/>
            </a:pPr>
            <a:r>
              <a:rPr lang="en-US" sz="1200" b="1" dirty="0">
                <a:solidFill>
                  <a:schemeClr val="accent2"/>
                </a:solidFill>
              </a:rPr>
              <a:t>Test rápido de la sesión 07</a:t>
            </a:r>
            <a:endParaRPr lang="en-US" sz="1200" dirty="0"/>
          </a:p>
        </p:txBody>
      </p:sp>
      <p:sp>
        <p:nvSpPr>
          <p:cNvPr id="5" name="Text 3"/>
          <p:cNvSpPr txBox="1"/>
          <p:nvPr/>
        </p:nvSpPr>
        <p:spPr>
          <a:xfrm>
            <a:off x="726948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Si falta, no funciona</a:t>
            </a:r>
            <a:endParaRPr lang="en-US" sz="1100" dirty="0"/>
          </a:p>
        </p:txBody>
      </p:sp>
      <p:sp>
        <p:nvSpPr>
          <p:cNvPr id="6" name="Text 4"/>
          <p:cNvSpPr txBox="1"/>
          <p:nvPr/>
        </p:nvSpPr>
        <p:spPr>
          <a:xfrm>
            <a:off x="873252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Nos diferencia</a:t>
            </a:r>
            <a:endParaRPr lang="en-US" sz="1100" dirty="0"/>
          </a:p>
        </p:txBody>
      </p:sp>
      <p:sp>
        <p:nvSpPr>
          <p:cNvPr id="7" name="Text 5"/>
          <p:cNvSpPr txBox="1"/>
          <p:nvPr/>
        </p:nvSpPr>
        <p:spPr>
          <a:xfrm>
            <a:off x="1019556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Difícil de copiar</a:t>
            </a:r>
            <a:endParaRPr lang="en-US" sz="1100" dirty="0"/>
          </a:p>
        </p:txBody>
      </p:sp>
      <p:sp>
        <p:nvSpPr>
          <p:cNvPr id="8" name="Shape 6"/>
          <p:cNvSpPr/>
          <p:nvPr/>
        </p:nvSpPr>
        <p:spPr>
          <a:xfrm>
            <a:off x="548640" y="214884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7"/>
          <p:cNvSpPr/>
          <p:nvPr/>
        </p:nvSpPr>
        <p:spPr>
          <a:xfrm>
            <a:off x="685800" y="2221992"/>
            <a:ext cx="429768" cy="429768"/>
          </a:xfrm>
          <a:prstGeom prst="ellipse">
            <a:avLst/>
          </a:prstGeom>
          <a:solidFill>
            <a:schemeClr val="accent1"/>
          </a:solidFill>
          <a:ln w="1270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80349" y="2316541"/>
            <a:ext cx="240670" cy="240670"/>
          </a:xfrm>
          <a:prstGeom prst="rect">
            <a:avLst/>
          </a:prstGeom>
        </p:spPr>
      </p:pic>
      <p:sp>
        <p:nvSpPr>
          <p:cNvPr id="11" name="Text 8"/>
          <p:cNvSpPr txBox="1"/>
          <p:nvPr/>
        </p:nvSpPr>
        <p:spPr>
          <a:xfrm>
            <a:off x="1280160" y="214884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12" name="Text 9"/>
          <p:cNvSpPr txBox="1"/>
          <p:nvPr/>
        </p:nvSpPr>
        <p:spPr>
          <a:xfrm>
            <a:off x="2743200" y="2148840"/>
            <a:ext cx="4434840" cy="576072"/>
          </a:xfrm>
          <a:prstGeom prst="rect">
            <a:avLst/>
          </a:prstGeom>
          <a:noFill/>
          <a:ln/>
        </p:spPr>
        <p:txBody>
          <a:bodyPr wrap="square" lIns="0" tIns="0" rIns="0" bIns="0" rtlCol="0" anchor="ctr"/>
          <a:lstStyle/>
          <a:p>
            <a:pPr indent="0" marL="0">
              <a:buNone/>
            </a:pPr>
            <a:r>
              <a:rPr lang="en-US" sz="1500" dirty="0">
                <a:solidFill>
                  <a:schemeClr val="tx1"/>
                </a:solidFill>
              </a:rPr>
              <a:t>Fórmula de 3 sabores con sangrecita</a:t>
            </a:r>
            <a:endParaRPr lang="en-US" sz="1500" dirty="0"/>
          </a:p>
        </p:txBody>
      </p:sp>
      <p:sp>
        <p:nvSpPr>
          <p:cNvPr id="13" name="Shape 10"/>
          <p:cNvSpPr/>
          <p:nvPr/>
        </p:nvSpPr>
        <p:spPr>
          <a:xfrm>
            <a:off x="7772400" y="2267712"/>
            <a:ext cx="347472" cy="347472"/>
          </a:xfrm>
          <a:prstGeom prst="ellipse">
            <a:avLst/>
          </a:prstGeom>
          <a:solidFill>
            <a:schemeClr val="accent4"/>
          </a:solidFill>
          <a:ln w="9525">
            <a:solidFill>
              <a:schemeClr val="accent4"/>
            </a:solidFill>
            <a:prstDash val="solid"/>
          </a:ln>
        </p:spPr>
      </p:sp>
      <p:sp>
        <p:nvSpPr>
          <p:cNvPr id="14" name="Text 11"/>
          <p:cNvSpPr txBox="1"/>
          <p:nvPr/>
        </p:nvSpPr>
        <p:spPr>
          <a:xfrm>
            <a:off x="777240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 name="Shape 12"/>
          <p:cNvSpPr/>
          <p:nvPr/>
        </p:nvSpPr>
        <p:spPr>
          <a:xfrm>
            <a:off x="9235440" y="2267712"/>
            <a:ext cx="347472" cy="347472"/>
          </a:xfrm>
          <a:prstGeom prst="ellipse">
            <a:avLst/>
          </a:prstGeom>
          <a:solidFill>
            <a:schemeClr val="accent4"/>
          </a:solidFill>
          <a:ln w="9525">
            <a:solidFill>
              <a:schemeClr val="accent4"/>
            </a:solidFill>
            <a:prstDash val="solid"/>
          </a:ln>
        </p:spPr>
      </p:sp>
      <p:sp>
        <p:nvSpPr>
          <p:cNvPr id="16" name="Text 13"/>
          <p:cNvSpPr txBox="1"/>
          <p:nvPr/>
        </p:nvSpPr>
        <p:spPr>
          <a:xfrm>
            <a:off x="923544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7" name="Shape 14"/>
          <p:cNvSpPr/>
          <p:nvPr/>
        </p:nvSpPr>
        <p:spPr>
          <a:xfrm>
            <a:off x="10698480" y="2267712"/>
            <a:ext cx="347472" cy="347472"/>
          </a:xfrm>
          <a:prstGeom prst="ellipse">
            <a:avLst/>
          </a:prstGeom>
          <a:solidFill>
            <a:schemeClr val="accent4"/>
          </a:solidFill>
          <a:ln w="9525">
            <a:solidFill>
              <a:schemeClr val="accent4"/>
            </a:solidFill>
            <a:prstDash val="solid"/>
          </a:ln>
        </p:spPr>
      </p:sp>
      <p:sp>
        <p:nvSpPr>
          <p:cNvPr id="18" name="Text 15"/>
          <p:cNvSpPr txBox="1"/>
          <p:nvPr/>
        </p:nvSpPr>
        <p:spPr>
          <a:xfrm>
            <a:off x="1069848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9" name="Shape 16"/>
          <p:cNvSpPr/>
          <p:nvPr/>
        </p:nvSpPr>
        <p:spPr>
          <a:xfrm>
            <a:off x="548640" y="2816352"/>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7"/>
          <p:cNvSpPr/>
          <p:nvPr/>
        </p:nvSpPr>
        <p:spPr>
          <a:xfrm>
            <a:off x="685800" y="2889504"/>
            <a:ext cx="429768" cy="429768"/>
          </a:xfrm>
          <a:prstGeom prst="ellipse">
            <a:avLst/>
          </a:prstGeom>
          <a:solidFill>
            <a:schemeClr val="accent1"/>
          </a:solidFill>
          <a:ln w="12700">
            <a:solidFill>
              <a:schemeClr val="accent1"/>
            </a:solidFill>
            <a:prstDash val="solid"/>
          </a:ln>
        </p:spPr>
      </p:sp>
      <p:pic>
        <p:nvPicPr>
          <p:cNvPr id="21" name="Image 1" descr="preencoded.png">    </p:cNvPr>
          <p:cNvPicPr>
            <a:picLocks noChangeAspect="1"/>
          </p:cNvPicPr>
          <p:nvPr/>
        </p:nvPicPr>
        <p:blipFill>
          <a:blip r:embed="rId2"/>
          <a:stretch>
            <a:fillRect/>
          </a:stretch>
        </p:blipFill>
        <p:spPr>
          <a:xfrm>
            <a:off x="780349" y="2984053"/>
            <a:ext cx="240670" cy="240670"/>
          </a:xfrm>
          <a:prstGeom prst="rect">
            <a:avLst/>
          </a:prstGeom>
        </p:spPr>
      </p:pic>
      <p:sp>
        <p:nvSpPr>
          <p:cNvPr id="22" name="Text 18"/>
          <p:cNvSpPr txBox="1"/>
          <p:nvPr/>
        </p:nvSpPr>
        <p:spPr>
          <a:xfrm>
            <a:off x="1280160" y="2816352"/>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23" name="Text 19"/>
          <p:cNvSpPr txBox="1"/>
          <p:nvPr/>
        </p:nvSpPr>
        <p:spPr>
          <a:xfrm>
            <a:off x="2743200" y="2816352"/>
            <a:ext cx="4434840" cy="576072"/>
          </a:xfrm>
          <a:prstGeom prst="rect">
            <a:avLst/>
          </a:prstGeom>
          <a:noFill/>
          <a:ln/>
        </p:spPr>
        <p:txBody>
          <a:bodyPr wrap="square" lIns="0" tIns="0" rIns="0" bIns="0" rtlCol="0" anchor="ctr"/>
          <a:lstStyle/>
          <a:p>
            <a:pPr indent="0" marL="0">
              <a:buNone/>
            </a:pPr>
            <a:r>
              <a:rPr lang="en-US" sz="1500" dirty="0">
                <a:solidFill>
                  <a:schemeClr val="tx1"/>
                </a:solidFill>
              </a:rPr>
              <a:t>Marca AndiBite y registro sanitario</a:t>
            </a:r>
            <a:endParaRPr lang="en-US" sz="1500" dirty="0"/>
          </a:p>
        </p:txBody>
      </p:sp>
      <p:sp>
        <p:nvSpPr>
          <p:cNvPr id="24" name="Shape 20"/>
          <p:cNvSpPr/>
          <p:nvPr/>
        </p:nvSpPr>
        <p:spPr>
          <a:xfrm>
            <a:off x="7772400" y="2935224"/>
            <a:ext cx="347472" cy="347472"/>
          </a:xfrm>
          <a:prstGeom prst="ellipse">
            <a:avLst/>
          </a:prstGeom>
          <a:solidFill>
            <a:schemeClr val="accent4"/>
          </a:solidFill>
          <a:ln w="9525">
            <a:solidFill>
              <a:schemeClr val="accent4"/>
            </a:solidFill>
            <a:prstDash val="solid"/>
          </a:ln>
        </p:spPr>
      </p:sp>
      <p:sp>
        <p:nvSpPr>
          <p:cNvPr id="25" name="Text 21"/>
          <p:cNvSpPr txBox="1"/>
          <p:nvPr/>
        </p:nvSpPr>
        <p:spPr>
          <a:xfrm>
            <a:off x="777240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Shape 22"/>
          <p:cNvSpPr/>
          <p:nvPr/>
        </p:nvSpPr>
        <p:spPr>
          <a:xfrm>
            <a:off x="9235440" y="2935224"/>
            <a:ext cx="347472" cy="347472"/>
          </a:xfrm>
          <a:prstGeom prst="ellipse">
            <a:avLst/>
          </a:prstGeom>
          <a:solidFill>
            <a:schemeClr val="accent4"/>
          </a:solidFill>
          <a:ln w="9525">
            <a:solidFill>
              <a:schemeClr val="accent4"/>
            </a:solidFill>
            <a:prstDash val="solid"/>
          </a:ln>
        </p:spPr>
      </p:sp>
      <p:sp>
        <p:nvSpPr>
          <p:cNvPr id="27" name="Text 23"/>
          <p:cNvSpPr txBox="1"/>
          <p:nvPr/>
        </p:nvSpPr>
        <p:spPr>
          <a:xfrm>
            <a:off x="923544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8" name="Shape 24"/>
          <p:cNvSpPr/>
          <p:nvPr/>
        </p:nvSpPr>
        <p:spPr>
          <a:xfrm>
            <a:off x="10698480" y="2935224"/>
            <a:ext cx="347472" cy="347472"/>
          </a:xfrm>
          <a:prstGeom prst="ellipse">
            <a:avLst/>
          </a:prstGeom>
          <a:solidFill>
            <a:schemeClr val="accent4"/>
          </a:solidFill>
          <a:ln w="9525">
            <a:solidFill>
              <a:schemeClr val="accent4"/>
            </a:solidFill>
            <a:prstDash val="solid"/>
          </a:ln>
        </p:spPr>
      </p:sp>
      <p:sp>
        <p:nvSpPr>
          <p:cNvPr id="29" name="Text 25"/>
          <p:cNvSpPr txBox="1"/>
          <p:nvPr/>
        </p:nvSpPr>
        <p:spPr>
          <a:xfrm>
            <a:off x="1069848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0" name="Shape 26"/>
          <p:cNvSpPr/>
          <p:nvPr/>
        </p:nvSpPr>
        <p:spPr>
          <a:xfrm>
            <a:off x="548640" y="3483864"/>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7"/>
          <p:cNvSpPr/>
          <p:nvPr/>
        </p:nvSpPr>
        <p:spPr>
          <a:xfrm>
            <a:off x="685800" y="3557016"/>
            <a:ext cx="429768" cy="429768"/>
          </a:xfrm>
          <a:prstGeom prst="ellipse">
            <a:avLst/>
          </a:prstGeom>
          <a:solidFill>
            <a:schemeClr val="tx2"/>
          </a:solidFill>
          <a:ln w="12700">
            <a:solidFill>
              <a:schemeClr val="tx2"/>
            </a:solidFill>
            <a:prstDash val="solid"/>
          </a:ln>
        </p:spPr>
      </p:sp>
      <p:pic>
        <p:nvPicPr>
          <p:cNvPr id="32" name="Image 2" descr="preencoded.png">    </p:cNvPr>
          <p:cNvPicPr>
            <a:picLocks noChangeAspect="1"/>
          </p:cNvPicPr>
          <p:nvPr/>
        </p:nvPicPr>
        <p:blipFill>
          <a:blip r:embed="rId3"/>
          <a:stretch>
            <a:fillRect/>
          </a:stretch>
        </p:blipFill>
        <p:spPr>
          <a:xfrm>
            <a:off x="780349" y="3651565"/>
            <a:ext cx="240670" cy="240670"/>
          </a:xfrm>
          <a:prstGeom prst="rect">
            <a:avLst/>
          </a:prstGeom>
        </p:spPr>
      </p:pic>
      <p:sp>
        <p:nvSpPr>
          <p:cNvPr id="33" name="Text 28"/>
          <p:cNvSpPr txBox="1"/>
          <p:nvPr/>
        </p:nvSpPr>
        <p:spPr>
          <a:xfrm>
            <a:off x="1280160" y="3483864"/>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HUMANO</a:t>
            </a:r>
            <a:endParaRPr lang="en-US" sz="1100" dirty="0"/>
          </a:p>
        </p:txBody>
      </p:sp>
      <p:sp>
        <p:nvSpPr>
          <p:cNvPr id="34" name="Text 29"/>
          <p:cNvSpPr txBox="1"/>
          <p:nvPr/>
        </p:nvSpPr>
        <p:spPr>
          <a:xfrm>
            <a:off x="2743200" y="3483864"/>
            <a:ext cx="4434840" cy="576072"/>
          </a:xfrm>
          <a:prstGeom prst="rect">
            <a:avLst/>
          </a:prstGeom>
          <a:noFill/>
          <a:ln/>
        </p:spPr>
        <p:txBody>
          <a:bodyPr wrap="square" lIns="0" tIns="0" rIns="0" bIns="0" rtlCol="0" anchor="ctr"/>
          <a:lstStyle/>
          <a:p>
            <a:pPr indent="0" marL="0">
              <a:buNone/>
            </a:pPr>
            <a:r>
              <a:rPr lang="en-US" sz="1500" dirty="0">
                <a:solidFill>
                  <a:schemeClr val="tx1"/>
                </a:solidFill>
              </a:rPr>
              <a:t>Vendedores de stand, coordinador y 5 socios</a:t>
            </a:r>
            <a:endParaRPr lang="en-US" sz="1500" dirty="0"/>
          </a:p>
        </p:txBody>
      </p:sp>
      <p:sp>
        <p:nvSpPr>
          <p:cNvPr id="35" name="Shape 30"/>
          <p:cNvSpPr/>
          <p:nvPr/>
        </p:nvSpPr>
        <p:spPr>
          <a:xfrm>
            <a:off x="7772400" y="3602736"/>
            <a:ext cx="347472" cy="347472"/>
          </a:xfrm>
          <a:prstGeom prst="ellipse">
            <a:avLst/>
          </a:prstGeom>
          <a:solidFill>
            <a:schemeClr val="accent4"/>
          </a:solidFill>
          <a:ln w="9525">
            <a:solidFill>
              <a:schemeClr val="accent4"/>
            </a:solidFill>
            <a:prstDash val="solid"/>
          </a:ln>
        </p:spPr>
      </p:sp>
      <p:sp>
        <p:nvSpPr>
          <p:cNvPr id="36" name="Text 31"/>
          <p:cNvSpPr txBox="1"/>
          <p:nvPr/>
        </p:nvSpPr>
        <p:spPr>
          <a:xfrm>
            <a:off x="777240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7" name="Shape 32"/>
          <p:cNvSpPr/>
          <p:nvPr/>
        </p:nvSpPr>
        <p:spPr>
          <a:xfrm>
            <a:off x="9235440" y="3602736"/>
            <a:ext cx="347472" cy="347472"/>
          </a:xfrm>
          <a:prstGeom prst="ellipse">
            <a:avLst/>
          </a:prstGeom>
          <a:solidFill>
            <a:schemeClr val="accent4"/>
          </a:solidFill>
          <a:ln w="9525">
            <a:solidFill>
              <a:schemeClr val="accent4"/>
            </a:solidFill>
            <a:prstDash val="solid"/>
          </a:ln>
        </p:spPr>
      </p:sp>
      <p:sp>
        <p:nvSpPr>
          <p:cNvPr id="38" name="Text 33"/>
          <p:cNvSpPr txBox="1"/>
          <p:nvPr/>
        </p:nvSpPr>
        <p:spPr>
          <a:xfrm>
            <a:off x="923544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9" name="Shape 34"/>
          <p:cNvSpPr/>
          <p:nvPr/>
        </p:nvSpPr>
        <p:spPr>
          <a:xfrm>
            <a:off x="10698480" y="3602736"/>
            <a:ext cx="347472" cy="347472"/>
          </a:xfrm>
          <a:prstGeom prst="ellipse">
            <a:avLst/>
          </a:prstGeom>
          <a:solidFill>
            <a:schemeClr val="bg2"/>
          </a:solidFill>
          <a:ln w="9525">
            <a:solidFill>
              <a:schemeClr val="accent5"/>
            </a:solidFill>
            <a:prstDash val="solid"/>
          </a:ln>
        </p:spPr>
      </p:sp>
      <p:sp>
        <p:nvSpPr>
          <p:cNvPr id="40" name="Text 35"/>
          <p:cNvSpPr txBox="1"/>
          <p:nvPr/>
        </p:nvSpPr>
        <p:spPr>
          <a:xfrm>
            <a:off x="10698480" y="3602736"/>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41" name="Shape 36"/>
          <p:cNvSpPr/>
          <p:nvPr/>
        </p:nvSpPr>
        <p:spPr>
          <a:xfrm>
            <a:off x="548640" y="4151376"/>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2" name="Shape 37"/>
          <p:cNvSpPr/>
          <p:nvPr/>
        </p:nvSpPr>
        <p:spPr>
          <a:xfrm>
            <a:off x="685800" y="4224528"/>
            <a:ext cx="429768" cy="429768"/>
          </a:xfrm>
          <a:prstGeom prst="ellipse">
            <a:avLst/>
          </a:prstGeom>
          <a:solidFill>
            <a:schemeClr val="tx2"/>
          </a:solidFill>
          <a:ln w="12700">
            <a:solidFill>
              <a:schemeClr val="tx2"/>
            </a:solidFill>
            <a:prstDash val="solid"/>
          </a:ln>
        </p:spPr>
      </p:sp>
      <p:pic>
        <p:nvPicPr>
          <p:cNvPr id="43" name="Image 3" descr="preencoded.png">    </p:cNvPr>
          <p:cNvPicPr>
            <a:picLocks noChangeAspect="1"/>
          </p:cNvPicPr>
          <p:nvPr/>
        </p:nvPicPr>
        <p:blipFill>
          <a:blip r:embed="rId4"/>
          <a:stretch>
            <a:fillRect/>
          </a:stretch>
        </p:blipFill>
        <p:spPr>
          <a:xfrm>
            <a:off x="780349" y="4319077"/>
            <a:ext cx="240670" cy="240670"/>
          </a:xfrm>
          <a:prstGeom prst="rect">
            <a:avLst/>
          </a:prstGeom>
        </p:spPr>
      </p:pic>
      <p:sp>
        <p:nvSpPr>
          <p:cNvPr id="44" name="Text 38"/>
          <p:cNvSpPr txBox="1"/>
          <p:nvPr/>
        </p:nvSpPr>
        <p:spPr>
          <a:xfrm>
            <a:off x="1280160" y="4151376"/>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FÍSICO</a:t>
            </a:r>
            <a:endParaRPr lang="en-US" sz="1100" dirty="0"/>
          </a:p>
        </p:txBody>
      </p:sp>
      <p:sp>
        <p:nvSpPr>
          <p:cNvPr id="45" name="Text 39"/>
          <p:cNvSpPr txBox="1"/>
          <p:nvPr/>
        </p:nvSpPr>
        <p:spPr>
          <a:xfrm>
            <a:off x="2743200" y="4151376"/>
            <a:ext cx="4434840" cy="576072"/>
          </a:xfrm>
          <a:prstGeom prst="rect">
            <a:avLst/>
          </a:prstGeom>
          <a:noFill/>
          <a:ln/>
        </p:spPr>
        <p:txBody>
          <a:bodyPr wrap="square" lIns="0" tIns="0" rIns="0" bIns="0" rtlCol="0" anchor="ctr"/>
          <a:lstStyle/>
          <a:p>
            <a:pPr indent="0" marL="0">
              <a:buNone/>
            </a:pPr>
            <a:r>
              <a:rPr lang="en-US" sz="1500" dirty="0">
                <a:solidFill>
                  <a:schemeClr val="tx1"/>
                </a:solidFill>
              </a:rPr>
              <a:t>Carrito, kit de feria y stock en la planta</a:t>
            </a:r>
            <a:endParaRPr lang="en-US" sz="1500" dirty="0"/>
          </a:p>
        </p:txBody>
      </p:sp>
      <p:sp>
        <p:nvSpPr>
          <p:cNvPr id="46" name="Shape 40"/>
          <p:cNvSpPr/>
          <p:nvPr/>
        </p:nvSpPr>
        <p:spPr>
          <a:xfrm>
            <a:off x="7772400" y="4270248"/>
            <a:ext cx="347472" cy="347472"/>
          </a:xfrm>
          <a:prstGeom prst="ellipse">
            <a:avLst/>
          </a:prstGeom>
          <a:solidFill>
            <a:schemeClr val="accent4"/>
          </a:solidFill>
          <a:ln w="9525">
            <a:solidFill>
              <a:schemeClr val="accent4"/>
            </a:solidFill>
            <a:prstDash val="solid"/>
          </a:ln>
        </p:spPr>
      </p:sp>
      <p:sp>
        <p:nvSpPr>
          <p:cNvPr id="47" name="Text 41"/>
          <p:cNvSpPr txBox="1"/>
          <p:nvPr/>
        </p:nvSpPr>
        <p:spPr>
          <a:xfrm>
            <a:off x="7772400" y="4270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48" name="Shape 42"/>
          <p:cNvSpPr/>
          <p:nvPr/>
        </p:nvSpPr>
        <p:spPr>
          <a:xfrm>
            <a:off x="9235440" y="4270248"/>
            <a:ext cx="347472" cy="347472"/>
          </a:xfrm>
          <a:prstGeom prst="ellipse">
            <a:avLst/>
          </a:prstGeom>
          <a:solidFill>
            <a:schemeClr val="bg2"/>
          </a:solidFill>
          <a:ln w="9525">
            <a:solidFill>
              <a:schemeClr val="accent5"/>
            </a:solidFill>
            <a:prstDash val="solid"/>
          </a:ln>
        </p:spPr>
      </p:sp>
      <p:sp>
        <p:nvSpPr>
          <p:cNvPr id="49" name="Text 43"/>
          <p:cNvSpPr txBox="1"/>
          <p:nvPr/>
        </p:nvSpPr>
        <p:spPr>
          <a:xfrm>
            <a:off x="923544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0" name="Shape 44"/>
          <p:cNvSpPr/>
          <p:nvPr/>
        </p:nvSpPr>
        <p:spPr>
          <a:xfrm>
            <a:off x="10698480" y="4270248"/>
            <a:ext cx="347472" cy="347472"/>
          </a:xfrm>
          <a:prstGeom prst="ellipse">
            <a:avLst/>
          </a:prstGeom>
          <a:solidFill>
            <a:schemeClr val="bg2"/>
          </a:solidFill>
          <a:ln w="9525">
            <a:solidFill>
              <a:schemeClr val="accent5"/>
            </a:solidFill>
            <a:prstDash val="solid"/>
          </a:ln>
        </p:spPr>
      </p:sp>
      <p:sp>
        <p:nvSpPr>
          <p:cNvPr id="51" name="Text 45"/>
          <p:cNvSpPr txBox="1"/>
          <p:nvPr/>
        </p:nvSpPr>
        <p:spPr>
          <a:xfrm>
            <a:off x="1069848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2" name="Shape 46"/>
          <p:cNvSpPr/>
          <p:nvPr/>
        </p:nvSpPr>
        <p:spPr>
          <a:xfrm>
            <a:off x="548640" y="4818888"/>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3" name="Shape 47"/>
          <p:cNvSpPr/>
          <p:nvPr/>
        </p:nvSpPr>
        <p:spPr>
          <a:xfrm>
            <a:off x="685800" y="4892040"/>
            <a:ext cx="429768" cy="429768"/>
          </a:xfrm>
          <a:prstGeom prst="ellipse">
            <a:avLst/>
          </a:prstGeom>
          <a:solidFill>
            <a:schemeClr val="tx2"/>
          </a:solidFill>
          <a:ln w="12700">
            <a:solidFill>
              <a:schemeClr val="tx2"/>
            </a:solidFill>
            <a:prstDash val="solid"/>
          </a:ln>
        </p:spPr>
      </p:sp>
      <p:pic>
        <p:nvPicPr>
          <p:cNvPr id="54" name="Image 4" descr="preencoded.png">    </p:cNvPr>
          <p:cNvPicPr>
            <a:picLocks noChangeAspect="1"/>
          </p:cNvPicPr>
          <p:nvPr/>
        </p:nvPicPr>
        <p:blipFill>
          <a:blip r:embed="rId5"/>
          <a:stretch>
            <a:fillRect/>
          </a:stretch>
        </p:blipFill>
        <p:spPr>
          <a:xfrm>
            <a:off x="780349" y="4986589"/>
            <a:ext cx="240670" cy="240670"/>
          </a:xfrm>
          <a:prstGeom prst="rect">
            <a:avLst/>
          </a:prstGeom>
        </p:spPr>
      </p:pic>
      <p:sp>
        <p:nvSpPr>
          <p:cNvPr id="55" name="Text 48"/>
          <p:cNvSpPr txBox="1"/>
          <p:nvPr/>
        </p:nvSpPr>
        <p:spPr>
          <a:xfrm>
            <a:off x="1280160" y="4818888"/>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DIGITAL</a:t>
            </a:r>
            <a:endParaRPr lang="en-US" sz="1100" dirty="0"/>
          </a:p>
        </p:txBody>
      </p:sp>
      <p:sp>
        <p:nvSpPr>
          <p:cNvPr id="56" name="Text 49"/>
          <p:cNvSpPr txBox="1"/>
          <p:nvPr/>
        </p:nvSpPr>
        <p:spPr>
          <a:xfrm>
            <a:off x="2743200" y="4818888"/>
            <a:ext cx="4434840" cy="576072"/>
          </a:xfrm>
          <a:prstGeom prst="rect">
            <a:avLst/>
          </a:prstGeom>
          <a:noFill/>
          <a:ln/>
        </p:spPr>
        <p:txBody>
          <a:bodyPr wrap="square" lIns="0" tIns="0" rIns="0" bIns="0" rtlCol="0" anchor="ctr"/>
          <a:lstStyle/>
          <a:p>
            <a:pPr indent="0" marL="0">
              <a:buNone/>
            </a:pPr>
            <a:r>
              <a:rPr lang="en-US" sz="1500" dirty="0">
                <a:solidFill>
                  <a:schemeClr val="tx1"/>
                </a:solidFill>
              </a:rPr>
              <a:t>App Andi, Misión Hierro y base de clientes</a:t>
            </a:r>
            <a:endParaRPr lang="en-US" sz="1500" dirty="0"/>
          </a:p>
        </p:txBody>
      </p:sp>
      <p:sp>
        <p:nvSpPr>
          <p:cNvPr id="57" name="Shape 50"/>
          <p:cNvSpPr/>
          <p:nvPr/>
        </p:nvSpPr>
        <p:spPr>
          <a:xfrm>
            <a:off x="7772400" y="4937760"/>
            <a:ext cx="347472" cy="347472"/>
          </a:xfrm>
          <a:prstGeom prst="ellipse">
            <a:avLst/>
          </a:prstGeom>
          <a:solidFill>
            <a:schemeClr val="accent4"/>
          </a:solidFill>
          <a:ln w="9525">
            <a:solidFill>
              <a:schemeClr val="accent4"/>
            </a:solidFill>
            <a:prstDash val="solid"/>
          </a:ln>
        </p:spPr>
      </p:sp>
      <p:sp>
        <p:nvSpPr>
          <p:cNvPr id="58" name="Text 51"/>
          <p:cNvSpPr txBox="1"/>
          <p:nvPr/>
        </p:nvSpPr>
        <p:spPr>
          <a:xfrm>
            <a:off x="777240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9" name="Shape 52"/>
          <p:cNvSpPr/>
          <p:nvPr/>
        </p:nvSpPr>
        <p:spPr>
          <a:xfrm>
            <a:off x="9235440" y="4937760"/>
            <a:ext cx="347472" cy="347472"/>
          </a:xfrm>
          <a:prstGeom prst="ellipse">
            <a:avLst/>
          </a:prstGeom>
          <a:solidFill>
            <a:schemeClr val="accent4"/>
          </a:solidFill>
          <a:ln w="9525">
            <a:solidFill>
              <a:schemeClr val="accent4"/>
            </a:solidFill>
            <a:prstDash val="solid"/>
          </a:ln>
        </p:spPr>
      </p:sp>
      <p:sp>
        <p:nvSpPr>
          <p:cNvPr id="60" name="Text 53"/>
          <p:cNvSpPr txBox="1"/>
          <p:nvPr/>
        </p:nvSpPr>
        <p:spPr>
          <a:xfrm>
            <a:off x="923544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1" name="Shape 54"/>
          <p:cNvSpPr/>
          <p:nvPr/>
        </p:nvSpPr>
        <p:spPr>
          <a:xfrm>
            <a:off x="10698480" y="4937760"/>
            <a:ext cx="347472" cy="347472"/>
          </a:xfrm>
          <a:prstGeom prst="ellipse">
            <a:avLst/>
          </a:prstGeom>
          <a:solidFill>
            <a:schemeClr val="accent4"/>
          </a:solidFill>
          <a:ln w="9525">
            <a:solidFill>
              <a:schemeClr val="accent4"/>
            </a:solidFill>
            <a:prstDash val="solid"/>
          </a:ln>
        </p:spPr>
      </p:sp>
      <p:sp>
        <p:nvSpPr>
          <p:cNvPr id="62" name="Text 55"/>
          <p:cNvSpPr txBox="1"/>
          <p:nvPr/>
        </p:nvSpPr>
        <p:spPr>
          <a:xfrm>
            <a:off x="1069848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3" name="Shape 56"/>
          <p:cNvSpPr/>
          <p:nvPr/>
        </p:nvSpPr>
        <p:spPr>
          <a:xfrm>
            <a:off x="548640" y="548640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4" name="Shape 57"/>
          <p:cNvSpPr/>
          <p:nvPr/>
        </p:nvSpPr>
        <p:spPr>
          <a:xfrm>
            <a:off x="685800" y="5559552"/>
            <a:ext cx="429768" cy="429768"/>
          </a:xfrm>
          <a:prstGeom prst="ellipse">
            <a:avLst/>
          </a:prstGeom>
          <a:solidFill>
            <a:schemeClr val="tx2"/>
          </a:solidFill>
          <a:ln w="12700">
            <a:solidFill>
              <a:schemeClr val="tx2"/>
            </a:solidFill>
            <a:prstDash val="solid"/>
          </a:ln>
        </p:spPr>
      </p:sp>
      <p:pic>
        <p:nvPicPr>
          <p:cNvPr id="65" name="Image 5" descr="preencoded.png">    </p:cNvPr>
          <p:cNvPicPr>
            <a:picLocks noChangeAspect="1"/>
          </p:cNvPicPr>
          <p:nvPr/>
        </p:nvPicPr>
        <p:blipFill>
          <a:blip r:embed="rId6"/>
          <a:stretch>
            <a:fillRect/>
          </a:stretch>
        </p:blipFill>
        <p:spPr>
          <a:xfrm>
            <a:off x="780349" y="5654101"/>
            <a:ext cx="240670" cy="240670"/>
          </a:xfrm>
          <a:prstGeom prst="rect">
            <a:avLst/>
          </a:prstGeom>
        </p:spPr>
      </p:pic>
      <p:sp>
        <p:nvSpPr>
          <p:cNvPr id="66" name="Text 58"/>
          <p:cNvSpPr txBox="1"/>
          <p:nvPr/>
        </p:nvSpPr>
        <p:spPr>
          <a:xfrm>
            <a:off x="1280160" y="548640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FINANCIERO</a:t>
            </a:r>
            <a:endParaRPr lang="en-US" sz="1100" dirty="0"/>
          </a:p>
        </p:txBody>
      </p:sp>
      <p:sp>
        <p:nvSpPr>
          <p:cNvPr id="67" name="Text 59"/>
          <p:cNvSpPr txBox="1"/>
          <p:nvPr/>
        </p:nvSpPr>
        <p:spPr>
          <a:xfrm>
            <a:off x="2743200" y="5486400"/>
            <a:ext cx="4434840" cy="576072"/>
          </a:xfrm>
          <a:prstGeom prst="rect">
            <a:avLst/>
          </a:prstGeom>
          <a:noFill/>
          <a:ln/>
        </p:spPr>
        <p:txBody>
          <a:bodyPr wrap="square" lIns="0" tIns="0" rIns="0" bIns="0" rtlCol="0" anchor="ctr"/>
          <a:lstStyle/>
          <a:p>
            <a:pPr indent="0" marL="0">
              <a:buNone/>
            </a:pPr>
            <a:r>
              <a:rPr lang="en-US" sz="1500" dirty="0">
                <a:solidFill>
                  <a:schemeClr val="tx1"/>
                </a:solidFill>
              </a:rPr>
              <a:t>S/45,358 de inversión: socios y préstamo</a:t>
            </a:r>
            <a:endParaRPr lang="en-US" sz="1500" dirty="0"/>
          </a:p>
        </p:txBody>
      </p:sp>
      <p:sp>
        <p:nvSpPr>
          <p:cNvPr id="68" name="Shape 60"/>
          <p:cNvSpPr/>
          <p:nvPr/>
        </p:nvSpPr>
        <p:spPr>
          <a:xfrm>
            <a:off x="7772400" y="5605272"/>
            <a:ext cx="347472" cy="347472"/>
          </a:xfrm>
          <a:prstGeom prst="ellipse">
            <a:avLst/>
          </a:prstGeom>
          <a:solidFill>
            <a:schemeClr val="accent4"/>
          </a:solidFill>
          <a:ln w="9525">
            <a:solidFill>
              <a:schemeClr val="accent4"/>
            </a:solidFill>
            <a:prstDash val="solid"/>
          </a:ln>
        </p:spPr>
      </p:sp>
      <p:sp>
        <p:nvSpPr>
          <p:cNvPr id="69" name="Text 61"/>
          <p:cNvSpPr txBox="1"/>
          <p:nvPr/>
        </p:nvSpPr>
        <p:spPr>
          <a:xfrm>
            <a:off x="7772400" y="560527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70" name="Shape 62"/>
          <p:cNvSpPr/>
          <p:nvPr/>
        </p:nvSpPr>
        <p:spPr>
          <a:xfrm>
            <a:off x="9235440" y="5605272"/>
            <a:ext cx="347472" cy="347472"/>
          </a:xfrm>
          <a:prstGeom prst="ellipse">
            <a:avLst/>
          </a:prstGeom>
          <a:solidFill>
            <a:schemeClr val="bg2"/>
          </a:solidFill>
          <a:ln w="9525">
            <a:solidFill>
              <a:schemeClr val="accent5"/>
            </a:solidFill>
            <a:prstDash val="solid"/>
          </a:ln>
        </p:spPr>
      </p:sp>
      <p:sp>
        <p:nvSpPr>
          <p:cNvPr id="71" name="Text 63"/>
          <p:cNvSpPr txBox="1"/>
          <p:nvPr/>
        </p:nvSpPr>
        <p:spPr>
          <a:xfrm>
            <a:off x="923544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72" name="Shape 64"/>
          <p:cNvSpPr/>
          <p:nvPr/>
        </p:nvSpPr>
        <p:spPr>
          <a:xfrm>
            <a:off x="10698480" y="5605272"/>
            <a:ext cx="347472" cy="347472"/>
          </a:xfrm>
          <a:prstGeom prst="ellipse">
            <a:avLst/>
          </a:prstGeom>
          <a:solidFill>
            <a:schemeClr val="bg2"/>
          </a:solidFill>
          <a:ln w="9525">
            <a:solidFill>
              <a:schemeClr val="accent5"/>
            </a:solidFill>
            <a:prstDash val="solid"/>
          </a:ln>
        </p:spPr>
      </p:sp>
      <p:sp>
        <p:nvSpPr>
          <p:cNvPr id="73" name="Text 65"/>
          <p:cNvSpPr txBox="1"/>
          <p:nvPr/>
        </p:nvSpPr>
        <p:spPr>
          <a:xfrm>
            <a:off x="1069848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actividad clave tiene su costo</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80160" y="1554480"/>
          <a:ext cx="10360152" cy="914400"/>
        </p:xfrm>
        <a:graphic>
          <a:graphicData uri="http://schemas.openxmlformats.org/drawingml/2006/table">
            <a:tbl>
              <a:tblPr/>
              <a:tblGrid>
                <a:gridCol w="3200400"/>
                <a:gridCol w="1737360"/>
                <a:gridCol w="3566160"/>
                <a:gridCol w="1856232"/>
              </a:tblGrid>
              <a:tr h="512064">
                <a:tc>
                  <a:txBody>
                    <a:bodyPr/>
                    <a:lstStyle/>
                    <a:p>
                      <a:pPr indent="0" marL="0">
                        <a:buNone/>
                      </a:pPr>
                      <a:r>
                        <a:rPr lang="en-US" sz="1300" b="1" dirty="0">
                          <a:solidFill>
                            <a:schemeClr val="bg1"/>
                          </a:solidFill>
                        </a:rPr>
                        <a:t>Actividad clave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Lo que cuesta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 de costo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12064">
                <a:tc>
                  <a:txBody>
                    <a:bodyPr/>
                    <a:lstStyle/>
                    <a:p>
                      <a:pPr indent="0" marL="0">
                        <a:buNone/>
                      </a:pPr>
                      <a:r>
                        <a:rPr lang="en-US" sz="1400" b="1" dirty="0">
                          <a:solidFill>
                            <a:schemeClr val="tx1"/>
                          </a:solidFill>
                        </a:rPr>
                        <a:t>Producir con la planta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Producción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S/1.06 por brownie</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Variable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12064">
                <a:tc>
                  <a:txBody>
                    <a:bodyPr/>
                    <a:lstStyle/>
                    <a:p>
                      <a:pPr indent="0" marL="0">
                        <a:buNone/>
                      </a:pPr>
                      <a:r>
                        <a:rPr lang="en-US" sz="1400" b="1" dirty="0">
                          <a:solidFill>
                            <a:schemeClr val="tx1"/>
                          </a:solidFill>
                        </a:rPr>
                        <a:t>Calidad y hierro medido</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Producción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S/625 por lote</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Variable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chemeClr val="tx1"/>
                          </a:solidFill>
                        </a:rPr>
                        <a:t>Vender en stands y carrito</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Resolución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S/600 por punto + S/90 por día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Escala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12064">
                <a:tc>
                  <a:txBody>
                    <a:bodyPr/>
                    <a:lstStyle/>
                    <a:p>
                      <a:pPr indent="0" marL="0">
                        <a:buNone/>
                      </a:pPr>
                      <a:r>
                        <a:rPr lang="en-US" sz="1400" b="1" dirty="0">
                          <a:solidFill>
                            <a:schemeClr val="tx1"/>
                          </a:solidFill>
                        </a:rPr>
                        <a:t>Ferias de temporada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Resolución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S/1,800 por feria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Por evento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chemeClr val="tx1"/>
                          </a:solidFill>
                        </a:rPr>
                        <a:t>Recompra y delivery</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Plataforma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S/0.80 por brownie + S/709 al mes</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Variable y fijo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12064">
                <a:tc>
                  <a:txBody>
                    <a:bodyPr/>
                    <a:lstStyle/>
                    <a:p>
                      <a:pPr indent="0" marL="0">
                        <a:buNone/>
                      </a:pPr>
                      <a:r>
                        <a:rPr lang="en-US" sz="1400" b="1" dirty="0">
                          <a:solidFill>
                            <a:schemeClr val="tx1"/>
                          </a:solidFill>
                        </a:rPr>
                        <a:t>Contenido y comunidad</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Plataforma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S/900 al mes</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Fijo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chemeClr val="tx1"/>
                          </a:solidFill>
                        </a:rPr>
                        <a:t>Mantener la app Andi</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Plataforma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S/250 al mes + S/0.04 por código</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Fijo y variable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Shape 2"/>
          <p:cNvSpPr/>
          <p:nvPr/>
        </p:nvSpPr>
        <p:spPr>
          <a:xfrm>
            <a:off x="658368" y="2121408"/>
            <a:ext cx="402336" cy="402336"/>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46882" y="2209922"/>
            <a:ext cx="225308" cy="225308"/>
          </a:xfrm>
          <a:prstGeom prst="rect">
            <a:avLst/>
          </a:prstGeom>
        </p:spPr>
      </p:pic>
      <p:sp>
        <p:nvSpPr>
          <p:cNvPr id="7" name="Shape 3"/>
          <p:cNvSpPr/>
          <p:nvPr/>
        </p:nvSpPr>
        <p:spPr>
          <a:xfrm>
            <a:off x="658368" y="2633472"/>
            <a:ext cx="402336" cy="402336"/>
          </a:xfrm>
          <a:prstGeom prst="ellipse">
            <a:avLst/>
          </a:prstGeom>
          <a:solidFill>
            <a:schemeClr val="accent1"/>
          </a:solidFill>
          <a:ln w="1270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746882" y="2721986"/>
            <a:ext cx="225308" cy="225308"/>
          </a:xfrm>
          <a:prstGeom prst="rect">
            <a:avLst/>
          </a:prstGeom>
        </p:spPr>
      </p:pic>
      <p:sp>
        <p:nvSpPr>
          <p:cNvPr id="9" name="Shape 4"/>
          <p:cNvSpPr/>
          <p:nvPr/>
        </p:nvSpPr>
        <p:spPr>
          <a:xfrm>
            <a:off x="658368" y="3145536"/>
            <a:ext cx="402336" cy="402336"/>
          </a:xfrm>
          <a:prstGeom prst="ellipse">
            <a:avLst/>
          </a:prstGeom>
          <a:solidFill>
            <a:schemeClr val="accent1"/>
          </a:solidFill>
          <a:ln w="12700">
            <a:solidFill>
              <a:schemeClr val="accent1"/>
            </a:solidFill>
            <a:prstDash val="solid"/>
          </a:ln>
        </p:spPr>
      </p:sp>
      <p:pic>
        <p:nvPicPr>
          <p:cNvPr id="10" name="Image 2" descr="preencoded.png">    </p:cNvPr>
          <p:cNvPicPr>
            <a:picLocks noChangeAspect="1"/>
          </p:cNvPicPr>
          <p:nvPr/>
        </p:nvPicPr>
        <p:blipFill>
          <a:blip r:embed="rId3"/>
          <a:stretch>
            <a:fillRect/>
          </a:stretch>
        </p:blipFill>
        <p:spPr>
          <a:xfrm>
            <a:off x="746882" y="3234050"/>
            <a:ext cx="225308" cy="225308"/>
          </a:xfrm>
          <a:prstGeom prst="rect">
            <a:avLst/>
          </a:prstGeom>
        </p:spPr>
      </p:pic>
      <p:sp>
        <p:nvSpPr>
          <p:cNvPr id="11" name="Shape 5"/>
          <p:cNvSpPr/>
          <p:nvPr/>
        </p:nvSpPr>
        <p:spPr>
          <a:xfrm>
            <a:off x="658368" y="3657600"/>
            <a:ext cx="402336" cy="402336"/>
          </a:xfrm>
          <a:prstGeom prst="ellipse">
            <a:avLst/>
          </a:prstGeom>
          <a:solidFill>
            <a:schemeClr val="accent1"/>
          </a:solidFill>
          <a:ln w="12700">
            <a:solidFill>
              <a:schemeClr val="accent1"/>
            </a:solidFill>
            <a:prstDash val="solid"/>
          </a:ln>
        </p:spPr>
      </p:sp>
      <p:pic>
        <p:nvPicPr>
          <p:cNvPr id="12" name="Image 3" descr="preencoded.png">    </p:cNvPr>
          <p:cNvPicPr>
            <a:picLocks noChangeAspect="1"/>
          </p:cNvPicPr>
          <p:nvPr/>
        </p:nvPicPr>
        <p:blipFill>
          <a:blip r:embed="rId4"/>
          <a:stretch>
            <a:fillRect/>
          </a:stretch>
        </p:blipFill>
        <p:spPr>
          <a:xfrm>
            <a:off x="746882" y="3746114"/>
            <a:ext cx="225308" cy="225308"/>
          </a:xfrm>
          <a:prstGeom prst="rect">
            <a:avLst/>
          </a:prstGeom>
        </p:spPr>
      </p:pic>
      <p:sp>
        <p:nvSpPr>
          <p:cNvPr id="13" name="Shape 6"/>
          <p:cNvSpPr/>
          <p:nvPr/>
        </p:nvSpPr>
        <p:spPr>
          <a:xfrm>
            <a:off x="658368" y="4169664"/>
            <a:ext cx="402336" cy="402336"/>
          </a:xfrm>
          <a:prstGeom prst="ellipse">
            <a:avLst/>
          </a:prstGeom>
          <a:solidFill>
            <a:schemeClr val="accent1"/>
          </a:solidFill>
          <a:ln w="12700">
            <a:solidFill>
              <a:schemeClr val="accent1"/>
            </a:solidFill>
            <a:prstDash val="solid"/>
          </a:ln>
        </p:spPr>
      </p:sp>
      <p:pic>
        <p:nvPicPr>
          <p:cNvPr id="14" name="Image 4" descr="preencoded.png">    </p:cNvPr>
          <p:cNvPicPr>
            <a:picLocks noChangeAspect="1"/>
          </p:cNvPicPr>
          <p:nvPr/>
        </p:nvPicPr>
        <p:blipFill>
          <a:blip r:embed="rId5"/>
          <a:stretch>
            <a:fillRect/>
          </a:stretch>
        </p:blipFill>
        <p:spPr>
          <a:xfrm>
            <a:off x="746882" y="4258178"/>
            <a:ext cx="225308" cy="225308"/>
          </a:xfrm>
          <a:prstGeom prst="rect">
            <a:avLst/>
          </a:prstGeom>
        </p:spPr>
      </p:pic>
      <p:sp>
        <p:nvSpPr>
          <p:cNvPr id="15" name="Shape 7"/>
          <p:cNvSpPr/>
          <p:nvPr/>
        </p:nvSpPr>
        <p:spPr>
          <a:xfrm>
            <a:off x="658368" y="4681728"/>
            <a:ext cx="402336" cy="402336"/>
          </a:xfrm>
          <a:prstGeom prst="ellipse">
            <a:avLst/>
          </a:prstGeom>
          <a:solidFill>
            <a:schemeClr val="accent1"/>
          </a:solidFill>
          <a:ln w="12700">
            <a:solidFill>
              <a:schemeClr val="accent1"/>
            </a:solidFill>
            <a:prstDash val="solid"/>
          </a:ln>
        </p:spPr>
      </p:sp>
      <p:pic>
        <p:nvPicPr>
          <p:cNvPr id="16" name="Image 5" descr="preencoded.png">    </p:cNvPr>
          <p:cNvPicPr>
            <a:picLocks noChangeAspect="1"/>
          </p:cNvPicPr>
          <p:nvPr/>
        </p:nvPicPr>
        <p:blipFill>
          <a:blip r:embed="rId6"/>
          <a:stretch>
            <a:fillRect/>
          </a:stretch>
        </p:blipFill>
        <p:spPr>
          <a:xfrm>
            <a:off x="746882" y="4770242"/>
            <a:ext cx="225308" cy="225308"/>
          </a:xfrm>
          <a:prstGeom prst="rect">
            <a:avLst/>
          </a:prstGeom>
        </p:spPr>
      </p:pic>
      <p:sp>
        <p:nvSpPr>
          <p:cNvPr id="17" name="Shape 8"/>
          <p:cNvSpPr/>
          <p:nvPr/>
        </p:nvSpPr>
        <p:spPr>
          <a:xfrm>
            <a:off x="658368" y="5193792"/>
            <a:ext cx="402336" cy="402336"/>
          </a:xfrm>
          <a:prstGeom prst="ellipse">
            <a:avLst/>
          </a:prstGeom>
          <a:solidFill>
            <a:schemeClr val="accent1"/>
          </a:solidFill>
          <a:ln w="12700">
            <a:solidFill>
              <a:schemeClr val="accent1"/>
            </a:solidFill>
            <a:prstDash val="solid"/>
          </a:ln>
        </p:spPr>
      </p:sp>
      <p:pic>
        <p:nvPicPr>
          <p:cNvPr id="18" name="Image 6" descr="preencoded.png">    </p:cNvPr>
          <p:cNvPicPr>
            <a:picLocks noChangeAspect="1"/>
          </p:cNvPicPr>
          <p:nvPr/>
        </p:nvPicPr>
        <p:blipFill>
          <a:blip r:embed="rId7"/>
          <a:stretch>
            <a:fillRect/>
          </a:stretch>
        </p:blipFill>
        <p:spPr>
          <a:xfrm>
            <a:off x="746882" y="5282306"/>
            <a:ext cx="225308" cy="225308"/>
          </a:xfrm>
          <a:prstGeom prst="rect">
            <a:avLst/>
          </a:prstGeom>
        </p:spPr>
      </p:pic>
      <p:sp>
        <p:nvSpPr>
          <p:cNvPr id="19" name="Shape 9"/>
          <p:cNvSpPr/>
          <p:nvPr/>
        </p:nvSpPr>
        <p:spPr>
          <a:xfrm>
            <a:off x="548640" y="5779008"/>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0" name="Text 10"/>
          <p:cNvSpPr txBox="1"/>
          <p:nvPr/>
        </p:nvSpPr>
        <p:spPr>
          <a:xfrm>
            <a:off x="822960" y="5779008"/>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"Si una actividad parece gratis, estás ignorando un recurso oculto": por eso los stands y los pedidos tienen personal pagado.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pack de 6 cuesta S/9.98 y en el stand deja S/10.97</a:t>
            </a:r>
            <a:endParaRPr lang="en-US" sz="3400" dirty="0"/>
          </a:p>
        </p:txBody>
      </p:sp>
      <p:graphicFrame>
        <p:nvGraphicFramePr>
          <p:cNvPr id="4" name="Chart 0" descr=""/>
          <p:cNvGraphicFramePr/>
          <p:nvPr/>
        </p:nvGraphicFramePr>
        <p:xfrm>
          <a:off x="365760" y="1463040"/>
          <a:ext cx="57607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09360" y="1463040"/>
          <a:ext cx="3017520" cy="46634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9509760" y="155448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9692640" y="164592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58 %</a:t>
            </a:r>
            <a:endParaRPr lang="en-US" sz="1400" dirty="0"/>
          </a:p>
          <a:p>
            <a:pPr indent="0" marL="0">
              <a:buNone/>
            </a:pPr>
            <a:r>
              <a:rPr lang="en-US" sz="1200" dirty="0">
                <a:solidFill>
                  <a:schemeClr val="tx1"/>
                </a:solidFill>
              </a:rPr>
              <a:t>margen bruto del pack en el stand</a:t>
            </a:r>
            <a:endParaRPr lang="en-US" sz="1400" dirty="0"/>
          </a:p>
        </p:txBody>
      </p:sp>
      <p:sp>
        <p:nvSpPr>
          <p:cNvPr id="8" name="Shape 4"/>
          <p:cNvSpPr/>
          <p:nvPr/>
        </p:nvSpPr>
        <p:spPr>
          <a:xfrm>
            <a:off x="9509760" y="310896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9692640" y="320040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S/1.66</a:t>
            </a:r>
            <a:endParaRPr lang="en-US" sz="1400" dirty="0"/>
          </a:p>
          <a:p>
            <a:pPr indent="0" marL="0">
              <a:buNone/>
            </a:pPr>
            <a:r>
              <a:rPr lang="en-US" sz="1200" dirty="0">
                <a:solidFill>
                  <a:schemeClr val="tx1"/>
                </a:solidFill>
              </a:rPr>
              <a:t>cuesta producir cada brownie</a:t>
            </a:r>
            <a:endParaRPr lang="en-US" sz="1400" dirty="0"/>
          </a:p>
        </p:txBody>
      </p:sp>
      <p:sp>
        <p:nvSpPr>
          <p:cNvPr id="10" name="Shape 6"/>
          <p:cNvSpPr/>
          <p:nvPr/>
        </p:nvSpPr>
        <p:spPr>
          <a:xfrm>
            <a:off x="9509760" y="466344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9692640" y="475488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1400" dirty="0"/>
          </a:p>
          <a:p>
            <a:pPr indent="0" marL="0">
              <a:buNone/>
            </a:pPr>
            <a:r>
              <a:rPr lang="en-US" sz="1200" dirty="0">
                <a:solidFill>
                  <a:schemeClr val="tx1"/>
                </a:solidFill>
              </a:rPr>
              <a:t>plantas propias: pagamos por unidad hecha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INVERSIÓN INICIAL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Todos los documentos para vender, pagados desde el inicio</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852160" cy="914400"/>
        </p:xfrm>
        <a:graphic>
          <a:graphicData uri="http://schemas.openxmlformats.org/drawingml/2006/table">
            <a:tbl>
              <a:tblPr/>
              <a:tblGrid>
                <a:gridCol w="4754880"/>
                <a:gridCol w="1097280"/>
              </a:tblGrid>
              <a:tr h="365760">
                <a:tc>
                  <a:txBody>
                    <a:bodyPr/>
                    <a:lstStyle/>
                    <a:p>
                      <a:pPr algn="l" indent="0" marL="0">
                        <a:buNone/>
                      </a:pPr>
                      <a:r>
                        <a:rPr lang="en-US" sz="1300" b="1" dirty="0">
                          <a:solidFill>
                            <a:schemeClr val="bg1"/>
                          </a:solidFill>
                        </a:rPr>
                        <a:t>Documento o permiso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Costo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rPr>
                        <a:t>Constitución de la S.A.C. (notaría del CDE)</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RUC, REMYPE y libro de reclamaciones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Marca en INDECOPI, clase 30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Revisión legal del contrato de maquila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Análisis para el registro sanitario (3 sabores)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S/1,800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Perfil nutricional y hierro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S/1,125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Estudio de vida útil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S/1,050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Etiqueta (rotulado y Ley 30021)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Registro sanitario DIGESA (tasa)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Carnés de sanidad y póliza para stands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S/675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400" b="1" dirty="0">
                          <a:solidFill>
                            <a:schemeClr val="tx1"/>
                          </a:solidFill>
                        </a:rPr>
                        <a:t>Total documentos y permisos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r" indent="0" marL="0">
                        <a:buNone/>
                      </a:pPr>
                      <a:r>
                        <a:rPr lang="en-US" sz="1400" b="1" dirty="0">
                          <a:solidFill>
                            <a:schemeClr val="accent1"/>
                          </a:solidFill>
                        </a:rPr>
                        <a:t>S/6,251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bl>
          </a:graphicData>
        </a:graphic>
      </p:graphicFrame>
      <p:graphicFrame>
        <p:nvGraphicFramePr>
          <p:cNvPr id="5" name="Chart 0" descr=""/>
          <p:cNvGraphicFramePr/>
          <p:nvPr/>
        </p:nvGraphicFramePr>
        <p:xfrm>
          <a:off x="6583680" y="1417320"/>
          <a:ext cx="5212080" cy="37033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766560" y="5212080"/>
            <a:ext cx="4873752"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995160" y="5212080"/>
            <a:ext cx="4480560" cy="914400"/>
          </a:xfrm>
          <a:prstGeom prst="rect">
            <a:avLst/>
          </a:prstGeom>
          <a:noFill/>
          <a:ln/>
        </p:spPr>
        <p:txBody>
          <a:bodyPr wrap="square" lIns="0" tIns="0" rIns="0" bIns="0" rtlCol="0" anchor="ctr"/>
          <a:lstStyle/>
          <a:p>
            <a:pPr indent="0" marL="0">
              <a:buNone/>
            </a:pPr>
            <a:r>
              <a:rPr lang="en-US" sz="1600" b="1" dirty="0">
                <a:solidFill>
                  <a:schemeClr val="accent3"/>
                </a:solidFill>
              </a:rPr>
              <a:t>Socios S/25,000 · préstamo S/20,500</a:t>
            </a:r>
            <a:endParaRPr lang="en-US" sz="1400" dirty="0"/>
          </a:p>
          <a:p>
            <a:pPr indent="0" marL="0">
              <a:buNone/>
            </a:pPr>
            <a:r>
              <a:rPr lang="en-US" sz="1300" dirty="0">
                <a:solidFill>
                  <a:schemeClr val="bg1"/>
                </a:solidFill>
              </a:rPr>
              <a:t>24 cuotas de S/1,150 (TEA 35 %)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 3,035 brownies al mes cubrimos todos los costos</a:t>
            </a:r>
            <a:endParaRPr lang="en-US" sz="3400" dirty="0"/>
          </a:p>
        </p:txBody>
      </p:sp>
      <p:graphicFrame>
        <p:nvGraphicFramePr>
          <p:cNvPr id="4" name="Chart 0" descr=""/>
          <p:cNvGraphicFramePr/>
          <p:nvPr/>
        </p:nvGraphicFramePr>
        <p:xfrm>
          <a:off x="365760" y="1463040"/>
          <a:ext cx="43891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463040"/>
          <a:ext cx="6858000" cy="4663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Solo enero y febrero cierran en rojo</a:t>
            </a:r>
            <a:endParaRPr lang="en-US" sz="3400" dirty="0"/>
          </a:p>
        </p:txBody>
      </p:sp>
      <p:graphicFrame>
        <p:nvGraphicFramePr>
          <p:cNvPr id="4" name="Chart 0" descr=""/>
          <p:cNvGraphicFramePr/>
          <p:nvPr/>
        </p:nvGraphicFramePr>
        <p:xfrm>
          <a:off x="365760" y="1463040"/>
          <a:ext cx="777240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016752"/>
            <a:ext cx="7589520" cy="274320"/>
          </a:xfrm>
          <a:prstGeom prst="rect">
            <a:avLst/>
          </a:prstGeom>
          <a:noFill/>
          <a:ln/>
        </p:spPr>
        <p:txBody>
          <a:bodyPr wrap="square" lIns="0" tIns="0" rIns="0" bIns="0" rtlCol="0" anchor="t"/>
          <a:lstStyle/>
          <a:p>
            <a:pPr indent="0" marL="0">
              <a:buNone/>
            </a:pPr>
            <a:r>
              <a:rPr lang="en-US" sz="1100" i="1" dirty="0">
                <a:solidFill>
                  <a:schemeClr val="accent2"/>
                </a:solidFill>
              </a:rPr>
              <a:t>Con todo el personal pagado y la app incluida. La caja nunca baja de S/2,650, ya con la cuota del préstamo.</a:t>
            </a:r>
            <a:endParaRPr lang="en-US" sz="1100" dirty="0"/>
          </a:p>
        </p:txBody>
      </p:sp>
      <p:sp>
        <p:nvSpPr>
          <p:cNvPr id="6" name="Shape 3"/>
          <p:cNvSpPr/>
          <p:nvPr/>
        </p:nvSpPr>
        <p:spPr>
          <a:xfrm>
            <a:off x="8321040" y="1554480"/>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4"/>
          <p:cNvSpPr txBox="1"/>
          <p:nvPr/>
        </p:nvSpPr>
        <p:spPr>
          <a:xfrm>
            <a:off x="8549640" y="1554480"/>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S/246,531</a:t>
            </a:r>
            <a:endParaRPr lang="en-US" sz="1400" dirty="0"/>
          </a:p>
          <a:p>
            <a:pPr indent="0" marL="0">
              <a:buNone/>
            </a:pPr>
            <a:r>
              <a:rPr lang="en-US" sz="1300" dirty="0">
                <a:solidFill>
                  <a:schemeClr val="accent2"/>
                </a:solidFill>
              </a:rPr>
              <a:t>ventas con IGV</a:t>
            </a:r>
            <a:endParaRPr lang="en-US" sz="1400" dirty="0"/>
          </a:p>
        </p:txBody>
      </p:sp>
      <p:sp>
        <p:nvSpPr>
          <p:cNvPr id="8" name="Shape 5"/>
          <p:cNvSpPr/>
          <p:nvPr/>
        </p:nvSpPr>
        <p:spPr>
          <a:xfrm>
            <a:off x="8321040" y="2715768"/>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8549640" y="2715768"/>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S/14,853</a:t>
            </a:r>
            <a:endParaRPr lang="en-US" sz="1400" dirty="0"/>
          </a:p>
          <a:p>
            <a:pPr indent="0" marL="0">
              <a:buNone/>
            </a:pPr>
            <a:r>
              <a:rPr lang="en-US" sz="1300" dirty="0">
                <a:solidFill>
                  <a:schemeClr val="accent2"/>
                </a:solidFill>
              </a:rPr>
              <a:t>resultado operativo (7.1 %)</a:t>
            </a:r>
            <a:endParaRPr lang="en-US" sz="1400" dirty="0"/>
          </a:p>
        </p:txBody>
      </p:sp>
      <p:sp>
        <p:nvSpPr>
          <p:cNvPr id="10" name="Shape 7"/>
          <p:cNvSpPr/>
          <p:nvPr/>
        </p:nvSpPr>
        <p:spPr>
          <a:xfrm>
            <a:off x="8321040" y="3877056"/>
            <a:ext cx="3319272" cy="1005840"/>
          </a:xfrm>
          <a:prstGeom prst="roundRect">
            <a:avLst>
              <a:gd name="adj" fmla="val 1090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8549640" y="3877056"/>
            <a:ext cx="2953512" cy="1005840"/>
          </a:xfrm>
          <a:prstGeom prst="rect">
            <a:avLst/>
          </a:prstGeom>
          <a:noFill/>
          <a:ln/>
        </p:spPr>
        <p:txBody>
          <a:bodyPr wrap="square" lIns="0" tIns="0" rIns="0" bIns="0" rtlCol="0" anchor="ctr"/>
          <a:lstStyle/>
          <a:p>
            <a:pPr indent="0" marL="0">
              <a:buNone/>
            </a:pPr>
            <a:r>
              <a:rPr lang="en-US" sz="2400" b="1" dirty="0">
                <a:solidFill>
                  <a:schemeClr val="bg1"/>
                </a:solidFill>
              </a:rPr>
              <a:t>S/10,676</a:t>
            </a:r>
            <a:endParaRPr lang="en-US" sz="1400" dirty="0"/>
          </a:p>
          <a:p>
            <a:pPr indent="0" marL="0">
              <a:buNone/>
            </a:pPr>
            <a:r>
              <a:rPr lang="en-US" sz="1300" dirty="0">
                <a:solidFill>
                  <a:schemeClr val="bg1"/>
                </a:solidFill>
              </a:rPr>
              <a:t>utilidad neta, tras intereses e impuesto</a:t>
            </a:r>
            <a:endParaRPr lang="en-US" sz="1400" dirty="0"/>
          </a:p>
        </p:txBody>
      </p:sp>
      <p:sp>
        <p:nvSpPr>
          <p:cNvPr id="12" name="Shape 9"/>
          <p:cNvSpPr/>
          <p:nvPr/>
        </p:nvSpPr>
        <p:spPr>
          <a:xfrm>
            <a:off x="8321040" y="5038344"/>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8549640" y="5038344"/>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Mes 24</a:t>
            </a:r>
            <a:endParaRPr lang="en-US" sz="1400" dirty="0"/>
          </a:p>
          <a:p>
            <a:pPr indent="0" marL="0">
              <a:buNone/>
            </a:pPr>
            <a:r>
              <a:rPr lang="en-US" sz="1300" dirty="0">
                <a:solidFill>
                  <a:schemeClr val="accent2"/>
                </a:solidFill>
              </a:rPr>
              <a:t>recuperamos los S/45,358 invertidos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modelo de negocio de AndiBite en una página</a:t>
            </a:r>
            <a:endParaRPr lang="en-US" sz="3400" dirty="0"/>
          </a:p>
        </p:txBody>
      </p:sp>
      <p:sp>
        <p:nvSpPr>
          <p:cNvPr id="4" name="Shape 2"/>
          <p:cNvSpPr/>
          <p:nvPr/>
        </p:nvSpPr>
        <p:spPr>
          <a:xfrm>
            <a:off x="548640"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527048"/>
            <a:ext cx="256032" cy="256032"/>
          </a:xfrm>
          <a:prstGeom prst="rect">
            <a:avLst/>
          </a:prstGeom>
        </p:spPr>
      </p:pic>
      <p:sp>
        <p:nvSpPr>
          <p:cNvPr id="6" name="Text 3"/>
          <p:cNvSpPr txBox="1"/>
          <p:nvPr/>
        </p:nvSpPr>
        <p:spPr>
          <a:xfrm>
            <a:off x="98755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5836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Planta maquiladora con HACCP</a:t>
            </a:r>
            <a:endParaRPr lang="en-US" sz="1300" dirty="0"/>
          </a:p>
          <a:p>
            <a:pPr marL="127000" indent="-127000">
              <a:spcAft>
                <a:spcPts val="400"/>
              </a:spcAft>
              <a:buSzPct val="100000"/>
              <a:buChar char="•"/>
            </a:pPr>
            <a:r>
              <a:rPr lang="en-US" sz="1300" dirty="0">
                <a:solidFill>
                  <a:schemeClr val="tx1"/>
                </a:solidFill>
              </a:rPr>
              <a:t>Malls, Wong y Vivanda</a:t>
            </a:r>
            <a:endParaRPr lang="en-US" sz="1300" dirty="0"/>
          </a:p>
          <a:p>
            <a:pPr marL="127000" indent="-127000">
              <a:spcAft>
                <a:spcPts val="400"/>
              </a:spcAft>
              <a:buSzPct val="100000"/>
              <a:buChar char="•"/>
            </a:pPr>
            <a:r>
              <a:rPr lang="en-US" sz="1300" dirty="0">
                <a:solidFill>
                  <a:schemeClr val="tx1"/>
                </a:solidFill>
              </a:rPr>
              <a:t>Laboratorio INACAL</a:t>
            </a:r>
            <a:endParaRPr lang="en-US" sz="1300" dirty="0"/>
          </a:p>
          <a:p>
            <a:pPr marL="127000" indent="-127000">
              <a:spcAft>
                <a:spcPts val="400"/>
              </a:spcAft>
              <a:buSzPct val="100000"/>
              <a:buChar char="•"/>
            </a:pPr>
            <a:r>
              <a:rPr lang="en-US" sz="1300" dirty="0">
                <a:solidFill>
                  <a:schemeClr val="tx1"/>
                </a:solidFill>
              </a:rPr>
              <a:t>Sangrecita en polvo con RS</a:t>
            </a:r>
            <a:endParaRPr lang="en-US" sz="1300" dirty="0"/>
          </a:p>
          <a:p>
            <a:pPr marL="127000" indent="-127000">
              <a:spcAft>
                <a:spcPts val="400"/>
              </a:spcAft>
              <a:buSzPct val="100000"/>
              <a:buChar char="•"/>
            </a:pPr>
            <a:r>
              <a:rPr lang="en-US" sz="1300" dirty="0">
                <a:solidFill>
                  <a:schemeClr val="tx1"/>
                </a:solidFill>
              </a:rPr>
              <a:t>Desarrollador y Google Cloud</a:t>
            </a:r>
            <a:endParaRPr lang="en-US" sz="1300" dirty="0"/>
          </a:p>
          <a:p>
            <a:pPr marL="127000" indent="-127000">
              <a:spcAft>
                <a:spcPts val="400"/>
              </a:spcAft>
              <a:buSzPct val="100000"/>
              <a:buChar char="•"/>
            </a:pPr>
            <a:r>
              <a:rPr lang="en-US" sz="1300" dirty="0">
                <a:solidFill>
                  <a:schemeClr val="tx1"/>
                </a:solidFill>
              </a:rPr>
              <a:t>Ferias, colegios y naturistas</a:t>
            </a:r>
            <a:endParaRPr lang="en-US" sz="1300" dirty="0"/>
          </a:p>
        </p:txBody>
      </p:sp>
      <p:sp>
        <p:nvSpPr>
          <p:cNvPr id="8" name="Shape 5"/>
          <p:cNvSpPr/>
          <p:nvPr/>
        </p:nvSpPr>
        <p:spPr>
          <a:xfrm>
            <a:off x="2781605"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527048"/>
            <a:ext cx="256032" cy="256032"/>
          </a:xfrm>
          <a:prstGeom prst="rect">
            <a:avLst/>
          </a:prstGeom>
        </p:spPr>
      </p:pic>
      <p:sp>
        <p:nvSpPr>
          <p:cNvPr id="10" name="Text 6"/>
          <p:cNvSpPr txBox="1"/>
          <p:nvPr/>
        </p:nvSpPr>
        <p:spPr>
          <a:xfrm>
            <a:off x="3220517"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91333"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Producir con la planta</a:t>
            </a:r>
            <a:endParaRPr lang="en-US" sz="1300" dirty="0"/>
          </a:p>
          <a:p>
            <a:pPr marL="127000" indent="-127000">
              <a:spcAft>
                <a:spcPts val="400"/>
              </a:spcAft>
              <a:buSzPct val="100000"/>
              <a:buChar char="•"/>
            </a:pPr>
            <a:r>
              <a:rPr lang="en-US" sz="1300" dirty="0">
                <a:solidFill>
                  <a:schemeClr val="tx1"/>
                </a:solidFill>
              </a:rPr>
              <a:t>Hierro medido por lote</a:t>
            </a:r>
            <a:endParaRPr lang="en-US" sz="1300" dirty="0"/>
          </a:p>
          <a:p>
            <a:pPr marL="127000" indent="-127000">
              <a:spcAft>
                <a:spcPts val="400"/>
              </a:spcAft>
              <a:buSzPct val="100000"/>
              <a:buChar char="•"/>
            </a:pPr>
            <a:r>
              <a:rPr lang="en-US" sz="1300" dirty="0">
                <a:solidFill>
                  <a:schemeClr val="tx1"/>
                </a:solidFill>
              </a:rPr>
              <a:t>Venta en stands y ferias</a:t>
            </a:r>
            <a:endParaRPr lang="en-US" sz="1300" dirty="0"/>
          </a:p>
          <a:p>
            <a:pPr marL="127000" indent="-127000">
              <a:spcAft>
                <a:spcPts val="400"/>
              </a:spcAft>
              <a:buSzPct val="100000"/>
              <a:buChar char="•"/>
            </a:pPr>
            <a:r>
              <a:rPr lang="en-US" sz="1300" dirty="0">
                <a:solidFill>
                  <a:schemeClr val="tx1"/>
                </a:solidFill>
              </a:rPr>
              <a:t>App y recompra</a:t>
            </a:r>
            <a:endParaRPr lang="en-US" sz="1300" dirty="0"/>
          </a:p>
        </p:txBody>
      </p:sp>
      <p:sp>
        <p:nvSpPr>
          <p:cNvPr id="12" name="Shape 8"/>
          <p:cNvSpPr/>
          <p:nvPr/>
        </p:nvSpPr>
        <p:spPr>
          <a:xfrm>
            <a:off x="2781605"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300984"/>
            <a:ext cx="256032" cy="256032"/>
          </a:xfrm>
          <a:prstGeom prst="rect">
            <a:avLst/>
          </a:prstGeom>
        </p:spPr>
      </p:pic>
      <p:sp>
        <p:nvSpPr>
          <p:cNvPr id="14" name="Text 9"/>
          <p:cNvSpPr txBox="1"/>
          <p:nvPr/>
        </p:nvSpPr>
        <p:spPr>
          <a:xfrm>
            <a:off x="3220517"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91333"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Fórmula de 3 sabores</a:t>
            </a:r>
            <a:endParaRPr lang="en-US" sz="1300" dirty="0"/>
          </a:p>
          <a:p>
            <a:pPr marL="127000" indent="-127000">
              <a:spcAft>
                <a:spcPts val="400"/>
              </a:spcAft>
              <a:buSzPct val="100000"/>
              <a:buChar char="•"/>
            </a:pPr>
            <a:r>
              <a:rPr lang="en-US" sz="1300" dirty="0">
                <a:solidFill>
                  <a:schemeClr val="tx1"/>
                </a:solidFill>
              </a:rPr>
              <a:t>Marca y registro sanitario</a:t>
            </a:r>
            <a:endParaRPr lang="en-US" sz="1300" dirty="0"/>
          </a:p>
          <a:p>
            <a:pPr marL="127000" indent="-127000">
              <a:spcAft>
                <a:spcPts val="400"/>
              </a:spcAft>
              <a:buSzPct val="100000"/>
              <a:buChar char="•"/>
            </a:pPr>
            <a:r>
              <a:rPr lang="en-US" sz="1300" dirty="0">
                <a:solidFill>
                  <a:schemeClr val="tx1"/>
                </a:solidFill>
              </a:rPr>
              <a:t>App Andi y base de clientes</a:t>
            </a:r>
            <a:endParaRPr lang="en-US" sz="1300" dirty="0"/>
          </a:p>
          <a:p>
            <a:pPr marL="127000" indent="-127000">
              <a:spcAft>
                <a:spcPts val="400"/>
              </a:spcAft>
              <a:buSzPct val="100000"/>
              <a:buChar char="•"/>
            </a:pPr>
            <a:r>
              <a:rPr lang="en-US" sz="1300" dirty="0">
                <a:solidFill>
                  <a:schemeClr val="tx1"/>
                </a:solidFill>
              </a:rPr>
              <a:t>Equipo pagado y S/45,358</a:t>
            </a:r>
            <a:endParaRPr lang="en-US" sz="1300" dirty="0"/>
          </a:p>
        </p:txBody>
      </p:sp>
      <p:sp>
        <p:nvSpPr>
          <p:cNvPr id="16" name="Shape 11"/>
          <p:cNvSpPr/>
          <p:nvPr/>
        </p:nvSpPr>
        <p:spPr>
          <a:xfrm>
            <a:off x="5014570" y="1417320"/>
            <a:ext cx="2159813" cy="3474720"/>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527048"/>
            <a:ext cx="256032" cy="256032"/>
          </a:xfrm>
          <a:prstGeom prst="rect">
            <a:avLst/>
          </a:prstGeom>
        </p:spPr>
      </p:pic>
      <p:sp>
        <p:nvSpPr>
          <p:cNvPr id="18" name="Text 12"/>
          <p:cNvSpPr txBox="1"/>
          <p:nvPr/>
        </p:nvSpPr>
        <p:spPr>
          <a:xfrm>
            <a:off x="545348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2429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bg1"/>
                </a:solidFill>
              </a:rPr>
              <a:t>Mini brownie de 20 g con sangrecita</a:t>
            </a:r>
            <a:endParaRPr lang="en-US" sz="1300" dirty="0"/>
          </a:p>
          <a:p>
            <a:pPr marL="127000" indent="-127000">
              <a:spcAft>
                <a:spcPts val="400"/>
              </a:spcAft>
              <a:buSzPct val="100000"/>
              <a:buChar char="•"/>
            </a:pPr>
            <a:r>
              <a:rPr lang="en-US" sz="1300" dirty="0">
                <a:solidFill>
                  <a:schemeClr val="bg1"/>
                </a:solidFill>
              </a:rPr>
              <a:t>Hierro medido por lote</a:t>
            </a:r>
            <a:endParaRPr lang="en-US" sz="1300" dirty="0"/>
          </a:p>
          <a:p>
            <a:pPr marL="127000" indent="-127000">
              <a:spcAft>
                <a:spcPts val="400"/>
              </a:spcAft>
              <a:buSzPct val="100000"/>
              <a:buChar char="•"/>
            </a:pPr>
            <a:r>
              <a:rPr lang="en-US" sz="1300" dirty="0">
                <a:solidFill>
                  <a:schemeClr val="bg1"/>
                </a:solidFill>
              </a:rPr>
              <a:t>App para padres y niños</a:t>
            </a:r>
            <a:endParaRPr lang="en-US" sz="1300" dirty="0"/>
          </a:p>
          <a:p>
            <a:pPr marL="127000" indent="-127000">
              <a:spcAft>
                <a:spcPts val="400"/>
              </a:spcAft>
              <a:buSzPct val="100000"/>
              <a:buChar char="•"/>
            </a:pPr>
            <a:r>
              <a:rPr lang="en-US" sz="1300" dirty="0">
                <a:solidFill>
                  <a:schemeClr val="bg1"/>
                </a:solidFill>
              </a:rPr>
              <a:t>3 sabores en un pack</a:t>
            </a:r>
            <a:endParaRPr lang="en-US" sz="1300" dirty="0"/>
          </a:p>
          <a:p>
            <a:pPr marL="127000" indent="-127000">
              <a:spcAft>
                <a:spcPts val="400"/>
              </a:spcAft>
              <a:buSzPct val="100000"/>
              <a:buChar char="•"/>
            </a:pPr>
            <a:r>
              <a:rPr lang="en-US" sz="1300" dirty="0">
                <a:solidFill>
                  <a:schemeClr val="bg1"/>
                </a:solidFill>
              </a:rPr>
              <a:t>Se prueba en el stand</a:t>
            </a:r>
            <a:endParaRPr lang="en-US" sz="1300" dirty="0"/>
          </a:p>
        </p:txBody>
      </p:sp>
      <p:sp>
        <p:nvSpPr>
          <p:cNvPr id="20" name="Shape 14"/>
          <p:cNvSpPr/>
          <p:nvPr/>
        </p:nvSpPr>
        <p:spPr>
          <a:xfrm>
            <a:off x="7247534"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527048"/>
            <a:ext cx="256032" cy="256032"/>
          </a:xfrm>
          <a:prstGeom prst="rect">
            <a:avLst/>
          </a:prstGeom>
        </p:spPr>
      </p:pic>
      <p:sp>
        <p:nvSpPr>
          <p:cNvPr id="22" name="Text 15"/>
          <p:cNvSpPr txBox="1"/>
          <p:nvPr/>
        </p:nvSpPr>
        <p:spPr>
          <a:xfrm>
            <a:off x="7686446"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57262"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Degustación en el stand</a:t>
            </a:r>
            <a:endParaRPr lang="en-US" sz="1300" dirty="0"/>
          </a:p>
          <a:p>
            <a:pPr marL="127000" indent="-127000">
              <a:spcAft>
                <a:spcPts val="400"/>
              </a:spcAft>
              <a:buSzPct val="100000"/>
              <a:buChar char="•"/>
            </a:pPr>
            <a:r>
              <a:rPr lang="en-US" sz="1300" dirty="0">
                <a:solidFill>
                  <a:schemeClr val="tx1"/>
                </a:solidFill>
              </a:rPr>
              <a:t>App: lote, loncheras y aviso</a:t>
            </a:r>
            <a:endParaRPr lang="en-US" sz="1300" dirty="0"/>
          </a:p>
          <a:p>
            <a:pPr marL="127000" indent="-127000">
              <a:spcAft>
                <a:spcPts val="400"/>
              </a:spcAft>
              <a:buSzPct val="100000"/>
              <a:buChar char="•"/>
            </a:pPr>
            <a:r>
              <a:rPr lang="en-US" sz="1300" dirty="0">
                <a:solidFill>
                  <a:schemeClr val="tx1"/>
                </a:solidFill>
              </a:rPr>
              <a:t>Asistencia por WhatsApp</a:t>
            </a:r>
            <a:endParaRPr lang="en-US" sz="1300" dirty="0"/>
          </a:p>
          <a:p>
            <a:pPr marL="127000" indent="-127000">
              <a:spcAft>
                <a:spcPts val="400"/>
              </a:spcAft>
              <a:buSzPct val="100000"/>
              <a:buChar char="•"/>
            </a:pPr>
            <a:r>
              <a:rPr lang="en-US" sz="1300" dirty="0">
                <a:solidFill>
                  <a:schemeClr val="tx1"/>
                </a:solidFill>
              </a:rPr>
              <a:t>Mamá embajadora</a:t>
            </a:r>
            <a:endParaRPr lang="en-US" sz="1300" dirty="0"/>
          </a:p>
        </p:txBody>
      </p:sp>
      <p:sp>
        <p:nvSpPr>
          <p:cNvPr id="24" name="Shape 17"/>
          <p:cNvSpPr/>
          <p:nvPr/>
        </p:nvSpPr>
        <p:spPr>
          <a:xfrm>
            <a:off x="7247534"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300984"/>
            <a:ext cx="256032" cy="256032"/>
          </a:xfrm>
          <a:prstGeom prst="rect">
            <a:avLst/>
          </a:prstGeom>
        </p:spPr>
      </p:pic>
      <p:sp>
        <p:nvSpPr>
          <p:cNvPr id="26" name="Text 18"/>
          <p:cNvSpPr txBox="1"/>
          <p:nvPr/>
        </p:nvSpPr>
        <p:spPr>
          <a:xfrm>
            <a:off x="7686446"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57262"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Stands y carrito 43 %</a:t>
            </a:r>
            <a:endParaRPr lang="en-US" sz="1300" dirty="0"/>
          </a:p>
          <a:p>
            <a:pPr marL="127000" indent="-127000">
              <a:spcAft>
                <a:spcPts val="400"/>
              </a:spcAft>
              <a:buSzPct val="100000"/>
              <a:buChar char="•"/>
            </a:pPr>
            <a:r>
              <a:rPr lang="en-US" sz="1300" dirty="0">
                <a:solidFill>
                  <a:schemeClr val="tx1"/>
                </a:solidFill>
              </a:rPr>
              <a:t>WhatsApp 17 %</a:t>
            </a:r>
            <a:endParaRPr lang="en-US" sz="1300" dirty="0"/>
          </a:p>
          <a:p>
            <a:pPr marL="127000" indent="-127000">
              <a:spcAft>
                <a:spcPts val="400"/>
              </a:spcAft>
              <a:buSzPct val="100000"/>
              <a:buChar char="•"/>
            </a:pPr>
            <a:r>
              <a:rPr lang="en-US" sz="1300" dirty="0">
                <a:solidFill>
                  <a:schemeClr val="tx1"/>
                </a:solidFill>
              </a:rPr>
              <a:t>Ferias 15 %</a:t>
            </a:r>
            <a:endParaRPr lang="en-US" sz="1300" dirty="0"/>
          </a:p>
          <a:p>
            <a:pPr marL="127000" indent="-127000">
              <a:spcAft>
                <a:spcPts val="400"/>
              </a:spcAft>
              <a:buSzPct val="100000"/>
              <a:buChar char="•"/>
            </a:pPr>
            <a:r>
              <a:rPr lang="en-US" sz="1300" dirty="0">
                <a:solidFill>
                  <a:schemeClr val="tx1"/>
                </a:solidFill>
              </a:rPr>
              <a:t>Colegios y naturistas 24 %</a:t>
            </a:r>
            <a:endParaRPr lang="en-US" sz="1300" dirty="0"/>
          </a:p>
        </p:txBody>
      </p:sp>
      <p:sp>
        <p:nvSpPr>
          <p:cNvPr id="28" name="Shape 20"/>
          <p:cNvSpPr/>
          <p:nvPr/>
        </p:nvSpPr>
        <p:spPr>
          <a:xfrm>
            <a:off x="9480499"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527048"/>
            <a:ext cx="256032" cy="256032"/>
          </a:xfrm>
          <a:prstGeom prst="rect">
            <a:avLst/>
          </a:prstGeom>
        </p:spPr>
      </p:pic>
      <p:sp>
        <p:nvSpPr>
          <p:cNvPr id="30" name="Text 21"/>
          <p:cNvSpPr txBox="1"/>
          <p:nvPr/>
        </p:nvSpPr>
        <p:spPr>
          <a:xfrm>
            <a:off x="9919411"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90227"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Padres A/B de 32 a 45 años</a:t>
            </a:r>
            <a:endParaRPr lang="en-US" sz="1300" dirty="0"/>
          </a:p>
          <a:p>
            <a:pPr marL="127000" indent="-127000">
              <a:spcAft>
                <a:spcPts val="400"/>
              </a:spcAft>
              <a:buSzPct val="100000"/>
              <a:buChar char="•"/>
            </a:pPr>
            <a:r>
              <a:rPr lang="en-US" sz="1300" dirty="0">
                <a:solidFill>
                  <a:schemeClr val="tx1"/>
                </a:solidFill>
              </a:rPr>
              <a:t>Hijos de 4 a 11 en colegio privado</a:t>
            </a:r>
            <a:endParaRPr lang="en-US" sz="1300" dirty="0"/>
          </a:p>
          <a:p>
            <a:pPr marL="127000" indent="-127000">
              <a:spcAft>
                <a:spcPts val="400"/>
              </a:spcAft>
              <a:buSzPct val="100000"/>
              <a:buChar char="•"/>
            </a:pPr>
            <a:r>
              <a:rPr lang="en-US" sz="1300" dirty="0">
                <a:solidFill>
                  <a:schemeClr val="tx1"/>
                </a:solidFill>
              </a:rPr>
              <a:t>46,000 hogares en Lima Top y Moderna</a:t>
            </a:r>
            <a:endParaRPr lang="en-US" sz="1300" dirty="0"/>
          </a:p>
          <a:p>
            <a:pPr marL="127000" indent="-127000">
              <a:spcAft>
                <a:spcPts val="400"/>
              </a:spcAft>
              <a:buSzPct val="100000"/>
              <a:buChar char="•"/>
            </a:pPr>
            <a:r>
              <a:rPr lang="en-US" sz="1300" dirty="0">
                <a:solidFill>
                  <a:schemeClr val="tx1"/>
                </a:solidFill>
              </a:rPr>
              <a:t>B2B: quioscos y naturistas</a:t>
            </a:r>
            <a:endParaRPr lang="en-US" sz="1300" dirty="0"/>
          </a:p>
        </p:txBody>
      </p:sp>
      <p:sp>
        <p:nvSpPr>
          <p:cNvPr id="32" name="Shape 23"/>
          <p:cNvSpPr/>
          <p:nvPr/>
        </p:nvSpPr>
        <p:spPr>
          <a:xfrm>
            <a:off x="548640" y="4965192"/>
            <a:ext cx="5545836"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5074920"/>
            <a:ext cx="256032" cy="256032"/>
          </a:xfrm>
          <a:prstGeom prst="rect">
            <a:avLst/>
          </a:prstGeom>
        </p:spPr>
      </p:pic>
      <p:sp>
        <p:nvSpPr>
          <p:cNvPr id="34" name="Text 24"/>
          <p:cNvSpPr txBox="1"/>
          <p:nvPr/>
        </p:nvSpPr>
        <p:spPr>
          <a:xfrm>
            <a:off x="987552" y="5056632"/>
            <a:ext cx="5042916"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58368" y="5422392"/>
            <a:ext cx="5344668"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Producción S/1.66 por brownie · fijos S/2,753 al mes, app incluida</a:t>
            </a:r>
            <a:endParaRPr lang="en-US" sz="1300" dirty="0"/>
          </a:p>
          <a:p>
            <a:pPr marL="127000" indent="-127000">
              <a:spcAft>
                <a:spcPts val="400"/>
              </a:spcAft>
              <a:buSzPct val="100000"/>
              <a:buChar char="•"/>
            </a:pPr>
            <a:r>
              <a:rPr lang="en-US" sz="1300" dirty="0">
                <a:solidFill>
                  <a:schemeClr val="tx1"/>
                </a:solidFill>
              </a:rPr>
              <a:t>Stands y ferias S/45,870 al año · equilibrio 3,035 brownies al mes</a:t>
            </a:r>
            <a:endParaRPr lang="en-US" sz="1300" dirty="0"/>
          </a:p>
        </p:txBody>
      </p:sp>
      <p:sp>
        <p:nvSpPr>
          <p:cNvPr id="36" name="Shape 26"/>
          <p:cNvSpPr/>
          <p:nvPr/>
        </p:nvSpPr>
        <p:spPr>
          <a:xfrm>
            <a:off x="6167628" y="4965192"/>
            <a:ext cx="5472684"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5074920"/>
            <a:ext cx="256032" cy="256032"/>
          </a:xfrm>
          <a:prstGeom prst="rect">
            <a:avLst/>
          </a:prstGeom>
        </p:spPr>
      </p:pic>
      <p:sp>
        <p:nvSpPr>
          <p:cNvPr id="38" name="Text 27"/>
          <p:cNvSpPr txBox="1"/>
          <p:nvPr/>
        </p:nvSpPr>
        <p:spPr>
          <a:xfrm>
            <a:off x="6606540" y="5056632"/>
            <a:ext cx="4969764"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77356" y="5422392"/>
            <a:ext cx="5271516"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Stand: unidad S/6.00 · pack de 6 S/27.90 · WhatsApp S/26.90</a:t>
            </a:r>
            <a:endParaRPr lang="en-US" sz="1300" dirty="0"/>
          </a:p>
          <a:p>
            <a:pPr marL="127000" indent="-127000">
              <a:spcAft>
                <a:spcPts val="400"/>
              </a:spcAft>
              <a:buSzPct val="100000"/>
              <a:buChar char="•"/>
            </a:pPr>
            <a:r>
              <a:rPr lang="en-US" sz="1300" dirty="0">
                <a:solidFill>
                  <a:schemeClr val="tx1"/>
                </a:solidFill>
              </a:rPr>
              <a:t>Año 1: S/246,531 con IGV · utilidad neta S/10,676</a:t>
            </a:r>
            <a:endParaRPr lang="en-US" sz="1300" dirty="0"/>
          </a:p>
        </p:txBody>
      </p:sp>
      <p:sp>
        <p:nvSpPr>
          <p:cNvPr id="40" name="Text 29"/>
          <p:cNvSpPr txBox="1"/>
          <p:nvPr/>
        </p:nvSpPr>
        <p:spPr>
          <a:xfrm>
            <a:off x="5124298" y="4297680"/>
            <a:ext cx="1940357" cy="50292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 App Andi, Misión Hierro · Competencia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(S/27.90 en stand)</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degustación de 3</a:t>
            </a:r>
            <a:endParaRPr lang="en-US" sz="1200" dirty="0"/>
          </a:p>
          <a:p>
            <a:pPr marL="127000" indent="-127000">
              <a:spcAft>
                <a:spcPts val="400"/>
              </a:spcAft>
              <a:buSzPct val="100000"/>
              <a:buChar char="•"/>
            </a:pPr>
            <a:r>
              <a:rPr lang="en-US" sz="1200" dirty="0">
                <a:solidFill>
                  <a:schemeClr val="tx1"/>
                </a:solidFill>
              </a:rPr>
              <a:t>Stand con degustación gratis</a:t>
            </a:r>
            <a:endParaRPr lang="en-US" sz="1200" dirty="0"/>
          </a:p>
          <a:p>
            <a:pPr marL="127000" indent="-127000">
              <a:spcAft>
                <a:spcPts val="400"/>
              </a:spcAft>
              <a:buSzPct val="100000"/>
              <a:buChar char="•"/>
            </a:pPr>
            <a:r>
              <a:rPr lang="en-US" sz="1200" dirty="0">
                <a:solidFill>
                  <a:schemeClr val="tx1"/>
                </a:solidFill>
              </a:rPr>
              <a:t>App Andi, Misión Hierro</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del lote en la app</a:t>
            </a:r>
            <a:endParaRPr lang="en-US" sz="1200" dirty="0"/>
          </a:p>
          <a:p>
            <a:pPr marL="127000" indent="-127000">
              <a:spcAft>
                <a:spcPts val="400"/>
              </a:spcAft>
              <a:buSzPct val="100000"/>
              <a:buChar char="•"/>
            </a:pPr>
            <a:r>
              <a:rPr lang="en-US" sz="1200" dirty="0">
                <a:solidFill>
                  <a:schemeClr val="tx1"/>
                </a:solidFill>
              </a:rPr>
              <a:t>Juego educativo de Andi</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Loncheras listas en la app</a:t>
            </a:r>
            <a:endParaRPr lang="en-US" sz="1200" dirty="0"/>
          </a:p>
          <a:p>
            <a:pPr marL="127000" indent="-127000">
              <a:spcAft>
                <a:spcPts val="400"/>
              </a:spcAft>
              <a:buSzPct val="100000"/>
              <a:buChar char="•"/>
            </a:pPr>
            <a:r>
              <a:rPr lang="en-US" sz="1200" dirty="0">
                <a:solidFill>
                  <a:schemeClr val="tx1"/>
                </a:solidFill>
              </a:rPr>
              <a:t>Aviso antes de que se acabe</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dolor tiene su aliviador</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DOLOR DEL CLIENTE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ALIVIADOR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medido del lote en la app</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Plan de loncheras en la app</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App Andi, Misión Hierro: viene con cada envase</a:t>
            </a:r>
            <a:endParaRPr lang="en-US" sz="3400" dirty="0"/>
          </a:p>
        </p:txBody>
      </p:sp>
      <p:sp>
        <p:nvSpPr>
          <p:cNvPr id="4" name="Shape 2"/>
          <p:cNvSpPr/>
          <p:nvPr/>
        </p:nvSpPr>
        <p:spPr>
          <a:xfrm>
            <a:off x="548640" y="1463040"/>
            <a:ext cx="4343400" cy="4069080"/>
          </a:xfrm>
          <a:prstGeom prst="roundRect">
            <a:avLst>
              <a:gd name="adj" fmla="val 269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45920"/>
            <a:ext cx="38404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MODO PADRES</a:t>
            </a:r>
            <a:endParaRPr lang="en-US" sz="1200" dirty="0"/>
          </a:p>
        </p:txBody>
      </p:sp>
      <p:sp>
        <p:nvSpPr>
          <p:cNvPr id="6" name="Text 4"/>
          <p:cNvSpPr txBox="1"/>
          <p:nvPr/>
        </p:nvSpPr>
        <p:spPr>
          <a:xfrm>
            <a:off x="822960" y="1920240"/>
            <a:ext cx="3840480" cy="384048"/>
          </a:xfrm>
          <a:prstGeom prst="rect">
            <a:avLst/>
          </a:prstGeom>
          <a:noFill/>
          <a:ln/>
        </p:spPr>
        <p:txBody>
          <a:bodyPr wrap="square" lIns="0" tIns="0" rIns="0" bIns="0" rtlCol="0" anchor="t"/>
          <a:lstStyle/>
          <a:p>
            <a:pPr indent="0" marL="0">
              <a:buNone/>
            </a:pPr>
            <a:r>
              <a:rPr lang="en-US" sz="1900" b="1" dirty="0">
                <a:solidFill>
                  <a:schemeClr val="tx2"/>
                </a:solidFill>
              </a:rPr>
              <a:t>Datos que dan confianza</a:t>
            </a:r>
            <a:endParaRPr lang="en-US" sz="1900" dirty="0"/>
          </a:p>
        </p:txBody>
      </p:sp>
      <p:sp>
        <p:nvSpPr>
          <p:cNvPr id="7" name="Shape 5"/>
          <p:cNvSpPr/>
          <p:nvPr/>
        </p:nvSpPr>
        <p:spPr>
          <a:xfrm>
            <a:off x="822960" y="2468880"/>
            <a:ext cx="457200" cy="457200"/>
          </a:xfrm>
          <a:prstGeom prst="ellipse">
            <a:avLst/>
          </a:prstGeom>
          <a:solidFill>
            <a:schemeClr val="accent1"/>
          </a:solidFill>
          <a:ln w="12700">
            <a:solidFill>
              <a:schemeClr val="accent1"/>
            </a:solidFill>
            <a:prstDash val="solid"/>
          </a:ln>
        </p:spPr>
      </p:sp>
      <p:pic>
        <p:nvPicPr>
          <p:cNvPr id="8" name="Image 0" descr="preencoded.png">    </p:cNvPr>
          <p:cNvPicPr>
            <a:picLocks noChangeAspect="1"/>
          </p:cNvPicPr>
          <p:nvPr/>
        </p:nvPicPr>
        <p:blipFill>
          <a:blip r:embed="rId1"/>
          <a:stretch>
            <a:fillRect/>
          </a:stretch>
        </p:blipFill>
        <p:spPr>
          <a:xfrm>
            <a:off x="923544" y="2569464"/>
            <a:ext cx="256032" cy="256032"/>
          </a:xfrm>
          <a:prstGeom prst="rect">
            <a:avLst/>
          </a:prstGeom>
        </p:spPr>
      </p:pic>
      <p:sp>
        <p:nvSpPr>
          <p:cNvPr id="9" name="Text 6"/>
          <p:cNvSpPr txBox="1"/>
          <p:nvPr/>
        </p:nvSpPr>
        <p:spPr>
          <a:xfrm>
            <a:off x="1417320" y="2468880"/>
            <a:ext cx="3383280" cy="457200"/>
          </a:xfrm>
          <a:prstGeom prst="rect">
            <a:avLst/>
          </a:prstGeom>
          <a:noFill/>
          <a:ln/>
        </p:spPr>
        <p:txBody>
          <a:bodyPr wrap="square" lIns="0" tIns="0" rIns="0" bIns="0" rtlCol="0" anchor="ctr"/>
          <a:lstStyle/>
          <a:p>
            <a:pPr indent="0" marL="0">
              <a:buNone/>
            </a:pPr>
            <a:r>
              <a:rPr lang="en-US" sz="1500" b="1" dirty="0">
                <a:solidFill>
                  <a:schemeClr val="tx1"/>
                </a:solidFill>
              </a:rPr>
              <a:t>Mi lote: hierro medido</a:t>
            </a:r>
            <a:endParaRPr lang="en-US" sz="1500" dirty="0"/>
          </a:p>
        </p:txBody>
      </p:sp>
      <p:sp>
        <p:nvSpPr>
          <p:cNvPr id="10" name="Shape 7"/>
          <p:cNvSpPr/>
          <p:nvPr/>
        </p:nvSpPr>
        <p:spPr>
          <a:xfrm>
            <a:off x="822960" y="3072384"/>
            <a:ext cx="457200" cy="4572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923544" y="3172968"/>
            <a:ext cx="256032" cy="256032"/>
          </a:xfrm>
          <a:prstGeom prst="rect">
            <a:avLst/>
          </a:prstGeom>
        </p:spPr>
      </p:pic>
      <p:sp>
        <p:nvSpPr>
          <p:cNvPr id="12" name="Text 8"/>
          <p:cNvSpPr txBox="1"/>
          <p:nvPr/>
        </p:nvSpPr>
        <p:spPr>
          <a:xfrm>
            <a:off x="1417320" y="3072384"/>
            <a:ext cx="3383280" cy="457200"/>
          </a:xfrm>
          <a:prstGeom prst="rect">
            <a:avLst/>
          </a:prstGeom>
          <a:noFill/>
          <a:ln/>
        </p:spPr>
        <p:txBody>
          <a:bodyPr wrap="square" lIns="0" tIns="0" rIns="0" bIns="0" rtlCol="0" anchor="ctr"/>
          <a:lstStyle/>
          <a:p>
            <a:pPr indent="0" marL="0">
              <a:buNone/>
            </a:pPr>
            <a:r>
              <a:rPr lang="en-US" sz="1500" dirty="0">
                <a:solidFill>
                  <a:schemeClr val="tx1"/>
                </a:solidFill>
              </a:rPr>
              <a:t>Semáforo de hierro semanal</a:t>
            </a:r>
            <a:endParaRPr lang="en-US" sz="1500" dirty="0"/>
          </a:p>
        </p:txBody>
      </p:sp>
      <p:sp>
        <p:nvSpPr>
          <p:cNvPr id="13" name="Shape 9"/>
          <p:cNvSpPr/>
          <p:nvPr/>
        </p:nvSpPr>
        <p:spPr>
          <a:xfrm>
            <a:off x="822960" y="3675888"/>
            <a:ext cx="457200" cy="45720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923544" y="3776472"/>
            <a:ext cx="256032" cy="256032"/>
          </a:xfrm>
          <a:prstGeom prst="rect">
            <a:avLst/>
          </a:prstGeom>
        </p:spPr>
      </p:pic>
      <p:sp>
        <p:nvSpPr>
          <p:cNvPr id="15" name="Text 10"/>
          <p:cNvSpPr txBox="1"/>
          <p:nvPr/>
        </p:nvSpPr>
        <p:spPr>
          <a:xfrm>
            <a:off x="1417320" y="3675888"/>
            <a:ext cx="3383280" cy="457200"/>
          </a:xfrm>
          <a:prstGeom prst="rect">
            <a:avLst/>
          </a:prstGeom>
          <a:noFill/>
          <a:ln/>
        </p:spPr>
        <p:txBody>
          <a:bodyPr wrap="square" lIns="0" tIns="0" rIns="0" bIns="0" rtlCol="0" anchor="ctr"/>
          <a:lstStyle/>
          <a:p>
            <a:pPr indent="0" marL="0">
              <a:buNone/>
            </a:pPr>
            <a:r>
              <a:rPr lang="en-US" sz="1500" dirty="0">
                <a:solidFill>
                  <a:schemeClr val="tx1"/>
                </a:solidFill>
              </a:rPr>
              <a:t>Plan de loncheras con IA</a:t>
            </a:r>
            <a:endParaRPr lang="en-US" sz="1500" dirty="0"/>
          </a:p>
        </p:txBody>
      </p:sp>
      <p:sp>
        <p:nvSpPr>
          <p:cNvPr id="16" name="Shape 11"/>
          <p:cNvSpPr/>
          <p:nvPr/>
        </p:nvSpPr>
        <p:spPr>
          <a:xfrm>
            <a:off x="822960" y="4279392"/>
            <a:ext cx="457200" cy="457200"/>
          </a:xfrm>
          <a:prstGeom prst="ellipse">
            <a:avLst/>
          </a:prstGeom>
          <a:solidFill>
            <a:schemeClr val="tx2"/>
          </a:solidFill>
          <a:ln w="12700">
            <a:solidFill>
              <a:schemeClr val="tx2"/>
            </a:solidFill>
            <a:prstDash val="solid"/>
          </a:ln>
        </p:spPr>
      </p:sp>
      <p:pic>
        <p:nvPicPr>
          <p:cNvPr id="17" name="Image 3" descr="preencoded.png">    </p:cNvPr>
          <p:cNvPicPr>
            <a:picLocks noChangeAspect="1"/>
          </p:cNvPicPr>
          <p:nvPr/>
        </p:nvPicPr>
        <p:blipFill>
          <a:blip r:embed="rId4"/>
          <a:stretch>
            <a:fillRect/>
          </a:stretch>
        </p:blipFill>
        <p:spPr>
          <a:xfrm>
            <a:off x="923544" y="4379976"/>
            <a:ext cx="256032" cy="256032"/>
          </a:xfrm>
          <a:prstGeom prst="rect">
            <a:avLst/>
          </a:prstGeom>
        </p:spPr>
      </p:pic>
      <p:sp>
        <p:nvSpPr>
          <p:cNvPr id="18" name="Text 12"/>
          <p:cNvSpPr txBox="1"/>
          <p:nvPr/>
        </p:nvSpPr>
        <p:spPr>
          <a:xfrm>
            <a:off x="1417320" y="4279392"/>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Recordatorio de hemoglobina</a:t>
            </a:r>
            <a:endParaRPr lang="en-US" sz="1500" dirty="0"/>
          </a:p>
        </p:txBody>
      </p:sp>
      <p:sp>
        <p:nvSpPr>
          <p:cNvPr id="19" name="Shape 13"/>
          <p:cNvSpPr/>
          <p:nvPr/>
        </p:nvSpPr>
        <p:spPr>
          <a:xfrm>
            <a:off x="822960" y="4882896"/>
            <a:ext cx="457200" cy="457200"/>
          </a:xfrm>
          <a:prstGeom prst="ellipse">
            <a:avLst/>
          </a:prstGeom>
          <a:solidFill>
            <a:schemeClr val="tx2"/>
          </a:solidFill>
          <a:ln w="12700">
            <a:solidFill>
              <a:schemeClr val="tx2"/>
            </a:solidFill>
            <a:prstDash val="solid"/>
          </a:ln>
        </p:spPr>
      </p:sp>
      <p:pic>
        <p:nvPicPr>
          <p:cNvPr id="20" name="Image 4" descr="preencoded.png">    </p:cNvPr>
          <p:cNvPicPr>
            <a:picLocks noChangeAspect="1"/>
          </p:cNvPicPr>
          <p:nvPr/>
        </p:nvPicPr>
        <p:blipFill>
          <a:blip r:embed="rId5"/>
          <a:stretch>
            <a:fillRect/>
          </a:stretch>
        </p:blipFill>
        <p:spPr>
          <a:xfrm>
            <a:off x="923544" y="4983480"/>
            <a:ext cx="256032" cy="256032"/>
          </a:xfrm>
          <a:prstGeom prst="rect">
            <a:avLst/>
          </a:prstGeom>
        </p:spPr>
      </p:pic>
      <p:sp>
        <p:nvSpPr>
          <p:cNvPr id="21" name="Text 14"/>
          <p:cNvSpPr txBox="1"/>
          <p:nvPr/>
        </p:nvSpPr>
        <p:spPr>
          <a:xfrm>
            <a:off x="1417320" y="4882896"/>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Recompra en un clic</a:t>
            </a:r>
            <a:endParaRPr lang="en-US" sz="1500" dirty="0"/>
          </a:p>
        </p:txBody>
      </p:sp>
      <p:sp>
        <p:nvSpPr>
          <p:cNvPr id="22" name="Shape 15"/>
          <p:cNvSpPr/>
          <p:nvPr/>
        </p:nvSpPr>
        <p:spPr>
          <a:xfrm>
            <a:off x="5074920" y="1463040"/>
            <a:ext cx="4023360" cy="4069080"/>
          </a:xfrm>
          <a:prstGeom prst="roundRect">
            <a:avLst>
              <a:gd name="adj" fmla="val 272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3" name="Text 16"/>
          <p:cNvSpPr txBox="1"/>
          <p:nvPr/>
        </p:nvSpPr>
        <p:spPr>
          <a:xfrm>
            <a:off x="5349240" y="1645920"/>
            <a:ext cx="356616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MODO NIÑOS</a:t>
            </a:r>
            <a:endParaRPr lang="en-US" sz="1200" dirty="0"/>
          </a:p>
        </p:txBody>
      </p:sp>
      <p:sp>
        <p:nvSpPr>
          <p:cNvPr id="24" name="Text 17"/>
          <p:cNvSpPr txBox="1"/>
          <p:nvPr/>
        </p:nvSpPr>
        <p:spPr>
          <a:xfrm>
            <a:off x="5349240" y="1920240"/>
            <a:ext cx="3566160" cy="384048"/>
          </a:xfrm>
          <a:prstGeom prst="rect">
            <a:avLst/>
          </a:prstGeom>
          <a:noFill/>
          <a:ln/>
        </p:spPr>
        <p:txBody>
          <a:bodyPr wrap="square" lIns="0" tIns="0" rIns="0" bIns="0" rtlCol="0" anchor="t"/>
          <a:lstStyle/>
          <a:p>
            <a:pPr indent="0" marL="0">
              <a:buNone/>
            </a:pPr>
            <a:r>
              <a:rPr lang="en-US" sz="1900" b="1" dirty="0">
                <a:solidFill>
                  <a:schemeClr val="bg1"/>
                </a:solidFill>
              </a:rPr>
              <a:t>Aprender jugando con Andi</a:t>
            </a:r>
            <a:endParaRPr lang="en-US" sz="1900" dirty="0"/>
          </a:p>
        </p:txBody>
      </p:sp>
      <p:sp>
        <p:nvSpPr>
          <p:cNvPr id="25" name="Shape 18"/>
          <p:cNvSpPr/>
          <p:nvPr/>
        </p:nvSpPr>
        <p:spPr>
          <a:xfrm>
            <a:off x="5349240" y="2468880"/>
            <a:ext cx="457200" cy="457200"/>
          </a:xfrm>
          <a:prstGeom prst="ellipse">
            <a:avLst/>
          </a:prstGeom>
          <a:solidFill>
            <a:schemeClr val="accent3"/>
          </a:solidFill>
          <a:ln w="12700">
            <a:solidFill>
              <a:schemeClr val="accent3"/>
            </a:solidFill>
            <a:prstDash val="solid"/>
          </a:ln>
        </p:spPr>
      </p:sp>
      <p:pic>
        <p:nvPicPr>
          <p:cNvPr id="26" name="Image 5" descr="preencoded.png">    </p:cNvPr>
          <p:cNvPicPr>
            <a:picLocks noChangeAspect="1"/>
          </p:cNvPicPr>
          <p:nvPr/>
        </p:nvPicPr>
        <p:blipFill>
          <a:blip r:embed="rId6"/>
          <a:stretch>
            <a:fillRect/>
          </a:stretch>
        </p:blipFill>
        <p:spPr>
          <a:xfrm>
            <a:off x="5449824" y="2569464"/>
            <a:ext cx="256032" cy="256032"/>
          </a:xfrm>
          <a:prstGeom prst="rect">
            <a:avLst/>
          </a:prstGeom>
        </p:spPr>
      </p:pic>
      <p:sp>
        <p:nvSpPr>
          <p:cNvPr id="27" name="Text 19"/>
          <p:cNvSpPr txBox="1"/>
          <p:nvPr/>
        </p:nvSpPr>
        <p:spPr>
          <a:xfrm>
            <a:off x="5943600" y="2468880"/>
            <a:ext cx="3063240" cy="457200"/>
          </a:xfrm>
          <a:prstGeom prst="rect">
            <a:avLst/>
          </a:prstGeom>
          <a:noFill/>
          <a:ln/>
        </p:spPr>
        <p:txBody>
          <a:bodyPr wrap="square" lIns="0" tIns="0" rIns="0" bIns="0" rtlCol="0" anchor="ctr"/>
          <a:lstStyle/>
          <a:p>
            <a:pPr indent="0" marL="0">
              <a:buNone/>
            </a:pPr>
            <a:r>
              <a:rPr lang="en-US" sz="1500" dirty="0">
                <a:solidFill>
                  <a:schemeClr val="bg1"/>
                </a:solidFill>
              </a:rPr>
              <a:t>Arma tu plato fuerte</a:t>
            </a:r>
            <a:endParaRPr lang="en-US" sz="1500" dirty="0"/>
          </a:p>
        </p:txBody>
      </p:sp>
      <p:sp>
        <p:nvSpPr>
          <p:cNvPr id="28" name="Shape 20"/>
          <p:cNvSpPr/>
          <p:nvPr/>
        </p:nvSpPr>
        <p:spPr>
          <a:xfrm>
            <a:off x="5349240" y="3072384"/>
            <a:ext cx="457200" cy="457200"/>
          </a:xfrm>
          <a:prstGeom prst="ellipse">
            <a:avLst/>
          </a:prstGeom>
          <a:solidFill>
            <a:schemeClr val="accent3"/>
          </a:solidFill>
          <a:ln w="12700">
            <a:solidFill>
              <a:schemeClr val="accent3"/>
            </a:solidFill>
            <a:prstDash val="solid"/>
          </a:ln>
        </p:spPr>
      </p:sp>
      <p:pic>
        <p:nvPicPr>
          <p:cNvPr id="29" name="Image 6" descr="preencoded.png">    </p:cNvPr>
          <p:cNvPicPr>
            <a:picLocks noChangeAspect="1"/>
          </p:cNvPicPr>
          <p:nvPr/>
        </p:nvPicPr>
        <p:blipFill>
          <a:blip r:embed="rId7"/>
          <a:stretch>
            <a:fillRect/>
          </a:stretch>
        </p:blipFill>
        <p:spPr>
          <a:xfrm>
            <a:off x="5449824" y="3172968"/>
            <a:ext cx="256032" cy="256032"/>
          </a:xfrm>
          <a:prstGeom prst="rect">
            <a:avLst/>
          </a:prstGeom>
        </p:spPr>
      </p:pic>
      <p:sp>
        <p:nvSpPr>
          <p:cNvPr id="30" name="Text 21"/>
          <p:cNvSpPr txBox="1"/>
          <p:nvPr/>
        </p:nvSpPr>
        <p:spPr>
          <a:xfrm>
            <a:off x="5943600" y="3072384"/>
            <a:ext cx="3063240" cy="457200"/>
          </a:xfrm>
          <a:prstGeom prst="rect">
            <a:avLst/>
          </a:prstGeom>
          <a:noFill/>
          <a:ln/>
        </p:spPr>
        <p:txBody>
          <a:bodyPr wrap="square" lIns="0" tIns="0" rIns="0" bIns="0" rtlCol="0" anchor="ctr"/>
          <a:lstStyle/>
          <a:p>
            <a:pPr indent="0" marL="0">
              <a:buNone/>
            </a:pPr>
            <a:r>
              <a:rPr lang="en-US" sz="1500" dirty="0">
                <a:solidFill>
                  <a:schemeClr val="bg1"/>
                </a:solidFill>
              </a:rPr>
              <a:t>Memoria andina</a:t>
            </a:r>
            <a:endParaRPr lang="en-US" sz="1500" dirty="0"/>
          </a:p>
        </p:txBody>
      </p:sp>
      <p:sp>
        <p:nvSpPr>
          <p:cNvPr id="31" name="Shape 22"/>
          <p:cNvSpPr/>
          <p:nvPr/>
        </p:nvSpPr>
        <p:spPr>
          <a:xfrm>
            <a:off x="5349240" y="3675888"/>
            <a:ext cx="457200" cy="457200"/>
          </a:xfrm>
          <a:prstGeom prst="ellipse">
            <a:avLst/>
          </a:prstGeom>
          <a:solidFill>
            <a:schemeClr val="accent3"/>
          </a:solidFill>
          <a:ln w="12700">
            <a:solidFill>
              <a:schemeClr val="accent3"/>
            </a:solidFill>
            <a:prstDash val="solid"/>
          </a:ln>
        </p:spPr>
      </p:sp>
      <p:pic>
        <p:nvPicPr>
          <p:cNvPr id="32" name="Image 7" descr="preencoded.png">    </p:cNvPr>
          <p:cNvPicPr>
            <a:picLocks noChangeAspect="1"/>
          </p:cNvPicPr>
          <p:nvPr/>
        </p:nvPicPr>
        <p:blipFill>
          <a:blip r:embed="rId8"/>
          <a:stretch>
            <a:fillRect/>
          </a:stretch>
        </p:blipFill>
        <p:spPr>
          <a:xfrm>
            <a:off x="5449824" y="3776472"/>
            <a:ext cx="256032" cy="256032"/>
          </a:xfrm>
          <a:prstGeom prst="rect">
            <a:avLst/>
          </a:prstGeom>
        </p:spPr>
      </p:pic>
      <p:sp>
        <p:nvSpPr>
          <p:cNvPr id="33" name="Text 23"/>
          <p:cNvSpPr txBox="1"/>
          <p:nvPr/>
        </p:nvSpPr>
        <p:spPr>
          <a:xfrm>
            <a:off x="5943600" y="3675888"/>
            <a:ext cx="3063240" cy="457200"/>
          </a:xfrm>
          <a:prstGeom prst="rect">
            <a:avLst/>
          </a:prstGeom>
          <a:noFill/>
          <a:ln/>
        </p:spPr>
        <p:txBody>
          <a:bodyPr wrap="square" lIns="0" tIns="0" rIns="0" bIns="0" rtlCol="0" anchor="ctr"/>
          <a:lstStyle/>
          <a:p>
            <a:pPr indent="0" marL="0">
              <a:buNone/>
            </a:pPr>
            <a:r>
              <a:rPr lang="en-US" sz="1500" dirty="0">
                <a:solidFill>
                  <a:schemeClr val="bg1"/>
                </a:solidFill>
              </a:rPr>
              <a:t>¿Verdad o mito?</a:t>
            </a:r>
            <a:endParaRPr lang="en-US" sz="1500" dirty="0"/>
          </a:p>
        </p:txBody>
      </p:sp>
      <p:sp>
        <p:nvSpPr>
          <p:cNvPr id="34" name="Shape 24"/>
          <p:cNvSpPr/>
          <p:nvPr/>
        </p:nvSpPr>
        <p:spPr>
          <a:xfrm>
            <a:off x="5349240" y="4279392"/>
            <a:ext cx="457200" cy="457200"/>
          </a:xfrm>
          <a:prstGeom prst="ellipse">
            <a:avLst/>
          </a:prstGeom>
          <a:solidFill>
            <a:schemeClr val="accent3"/>
          </a:solidFill>
          <a:ln w="12700">
            <a:solidFill>
              <a:schemeClr val="accent3"/>
            </a:solidFill>
            <a:prstDash val="solid"/>
          </a:ln>
        </p:spPr>
      </p:sp>
      <p:pic>
        <p:nvPicPr>
          <p:cNvPr id="35" name="Image 8" descr="preencoded.png">    </p:cNvPr>
          <p:cNvPicPr>
            <a:picLocks noChangeAspect="1"/>
          </p:cNvPicPr>
          <p:nvPr/>
        </p:nvPicPr>
        <p:blipFill>
          <a:blip r:embed="rId9"/>
          <a:stretch>
            <a:fillRect/>
          </a:stretch>
        </p:blipFill>
        <p:spPr>
          <a:xfrm>
            <a:off x="5449824" y="4379976"/>
            <a:ext cx="256032" cy="256032"/>
          </a:xfrm>
          <a:prstGeom prst="rect">
            <a:avLst/>
          </a:prstGeom>
        </p:spPr>
      </p:pic>
      <p:sp>
        <p:nvSpPr>
          <p:cNvPr id="36" name="Text 25"/>
          <p:cNvSpPr txBox="1"/>
          <p:nvPr/>
        </p:nvSpPr>
        <p:spPr>
          <a:xfrm>
            <a:off x="5943600" y="4279392"/>
            <a:ext cx="3063240" cy="457200"/>
          </a:xfrm>
          <a:prstGeom prst="rect">
            <a:avLst/>
          </a:prstGeom>
          <a:noFill/>
          <a:ln/>
        </p:spPr>
        <p:txBody>
          <a:bodyPr wrap="square" lIns="0" tIns="0" rIns="0" bIns="0" rtlCol="0" anchor="ctr"/>
          <a:lstStyle/>
          <a:p>
            <a:pPr indent="0" marL="0">
              <a:buNone/>
            </a:pPr>
            <a:r>
              <a:rPr lang="en-US" sz="1500" dirty="0">
                <a:solidFill>
                  <a:schemeClr val="bg1"/>
                </a:solidFill>
              </a:rPr>
              <a:t>Ruta de hábitos</a:t>
            </a:r>
            <a:endParaRPr lang="en-US" sz="1500" dirty="0"/>
          </a:p>
        </p:txBody>
      </p:sp>
      <p:sp>
        <p:nvSpPr>
          <p:cNvPr id="37" name="Shape 26"/>
          <p:cNvSpPr/>
          <p:nvPr/>
        </p:nvSpPr>
        <p:spPr>
          <a:xfrm>
            <a:off x="5349240" y="4882896"/>
            <a:ext cx="457200" cy="457200"/>
          </a:xfrm>
          <a:prstGeom prst="ellipse">
            <a:avLst/>
          </a:prstGeom>
          <a:solidFill>
            <a:schemeClr val="accent5"/>
          </a:solidFill>
          <a:ln w="12700">
            <a:solidFill>
              <a:schemeClr val="accent5"/>
            </a:solidFill>
            <a:prstDash val="solid"/>
          </a:ln>
        </p:spPr>
      </p:sp>
      <p:pic>
        <p:nvPicPr>
          <p:cNvPr id="38" name="Image 9" descr="preencoded.png">    </p:cNvPr>
          <p:cNvPicPr>
            <a:picLocks noChangeAspect="1"/>
          </p:cNvPicPr>
          <p:nvPr/>
        </p:nvPicPr>
        <p:blipFill>
          <a:blip r:embed="rId10"/>
          <a:stretch>
            <a:fillRect/>
          </a:stretch>
        </p:blipFill>
        <p:spPr>
          <a:xfrm>
            <a:off x="5449824" y="4983480"/>
            <a:ext cx="256032" cy="256032"/>
          </a:xfrm>
          <a:prstGeom prst="rect">
            <a:avLst/>
          </a:prstGeom>
        </p:spPr>
      </p:pic>
      <p:sp>
        <p:nvSpPr>
          <p:cNvPr id="39" name="Text 27"/>
          <p:cNvSpPr txBox="1"/>
          <p:nvPr/>
        </p:nvSpPr>
        <p:spPr>
          <a:xfrm>
            <a:off x="5943600" y="4882896"/>
            <a:ext cx="3063240" cy="457200"/>
          </a:xfrm>
          <a:prstGeom prst="rect">
            <a:avLst/>
          </a:prstGeom>
          <a:noFill/>
          <a:ln/>
        </p:spPr>
        <p:txBody>
          <a:bodyPr wrap="square" lIns="0" tIns="0" rIns="0" bIns="0" rtlCol="0" anchor="ctr"/>
          <a:lstStyle/>
          <a:p>
            <a:pPr indent="0" marL="0">
              <a:buNone/>
            </a:pPr>
            <a:r>
              <a:rPr lang="en-US" sz="1500" dirty="0">
                <a:solidFill>
                  <a:schemeClr val="bg1"/>
                </a:solidFill>
              </a:rPr>
              <a:t>Lo abre el padre, con tiempo</a:t>
            </a:r>
            <a:endParaRPr lang="en-US" sz="1500" dirty="0"/>
          </a:p>
        </p:txBody>
      </p:sp>
      <p:sp>
        <p:nvSpPr>
          <p:cNvPr id="40" name="IMAGEN_5"/>
          <p:cNvSpPr/>
          <p:nvPr/>
        </p:nvSpPr>
        <p:spPr>
          <a:xfrm>
            <a:off x="9281160" y="1463040"/>
            <a:ext cx="2359152" cy="4069080"/>
          </a:xfrm>
          <a:prstGeom prst="roundRect">
            <a:avLst>
              <a:gd name="adj" fmla="val 5814"/>
            </a:avLst>
          </a:prstGeom>
          <a:solidFill>
            <a:srgbClr val="F0E2CF"/>
          </a:solidFill>
          <a:ln w="19050">
            <a:solidFill>
              <a:schemeClr val="accent5"/>
            </a:solidFill>
            <a:prstDash val="dash"/>
          </a:ln>
        </p:spPr>
      </p:sp>
      <p:pic>
        <p:nvPicPr>
          <p:cNvPr id="41" name="Image 10" descr="preencoded.png">    </p:cNvPr>
          <p:cNvPicPr>
            <a:picLocks noChangeAspect="1"/>
          </p:cNvPicPr>
          <p:nvPr/>
        </p:nvPicPr>
        <p:blipFill>
          <a:blip r:embed="rId11"/>
          <a:stretch>
            <a:fillRect/>
          </a:stretch>
        </p:blipFill>
        <p:spPr>
          <a:xfrm>
            <a:off x="10094976" y="2583180"/>
            <a:ext cx="731520" cy="731520"/>
          </a:xfrm>
          <a:prstGeom prst="rect">
            <a:avLst/>
          </a:prstGeom>
        </p:spPr>
      </p:pic>
      <p:sp>
        <p:nvSpPr>
          <p:cNvPr id="42" name="Text 29"/>
          <p:cNvSpPr txBox="1"/>
          <p:nvPr/>
        </p:nvSpPr>
        <p:spPr>
          <a:xfrm>
            <a:off x="9464040" y="3497580"/>
            <a:ext cx="199339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5</a:t>
            </a:r>
            <a:endParaRPr lang="en-US" sz="1400" dirty="0"/>
          </a:p>
          <a:p>
            <a:pPr algn="ctr" indent="0" marL="0">
              <a:buNone/>
            </a:pPr>
            <a:r>
              <a:rPr lang="en-US" sz="1300" dirty="0">
                <a:solidFill>
                  <a:schemeClr val="accent2"/>
                </a:solidFill>
              </a:rPr>
              <a:t>Pantallas de la app</a:t>
            </a:r>
            <a:endParaRPr lang="en-US" sz="1400" dirty="0"/>
          </a:p>
          <a:p>
            <a:pPr algn="ctr" indent="0" marL="0">
              <a:buNone/>
            </a:pPr>
            <a:r>
              <a:rPr lang="en-US" sz="1100" i="1" dirty="0">
                <a:solidFill>
                  <a:schemeClr val="accent2"/>
                </a:solidFill>
              </a:rPr>
              <a:t>Prompt en las notas del orador</a:t>
            </a:r>
            <a:endParaRPr lang="en-US" sz="1400" dirty="0"/>
          </a:p>
        </p:txBody>
      </p:sp>
      <p:sp>
        <p:nvSpPr>
          <p:cNvPr id="43" name="Shape 30"/>
          <p:cNvSpPr/>
          <p:nvPr/>
        </p:nvSpPr>
        <p:spPr>
          <a:xfrm>
            <a:off x="548640" y="5669280"/>
            <a:ext cx="11091672" cy="548640"/>
          </a:xfrm>
          <a:prstGeom prst="roundRect">
            <a:avLst>
              <a:gd name="adj" fmla="val 50000"/>
            </a:avLst>
          </a:prstGeom>
          <a:solidFill>
            <a:schemeClr val="accent1"/>
          </a:solidFill>
          <a:ln w="12700">
            <a:solidFill>
              <a:schemeClr val="accent1"/>
            </a:solidFill>
            <a:prstDash val="solid"/>
          </a:ln>
        </p:spPr>
      </p:sp>
      <p:sp>
        <p:nvSpPr>
          <p:cNvPr id="44" name="Text 31"/>
          <p:cNvSpPr txBox="1"/>
          <p:nvPr/>
        </p:nvSpPr>
        <p:spPr>
          <a:xfrm>
            <a:off x="822960" y="5669280"/>
            <a:ext cx="10607040" cy="548640"/>
          </a:xfrm>
          <a:prstGeom prst="rect">
            <a:avLst/>
          </a:prstGeom>
          <a:noFill/>
          <a:ln/>
        </p:spPr>
        <p:txBody>
          <a:bodyPr wrap="square" lIns="0" tIns="0" rIns="0" bIns="0" rtlCol="0" anchor="ctr"/>
          <a:lstStyle/>
          <a:p>
            <a:pPr indent="0" marL="0">
              <a:buNone/>
            </a:pPr>
            <a:r>
              <a:rPr lang="en-US" sz="1500" b="1" dirty="0">
                <a:solidFill>
                  <a:schemeClr val="bg1"/>
                </a:solidFill>
              </a:rPr>
              <a:t>Cumple la Ley 30021: </a:t>
            </a:r>
            <a:pPr indent="0" marL="0">
              <a:buNone/>
            </a:pPr>
            <a:r>
              <a:rPr lang="en-US" sz="1500" dirty="0">
                <a:solidFill>
                  <a:schemeClr val="bg1"/>
                </a:solidFill>
              </a:rPr>
              <a:t>en el modo niño no hay compras, ni publicidad, ni premios por comprar.</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Del stand a la recompra, con la app en el medio</a:t>
            </a:r>
            <a:endParaRPr lang="en-US" sz="3400" dirty="0"/>
          </a:p>
        </p:txBody>
      </p:sp>
      <p:sp>
        <p:nvSpPr>
          <p:cNvPr id="4" name="Shape 2"/>
          <p:cNvSpPr/>
          <p:nvPr/>
        </p:nvSpPr>
        <p:spPr>
          <a:xfrm>
            <a:off x="1600200" y="1965960"/>
            <a:ext cx="1207008" cy="0"/>
          </a:xfrm>
          <a:prstGeom prst="line">
            <a:avLst/>
          </a:prstGeom>
          <a:noFill/>
          <a:ln w="25400">
            <a:solidFill>
              <a:schemeClr val="accent5"/>
            </a:solidFill>
            <a:prstDash val="dash"/>
            <a:tailEnd type="triangle"/>
          </a:ln>
        </p:spPr>
      </p:sp>
      <p:sp>
        <p:nvSpPr>
          <p:cNvPr id="5" name="Shape 3"/>
          <p:cNvSpPr/>
          <p:nvPr/>
        </p:nvSpPr>
        <p:spPr>
          <a:xfrm>
            <a:off x="548640" y="150876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709928"/>
            <a:ext cx="512064" cy="512064"/>
          </a:xfrm>
          <a:prstGeom prst="rect">
            <a:avLst/>
          </a:prstGeom>
        </p:spPr>
      </p:pic>
      <p:sp>
        <p:nvSpPr>
          <p:cNvPr id="7" name="Text 4"/>
          <p:cNvSpPr txBox="1"/>
          <p:nvPr/>
        </p:nvSpPr>
        <p:spPr>
          <a:xfrm>
            <a:off x="548640"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Compra en el stand</a:t>
            </a:r>
            <a:endParaRPr lang="en-US" sz="1600" dirty="0"/>
          </a:p>
        </p:txBody>
      </p:sp>
      <p:sp>
        <p:nvSpPr>
          <p:cNvPr id="8" name="Shape 5"/>
          <p:cNvSpPr/>
          <p:nvPr/>
        </p:nvSpPr>
        <p:spPr>
          <a:xfrm>
            <a:off x="3858768" y="1965960"/>
            <a:ext cx="1207008" cy="0"/>
          </a:xfrm>
          <a:prstGeom prst="line">
            <a:avLst/>
          </a:prstGeom>
          <a:noFill/>
          <a:ln w="25400">
            <a:solidFill>
              <a:schemeClr val="accent5"/>
            </a:solidFill>
            <a:prstDash val="dash"/>
            <a:tailEnd type="triangle"/>
          </a:ln>
        </p:spPr>
      </p:sp>
      <p:sp>
        <p:nvSpPr>
          <p:cNvPr id="9" name="Shape 6"/>
          <p:cNvSpPr/>
          <p:nvPr/>
        </p:nvSpPr>
        <p:spPr>
          <a:xfrm>
            <a:off x="2807208" y="1508760"/>
            <a:ext cx="914400" cy="914400"/>
          </a:xfrm>
          <a:prstGeom prst="ellipse">
            <a:avLst/>
          </a:prstGeom>
          <a:solidFill>
            <a:schemeClr val="tx2"/>
          </a:solidFill>
          <a:ln w="12700">
            <a:solidFill>
              <a:schemeClr val="tx2"/>
            </a:solidFill>
            <a:prstDash val="solid"/>
          </a:ln>
        </p:spPr>
      </p:sp>
      <p:pic>
        <p:nvPicPr>
          <p:cNvPr id="10" name="Image 1" descr="preencoded.png">    </p:cNvPr>
          <p:cNvPicPr>
            <a:picLocks noChangeAspect="1"/>
          </p:cNvPicPr>
          <p:nvPr/>
        </p:nvPicPr>
        <p:blipFill>
          <a:blip r:embed="rId2"/>
          <a:stretch>
            <a:fillRect/>
          </a:stretch>
        </p:blipFill>
        <p:spPr>
          <a:xfrm>
            <a:off x="3008376" y="1709928"/>
            <a:ext cx="512064" cy="512064"/>
          </a:xfrm>
          <a:prstGeom prst="rect">
            <a:avLst/>
          </a:prstGeom>
        </p:spPr>
      </p:pic>
      <p:sp>
        <p:nvSpPr>
          <p:cNvPr id="11" name="Text 7"/>
          <p:cNvSpPr txBox="1"/>
          <p:nvPr/>
        </p:nvSpPr>
        <p:spPr>
          <a:xfrm>
            <a:off x="2807208"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Escanea el QR</a:t>
            </a:r>
            <a:endParaRPr lang="en-US" sz="1600" dirty="0"/>
          </a:p>
        </p:txBody>
      </p:sp>
      <p:sp>
        <p:nvSpPr>
          <p:cNvPr id="12" name="Shape 8"/>
          <p:cNvSpPr/>
          <p:nvPr/>
        </p:nvSpPr>
        <p:spPr>
          <a:xfrm>
            <a:off x="6117336" y="1965960"/>
            <a:ext cx="1207008" cy="0"/>
          </a:xfrm>
          <a:prstGeom prst="line">
            <a:avLst/>
          </a:prstGeom>
          <a:noFill/>
          <a:ln w="25400">
            <a:solidFill>
              <a:schemeClr val="accent5"/>
            </a:solidFill>
            <a:prstDash val="dash"/>
            <a:tailEnd type="triangle"/>
          </a:ln>
        </p:spPr>
      </p:sp>
      <p:sp>
        <p:nvSpPr>
          <p:cNvPr id="13" name="Shape 9"/>
          <p:cNvSpPr/>
          <p:nvPr/>
        </p:nvSpPr>
        <p:spPr>
          <a:xfrm>
            <a:off x="5065776" y="1508760"/>
            <a:ext cx="914400" cy="914400"/>
          </a:xfrm>
          <a:prstGeom prst="ellipse">
            <a:avLst/>
          </a:prstGeom>
          <a:solidFill>
            <a:schemeClr val="accent1"/>
          </a:solidFill>
          <a:ln w="12700">
            <a:solidFill>
              <a:schemeClr val="accent1"/>
            </a:solidFill>
            <a:prstDash val="solid"/>
          </a:ln>
        </p:spPr>
      </p:sp>
      <p:pic>
        <p:nvPicPr>
          <p:cNvPr id="14" name="Image 2" descr="preencoded.png">    </p:cNvPr>
          <p:cNvPicPr>
            <a:picLocks noChangeAspect="1"/>
          </p:cNvPicPr>
          <p:nvPr/>
        </p:nvPicPr>
        <p:blipFill>
          <a:blip r:embed="rId3"/>
          <a:stretch>
            <a:fillRect/>
          </a:stretch>
        </p:blipFill>
        <p:spPr>
          <a:xfrm>
            <a:off x="5266944" y="1709928"/>
            <a:ext cx="512064" cy="512064"/>
          </a:xfrm>
          <a:prstGeom prst="rect">
            <a:avLst/>
          </a:prstGeom>
        </p:spPr>
      </p:pic>
      <p:sp>
        <p:nvSpPr>
          <p:cNvPr id="15" name="Text 10"/>
          <p:cNvSpPr txBox="1"/>
          <p:nvPr/>
        </p:nvSpPr>
        <p:spPr>
          <a:xfrm>
            <a:off x="5065776"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Ve el hierro de su lote</a:t>
            </a:r>
            <a:endParaRPr lang="en-US" sz="1600" dirty="0"/>
          </a:p>
        </p:txBody>
      </p:sp>
      <p:sp>
        <p:nvSpPr>
          <p:cNvPr id="16" name="Shape 11"/>
          <p:cNvSpPr/>
          <p:nvPr/>
        </p:nvSpPr>
        <p:spPr>
          <a:xfrm>
            <a:off x="8375904" y="1965960"/>
            <a:ext cx="1207008" cy="0"/>
          </a:xfrm>
          <a:prstGeom prst="line">
            <a:avLst/>
          </a:prstGeom>
          <a:noFill/>
          <a:ln w="25400">
            <a:solidFill>
              <a:schemeClr val="accent5"/>
            </a:solidFill>
            <a:prstDash val="dash"/>
            <a:tailEnd type="triangle"/>
          </a:ln>
        </p:spPr>
      </p:sp>
      <p:sp>
        <p:nvSpPr>
          <p:cNvPr id="17" name="Shape 12"/>
          <p:cNvSpPr/>
          <p:nvPr/>
        </p:nvSpPr>
        <p:spPr>
          <a:xfrm>
            <a:off x="7324344" y="1508760"/>
            <a:ext cx="914400" cy="91440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7525512" y="1709928"/>
            <a:ext cx="512064" cy="512064"/>
          </a:xfrm>
          <a:prstGeom prst="rect">
            <a:avLst/>
          </a:prstGeom>
        </p:spPr>
      </p:pic>
      <p:sp>
        <p:nvSpPr>
          <p:cNvPr id="19" name="Text 13"/>
          <p:cNvSpPr txBox="1"/>
          <p:nvPr/>
        </p:nvSpPr>
        <p:spPr>
          <a:xfrm>
            <a:off x="7324344"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Usa loncheras y semáforo</a:t>
            </a:r>
            <a:endParaRPr lang="en-US" sz="1600" dirty="0"/>
          </a:p>
        </p:txBody>
      </p:sp>
      <p:sp>
        <p:nvSpPr>
          <p:cNvPr id="20" name="Shape 14"/>
          <p:cNvSpPr/>
          <p:nvPr/>
        </p:nvSpPr>
        <p:spPr>
          <a:xfrm>
            <a:off x="9582912" y="1508760"/>
            <a:ext cx="914400" cy="914400"/>
          </a:xfrm>
          <a:prstGeom prst="ellipse">
            <a:avLst/>
          </a:prstGeom>
          <a:solidFill>
            <a:schemeClr val="tx2"/>
          </a:solidFill>
          <a:ln w="12700">
            <a:solidFill>
              <a:schemeClr val="tx2"/>
            </a:solidFill>
            <a:prstDash val="solid"/>
          </a:ln>
        </p:spPr>
      </p:sp>
      <p:pic>
        <p:nvPicPr>
          <p:cNvPr id="21" name="Image 4" descr="preencoded.png">    </p:cNvPr>
          <p:cNvPicPr>
            <a:picLocks noChangeAspect="1"/>
          </p:cNvPicPr>
          <p:nvPr/>
        </p:nvPicPr>
        <p:blipFill>
          <a:blip r:embed="rId5"/>
          <a:stretch>
            <a:fillRect/>
          </a:stretch>
        </p:blipFill>
        <p:spPr>
          <a:xfrm>
            <a:off x="9784080" y="1709928"/>
            <a:ext cx="512064" cy="512064"/>
          </a:xfrm>
          <a:prstGeom prst="rect">
            <a:avLst/>
          </a:prstGeom>
        </p:spPr>
      </p:pic>
      <p:sp>
        <p:nvSpPr>
          <p:cNvPr id="22" name="Text 15"/>
          <p:cNvSpPr txBox="1"/>
          <p:nvPr/>
        </p:nvSpPr>
        <p:spPr>
          <a:xfrm>
            <a:off x="9582912"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Aviso y recompra</a:t>
            </a:r>
            <a:endParaRPr lang="en-US" sz="1600" dirty="0"/>
          </a:p>
        </p:txBody>
      </p:sp>
      <p:sp>
        <p:nvSpPr>
          <p:cNvPr id="23" name="Shape 16"/>
          <p:cNvSpPr/>
          <p:nvPr/>
        </p:nvSpPr>
        <p:spPr>
          <a:xfrm>
            <a:off x="548640" y="3429000"/>
            <a:ext cx="2615184" cy="1234440"/>
          </a:xfrm>
          <a:prstGeom prst="roundRect">
            <a:avLst>
              <a:gd name="adj" fmla="val 888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24" name="Text 17"/>
          <p:cNvSpPr txBox="1"/>
          <p:nvPr/>
        </p:nvSpPr>
        <p:spPr>
          <a:xfrm>
            <a:off x="777240" y="3429000"/>
            <a:ext cx="2249424" cy="1234440"/>
          </a:xfrm>
          <a:prstGeom prst="rect">
            <a:avLst/>
          </a:prstGeom>
          <a:noFill/>
          <a:ln/>
        </p:spPr>
        <p:txBody>
          <a:bodyPr wrap="square" lIns="0" tIns="0" rIns="0" bIns="0" rtlCol="0" anchor="ctr"/>
          <a:lstStyle/>
          <a:p>
            <a:pPr indent="0" marL="0">
              <a:buNone/>
            </a:pPr>
            <a:r>
              <a:rPr lang="en-US" sz="2800" b="1" dirty="0">
                <a:solidFill>
                  <a:schemeClr val="bg1"/>
                </a:solidFill>
              </a:rPr>
              <a:t>S/6,000</a:t>
            </a:r>
            <a:endParaRPr lang="en-US" sz="1400" dirty="0"/>
          </a:p>
          <a:p>
            <a:pPr indent="0" marL="0">
              <a:buNone/>
            </a:pPr>
            <a:r>
              <a:rPr lang="en-US" sz="1300" dirty="0">
                <a:solidFill>
                  <a:schemeClr val="bg1"/>
                </a:solidFill>
              </a:rPr>
              <a:t>inversión: diseño, desarrollo y pruebas</a:t>
            </a:r>
            <a:endParaRPr lang="en-US" sz="1400" dirty="0"/>
          </a:p>
        </p:txBody>
      </p:sp>
      <p:sp>
        <p:nvSpPr>
          <p:cNvPr id="25" name="Shape 18"/>
          <p:cNvSpPr/>
          <p:nvPr/>
        </p:nvSpPr>
        <p:spPr>
          <a:xfrm>
            <a:off x="3374136"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Text 19"/>
          <p:cNvSpPr txBox="1"/>
          <p:nvPr/>
        </p:nvSpPr>
        <p:spPr>
          <a:xfrm>
            <a:off x="3602736"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S/250</a:t>
            </a:r>
            <a:endParaRPr lang="en-US" sz="1400" dirty="0"/>
          </a:p>
          <a:p>
            <a:pPr indent="0" marL="0">
              <a:buNone/>
            </a:pPr>
            <a:r>
              <a:rPr lang="en-US" sz="1300" dirty="0">
                <a:solidFill>
                  <a:schemeClr val="accent2"/>
                </a:solidFill>
              </a:rPr>
              <a:t>al mes: servidor, IA y mantenimiento</a:t>
            </a:r>
            <a:endParaRPr lang="en-US" sz="1400" dirty="0"/>
          </a:p>
        </p:txBody>
      </p:sp>
      <p:sp>
        <p:nvSpPr>
          <p:cNvPr id="27" name="Shape 20"/>
          <p:cNvSpPr/>
          <p:nvPr/>
        </p:nvSpPr>
        <p:spPr>
          <a:xfrm>
            <a:off x="6199632"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Text 21"/>
          <p:cNvSpPr txBox="1"/>
          <p:nvPr/>
        </p:nvSpPr>
        <p:spPr>
          <a:xfrm>
            <a:off x="6428232"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S/0.04</a:t>
            </a:r>
            <a:endParaRPr lang="en-US" sz="1400" dirty="0"/>
          </a:p>
          <a:p>
            <a:pPr indent="0" marL="0">
              <a:buNone/>
            </a:pPr>
            <a:r>
              <a:rPr lang="en-US" sz="1300" dirty="0">
                <a:solidFill>
                  <a:schemeClr val="accent2"/>
                </a:solidFill>
              </a:rPr>
              <a:t>por código único impreso</a:t>
            </a:r>
            <a:endParaRPr lang="en-US" sz="1400" dirty="0"/>
          </a:p>
        </p:txBody>
      </p:sp>
      <p:sp>
        <p:nvSpPr>
          <p:cNvPr id="29" name="Shape 22"/>
          <p:cNvSpPr/>
          <p:nvPr/>
        </p:nvSpPr>
        <p:spPr>
          <a:xfrm>
            <a:off x="9025128"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Text 23"/>
          <p:cNvSpPr txBox="1"/>
          <p:nvPr/>
        </p:nvSpPr>
        <p:spPr>
          <a:xfrm>
            <a:off x="9253728"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S/375</a:t>
            </a:r>
            <a:endParaRPr lang="en-US" sz="1400" dirty="0"/>
          </a:p>
          <a:p>
            <a:pPr indent="0" marL="0">
              <a:buNone/>
            </a:pPr>
            <a:r>
              <a:rPr lang="en-US" sz="1300" dirty="0">
                <a:solidFill>
                  <a:schemeClr val="accent2"/>
                </a:solidFill>
              </a:rPr>
              <a:t>análisis de hierro de cada lote</a:t>
            </a:r>
            <a:endParaRPr lang="en-US" sz="1400" dirty="0"/>
          </a:p>
        </p:txBody>
      </p:sp>
      <p:sp>
        <p:nvSpPr>
          <p:cNvPr id="31" name="Shape 24"/>
          <p:cNvSpPr/>
          <p:nvPr/>
        </p:nvSpPr>
        <p:spPr>
          <a:xfrm>
            <a:off x="548640" y="4846320"/>
            <a:ext cx="6766560" cy="1325880"/>
          </a:xfrm>
          <a:prstGeom prst="roundRect">
            <a:avLst>
              <a:gd name="adj" fmla="val 8276"/>
            </a:avLst>
          </a:prstGeom>
          <a:solidFill>
            <a:schemeClr val="bg2"/>
          </a:solidFill>
          <a:ln w="12700">
            <a:solidFill>
              <a:schemeClr val="bg2"/>
            </a:solidFill>
            <a:prstDash val="solid"/>
          </a:ln>
        </p:spPr>
      </p:sp>
      <p:sp>
        <p:nvSpPr>
          <p:cNvPr id="32" name="Text 25"/>
          <p:cNvSpPr txBox="1"/>
          <p:nvPr/>
        </p:nvSpPr>
        <p:spPr>
          <a:xfrm>
            <a:off x="777240" y="4846320"/>
            <a:ext cx="6400800" cy="1325880"/>
          </a:xfrm>
          <a:prstGeom prst="rect">
            <a:avLst/>
          </a:prstGeom>
          <a:noFill/>
          <a:ln/>
        </p:spPr>
        <p:txBody>
          <a:bodyPr wrap="square" lIns="0" tIns="0" rIns="0" bIns="0" rtlCol="0" anchor="ctr"/>
          <a:lstStyle/>
          <a:p>
            <a:pPr indent="0" marL="0">
              <a:buNone/>
            </a:pPr>
            <a:r>
              <a:rPr lang="en-US" sz="1500" b="1" dirty="0">
                <a:solidFill>
                  <a:schemeClr val="tx2"/>
                </a:solidFill>
              </a:rPr>
              <a:t>Tecnología</a:t>
            </a:r>
            <a:endParaRPr lang="en-US" sz="1400" dirty="0"/>
          </a:p>
          <a:p>
            <a:pPr indent="0" marL="0">
              <a:buNone/>
            </a:pPr>
            <a:r>
              <a:rPr lang="en-US" sz="1400" dirty="0">
                <a:solidFill>
                  <a:schemeClr val="tx1"/>
                </a:solidFill>
              </a:rPr>
              <a:t>App web instalable (PWA) · servidor en Google Cloud Run · plan de loncheras con IA de Gemini · funciona sin conexión</a:t>
            </a:r>
            <a:endParaRPr lang="en-US" sz="1400" dirty="0"/>
          </a:p>
        </p:txBody>
      </p:sp>
      <p:sp>
        <p:nvSpPr>
          <p:cNvPr id="33" name="Shape 26"/>
          <p:cNvSpPr/>
          <p:nvPr/>
        </p:nvSpPr>
        <p:spPr>
          <a:xfrm>
            <a:off x="7498080" y="4846320"/>
            <a:ext cx="4142232"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34" name="Text 27"/>
          <p:cNvSpPr txBox="1"/>
          <p:nvPr/>
        </p:nvSpPr>
        <p:spPr>
          <a:xfrm>
            <a:off x="7726680" y="4846320"/>
            <a:ext cx="3749040" cy="1325880"/>
          </a:xfrm>
          <a:prstGeom prst="rect">
            <a:avLst/>
          </a:prstGeom>
          <a:noFill/>
          <a:ln/>
        </p:spPr>
        <p:txBody>
          <a:bodyPr wrap="square" lIns="0" tIns="0" rIns="0" bIns="0" rtlCol="0" anchor="ctr"/>
          <a:lstStyle/>
          <a:p>
            <a:pPr indent="0" marL="0">
              <a:buNone/>
            </a:pPr>
            <a:r>
              <a:rPr lang="en-US" sz="1700" b="1" dirty="0">
                <a:solidFill>
                  <a:schemeClr val="accent3"/>
                </a:solidFill>
              </a:rPr>
              <a:t>30 % de envases escaneados</a:t>
            </a:r>
            <a:endParaRPr lang="en-US" sz="1400" dirty="0"/>
          </a:p>
          <a:p>
            <a:pPr indent="0" marL="0">
              <a:buNone/>
            </a:pPr>
            <a:r>
              <a:rPr lang="en-US" sz="1300" dirty="0">
                <a:solidFill>
                  <a:schemeClr val="bg1"/>
                </a:solidFill>
              </a:rPr>
              <a:t>Meta del año 1. La mitad de la recompra llega desde el aviso de la app.</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Algo más que Fika, con hierro medido y app propia</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399032"/>
                <a:gridCol w="800100"/>
                <a:gridCol w="800100"/>
                <a:gridCol w="800100"/>
                <a:gridCol w="800100"/>
              </a:tblGrid>
              <a:tr h="411480">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AndiBite</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rPr>
                        <a:t>Nutri H</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Fika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Mamalama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Hierro medido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App propia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Varios sabores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Delivery</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Formato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Meta,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S/4.48 por brownie</a:t>
            </a:r>
            <a:endParaRPr lang="en-US" sz="1400" dirty="0"/>
          </a:p>
          <a:p>
            <a:pPr indent="0" marL="0">
              <a:buNone/>
            </a:pPr>
            <a:r>
              <a:rPr lang="en-US" sz="1400" dirty="0">
                <a:solidFill>
                  <a:schemeClr val="bg1"/>
                </a:solidFill>
              </a:rPr>
              <a:t>Por WhatsApp; S/4.65 en el stand. 12 % más que Fika, con hierro medido por lote y la app Andi.</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hierro medido por lote y la app Andi, que acompaña a la familia.</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24028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Cargar el focus 2</a:t>
            </a:r>
            <a:endParaRPr lang="en-US" sz="1300" dirty="0"/>
          </a:p>
        </p:txBody>
      </p:sp>
      <p:sp>
        <p:nvSpPr>
          <p:cNvPr id="9" name="Shape 7"/>
          <p:cNvSpPr/>
          <p:nvPr/>
        </p:nvSpPr>
        <p:spPr>
          <a:xfrm>
            <a:off x="3063240" y="5440680"/>
            <a:ext cx="224028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6324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Cotizar polvo y stands</a:t>
            </a:r>
            <a:endParaRPr lang="en-US" sz="1300" dirty="0"/>
          </a:p>
        </p:txBody>
      </p:sp>
      <p:sp>
        <p:nvSpPr>
          <p:cNvPr id="11" name="Shape 9"/>
          <p:cNvSpPr/>
          <p:nvPr/>
        </p:nvSpPr>
        <p:spPr>
          <a:xfrm>
            <a:off x="5394960" y="5440680"/>
            <a:ext cx="224028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9496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Probar la app con familias</a:t>
            </a:r>
            <a:endParaRPr lang="en-US" sz="13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2026-10-10T01:39:33Z</dcterms:created>
  <dcterms:modified xsi:type="dcterms:W3CDTF">2026-10-10T01:39:33Z</dcterms:modified>
</cp:coreProperties>
</file>