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5.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6.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9.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0.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charts/chart11.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9f06238e-bae5-77e5-bbb9-fbbed74f096b}">
          <p14:sldIdLst>
            <p14:sldId id="256"/>
            <p14:sldId id="257"/>
          </p14:sldIdLst>
        </p14:section>
        <p14:section name="TC5 · Cliente, mercado y canal" id="{76ca459e-9410-98a4-c60e-0c7d210f1868}">
          <p14:sldIdLst>
            <p14:sldId id="258"/>
            <p14:sldId id="259"/>
            <p14:sldId id="260"/>
            <p14:sldId id="261"/>
            <p14:sldId id="262"/>
            <p14:sldId id="263"/>
            <p14:sldId id="264"/>
            <p14:sldId id="265"/>
            <p14:sldId id="266"/>
            <p14:sldId id="267"/>
          </p14:sldIdLst>
        </p14:section>
        <p14:section name="TC6 · Relación e ingresos" id="{e56c48f2-4a9d-c768-94e3-f752d3fd75ed}">
          <p14:sldIdLst>
            <p14:sldId id="268"/>
            <p14:sldId id="269"/>
            <p14:sldId id="270"/>
            <p14:sldId id="271"/>
            <p14:sldId id="272"/>
          </p14:sldIdLst>
        </p14:section>
        <p14:section name="TC7 · Canvas" id="{78d57c94-d486-6f97-9ae1-e924219b8c6d}">
          <p14:sldIdLst>
            <p14:sldId id="273"/>
            <p14:sldId id="274"/>
            <p14:sldId id="275"/>
            <p14:sldId id="276"/>
            <p14:sldId id="277"/>
            <p14:sldId id="278"/>
            <p14:sldId id="279"/>
            <p14:sldId id="280"/>
            <p14:sldId id="281"/>
            <p14:sldId id="282"/>
          </p14:sldIdLst>
        </p14:section>
        <p14:section name="TC8 · Propuesta de valor" id="{dd8e6ed5-dab8-70cb-d3ae-a259cf5b9074}">
          <p14:sldIdLst>
            <p14:sldId id="283"/>
            <p14:sldId id="284"/>
            <p14:sldId id="285"/>
            <p14:sldId id="286"/>
            <p14:sldId id="287"/>
            <p14:sldId id="288"/>
            <p14:sldId id="289"/>
          </p14:sldIdLst>
        </p14:section>
        <p14:section name="Cierre" id="{609ce8b3-dd19-989b-dadc-0a2601b7ce1e}">
          <p14:sldIdLst>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4A2018"/>
                </a:solidFill>
                <a:latin typeface="+mn-lt"/>
              </a:defRPr>
            </a:pPr>
            <a:r>
              <a:rPr sz="1500" b="1" i="0" u="none" strike="noStrike">
                <a:solidFill>
                  <a:srgbClr val="4A2018"/>
                </a:solidFill>
                <a:latin typeface="+mn-lt"/>
              </a:rPr>
              <a:t>Unidades del año 1 por canal</a:t>
            </a:r>
          </a:p>
        </c:rich>
      </c:tx>
      <c:layout/>
      <c:overlay val="0"/>
    </c:title>
    <c:autoTitleDeleted val="0"/>
    <c:plotArea>
      <c:layout/>
      <c:doughnutChart>
        <c:varyColors val="1"/>
        <c:ser>
          <c:idx val="0"/>
          <c:order val="0"/>
          <c:tx>
            <c:strRef>
              <c:f>Sheet1!$B$1</c:f>
              <c:strCache>
                <c:ptCount val="1"/>
                <c:pt idx="0">
                  <c:v>Unidades</c:v>
                </c:pt>
              </c:strCache>
            </c:strRef>
          </c:tx>
          <c:spPr>
            <a:solidFill>
              <a:schemeClr val="accent1"/>
            </a:solidFill>
            <a:ln w="9525" cap="flat">
              <a:solidFill>
                <a:srgbClr val="F9F9F9"/>
              </a:solidFill>
              <a:prstDash val="solid"/>
              <a:round/>
            </a:ln>
            <a:effectLst/>
          </c:spPr>
          <c:dPt>
            <c:idx val="0"/>
            <c:bubble3D val="0"/>
            <c:spPr>
              <a:solidFill>
                <a:srgbClr val="BA4036"/>
              </a:solidFill>
              <a:effectLst/>
            </c:spPr>
          </c:dPt>
          <c:dPt>
            <c:idx val="1"/>
            <c:bubble3D val="0"/>
            <c:spPr>
              <a:solidFill>
                <a:srgbClr val="6B3A2A"/>
              </a:solidFill>
              <a:effectLst/>
            </c:spPr>
          </c:dPt>
          <c:dPt>
            <c:idx val="2"/>
            <c:bubble3D val="0"/>
            <c:spPr>
              <a:solidFill>
                <a:srgbClr val="E3A33B"/>
              </a:solidFill>
              <a:effectLst/>
            </c:spPr>
          </c:dPt>
          <c:dPt>
            <c:idx val="3"/>
            <c:bubble3D val="0"/>
            <c:spPr>
              <a:solidFill>
                <a:srgbClr val="7C8A3A"/>
              </a:solidFill>
              <a:effectLst/>
            </c:spPr>
          </c:dPt>
          <c:dPt>
            <c:idx val="4"/>
            <c:bubble3D val="0"/>
            <c:spPr>
              <a:solidFill>
                <a:srgbClr val="D9B48F"/>
              </a:solidFill>
              <a:effectLst/>
            </c:spPr>
          </c:dPt>
          <c:dLbls>
            <c:dLbl>
              <c:idx val="0"/>
              <c:numFmt formatCode="0%" sourceLinked="0"/>
              <c:spPr/>
              <c:txPr>
                <a:bodyPr/>
                <a:lstStyle/>
                <a:p>
                  <a:pPr>
                    <a:defRPr sz="1300" b="1"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300" b="1"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300" b="1" i="0" u="none" strike="noStrike">
                      <a:solidFill>
                        <a:srgbClr val="FFFFFF"/>
                      </a:solidFill>
                      <a:latin typeface="+mn-lt"/>
                    </a:defRPr>
                  </a:pPr>
                </a:p>
              </c:txPr>
              <c:showLegendKey val="0"/>
              <c:showVal val="0"/>
              <c:showCatName val="0"/>
              <c:showSerName val="0"/>
              <c:showPercent val="1"/>
              <c:showBubbleSize val="0"/>
            </c:dLbl>
            <c:dLbl>
              <c:idx val="3"/>
              <c:numFmt formatCode="0%" sourceLinked="0"/>
              <c:spPr/>
              <c:txPr>
                <a:bodyPr/>
                <a:lstStyle/>
                <a:p>
                  <a:pPr>
                    <a:defRPr sz="1300" b="1" i="0" u="none" strike="noStrike">
                      <a:solidFill>
                        <a:srgbClr val="FFFFFF"/>
                      </a:solidFill>
                      <a:latin typeface="+mn-lt"/>
                    </a:defRPr>
                  </a:pPr>
                </a:p>
              </c:txPr>
              <c:showLegendKey val="0"/>
              <c:showVal val="0"/>
              <c:showCatName val="0"/>
              <c:showSerName val="0"/>
              <c:showPercent val="1"/>
              <c:showBubbleSize val="0"/>
            </c:dLbl>
            <c:dLbl>
              <c:idx val="4"/>
              <c:numFmt formatCode="0%" sourceLinked="0"/>
              <c:spPr/>
              <c:txPr>
                <a:bodyPr/>
                <a:lstStyle/>
                <a:p>
                  <a:pPr>
                    <a:defRPr sz="1300" b="1"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Stands y carritos</c:v>
                </c:pt>
                <c:pt idx="1">
                  <c:v>WhatsApp (recompra)</c:v>
                </c:pt>
                <c:pt idx="2">
                  <c:v>Ferias y eventos</c:v>
                </c:pt>
                <c:pt idx="3">
                  <c:v>Quioscos escolares</c:v>
                </c:pt>
                <c:pt idx="4">
                  <c:v>Tiendas naturistas</c:v>
                </c:pt>
              </c:strCache>
            </c:strRef>
          </c:cat>
          <c:val>
            <c:numRef>
              <c:f>Sheet1!$B$2:$B$6</c:f>
              <c:numCache>
                <c:ptCount val="5"/>
                <c:pt idx="0">
                  <c:v>22625</c:v>
                </c:pt>
                <c:pt idx="1">
                  <c:v>9421</c:v>
                </c:pt>
                <c:pt idx="2">
                  <c:v>7400</c:v>
                </c:pt>
                <c:pt idx="3">
                  <c:v>9165</c:v>
                </c:pt>
                <c:pt idx="4">
                  <c:v>3720</c:v>
                </c:pt>
              </c:numCache>
            </c:numRef>
          </c:val>
        </c:ser>
        <c:firstSliceAng val="0"/>
        <c:holeSize val="55"/>
      </c:doughnutChart>
      <c:spPr>
        <a:noFill/>
        <a:ln>
          <a:noFill/>
        </a:ln>
        <a:effectLst/>
      </c:spPr>
    </c:plotArea>
    <c:legend>
      <c:legendPos val="b"/>
      <c:overlay val="0"/>
      <c:txPr>
        <a:bodyPr/>
        <a:lstStyle/>
        <a:p>
          <a:pPr>
            <a:defRPr sz="1200">
              <a:solidFill>
                <a:srgbClr val="6B3A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4A2018"/>
                </a:solidFill>
                <a:latin typeface="+mn-lt"/>
              </a:defRPr>
            </a:pPr>
            <a:r>
              <a:rPr sz="1500" b="1" i="0" u="none" strike="noStrike">
                <a:solidFill>
                  <a:srgbClr val="4A2018"/>
                </a:solidFill>
                <a:latin typeface="+mn-lt"/>
              </a:rPr>
              <a:t>Brownies vendidos al mes por canal (enero a diciembre de 2027)</a:t>
            </a:r>
          </a:p>
        </c:rich>
      </c:tx>
      <c:layout/>
      <c:overlay val="0"/>
    </c:title>
    <c:autoTitleDeleted val="0"/>
    <c:plotArea>
      <c:layout/>
      <c:barChart>
        <c:barDir val="col"/>
        <c:grouping val="stacked"/>
        <c:varyColors val="0"/>
        <c:ser>
          <c:idx val="0"/>
          <c:order val="0"/>
          <c:tx>
            <c:strRef>
              <c:f>Sheet1!$B$1</c:f>
              <c:strCache>
                <c:ptCount val="1"/>
                <c:pt idx="0">
                  <c:v>Stands y carritos</c:v>
                </c:pt>
              </c:strCache>
            </c:strRef>
          </c:tx>
          <c:spPr>
            <a:solidFill>
              <a:srgbClr val="BA4036"/>
            </a:solidFill>
            <a:effectLst/>
          </c:spPr>
          <c:invertIfNegative val="0"/>
          <c:dLbls>
            <c:numFmt formatCode="#,##0" sourceLinked="0"/>
            <c:txPr>
              <a:bodyPr/>
              <a:lstStyle/>
              <a:p>
                <a:pPr>
                  <a:defRPr b="0" i="0" strike="noStrike" sz="1200" u="none">
                    <a:solidFill>
                      <a:srgbClr val="3B1A14"/>
                    </a:solidFill>
                    <a:latin typeface="+mn-lt"/>
                  </a:defRPr>
                </a:pPr>
              </a:p>
            </c:txPr>
            <c:showLegendKey val="0"/>
            <c:showVal val="0"/>
            <c:showCatName val="0"/>
            <c:showSerName val="0"/>
            <c:showPercent val="0"/>
            <c:showBubbleSize val="0"/>
            <c:showLeaderLines val="0"/>
          </c:dLbls>
          <c:cat>
            <c:multiLvlStrRef>
              <c:f>Sheet1!$A$2:$A$13</c:f>
              <c:multiLvlStrCache>
                <c:ptCount val="12"/>
                <c:lvl>
                  <c:pt idx="0">
                    <c:v>Ene</c:v>
                  </c:pt>
                  <c:pt idx="1">
                    <c:v>Feb</c:v>
                  </c:pt>
                  <c:pt idx="2">
                    <c:v>Mar</c:v>
                  </c:pt>
                  <c:pt idx="3">
                    <c:v>Abr</c:v>
                  </c:pt>
                  <c:pt idx="4">
                    <c:v>May</c:v>
                  </c:pt>
                  <c:pt idx="5">
                    <c:v>Jun</c:v>
                  </c:pt>
                  <c:pt idx="6">
                    <c:v>Jul</c:v>
                  </c:pt>
                  <c:pt idx="7">
                    <c:v>Ago</c:v>
                  </c:pt>
                  <c:pt idx="8">
                    <c:v>Set</c:v>
                  </c:pt>
                  <c:pt idx="9">
                    <c:v>Oct</c:v>
                  </c:pt>
                  <c:pt idx="10">
                    <c:v>Nov</c:v>
                  </c:pt>
                  <c:pt idx="11">
                    <c:v>Dic</c:v>
                  </c:pt>
                </c:lvl>
              </c:multiLvlStrCache>
            </c:multiLvlStrRef>
          </c:cat>
          <c:val>
            <c:numRef>
              <c:f>Sheet1!$B$2:$B$13</c:f>
              <c:numCache>
                <c:formatCode>General</c:formatCode>
                <c:ptCount val="12"/>
                <c:pt idx="0">
                  <c:v>450</c:v>
                </c:pt>
                <c:pt idx="1">
                  <c:v>1440</c:v>
                </c:pt>
                <c:pt idx="2">
                  <c:v>1800</c:v>
                </c:pt>
                <c:pt idx="3">
                  <c:v>1440</c:v>
                </c:pt>
                <c:pt idx="4">
                  <c:v>1530</c:v>
                </c:pt>
                <c:pt idx="5">
                  <c:v>1440</c:v>
                </c:pt>
                <c:pt idx="6">
                  <c:v>1700</c:v>
                </c:pt>
                <c:pt idx="7">
                  <c:v>2295</c:v>
                </c:pt>
                <c:pt idx="8">
                  <c:v>2430</c:v>
                </c:pt>
                <c:pt idx="9">
                  <c:v>2430</c:v>
                </c:pt>
                <c:pt idx="10">
                  <c:v>2430</c:v>
                </c:pt>
                <c:pt idx="11">
                  <c:v>3240</c:v>
                </c:pt>
              </c:numCache>
            </c:numRef>
          </c:val>
        </c:ser>
        <c:ser>
          <c:idx val="1"/>
          <c:order val="1"/>
          <c:tx>
            <c:strRef>
              <c:f>Sheet1!$C$1</c:f>
              <c:strCache>
                <c:ptCount val="1"/>
                <c:pt idx="0">
                  <c:v>Ferias y eventos</c:v>
                </c:pt>
              </c:strCache>
            </c:strRef>
          </c:tx>
          <c:spPr>
            <a:solidFill>
              <a:srgbClr val="E3A33B"/>
            </a:solidFill>
            <a:effectLst/>
          </c:spPr>
          <c:invertIfNegative val="0"/>
          <c:dLbls>
            <c:numFmt formatCode="#,##0" sourceLinked="0"/>
            <c:txPr>
              <a:bodyPr/>
              <a:lstStyle/>
              <a:p>
                <a:pPr>
                  <a:defRPr b="0" i="0" strike="noStrike" sz="1200" u="none">
                    <a:solidFill>
                      <a:srgbClr val="3B1A14"/>
                    </a:solidFill>
                    <a:latin typeface="+mn-lt"/>
                  </a:defRPr>
                </a:pPr>
              </a:p>
            </c:txPr>
            <c:showLegendKey val="0"/>
            <c:showVal val="0"/>
            <c:showCatName val="0"/>
            <c:showSerName val="0"/>
            <c:showPercent val="0"/>
            <c:showBubbleSize val="0"/>
            <c:showLeaderLines val="0"/>
          </c:dLbls>
          <c:cat>
            <c:multiLvlStrRef>
              <c:f>Sheet1!$A$2:$A$13</c:f>
              <c:multiLvlStrCache>
                <c:ptCount val="12"/>
                <c:lvl>
                  <c:pt idx="0">
                    <c:v>Ene</c:v>
                  </c:pt>
                  <c:pt idx="1">
                    <c:v>Feb</c:v>
                  </c:pt>
                  <c:pt idx="2">
                    <c:v>Mar</c:v>
                  </c:pt>
                  <c:pt idx="3">
                    <c:v>Abr</c:v>
                  </c:pt>
                  <c:pt idx="4">
                    <c:v>May</c:v>
                  </c:pt>
                  <c:pt idx="5">
                    <c:v>Jun</c:v>
                  </c:pt>
                  <c:pt idx="6">
                    <c:v>Jul</c:v>
                  </c:pt>
                  <c:pt idx="7">
                    <c:v>Ago</c:v>
                  </c:pt>
                  <c:pt idx="8">
                    <c:v>Set</c:v>
                  </c:pt>
                  <c:pt idx="9">
                    <c:v>Oct</c:v>
                  </c:pt>
                  <c:pt idx="10">
                    <c:v>Nov</c:v>
                  </c:pt>
                  <c:pt idx="11">
                    <c:v>Dic</c:v>
                  </c:pt>
                </c:lvl>
              </c:multiLvlStrCache>
            </c:multiLvlStrRef>
          </c:cat>
          <c:val>
            <c:numRef>
              <c:f>Sheet1!$C$2:$C$13</c:f>
              <c:numCache>
                <c:formatCode>General</c:formatCode>
                <c:ptCount val="12"/>
                <c:pt idx="0">
                  <c:v>150</c:v>
                </c:pt>
                <c:pt idx="1">
                  <c:v>1000</c:v>
                </c:pt>
                <c:pt idx="2">
                  <c:v>600</c:v>
                </c:pt>
                <c:pt idx="3">
                  <c:v>1300</c:v>
                </c:pt>
                <c:pt idx="4">
                  <c:v>750</c:v>
                </c:pt>
                <c:pt idx="5">
                  <c:v>600</c:v>
                </c:pt>
                <c:pt idx="6">
                  <c:v>450</c:v>
                </c:pt>
                <c:pt idx="7">
                  <c:v>600</c:v>
                </c:pt>
                <c:pt idx="8">
                  <c:v>600</c:v>
                </c:pt>
                <c:pt idx="9">
                  <c:v>600</c:v>
                </c:pt>
                <c:pt idx="10">
                  <c:v>450</c:v>
                </c:pt>
                <c:pt idx="11">
                  <c:v>300</c:v>
                </c:pt>
              </c:numCache>
            </c:numRef>
          </c:val>
        </c:ser>
        <c:ser>
          <c:idx val="2"/>
          <c:order val="2"/>
          <c:tx>
            <c:strRef>
              <c:f>Sheet1!$D$1</c:f>
              <c:strCache>
                <c:ptCount val="1"/>
                <c:pt idx="0">
                  <c:v>WhatsApp</c:v>
                </c:pt>
              </c:strCache>
            </c:strRef>
          </c:tx>
          <c:spPr>
            <a:solidFill>
              <a:srgbClr val="6B3A2A"/>
            </a:solidFill>
            <a:effectLst/>
          </c:spPr>
          <c:invertIfNegative val="0"/>
          <c:dLbls>
            <c:numFmt formatCode="#,##0" sourceLinked="0"/>
            <c:txPr>
              <a:bodyPr/>
              <a:lstStyle/>
              <a:p>
                <a:pPr>
                  <a:defRPr b="0" i="0" strike="noStrike" sz="1200" u="none">
                    <a:solidFill>
                      <a:srgbClr val="3B1A14"/>
                    </a:solidFill>
                    <a:latin typeface="+mn-lt"/>
                  </a:defRPr>
                </a:pPr>
              </a:p>
            </c:txPr>
            <c:showLegendKey val="0"/>
            <c:showVal val="0"/>
            <c:showCatName val="0"/>
            <c:showSerName val="0"/>
            <c:showPercent val="0"/>
            <c:showBubbleSize val="0"/>
            <c:showLeaderLines val="0"/>
          </c:dLbls>
          <c:cat>
            <c:multiLvlStrRef>
              <c:f>Sheet1!$A$2:$A$13</c:f>
              <c:multiLvlStrCache>
                <c:ptCount val="12"/>
                <c:lvl>
                  <c:pt idx="0">
                    <c:v>Ene</c:v>
                  </c:pt>
                  <c:pt idx="1">
                    <c:v>Feb</c:v>
                  </c:pt>
                  <c:pt idx="2">
                    <c:v>Mar</c:v>
                  </c:pt>
                  <c:pt idx="3">
                    <c:v>Abr</c:v>
                  </c:pt>
                  <c:pt idx="4">
                    <c:v>May</c:v>
                  </c:pt>
                  <c:pt idx="5">
                    <c:v>Jun</c:v>
                  </c:pt>
                  <c:pt idx="6">
                    <c:v>Jul</c:v>
                  </c:pt>
                  <c:pt idx="7">
                    <c:v>Ago</c:v>
                  </c:pt>
                  <c:pt idx="8">
                    <c:v>Set</c:v>
                  </c:pt>
                  <c:pt idx="9">
                    <c:v>Oct</c:v>
                  </c:pt>
                  <c:pt idx="10">
                    <c:v>Nov</c:v>
                  </c:pt>
                  <c:pt idx="11">
                    <c:v>Dic</c:v>
                  </c:pt>
                </c:lvl>
              </c:multiLvlStrCache>
            </c:multiLvlStrRef>
          </c:cat>
          <c:val>
            <c:numRef>
              <c:f>Sheet1!$D$2:$D$13</c:f>
              <c:numCache>
                <c:formatCode>General</c:formatCode>
                <c:ptCount val="12"/>
                <c:pt idx="0">
                  <c:v>150</c:v>
                </c:pt>
                <c:pt idx="1">
                  <c:v>210</c:v>
                </c:pt>
                <c:pt idx="2">
                  <c:v>854</c:v>
                </c:pt>
                <c:pt idx="3">
                  <c:v>840</c:v>
                </c:pt>
                <c:pt idx="4">
                  <c:v>959</c:v>
                </c:pt>
                <c:pt idx="5">
                  <c:v>798</c:v>
                </c:pt>
                <c:pt idx="6">
                  <c:v>714</c:v>
                </c:pt>
                <c:pt idx="7">
                  <c:v>753</c:v>
                </c:pt>
                <c:pt idx="8">
                  <c:v>1013</c:v>
                </c:pt>
                <c:pt idx="9">
                  <c:v>1061</c:v>
                </c:pt>
                <c:pt idx="10">
                  <c:v>1061</c:v>
                </c:pt>
                <c:pt idx="11">
                  <c:v>1008</c:v>
                </c:pt>
              </c:numCache>
            </c:numRef>
          </c:val>
        </c:ser>
        <c:ser>
          <c:idx val="3"/>
          <c:order val="3"/>
          <c:tx>
            <c:strRef>
              <c:f>Sheet1!$E$1</c:f>
              <c:strCache>
                <c:ptCount val="1"/>
                <c:pt idx="0">
                  <c:v>Colegios y naturistas</c:v>
                </c:pt>
              </c:strCache>
            </c:strRef>
          </c:tx>
          <c:spPr>
            <a:solidFill>
              <a:srgbClr val="7C8A3A"/>
            </a:solidFill>
            <a:effectLst/>
          </c:spPr>
          <c:invertIfNegative val="0"/>
          <c:dLbls>
            <c:numFmt formatCode="#,##0" sourceLinked="0"/>
            <c:txPr>
              <a:bodyPr/>
              <a:lstStyle/>
              <a:p>
                <a:pPr>
                  <a:defRPr b="0" i="0" strike="noStrike" sz="1200" u="none">
                    <a:solidFill>
                      <a:srgbClr val="3B1A14"/>
                    </a:solidFill>
                    <a:latin typeface="+mn-lt"/>
                  </a:defRPr>
                </a:pPr>
              </a:p>
            </c:txPr>
            <c:showLegendKey val="0"/>
            <c:showVal val="0"/>
            <c:showCatName val="0"/>
            <c:showSerName val="0"/>
            <c:showPercent val="0"/>
            <c:showBubbleSize val="0"/>
            <c:showLeaderLines val="0"/>
          </c:dLbls>
          <c:cat>
            <c:multiLvlStrRef>
              <c:f>Sheet1!$A$2:$A$13</c:f>
              <c:multiLvlStrCache>
                <c:ptCount val="12"/>
                <c:lvl>
                  <c:pt idx="0">
                    <c:v>Ene</c:v>
                  </c:pt>
                  <c:pt idx="1">
                    <c:v>Feb</c:v>
                  </c:pt>
                  <c:pt idx="2">
                    <c:v>Mar</c:v>
                  </c:pt>
                  <c:pt idx="3">
                    <c:v>Abr</c:v>
                  </c:pt>
                  <c:pt idx="4">
                    <c:v>May</c:v>
                  </c:pt>
                  <c:pt idx="5">
                    <c:v>Jun</c:v>
                  </c:pt>
                  <c:pt idx="6">
                    <c:v>Jul</c:v>
                  </c:pt>
                  <c:pt idx="7">
                    <c:v>Ago</c:v>
                  </c:pt>
                  <c:pt idx="8">
                    <c:v>Set</c:v>
                  </c:pt>
                  <c:pt idx="9">
                    <c:v>Oct</c:v>
                  </c:pt>
                  <c:pt idx="10">
                    <c:v>Nov</c:v>
                  </c:pt>
                  <c:pt idx="11">
                    <c:v>Dic</c:v>
                  </c:pt>
                </c:lvl>
              </c:multiLvlStrCache>
            </c:multiLvlStrRef>
          </c:cat>
          <c:val>
            <c:numRef>
              <c:f>Sheet1!$E$2:$E$13</c:f>
              <c:numCache>
                <c:formatCode>General</c:formatCode>
                <c:ptCount val="12"/>
                <c:pt idx="0">
                  <c:v>120</c:v>
                </c:pt>
                <c:pt idx="1">
                  <c:v>180</c:v>
                </c:pt>
                <c:pt idx="2">
                  <c:v>480</c:v>
                </c:pt>
                <c:pt idx="3">
                  <c:v>840</c:v>
                </c:pt>
                <c:pt idx="4">
                  <c:v>1065</c:v>
                </c:pt>
                <c:pt idx="5">
                  <c:v>1200</c:v>
                </c:pt>
                <c:pt idx="6">
                  <c:v>960</c:v>
                </c:pt>
                <c:pt idx="7">
                  <c:v>1560</c:v>
                </c:pt>
                <c:pt idx="8">
                  <c:v>1560</c:v>
                </c:pt>
                <c:pt idx="9">
                  <c:v>1920</c:v>
                </c:pt>
                <c:pt idx="10">
                  <c:v>1920</c:v>
                </c:pt>
                <c:pt idx="11">
                  <c:v>1080</c:v>
                </c:pt>
              </c:numCache>
            </c:numRef>
          </c:val>
        </c:ser>
        <c:dLbls>
          <c:numFmt formatCode="#,##0" sourceLinked="0"/>
          <c:txPr>
            <a:bodyPr/>
            <a:lstStyle/>
            <a:p>
              <a:pPr>
                <a:defRPr b="0" i="0" strike="noStrike" sz="1200" u="none">
                  <a:solidFill>
                    <a:srgbClr val="3B1A14"/>
                  </a:solidFill>
                  <a:latin typeface="+mn-lt"/>
                </a:defRPr>
              </a:pPr>
            </a:p>
          </c:txPr>
          <c:showLegendKey val="0"/>
          <c:showVal val="0"/>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B3A2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8D8C4"/>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6B3A2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B3A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4A2018"/>
                </a:solidFill>
                <a:latin typeface="+mn-lt"/>
              </a:defRPr>
            </a:pPr>
            <a:r>
              <a:rPr sz="1500" b="1" i="0" u="none" strike="noStrike">
                <a:solidFill>
                  <a:srgbClr val="4A2018"/>
                </a:solidFill>
                <a:latin typeface="+mn-lt"/>
              </a:rPr>
              <a:t>Ingresos por presentación</a:t>
            </a:r>
          </a:p>
        </c:rich>
      </c:tx>
      <c:layout/>
      <c:overlay val="0"/>
    </c:title>
    <c:autoTitleDeleted val="0"/>
    <c:plotArea>
      <c:layout/>
      <c:doughnutChart>
        <c:varyColors val="1"/>
        <c:ser>
          <c:idx val="0"/>
          <c:order val="0"/>
          <c:tx>
            <c:strRef>
              <c:f>Sheet1!$B$1</c:f>
              <c:strCache>
                <c:ptCount val="1"/>
                <c:pt idx="0">
                  <c:v>Ingreso</c:v>
                </c:pt>
              </c:strCache>
            </c:strRef>
          </c:tx>
          <c:spPr>
            <a:solidFill>
              <a:schemeClr val="accent1"/>
            </a:solidFill>
            <a:ln w="9525" cap="flat">
              <a:solidFill>
                <a:srgbClr val="F9F9F9"/>
              </a:solidFill>
              <a:prstDash val="solid"/>
              <a:round/>
            </a:ln>
            <a:effectLst/>
          </c:spPr>
          <c:dPt>
            <c:idx val="0"/>
            <c:bubble3D val="0"/>
            <c:spPr>
              <a:solidFill>
                <a:srgbClr val="BA4036"/>
              </a:solidFill>
              <a:effectLst/>
            </c:spPr>
          </c:dPt>
          <c:dPt>
            <c:idx val="1"/>
            <c:bubble3D val="0"/>
            <c:spPr>
              <a:solidFill>
                <a:srgbClr val="6B3A2A"/>
              </a:solidFill>
              <a:effectLst/>
            </c:spPr>
          </c:dPt>
          <c:dPt>
            <c:idx val="2"/>
            <c:bubble3D val="0"/>
            <c:spPr>
              <a:solidFill>
                <a:srgbClr val="E3A33B"/>
              </a:solidFill>
              <a:effectLst/>
            </c:spPr>
          </c:dPt>
          <c:dPt>
            <c:idx val="3"/>
            <c:bubble3D val="0"/>
            <c:spPr>
              <a:solidFill>
                <a:srgbClr val="7C8A3A"/>
              </a:solidFill>
              <a:effectLst/>
            </c:spPr>
          </c:dPt>
          <c:dLbls>
            <c:dLbl>
              <c:idx val="0"/>
              <c:numFmt formatCode="0%" sourceLinked="0"/>
              <c:spPr/>
              <c:txPr>
                <a:bodyPr/>
                <a:lstStyle/>
                <a:p>
                  <a:pPr>
                    <a:defRPr sz="1300" b="1"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300" b="1"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300" b="1" i="0" u="none" strike="noStrike">
                      <a:solidFill>
                        <a:srgbClr val="FFFFFF"/>
                      </a:solidFill>
                      <a:latin typeface="+mn-lt"/>
                    </a:defRPr>
                  </a:pPr>
                </a:p>
              </c:txPr>
              <c:showLegendKey val="0"/>
              <c:showVal val="0"/>
              <c:showCatName val="0"/>
              <c:showSerName val="0"/>
              <c:showPercent val="1"/>
              <c:showBubbleSize val="0"/>
            </c:dLbl>
            <c:dLbl>
              <c:idx val="3"/>
              <c:numFmt formatCode="0%" sourceLinked="0"/>
              <c:spPr/>
              <c:txPr>
                <a:bodyPr/>
                <a:lstStyle/>
                <a:p>
                  <a:pPr>
                    <a:defRPr sz="1300" b="1"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Unidad</c:v>
                </c:pt>
                <c:pt idx="1">
                  <c:v>Pack de 6</c:v>
                </c:pt>
                <c:pt idx="2">
                  <c:v>Caja de 3</c:v>
                </c:pt>
                <c:pt idx="3">
                  <c:v>Pack de 12</c:v>
                </c:pt>
              </c:strCache>
            </c:strRef>
          </c:cat>
          <c:val>
            <c:numRef>
              <c:f>Sheet1!$B$2:$B$5</c:f>
              <c:numCache>
                <c:ptCount val="4"/>
                <c:pt idx="0">
                  <c:v>123843</c:v>
                </c:pt>
                <c:pt idx="1">
                  <c:v>83958</c:v>
                </c:pt>
                <c:pt idx="2">
                  <c:v>20282</c:v>
                </c:pt>
                <c:pt idx="3">
                  <c:v>16645</c:v>
                </c:pt>
              </c:numCache>
            </c:numRef>
          </c:val>
        </c:ser>
        <c:firstSliceAng val="0"/>
        <c:holeSize val="55"/>
      </c:doughnutChart>
      <c:spPr>
        <a:noFill/>
        <a:ln>
          <a:noFill/>
        </a:ln>
        <a:effectLst/>
      </c:spPr>
    </c:plotArea>
    <c:legend>
      <c:legendPos val="b"/>
      <c:overlay val="0"/>
      <c:txPr>
        <a:bodyPr/>
        <a:lstStyle/>
        <a:p>
          <a:pPr>
            <a:defRPr sz="1200">
              <a:solidFill>
                <a:srgbClr val="6B3A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4A2018"/>
                </a:solidFill>
                <a:latin typeface="+mn-lt"/>
              </a:defRPr>
            </a:pPr>
            <a:r>
              <a:rPr sz="1500" b="1" i="0" u="none" strike="noStrike">
                <a:solidFill>
                  <a:srgbClr val="4A2018"/>
                </a:solidFill>
                <a:latin typeface="+mn-lt"/>
              </a:rPr>
              <a:t>Ventas mensuales con IGV (enero a diciembre de 2027)</a:t>
            </a:r>
          </a:p>
        </c:rich>
      </c:tx>
      <c:layout/>
      <c:overlay val="0"/>
    </c:title>
    <c:autoTitleDeleted val="0"/>
    <c:plotArea>
      <c:layout/>
      <c:barChart>
        <c:barDir val="col"/>
        <c:grouping val="clustered"/>
        <c:varyColors val="0"/>
        <c:ser>
          <c:idx val="0"/>
          <c:order val="0"/>
          <c:tx>
            <c:strRef>
              <c:f>Sheet1!$B$1</c:f>
              <c:strCache>
                <c:ptCount val="1"/>
                <c:pt idx="0">
                  <c:v>Ventas con IGV</c:v>
                </c:pt>
              </c:strCache>
            </c:strRef>
          </c:tx>
          <c:spPr>
            <a:solidFill>
              <a:srgbClr val="6B3A2A"/>
            </a:solidFill>
            <a:effectLst/>
          </c:spPr>
          <c:invertIfNegative val="0"/>
          <c:dLbls>
            <c:numFmt formatCode="0.0,&quot;k&quot;" sourceLinked="0"/>
            <c:txPr>
              <a:bodyPr/>
              <a:lstStyle/>
              <a:p>
                <a:pPr>
                  <a:defRPr b="0" i="0" strike="noStrike" sz="1100" u="none">
                    <a:solidFill>
                      <a:srgbClr val="3B1A14"/>
                    </a:solidFill>
                    <a:latin typeface="+mn-lt"/>
                  </a:defRPr>
                </a:pPr>
              </a:p>
            </c:txPr>
            <c:showLegendKey val="0"/>
            <c:showVal val="1"/>
            <c:showCatName val="0"/>
            <c:showSerName val="0"/>
            <c:showPercent val="0"/>
            <c:showBubbleSize val="0"/>
            <c:showLeaderLines val="0"/>
          </c:dLbls>
          <c:cat>
            <c:multiLvlStrRef>
              <c:f>Sheet1!$A$2:$A$13</c:f>
              <c:multiLvlStrCache>
                <c:ptCount val="12"/>
                <c:lvl>
                  <c:pt idx="0">
                    <c:v>Ene</c:v>
                  </c:pt>
                  <c:pt idx="1">
                    <c:v>Feb</c:v>
                  </c:pt>
                  <c:pt idx="2">
                    <c:v>Mar</c:v>
                  </c:pt>
                  <c:pt idx="3">
                    <c:v>Abr</c:v>
                  </c:pt>
                  <c:pt idx="4">
                    <c:v>May</c:v>
                  </c:pt>
                  <c:pt idx="5">
                    <c:v>Jun</c:v>
                  </c:pt>
                  <c:pt idx="6">
                    <c:v>Jul</c:v>
                  </c:pt>
                  <c:pt idx="7">
                    <c:v>Ago</c:v>
                  </c:pt>
                  <c:pt idx="8">
                    <c:v>Set</c:v>
                  </c:pt>
                  <c:pt idx="9">
                    <c:v>Oct</c:v>
                  </c:pt>
                  <c:pt idx="10">
                    <c:v>Nov</c:v>
                  </c:pt>
                  <c:pt idx="11">
                    <c:v>Dic</c:v>
                  </c:pt>
                </c:lvl>
              </c:multiLvlStrCache>
            </c:multiLvlStrRef>
          </c:cat>
          <c:val>
            <c:numRef>
              <c:f>Sheet1!$B$2:$B$13</c:f>
              <c:numCache>
                <c:formatCode>General</c:formatCode>
                <c:ptCount val="12"/>
                <c:pt idx="0">
                  <c:v>4280</c:v>
                </c:pt>
                <c:pt idx="1">
                  <c:v>14778</c:v>
                </c:pt>
                <c:pt idx="2">
                  <c:v>18255</c:v>
                </c:pt>
                <c:pt idx="3">
                  <c:v>21279</c:v>
                </c:pt>
                <c:pt idx="4">
                  <c:v>19944</c:v>
                </c:pt>
                <c:pt idx="5">
                  <c:v>18360</c:v>
                </c:pt>
                <c:pt idx="6">
                  <c:v>17792</c:v>
                </c:pt>
                <c:pt idx="7">
                  <c:v>23922</c:v>
                </c:pt>
                <c:pt idx="8">
                  <c:v>25778</c:v>
                </c:pt>
                <c:pt idx="9">
                  <c:v>27131</c:v>
                </c:pt>
                <c:pt idx="10">
                  <c:v>26299</c:v>
                </c:pt>
                <c:pt idx="11">
                  <c:v>26911</c:v>
                </c:pt>
              </c:numCache>
            </c:numRef>
          </c:val>
        </c:ser>
        <c:dLbls>
          <c:numFmt formatCode="0.0,&quot;k&quot;" sourceLinked="0"/>
          <c:txPr>
            <a:bodyPr/>
            <a:lstStyle/>
            <a:p>
              <a:pPr>
                <a:defRPr b="0" i="0" strike="noStrike" sz="1100" u="none">
                  <a:solidFill>
                    <a:srgbClr val="3B1A14"/>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B3A2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8D8C4"/>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6B3A2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4A2018"/>
                </a:solidFill>
                <a:latin typeface="+mn-lt"/>
              </a:defRPr>
            </a:pPr>
            <a:r>
              <a:rPr sz="1500" b="1" i="0" u="none" strike="noStrike">
                <a:solidFill>
                  <a:srgbClr val="4A2018"/>
                </a:solidFill>
                <a:latin typeface="+mn-lt"/>
              </a:rPr>
              <a:t>De cada brownie vendido en el stand (S/ sin IGV)</a:t>
            </a:r>
          </a:p>
        </c:rich>
      </c:tx>
      <c:layout/>
      <c:overlay val="0"/>
    </c:title>
    <c:autoTitleDeleted val="0"/>
    <c:plotArea>
      <c:layout/>
      <c:barChart>
        <c:barDir val="col"/>
        <c:grouping val="stacked"/>
        <c:varyColors val="0"/>
        <c:ser>
          <c:idx val="0"/>
          <c:order val="0"/>
          <c:tx>
            <c:strRef>
              <c:f>Sheet1!$B$1</c:f>
              <c:strCache>
                <c:ptCount val="1"/>
                <c:pt idx="0">
                  <c:v>Producir</c:v>
                </c:pt>
              </c:strCache>
            </c:strRef>
          </c:tx>
          <c:spPr>
            <a:solidFill>
              <a:srgbClr val="6B3A2A"/>
            </a:solidFill>
            <a:effectLst/>
          </c:spPr>
          <c:invertIfNegative val="0"/>
          <c:dLbls>
            <c:numFmt formatCode="&quot;S/&quot;0.0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Unidad S/6.00</c:v>
                  </c:pt>
                  <c:pt idx="1">
                    <c:v>Caja de 3 S/16.50</c:v>
                  </c:pt>
                  <c:pt idx="2">
                    <c:v>Pack de 6 S/27.90</c:v>
                  </c:pt>
                  <c:pt idx="3">
                    <c:v>Pack de 12 S/51.90</c:v>
                  </c:pt>
                </c:lvl>
              </c:multiLvlStrCache>
            </c:multiLvlStrRef>
          </c:cat>
          <c:val>
            <c:numRef>
              <c:f>Sheet1!$B$2:$B$5</c:f>
              <c:numCache>
                <c:formatCode>General</c:formatCode>
                <c:ptCount val="4"/>
                <c:pt idx="0">
                  <c:v>1.72</c:v>
                </c:pt>
                <c:pt idx="1">
                  <c:v>1.68</c:v>
                </c:pt>
                <c:pt idx="2">
                  <c:v>1.64</c:v>
                </c:pt>
                <c:pt idx="3">
                  <c:v>1.54</c:v>
                </c:pt>
              </c:numCache>
            </c:numRef>
          </c:val>
        </c:ser>
        <c:ser>
          <c:idx val="1"/>
          <c:order val="1"/>
          <c:tx>
            <c:strRef>
              <c:f>Sheet1!$C$1</c:f>
              <c:strCache>
                <c:ptCount val="1"/>
                <c:pt idx="0">
                  <c:v>Vender (degustación, pago con tarjeta y renta)</c:v>
                </c:pt>
              </c:strCache>
            </c:strRef>
          </c:tx>
          <c:spPr>
            <a:solidFill>
              <a:srgbClr val="D9B48F"/>
            </a:solidFill>
            <a:effectLst/>
          </c:spPr>
          <c:invertIfNegative val="0"/>
          <c:dLbls>
            <c:numFmt formatCode="&quot;S/&quot;0.0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Unidad S/6.00</c:v>
                  </c:pt>
                  <c:pt idx="1">
                    <c:v>Caja de 3 S/16.50</c:v>
                  </c:pt>
                  <c:pt idx="2">
                    <c:v>Pack de 6 S/27.90</c:v>
                  </c:pt>
                  <c:pt idx="3">
                    <c:v>Pack de 12 S/51.90</c:v>
                  </c:pt>
                </c:lvl>
              </c:multiLvlStrCache>
            </c:multiLvlStrRef>
          </c:cat>
          <c:val>
            <c:numRef>
              <c:f>Sheet1!$C$2:$C$5</c:f>
              <c:numCache>
                <c:formatCode>General</c:formatCode>
                <c:ptCount val="4"/>
                <c:pt idx="0">
                  <c:v>0.5</c:v>
                </c:pt>
                <c:pt idx="1">
                  <c:v>0.48</c:v>
                </c:pt>
                <c:pt idx="2">
                  <c:v>0.45</c:v>
                </c:pt>
                <c:pt idx="3">
                  <c:v>0.44</c:v>
                </c:pt>
              </c:numCache>
            </c:numRef>
          </c:val>
        </c:ser>
        <c:ser>
          <c:idx val="2"/>
          <c:order val="2"/>
          <c:tx>
            <c:strRef>
              <c:f>Sheet1!$D$1</c:f>
              <c:strCache>
                <c:ptCount val="1"/>
                <c:pt idx="0">
                  <c:v>Nos queda</c:v>
                </c:pt>
              </c:strCache>
            </c:strRef>
          </c:tx>
          <c:spPr>
            <a:solidFill>
              <a:srgbClr val="BA4036"/>
            </a:solidFill>
            <a:effectLst/>
          </c:spPr>
          <c:invertIfNegative val="0"/>
          <c:dLbls>
            <c:numFmt formatCode="&quot;S/&quot;0.0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Unidad S/6.00</c:v>
                  </c:pt>
                  <c:pt idx="1">
                    <c:v>Caja de 3 S/16.50</c:v>
                  </c:pt>
                  <c:pt idx="2">
                    <c:v>Pack de 6 S/27.90</c:v>
                  </c:pt>
                  <c:pt idx="3">
                    <c:v>Pack de 12 S/51.90</c:v>
                  </c:pt>
                </c:lvl>
              </c:multiLvlStrCache>
            </c:multiLvlStrRef>
          </c:cat>
          <c:val>
            <c:numRef>
              <c:f>Sheet1!$D$2:$D$5</c:f>
              <c:numCache>
                <c:formatCode>General</c:formatCode>
                <c:ptCount val="4"/>
                <c:pt idx="0">
                  <c:v>2.86</c:v>
                </c:pt>
                <c:pt idx="1">
                  <c:v>2.5</c:v>
                </c:pt>
                <c:pt idx="2">
                  <c:v>1.85</c:v>
                </c:pt>
                <c:pt idx="3">
                  <c:v>1.69</c:v>
                </c:pt>
              </c:numCache>
            </c:numRef>
          </c:val>
        </c:ser>
        <c:dLbls>
          <c:numFmt formatCode="&quot;S/&quot;0.00" sourceLinked="0"/>
          <c:txPr>
            <a:bodyPr/>
            <a:lstStyle/>
            <a:p>
              <a:pPr>
                <a:defRPr b="1"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B3A2A"/>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6B3A2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6B3A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4A2018"/>
                </a:solidFill>
                <a:latin typeface="+mn-lt"/>
              </a:defRPr>
            </a:pPr>
            <a:r>
              <a:rPr sz="1500" b="1" i="0" u="none" strike="noStrike">
                <a:solidFill>
                  <a:srgbClr val="4A2018"/>
                </a:solidFill>
                <a:latin typeface="+mn-lt"/>
              </a:rPr>
              <a:t>Inversión inicial: S/40,876</a:t>
            </a:r>
          </a:p>
        </c:rich>
      </c:tx>
      <c:layout/>
      <c:overlay val="0"/>
    </c:title>
    <c:autoTitleDeleted val="0"/>
    <c:plotArea>
      <c:layout/>
      <c:doughnutChart>
        <c:varyColors val="1"/>
        <c:ser>
          <c:idx val="0"/>
          <c:order val="0"/>
          <c:tx>
            <c:strRef>
              <c:f>Sheet1!$B$1</c:f>
              <c:strCache>
                <c:ptCount val="1"/>
                <c:pt idx="0">
                  <c:v>Inversión</c:v>
                </c:pt>
              </c:strCache>
            </c:strRef>
          </c:tx>
          <c:spPr>
            <a:solidFill>
              <a:schemeClr val="accent1"/>
            </a:solidFill>
            <a:ln w="9525" cap="flat">
              <a:solidFill>
                <a:srgbClr val="F9F9F9"/>
              </a:solidFill>
              <a:prstDash val="solid"/>
              <a:round/>
            </a:ln>
            <a:effectLst/>
          </c:spPr>
          <c:dPt>
            <c:idx val="0"/>
            <c:bubble3D val="0"/>
            <c:spPr>
              <a:solidFill>
                <a:srgbClr val="6B3A2A"/>
              </a:solidFill>
              <a:effectLst/>
            </c:spPr>
          </c:dPt>
          <c:dPt>
            <c:idx val="1"/>
            <c:bubble3D val="0"/>
            <c:spPr>
              <a:solidFill>
                <a:srgbClr val="E3A33B"/>
              </a:solidFill>
              <a:effectLst/>
            </c:spPr>
          </c:dPt>
          <c:dPt>
            <c:idx val="2"/>
            <c:bubble3D val="0"/>
            <c:spPr>
              <a:solidFill>
                <a:srgbClr val="BA4036"/>
              </a:solidFill>
              <a:effectLst/>
            </c:spPr>
          </c:dPt>
          <c:dPt>
            <c:idx val="3"/>
            <c:bubble3D val="0"/>
            <c:spPr>
              <a:solidFill>
                <a:srgbClr val="7C8A3A"/>
              </a:solidFill>
              <a:effectLst/>
            </c:spPr>
          </c:dPt>
          <c:dPt>
            <c:idx val="4"/>
            <c:bubble3D val="0"/>
            <c:spPr>
              <a:solidFill>
                <a:srgbClr val="D9B48F"/>
              </a:solidFill>
              <a:effectLst/>
            </c:spPr>
          </c:dPt>
          <c:dPt>
            <c:idx val="5"/>
            <c:bubble3D val="0"/>
            <c:spPr>
              <a:solidFill>
                <a:srgbClr val="8A1C2B"/>
              </a:solidFill>
              <a:effectLst/>
            </c:spPr>
          </c:dPt>
          <c:dLbls>
            <c:dLbl>
              <c:idx val="0"/>
              <c:numFmt formatCode="0%" sourceLinked="0"/>
              <c:spPr/>
              <c:txPr>
                <a:bodyPr/>
                <a:lstStyle/>
                <a:p>
                  <a:pPr>
                    <a:defRPr sz="1100" b="1" i="0" u="none" strike="noStrike">
                      <a:solidFill>
                        <a:srgbClr val="FFFFFF"/>
                      </a:solidFill>
                      <a:latin typeface="+mn-lt"/>
                    </a:defRPr>
                  </a:pPr>
                </a:p>
              </c:txPr>
              <c:showLegendKey val="0"/>
              <c:showVal val="0"/>
              <c:showCatName val="0"/>
              <c:showSerName val="0"/>
              <c:showPercent val="1"/>
              <c:showBubbleSize val="0"/>
            </c:dLbl>
            <c:dLbl>
              <c:idx val="1"/>
              <c:numFmt formatCode="0%" sourceLinked="0"/>
              <c:spPr/>
              <c:txPr>
                <a:bodyPr/>
                <a:lstStyle/>
                <a:p>
                  <a:pPr>
                    <a:defRPr sz="1100" b="1" i="0" u="none" strike="noStrike">
                      <a:solidFill>
                        <a:srgbClr val="FFFFFF"/>
                      </a:solidFill>
                      <a:latin typeface="+mn-lt"/>
                    </a:defRPr>
                  </a:pPr>
                </a:p>
              </c:txPr>
              <c:showLegendKey val="0"/>
              <c:showVal val="0"/>
              <c:showCatName val="0"/>
              <c:showSerName val="0"/>
              <c:showPercent val="1"/>
              <c:showBubbleSize val="0"/>
            </c:dLbl>
            <c:dLbl>
              <c:idx val="2"/>
              <c:numFmt formatCode="0%" sourceLinked="0"/>
              <c:spPr/>
              <c:txPr>
                <a:bodyPr/>
                <a:lstStyle/>
                <a:p>
                  <a:pPr>
                    <a:defRPr sz="1100" b="1" i="0" u="none" strike="noStrike">
                      <a:solidFill>
                        <a:srgbClr val="FFFFFF"/>
                      </a:solidFill>
                      <a:latin typeface="+mn-lt"/>
                    </a:defRPr>
                  </a:pPr>
                </a:p>
              </c:txPr>
              <c:showLegendKey val="0"/>
              <c:showVal val="0"/>
              <c:showCatName val="0"/>
              <c:showSerName val="0"/>
              <c:showPercent val="1"/>
              <c:showBubbleSize val="0"/>
            </c:dLbl>
            <c:dLbl>
              <c:idx val="3"/>
              <c:numFmt formatCode="0%" sourceLinked="0"/>
              <c:spPr/>
              <c:txPr>
                <a:bodyPr/>
                <a:lstStyle/>
                <a:p>
                  <a:pPr>
                    <a:defRPr sz="1100" b="1" i="0" u="none" strike="noStrike">
                      <a:solidFill>
                        <a:srgbClr val="FFFFFF"/>
                      </a:solidFill>
                      <a:latin typeface="+mn-lt"/>
                    </a:defRPr>
                  </a:pPr>
                </a:p>
              </c:txPr>
              <c:showLegendKey val="0"/>
              <c:showVal val="0"/>
              <c:showCatName val="0"/>
              <c:showSerName val="0"/>
              <c:showPercent val="1"/>
              <c:showBubbleSize val="0"/>
            </c:dLbl>
            <c:dLbl>
              <c:idx val="4"/>
              <c:numFmt formatCode="0%" sourceLinked="0"/>
              <c:spPr/>
              <c:txPr>
                <a:bodyPr/>
                <a:lstStyle/>
                <a:p>
                  <a:pPr>
                    <a:defRPr sz="1100" b="1" i="0" u="none" strike="noStrike">
                      <a:solidFill>
                        <a:srgbClr val="FFFFFF"/>
                      </a:solidFill>
                      <a:latin typeface="+mn-lt"/>
                    </a:defRPr>
                  </a:pPr>
                </a:p>
              </c:txPr>
              <c:showLegendKey val="0"/>
              <c:showVal val="0"/>
              <c:showCatName val="0"/>
              <c:showSerName val="0"/>
              <c:showPercent val="1"/>
              <c:showBubbleSize val="0"/>
            </c:dLbl>
            <c:dLbl>
              <c:idx val="5"/>
              <c:numFmt formatCode="0%" sourceLinked="0"/>
              <c:spPr/>
              <c:txPr>
                <a:bodyPr/>
                <a:lstStyle/>
                <a:p>
                  <a:pPr>
                    <a:defRPr sz="1100" b="1" i="0" u="none" strike="noStrike">
                      <a:solidFill>
                        <a:srgbClr val="FFFFFF"/>
                      </a:solidFill>
                      <a:latin typeface="+mn-lt"/>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Arranque</c:v>
                </c:pt>
                <c:pt idx="1">
                  <c:v>Equipos y 1 carrito</c:v>
                </c:pt>
                <c:pt idx="2">
                  <c:v>Documentos y permisos</c:v>
                </c:pt>
                <c:pt idx="3">
                  <c:v>Desarrollo del producto</c:v>
                </c:pt>
                <c:pt idx="4">
                  <c:v>Imprevistos</c:v>
                </c:pt>
                <c:pt idx="5">
                  <c:v>Marca y app</c:v>
                </c:pt>
              </c:strCache>
            </c:strRef>
          </c:cat>
          <c:val>
            <c:numRef>
              <c:f>Sheet1!$B$2:$B$7</c:f>
              <c:numCache>
                <c:ptCount val="6"/>
                <c:pt idx="0">
                  <c:v>19155</c:v>
                </c:pt>
                <c:pt idx="1">
                  <c:v>4838</c:v>
                </c:pt>
                <c:pt idx="2">
                  <c:v>6176</c:v>
                </c:pt>
                <c:pt idx="3">
                  <c:v>3741</c:v>
                </c:pt>
                <c:pt idx="4">
                  <c:v>3716</c:v>
                </c:pt>
                <c:pt idx="5">
                  <c:v>3250</c:v>
                </c:pt>
              </c:numCache>
            </c:numRef>
          </c:val>
        </c:ser>
        <c:firstSliceAng val="0"/>
        <c:holeSize val="50"/>
      </c:doughnutChart>
      <c:spPr>
        <a:noFill/>
        <a:ln>
          <a:noFill/>
        </a:ln>
        <a:effectLst/>
      </c:spPr>
    </c:plotArea>
    <c:legend>
      <c:legendPos val="b"/>
      <c:overlay val="0"/>
      <c:txPr>
        <a:bodyPr/>
        <a:lstStyle/>
        <a:p>
          <a:pPr>
            <a:defRPr sz="1000">
              <a:solidFill>
                <a:srgbClr val="6B3A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1" i="0" u="none" strike="noStrike">
                <a:solidFill>
                  <a:srgbClr val="4A2018"/>
                </a:solidFill>
                <a:latin typeface="+mn-lt"/>
              </a:defRPr>
            </a:pPr>
            <a:r>
              <a:rPr sz="1300" b="1" i="0" u="none" strike="noStrike">
                <a:solidFill>
                  <a:srgbClr val="4A2018"/>
                </a:solidFill>
                <a:latin typeface="+mn-lt"/>
              </a:rPr>
              <a:t>Lo que cuesta operar al mes, sin contar la fabricación: S/6,989</a:t>
            </a:r>
          </a:p>
        </c:rich>
      </c:tx>
      <c:layout/>
      <c:overlay val="0"/>
    </c:title>
    <c:autoTitleDeleted val="0"/>
    <c:plotArea>
      <c:layout/>
      <c:doughnutChart>
        <c:varyColors val="1"/>
        <c:ser>
          <c:idx val="0"/>
          <c:order val="0"/>
          <c:tx>
            <c:strRef>
              <c:f>Sheet1!$B$1</c:f>
              <c:strCache>
                <c:ptCount val="1"/>
                <c:pt idx="0">
                  <c:v>Costos</c:v>
                </c:pt>
              </c:strCache>
            </c:strRef>
          </c:tx>
          <c:spPr>
            <a:solidFill>
              <a:schemeClr val="accent1"/>
            </a:solidFill>
            <a:ln w="9525" cap="flat">
              <a:solidFill>
                <a:srgbClr val="F9F9F9"/>
              </a:solidFill>
              <a:prstDash val="solid"/>
              <a:round/>
            </a:ln>
            <a:effectLst/>
          </c:spPr>
          <c:dPt>
            <c:idx val="0"/>
            <c:bubble3D val="0"/>
            <c:spPr>
              <a:solidFill>
                <a:srgbClr val="BA4036"/>
              </a:solidFill>
              <a:effectLst/>
            </c:spPr>
          </c:dPt>
          <c:dPt>
            <c:idx val="1"/>
            <c:bubble3D val="0"/>
            <c:spPr>
              <a:solidFill>
                <a:srgbClr val="8A1C2B"/>
              </a:solidFill>
              <a:effectLst/>
            </c:spPr>
          </c:dPt>
          <c:dPt>
            <c:idx val="2"/>
            <c:bubble3D val="0"/>
            <c:spPr>
              <a:solidFill>
                <a:srgbClr val="E3A33B"/>
              </a:solidFill>
              <a:effectLst/>
            </c:spPr>
          </c:dPt>
          <c:dPt>
            <c:idx val="3"/>
            <c:bubble3D val="0"/>
            <c:spPr>
              <a:solidFill>
                <a:srgbClr val="6B3A2A"/>
              </a:solidFill>
              <a:effectLst/>
            </c:spPr>
          </c:dPt>
          <c:dPt>
            <c:idx val="4"/>
            <c:bubble3D val="0"/>
            <c:spPr>
              <a:solidFill>
                <a:srgbClr val="7C8A3A"/>
              </a:solidFill>
              <a:effectLst/>
            </c:spPr>
          </c:dPt>
          <c:dPt>
            <c:idx val="5"/>
            <c:bubble3D val="0"/>
            <c:spPr>
              <a:solidFill>
                <a:srgbClr val="D9B48F"/>
              </a:solidFill>
              <a:effectLst/>
            </c:spPr>
          </c:dPt>
          <c:dPt>
            <c:idx val="6"/>
            <c:bubble3D val="0"/>
            <c:spPr>
              <a:solidFill>
                <a:srgbClr val="B9A089"/>
              </a:solidFill>
              <a:effectLst/>
            </c:spPr>
          </c:dPt>
          <c:dLbls>
            <c:dLbl>
              <c:idx val="0"/>
              <c:numFmt formatCode="&quot;S/&quot;#,##0" sourceLinked="0"/>
              <c:spPr/>
              <c:txPr>
                <a:bodyPr/>
                <a:lstStyle/>
                <a:p>
                  <a:pPr>
                    <a:defRPr sz="1000" b="1" i="0" u="none" strike="noStrike">
                      <a:solidFill>
                        <a:srgbClr val="FFFFFF"/>
                      </a:solidFill>
                      <a:latin typeface="+mn-lt"/>
                    </a:defRPr>
                  </a:pPr>
                </a:p>
              </c:txPr>
              <c:showLegendKey val="0"/>
              <c:showVal val="1"/>
              <c:showCatName val="0"/>
              <c:showSerName val="0"/>
              <c:showPercent val="0"/>
              <c:showBubbleSize val="0"/>
            </c:dLbl>
            <c:dLbl>
              <c:idx val="1"/>
              <c:numFmt formatCode="&quot;S/&quot;#,##0" sourceLinked="0"/>
              <c:spPr/>
              <c:txPr>
                <a:bodyPr/>
                <a:lstStyle/>
                <a:p>
                  <a:pPr>
                    <a:defRPr sz="1000" b="1" i="0" u="none" strike="noStrike">
                      <a:solidFill>
                        <a:srgbClr val="FFFFFF"/>
                      </a:solidFill>
                      <a:latin typeface="+mn-lt"/>
                    </a:defRPr>
                  </a:pPr>
                </a:p>
              </c:txPr>
              <c:showLegendKey val="0"/>
              <c:showVal val="1"/>
              <c:showCatName val="0"/>
              <c:showSerName val="0"/>
              <c:showPercent val="0"/>
              <c:showBubbleSize val="0"/>
            </c:dLbl>
            <c:dLbl>
              <c:idx val="2"/>
              <c:numFmt formatCode="&quot;S/&quot;#,##0" sourceLinked="0"/>
              <c:spPr/>
              <c:txPr>
                <a:bodyPr/>
                <a:lstStyle/>
                <a:p>
                  <a:pPr>
                    <a:defRPr sz="1000" b="1" i="0" u="none" strike="noStrike">
                      <a:solidFill>
                        <a:srgbClr val="FFFFFF"/>
                      </a:solidFill>
                      <a:latin typeface="+mn-lt"/>
                    </a:defRPr>
                  </a:pPr>
                </a:p>
              </c:txPr>
              <c:showLegendKey val="0"/>
              <c:showVal val="1"/>
              <c:showCatName val="0"/>
              <c:showSerName val="0"/>
              <c:showPercent val="0"/>
              <c:showBubbleSize val="0"/>
            </c:dLbl>
            <c:dLbl>
              <c:idx val="3"/>
              <c:numFmt formatCode="&quot;S/&quot;#,##0" sourceLinked="0"/>
              <c:spPr/>
              <c:txPr>
                <a:bodyPr/>
                <a:lstStyle/>
                <a:p>
                  <a:pPr>
                    <a:defRPr sz="1000" b="1" i="0" u="none" strike="noStrike">
                      <a:solidFill>
                        <a:srgbClr val="FFFFFF"/>
                      </a:solidFill>
                      <a:latin typeface="+mn-lt"/>
                    </a:defRPr>
                  </a:pPr>
                </a:p>
              </c:txPr>
              <c:showLegendKey val="0"/>
              <c:showVal val="1"/>
              <c:showCatName val="0"/>
              <c:showSerName val="0"/>
              <c:showPercent val="0"/>
              <c:showBubbleSize val="0"/>
            </c:dLbl>
            <c:dLbl>
              <c:idx val="4"/>
              <c:numFmt formatCode="&quot;S/&quot;#,##0" sourceLinked="0"/>
              <c:spPr/>
              <c:txPr>
                <a:bodyPr/>
                <a:lstStyle/>
                <a:p>
                  <a:pPr>
                    <a:defRPr sz="1000" b="1" i="0" u="none" strike="noStrike">
                      <a:solidFill>
                        <a:srgbClr val="FFFFFF"/>
                      </a:solidFill>
                      <a:latin typeface="+mn-lt"/>
                    </a:defRPr>
                  </a:pPr>
                </a:p>
              </c:txPr>
              <c:showLegendKey val="0"/>
              <c:showVal val="1"/>
              <c:showCatName val="0"/>
              <c:showSerName val="0"/>
              <c:showPercent val="0"/>
              <c:showBubbleSize val="0"/>
            </c:dLbl>
            <c:dLbl>
              <c:idx val="5"/>
              <c:numFmt formatCode="&quot;S/&quot;#,##0" sourceLinked="0"/>
              <c:spPr/>
              <c:txPr>
                <a:bodyPr/>
                <a:lstStyle/>
                <a:p>
                  <a:pPr>
                    <a:defRPr sz="1000" b="1" i="0" u="none" strike="noStrike">
                      <a:solidFill>
                        <a:srgbClr val="FFFFFF"/>
                      </a:solidFill>
                      <a:latin typeface="+mn-lt"/>
                    </a:defRPr>
                  </a:pPr>
                </a:p>
              </c:txPr>
              <c:showLegendKey val="0"/>
              <c:showVal val="1"/>
              <c:showCatName val="0"/>
              <c:showSerName val="0"/>
              <c:showPercent val="0"/>
              <c:showBubbleSize val="0"/>
            </c:dLbl>
            <c:dLbl>
              <c:idx val="6"/>
              <c:numFmt formatCode="&quot;S/&quot;#,##0" sourceLinked="0"/>
              <c:spPr/>
              <c:txPr>
                <a:bodyPr/>
                <a:lstStyle/>
                <a:p>
                  <a:pPr>
                    <a:defRPr sz="1000" b="1" i="0" u="none" strike="noStrike">
                      <a:solidFill>
                        <a:srgbClr val="FFFFFF"/>
                      </a:solidFill>
                      <a:latin typeface="+mn-lt"/>
                    </a:defRPr>
                  </a:pPr>
                </a:p>
              </c:txPr>
              <c:showLegendKey val="0"/>
              <c:showVal val="1"/>
              <c:showCatName val="0"/>
              <c:showSerName val="0"/>
              <c:showPercent val="0"/>
              <c:showBubbleSize val="0"/>
            </c:dLbl>
            <c:numFmt formatCode="&quot;S/&quot;#,##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Sheet1!$A$2:$A$8</c:f>
              <c:strCache>
                <c:ptCount val="7"/>
                <c:pt idx="0">
                  <c:v>Vendedores de stand</c:v>
                </c:pt>
                <c:pt idx="1">
                  <c:v>Espacio de stands</c:v>
                </c:pt>
                <c:pt idx="2">
                  <c:v>Administración y app</c:v>
                </c:pt>
                <c:pt idx="3">
                  <c:v>Marketing y embajadoras</c:v>
                </c:pt>
                <c:pt idx="4">
                  <c:v>Ferias y eventos</c:v>
                </c:pt>
                <c:pt idx="5">
                  <c:v>Coordinadora</c:v>
                </c:pt>
                <c:pt idx="6">
                  <c:v>Depreciación</c:v>
                </c:pt>
              </c:strCache>
            </c:strRef>
          </c:cat>
          <c:val>
            <c:numRef>
              <c:f>Sheet1!$B$2:$B$8</c:f>
              <c:numCache>
                <c:ptCount val="7"/>
                <c:pt idx="0">
                  <c:v>1973</c:v>
                </c:pt>
                <c:pt idx="1">
                  <c:v>1400</c:v>
                </c:pt>
                <c:pt idx="2">
                  <c:v>995</c:v>
                </c:pt>
                <c:pt idx="3">
                  <c:v>900</c:v>
                </c:pt>
                <c:pt idx="4">
                  <c:v>878</c:v>
                </c:pt>
                <c:pt idx="5">
                  <c:v>709</c:v>
                </c:pt>
                <c:pt idx="6">
                  <c:v>134</c:v>
                </c:pt>
              </c:numCache>
            </c:numRef>
          </c:val>
        </c:ser>
        <c:firstSliceAng val="0"/>
        <c:holeSize val="50"/>
      </c:doughnutChart>
      <c:spPr>
        <a:noFill/>
        <a:ln>
          <a:noFill/>
        </a:ln>
        <a:effectLst/>
      </c:spPr>
    </c:plotArea>
    <c:legend>
      <c:legendPos val="b"/>
      <c:overlay val="0"/>
      <c:txPr>
        <a:bodyPr/>
        <a:lstStyle/>
        <a:p>
          <a:pPr>
            <a:defRPr sz="1000">
              <a:solidFill>
                <a:srgbClr val="6B3A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4A2018"/>
                </a:solidFill>
                <a:latin typeface="+mn-lt"/>
              </a:defRPr>
            </a:pPr>
            <a:r>
              <a:rPr sz="1500" b="1" i="0" u="none" strike="noStrike">
                <a:solidFill>
                  <a:srgbClr val="4A2018"/>
                </a:solidFill>
                <a:latin typeface="+mn-lt"/>
              </a:rPr>
              <a:t>Brownies al mes frente a los que necesitamos (2027)</a:t>
            </a:r>
          </a:p>
        </c:rich>
      </c:tx>
      <c:layout/>
      <c:overlay val="0"/>
    </c:title>
    <c:autoTitleDeleted val="0"/>
    <c:plotArea>
      <c:layout/>
      <c:barChart>
        <c:barDir val="col"/>
        <c:grouping val="clustered"/>
        <c:varyColors val="0"/>
        <c:ser>
          <c:idx val="0"/>
          <c:order val="0"/>
          <c:tx>
            <c:strRef>
              <c:f>Sheet1!$B$1</c:f>
              <c:strCache>
                <c:ptCount val="1"/>
                <c:pt idx="0">
                  <c:v>Brownies vendidos</c:v>
                </c:pt>
              </c:strCache>
            </c:strRef>
          </c:tx>
          <c:spPr>
            <a:solidFill>
              <a:srgbClr val="6B3A2A"/>
            </a:solidFill>
            <a:effectLst/>
          </c:spPr>
          <c:invertIfNegative val="0"/>
          <c:dLbls>
            <c:numFmt formatCode="#,##0" sourceLinked="0"/>
            <c:txPr>
              <a:bodyPr/>
              <a:lstStyle/>
              <a:p>
                <a:pPr>
                  <a:defRPr b="0" i="0" strike="noStrike" sz="1200" u="none">
                    <a:solidFill>
                      <a:srgbClr val="3B1A14"/>
                    </a:solidFill>
                    <a:latin typeface="+mn-lt"/>
                  </a:defRPr>
                </a:pPr>
              </a:p>
            </c:txPr>
            <c:showLegendKey val="0"/>
            <c:showVal val="0"/>
            <c:showCatName val="0"/>
            <c:showSerName val="0"/>
            <c:showPercent val="0"/>
            <c:showBubbleSize val="0"/>
            <c:showLeaderLines val="0"/>
          </c:dLbls>
          <c:cat>
            <c:multiLvlStrRef>
              <c:f>Sheet1!$A$2:$A$13</c:f>
              <c:multiLvlStrCache>
                <c:ptCount val="12"/>
                <c:lvl>
                  <c:pt idx="0">
                    <c:v>Ene</c:v>
                  </c:pt>
                  <c:pt idx="1">
                    <c:v>Feb</c:v>
                  </c:pt>
                  <c:pt idx="2">
                    <c:v>Mar</c:v>
                  </c:pt>
                  <c:pt idx="3">
                    <c:v>Abr</c:v>
                  </c:pt>
                  <c:pt idx="4">
                    <c:v>May</c:v>
                  </c:pt>
                  <c:pt idx="5">
                    <c:v>Jun</c:v>
                  </c:pt>
                  <c:pt idx="6">
                    <c:v>Jul</c:v>
                  </c:pt>
                  <c:pt idx="7">
                    <c:v>Ago</c:v>
                  </c:pt>
                  <c:pt idx="8">
                    <c:v>Set</c:v>
                  </c:pt>
                  <c:pt idx="9">
                    <c:v>Oct</c:v>
                  </c:pt>
                  <c:pt idx="10">
                    <c:v>Nov</c:v>
                  </c:pt>
                  <c:pt idx="11">
                    <c:v>Dic</c:v>
                  </c:pt>
                </c:lvl>
              </c:multiLvlStrCache>
            </c:multiLvlStrRef>
          </c:cat>
          <c:val>
            <c:numRef>
              <c:f>Sheet1!$B$2:$B$13</c:f>
              <c:numCache>
                <c:formatCode>General</c:formatCode>
                <c:ptCount val="12"/>
                <c:pt idx="0">
                  <c:v>870</c:v>
                </c:pt>
                <c:pt idx="1">
                  <c:v>2830</c:v>
                </c:pt>
                <c:pt idx="2">
                  <c:v>3734</c:v>
                </c:pt>
                <c:pt idx="3">
                  <c:v>4420</c:v>
                </c:pt>
                <c:pt idx="4">
                  <c:v>4304</c:v>
                </c:pt>
                <c:pt idx="5">
                  <c:v>4038</c:v>
                </c:pt>
                <c:pt idx="6">
                  <c:v>3824</c:v>
                </c:pt>
                <c:pt idx="7">
                  <c:v>5208</c:v>
                </c:pt>
                <c:pt idx="8">
                  <c:v>5603</c:v>
                </c:pt>
                <c:pt idx="9">
                  <c:v>6011</c:v>
                </c:pt>
                <c:pt idx="10">
                  <c:v>5861</c:v>
                </c:pt>
                <c:pt idx="11">
                  <c:v>5628</c:v>
                </c:pt>
              </c:numCache>
            </c:numRef>
          </c:val>
        </c:ser>
        <c:dLbls>
          <c:numFmt formatCode="#,##0" sourceLinked="0"/>
          <c:txPr>
            <a:bodyPr/>
            <a:lstStyle/>
            <a:p>
              <a:pPr>
                <a:defRPr b="0" i="0" strike="noStrike" sz="1200" u="none">
                  <a:solidFill>
                    <a:srgbClr val="3B1A14"/>
                  </a:solidFill>
                  <a:latin typeface="+mn-lt"/>
                </a:defRPr>
              </a:pPr>
            </a:p>
          </c:txPr>
          <c:showLegendKey val="0"/>
          <c:showVal val="0"/>
          <c:showCatName val="0"/>
          <c:showSerName val="0"/>
          <c:showPercent val="0"/>
          <c:showBubbleSize val="0"/>
          <c:showLeaderLines val="0"/>
        </c:dLbls>
        <c:gapWidth val="45"/>
        <c:overlap val="0"/>
        <c:axId val="2094734554"/>
        <c:axId val="2094734552"/>
        <c:axId val="2094734556"/>
      </c:barChart>
      <c:lineChart>
        <c:varyColors val="0"/>
        <c:ser>
          <c:idx val="1"/>
          <c:order val="1"/>
          <c:tx>
            <c:strRef>
              <c:f>Sheet1!$C$1</c:f>
              <c:strCache>
                <c:ptCount val="1"/>
                <c:pt idx="0">
                  <c:v>Brownies que necesitamos para no perder</c:v>
                </c:pt>
              </c:strCache>
            </c:strRef>
          </c:tx>
          <c:spPr>
            <a:solidFill>
              <a:srgbClr val="BA4036"/>
            </a:solidFill>
            <a:ln w="38100" cap="flat">
              <a:solidFill>
                <a:srgbClr val="BA4036"/>
              </a:solidFill>
              <a:prstDash val="solid"/>
              <a:round/>
            </a:ln>
            <a:effectLst/>
          </c:spPr>
          <c:invertIfNegative val="0"/>
          <c:dLbls>
            <c:numFmt formatCode="#,##0" sourceLinked="0"/>
            <c:txPr>
              <a:bodyPr/>
              <a:lstStyle/>
              <a:p>
                <a:pPr>
                  <a:defRPr b="0" i="0" strike="noStrike" sz="1200" u="none">
                    <a:solidFill>
                      <a:srgbClr val="3B1A14"/>
                    </a:solidFill>
                    <a:latin typeface="+mn-lt"/>
                  </a:defRPr>
                </a:pPr>
              </a:p>
            </c:txPr>
            <c:showLegendKey val="0"/>
            <c:showVal val="0"/>
            <c:showCatName val="0"/>
            <c:showSerName val="0"/>
            <c:showPercent val="0"/>
            <c:showBubbleSize val="0"/>
            <c:showLeaderLines val="0"/>
          </c:dLbls>
          <c:marker>
            <c:symbol val="circle"/>
            <c:size val="6"/>
            <c:spPr>
              <a:solidFill>
                <a:srgbClr val="BA4036"/>
              </a:solidFill>
              <a:ln w="9525" cap="flat">
                <a:solidFill>
                  <a:srgbClr val="BA4036"/>
                </a:solidFill>
                <a:prstDash val="solid"/>
                <a:round/>
              </a:ln>
              <a:effectLst/>
            </c:spPr>
          </c:marker>
          <c:cat>
            <c:multiLvlStrRef>
              <c:f>Sheet1!$A$2:$A$13</c:f>
              <c:multiLvlStrCache>
                <c:ptCount val="12"/>
                <c:lvl>
                  <c:pt idx="0">
                    <c:v>Ene</c:v>
                  </c:pt>
                  <c:pt idx="1">
                    <c:v>Feb</c:v>
                  </c:pt>
                  <c:pt idx="2">
                    <c:v>Mar</c:v>
                  </c:pt>
                  <c:pt idx="3">
                    <c:v>Abr</c:v>
                  </c:pt>
                  <c:pt idx="4">
                    <c:v>May</c:v>
                  </c:pt>
                  <c:pt idx="5">
                    <c:v>Jun</c:v>
                  </c:pt>
                  <c:pt idx="6">
                    <c:v>Jul</c:v>
                  </c:pt>
                  <c:pt idx="7">
                    <c:v>Ago</c:v>
                  </c:pt>
                  <c:pt idx="8">
                    <c:v>Set</c:v>
                  </c:pt>
                  <c:pt idx="9">
                    <c:v>Oct</c:v>
                  </c:pt>
                  <c:pt idx="10">
                    <c:v>Nov</c:v>
                  </c:pt>
                  <c:pt idx="11">
                    <c:v>Dic</c:v>
                  </c:pt>
                </c:lvl>
              </c:multiLvlStrCache>
            </c:multiLvlStrRef>
          </c:cat>
          <c:val>
            <c:numRef>
              <c:f>Sheet1!$C$2:$C$13</c:f>
              <c:numCache>
                <c:formatCode>General</c:formatCode>
                <c:ptCount val="12"/>
                <c:pt idx="0">
                  <c:v>2119</c:v>
                </c:pt>
                <c:pt idx="1">
                  <c:v>3495</c:v>
                </c:pt>
                <c:pt idx="2">
                  <c:v>3106</c:v>
                </c:pt>
                <c:pt idx="3">
                  <c:v>4232</c:v>
                </c:pt>
                <c:pt idx="4">
                  <c:v>3499</c:v>
                </c:pt>
                <c:pt idx="5">
                  <c:v>3516</c:v>
                </c:pt>
                <c:pt idx="6">
                  <c:v>3378</c:v>
                </c:pt>
                <c:pt idx="7">
                  <c:v>4204</c:v>
                </c:pt>
                <c:pt idx="8">
                  <c:v>4215</c:v>
                </c:pt>
                <c:pt idx="9">
                  <c:v>4360</c:v>
                </c:pt>
                <c:pt idx="10">
                  <c:v>4318</c:v>
                </c:pt>
                <c:pt idx="11">
                  <c:v>4188</c:v>
                </c:pt>
              </c:numCache>
            </c:numRef>
          </c:val>
          <c:smooth val="0"/>
        </c:ser>
        <c:dLbls>
          <c:numFmt formatCode="#,##0" sourceLinked="0"/>
          <c:txPr>
            <a:bodyPr/>
            <a:lstStyle/>
            <a:p>
              <a:pPr>
                <a:defRPr b="0" i="0" strike="noStrike" sz="1200" u="none">
                  <a:solidFill>
                    <a:srgbClr val="3B1A14"/>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B3A2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8D8C4"/>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6B3A2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B3A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4A2018"/>
                </a:solidFill>
                <a:latin typeface="+mn-lt"/>
              </a:defRPr>
            </a:pPr>
            <a:r>
              <a:rPr sz="1500" b="1" i="0" u="none" strike="noStrike">
                <a:solidFill>
                  <a:srgbClr val="4A2018"/>
                </a:solidFill>
                <a:latin typeface="+mn-lt"/>
              </a:rPr>
              <a:t>Ganancia o pérdida de cada mes de 2027 (S/, antes de intereses e impuesto)</a:t>
            </a:r>
          </a:p>
        </c:rich>
      </c:tx>
      <c:layout/>
      <c:overlay val="0"/>
    </c:title>
    <c:autoTitleDeleted val="0"/>
    <c:plotArea>
      <c:layout/>
      <c:barChart>
        <c:barDir val="col"/>
        <c:grouping val="clustered"/>
        <c:varyColors val="0"/>
        <c:ser>
          <c:idx val="0"/>
          <c:order val="0"/>
          <c:tx>
            <c:strRef>
              <c:f>Sheet1!$B$1</c:f>
              <c:strCache>
                <c:ptCount val="1"/>
                <c:pt idx="0">
                  <c:v>Resultado operativo</c:v>
                </c:pt>
              </c:strCache>
            </c:strRef>
          </c:tx>
          <c:spPr>
            <a:solidFill>
              <a:srgbClr val="7C8A3A"/>
            </a:solidFill>
            <a:effectLst/>
          </c:spPr>
          <c:invertIfNegative val="0"/>
          <c:dLbls>
            <c:numFmt formatCode="#,##0" sourceLinked="0"/>
            <c:txPr>
              <a:bodyPr/>
              <a:lstStyle/>
              <a:p>
                <a:pPr>
                  <a:defRPr b="0" i="0" strike="noStrike" sz="1100" u="none">
                    <a:solidFill>
                      <a:srgbClr val="3B1A14"/>
                    </a:solidFill>
                    <a:latin typeface="+mn-lt"/>
                  </a:defRPr>
                </a:pPr>
              </a:p>
            </c:txPr>
            <c:showLegendKey val="0"/>
            <c:showVal val="1"/>
            <c:showCatName val="0"/>
            <c:showSerName val="0"/>
            <c:showPercent val="0"/>
            <c:showBubbleSize val="0"/>
            <c:showLeaderLines val="0"/>
          </c:dLbls>
          <c:dPt>
            <c:idx val="0"/>
            <c:invertIfNegative val="0"/>
            <c:bubble3D val="0"/>
            <c:spPr>
              <a:solidFill>
                <a:srgbClr val="BA4036"/>
              </a:solidFill>
              <a:effectLst/>
            </c:spPr>
          </c:dPt>
          <c:dPt>
            <c:idx val="1"/>
            <c:invertIfNegative val="0"/>
            <c:bubble3D val="0"/>
            <c:spPr>
              <a:solidFill>
                <a:srgbClr val="BA4036"/>
              </a:solidFill>
              <a:effectLst/>
            </c:spPr>
          </c:dPt>
          <c:dPt>
            <c:idx val="2"/>
            <c:invertIfNegative val="0"/>
            <c:bubble3D val="0"/>
            <c:spPr>
              <a:solidFill>
                <a:srgbClr val="7C8A3A"/>
              </a:solidFill>
              <a:effectLst/>
            </c:spPr>
          </c:dPt>
          <c:dPt>
            <c:idx val="3"/>
            <c:invertIfNegative val="0"/>
            <c:bubble3D val="0"/>
            <c:spPr>
              <a:solidFill>
                <a:srgbClr val="7C8A3A"/>
              </a:solidFill>
              <a:effectLst/>
            </c:spPr>
          </c:dPt>
          <c:dPt>
            <c:idx val="4"/>
            <c:invertIfNegative val="0"/>
            <c:bubble3D val="0"/>
            <c:spPr>
              <a:solidFill>
                <a:srgbClr val="7C8A3A"/>
              </a:solidFill>
              <a:effectLst/>
            </c:spPr>
          </c:dPt>
          <c:dPt>
            <c:idx val="5"/>
            <c:invertIfNegative val="0"/>
            <c:bubble3D val="0"/>
            <c:spPr>
              <a:solidFill>
                <a:srgbClr val="7C8A3A"/>
              </a:solidFill>
              <a:effectLst/>
            </c:spPr>
          </c:dPt>
          <c:dPt>
            <c:idx val="6"/>
            <c:invertIfNegative val="0"/>
            <c:bubble3D val="0"/>
            <c:spPr>
              <a:solidFill>
                <a:srgbClr val="7C8A3A"/>
              </a:solidFill>
              <a:effectLst/>
            </c:spPr>
          </c:dPt>
          <c:dPt>
            <c:idx val="7"/>
            <c:invertIfNegative val="0"/>
            <c:bubble3D val="0"/>
            <c:spPr>
              <a:solidFill>
                <a:srgbClr val="7C8A3A"/>
              </a:solidFill>
              <a:effectLst/>
            </c:spPr>
          </c:dPt>
          <c:dPt>
            <c:idx val="8"/>
            <c:invertIfNegative val="0"/>
            <c:bubble3D val="0"/>
            <c:spPr>
              <a:solidFill>
                <a:srgbClr val="7C8A3A"/>
              </a:solidFill>
              <a:effectLst/>
            </c:spPr>
          </c:dPt>
          <c:dPt>
            <c:idx val="9"/>
            <c:invertIfNegative val="0"/>
            <c:bubble3D val="0"/>
            <c:spPr>
              <a:solidFill>
                <a:srgbClr val="7C8A3A"/>
              </a:solidFill>
              <a:effectLst/>
            </c:spPr>
          </c:dPt>
          <c:dPt>
            <c:idx val="10"/>
            <c:invertIfNegative val="0"/>
            <c:bubble3D val="0"/>
            <c:spPr>
              <a:solidFill>
                <a:srgbClr val="7C8A3A"/>
              </a:solidFill>
              <a:effectLst/>
            </c:spPr>
          </c:dPt>
          <c:dPt>
            <c:idx val="11"/>
            <c:invertIfNegative val="0"/>
            <c:bubble3D val="0"/>
            <c:spPr>
              <a:solidFill>
                <a:srgbClr val="7C8A3A"/>
              </a:solidFill>
              <a:effectLst/>
            </c:spPr>
          </c:dPt>
          <c:cat>
            <c:multiLvlStrRef>
              <c:f>Sheet1!$A$2:$A$13</c:f>
              <c:multiLvlStrCache>
                <c:ptCount val="12"/>
                <c:lvl>
                  <c:pt idx="0">
                    <c:v>Ene</c:v>
                  </c:pt>
                  <c:pt idx="1">
                    <c:v>Feb</c:v>
                  </c:pt>
                  <c:pt idx="2">
                    <c:v>Mar</c:v>
                  </c:pt>
                  <c:pt idx="3">
                    <c:v>Abr</c:v>
                  </c:pt>
                  <c:pt idx="4">
                    <c:v>May</c:v>
                  </c:pt>
                  <c:pt idx="5">
                    <c:v>Jun</c:v>
                  </c:pt>
                  <c:pt idx="6">
                    <c:v>Jul</c:v>
                  </c:pt>
                  <c:pt idx="7">
                    <c:v>Ago</c:v>
                  </c:pt>
                  <c:pt idx="8">
                    <c:v>Set</c:v>
                  </c:pt>
                  <c:pt idx="9">
                    <c:v>Oct</c:v>
                  </c:pt>
                  <c:pt idx="10">
                    <c:v>Nov</c:v>
                  </c:pt>
                  <c:pt idx="11">
                    <c:v>Dic</c:v>
                  </c:pt>
                </c:lvl>
              </c:multiLvlStrCache>
            </c:multiLvlStrRef>
          </c:cat>
          <c:val>
            <c:numRef>
              <c:f>Sheet1!$B$2:$B$13</c:f>
              <c:numCache>
                <c:formatCode>General</c:formatCode>
                <c:ptCount val="12"/>
                <c:pt idx="0">
                  <c:v>-2539</c:v>
                </c:pt>
                <c:pt idx="1">
                  <c:v>-1513</c:v>
                </c:pt>
                <c:pt idx="2">
                  <c:v>1253</c:v>
                </c:pt>
                <c:pt idx="3">
                  <c:v>368</c:v>
                </c:pt>
                <c:pt idx="4">
                  <c:v>1463</c:v>
                </c:pt>
                <c:pt idx="5">
                  <c:v>920</c:v>
                </c:pt>
                <c:pt idx="6">
                  <c:v>820</c:v>
                </c:pt>
                <c:pt idx="7">
                  <c:v>1818</c:v>
                </c:pt>
                <c:pt idx="8">
                  <c:v>2506</c:v>
                </c:pt>
                <c:pt idx="9">
                  <c:v>2880</c:v>
                </c:pt>
                <c:pt idx="10">
                  <c:v>2662</c:v>
                </c:pt>
                <c:pt idx="11">
                  <c:v>2784</c:v>
                </c:pt>
              </c:numCache>
            </c:numRef>
          </c:val>
        </c:ser>
        <c:dLbls>
          <c:numFmt formatCode="#,##0" sourceLinked="0"/>
          <c:txPr>
            <a:bodyPr/>
            <a:lstStyle/>
            <a:p>
              <a:pPr>
                <a:defRPr b="0" i="0" strike="noStrike" sz="1100" u="none">
                  <a:solidFill>
                    <a:srgbClr val="3B1A14"/>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B3A2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8D8C4"/>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6B3A2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4A2018"/>
                </a:solidFill>
                <a:latin typeface="+mn-lt"/>
              </a:defRPr>
            </a:pPr>
            <a:r>
              <a:rPr sz="1500" b="1" i="0" u="none" strike="noStrike">
                <a:solidFill>
                  <a:srgbClr val="4A2018"/>
                </a:solidFill>
                <a:latin typeface="+mn-lt"/>
              </a:rPr>
              <a:t>Ganancia o pérdida de cada mes (S/, antes de intereses e impuesto)</a:t>
            </a:r>
          </a:p>
        </c:rich>
      </c:tx>
      <c:layout/>
      <c:overlay val="0"/>
    </c:title>
    <c:autoTitleDeleted val="0"/>
    <c:plotArea>
      <c:layout/>
      <c:barChart>
        <c:barDir val="col"/>
        <c:grouping val="clustered"/>
        <c:varyColors val="0"/>
        <c:ser>
          <c:idx val="0"/>
          <c:order val="0"/>
          <c:tx>
            <c:strRef>
              <c:f>Sheet1!$B$1</c:f>
              <c:strCache>
                <c:ptCount val="1"/>
                <c:pt idx="0">
                  <c:v>2027 (año 1)</c:v>
                </c:pt>
              </c:strCache>
            </c:strRef>
          </c:tx>
          <c:spPr>
            <a:solidFill>
              <a:srgbClr val="D9B48F"/>
            </a:solidFill>
            <a:effectLst/>
          </c:spPr>
          <c:invertIfNegative val="0"/>
          <c:dLbls>
            <c:numFmt formatCode="#,##0" sourceLinked="0"/>
            <c:txPr>
              <a:bodyPr/>
              <a:lstStyle/>
              <a:p>
                <a:pPr>
                  <a:defRPr b="0" i="0" strike="noStrike" sz="1200" u="none">
                    <a:solidFill>
                      <a:srgbClr val="3B1A14"/>
                    </a:solidFill>
                    <a:latin typeface="+mn-lt"/>
                  </a:defRPr>
                </a:pPr>
              </a:p>
            </c:txPr>
            <c:showLegendKey val="0"/>
            <c:showVal val="0"/>
            <c:showCatName val="0"/>
            <c:showSerName val="0"/>
            <c:showPercent val="0"/>
            <c:showBubbleSize val="0"/>
            <c:showLeaderLines val="0"/>
          </c:dLbls>
          <c:cat>
            <c:multiLvlStrRef>
              <c:f>Sheet1!$A$2:$A$13</c:f>
              <c:multiLvlStrCache>
                <c:ptCount val="12"/>
                <c:lvl>
                  <c:pt idx="0">
                    <c:v>Ene</c:v>
                  </c:pt>
                  <c:pt idx="1">
                    <c:v>Feb</c:v>
                  </c:pt>
                  <c:pt idx="2">
                    <c:v>Mar</c:v>
                  </c:pt>
                  <c:pt idx="3">
                    <c:v>Abr</c:v>
                  </c:pt>
                  <c:pt idx="4">
                    <c:v>May</c:v>
                  </c:pt>
                  <c:pt idx="5">
                    <c:v>Jun</c:v>
                  </c:pt>
                  <c:pt idx="6">
                    <c:v>Jul</c:v>
                  </c:pt>
                  <c:pt idx="7">
                    <c:v>Ago</c:v>
                  </c:pt>
                  <c:pt idx="8">
                    <c:v>Set</c:v>
                  </c:pt>
                  <c:pt idx="9">
                    <c:v>Oct</c:v>
                  </c:pt>
                  <c:pt idx="10">
                    <c:v>Nov</c:v>
                  </c:pt>
                  <c:pt idx="11">
                    <c:v>Dic</c:v>
                  </c:pt>
                </c:lvl>
              </c:multiLvlStrCache>
            </c:multiLvlStrRef>
          </c:cat>
          <c:val>
            <c:numRef>
              <c:f>Sheet1!$B$2:$B$13</c:f>
              <c:numCache>
                <c:formatCode>General</c:formatCode>
                <c:ptCount val="12"/>
                <c:pt idx="0">
                  <c:v>-2539</c:v>
                </c:pt>
                <c:pt idx="1">
                  <c:v>-1513</c:v>
                </c:pt>
                <c:pt idx="2">
                  <c:v>1253</c:v>
                </c:pt>
                <c:pt idx="3">
                  <c:v>368</c:v>
                </c:pt>
                <c:pt idx="4">
                  <c:v>1463</c:v>
                </c:pt>
                <c:pt idx="5">
                  <c:v>920</c:v>
                </c:pt>
                <c:pt idx="6">
                  <c:v>820</c:v>
                </c:pt>
                <c:pt idx="7">
                  <c:v>1818</c:v>
                </c:pt>
                <c:pt idx="8">
                  <c:v>2506</c:v>
                </c:pt>
                <c:pt idx="9">
                  <c:v>2880</c:v>
                </c:pt>
                <c:pt idx="10">
                  <c:v>2662</c:v>
                </c:pt>
                <c:pt idx="11">
                  <c:v>2784</c:v>
                </c:pt>
              </c:numCache>
            </c:numRef>
          </c:val>
        </c:ser>
        <c:ser>
          <c:idx val="1"/>
          <c:order val="1"/>
          <c:tx>
            <c:strRef>
              <c:f>Sheet1!$C$1</c:f>
              <c:strCache>
                <c:ptCount val="1"/>
                <c:pt idx="0">
                  <c:v>2028 (año 2)</c:v>
                </c:pt>
              </c:strCache>
            </c:strRef>
          </c:tx>
          <c:spPr>
            <a:solidFill>
              <a:srgbClr val="BA4036"/>
            </a:solidFill>
            <a:effectLst/>
          </c:spPr>
          <c:invertIfNegative val="0"/>
          <c:dLbls>
            <c:numFmt formatCode="#,##0" sourceLinked="0"/>
            <c:txPr>
              <a:bodyPr/>
              <a:lstStyle/>
              <a:p>
                <a:pPr>
                  <a:defRPr b="0" i="0" strike="noStrike" sz="1200" u="none">
                    <a:solidFill>
                      <a:srgbClr val="3B1A14"/>
                    </a:solidFill>
                    <a:latin typeface="+mn-lt"/>
                  </a:defRPr>
                </a:pPr>
              </a:p>
            </c:txPr>
            <c:showLegendKey val="0"/>
            <c:showVal val="0"/>
            <c:showCatName val="0"/>
            <c:showSerName val="0"/>
            <c:showPercent val="0"/>
            <c:showBubbleSize val="0"/>
            <c:showLeaderLines val="0"/>
          </c:dLbls>
          <c:cat>
            <c:multiLvlStrRef>
              <c:f>Sheet1!$A$2:$A$13</c:f>
              <c:multiLvlStrCache>
                <c:ptCount val="12"/>
                <c:lvl>
                  <c:pt idx="0">
                    <c:v>Ene</c:v>
                  </c:pt>
                  <c:pt idx="1">
                    <c:v>Feb</c:v>
                  </c:pt>
                  <c:pt idx="2">
                    <c:v>Mar</c:v>
                  </c:pt>
                  <c:pt idx="3">
                    <c:v>Abr</c:v>
                  </c:pt>
                  <c:pt idx="4">
                    <c:v>May</c:v>
                  </c:pt>
                  <c:pt idx="5">
                    <c:v>Jun</c:v>
                  </c:pt>
                  <c:pt idx="6">
                    <c:v>Jul</c:v>
                  </c:pt>
                  <c:pt idx="7">
                    <c:v>Ago</c:v>
                  </c:pt>
                  <c:pt idx="8">
                    <c:v>Set</c:v>
                  </c:pt>
                  <c:pt idx="9">
                    <c:v>Oct</c:v>
                  </c:pt>
                  <c:pt idx="10">
                    <c:v>Nov</c:v>
                  </c:pt>
                  <c:pt idx="11">
                    <c:v>Dic</c:v>
                  </c:pt>
                </c:lvl>
              </c:multiLvlStrCache>
            </c:multiLvlStrRef>
          </c:cat>
          <c:val>
            <c:numRef>
              <c:f>Sheet1!$C$2:$C$13</c:f>
              <c:numCache>
                <c:formatCode>General</c:formatCode>
                <c:ptCount val="12"/>
                <c:pt idx="0">
                  <c:v>791</c:v>
                </c:pt>
                <c:pt idx="1">
                  <c:v>-40</c:v>
                </c:pt>
                <c:pt idx="2">
                  <c:v>2779</c:v>
                </c:pt>
                <c:pt idx="3">
                  <c:v>2672</c:v>
                </c:pt>
                <c:pt idx="4">
                  <c:v>3317</c:v>
                </c:pt>
                <c:pt idx="5">
                  <c:v>3023</c:v>
                </c:pt>
                <c:pt idx="6">
                  <c:v>2668</c:v>
                </c:pt>
                <c:pt idx="7">
                  <c:v>3082</c:v>
                </c:pt>
                <c:pt idx="8">
                  <c:v>3023</c:v>
                </c:pt>
                <c:pt idx="9">
                  <c:v>3071</c:v>
                </c:pt>
                <c:pt idx="10">
                  <c:v>3071</c:v>
                </c:pt>
                <c:pt idx="11">
                  <c:v>3001</c:v>
                </c:pt>
              </c:numCache>
            </c:numRef>
          </c:val>
        </c:ser>
        <c:dLbls>
          <c:numFmt formatCode="#,##0" sourceLinked="0"/>
          <c:txPr>
            <a:bodyPr/>
            <a:lstStyle/>
            <a:p>
              <a:pPr>
                <a:defRPr b="0" i="0" strike="noStrike" sz="1200" u="none">
                  <a:solidFill>
                    <a:srgbClr val="3B1A14"/>
                  </a:solidFill>
                  <a:latin typeface="+mn-lt"/>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B3A2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8D8C4"/>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6B3A2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6B3A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1" i="0" u="none" strike="noStrike">
                <a:solidFill>
                  <a:srgbClr val="4A2018"/>
                </a:solidFill>
                <a:latin typeface="+mn-lt"/>
              </a:defRPr>
            </a:pPr>
            <a:r>
              <a:rPr sz="1500" b="1" i="0" u="none" strike="noStrike">
                <a:solidFill>
                  <a:srgbClr val="4A2018"/>
                </a:solidFill>
                <a:latin typeface="+mn-lt"/>
              </a:rPr>
              <a:t>Precio por 20 g (S/)</a:t>
            </a:r>
          </a:p>
        </c:rich>
      </c:tx>
      <c:layout/>
      <c:overlay val="0"/>
    </c:title>
    <c:autoTitleDeleted val="0"/>
    <c:plotArea>
      <c:layout/>
      <c:barChart>
        <c:barDir val="bar"/>
        <c:grouping val="stacked"/>
        <c:varyColors val="0"/>
        <c:ser>
          <c:idx val="0"/>
          <c:order val="0"/>
          <c:tx>
            <c:strRef>
              <c:f>Sheet1!$B$1</c:f>
              <c:strCache>
                <c:ptCount val="1"/>
                <c:pt idx="0">
                  <c:v>Competencia</c:v>
                </c:pt>
              </c:strCache>
            </c:strRef>
          </c:tx>
          <c:spPr>
            <a:solidFill>
              <a:srgbClr val="D9B48F"/>
            </a:solidFill>
            <a:effectLst/>
          </c:spPr>
          <c:invertIfNegative val="0"/>
          <c:dLbls>
            <c:numFmt formatCode="&quot;S/&quot;0.00;;;" sourceLinked="0"/>
            <c:txPr>
              <a:bodyPr/>
              <a:lstStyle/>
              <a:p>
                <a:pPr>
                  <a:defRPr b="1" i="0" strike="noStrike" sz="1200" u="none">
                    <a:solidFill>
                      <a:srgbClr val="3B1A14"/>
                    </a:solidFill>
                    <a:latin typeface="+mn-lt"/>
                  </a:defRPr>
                </a:pPr>
              </a:p>
            </c:txPr>
            <c:dLblPos val="inEnd"/>
            <c:showLegendKey val="0"/>
            <c:showVal val="1"/>
            <c:showCatName val="0"/>
            <c:showSerName val="0"/>
            <c:showPercent val="0"/>
            <c:showBubbleSize val="0"/>
            <c:showLeaderLines val="0"/>
          </c:dLbls>
          <c:cat>
            <c:multiLvlStrRef>
              <c:f>Sheet1!$A$2:$A$8</c:f>
              <c:multiLvlStrCache>
                <c:ptCount val="7"/>
                <c:lvl>
                  <c:pt idx="0">
                    <c:v>Bimbo Nutra Bien</c:v>
                  </c:pt>
                  <c:pt idx="1">
                    <c:v>Siete Dragones</c:v>
                  </c:pt>
                  <c:pt idx="2">
                    <c:v>Nutri H</c:v>
                  </c:pt>
                  <c:pt idx="3">
                    <c:v>Fika</c:v>
                  </c:pt>
                  <c:pt idx="4">
                    <c:v>Mamalama</c:v>
                  </c:pt>
                  <c:pt idx="5">
                    <c:v>AndiBite pack de 12</c:v>
                  </c:pt>
                  <c:pt idx="6">
                    <c:v>AndiBite pack de 6</c:v>
                  </c:pt>
                </c:lvl>
              </c:multiLvlStrCache>
            </c:multiLvlStrRef>
          </c:cat>
          <c:val>
            <c:numRef>
              <c:f>Sheet1!$B$2:$B$8</c:f>
              <c:numCache>
                <c:formatCode>General</c:formatCode>
                <c:ptCount val="7"/>
                <c:pt idx="0">
                  <c:v>1.67</c:v>
                </c:pt>
                <c:pt idx="1">
                  <c:v>3.01</c:v>
                </c:pt>
                <c:pt idx="2">
                  <c:v>3.2</c:v>
                </c:pt>
                <c:pt idx="3">
                  <c:v>4</c:v>
                </c:pt>
                <c:pt idx="4">
                  <c:v>4.1</c:v>
                </c:pt>
                <c:pt idx="5">
                  <c:v>0</c:v>
                </c:pt>
                <c:pt idx="6">
                  <c:v>0</c:v>
                </c:pt>
              </c:numCache>
            </c:numRef>
          </c:val>
        </c:ser>
        <c:ser>
          <c:idx val="1"/>
          <c:order val="1"/>
          <c:tx>
            <c:strRef>
              <c:f>Sheet1!$C$1</c:f>
              <c:strCache>
                <c:ptCount val="1"/>
                <c:pt idx="0">
                  <c:v>AndiBite</c:v>
                </c:pt>
              </c:strCache>
            </c:strRef>
          </c:tx>
          <c:spPr>
            <a:solidFill>
              <a:srgbClr val="BA4036"/>
            </a:solidFill>
            <a:effectLst/>
          </c:spPr>
          <c:invertIfNegative val="0"/>
          <c:dLbls>
            <c:numFmt formatCode="&quot;S/&quot;0.00;;;" sourceLinked="0"/>
            <c:txPr>
              <a:bodyPr/>
              <a:lstStyle/>
              <a:p>
                <a:pPr>
                  <a:defRPr b="1" i="0" strike="noStrike" sz="1200" u="none">
                    <a:solidFill>
                      <a:srgbClr val="3B1A14"/>
                    </a:solidFill>
                    <a:latin typeface="+mn-lt"/>
                  </a:defRPr>
                </a:pPr>
              </a:p>
            </c:txPr>
            <c:dLblPos val="inEnd"/>
            <c:showLegendKey val="0"/>
            <c:showVal val="1"/>
            <c:showCatName val="0"/>
            <c:showSerName val="0"/>
            <c:showPercent val="0"/>
            <c:showBubbleSize val="0"/>
            <c:showLeaderLines val="0"/>
          </c:dLbls>
          <c:cat>
            <c:multiLvlStrRef>
              <c:f>Sheet1!$A$2:$A$8</c:f>
              <c:multiLvlStrCache>
                <c:ptCount val="7"/>
                <c:lvl>
                  <c:pt idx="0">
                    <c:v>Bimbo Nutra Bien</c:v>
                  </c:pt>
                  <c:pt idx="1">
                    <c:v>Siete Dragones</c:v>
                  </c:pt>
                  <c:pt idx="2">
                    <c:v>Nutri H</c:v>
                  </c:pt>
                  <c:pt idx="3">
                    <c:v>Fika</c:v>
                  </c:pt>
                  <c:pt idx="4">
                    <c:v>Mamalama</c:v>
                  </c:pt>
                  <c:pt idx="5">
                    <c:v>AndiBite pack de 12</c:v>
                  </c:pt>
                  <c:pt idx="6">
                    <c:v>AndiBite pack de 6</c:v>
                  </c:pt>
                </c:lvl>
              </c:multiLvlStrCache>
            </c:multiLvlStrRef>
          </c:cat>
          <c:val>
            <c:numRef>
              <c:f>Sheet1!$C$2:$C$8</c:f>
              <c:numCache>
                <c:formatCode>General</c:formatCode>
                <c:ptCount val="7"/>
                <c:pt idx="0">
                  <c:v>0</c:v>
                </c:pt>
                <c:pt idx="1">
                  <c:v>0</c:v>
                </c:pt>
                <c:pt idx="2">
                  <c:v>0</c:v>
                </c:pt>
                <c:pt idx="3">
                  <c:v>0</c:v>
                </c:pt>
                <c:pt idx="4">
                  <c:v>0</c:v>
                </c:pt>
                <c:pt idx="5">
                  <c:v>4.16</c:v>
                </c:pt>
                <c:pt idx="6">
                  <c:v>4.48</c:v>
                </c:pt>
              </c:numCache>
            </c:numRef>
          </c:val>
        </c:ser>
        <c:dLbls>
          <c:numFmt formatCode="&quot;S/&quot;0.00;;;" sourceLinked="0"/>
          <c:txPr>
            <a:bodyPr/>
            <a:lstStyle/>
            <a:p>
              <a:pPr>
                <a:defRPr b="1" i="0" strike="noStrike" sz="1200" u="none">
                  <a:solidFill>
                    <a:srgbClr val="3B1A14"/>
                  </a:solidFill>
                  <a:latin typeface="+mn-lt"/>
                </a:defRPr>
              </a:pPr>
            </a:p>
          </c:txPr>
          <c:dLblPos val="inEnd"/>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6B3A2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6B3A2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los trabajos de campo 5 a 8 de AndiBite, el mini brownie de 20 g con sangrecita. Todo sale de la misma base: el público reformulado (padres conscientes y planificados, NSE A/B), el costeo con maquila y los precios confirmados por el equipo el 10 de octubre de 2026 (unidad a S/6.00, caja de 3 sabores a S/16.50 y pack de 6 a S/27.90 en el stand), con el modelo financiero v7. La innovación tecnológica es la app Andi, Misión Hierro, que viene con cada envase.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cuatro trabajos se conectan: el cliente (TC5) define cómo nos relacionamos y cobramos (TC6); eso arma el Canvas con socios, recursos, actividades y costos (TC7); y todo se resume en el mapa de propuesta de valor (TC8).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Trabajo de campo 5: arquetipo de cliente, buyer persona, tipos de mercado y selección del canal de distribución.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Sesión 05: el público objetivo orienta (un rango de edad, NSE y distrito) y el arquetipo conecta (una persona con nombre, dolor y hábito). Regla de 3 de la clase: nombre, dolor y hábito. Le vendemos a Claudia y a Rodrigo, no a "madres de 32 a 45". Atendemos a los dos segmentos con el mismo esfuerzo: en Lima Top (zona 7 de APEIM) el 51.4 % de los hogares es B y el 20.2 % es A, y en Lima Moderna (zona 6) 51.7 % B y 11.8 % A; o sea, unos 7 de cada 10 hogares A/B de esas zonas son B. Datos: APEIM 2025, CPI 2026 y documento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Partes esenciales de un arquetipo según la sesión 05: nombre, edad y ocupación; hábitos, frustraciones y valores; canales y comportamiento de compra. Guardiana del Hierro (la representa Claudia, segmento A), El Resolutivo (Rodrigo, segmento B) y El Consejero (quiosco, nutricionista o pediatra: en marketing se le llama prescriptor), que recomienda la marca a los otros dos. Los porcentajes son el peso esperado de cada arquetipo en el volumen.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Claudia Mendoza Ríos, 38 años, San Borja (zona 7 de APEIM, 71.6 % de hogares A/B). Abogada corporativa, casada con Diego, hijos Matías (7) y Luciana (4); fue madre a los 31 y 34, como el 53.1 % de las madres de Lima que tienen hijos después de los 30. Ingreso familiar S/13,500 (hipótesis entre los promedios B y A de APEIM 2025). Objeciones: ¿no sabe a sangrecita?, ¿cuántos mg de hierro?, ¿tiene registro sanitario? Cómo le vendemos: degustación con el niño delante, hierro en mg y registro sanitario visibles.
IMAGEN 1 — prompt para Nano Banana (proporción 3:4):
Photorealistic editorial portrait of a 38-year-old Peruvian woman, a corporate lawyer from San Borja, Lima. Latin American mestiza features, shoulder-length dark brown hair, natural makeup, warm and confident half-smile. She wears a cream silk blouse under a camel blazer. She stands in a bright modern kitchen early in the morning, holding a child's school lunchbox in both hands. Soft window light from the left, background softly blurred with warm wood and cream tones and small accents of chocolate brown and brick red. Shot on an 85mm lens at f/2, shallow depth of field, natural skin texture, no retouched plastic look. Vertical 3:4 composition, waist-up framing, subject centered with some space above the head. No text, no logos, no watermark.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Rodrigo Salazar, 40 años, San Miguel (zona 6 de APEIM, Lima Moderna: 51.7 % de los hogares es B). Representa al segmento B, que son 7 de cada 10 hogares A/B de Lima Top y Moderna. Jefe de logística en una empresa de consumo masivo; su esposa es analista contable y los dos trabajan. Ingreso familiar S/8,500 al mes (hipótesis dentro del NSE B: el promedio B de APEIM 2025 es S/7,787 y el A, S/14,584). Sus hijos de 9 y 6 van a un colegio privado de pensión media (en Lima, de S/400 a 900 al mes por hijo según cuantomecuesta.com, abril de 2026). Él arma las loncheras de la mañana. No busca salud, busca resolver: un pack que dure la semana, que aguante la mochila y que pueda pedir por WhatsApp con recordatorio. Compra en Plaza Vea y Tottus, por apps y por WhatsApp; se entera por el chat del salón. Mira el precio por brownie: el pack de 6 a S/4.48 por WhatsApp está dentro de lo que pagaría (S/18 a 24 por 6, o S/3 a 4 por unidad), y el pack de 12 a S/49.90 (S/24.95 por cada 6) queda en el borde; lo justifican el hierro medido, la app que le arma las loncheras y el aviso antes de que se acabe el pack. Dónde lo encontramos: Real Plaza Salaverry y Open Plaza Angamos, el carrito en Plaza Vea y las kermeses de su colegio.
IMAGEN 2 — prompt para Nano Banana (proporción 3:4):
Photorealistic editorial portrait of a 40-year-old Peruvian man, a logistics supervisor from San Miguel, Lima, middle-class. Short dark hair with a few grey strands, light stubble, friendly and practical expression, slightly hurried morning energy. He wears a simple grey polo shirt and a basic wristwatch. Early morning in a small, tidy apartment kitchen: he holds his phone in one hand (a chat app on screen, not legible) while closing a child's school lunchbox with the other. Warm morning light, cream walls, wooden counter, small accents of chocolate brown and brick red. 85mm lens, f/2, shallow depth of field, natural skin texture. Vertical 3:4 composition, waist-up framing. No text, no logos, no watermark.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Tipos de mercado de la sesión 05: consumo, industrial, servicios, gobierno y global. AndiBite vende en el MERCADO DE CONSUMO: personas que compran para su familia y buscan conveniencia y confianza. Industrial y servicios no aplican. Gobierno (programas contra la anemia) y global (peruanos en el exterior) quedan como opción para el año 3, cuando haya volumen y registro de exportación. Dentro del consumo atacamos un nicho (NSE A/B de Lima Top y Moderna) con dos segmentos: salud verificable y ahorro de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Embudo del documento 04 (APEIM 2025, CPI 2026, INEI, Kantar). En la diapositiva usamos palabras simples para las siglas: mercado total = TAM, mercado al que apuntamos = SAM y meta del año 1 = SOM. TAM: todas las loncheras con horneado o snack envasado de niños de 4 a 11 años en Lima y Callao (S/130.9 millones). SAM: niños de NSE A/B en toda Lima a precio premium (S/62.8 millones). Núcleo: NSE A/B de las zonas 6 y 7 de APEIM (S/17.3 millones). SOM del año 1 (enero a diciembre de 2027): 52,331 brownies y S/244,728 con IGV, vendidos sobre todo en stands, carritos y ferias; es apenas el 1.4 % del núcleo. Ajuste de -5 % por el Censo 2025 aplicado en el documento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cinco fases del canal según Osterwalder. Por indicación de la profesora, la venta física es el mejor escenario: el focus 1 mostró que sin prueba del niño no hay compra, y en el stand el niño prueba delante del padre. La compra se cierra en el stand (fase en rojo). En la posventa, el padre escanea el QR del envase, ve en la app el hierro medido de su lote y recibe el aviso de recompra, que abre WhatsApp con el pedido listo, sin suscripción. Canal directo (sesión 05: sin intermediarios, más esfuerzo y más control) frente a canal indirecto (minoristas que venden por nosotros). Unidades del año 1 (Excel v7, hoja Mensual): stands y carritos 22,625; WhatsApp 9,421; colegios 9,165; ferias y eventos 7,400; naturistas 3,720. Por WhatsApp las entregas se agrupan 2 días por semana por zona, o el padre recoge en el stand: así el delivery baja de S/0.80 a S/0.50 por brownie.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Criterios: margen por brownie (lo que deja cada brownie antes del espacio y el personal, Excel v7: stand S/2.41, feria S/2.52, WhatsApp S/1.39, quiosco S/0.86, naturista S/0.80), control del mensaje, costo de entrada, alcance del segmento y prueba del niño, que según el focus 1 es la condición para comprar. La góndola del supermercado se queda con 20 a 40 % y paga a 30-90 días: entra en el año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Puntos de venta (documento 08), repartidos para llegar con el mismo esfuerzo al padre A y al padre B. Malls: Jockey Plaza y La Rambla San Borja (Lima Top, A y B); Real Plaza Salaverry (Jesús María, Lima Moderna), con la Placita del Emprendimiento del programa Perú Pasión de Intercorp, y Open Plaza Angamos (Surquillo), con el programa Open Emerge de espacios para emprendedores (público B); Larcomar queda como alternativa. Carrito en Wong o Vivanda (A) y en Plaza Vea (B). Orden de apertura: 1.er punto en enero en Jockey (A y B), 2.º punto en febrero en Real Plaza Salaverry u Open Plaza Angamos (B) y 3.er punto en agosto en La Rambla o en el carrito de Wong o Vivanda (A). Colegios: quioscos y kermeses en colegios de pensión alta de Lima Top (A) y en cadenas de pensión media como Innova Schools (39 sedes en Lima, B); un solo acuerdo con una cadena abre varias sedes. El quiosco solo puede vender productos sin octógonos (lineamientos de alimentación saludable del MINSA y la RVM 076-2019-MINEDU), por eso el brownie sin octógono es la llave de entrada; el quiosco lo opera un concesionario elegido por el colegio. 2 ferias pagadas, de campaña escolar (febrero) y del Día del Niño Peruano (segundo domingo de abril); kermeses, cumpleaños y ferias saludables o municipales, que no cobran stand. Las ferias navideñas se sacaron del plan: con unos 700 brownies, una feria de S/1,800 pierde dinero si no deja clientes que vuelvan. Plan: 1 punto en enero, 2 de febrero a julio y 3 de agosto a diciembre de 2027, solo fines de semana. Cada punto y cada evento lo atiende un(a) vendedor(a) pagado(a) a S/90 por día; el espacio cuesta S/600 por punto al mes y el stand en feria, S/1,800 más 3 días de vendedor(a).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Trabajo de campo 6: relaciones con el cliente y los diferentes tipos de ingresos.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seis tipos de relación de Osterwalder y cómo los usa AndiBite. Las fuertes (asistencia personal en el stand, autoservicio y servicio automático con la app Andi, Misión Hierro, y comunidad de mamás embajadoras) sostienen la recompra; las de apoyo crecen con el volumen. La app calcula cuándo se acaba el pack según cuántos come el niño a la semana y avisa al padre (documento 09). Con los colegios y naturistas la relación es exclusiva: la coordinadora (en planilla) responde por cada cuenta. En el stand la compra se cierra ahí mismo; WhatsApp es para volver a comprar.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Captar: en el stand el niño prueba gratis delante del padre, que compra ahí mismo: la unidad (S/6.00), la caja de 3 sabores (S/16.50, sin cupón) o el pack de 6 (S/27.90). Fidelizar: la app Andi, Misión Hierro avisa cuando el pack está por acabarse y abre WhatsApp con el pedido listo, sin suscripción; además da el semáforo de hierro y el plan de loncheras de la semana. Crecer: una mamá embajadora por salón recomienda AndiBite en el chat del colegio con su código; por cada familia nueva que llega con su código recibe un pack de regalo o un descuento (S/200 al mes dentro del marketing). El premio es para el padre, nunca para el niño (Ley 30021). Luego se pasa al pack de 12. Metas del modelo: 80 brownies por día en cada punto, 35 % de lo vendido en físico vuelve por WhatsApp y 3 puntos de venta desde agosto de 2027.
IMAGEN 3 — prompt para Nano Banana (proporción 9:16 · adjuntar la foto del empaque):
Use the attached AndiBite package image only as a reference for the brand colors and the product. Top-down flat-lay photo of an open children's school lunchbox on a light wooden table: one mini chocolate brownie (about 5 x 3 cm, fudgy, dark cocoa color, crackly top) inside a small clear individual bag, fresh strawberries and banana slices in a small container, a reusable water bottle and a folded cloth napkin. Next to the lunchbox, the AndiBite stand-up pouch from the reference, slightly out of focus, label turned partly away. Soft natural morning light, clean food styling, warm palette of cream and chocolate brown with brick red accents. Vertical 9:16 composition, lunchbox centered, calm empty area at the top. Do not invent or rewrite any text on the package, no extra logos, no watermark.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Tipos de ingreso (Osterwalder): venta de activos en stands y carritos, en ferias y eventos, y por WhatsApp; y venta a colegios y tiendas (en inglés, B2B). Porcentajes sobre las ventas con IGV del año 1 (S/244,728, enero a diciembre de 2027), hoja Proyeccion del Excel v7. Mecanismo de precio: fijo por lista, con descuento por volumen. La caja de 3 sabores se vende en el stand a S/16.50 (S/5.50 por brownie) y por WhatsApp a S/12.00; por WhatsApp ya no se vende la unidad suelta. Al quiosco le vendemos a S/3.20 (el concesionario se queda 20 % de los S/4.00 que paga el alumno) y a la tienda naturista a S/18.50 (la tienda gana S/10.40 por pack, 36 %). Los precios al público no cambian.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Datos del Excel (hojas Proyeccion y Mensual). En el stand 5 de cada 10 brownies se venden sueltos a S/6.00 y 1 de cada 10 sale en la caja de 3 sabores, por eso la unidad trae el 51 % de los ingresos. Además se venden 330 packs de 12. Enero es el mes de arranque (un punto y vacaciones); en febrero entra la feria de campaña escolar, en marzo los colegios, en abril la feria del Día del Niño, en agosto el tercer punto y diciembre tiene 12 días de venta en los 3 puntos, sin ferias pagadas.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Trabajo de campo 7: asociaciones, recursos, actividades y costos; presentación del modelo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Regla de las 3 C (sesión 07): una alianza es clave si cumple 2 o más: conecta con tu cliente (nos acerca a él), convierte valor en acción (hace posible la venta) y complementa lo que no tienes (pone lo que nos falta). Todos los socios cumplen al menos 2. La planta y los proveedores no conectan con el cliente, pero convierten (producen) y complementan (planta con certificación sanitaria HACCP que no tenemos). Los puntos de venta (malls, supermercados, ferias, quioscos y naturistas) cumplen las 3: tienen el público, permiten vender sin local propio y ponen el espacio. El laboratorio está acreditado por INACAL (el instituto que certifica laboratorios). El proveedor de sangrecita de res en polvo liofilizada tiene registro sanitario, así que la planta no manipula sangre cruda. El desarrollador de la app y Google Cloud (servidor y la IA del plan de loncheras) convierten y complementan lo digital; los pediatras y la nutricionista conectan con los padres y convierten porque su recomendación da confianza.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de la sesión 07: un recurso es clave si respondes sí a 2 de 3 preguntas: si falta, ¿la idea no funciona?, ¿te diferencia?, ¿es difícil de copiar? La fórmula, la marca con registro sanitario y la app Andi, Misión Hierro con su base de clientes pasan las 3: la app junta el hierro medido de cada lote con los hábitos de compra de cada familia, algo que un competidor no copia rápido. Tipos: físicos, digitales, humanos, financieros e intangibles. La inversión inicial de S/40,876 está en la hoja Inversion del Excel v7: S/25,000 de los socios y un préstamo de S/16,000 en 24 cuotas, más una línea de crédito de respaldo de S/3,000.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Sesión 08: toda actividad genera un costo. Tipos de actividad de Osterwalder, en palabras simples: producción, atender al cliente (en el libro, "resolución de problemas"), mantener canales (en el libro, "plataforma") y gestión. Producir cuesta S/1.64 por brownie en el pack de 6, todo incluido: fabricar S/1.06 (S/0.605 de insumos con sangrecita de res en polvo a S/300 por kg, y S/0.45 que nos cobra la planta) más S/0.58 de bolsita, doypack, etiquetas con el código de la app, calidad, transporte, almacén y merma. La calidad cuesta S/625 por la producción de cada mes (microbiológico S/250 y hierro S/375, que se publica en la app); el hierro se mide todos los meses hasta junio y cada 2 meses desde julio, cuando la receta ya es estable: en promedio S/0.12 por brownie. Vender en stands: S/600 por punto al mes y S/90 por día de vendedor(a). Ferias pagadas: S/1,800 de stand más 3 días de vendedor(a) (S/270); cada evento sin costo, S/90 de vendedor(a) y S/70 de aporte al organizador. Recompra: S/0.50 por brownie con entregas agrupadas 2 días por semana por zona y recojo en el stand. Contenido: S/700 de pauta y material, y S/200 para premiar a las mamás embajadoras. App: S/250 al mes de servidor y mantenimiento, más S/0.04 por código impreso. Administración: S/745 (contador, facturación, web, teléfono, movilidad, GS1, banco y uniformes) y la coordinadora en planilla, S/709. El carné de sanidad es requisito al contratar, así que no lo paga la empresa.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Hoja Costeo del Excel v7, por brownie y sin IGV (el IGV es del Estado, no nuestro). Producir: S/1.72 la unidad suelta (lleva su etiqueta con el código de la app), S/1.68 en la caja de 3, S/1.64 en el pack de 6 (opción B, cada brownie en su bolsita) y S/1.54 en el pack de 12. Vender: un brownie de degustación por cada 10 vendidos, movilidad, el 3 % del pago con Yape o tarjeta y el 1 % de pago a cuenta de renta. Lo que queda (S/2.86 la unidad, S/2.50 la caja de 3, S/1.85 el pack de 6 y S/1.69 el pack de 12) paga el espacio, al vendedor y los gastos fijos. Margen bruto en el stand: unidad 66 %, caja de 3 64 %, pack de 6 58 % y pack de 12 58 %. Cascada del año 1 (promedio de todos los canales): de S/4.68 que paga el cliente, S/0.71 es IGV, S/2.10 producir y vender, S/0.98 stands, ferias y eventos, S/0.63 gastos fijos y S/0.06 intereses e impuesto: quedan S/0.20 de ganancia final por brownie (utilidad neta de S/10,379 / 52,331 brownies). En el año 2 los gastos fijos se reparten entre más brownies y la ganancia final sube a S/0.40 (S/28,447 / 70,452). Nota: no hay planta propia, se paga por brownie hecho.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Hoja Inversion del Excel v7. Los documentos se consideran listos desde el primer día de ventas (enero de 2027, mes 1): su costo se paga una sola vez dentro de la inversión inicial y no limita la proyección. Siglas en palabras simples: S.A.C. es el tipo de empresa (sociedad anónima cerrada), que se crea en un Centro de Desarrollo Empresarial (CDE) de PRODUCE con notario; REMYPE es el registro de micro y pequeña empresa; la marca se registra en la clase 30 de INDECOPI, la de alimentos como pasteles y galletas; el seguro (póliza de responsabilidad civil) lo piden algunos malls y cuesta S/600 al año; la tasa del registro sanitario es S/0 con el TUPA 2026. El carné de sanidad ya no lo paga la empresa: es requisito para contratar a vendedores y coordinadora (ahorro de S/75; hay que verificar que el carné de su distrito valga en cada mall). El arranque incluye empaque (S/3,150, con los códigos de la app), stock de enero y febrero (S/4,801), marketing de lanzamiento (S/3,204) y capital de trabajo (S/8,000). Marca y app suman S/3,250: identidad S/800, fotos S/300, web y dominio S/150 y S/2,000 para terminar y publicar la app Andi, Misión Hierro, porque el prototipo ya funciona (documento 09). Financiamiento: S/25,000 de los 5 socios y un préstamo de S/16,000 a 24 cuotas de S/898 (tasa efectiva anual, TEA, de 35 %). Además se abre una línea de crédito de S/3,000 que solo se usa si las ventas bajan.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de equilibrio: cuántos brownies hay que vender en el mes para que lo que dejan cubra todos los costos de ese mes. Cada punto de venta que se abre sube la valla porque suma espacio (S/600) y vendedor (S/90 por día). Por eso el equilibrio sube en escalones: con 1 punto (enero) hacen falta unos 2,100 brownies; con 2 puntos, de 3,100 a 3,500 (abril llega a 4,232 por la feria del Día del Niño); con 3 puntos, de 4,200 a 4,400. Solo enero y febrero quedan por debajo. Costos de operar al mes, sin contar la fabricación (promedio de 2027, Excel v7): vendedores S/1,973, espacio S/1,400, administración y app S/995 (S/745 + S/250), marketing S/700 y embajadoras S/200, ferias y eventos S/878, coordinadora S/709 y depreciación S/134. El promedio anual que da el Excel es 3,096 brownies al mes (516 packs de 6), pero la línea mes a mes es la que se usa para decidir.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 operativo mensual de la opción B (hoja Mensual del Excel v7), con vendedores pagados en todos los stands y eventos y coordinadora en planilla. Enero pierde S/2,539 (un solo punto y vacaciones) y febrero S/1,513 (abre el segundo punto y se paga la feria de campaña escolar); desde marzo todos los meses ganan, aunque abril queda justo (S/368) por la feria del Día del Niño. Del resultado operativo (S/13,423) a la utilidad neta: más S/2,074 de pagos a cuenta ya restados, menos S/3,965 de intereses del préstamo y menos S/1,153 de impuesto a la renta (Régimen MYPE Tributario, 10 %): S/10,379. Sobre los S/25,000 de los socios, eso es 42 % en el primer año. La inversión de S/40,876 se recupera en el mes 23 (noviembre de 2028). Riesgos: si las ventas por punto bajan 20 %, el año 1 queda casi en cero (S/608) y la caja baja a −S/2,188: la cubre la línea de crédito de S/3,000. Si suben 20 %, el resultado llega a S/26,237 y se recupera en el mes 17. Si el espacio cuesta S/1,000 por punto, el resultado baja a S/2,223. El año 2 tiene su propia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Hoja Anio2 del Excel v7 (enero a diciembre de 2028). Supuestos: los 3 puntos de venta abren todo el año con 80 brownies por día en enero y febrero y 90 el resto (el ritmo con el que cerró 2027); los quioscos escolares venden todo el año escolar; las tiendas naturistas pasan de 480 a 660 brownies al mes; se repiten las ferias de campaña escolar y del Día del Niño; los precios, costos y la mezcla de presentaciones son los mismos de 2027. Es un escenario prudente: no cuenta el cuarto punto ni la maquila más barata, que solo se activan si se cumplen sus metas (ver el cierre). Resultado: 70,452 brownies, S/322,329 de ventas con IGV, S/30,459 de resultado operativo y S/28,447 de utilidad neta (los intereses bajan a S/1,582 porque el préstamo termina en diciembre de 2028). La caja cierra 2028 en S/33,684 con el préstamo pagado. Rentabilidad para los socios: 114 % de su aporte en el año 2. Febrero queda casi en cero (−S/40) por la feria de campaña escolar.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Canvas con los nueve bloques de Osterwalder y Pigneur, escrito en frases cortas y con las cifras del Excel v7, para que se entienda de un vistazo y muestre por qué el negocio es atractivo. Socios: la planta fabrica por nosotros (no compramos planta), el laboratorio mide el hierro de cada lote, el proveedor vende la sangrecita en polvo con registro sanitario, los malls y supermercados ponen el espacio, y los pediatras y la nutricionista nos recomiendan. Propuesta de valor: el snack de lonchera con hierro que el niño sí se come, con el hierro medido en cada lote y visible en la app, sabor a brownie y sin octógono. Canales (unidades del año 1): stands y carrito 43 %, WhatsApp 18 %, ferias y eventos 14 %, colegios y naturistas 25 %. Costos: S/1.64 por brownie (pack de 6), S/51,010 al año de stands, ferias, eventos y vendedores, S/2,738 al mes de gastos fijos con la app incluida. Ingresos: año 1 S/244,728 y S/10,379 de utilidad neta (42 % del aporte de los socios); año 2 S/322,329 y S/28,447 (114 %). La franja de abajo resume el argumento para un inversionista.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Trabajo de campo 8: mapa de propuesta de valor (Value Proposition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Proposition Canvas de Osterwalder. A la derecha, el perfil del cliente: trabajos, dolores y alegrías, con evidencia de las 10 entrevistas, el focus 1 y datos secundarios (Ipsos 2025, Kantar 2025, ENDES). A la izquierda, el mapa de valor: productos y servicios (incluida la app Andi, Misión Hierro), aliviadores de dolor y creadores de alegrías. El encaje se detalla en la siguiente diapositiva.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Encaje problema-solución. Evidencias: rechazo de la sangrecita visible en las entrevistas ("olía feo", "parecía carbón"); 83 % cambia su compra por los octógonos (Ipsos Perú, 21/02/2025); 42 % desconfía de que un envasado sea saludable (Kantar, 2025); "el jueves ya no sé qué mandar" y la mochila que malogra la comida (entrevistas). El "sin octógono" solo se imprime cuando el laboratorio lo confirme.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innovación tecnológica que pidió la profesora: una app propia que viene con el producto (documento 09). Es una app web instalable (PWA): el padre escanea el QR del envase y se abre, sin descargar nada. Modo padres: ve el hierro medido en laboratorio de su lote, el semáforo de hierro de la semana frente a una referencia por edad, el plan de loncheras (con IA de Gemini), el recordatorio del control de hemoglobina y la recompra en un clic por WhatsApp. Modo niños: Misión Hierro, con Andi, una llamita exploradora; cuatro juegos que enseñan a combinar hierro con vitamina C, superalimentos andinos, mitos y hábitos, con voz para los que no leen. Lo abre el padre y fija el tiempo de juego. Por la Ley 30021 (art. 8), el modo niño no muestra el producto ni premia la compra; Andi nunca dice "come AndiBite". Solo pedimos apodo y edad del niño (Ley 29733).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Recorrido: el padre compra en el stand, escanea el QR del envase, ve el hierro medido de su lote (el dato que pedían Claudia y el 42 % que desconfía de lo envasado), usa el plan de loncheras y el semáforo durante la semana, y cuando el pack se está acabando la app le avisa y abre WhatsApp con el pedido listo. Costos, ya en el Excel v7: el prototipo funcional ya está hecho (carpeta app-andi-mision-hierro del repositorio), así que la inversión baja de S/6,000 a S/2,000 para conectar el laboratorio real, probar con 10 familias, revisar los textos legales y publicar; S/250 al mes de Cloud Run, Firestore, IA y mantenimiento; S/0.04 por código impreso con dato variable; y S/375 por análisis de hierro, todos los meses hasta junio y cada 2 meses desde julio, cuando la receta ya es estable. Es una app web instalable (en inglés, PWA): se abre desde el QR del envase sin pasar por una tienda de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Precios por 20 g consultados el 3 de octubre de 2026 (documento 02): Nutri H S/3.20, Fika S/4.00, Mamalama S/4.10, Siete Dragones S/3.01, Bimbo Nutra Bien S/1.67. AndiBite por WhatsApp: pack de 6 a S/26.90 (S/4.48 por brownie) y pack de 12 a S/49.90 (S/4.16); en el stand, pack de 6 a S/27.90 (S/4.65). Ningún competidor publica el hierro medido de cada lote ni ofrece una app para la familia. Completar con los datos del store check de La Molina.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de Gantt del plan de marketing, de octubre de 2026 (prelanzamiento) a diciembre de 2027 (fin del año 1). Prelanzamiento (octubre a diciembre de 2026): permisos, registro sanitario y etiqueta; prueba de la app y la receta con 10 familias en noviembre; fotos y video (S/300) y lista de espera por WhatsApp; en diciembre, influencers (40 packs, S/458), pauta de expectativa (S/600) y material de punto de venta (S/400). Lanzamiento (enero y febrero de 2027): primer punto en enero con 600 degustaciones (S/1,146) y material para ferias (S/300); en febrero, segundo punto y feria pagada de campaña escolar. Crecer (marzo a julio): entran los quioscos escolares, las mamás embajadoras toman fuerza con el año escolar y en abril va la feria del Día del Niño Peruano (segundo domingo de abril). Expandir (agosto a diciembre): tercer punto de venta. Todo el año: kermeses, cumpleaños y ferias saludables o municipales (2 a 5 al mes, S/160 cada una con vendedora y aporte), pauta digital de S/700 al mes reforzada en las fechas clave (lonchera de marzo, Día del Niño y regalos de Navidad), S/200 al mes para premiar a las embajadoras, y la app Andi con el aviso de recompra. Inversión por mes: octubre S/0; noviembre S/300; diciembre S/1,458; enero S/2,506; febrero S/3,290; marzo S/1,540; abril S/3,610; mayo S/1,700; junio S/1,540; julio S/1,380; agosto a octubre S/1,540; noviembre S/1,380; diciembre S/1,220. Total S/24,544: S/3,204 del lanzamiento (en la inversión inicial) y S/21,340 del año 1 (pauta y embajadoras S/10,800, ferias S/4,140 y eventos S/6,400). No incluye el espacio ni los vendedores de los stands, que son costos de venta.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Reglas para crecer sin arriesgar: ninguna de estas mejoras está dentro del plan base; cada una se activa solo cuando se cumple su meta, y así el Excel muestra un escenario prudente. (1) Cuarto punto de venta: si los 3 puntos venden 85 o más brownies por día durante 3 meses. (2) Fabricación más barata: al pasar 5,000 brownies al mes (el año 2 promedia unos 5,900), negociar con la planta S/0.40 por brownie en vez de S/0.45. (3) Contrato anual del polvo de sangrecita (unos 50 kg al año) para fijar el precio. (4) Cajas para cumpleaños y empresas, por pedido. (5) Góndola en Wong o Vivanda en el año 2, solo si cada punto ya gana por sí solo: el supermercado se queda con 20 a 40 % y paga a 30 a 90 días. (6) Pago variable a vendedores: S/60 por día más S/0.30 por brownie (a 90 brownies por día sale casi lo mismo que hoy, S/87, pero premia al que vende más). (7) Una feria pagada solo se repite si dejó al menos 50 contactos de WhatsApp y cumplió 3 de los 4 criterios: padres con hijos de 4 a 11, que buscan comida saludable, en temporada escolar y en Lima Top o Moderna. (8) La línea de crédito de S/3,000 solo se usa si la caja baja de S/1,000.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con la propuesta de valor en una frase y los tres pasos siguientes: cargar los resultados del focus 2; cotizar los stands (Jockey, Larcomar, La Rambla, Wong, Vivanda), la feria del Día del Niño y las ferias saludables, y la sangrecita de res en polvo a granel; y probar el prototipo de la app Andi, Misión Hierro con 10 familias en noviembre de 2026.
IMAGEN 4 — prompt para Nano Banana (proporción 2:3 · adjuntar la foto del empaque):
Use the attached AndiBite package image only as a reference for the pouch and colors. Warm candid lifestyle photo of a 7-year-old Peruvian boy in a private school uniform (white polo shirt and navy sweater) sitting on a bench in a school courtyard at recess. He has just opened his lunchbox and smiles while holding a mini chocolate brownie; the AndiBite pouch is visible in the lunchbox with the label partly turned away. Soft daylight, shallow depth of field, background of blurred green trees and classmates. Warm color grading with chocolate brown, cream and brick red accents. Natural and unposed, eye-level camera, vertical 2:3 composition with the boy on the center-left. No text, no extra logos, no watermark.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4A20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3246120"/>
            <a:ext cx="6766560" cy="777240"/>
          </a:xfrm>
          <a:prstGeom prst="rect">
            <a:avLst/>
          </a:prstGeom>
          <a:noFill/>
          <a:ln/>
        </p:spPr>
        <p:txBody>
          <a:bodyPr wrap="square" rtlCol="0"/>
          <a:lstStyle>
            <a:lvl1pPr algn="l" indent="0" marL="0">
              <a:buNone/>
              <a:defRPr lang="en-US" sz="4000" b="1" dirty="0">
                <a:solidFill>
                  <a:schemeClr val="bg2"/>
                </a:solidFill>
              </a:defRPr>
            </a:lvl1pPr>
          </a:lstStyle>
          <a:p>
            <a:pPr algn="l" indent="0" marL="0">
              <a:buNone/>
            </a:pPr>
            <a:endParaRPr lang="en-US" sz="4000" dirty="0"/>
          </a:p>
        </p:txBody>
      </p:sp>
      <p:sp>
        <p:nvSpPr>
          <p:cNvPr id="3" name="Text 0"/>
          <p:cNvSpPr/>
          <p:nvPr>
            <p:ph idx="101" type="body" hasCustomPrompt="1"/>
          </p:nvPr>
        </p:nvSpPr>
        <p:spPr>
          <a:xfrm>
            <a:off x="731520" y="4069080"/>
            <a:ext cx="6766560" cy="73152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IERRE">
    <p:bg>
      <p:bgPr>
        <a:solidFill>
          <a:srgbClr val="4A20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234440"/>
            <a:ext cx="6766560" cy="1463040"/>
          </a:xfrm>
          <a:prstGeom prst="rect">
            <a:avLst/>
          </a:prstGeom>
          <a:noFill/>
          <a:ln/>
        </p:spPr>
        <p:txBody>
          <a:bodyPr wrap="square" rtlCol="0"/>
          <a:lstStyle>
            <a:lvl1pPr algn="l" indent="0" marL="0">
              <a:buNone/>
              <a:defRPr lang="en-US" sz="4800" b="1" dirty="0">
                <a:solidFill>
                  <a:schemeClr val="bg2"/>
                </a:solidFill>
              </a:defRPr>
            </a:lvl1pPr>
          </a:lstStyle>
          <a:p>
            <a:pPr algn="l"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CION">
    <p:bg>
      <p:bgPr>
        <a:solidFill>
          <a:srgbClr val="4A20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6949440" cy="1417320"/>
          </a:xfrm>
          <a:prstGeom prst="rect">
            <a:avLst/>
          </a:prstGeom>
          <a:noFill/>
          <a:ln/>
        </p:spPr>
        <p:txBody>
          <a:bodyPr wrap="square" rtlCol="0"/>
          <a:lstStyle>
            <a:lvl1pPr algn="l" indent="0" marL="0">
              <a:buNone/>
              <a:defRPr lang="en-US" sz="4400" b="1" dirty="0">
                <a:solidFill>
                  <a:schemeClr val="bg2"/>
                </a:solidFill>
              </a:defRPr>
            </a:lvl1pPr>
          </a:lstStyle>
          <a:p>
            <a:pPr algn="l" indent="0" marL="0">
              <a:buNone/>
            </a:pPr>
            <a:endParaRPr lang="en-US" sz="4400" dirty="0"/>
          </a:p>
        </p:txBody>
      </p:sp>
      <p:sp>
        <p:nvSpPr>
          <p:cNvPr id="3" name="Text 0"/>
          <p:cNvSpPr/>
          <p:nvPr>
            <p:ph idx="101" type="body" hasCustomPrompt="1"/>
          </p:nvPr>
        </p:nvSpPr>
        <p:spPr>
          <a:xfrm>
            <a:off x="731520" y="4069080"/>
            <a:ext cx="6949440" cy="118872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pic>
        <p:nvPicPr>
          <p:cNvPr id="4" name="Image 0" descr="img/logo_light.png">    </p:cNvPr>
          <p:cNvPicPr>
            <a:picLocks noChangeAspect="1"/>
          </p:cNvPicPr>
          <p:nvPr/>
        </p:nvPicPr>
        <p:blipFill>
          <a:blip r:embed="rId1"/>
          <a:stretch>
            <a:fillRect/>
          </a:stretch>
        </p:blipFill>
        <p:spPr>
          <a:xfrm>
            <a:off x="731520" y="5989320"/>
            <a:ext cx="1325880" cy="4572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BF3E8"/>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4" name="Text 0"/>
          <p:cNvSpPr/>
          <p:nvPr/>
        </p:nvSpPr>
        <p:spPr>
          <a:xfrm>
            <a:off x="548640" y="6455664"/>
            <a:ext cx="7315200" cy="256032"/>
          </a:xfrm>
          <a:prstGeom prst="rect">
            <a:avLst/>
          </a:prstGeom>
          <a:noFill/>
          <a:ln/>
        </p:spPr>
        <p:txBody>
          <a:bodyPr wrap="square" lIns="0" tIns="0" rIns="0" bIns="0" rtlCol="0" anchor="ctr"/>
          <a:lstStyle/>
          <a:p>
            <a:pPr indent="0" marL="0">
              <a:buNone/>
            </a:pPr>
            <a:r>
              <a:rPr lang="en-US" sz="1000" dirty="0">
                <a:solidFill>
                  <a:schemeClr val="accent2"/>
                </a:solidFill>
              </a:rPr>
              <a:t>AndiBite · Grupo 2 · Desarrollo y lanzamiento de nuevos productos</a:t>
            </a:r>
            <a:endParaRPr lang="en-US" sz="1000" dirty="0"/>
          </a:p>
        </p:txBody>
      </p:sp>
      <p:pic>
        <p:nvPicPr>
          <p:cNvPr id="5" name="Image 0" descr="img/logo_color.png">    </p:cNvPr>
          <p:cNvPicPr>
            <a:picLocks noChangeAspect="1"/>
          </p:cNvPicPr>
          <p:nvPr/>
        </p:nvPicPr>
        <p:blipFill>
          <a:blip r:embed="rId1"/>
          <a:stretch>
            <a:fillRect/>
          </a:stretch>
        </p:blipFill>
        <p:spPr>
          <a:xfrm>
            <a:off x="10469880" y="6391656"/>
            <a:ext cx="868680" cy="297180"/>
          </a:xfrm>
          <a:prstGeom prst="rect">
            <a:avLst/>
          </a:prstGeom>
        </p:spPr>
      </p:pic>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5.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5.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5.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5.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5.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5.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5" Type="http://schemas.openxmlformats.org/officeDocument/2006/relationships/chart" Target="/ppt/charts/chart2.xm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6" Type="http://schemas.openxmlformats.org/officeDocument/2006/relationships/slideLayout" Target="../slideLayouts/slideLayout5.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5.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5.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5.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5.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5.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5.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slideLayout" Target="../slideLayouts/slideLayout5.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5.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5.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5.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5.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slideLayout" Target="../slideLayouts/slideLayout5.xml"/><Relationship Id="rId11"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5.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slideLayout" Target="../slideLayouts/slideLayout5.xml"/><Relationship Id="rId1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image" Target="../media/image-31-10.png"/><Relationship Id="rId11" Type="http://schemas.openxmlformats.org/officeDocument/2006/relationships/image" Target="../media/image-31-11.png"/><Relationship Id="rId12" Type="http://schemas.openxmlformats.org/officeDocument/2006/relationships/slideLayout" Target="../slideLayouts/slideLayout5.xml"/><Relationship Id="rId1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5.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5.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image" Target="../media/image-35-8.png"/><Relationship Id="rId9" Type="http://schemas.openxmlformats.org/officeDocument/2006/relationships/slideLayout" Target="../slideLayouts/slideLayout5.xml"/><Relationship Id="rId10"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3.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mg/logo_light.png">    </p:cNvPr>
          <p:cNvPicPr>
            <a:picLocks noChangeAspect="1"/>
          </p:cNvPicPr>
          <p:nvPr/>
        </p:nvPicPr>
        <p:blipFill>
          <a:blip r:embed="rId1"/>
          <a:stretch>
            <a:fillRect/>
          </a:stretch>
        </p:blipFill>
        <p:spPr>
          <a:xfrm>
            <a:off x="731520" y="1005840"/>
            <a:ext cx="5120640" cy="1755648"/>
          </a:xfrm>
          <a:prstGeom prst="rect">
            <a:avLst/>
          </a:prstGeom>
        </p:spPr>
      </p:pic>
      <p:sp>
        <p:nvSpPr>
          <p:cNvPr id="3" name="Text 0"/>
          <p:cNvSpPr/>
          <p:nvPr>
            <p:ph idx="100" type="title" hasCustomPrompt="1"/>
          </p:nvPr>
        </p:nvSpPr>
        <p:spPr>
          <a:xfrm>
            <a:off x="731520" y="3246120"/>
            <a:ext cx="6766560" cy="777240"/>
          </a:xfrm>
          <a:prstGeom prst="rect">
            <a:avLst/>
          </a:prstGeom>
          <a:noFill/>
          <a:ln/>
        </p:spPr>
        <p:txBody>
          <a:bodyPr wrap="square" lIns="0" tIns="0" rIns="0" bIns="0" rtlCol="0" anchor="t"/>
          <a:lstStyle/>
          <a:p>
            <a:pPr algn="l" indent="0" marL="0">
              <a:buNone/>
            </a:pPr>
            <a:r>
              <a:rPr lang="en-US" sz="4000" b="1" dirty="0">
                <a:solidFill>
                  <a:schemeClr val="bg2"/>
                </a:solidFill>
              </a:rPr>
              <a:t>Trabajos de campo 5 a 8</a:t>
            </a:r>
            <a:endParaRPr lang="en-US" sz="4000" dirty="0"/>
          </a:p>
        </p:txBody>
      </p:sp>
      <p:sp>
        <p:nvSpPr>
          <p:cNvPr id="4" name="Text 0"/>
          <p:cNvSpPr/>
          <p:nvPr>
            <p:ph idx="101" type="body" hasCustomPrompt="1"/>
          </p:nvPr>
        </p:nvSpPr>
        <p:spPr>
          <a:xfrm>
            <a:off x="731520" y="4069080"/>
            <a:ext cx="6766560" cy="731520"/>
          </a:xfrm>
          <a:prstGeom prst="rect">
            <a:avLst/>
          </a:prstGeom>
          <a:noFill/>
          <a:ln/>
        </p:spPr>
        <p:txBody>
          <a:bodyPr wrap="square" lIns="0" tIns="0" rIns="0" bIns="0" rtlCol="0" anchor="t"/>
          <a:lstStyle/>
          <a:p>
            <a:pPr indent="0" marL="0">
              <a:buNone/>
            </a:pPr>
            <a:r>
              <a:rPr lang="en-US" sz="1800" dirty="0">
                <a:solidFill>
                  <a:schemeClr val="accent5"/>
                </a:solidFill>
              </a:rPr>
              <a:t>Cliente, canal, relación, ingresos, Canvas y propuesta de valor</a:t>
            </a:r>
            <a:endParaRPr lang="en-US" sz="1800" dirty="0"/>
          </a:p>
        </p:txBody>
      </p:sp>
      <p:sp>
        <p:nvSpPr>
          <p:cNvPr id="5" name="Text 2"/>
          <p:cNvSpPr txBox="1"/>
          <p:nvPr/>
        </p:nvSpPr>
        <p:spPr>
          <a:xfrm>
            <a:off x="731520" y="5257800"/>
            <a:ext cx="6949440" cy="320040"/>
          </a:xfrm>
          <a:prstGeom prst="rect">
            <a:avLst/>
          </a:prstGeom>
          <a:noFill/>
          <a:ln/>
        </p:spPr>
        <p:txBody>
          <a:bodyPr wrap="square" lIns="0" tIns="0" rIns="0" bIns="0" rtlCol="0" anchor="t"/>
          <a:lstStyle/>
          <a:p>
            <a:pPr indent="0" marL="0">
              <a:buNone/>
            </a:pPr>
            <a:r>
              <a:rPr lang="en-US" sz="1400" dirty="0">
                <a:solidFill>
                  <a:schemeClr val="bg2"/>
                </a:solidFill>
              </a:rPr>
              <a:t>Grupo 2 · Diana Ayoso · Carlos Inga · Angie Blas · Patricia Cárdenas · Adela Robles</a:t>
            </a:r>
            <a:endParaRPr lang="en-US" sz="1400" dirty="0"/>
          </a:p>
        </p:txBody>
      </p:sp>
      <p:sp>
        <p:nvSpPr>
          <p:cNvPr id="6" name="Text 3"/>
          <p:cNvSpPr txBox="1"/>
          <p:nvPr/>
        </p:nvSpPr>
        <p:spPr>
          <a:xfrm>
            <a:off x="731520" y="5623560"/>
            <a:ext cx="6949440" cy="320040"/>
          </a:xfrm>
          <a:prstGeom prst="rect">
            <a:avLst/>
          </a:prstGeom>
          <a:noFill/>
          <a:ln/>
        </p:spPr>
        <p:txBody>
          <a:bodyPr wrap="square" lIns="0" tIns="0" rIns="0" bIns="0" rtlCol="0" anchor="t"/>
          <a:lstStyle/>
          <a:p>
            <a:pPr indent="0" marL="0">
              <a:buNone/>
            </a:pPr>
            <a:r>
              <a:rPr lang="en-US" sz="1200" dirty="0">
                <a:solidFill>
                  <a:schemeClr val="accent5"/>
                </a:solidFill>
              </a:rPr>
              <a:t>Desarrollo y lanzamiento de nuevos productos · Prof. Paola Cevallos · Octubre de 2026</a:t>
            </a:r>
            <a:endParaRPr lang="en-US" sz="1200" dirty="0"/>
          </a:p>
        </p:txBody>
      </p:sp>
      <p:pic>
        <p:nvPicPr>
          <p:cNvPr id="7" name="Image 1" descr="/home/user/Desarrollo-y-lanzamiento-de-producto-y-marca/assets/empaque/B1_frente.png">    </p:cNvPr>
          <p:cNvPicPr>
            <a:picLocks noChangeAspect="1"/>
          </p:cNvPicPr>
          <p:nvPr/>
        </p:nvPicPr>
        <p:blipFill>
          <a:blip r:embed="rId2"/>
          <a:stretch>
            <a:fillRect/>
          </a:stretch>
        </p:blipFill>
        <p:spPr>
          <a:xfrm rot="240000">
            <a:off x="8001000" y="548640"/>
            <a:ext cx="4023360" cy="5596128"/>
          </a:xfrm>
          <a:prstGeom prst="rect">
            <a:avLst/>
          </a:prstGeom>
          <a:effectLst>
            <a:outerShdw sx="100000" sy="100000" kx="0" ky="0" algn="bl" rotWithShape="0" blurRad="152400" dist="50800" dir="5400000">
              <a:srgbClr val="000000">
                <a:alpha val="3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RUTA DEL TRABAJO</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Cuatro trabajos, un solo negocio: AndiBite</a:t>
            </a:r>
            <a:endParaRPr lang="en-US" sz="3400" dirty="0"/>
          </a:p>
        </p:txBody>
      </p:sp>
      <p:sp>
        <p:nvSpPr>
          <p:cNvPr id="4" name="Shape 2"/>
          <p:cNvSpPr/>
          <p:nvPr/>
        </p:nvSpPr>
        <p:spPr>
          <a:xfrm>
            <a:off x="548640" y="1600200"/>
            <a:ext cx="2569464" cy="3520440"/>
          </a:xfrm>
          <a:prstGeom prst="roundRect">
            <a:avLst>
              <a:gd name="adj" fmla="val 427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5" name="Text 3"/>
          <p:cNvSpPr txBox="1"/>
          <p:nvPr/>
        </p:nvSpPr>
        <p:spPr>
          <a:xfrm>
            <a:off x="822960" y="1874520"/>
            <a:ext cx="1280160" cy="731520"/>
          </a:xfrm>
          <a:prstGeom prst="rect">
            <a:avLst/>
          </a:prstGeom>
          <a:noFill/>
          <a:ln/>
        </p:spPr>
        <p:txBody>
          <a:bodyPr wrap="square" lIns="0" tIns="0" rIns="0" bIns="0" rtlCol="0" anchor="t"/>
          <a:lstStyle/>
          <a:p>
            <a:pPr indent="0" marL="0">
              <a:buNone/>
            </a:pPr>
            <a:r>
              <a:rPr lang="en-US" sz="4000" b="1" dirty="0">
                <a:solidFill>
                  <a:schemeClr val="accent1"/>
                </a:solidFill>
              </a:rPr>
              <a:t>05</a:t>
            </a:r>
            <a:endParaRPr lang="en-US" sz="4000" dirty="0"/>
          </a:p>
        </p:txBody>
      </p:sp>
      <p:sp>
        <p:nvSpPr>
          <p:cNvPr id="6" name="Shape 4"/>
          <p:cNvSpPr/>
          <p:nvPr/>
        </p:nvSpPr>
        <p:spPr>
          <a:xfrm>
            <a:off x="2157984" y="1874520"/>
            <a:ext cx="685800" cy="685800"/>
          </a:xfrm>
          <a:prstGeom prst="ellipse">
            <a:avLst/>
          </a:prstGeom>
          <a:solidFill>
            <a:schemeClr val="tx2"/>
          </a:solidFill>
          <a:ln w="12700">
            <a:solidFill>
              <a:schemeClr val="tx2"/>
            </a:solidFill>
            <a:prstDash val="solid"/>
          </a:ln>
        </p:spPr>
      </p:sp>
      <p:pic>
        <p:nvPicPr>
          <p:cNvPr id="7" name="Image 0" descr="preencoded.png">    </p:cNvPr>
          <p:cNvPicPr>
            <a:picLocks noChangeAspect="1"/>
          </p:cNvPicPr>
          <p:nvPr/>
        </p:nvPicPr>
        <p:blipFill>
          <a:blip r:embed="rId1"/>
          <a:stretch>
            <a:fillRect/>
          </a:stretch>
        </p:blipFill>
        <p:spPr>
          <a:xfrm>
            <a:off x="2308860" y="2025396"/>
            <a:ext cx="384048" cy="384048"/>
          </a:xfrm>
          <a:prstGeom prst="rect">
            <a:avLst/>
          </a:prstGeom>
        </p:spPr>
      </p:pic>
      <p:sp>
        <p:nvSpPr>
          <p:cNvPr id="8" name="Text 5"/>
          <p:cNvSpPr txBox="1"/>
          <p:nvPr/>
        </p:nvSpPr>
        <p:spPr>
          <a:xfrm>
            <a:off x="822960" y="2834640"/>
            <a:ext cx="2020824" cy="411480"/>
          </a:xfrm>
          <a:prstGeom prst="rect">
            <a:avLst/>
          </a:prstGeom>
          <a:noFill/>
          <a:ln/>
        </p:spPr>
        <p:txBody>
          <a:bodyPr wrap="square" lIns="0" tIns="0" rIns="0" bIns="0" rtlCol="0" anchor="t"/>
          <a:lstStyle/>
          <a:p>
            <a:pPr indent="0" marL="0">
              <a:buNone/>
            </a:pPr>
            <a:r>
              <a:rPr lang="en-US" sz="1900" b="1" dirty="0">
                <a:solidFill>
                  <a:schemeClr val="tx2"/>
                </a:solidFill>
              </a:rPr>
              <a:t>Cliente y canal</a:t>
            </a:r>
            <a:endParaRPr lang="en-US" sz="1900" dirty="0"/>
          </a:p>
        </p:txBody>
      </p:sp>
      <p:sp>
        <p:nvSpPr>
          <p:cNvPr id="9" name="Text 6"/>
          <p:cNvSpPr txBox="1"/>
          <p:nvPr/>
        </p:nvSpPr>
        <p:spPr>
          <a:xfrm>
            <a:off x="822960" y="3337560"/>
            <a:ext cx="2020824" cy="1463040"/>
          </a:xfrm>
          <a:prstGeom prst="rect">
            <a:avLst/>
          </a:prstGeom>
          <a:noFill/>
          <a:ln/>
        </p:spPr>
        <p:txBody>
          <a:bodyPr wrap="square" lIns="0" tIns="0" rIns="0" bIns="0" rtlCol="0" anchor="t"/>
          <a:lstStyle/>
          <a:p>
            <a:pPr indent="0" marL="0">
              <a:buNone/>
            </a:pPr>
            <a:r>
              <a:rPr lang="en-US" sz="1500" dirty="0">
                <a:solidFill>
                  <a:schemeClr val="accent2"/>
                </a:solidFill>
              </a:rPr>
              <a:t>Arquetipos, buyer persona, tipos de mercado y canal</a:t>
            </a:r>
            <a:endParaRPr lang="en-US" sz="1500" dirty="0"/>
          </a:p>
        </p:txBody>
      </p:sp>
      <p:sp>
        <p:nvSpPr>
          <p:cNvPr id="10" name="Shape 7"/>
          <p:cNvSpPr/>
          <p:nvPr/>
        </p:nvSpPr>
        <p:spPr>
          <a:xfrm>
            <a:off x="3392424" y="1600200"/>
            <a:ext cx="2569464" cy="3520440"/>
          </a:xfrm>
          <a:prstGeom prst="roundRect">
            <a:avLst>
              <a:gd name="adj" fmla="val 427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1" name="Text 8"/>
          <p:cNvSpPr txBox="1"/>
          <p:nvPr/>
        </p:nvSpPr>
        <p:spPr>
          <a:xfrm>
            <a:off x="3666744" y="1874520"/>
            <a:ext cx="1280160" cy="731520"/>
          </a:xfrm>
          <a:prstGeom prst="rect">
            <a:avLst/>
          </a:prstGeom>
          <a:noFill/>
          <a:ln/>
        </p:spPr>
        <p:txBody>
          <a:bodyPr wrap="square" lIns="0" tIns="0" rIns="0" bIns="0" rtlCol="0" anchor="t"/>
          <a:lstStyle/>
          <a:p>
            <a:pPr indent="0" marL="0">
              <a:buNone/>
            </a:pPr>
            <a:r>
              <a:rPr lang="en-US" sz="4000" b="1" dirty="0">
                <a:solidFill>
                  <a:schemeClr val="accent1"/>
                </a:solidFill>
              </a:rPr>
              <a:t>06</a:t>
            </a:r>
            <a:endParaRPr lang="en-US" sz="4000" dirty="0"/>
          </a:p>
        </p:txBody>
      </p:sp>
      <p:sp>
        <p:nvSpPr>
          <p:cNvPr id="12" name="Shape 9"/>
          <p:cNvSpPr/>
          <p:nvPr/>
        </p:nvSpPr>
        <p:spPr>
          <a:xfrm>
            <a:off x="5001768" y="1874520"/>
            <a:ext cx="685800" cy="685800"/>
          </a:xfrm>
          <a:prstGeom prst="ellipse">
            <a:avLst/>
          </a:prstGeom>
          <a:solidFill>
            <a:schemeClr val="tx2"/>
          </a:solidFill>
          <a:ln w="12700">
            <a:solidFill>
              <a:schemeClr val="tx2"/>
            </a:solidFill>
            <a:prstDash val="solid"/>
          </a:ln>
        </p:spPr>
      </p:sp>
      <p:pic>
        <p:nvPicPr>
          <p:cNvPr id="13" name="Image 1" descr="preencoded.png">    </p:cNvPr>
          <p:cNvPicPr>
            <a:picLocks noChangeAspect="1"/>
          </p:cNvPicPr>
          <p:nvPr/>
        </p:nvPicPr>
        <p:blipFill>
          <a:blip r:embed="rId2"/>
          <a:stretch>
            <a:fillRect/>
          </a:stretch>
        </p:blipFill>
        <p:spPr>
          <a:xfrm>
            <a:off x="5152644" y="2025396"/>
            <a:ext cx="384048" cy="384048"/>
          </a:xfrm>
          <a:prstGeom prst="rect">
            <a:avLst/>
          </a:prstGeom>
        </p:spPr>
      </p:pic>
      <p:sp>
        <p:nvSpPr>
          <p:cNvPr id="14" name="Text 10"/>
          <p:cNvSpPr txBox="1"/>
          <p:nvPr/>
        </p:nvSpPr>
        <p:spPr>
          <a:xfrm>
            <a:off x="3666744" y="2834640"/>
            <a:ext cx="2020824" cy="411480"/>
          </a:xfrm>
          <a:prstGeom prst="rect">
            <a:avLst/>
          </a:prstGeom>
          <a:noFill/>
          <a:ln/>
        </p:spPr>
        <p:txBody>
          <a:bodyPr wrap="square" lIns="0" tIns="0" rIns="0" bIns="0" rtlCol="0" anchor="t"/>
          <a:lstStyle/>
          <a:p>
            <a:pPr indent="0" marL="0">
              <a:buNone/>
            </a:pPr>
            <a:r>
              <a:rPr lang="en-US" sz="1900" b="1" dirty="0">
                <a:solidFill>
                  <a:schemeClr val="tx2"/>
                </a:solidFill>
              </a:rPr>
              <a:t>Relación e ingresos</a:t>
            </a:r>
            <a:endParaRPr lang="en-US" sz="1900" dirty="0"/>
          </a:p>
        </p:txBody>
      </p:sp>
      <p:sp>
        <p:nvSpPr>
          <p:cNvPr id="15" name="Text 11"/>
          <p:cNvSpPr txBox="1"/>
          <p:nvPr/>
        </p:nvSpPr>
        <p:spPr>
          <a:xfrm>
            <a:off x="3666744" y="3337560"/>
            <a:ext cx="2020824" cy="1463040"/>
          </a:xfrm>
          <a:prstGeom prst="rect">
            <a:avLst/>
          </a:prstGeom>
          <a:noFill/>
          <a:ln/>
        </p:spPr>
        <p:txBody>
          <a:bodyPr wrap="square" lIns="0" tIns="0" rIns="0" bIns="0" rtlCol="0" anchor="t"/>
          <a:lstStyle/>
          <a:p>
            <a:pPr indent="0" marL="0">
              <a:buNone/>
            </a:pPr>
            <a:r>
              <a:rPr lang="en-US" sz="1500" dirty="0">
                <a:solidFill>
                  <a:schemeClr val="accent2"/>
                </a:solidFill>
              </a:rPr>
              <a:t>Cómo captamos y retenemos, y de dónde viene el dinero</a:t>
            </a:r>
            <a:endParaRPr lang="en-US" sz="1500" dirty="0"/>
          </a:p>
        </p:txBody>
      </p:sp>
      <p:sp>
        <p:nvSpPr>
          <p:cNvPr id="16" name="Shape 12"/>
          <p:cNvSpPr/>
          <p:nvPr/>
        </p:nvSpPr>
        <p:spPr>
          <a:xfrm>
            <a:off x="6236208" y="1600200"/>
            <a:ext cx="2569464" cy="3520440"/>
          </a:xfrm>
          <a:prstGeom prst="roundRect">
            <a:avLst>
              <a:gd name="adj" fmla="val 427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7" name="Text 13"/>
          <p:cNvSpPr txBox="1"/>
          <p:nvPr/>
        </p:nvSpPr>
        <p:spPr>
          <a:xfrm>
            <a:off x="6510528" y="1874520"/>
            <a:ext cx="1280160" cy="731520"/>
          </a:xfrm>
          <a:prstGeom prst="rect">
            <a:avLst/>
          </a:prstGeom>
          <a:noFill/>
          <a:ln/>
        </p:spPr>
        <p:txBody>
          <a:bodyPr wrap="square" lIns="0" tIns="0" rIns="0" bIns="0" rtlCol="0" anchor="t"/>
          <a:lstStyle/>
          <a:p>
            <a:pPr indent="0" marL="0">
              <a:buNone/>
            </a:pPr>
            <a:r>
              <a:rPr lang="en-US" sz="4000" b="1" dirty="0">
                <a:solidFill>
                  <a:schemeClr val="accent1"/>
                </a:solidFill>
              </a:rPr>
              <a:t>07</a:t>
            </a:r>
            <a:endParaRPr lang="en-US" sz="4000" dirty="0"/>
          </a:p>
        </p:txBody>
      </p:sp>
      <p:sp>
        <p:nvSpPr>
          <p:cNvPr id="18" name="Shape 14"/>
          <p:cNvSpPr/>
          <p:nvPr/>
        </p:nvSpPr>
        <p:spPr>
          <a:xfrm>
            <a:off x="7845552" y="1874520"/>
            <a:ext cx="685800" cy="685800"/>
          </a:xfrm>
          <a:prstGeom prst="ellipse">
            <a:avLst/>
          </a:prstGeom>
          <a:solidFill>
            <a:schemeClr val="tx2"/>
          </a:solidFill>
          <a:ln w="12700">
            <a:solidFill>
              <a:schemeClr val="tx2"/>
            </a:solidFill>
            <a:prstDash val="solid"/>
          </a:ln>
        </p:spPr>
      </p:sp>
      <p:pic>
        <p:nvPicPr>
          <p:cNvPr id="19" name="Image 2" descr="preencoded.png">    </p:cNvPr>
          <p:cNvPicPr>
            <a:picLocks noChangeAspect="1"/>
          </p:cNvPicPr>
          <p:nvPr/>
        </p:nvPicPr>
        <p:blipFill>
          <a:blip r:embed="rId3"/>
          <a:stretch>
            <a:fillRect/>
          </a:stretch>
        </p:blipFill>
        <p:spPr>
          <a:xfrm>
            <a:off x="7996428" y="2025396"/>
            <a:ext cx="384048" cy="384048"/>
          </a:xfrm>
          <a:prstGeom prst="rect">
            <a:avLst/>
          </a:prstGeom>
        </p:spPr>
      </p:pic>
      <p:sp>
        <p:nvSpPr>
          <p:cNvPr id="20" name="Text 15"/>
          <p:cNvSpPr txBox="1"/>
          <p:nvPr/>
        </p:nvSpPr>
        <p:spPr>
          <a:xfrm>
            <a:off x="6510528" y="2834640"/>
            <a:ext cx="2020824" cy="411480"/>
          </a:xfrm>
          <a:prstGeom prst="rect">
            <a:avLst/>
          </a:prstGeom>
          <a:noFill/>
          <a:ln/>
        </p:spPr>
        <p:txBody>
          <a:bodyPr wrap="square" lIns="0" tIns="0" rIns="0" bIns="0" rtlCol="0" anchor="t"/>
          <a:lstStyle/>
          <a:p>
            <a:pPr indent="0" marL="0">
              <a:buNone/>
            </a:pPr>
            <a:r>
              <a:rPr lang="en-US" sz="1900" b="1" dirty="0">
                <a:solidFill>
                  <a:schemeClr val="tx2"/>
                </a:solidFill>
              </a:rPr>
              <a:t>Modelo Canvas</a:t>
            </a:r>
            <a:endParaRPr lang="en-US" sz="1900" dirty="0"/>
          </a:p>
        </p:txBody>
      </p:sp>
      <p:sp>
        <p:nvSpPr>
          <p:cNvPr id="21" name="Text 16"/>
          <p:cNvSpPr txBox="1"/>
          <p:nvPr/>
        </p:nvSpPr>
        <p:spPr>
          <a:xfrm>
            <a:off x="6510528" y="3337560"/>
            <a:ext cx="2020824" cy="1463040"/>
          </a:xfrm>
          <a:prstGeom prst="rect">
            <a:avLst/>
          </a:prstGeom>
          <a:noFill/>
          <a:ln/>
        </p:spPr>
        <p:txBody>
          <a:bodyPr wrap="square" lIns="0" tIns="0" rIns="0" bIns="0" rtlCol="0" anchor="t"/>
          <a:lstStyle/>
          <a:p>
            <a:pPr indent="0" marL="0">
              <a:buNone/>
            </a:pPr>
            <a:r>
              <a:rPr lang="en-US" sz="1500" dirty="0">
                <a:solidFill>
                  <a:schemeClr val="accent2"/>
                </a:solidFill>
              </a:rPr>
              <a:t>Socios, recursos, costos, resultados de los años 1 y 2, y el Canvas</a:t>
            </a:r>
            <a:endParaRPr lang="en-US" sz="1500" dirty="0"/>
          </a:p>
        </p:txBody>
      </p:sp>
      <p:sp>
        <p:nvSpPr>
          <p:cNvPr id="22" name="Shape 17"/>
          <p:cNvSpPr/>
          <p:nvPr/>
        </p:nvSpPr>
        <p:spPr>
          <a:xfrm>
            <a:off x="9079992" y="1600200"/>
            <a:ext cx="2569464" cy="3520440"/>
          </a:xfrm>
          <a:prstGeom prst="roundRect">
            <a:avLst>
              <a:gd name="adj" fmla="val 427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3" name="Text 18"/>
          <p:cNvSpPr txBox="1"/>
          <p:nvPr/>
        </p:nvSpPr>
        <p:spPr>
          <a:xfrm>
            <a:off x="9354312" y="1874520"/>
            <a:ext cx="1280160" cy="731520"/>
          </a:xfrm>
          <a:prstGeom prst="rect">
            <a:avLst/>
          </a:prstGeom>
          <a:noFill/>
          <a:ln/>
        </p:spPr>
        <p:txBody>
          <a:bodyPr wrap="square" lIns="0" tIns="0" rIns="0" bIns="0" rtlCol="0" anchor="t"/>
          <a:lstStyle/>
          <a:p>
            <a:pPr indent="0" marL="0">
              <a:buNone/>
            </a:pPr>
            <a:r>
              <a:rPr lang="en-US" sz="4000" b="1" dirty="0">
                <a:solidFill>
                  <a:schemeClr val="accent1"/>
                </a:solidFill>
              </a:rPr>
              <a:t>08</a:t>
            </a:r>
            <a:endParaRPr lang="en-US" sz="4000" dirty="0"/>
          </a:p>
        </p:txBody>
      </p:sp>
      <p:sp>
        <p:nvSpPr>
          <p:cNvPr id="24" name="Shape 19"/>
          <p:cNvSpPr/>
          <p:nvPr/>
        </p:nvSpPr>
        <p:spPr>
          <a:xfrm>
            <a:off x="10689336" y="1874520"/>
            <a:ext cx="685800" cy="685800"/>
          </a:xfrm>
          <a:prstGeom prst="ellipse">
            <a:avLst/>
          </a:prstGeom>
          <a:solidFill>
            <a:schemeClr val="tx2"/>
          </a:solidFill>
          <a:ln w="12700">
            <a:solidFill>
              <a:schemeClr val="tx2"/>
            </a:solidFill>
            <a:prstDash val="solid"/>
          </a:ln>
        </p:spPr>
      </p:sp>
      <p:pic>
        <p:nvPicPr>
          <p:cNvPr id="25" name="Image 3" descr="preencoded.png">    </p:cNvPr>
          <p:cNvPicPr>
            <a:picLocks noChangeAspect="1"/>
          </p:cNvPicPr>
          <p:nvPr/>
        </p:nvPicPr>
        <p:blipFill>
          <a:blip r:embed="rId4"/>
          <a:stretch>
            <a:fillRect/>
          </a:stretch>
        </p:blipFill>
        <p:spPr>
          <a:xfrm>
            <a:off x="10840212" y="2025396"/>
            <a:ext cx="384048" cy="384048"/>
          </a:xfrm>
          <a:prstGeom prst="rect">
            <a:avLst/>
          </a:prstGeom>
        </p:spPr>
      </p:pic>
      <p:sp>
        <p:nvSpPr>
          <p:cNvPr id="26" name="Text 20"/>
          <p:cNvSpPr txBox="1"/>
          <p:nvPr/>
        </p:nvSpPr>
        <p:spPr>
          <a:xfrm>
            <a:off x="9354312" y="2834640"/>
            <a:ext cx="2020824" cy="411480"/>
          </a:xfrm>
          <a:prstGeom prst="rect">
            <a:avLst/>
          </a:prstGeom>
          <a:noFill/>
          <a:ln/>
        </p:spPr>
        <p:txBody>
          <a:bodyPr wrap="square" lIns="0" tIns="0" rIns="0" bIns="0" rtlCol="0" anchor="t"/>
          <a:lstStyle/>
          <a:p>
            <a:pPr indent="0" marL="0">
              <a:buNone/>
            </a:pPr>
            <a:r>
              <a:rPr lang="en-US" sz="1900" b="1" dirty="0">
                <a:solidFill>
                  <a:schemeClr val="tx2"/>
                </a:solidFill>
              </a:rPr>
              <a:t>Propuesta de valor</a:t>
            </a:r>
            <a:endParaRPr lang="en-US" sz="1900" dirty="0"/>
          </a:p>
        </p:txBody>
      </p:sp>
      <p:sp>
        <p:nvSpPr>
          <p:cNvPr id="27" name="Text 21"/>
          <p:cNvSpPr txBox="1"/>
          <p:nvPr/>
        </p:nvSpPr>
        <p:spPr>
          <a:xfrm>
            <a:off x="9354312" y="3337560"/>
            <a:ext cx="2020824" cy="1463040"/>
          </a:xfrm>
          <a:prstGeom prst="rect">
            <a:avLst/>
          </a:prstGeom>
          <a:noFill/>
          <a:ln/>
        </p:spPr>
        <p:txBody>
          <a:bodyPr wrap="square" lIns="0" tIns="0" rIns="0" bIns="0" rtlCol="0" anchor="t"/>
          <a:lstStyle/>
          <a:p>
            <a:pPr indent="0" marL="0">
              <a:buNone/>
            </a:pPr>
            <a:r>
              <a:rPr lang="en-US" sz="1500" dirty="0">
                <a:solidFill>
                  <a:schemeClr val="accent2"/>
                </a:solidFill>
              </a:rPr>
              <a:t>Mapa de valor, app Andi, competencia y plan de marketing</a:t>
            </a:r>
            <a:endParaRPr lang="en-US" sz="1500" dirty="0"/>
          </a:p>
        </p:txBody>
      </p:sp>
      <p:sp>
        <p:nvSpPr>
          <p:cNvPr id="28" name="Shape 22"/>
          <p:cNvSpPr/>
          <p:nvPr/>
        </p:nvSpPr>
        <p:spPr>
          <a:xfrm>
            <a:off x="548640" y="5440680"/>
            <a:ext cx="11091672" cy="685800"/>
          </a:xfrm>
          <a:prstGeom prst="roundRect">
            <a:avLst>
              <a:gd name="adj" fmla="val 49333"/>
            </a:avLst>
          </a:prstGeom>
          <a:solidFill>
            <a:schemeClr val="tx2"/>
          </a:solidFill>
          <a:ln w="12700">
            <a:solidFill>
              <a:schemeClr val="tx2"/>
            </a:solidFill>
            <a:prstDash val="solid"/>
          </a:ln>
        </p:spPr>
      </p:sp>
      <p:sp>
        <p:nvSpPr>
          <p:cNvPr id="29" name="Text 23"/>
          <p:cNvSpPr txBox="1"/>
          <p:nvPr/>
        </p:nvSpPr>
        <p:spPr>
          <a:xfrm>
            <a:off x="868680" y="5440680"/>
            <a:ext cx="10515600" cy="685800"/>
          </a:xfrm>
          <a:prstGeom prst="rect">
            <a:avLst/>
          </a:prstGeom>
          <a:noFill/>
          <a:ln/>
        </p:spPr>
        <p:txBody>
          <a:bodyPr wrap="square" lIns="0" tIns="0" rIns="0" bIns="0" rtlCol="0" anchor="ctr"/>
          <a:lstStyle/>
          <a:p>
            <a:pPr indent="0" marL="0">
              <a:buNone/>
            </a:pPr>
            <a:r>
              <a:rPr lang="en-US" sz="1600" b="1" dirty="0">
                <a:solidFill>
                  <a:schemeClr val="accent3"/>
                </a:solidFill>
              </a:rPr>
              <a:t>El producto: </a:t>
            </a:r>
            <a:pPr indent="0" marL="0">
              <a:buNone/>
            </a:pPr>
            <a:r>
              <a:rPr lang="en-US" sz="1600" dirty="0">
                <a:solidFill>
                  <a:schemeClr val="bg2"/>
                </a:solidFill>
              </a:rPr>
              <a:t>mini brownie de 20 g con sangrecita · 3 sabores · app Andi en cada envase · se vende en stands y ferias, y se recompra por WhatsApp</a:t>
            </a:r>
            <a:endParaRPr lang="en-US" sz="16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777240"/>
            <a:ext cx="3657600" cy="1737360"/>
          </a:xfrm>
          <a:prstGeom prst="rect">
            <a:avLst/>
          </a:prstGeom>
          <a:noFill/>
          <a:ln/>
        </p:spPr>
        <p:txBody>
          <a:bodyPr wrap="square" lIns="0" tIns="0" rIns="0" bIns="0" rtlCol="0" anchor="t"/>
          <a:lstStyle/>
          <a:p>
            <a:pPr indent="0" marL="0">
              <a:buNone/>
            </a:pPr>
            <a:r>
              <a:rPr lang="en-US" sz="12000" b="1" dirty="0">
                <a:solidFill>
                  <a:schemeClr val="accent1"/>
                </a:solidFill>
              </a:rPr>
              <a:t>05</a:t>
            </a:r>
            <a:endParaRPr lang="en-US" sz="12000" dirty="0"/>
          </a:p>
        </p:txBody>
      </p:sp>
      <p:sp>
        <p:nvSpPr>
          <p:cNvPr id="3" name="Text 0"/>
          <p:cNvSpPr/>
          <p:nvPr>
            <p:ph idx="100" type="title" hasCustomPrompt="1"/>
          </p:nvPr>
        </p:nvSpPr>
        <p:spPr>
          <a:xfrm>
            <a:off x="731520" y="2514600"/>
            <a:ext cx="6949440" cy="1417320"/>
          </a:xfrm>
          <a:prstGeom prst="rect">
            <a:avLst/>
          </a:prstGeom>
          <a:noFill/>
          <a:ln/>
        </p:spPr>
        <p:txBody>
          <a:bodyPr wrap="square" lIns="0" tIns="0" rIns="0" bIns="0" rtlCol="0" anchor="b"/>
          <a:lstStyle/>
          <a:p>
            <a:pPr algn="l" indent="0" marL="0">
              <a:buNone/>
            </a:pPr>
            <a:r>
              <a:rPr lang="en-US" sz="4400" b="1" dirty="0">
                <a:solidFill>
                  <a:schemeClr val="bg2"/>
                </a:solidFill>
              </a:rPr>
              <a:t>Cliente, mercado y canal</a:t>
            </a:r>
            <a:endParaRPr lang="en-US" sz="4400" dirty="0"/>
          </a:p>
        </p:txBody>
      </p:sp>
      <p:sp>
        <p:nvSpPr>
          <p:cNvPr id="4" name="Text 0"/>
          <p:cNvSpPr/>
          <p:nvPr>
            <p:ph idx="101" type="body" hasCustomPrompt="1"/>
          </p:nvPr>
        </p:nvSpPr>
        <p:spPr>
          <a:xfrm>
            <a:off x="731520" y="4069080"/>
            <a:ext cx="6949440" cy="1188720"/>
          </a:xfrm>
          <a:prstGeom prst="rect">
            <a:avLst/>
          </a:prstGeom>
          <a:noFill/>
          <a:ln/>
        </p:spPr>
        <p:txBody>
          <a:bodyPr wrap="square" lIns="0" tIns="0" rIns="0" bIns="0" rtlCol="0" anchor="t"/>
          <a:lstStyle/>
          <a:p>
            <a:pPr indent="0" marL="0">
              <a:buNone/>
            </a:pPr>
            <a:r>
              <a:rPr lang="en-US" sz="1800" dirty="0">
                <a:solidFill>
                  <a:schemeClr val="accent5"/>
                </a:solidFill>
              </a:rPr>
              <a:t>Arquetipo · Buyer persona · Tipos de mercado · Tamaño del nicho · Canales y puntos de venta</a:t>
            </a:r>
            <a:endParaRPr lang="en-US" sz="1800" dirty="0"/>
          </a:p>
        </p:txBody>
      </p:sp>
      <p:sp>
        <p:nvSpPr>
          <p:cNvPr id="5" name="Shape 3"/>
          <p:cNvSpPr/>
          <p:nvPr/>
        </p:nvSpPr>
        <p:spPr>
          <a:xfrm>
            <a:off x="8001000" y="1417320"/>
            <a:ext cx="3840480" cy="384048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9006840" y="2423160"/>
            <a:ext cx="1828800" cy="1828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5 · ARQUETIPO DE CLIENTE</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El público nos orienta; el arquetipo nos conecta</a:t>
            </a:r>
            <a:endParaRPr lang="en-US" sz="3400" dirty="0"/>
          </a:p>
        </p:txBody>
      </p:sp>
      <p:sp>
        <p:nvSpPr>
          <p:cNvPr id="4" name="Shape 2"/>
          <p:cNvSpPr/>
          <p:nvPr/>
        </p:nvSpPr>
        <p:spPr>
          <a:xfrm>
            <a:off x="548640" y="1600200"/>
            <a:ext cx="5120640" cy="4480560"/>
          </a:xfrm>
          <a:prstGeom prst="roundRect">
            <a:avLst>
              <a:gd name="adj" fmla="val 244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5" name="Shape 3"/>
          <p:cNvSpPr/>
          <p:nvPr/>
        </p:nvSpPr>
        <p:spPr>
          <a:xfrm>
            <a:off x="822960" y="1874520"/>
            <a:ext cx="822960" cy="822960"/>
          </a:xfrm>
          <a:prstGeom prst="ellipse">
            <a:avLst/>
          </a:prstGeom>
          <a:solidFill>
            <a:schemeClr val="accent5"/>
          </a:solidFill>
          <a:ln w="12700">
            <a:solidFill>
              <a:schemeClr val="accent5"/>
            </a:solidFill>
            <a:prstDash val="solid"/>
          </a:ln>
        </p:spPr>
      </p:sp>
      <p:pic>
        <p:nvPicPr>
          <p:cNvPr id="6" name="Image 0" descr="preencoded.png">    </p:cNvPr>
          <p:cNvPicPr>
            <a:picLocks noChangeAspect="1"/>
          </p:cNvPicPr>
          <p:nvPr/>
        </p:nvPicPr>
        <p:blipFill>
          <a:blip r:embed="rId1"/>
          <a:stretch>
            <a:fillRect/>
          </a:stretch>
        </p:blipFill>
        <p:spPr>
          <a:xfrm>
            <a:off x="1004011" y="2055571"/>
            <a:ext cx="460858" cy="460858"/>
          </a:xfrm>
          <a:prstGeom prst="rect">
            <a:avLst/>
          </a:prstGeom>
        </p:spPr>
      </p:pic>
      <p:sp>
        <p:nvSpPr>
          <p:cNvPr id="7" name="Text 4"/>
          <p:cNvSpPr txBox="1"/>
          <p:nvPr/>
        </p:nvSpPr>
        <p:spPr>
          <a:xfrm>
            <a:off x="1828800" y="1920240"/>
            <a:ext cx="3657600" cy="320040"/>
          </a:xfrm>
          <a:prstGeom prst="rect">
            <a:avLst/>
          </a:prstGeom>
          <a:noFill/>
          <a:ln/>
        </p:spPr>
        <p:txBody>
          <a:bodyPr wrap="square" lIns="0" tIns="0" rIns="0" bIns="0" rtlCol="0" anchor="t"/>
          <a:lstStyle/>
          <a:p>
            <a:pPr indent="0" marL="0">
              <a:buNone/>
            </a:pPr>
            <a:r>
              <a:rPr lang="en-US" sz="1300" b="1" spc="100" kern="0" dirty="0">
                <a:solidFill>
                  <a:schemeClr val="accent2"/>
                </a:solidFill>
              </a:rPr>
              <a:t>PÚBLICO OBJETIVO</a:t>
            </a:r>
            <a:endParaRPr lang="en-US" sz="1300" dirty="0"/>
          </a:p>
        </p:txBody>
      </p:sp>
      <p:sp>
        <p:nvSpPr>
          <p:cNvPr id="8" name="Text 5"/>
          <p:cNvSpPr txBox="1"/>
          <p:nvPr/>
        </p:nvSpPr>
        <p:spPr>
          <a:xfrm>
            <a:off x="1828800" y="2240280"/>
            <a:ext cx="3657600" cy="411480"/>
          </a:xfrm>
          <a:prstGeom prst="rect">
            <a:avLst/>
          </a:prstGeom>
          <a:noFill/>
          <a:ln/>
        </p:spPr>
        <p:txBody>
          <a:bodyPr wrap="square" lIns="0" tIns="0" rIns="0" bIns="0" rtlCol="0" anchor="t"/>
          <a:lstStyle/>
          <a:p>
            <a:pPr indent="0" marL="0">
              <a:buNone/>
            </a:pPr>
            <a:r>
              <a:rPr lang="en-US" sz="2200" b="1" dirty="0">
                <a:solidFill>
                  <a:schemeClr val="tx2"/>
                </a:solidFill>
              </a:rPr>
              <a:t>Un grupo</a:t>
            </a:r>
            <a:endParaRPr lang="en-US" sz="2200" dirty="0"/>
          </a:p>
        </p:txBody>
      </p:sp>
      <p:sp>
        <p:nvSpPr>
          <p:cNvPr id="9" name="Text 6"/>
          <p:cNvSpPr txBox="1"/>
          <p:nvPr/>
        </p:nvSpPr>
        <p:spPr>
          <a:xfrm>
            <a:off x="868680" y="2880360"/>
            <a:ext cx="4572000" cy="23774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tx1"/>
                </a:solidFill>
              </a:rPr>
              <a:t>Padres de 32 a 45 años</a:t>
            </a:r>
            <a:endParaRPr lang="en-US" sz="1600" dirty="0"/>
          </a:p>
          <a:p>
            <a:pPr marL="342900" indent="-342900">
              <a:spcAft>
                <a:spcPts val="600"/>
              </a:spcAft>
              <a:buSzPct val="100000"/>
              <a:buChar char="•"/>
            </a:pPr>
            <a:r>
              <a:rPr lang="en-US" sz="1600" dirty="0">
                <a:solidFill>
                  <a:schemeClr val="tx1"/>
                </a:solidFill>
              </a:rPr>
              <a:t>NSE A y B: 7 de cada 10 hogares son B</a:t>
            </a:r>
            <a:endParaRPr lang="en-US" sz="1600" dirty="0"/>
          </a:p>
          <a:p>
            <a:pPr marL="342900" indent="-342900">
              <a:spcAft>
                <a:spcPts val="600"/>
              </a:spcAft>
              <a:buSzPct val="100000"/>
              <a:buChar char="•"/>
            </a:pPr>
            <a:r>
              <a:rPr lang="en-US" sz="1600" dirty="0">
                <a:solidFill>
                  <a:schemeClr val="tx1"/>
                </a:solidFill>
              </a:rPr>
              <a:t>Viven en Lima Top y Lima Moderna</a:t>
            </a:r>
            <a:endParaRPr lang="en-US" sz="1600" dirty="0"/>
          </a:p>
          <a:p>
            <a:pPr marL="342900" indent="-342900">
              <a:spcAft>
                <a:spcPts val="600"/>
              </a:spcAft>
              <a:buSzPct val="100000"/>
              <a:buChar char="•"/>
            </a:pPr>
            <a:r>
              <a:rPr lang="en-US" sz="1600" dirty="0">
                <a:solidFill>
                  <a:schemeClr val="tx1"/>
                </a:solidFill>
              </a:rPr>
              <a:t>Hijos de 4 a 11 en colegio privado</a:t>
            </a:r>
            <a:endParaRPr lang="en-US" sz="1600" dirty="0"/>
          </a:p>
          <a:p>
            <a:pPr marL="342900" indent="-342900">
              <a:spcAft>
                <a:spcPts val="600"/>
              </a:spcAft>
              <a:buSzPct val="100000"/>
              <a:buChar char="•"/>
            </a:pPr>
            <a:r>
              <a:rPr lang="en-US" sz="1600" dirty="0">
                <a:solidFill>
                  <a:schemeClr val="tx1"/>
                </a:solidFill>
              </a:rPr>
              <a:t>46,000 hogares núcleo</a:t>
            </a:r>
            <a:endParaRPr lang="en-US" sz="1600" dirty="0"/>
          </a:p>
        </p:txBody>
      </p:sp>
      <p:sp>
        <p:nvSpPr>
          <p:cNvPr id="10" name="Shape 7"/>
          <p:cNvSpPr/>
          <p:nvPr/>
        </p:nvSpPr>
        <p:spPr>
          <a:xfrm>
            <a:off x="5788152" y="3566160"/>
            <a:ext cx="685800" cy="548640"/>
          </a:xfrm>
          <a:prstGeom prst="rightArrow">
            <a:avLst/>
          </a:prstGeom>
          <a:solidFill>
            <a:schemeClr val="accent3"/>
          </a:solidFill>
          <a:ln w="12700">
            <a:solidFill>
              <a:schemeClr val="accent3"/>
            </a:solidFill>
            <a:prstDash val="solid"/>
          </a:ln>
        </p:spPr>
      </p:sp>
      <p:sp>
        <p:nvSpPr>
          <p:cNvPr id="11" name="Shape 8"/>
          <p:cNvSpPr/>
          <p:nvPr/>
        </p:nvSpPr>
        <p:spPr>
          <a:xfrm>
            <a:off x="6583680" y="1600200"/>
            <a:ext cx="5056632" cy="4480560"/>
          </a:xfrm>
          <a:prstGeom prst="roundRect">
            <a:avLst>
              <a:gd name="adj" fmla="val 2449"/>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12" name="Shape 9"/>
          <p:cNvSpPr/>
          <p:nvPr/>
        </p:nvSpPr>
        <p:spPr>
          <a:xfrm>
            <a:off x="6858000" y="1874520"/>
            <a:ext cx="822960" cy="822960"/>
          </a:xfrm>
          <a:prstGeom prst="ellipse">
            <a:avLst/>
          </a:prstGeom>
          <a:solidFill>
            <a:schemeClr val="accent1"/>
          </a:solidFill>
          <a:ln w="12700">
            <a:solidFill>
              <a:schemeClr val="accent1"/>
            </a:solidFill>
            <a:prstDash val="solid"/>
          </a:ln>
        </p:spPr>
      </p:sp>
      <p:pic>
        <p:nvPicPr>
          <p:cNvPr id="13" name="Image 1" descr="preencoded.png">    </p:cNvPr>
          <p:cNvPicPr>
            <a:picLocks noChangeAspect="1"/>
          </p:cNvPicPr>
          <p:nvPr/>
        </p:nvPicPr>
        <p:blipFill>
          <a:blip r:embed="rId2"/>
          <a:stretch>
            <a:fillRect/>
          </a:stretch>
        </p:blipFill>
        <p:spPr>
          <a:xfrm>
            <a:off x="7039051" y="2055571"/>
            <a:ext cx="460858" cy="460858"/>
          </a:xfrm>
          <a:prstGeom prst="rect">
            <a:avLst/>
          </a:prstGeom>
        </p:spPr>
      </p:pic>
      <p:sp>
        <p:nvSpPr>
          <p:cNvPr id="14" name="Text 10"/>
          <p:cNvSpPr txBox="1"/>
          <p:nvPr/>
        </p:nvSpPr>
        <p:spPr>
          <a:xfrm>
            <a:off x="7863840" y="1920240"/>
            <a:ext cx="3657600" cy="320040"/>
          </a:xfrm>
          <a:prstGeom prst="rect">
            <a:avLst/>
          </a:prstGeom>
          <a:noFill/>
          <a:ln/>
        </p:spPr>
        <p:txBody>
          <a:bodyPr wrap="square" lIns="0" tIns="0" rIns="0" bIns="0" rtlCol="0" anchor="t"/>
          <a:lstStyle/>
          <a:p>
            <a:pPr indent="0" marL="0">
              <a:buNone/>
            </a:pPr>
            <a:r>
              <a:rPr lang="en-US" sz="1300" b="1" spc="100" kern="0" dirty="0">
                <a:solidFill>
                  <a:schemeClr val="accent3"/>
                </a:solidFill>
              </a:rPr>
              <a:t>ARQUETIPO</a:t>
            </a:r>
            <a:endParaRPr lang="en-US" sz="1300" dirty="0"/>
          </a:p>
        </p:txBody>
      </p:sp>
      <p:sp>
        <p:nvSpPr>
          <p:cNvPr id="15" name="Text 11"/>
          <p:cNvSpPr txBox="1"/>
          <p:nvPr/>
        </p:nvSpPr>
        <p:spPr>
          <a:xfrm>
            <a:off x="7863840" y="2240280"/>
            <a:ext cx="3657600" cy="411480"/>
          </a:xfrm>
          <a:prstGeom prst="rect">
            <a:avLst/>
          </a:prstGeom>
          <a:noFill/>
          <a:ln/>
        </p:spPr>
        <p:txBody>
          <a:bodyPr wrap="square" lIns="0" tIns="0" rIns="0" bIns="0" rtlCol="0" anchor="t"/>
          <a:lstStyle/>
          <a:p>
            <a:pPr indent="0" marL="0">
              <a:buNone/>
            </a:pPr>
            <a:r>
              <a:rPr lang="en-US" sz="2200" b="1" dirty="0">
                <a:solidFill>
                  <a:schemeClr val="bg1"/>
                </a:solidFill>
              </a:rPr>
              <a:t>Una persona</a:t>
            </a:r>
            <a:endParaRPr lang="en-US" sz="2200" dirty="0"/>
          </a:p>
        </p:txBody>
      </p:sp>
      <p:sp>
        <p:nvSpPr>
          <p:cNvPr id="16" name="Text 12"/>
          <p:cNvSpPr txBox="1"/>
          <p:nvPr/>
        </p:nvSpPr>
        <p:spPr>
          <a:xfrm>
            <a:off x="6903720" y="2926080"/>
            <a:ext cx="4480560" cy="256032"/>
          </a:xfrm>
          <a:prstGeom prst="rect">
            <a:avLst/>
          </a:prstGeom>
          <a:noFill/>
          <a:ln/>
        </p:spPr>
        <p:txBody>
          <a:bodyPr wrap="square" lIns="0" tIns="0" rIns="0" bIns="0" rtlCol="0" anchor="t"/>
          <a:lstStyle/>
          <a:p>
            <a:pPr indent="0" marL="0">
              <a:buNone/>
            </a:pPr>
            <a:r>
              <a:rPr lang="en-US" sz="1100" b="1" spc="100" kern="0" dirty="0">
                <a:solidFill>
                  <a:schemeClr val="accent5"/>
                </a:solidFill>
              </a:rPr>
              <a:t>NOMBRE</a:t>
            </a:r>
            <a:endParaRPr lang="en-US" sz="1100" dirty="0"/>
          </a:p>
        </p:txBody>
      </p:sp>
      <p:sp>
        <p:nvSpPr>
          <p:cNvPr id="17" name="Text 13"/>
          <p:cNvSpPr txBox="1"/>
          <p:nvPr/>
        </p:nvSpPr>
        <p:spPr>
          <a:xfrm>
            <a:off x="6903720" y="3172968"/>
            <a:ext cx="4480560" cy="365760"/>
          </a:xfrm>
          <a:prstGeom prst="rect">
            <a:avLst/>
          </a:prstGeom>
          <a:noFill/>
          <a:ln/>
        </p:spPr>
        <p:txBody>
          <a:bodyPr wrap="square" lIns="0" tIns="0" rIns="0" bIns="0" rtlCol="0" anchor="t"/>
          <a:lstStyle/>
          <a:p>
            <a:pPr indent="0" marL="0">
              <a:buNone/>
            </a:pPr>
            <a:r>
              <a:rPr lang="en-US" sz="1600" b="1" dirty="0">
                <a:solidFill>
                  <a:schemeClr val="bg1"/>
                </a:solidFill>
              </a:rPr>
              <a:t>Claudia, 38, abogada en San Borja</a:t>
            </a:r>
            <a:endParaRPr lang="en-US" sz="1600" dirty="0"/>
          </a:p>
        </p:txBody>
      </p:sp>
      <p:sp>
        <p:nvSpPr>
          <p:cNvPr id="18" name="Text 14"/>
          <p:cNvSpPr txBox="1"/>
          <p:nvPr/>
        </p:nvSpPr>
        <p:spPr>
          <a:xfrm>
            <a:off x="6903720" y="3675888"/>
            <a:ext cx="4480560" cy="256032"/>
          </a:xfrm>
          <a:prstGeom prst="rect">
            <a:avLst/>
          </a:prstGeom>
          <a:noFill/>
          <a:ln/>
        </p:spPr>
        <p:txBody>
          <a:bodyPr wrap="square" lIns="0" tIns="0" rIns="0" bIns="0" rtlCol="0" anchor="t"/>
          <a:lstStyle/>
          <a:p>
            <a:pPr indent="0" marL="0">
              <a:buNone/>
            </a:pPr>
            <a:r>
              <a:rPr lang="en-US" sz="1100" b="1" spc="100" kern="0" dirty="0">
                <a:solidFill>
                  <a:schemeClr val="accent5"/>
                </a:solidFill>
              </a:rPr>
              <a:t>DOLOR</a:t>
            </a:r>
            <a:endParaRPr lang="en-US" sz="1100" dirty="0"/>
          </a:p>
        </p:txBody>
      </p:sp>
      <p:sp>
        <p:nvSpPr>
          <p:cNvPr id="19" name="Text 15"/>
          <p:cNvSpPr txBox="1"/>
          <p:nvPr/>
        </p:nvSpPr>
        <p:spPr>
          <a:xfrm>
            <a:off x="6903720" y="3922776"/>
            <a:ext cx="4480560" cy="365760"/>
          </a:xfrm>
          <a:prstGeom prst="rect">
            <a:avLst/>
          </a:prstGeom>
          <a:noFill/>
          <a:ln/>
        </p:spPr>
        <p:txBody>
          <a:bodyPr wrap="square" lIns="0" tIns="0" rIns="0" bIns="0" rtlCol="0" anchor="t"/>
          <a:lstStyle/>
          <a:p>
            <a:pPr indent="0" marL="0">
              <a:buNone/>
            </a:pPr>
            <a:r>
              <a:rPr lang="en-US" sz="1600" b="1" dirty="0">
                <a:solidFill>
                  <a:schemeClr val="bg1"/>
                </a:solidFill>
              </a:rPr>
              <a:t>Su hijo escupe lo nutritivo</a:t>
            </a:r>
            <a:endParaRPr lang="en-US" sz="1600" dirty="0"/>
          </a:p>
        </p:txBody>
      </p:sp>
      <p:sp>
        <p:nvSpPr>
          <p:cNvPr id="20" name="Text 16"/>
          <p:cNvSpPr txBox="1"/>
          <p:nvPr/>
        </p:nvSpPr>
        <p:spPr>
          <a:xfrm>
            <a:off x="6903720" y="4425696"/>
            <a:ext cx="4480560" cy="256032"/>
          </a:xfrm>
          <a:prstGeom prst="rect">
            <a:avLst/>
          </a:prstGeom>
          <a:noFill/>
          <a:ln/>
        </p:spPr>
        <p:txBody>
          <a:bodyPr wrap="square" lIns="0" tIns="0" rIns="0" bIns="0" rtlCol="0" anchor="t"/>
          <a:lstStyle/>
          <a:p>
            <a:pPr indent="0" marL="0">
              <a:buNone/>
            </a:pPr>
            <a:r>
              <a:rPr lang="en-US" sz="1100" b="1" spc="100" kern="0" dirty="0">
                <a:solidFill>
                  <a:schemeClr val="accent5"/>
                </a:solidFill>
              </a:rPr>
              <a:t>HÁBITO</a:t>
            </a:r>
            <a:endParaRPr lang="en-US" sz="1100" dirty="0"/>
          </a:p>
        </p:txBody>
      </p:sp>
      <p:sp>
        <p:nvSpPr>
          <p:cNvPr id="21" name="Text 17"/>
          <p:cNvSpPr txBox="1"/>
          <p:nvPr/>
        </p:nvSpPr>
        <p:spPr>
          <a:xfrm>
            <a:off x="6903720" y="4672584"/>
            <a:ext cx="4480560" cy="365760"/>
          </a:xfrm>
          <a:prstGeom prst="rect">
            <a:avLst/>
          </a:prstGeom>
          <a:noFill/>
          <a:ln/>
        </p:spPr>
        <p:txBody>
          <a:bodyPr wrap="square" lIns="0" tIns="0" rIns="0" bIns="0" rtlCol="0" anchor="t"/>
          <a:lstStyle/>
          <a:p>
            <a:pPr indent="0" marL="0">
              <a:buNone/>
            </a:pPr>
            <a:r>
              <a:rPr lang="en-US" sz="1600" b="1" dirty="0">
                <a:solidFill>
                  <a:schemeClr val="bg1"/>
                </a:solidFill>
              </a:rPr>
              <a:t>Arma 2 loncheras a las 6 a. m.</a:t>
            </a:r>
            <a:endParaRPr lang="en-US" sz="1600" dirty="0"/>
          </a:p>
        </p:txBody>
      </p:sp>
      <p:sp>
        <p:nvSpPr>
          <p:cNvPr id="22" name="Text 18"/>
          <p:cNvSpPr txBox="1"/>
          <p:nvPr/>
        </p:nvSpPr>
        <p:spPr>
          <a:xfrm>
            <a:off x="6903720" y="5175504"/>
            <a:ext cx="4480560" cy="256032"/>
          </a:xfrm>
          <a:prstGeom prst="rect">
            <a:avLst/>
          </a:prstGeom>
          <a:noFill/>
          <a:ln/>
        </p:spPr>
        <p:txBody>
          <a:bodyPr wrap="square" lIns="0" tIns="0" rIns="0" bIns="0" rtlCol="0" anchor="t"/>
          <a:lstStyle/>
          <a:p>
            <a:pPr indent="0" marL="0">
              <a:buNone/>
            </a:pPr>
            <a:r>
              <a:rPr lang="en-US" sz="1100" b="1" spc="100" kern="0" dirty="0">
                <a:solidFill>
                  <a:schemeClr val="accent5"/>
                </a:solidFill>
              </a:rPr>
              <a:t>COMPRA EN</a:t>
            </a:r>
            <a:endParaRPr lang="en-US" sz="1100" dirty="0"/>
          </a:p>
        </p:txBody>
      </p:sp>
      <p:sp>
        <p:nvSpPr>
          <p:cNvPr id="23" name="Text 19"/>
          <p:cNvSpPr txBox="1"/>
          <p:nvPr/>
        </p:nvSpPr>
        <p:spPr>
          <a:xfrm>
            <a:off x="6903720" y="5422392"/>
            <a:ext cx="4480560" cy="365760"/>
          </a:xfrm>
          <a:prstGeom prst="rect">
            <a:avLst/>
          </a:prstGeom>
          <a:noFill/>
          <a:ln/>
        </p:spPr>
        <p:txBody>
          <a:bodyPr wrap="square" lIns="0" tIns="0" rIns="0" bIns="0" rtlCol="0" anchor="t"/>
          <a:lstStyle/>
          <a:p>
            <a:pPr indent="0" marL="0">
              <a:buNone/>
            </a:pPr>
            <a:r>
              <a:rPr lang="en-US" sz="1600" b="1" dirty="0">
                <a:solidFill>
                  <a:schemeClr val="bg1"/>
                </a:solidFill>
              </a:rPr>
              <a:t>Wong, Flora &amp; Fauna e Instagram</a:t>
            </a:r>
            <a:endParaRPr lang="en-US" sz="16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5 · ARQUETIPOS DE CLIENTE</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Tres clientes tipo: quién es, qué le duele y dónde compra</a:t>
            </a:r>
            <a:endParaRPr lang="en-US" sz="3400" dirty="0"/>
          </a:p>
        </p:txBody>
      </p:sp>
      <p:sp>
        <p:nvSpPr>
          <p:cNvPr id="4" name="Shape 2"/>
          <p:cNvSpPr/>
          <p:nvPr/>
        </p:nvSpPr>
        <p:spPr>
          <a:xfrm>
            <a:off x="548640" y="1554480"/>
            <a:ext cx="3520440" cy="4572000"/>
          </a:xfrm>
          <a:prstGeom prst="roundRect">
            <a:avLst>
              <a:gd name="adj" fmla="val 3117"/>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5" name="Shape 3"/>
          <p:cNvSpPr/>
          <p:nvPr/>
        </p:nvSpPr>
        <p:spPr>
          <a:xfrm>
            <a:off x="822960" y="1828800"/>
            <a:ext cx="731520" cy="73152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983894" y="1989734"/>
            <a:ext cx="409651" cy="409651"/>
          </a:xfrm>
          <a:prstGeom prst="rect">
            <a:avLst/>
          </a:prstGeom>
        </p:spPr>
      </p:pic>
      <p:sp>
        <p:nvSpPr>
          <p:cNvPr id="7" name="Text 4"/>
          <p:cNvSpPr txBox="1"/>
          <p:nvPr/>
        </p:nvSpPr>
        <p:spPr>
          <a:xfrm>
            <a:off x="1691640" y="1828800"/>
            <a:ext cx="2194560" cy="411480"/>
          </a:xfrm>
          <a:prstGeom prst="rect">
            <a:avLst/>
          </a:prstGeom>
          <a:noFill/>
          <a:ln/>
        </p:spPr>
        <p:txBody>
          <a:bodyPr wrap="square" lIns="0" tIns="0" rIns="0" bIns="0" rtlCol="0" anchor="t"/>
          <a:lstStyle/>
          <a:p>
            <a:pPr indent="0" marL="0">
              <a:buNone/>
            </a:pPr>
            <a:r>
              <a:rPr lang="en-US" sz="1900" b="1" dirty="0">
                <a:solidFill>
                  <a:schemeClr val="tx2"/>
                </a:solidFill>
              </a:rPr>
              <a:t>Guardiana del Hierro</a:t>
            </a:r>
            <a:endParaRPr lang="en-US" sz="1900" dirty="0"/>
          </a:p>
        </p:txBody>
      </p:sp>
      <p:sp>
        <p:nvSpPr>
          <p:cNvPr id="8" name="Text 5"/>
          <p:cNvSpPr txBox="1"/>
          <p:nvPr/>
        </p:nvSpPr>
        <p:spPr>
          <a:xfrm>
            <a:off x="1691640" y="2267712"/>
            <a:ext cx="2194560" cy="320040"/>
          </a:xfrm>
          <a:prstGeom prst="rect">
            <a:avLst/>
          </a:prstGeom>
          <a:noFill/>
          <a:ln/>
        </p:spPr>
        <p:txBody>
          <a:bodyPr wrap="square" lIns="0" tIns="0" rIns="0" bIns="0" rtlCol="0" anchor="t"/>
          <a:lstStyle/>
          <a:p>
            <a:pPr indent="0" marL="0">
              <a:buNone/>
            </a:pPr>
            <a:r>
              <a:rPr lang="en-US" sz="1200" dirty="0">
                <a:solidFill>
                  <a:schemeClr val="accent2"/>
                </a:solidFill>
              </a:rPr>
              <a:t>Mamá de 35 a 42, profesional</a:t>
            </a:r>
            <a:endParaRPr lang="en-US" sz="1200" dirty="0"/>
          </a:p>
        </p:txBody>
      </p:sp>
      <p:sp>
        <p:nvSpPr>
          <p:cNvPr id="9" name="Text 6"/>
          <p:cNvSpPr txBox="1"/>
          <p:nvPr/>
        </p:nvSpPr>
        <p:spPr>
          <a:xfrm>
            <a:off x="822960" y="2834640"/>
            <a:ext cx="2971800" cy="237744"/>
          </a:xfrm>
          <a:prstGeom prst="rect">
            <a:avLst/>
          </a:prstGeom>
          <a:noFill/>
          <a:ln/>
        </p:spPr>
        <p:txBody>
          <a:bodyPr wrap="square" lIns="0" tIns="0" rIns="0" bIns="0" rtlCol="0" anchor="t"/>
          <a:lstStyle/>
          <a:p>
            <a:pPr indent="0" marL="0">
              <a:buNone/>
            </a:pPr>
            <a:r>
              <a:rPr lang="en-US" sz="1100" b="1" spc="100" kern="0" dirty="0">
                <a:solidFill>
                  <a:schemeClr val="accent1"/>
                </a:solidFill>
              </a:rPr>
              <a:t>HÁBITO</a:t>
            </a:r>
            <a:endParaRPr lang="en-US" sz="1100" dirty="0"/>
          </a:p>
        </p:txBody>
      </p:sp>
      <p:sp>
        <p:nvSpPr>
          <p:cNvPr id="10" name="Text 7"/>
          <p:cNvSpPr txBox="1"/>
          <p:nvPr/>
        </p:nvSpPr>
        <p:spPr>
          <a:xfrm>
            <a:off x="822960" y="3063240"/>
            <a:ext cx="2971800" cy="347472"/>
          </a:xfrm>
          <a:prstGeom prst="rect">
            <a:avLst/>
          </a:prstGeom>
          <a:noFill/>
          <a:ln/>
        </p:spPr>
        <p:txBody>
          <a:bodyPr wrap="square" lIns="0" tIns="0" rIns="0" bIns="0" rtlCol="0" anchor="t"/>
          <a:lstStyle/>
          <a:p>
            <a:pPr indent="0" marL="0">
              <a:buNone/>
            </a:pPr>
            <a:r>
              <a:rPr lang="en-US" sz="1500" dirty="0">
                <a:solidFill>
                  <a:schemeClr val="tx1"/>
                </a:solidFill>
              </a:rPr>
              <a:t>Lee etiquetas; pregunta al pediatra</a:t>
            </a:r>
            <a:endParaRPr lang="en-US" sz="1500" dirty="0"/>
          </a:p>
        </p:txBody>
      </p:sp>
      <p:sp>
        <p:nvSpPr>
          <p:cNvPr id="11" name="Text 8"/>
          <p:cNvSpPr txBox="1"/>
          <p:nvPr/>
        </p:nvSpPr>
        <p:spPr>
          <a:xfrm>
            <a:off x="822960" y="3474720"/>
            <a:ext cx="2971800" cy="237744"/>
          </a:xfrm>
          <a:prstGeom prst="rect">
            <a:avLst/>
          </a:prstGeom>
          <a:noFill/>
          <a:ln/>
        </p:spPr>
        <p:txBody>
          <a:bodyPr wrap="square" lIns="0" tIns="0" rIns="0" bIns="0" rtlCol="0" anchor="t"/>
          <a:lstStyle/>
          <a:p>
            <a:pPr indent="0" marL="0">
              <a:buNone/>
            </a:pPr>
            <a:r>
              <a:rPr lang="en-US" sz="1100" b="1" spc="100" kern="0" dirty="0">
                <a:solidFill>
                  <a:schemeClr val="accent1"/>
                </a:solidFill>
              </a:rPr>
              <a:t>DOLOR</a:t>
            </a:r>
            <a:endParaRPr lang="en-US" sz="1100" dirty="0"/>
          </a:p>
        </p:txBody>
      </p:sp>
      <p:sp>
        <p:nvSpPr>
          <p:cNvPr id="12" name="Text 9"/>
          <p:cNvSpPr txBox="1"/>
          <p:nvPr/>
        </p:nvSpPr>
        <p:spPr>
          <a:xfrm>
            <a:off x="822960" y="3703320"/>
            <a:ext cx="2971800" cy="347472"/>
          </a:xfrm>
          <a:prstGeom prst="rect">
            <a:avLst/>
          </a:prstGeom>
          <a:noFill/>
          <a:ln/>
        </p:spPr>
        <p:txBody>
          <a:bodyPr wrap="square" lIns="0" tIns="0" rIns="0" bIns="0" rtlCol="0" anchor="t"/>
          <a:lstStyle/>
          <a:p>
            <a:pPr indent="0" marL="0">
              <a:buNone/>
            </a:pPr>
            <a:r>
              <a:rPr lang="en-US" sz="1500" dirty="0">
                <a:solidFill>
                  <a:schemeClr val="tx1"/>
                </a:solidFill>
              </a:rPr>
              <a:t>Su hijo rechaza lo nutritivo</a:t>
            </a:r>
            <a:endParaRPr lang="en-US" sz="1500" dirty="0"/>
          </a:p>
        </p:txBody>
      </p:sp>
      <p:sp>
        <p:nvSpPr>
          <p:cNvPr id="13" name="Text 10"/>
          <p:cNvSpPr txBox="1"/>
          <p:nvPr/>
        </p:nvSpPr>
        <p:spPr>
          <a:xfrm>
            <a:off x="822960" y="4114800"/>
            <a:ext cx="2971800" cy="237744"/>
          </a:xfrm>
          <a:prstGeom prst="rect">
            <a:avLst/>
          </a:prstGeom>
          <a:noFill/>
          <a:ln/>
        </p:spPr>
        <p:txBody>
          <a:bodyPr wrap="square" lIns="0" tIns="0" rIns="0" bIns="0" rtlCol="0" anchor="t"/>
          <a:lstStyle/>
          <a:p>
            <a:pPr indent="0" marL="0">
              <a:buNone/>
            </a:pPr>
            <a:r>
              <a:rPr lang="en-US" sz="1100" b="1" spc="100" kern="0" dirty="0">
                <a:solidFill>
                  <a:schemeClr val="accent1"/>
                </a:solidFill>
              </a:rPr>
              <a:t>VALORA</a:t>
            </a:r>
            <a:endParaRPr lang="en-US" sz="1100" dirty="0"/>
          </a:p>
        </p:txBody>
      </p:sp>
      <p:sp>
        <p:nvSpPr>
          <p:cNvPr id="14" name="Text 11"/>
          <p:cNvSpPr txBox="1"/>
          <p:nvPr/>
        </p:nvSpPr>
        <p:spPr>
          <a:xfrm>
            <a:off x="822960" y="4343400"/>
            <a:ext cx="2971800" cy="347472"/>
          </a:xfrm>
          <a:prstGeom prst="rect">
            <a:avLst/>
          </a:prstGeom>
          <a:noFill/>
          <a:ln/>
        </p:spPr>
        <p:txBody>
          <a:bodyPr wrap="square" lIns="0" tIns="0" rIns="0" bIns="0" rtlCol="0" anchor="t"/>
          <a:lstStyle/>
          <a:p>
            <a:pPr indent="0" marL="0">
              <a:buNone/>
            </a:pPr>
            <a:r>
              <a:rPr lang="en-US" sz="1500" dirty="0">
                <a:solidFill>
                  <a:schemeClr val="tx1"/>
                </a:solidFill>
              </a:rPr>
              <a:t>Pruebas: hierro en mg</a:t>
            </a:r>
            <a:endParaRPr lang="en-US" sz="1500" dirty="0"/>
          </a:p>
        </p:txBody>
      </p:sp>
      <p:sp>
        <p:nvSpPr>
          <p:cNvPr id="15" name="Text 12"/>
          <p:cNvSpPr txBox="1"/>
          <p:nvPr/>
        </p:nvSpPr>
        <p:spPr>
          <a:xfrm>
            <a:off x="822960" y="4754880"/>
            <a:ext cx="2971800" cy="237744"/>
          </a:xfrm>
          <a:prstGeom prst="rect">
            <a:avLst/>
          </a:prstGeom>
          <a:noFill/>
          <a:ln/>
        </p:spPr>
        <p:txBody>
          <a:bodyPr wrap="square" lIns="0" tIns="0" rIns="0" bIns="0" rtlCol="0" anchor="t"/>
          <a:lstStyle/>
          <a:p>
            <a:pPr indent="0" marL="0">
              <a:buNone/>
            </a:pPr>
            <a:r>
              <a:rPr lang="en-US" sz="1100" b="1" spc="100" kern="0" dirty="0">
                <a:solidFill>
                  <a:schemeClr val="accent1"/>
                </a:solidFill>
              </a:rPr>
              <a:t>COMPRA EN</a:t>
            </a:r>
            <a:endParaRPr lang="en-US" sz="1100" dirty="0"/>
          </a:p>
        </p:txBody>
      </p:sp>
      <p:sp>
        <p:nvSpPr>
          <p:cNvPr id="16" name="Text 13"/>
          <p:cNvSpPr txBox="1"/>
          <p:nvPr/>
        </p:nvSpPr>
        <p:spPr>
          <a:xfrm>
            <a:off x="822960" y="4983480"/>
            <a:ext cx="2971800" cy="347472"/>
          </a:xfrm>
          <a:prstGeom prst="rect">
            <a:avLst/>
          </a:prstGeom>
          <a:noFill/>
          <a:ln/>
        </p:spPr>
        <p:txBody>
          <a:bodyPr wrap="square" lIns="0" tIns="0" rIns="0" bIns="0" rtlCol="0" anchor="t"/>
          <a:lstStyle/>
          <a:p>
            <a:pPr indent="0" marL="0">
              <a:buNone/>
            </a:pPr>
            <a:r>
              <a:rPr lang="en-US" sz="1500" dirty="0">
                <a:solidFill>
                  <a:schemeClr val="tx1"/>
                </a:solidFill>
              </a:rPr>
              <a:t>Wong, Flora &amp; Fauna, Instagram</a:t>
            </a:r>
            <a:endParaRPr lang="en-US" sz="1500" dirty="0"/>
          </a:p>
        </p:txBody>
      </p:sp>
      <p:sp>
        <p:nvSpPr>
          <p:cNvPr id="17" name="Text 14"/>
          <p:cNvSpPr txBox="1"/>
          <p:nvPr/>
        </p:nvSpPr>
        <p:spPr>
          <a:xfrm>
            <a:off x="822960" y="5376672"/>
            <a:ext cx="1554480" cy="685800"/>
          </a:xfrm>
          <a:prstGeom prst="rect">
            <a:avLst/>
          </a:prstGeom>
          <a:noFill/>
          <a:ln/>
        </p:spPr>
        <p:txBody>
          <a:bodyPr wrap="square" lIns="0" tIns="0" rIns="0" bIns="0" rtlCol="0" anchor="t"/>
          <a:lstStyle/>
          <a:p>
            <a:pPr indent="0" marL="0">
              <a:buNone/>
            </a:pPr>
            <a:r>
              <a:rPr lang="en-US" sz="3000" b="1" dirty="0">
                <a:solidFill>
                  <a:schemeClr val="accent1"/>
                </a:solidFill>
              </a:rPr>
              <a:t>30 %</a:t>
            </a:r>
            <a:endParaRPr lang="en-US" sz="1400" dirty="0"/>
          </a:p>
          <a:p>
            <a:pPr indent="0" marL="0">
              <a:buNone/>
            </a:pPr>
            <a:r>
              <a:rPr lang="en-US" sz="1100" dirty="0">
                <a:solidFill>
                  <a:schemeClr val="accent2"/>
                </a:solidFill>
              </a:rPr>
              <a:t>del volumen</a:t>
            </a:r>
            <a:endParaRPr lang="en-US" sz="1400" dirty="0"/>
          </a:p>
        </p:txBody>
      </p:sp>
      <p:sp>
        <p:nvSpPr>
          <p:cNvPr id="18" name="Shape 15"/>
          <p:cNvSpPr/>
          <p:nvPr/>
        </p:nvSpPr>
        <p:spPr>
          <a:xfrm>
            <a:off x="2331720" y="5486400"/>
            <a:ext cx="1463040" cy="384048"/>
          </a:xfrm>
          <a:prstGeom prst="roundRect">
            <a:avLst>
              <a:gd name="adj" fmla="val 50000"/>
            </a:avLst>
          </a:prstGeom>
          <a:solidFill>
            <a:schemeClr val="bg2"/>
          </a:solidFill>
          <a:ln w="12700">
            <a:solidFill>
              <a:schemeClr val="accent5"/>
            </a:solidFill>
            <a:prstDash val="solid"/>
          </a:ln>
        </p:spPr>
      </p:sp>
      <p:sp>
        <p:nvSpPr>
          <p:cNvPr id="19" name="Text 16"/>
          <p:cNvSpPr txBox="1"/>
          <p:nvPr/>
        </p:nvSpPr>
        <p:spPr>
          <a:xfrm>
            <a:off x="2331720" y="5486400"/>
            <a:ext cx="1463040" cy="384048"/>
          </a:xfrm>
          <a:prstGeom prst="rect">
            <a:avLst/>
          </a:prstGeom>
          <a:noFill/>
          <a:ln/>
        </p:spPr>
        <p:txBody>
          <a:bodyPr wrap="square" lIns="0" tIns="0" rIns="0" bIns="0" rtlCol="0" anchor="ctr"/>
          <a:lstStyle/>
          <a:p>
            <a:pPr algn="ctr" indent="0" marL="0">
              <a:buNone/>
            </a:pPr>
            <a:r>
              <a:rPr lang="en-US" sz="1100" b="1" dirty="0">
                <a:solidFill>
                  <a:schemeClr val="tx2"/>
                </a:solidFill>
              </a:rPr>
              <a:t>Buyer persona: Claudia</a:t>
            </a:r>
            <a:endParaRPr lang="en-US" sz="1100" dirty="0"/>
          </a:p>
        </p:txBody>
      </p:sp>
      <p:sp>
        <p:nvSpPr>
          <p:cNvPr id="20" name="Shape 17"/>
          <p:cNvSpPr/>
          <p:nvPr/>
        </p:nvSpPr>
        <p:spPr>
          <a:xfrm>
            <a:off x="4334256" y="1554480"/>
            <a:ext cx="3520440" cy="4572000"/>
          </a:xfrm>
          <a:prstGeom prst="roundRect">
            <a:avLst>
              <a:gd name="adj" fmla="val 3117"/>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1" name="Shape 18"/>
          <p:cNvSpPr/>
          <p:nvPr/>
        </p:nvSpPr>
        <p:spPr>
          <a:xfrm>
            <a:off x="4608576" y="1828800"/>
            <a:ext cx="731520" cy="731520"/>
          </a:xfrm>
          <a:prstGeom prst="ellipse">
            <a:avLst/>
          </a:prstGeom>
          <a:solidFill>
            <a:schemeClr val="accent2"/>
          </a:solidFill>
          <a:ln w="12700">
            <a:solidFill>
              <a:schemeClr val="accent2"/>
            </a:solidFill>
            <a:prstDash val="solid"/>
          </a:ln>
        </p:spPr>
      </p:sp>
      <p:pic>
        <p:nvPicPr>
          <p:cNvPr id="22" name="Image 1" descr="preencoded.png">    </p:cNvPr>
          <p:cNvPicPr>
            <a:picLocks noChangeAspect="1"/>
          </p:cNvPicPr>
          <p:nvPr/>
        </p:nvPicPr>
        <p:blipFill>
          <a:blip r:embed="rId2"/>
          <a:stretch>
            <a:fillRect/>
          </a:stretch>
        </p:blipFill>
        <p:spPr>
          <a:xfrm>
            <a:off x="4769510" y="1989734"/>
            <a:ext cx="409651" cy="409651"/>
          </a:xfrm>
          <a:prstGeom prst="rect">
            <a:avLst/>
          </a:prstGeom>
        </p:spPr>
      </p:pic>
      <p:sp>
        <p:nvSpPr>
          <p:cNvPr id="23" name="Text 19"/>
          <p:cNvSpPr txBox="1"/>
          <p:nvPr/>
        </p:nvSpPr>
        <p:spPr>
          <a:xfrm>
            <a:off x="5477256" y="1828800"/>
            <a:ext cx="2194560" cy="411480"/>
          </a:xfrm>
          <a:prstGeom prst="rect">
            <a:avLst/>
          </a:prstGeom>
          <a:noFill/>
          <a:ln/>
        </p:spPr>
        <p:txBody>
          <a:bodyPr wrap="square" lIns="0" tIns="0" rIns="0" bIns="0" rtlCol="0" anchor="t"/>
          <a:lstStyle/>
          <a:p>
            <a:pPr indent="0" marL="0">
              <a:buNone/>
            </a:pPr>
            <a:r>
              <a:rPr lang="en-US" sz="1900" b="1" dirty="0">
                <a:solidFill>
                  <a:schemeClr val="tx2"/>
                </a:solidFill>
              </a:rPr>
              <a:t>El Resolutivo</a:t>
            </a:r>
            <a:endParaRPr lang="en-US" sz="1900" dirty="0"/>
          </a:p>
        </p:txBody>
      </p:sp>
      <p:sp>
        <p:nvSpPr>
          <p:cNvPr id="24" name="Text 20"/>
          <p:cNvSpPr txBox="1"/>
          <p:nvPr/>
        </p:nvSpPr>
        <p:spPr>
          <a:xfrm>
            <a:off x="5477256" y="2267712"/>
            <a:ext cx="2194560" cy="320040"/>
          </a:xfrm>
          <a:prstGeom prst="rect">
            <a:avLst/>
          </a:prstGeom>
          <a:noFill/>
          <a:ln/>
        </p:spPr>
        <p:txBody>
          <a:bodyPr wrap="square" lIns="0" tIns="0" rIns="0" bIns="0" rtlCol="0" anchor="t"/>
          <a:lstStyle/>
          <a:p>
            <a:pPr indent="0" marL="0">
              <a:buNone/>
            </a:pPr>
            <a:r>
              <a:rPr lang="en-US" sz="1200" dirty="0">
                <a:solidFill>
                  <a:schemeClr val="accent2"/>
                </a:solidFill>
              </a:rPr>
              <a:t>Papá o mamá de 36 a 45, mando medio</a:t>
            </a:r>
            <a:endParaRPr lang="en-US" sz="1200" dirty="0"/>
          </a:p>
        </p:txBody>
      </p:sp>
      <p:sp>
        <p:nvSpPr>
          <p:cNvPr id="25" name="Text 21"/>
          <p:cNvSpPr txBox="1"/>
          <p:nvPr/>
        </p:nvSpPr>
        <p:spPr>
          <a:xfrm>
            <a:off x="4608576" y="2834640"/>
            <a:ext cx="2971800" cy="237744"/>
          </a:xfrm>
          <a:prstGeom prst="rect">
            <a:avLst/>
          </a:prstGeom>
          <a:noFill/>
          <a:ln/>
        </p:spPr>
        <p:txBody>
          <a:bodyPr wrap="square" lIns="0" tIns="0" rIns="0" bIns="0" rtlCol="0" anchor="t"/>
          <a:lstStyle/>
          <a:p>
            <a:pPr indent="0" marL="0">
              <a:buNone/>
            </a:pPr>
            <a:r>
              <a:rPr lang="en-US" sz="1100" b="1" spc="100" kern="0" dirty="0">
                <a:solidFill>
                  <a:schemeClr val="accent1"/>
                </a:solidFill>
              </a:rPr>
              <a:t>HÁBITO</a:t>
            </a:r>
            <a:endParaRPr lang="en-US" sz="1100" dirty="0"/>
          </a:p>
        </p:txBody>
      </p:sp>
      <p:sp>
        <p:nvSpPr>
          <p:cNvPr id="26" name="Text 22"/>
          <p:cNvSpPr txBox="1"/>
          <p:nvPr/>
        </p:nvSpPr>
        <p:spPr>
          <a:xfrm>
            <a:off x="4608576" y="3063240"/>
            <a:ext cx="2971800" cy="347472"/>
          </a:xfrm>
          <a:prstGeom prst="rect">
            <a:avLst/>
          </a:prstGeom>
          <a:noFill/>
          <a:ln/>
        </p:spPr>
        <p:txBody>
          <a:bodyPr wrap="square" lIns="0" tIns="0" rIns="0" bIns="0" rtlCol="0" anchor="t"/>
          <a:lstStyle/>
          <a:p>
            <a:pPr indent="0" marL="0">
              <a:buNone/>
            </a:pPr>
            <a:r>
              <a:rPr lang="en-US" sz="1500" dirty="0">
                <a:solidFill>
                  <a:schemeClr val="tx1"/>
                </a:solidFill>
              </a:rPr>
              <a:t>Compra por app y en el súper</a:t>
            </a:r>
            <a:endParaRPr lang="en-US" sz="1500" dirty="0"/>
          </a:p>
        </p:txBody>
      </p:sp>
      <p:sp>
        <p:nvSpPr>
          <p:cNvPr id="27" name="Text 23"/>
          <p:cNvSpPr txBox="1"/>
          <p:nvPr/>
        </p:nvSpPr>
        <p:spPr>
          <a:xfrm>
            <a:off x="4608576" y="3474720"/>
            <a:ext cx="2971800" cy="237744"/>
          </a:xfrm>
          <a:prstGeom prst="rect">
            <a:avLst/>
          </a:prstGeom>
          <a:noFill/>
          <a:ln/>
        </p:spPr>
        <p:txBody>
          <a:bodyPr wrap="square" lIns="0" tIns="0" rIns="0" bIns="0" rtlCol="0" anchor="t"/>
          <a:lstStyle/>
          <a:p>
            <a:pPr indent="0" marL="0">
              <a:buNone/>
            </a:pPr>
            <a:r>
              <a:rPr lang="en-US" sz="1100" b="1" spc="100" kern="0" dirty="0">
                <a:solidFill>
                  <a:schemeClr val="accent1"/>
                </a:solidFill>
              </a:rPr>
              <a:t>DOLOR</a:t>
            </a:r>
            <a:endParaRPr lang="en-US" sz="1100" dirty="0"/>
          </a:p>
        </p:txBody>
      </p:sp>
      <p:sp>
        <p:nvSpPr>
          <p:cNvPr id="28" name="Text 24"/>
          <p:cNvSpPr txBox="1"/>
          <p:nvPr/>
        </p:nvSpPr>
        <p:spPr>
          <a:xfrm>
            <a:off x="4608576" y="3703320"/>
            <a:ext cx="2971800" cy="347472"/>
          </a:xfrm>
          <a:prstGeom prst="rect">
            <a:avLst/>
          </a:prstGeom>
          <a:noFill/>
          <a:ln/>
        </p:spPr>
        <p:txBody>
          <a:bodyPr wrap="square" lIns="0" tIns="0" rIns="0" bIns="0" rtlCol="0" anchor="t"/>
          <a:lstStyle/>
          <a:p>
            <a:pPr indent="0" marL="0">
              <a:buNone/>
            </a:pPr>
            <a:r>
              <a:rPr lang="en-US" sz="1500" dirty="0">
                <a:solidFill>
                  <a:schemeClr val="tx1"/>
                </a:solidFill>
              </a:rPr>
              <a:t>Mañanas contra el reloj</a:t>
            </a:r>
            <a:endParaRPr lang="en-US" sz="1500" dirty="0"/>
          </a:p>
        </p:txBody>
      </p:sp>
      <p:sp>
        <p:nvSpPr>
          <p:cNvPr id="29" name="Text 25"/>
          <p:cNvSpPr txBox="1"/>
          <p:nvPr/>
        </p:nvSpPr>
        <p:spPr>
          <a:xfrm>
            <a:off x="4608576" y="4114800"/>
            <a:ext cx="2971800" cy="237744"/>
          </a:xfrm>
          <a:prstGeom prst="rect">
            <a:avLst/>
          </a:prstGeom>
          <a:noFill/>
          <a:ln/>
        </p:spPr>
        <p:txBody>
          <a:bodyPr wrap="square" lIns="0" tIns="0" rIns="0" bIns="0" rtlCol="0" anchor="t"/>
          <a:lstStyle/>
          <a:p>
            <a:pPr indent="0" marL="0">
              <a:buNone/>
            </a:pPr>
            <a:r>
              <a:rPr lang="en-US" sz="1100" b="1" spc="100" kern="0" dirty="0">
                <a:solidFill>
                  <a:schemeClr val="accent1"/>
                </a:solidFill>
              </a:rPr>
              <a:t>VALORA</a:t>
            </a:r>
            <a:endParaRPr lang="en-US" sz="1100" dirty="0"/>
          </a:p>
        </p:txBody>
      </p:sp>
      <p:sp>
        <p:nvSpPr>
          <p:cNvPr id="30" name="Text 26"/>
          <p:cNvSpPr txBox="1"/>
          <p:nvPr/>
        </p:nvSpPr>
        <p:spPr>
          <a:xfrm>
            <a:off x="4608576" y="4343400"/>
            <a:ext cx="2971800" cy="347472"/>
          </a:xfrm>
          <a:prstGeom prst="rect">
            <a:avLst/>
          </a:prstGeom>
          <a:noFill/>
          <a:ln/>
        </p:spPr>
        <p:txBody>
          <a:bodyPr wrap="square" lIns="0" tIns="0" rIns="0" bIns="0" rtlCol="0" anchor="t"/>
          <a:lstStyle/>
          <a:p>
            <a:pPr indent="0" marL="0">
              <a:buNone/>
            </a:pPr>
            <a:r>
              <a:rPr lang="en-US" sz="1500" dirty="0">
                <a:solidFill>
                  <a:schemeClr val="tx1"/>
                </a:solidFill>
              </a:rPr>
              <a:t>Que valga lo que cuesta</a:t>
            </a:r>
            <a:endParaRPr lang="en-US" sz="1500" dirty="0"/>
          </a:p>
        </p:txBody>
      </p:sp>
      <p:sp>
        <p:nvSpPr>
          <p:cNvPr id="31" name="Text 27"/>
          <p:cNvSpPr txBox="1"/>
          <p:nvPr/>
        </p:nvSpPr>
        <p:spPr>
          <a:xfrm>
            <a:off x="4608576" y="4754880"/>
            <a:ext cx="2971800" cy="237744"/>
          </a:xfrm>
          <a:prstGeom prst="rect">
            <a:avLst/>
          </a:prstGeom>
          <a:noFill/>
          <a:ln/>
        </p:spPr>
        <p:txBody>
          <a:bodyPr wrap="square" lIns="0" tIns="0" rIns="0" bIns="0" rtlCol="0" anchor="t"/>
          <a:lstStyle/>
          <a:p>
            <a:pPr indent="0" marL="0">
              <a:buNone/>
            </a:pPr>
            <a:r>
              <a:rPr lang="en-US" sz="1100" b="1" spc="100" kern="0" dirty="0">
                <a:solidFill>
                  <a:schemeClr val="accent1"/>
                </a:solidFill>
              </a:rPr>
              <a:t>COMPRA EN</a:t>
            </a:r>
            <a:endParaRPr lang="en-US" sz="1100" dirty="0"/>
          </a:p>
        </p:txBody>
      </p:sp>
      <p:sp>
        <p:nvSpPr>
          <p:cNvPr id="32" name="Text 28"/>
          <p:cNvSpPr txBox="1"/>
          <p:nvPr/>
        </p:nvSpPr>
        <p:spPr>
          <a:xfrm>
            <a:off x="4608576" y="4983480"/>
            <a:ext cx="2971800" cy="347472"/>
          </a:xfrm>
          <a:prstGeom prst="rect">
            <a:avLst/>
          </a:prstGeom>
          <a:noFill/>
          <a:ln/>
        </p:spPr>
        <p:txBody>
          <a:bodyPr wrap="square" lIns="0" tIns="0" rIns="0" bIns="0" rtlCol="0" anchor="t"/>
          <a:lstStyle/>
          <a:p>
            <a:pPr indent="0" marL="0">
              <a:buNone/>
            </a:pPr>
            <a:r>
              <a:rPr lang="en-US" sz="1500" dirty="0">
                <a:solidFill>
                  <a:schemeClr val="tx1"/>
                </a:solidFill>
              </a:rPr>
              <a:t>Plaza Vea, Tottus y WhatsApp</a:t>
            </a:r>
            <a:endParaRPr lang="en-US" sz="1500" dirty="0"/>
          </a:p>
        </p:txBody>
      </p:sp>
      <p:sp>
        <p:nvSpPr>
          <p:cNvPr id="33" name="Text 29"/>
          <p:cNvSpPr txBox="1"/>
          <p:nvPr/>
        </p:nvSpPr>
        <p:spPr>
          <a:xfrm>
            <a:off x="4608576" y="5376672"/>
            <a:ext cx="1554480" cy="685800"/>
          </a:xfrm>
          <a:prstGeom prst="rect">
            <a:avLst/>
          </a:prstGeom>
          <a:noFill/>
          <a:ln/>
        </p:spPr>
        <p:txBody>
          <a:bodyPr wrap="square" lIns="0" tIns="0" rIns="0" bIns="0" rtlCol="0" anchor="t"/>
          <a:lstStyle/>
          <a:p>
            <a:pPr indent="0" marL="0">
              <a:buNone/>
            </a:pPr>
            <a:r>
              <a:rPr lang="en-US" sz="3000" b="1" dirty="0">
                <a:solidFill>
                  <a:schemeClr val="accent2"/>
                </a:solidFill>
              </a:rPr>
              <a:t>45 %</a:t>
            </a:r>
            <a:endParaRPr lang="en-US" sz="1400" dirty="0"/>
          </a:p>
          <a:p>
            <a:pPr indent="0" marL="0">
              <a:buNone/>
            </a:pPr>
            <a:r>
              <a:rPr lang="en-US" sz="1100" dirty="0">
                <a:solidFill>
                  <a:schemeClr val="accent2"/>
                </a:solidFill>
              </a:rPr>
              <a:t>del volumen</a:t>
            </a:r>
            <a:endParaRPr lang="en-US" sz="1400" dirty="0"/>
          </a:p>
        </p:txBody>
      </p:sp>
      <p:sp>
        <p:nvSpPr>
          <p:cNvPr id="34" name="Shape 30"/>
          <p:cNvSpPr/>
          <p:nvPr/>
        </p:nvSpPr>
        <p:spPr>
          <a:xfrm>
            <a:off x="6117336" y="5486400"/>
            <a:ext cx="1463040" cy="384048"/>
          </a:xfrm>
          <a:prstGeom prst="roundRect">
            <a:avLst>
              <a:gd name="adj" fmla="val 50000"/>
            </a:avLst>
          </a:prstGeom>
          <a:solidFill>
            <a:schemeClr val="bg2"/>
          </a:solidFill>
          <a:ln w="12700">
            <a:solidFill>
              <a:schemeClr val="accent5"/>
            </a:solidFill>
            <a:prstDash val="solid"/>
          </a:ln>
        </p:spPr>
      </p:sp>
      <p:sp>
        <p:nvSpPr>
          <p:cNvPr id="35" name="Text 31"/>
          <p:cNvSpPr txBox="1"/>
          <p:nvPr/>
        </p:nvSpPr>
        <p:spPr>
          <a:xfrm>
            <a:off x="6117336" y="5486400"/>
            <a:ext cx="1463040" cy="384048"/>
          </a:xfrm>
          <a:prstGeom prst="rect">
            <a:avLst/>
          </a:prstGeom>
          <a:noFill/>
          <a:ln/>
        </p:spPr>
        <p:txBody>
          <a:bodyPr wrap="square" lIns="0" tIns="0" rIns="0" bIns="0" rtlCol="0" anchor="ctr"/>
          <a:lstStyle/>
          <a:p>
            <a:pPr algn="ctr" indent="0" marL="0">
              <a:buNone/>
            </a:pPr>
            <a:r>
              <a:rPr lang="en-US" sz="1100" b="1" dirty="0">
                <a:solidFill>
                  <a:schemeClr val="tx2"/>
                </a:solidFill>
              </a:rPr>
              <a:t>Buyer persona: Rodrigo</a:t>
            </a:r>
            <a:endParaRPr lang="en-US" sz="1100" dirty="0"/>
          </a:p>
        </p:txBody>
      </p:sp>
      <p:sp>
        <p:nvSpPr>
          <p:cNvPr id="36" name="Shape 32"/>
          <p:cNvSpPr/>
          <p:nvPr/>
        </p:nvSpPr>
        <p:spPr>
          <a:xfrm>
            <a:off x="8119872" y="1554480"/>
            <a:ext cx="3520440" cy="4572000"/>
          </a:xfrm>
          <a:prstGeom prst="roundRect">
            <a:avLst>
              <a:gd name="adj" fmla="val 3117"/>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37" name="Shape 33"/>
          <p:cNvSpPr/>
          <p:nvPr/>
        </p:nvSpPr>
        <p:spPr>
          <a:xfrm>
            <a:off x="8394192" y="1828800"/>
            <a:ext cx="731520" cy="731520"/>
          </a:xfrm>
          <a:prstGeom prst="ellipse">
            <a:avLst/>
          </a:prstGeom>
          <a:solidFill>
            <a:schemeClr val="accent4"/>
          </a:solidFill>
          <a:ln w="12700">
            <a:solidFill>
              <a:schemeClr val="accent4"/>
            </a:solidFill>
            <a:prstDash val="solid"/>
          </a:ln>
        </p:spPr>
      </p:sp>
      <p:pic>
        <p:nvPicPr>
          <p:cNvPr id="38" name="Image 2" descr="preencoded.png">    </p:cNvPr>
          <p:cNvPicPr>
            <a:picLocks noChangeAspect="1"/>
          </p:cNvPicPr>
          <p:nvPr/>
        </p:nvPicPr>
        <p:blipFill>
          <a:blip r:embed="rId3"/>
          <a:stretch>
            <a:fillRect/>
          </a:stretch>
        </p:blipFill>
        <p:spPr>
          <a:xfrm>
            <a:off x="8555126" y="1989734"/>
            <a:ext cx="409651" cy="409651"/>
          </a:xfrm>
          <a:prstGeom prst="rect">
            <a:avLst/>
          </a:prstGeom>
        </p:spPr>
      </p:pic>
      <p:sp>
        <p:nvSpPr>
          <p:cNvPr id="39" name="Text 34"/>
          <p:cNvSpPr txBox="1"/>
          <p:nvPr/>
        </p:nvSpPr>
        <p:spPr>
          <a:xfrm>
            <a:off x="9262872" y="1828800"/>
            <a:ext cx="2194560" cy="411480"/>
          </a:xfrm>
          <a:prstGeom prst="rect">
            <a:avLst/>
          </a:prstGeom>
          <a:noFill/>
          <a:ln/>
        </p:spPr>
        <p:txBody>
          <a:bodyPr wrap="square" lIns="0" tIns="0" rIns="0" bIns="0" rtlCol="0" anchor="t"/>
          <a:lstStyle/>
          <a:p>
            <a:pPr indent="0" marL="0">
              <a:buNone/>
            </a:pPr>
            <a:r>
              <a:rPr lang="en-US" sz="1900" b="1" dirty="0">
                <a:solidFill>
                  <a:schemeClr val="tx2"/>
                </a:solidFill>
              </a:rPr>
              <a:t>El Consejero</a:t>
            </a:r>
            <a:endParaRPr lang="en-US" sz="1900" dirty="0"/>
          </a:p>
        </p:txBody>
      </p:sp>
      <p:sp>
        <p:nvSpPr>
          <p:cNvPr id="40" name="Text 35"/>
          <p:cNvSpPr txBox="1"/>
          <p:nvPr/>
        </p:nvSpPr>
        <p:spPr>
          <a:xfrm>
            <a:off x="9262872" y="2267712"/>
            <a:ext cx="2194560" cy="320040"/>
          </a:xfrm>
          <a:prstGeom prst="rect">
            <a:avLst/>
          </a:prstGeom>
          <a:noFill/>
          <a:ln/>
        </p:spPr>
        <p:txBody>
          <a:bodyPr wrap="square" lIns="0" tIns="0" rIns="0" bIns="0" rtlCol="0" anchor="t"/>
          <a:lstStyle/>
          <a:p>
            <a:pPr indent="0" marL="0">
              <a:buNone/>
            </a:pPr>
            <a:r>
              <a:rPr lang="en-US" sz="1200" dirty="0">
                <a:solidFill>
                  <a:schemeClr val="accent2"/>
                </a:solidFill>
              </a:rPr>
              <a:t>Quiosco, nutricionista, pediatra</a:t>
            </a:r>
            <a:endParaRPr lang="en-US" sz="1200" dirty="0"/>
          </a:p>
        </p:txBody>
      </p:sp>
      <p:sp>
        <p:nvSpPr>
          <p:cNvPr id="41" name="Text 36"/>
          <p:cNvSpPr txBox="1"/>
          <p:nvPr/>
        </p:nvSpPr>
        <p:spPr>
          <a:xfrm>
            <a:off x="8394192" y="2834640"/>
            <a:ext cx="2971800" cy="237744"/>
          </a:xfrm>
          <a:prstGeom prst="rect">
            <a:avLst/>
          </a:prstGeom>
          <a:noFill/>
          <a:ln/>
        </p:spPr>
        <p:txBody>
          <a:bodyPr wrap="square" lIns="0" tIns="0" rIns="0" bIns="0" rtlCol="0" anchor="t"/>
          <a:lstStyle/>
          <a:p>
            <a:pPr indent="0" marL="0">
              <a:buNone/>
            </a:pPr>
            <a:r>
              <a:rPr lang="en-US" sz="1100" b="1" spc="100" kern="0" dirty="0">
                <a:solidFill>
                  <a:schemeClr val="accent1"/>
                </a:solidFill>
              </a:rPr>
              <a:t>HÁBITO</a:t>
            </a:r>
            <a:endParaRPr lang="en-US" sz="1100" dirty="0"/>
          </a:p>
        </p:txBody>
      </p:sp>
      <p:sp>
        <p:nvSpPr>
          <p:cNvPr id="42" name="Text 37"/>
          <p:cNvSpPr txBox="1"/>
          <p:nvPr/>
        </p:nvSpPr>
        <p:spPr>
          <a:xfrm>
            <a:off x="8394192" y="3063240"/>
            <a:ext cx="2971800" cy="347472"/>
          </a:xfrm>
          <a:prstGeom prst="rect">
            <a:avLst/>
          </a:prstGeom>
          <a:noFill/>
          <a:ln/>
        </p:spPr>
        <p:txBody>
          <a:bodyPr wrap="square" lIns="0" tIns="0" rIns="0" bIns="0" rtlCol="0" anchor="t"/>
          <a:lstStyle/>
          <a:p>
            <a:pPr indent="0" marL="0">
              <a:buNone/>
            </a:pPr>
            <a:r>
              <a:rPr lang="en-US" sz="1500" dirty="0">
                <a:solidFill>
                  <a:schemeClr val="tx1"/>
                </a:solidFill>
              </a:rPr>
              <a:t>Elige qué entra al colegio</a:t>
            </a:r>
            <a:endParaRPr lang="en-US" sz="1500" dirty="0"/>
          </a:p>
        </p:txBody>
      </p:sp>
      <p:sp>
        <p:nvSpPr>
          <p:cNvPr id="43" name="Text 38"/>
          <p:cNvSpPr txBox="1"/>
          <p:nvPr/>
        </p:nvSpPr>
        <p:spPr>
          <a:xfrm>
            <a:off x="8394192" y="3474720"/>
            <a:ext cx="2971800" cy="237744"/>
          </a:xfrm>
          <a:prstGeom prst="rect">
            <a:avLst/>
          </a:prstGeom>
          <a:noFill/>
          <a:ln/>
        </p:spPr>
        <p:txBody>
          <a:bodyPr wrap="square" lIns="0" tIns="0" rIns="0" bIns="0" rtlCol="0" anchor="t"/>
          <a:lstStyle/>
          <a:p>
            <a:pPr indent="0" marL="0">
              <a:buNone/>
            </a:pPr>
            <a:r>
              <a:rPr lang="en-US" sz="1100" b="1" spc="100" kern="0" dirty="0">
                <a:solidFill>
                  <a:schemeClr val="accent1"/>
                </a:solidFill>
              </a:rPr>
              <a:t>DOLOR</a:t>
            </a:r>
            <a:endParaRPr lang="en-US" sz="1100" dirty="0"/>
          </a:p>
        </p:txBody>
      </p:sp>
      <p:sp>
        <p:nvSpPr>
          <p:cNvPr id="44" name="Text 39"/>
          <p:cNvSpPr txBox="1"/>
          <p:nvPr/>
        </p:nvSpPr>
        <p:spPr>
          <a:xfrm>
            <a:off x="8394192" y="3703320"/>
            <a:ext cx="2971800" cy="347472"/>
          </a:xfrm>
          <a:prstGeom prst="rect">
            <a:avLst/>
          </a:prstGeom>
          <a:noFill/>
          <a:ln/>
        </p:spPr>
        <p:txBody>
          <a:bodyPr wrap="square" lIns="0" tIns="0" rIns="0" bIns="0" rtlCol="0" anchor="t"/>
          <a:lstStyle/>
          <a:p>
            <a:pPr indent="0" marL="0">
              <a:buNone/>
            </a:pPr>
            <a:r>
              <a:rPr lang="en-US" sz="1500" dirty="0">
                <a:solidFill>
                  <a:schemeClr val="tx1"/>
                </a:solidFill>
              </a:rPr>
              <a:t>Productos con octógono</a:t>
            </a:r>
            <a:endParaRPr lang="en-US" sz="1500" dirty="0"/>
          </a:p>
        </p:txBody>
      </p:sp>
      <p:sp>
        <p:nvSpPr>
          <p:cNvPr id="45" name="Text 40"/>
          <p:cNvSpPr txBox="1"/>
          <p:nvPr/>
        </p:nvSpPr>
        <p:spPr>
          <a:xfrm>
            <a:off x="8394192" y="4114800"/>
            <a:ext cx="2971800" cy="237744"/>
          </a:xfrm>
          <a:prstGeom prst="rect">
            <a:avLst/>
          </a:prstGeom>
          <a:noFill/>
          <a:ln/>
        </p:spPr>
        <p:txBody>
          <a:bodyPr wrap="square" lIns="0" tIns="0" rIns="0" bIns="0" rtlCol="0" anchor="t"/>
          <a:lstStyle/>
          <a:p>
            <a:pPr indent="0" marL="0">
              <a:buNone/>
            </a:pPr>
            <a:r>
              <a:rPr lang="en-US" sz="1100" b="1" spc="100" kern="0" dirty="0">
                <a:solidFill>
                  <a:schemeClr val="accent1"/>
                </a:solidFill>
              </a:rPr>
              <a:t>VALORA</a:t>
            </a:r>
            <a:endParaRPr lang="en-US" sz="1100" dirty="0"/>
          </a:p>
        </p:txBody>
      </p:sp>
      <p:sp>
        <p:nvSpPr>
          <p:cNvPr id="46" name="Text 41"/>
          <p:cNvSpPr txBox="1"/>
          <p:nvPr/>
        </p:nvSpPr>
        <p:spPr>
          <a:xfrm>
            <a:off x="8394192" y="4343400"/>
            <a:ext cx="2971800" cy="347472"/>
          </a:xfrm>
          <a:prstGeom prst="rect">
            <a:avLst/>
          </a:prstGeom>
          <a:noFill/>
          <a:ln/>
        </p:spPr>
        <p:txBody>
          <a:bodyPr wrap="square" lIns="0" tIns="0" rIns="0" bIns="0" rtlCol="0" anchor="t"/>
          <a:lstStyle/>
          <a:p>
            <a:pPr indent="0" marL="0">
              <a:buNone/>
            </a:pPr>
            <a:r>
              <a:rPr lang="en-US" sz="1500" dirty="0">
                <a:solidFill>
                  <a:schemeClr val="tx1"/>
                </a:solidFill>
              </a:rPr>
              <a:t>Norma y registro sanitario</a:t>
            </a:r>
            <a:endParaRPr lang="en-US" sz="1500" dirty="0"/>
          </a:p>
        </p:txBody>
      </p:sp>
      <p:sp>
        <p:nvSpPr>
          <p:cNvPr id="47" name="Text 42"/>
          <p:cNvSpPr txBox="1"/>
          <p:nvPr/>
        </p:nvSpPr>
        <p:spPr>
          <a:xfrm>
            <a:off x="8394192" y="4754880"/>
            <a:ext cx="2971800" cy="237744"/>
          </a:xfrm>
          <a:prstGeom prst="rect">
            <a:avLst/>
          </a:prstGeom>
          <a:noFill/>
          <a:ln/>
        </p:spPr>
        <p:txBody>
          <a:bodyPr wrap="square" lIns="0" tIns="0" rIns="0" bIns="0" rtlCol="0" anchor="t"/>
          <a:lstStyle/>
          <a:p>
            <a:pPr indent="0" marL="0">
              <a:buNone/>
            </a:pPr>
            <a:r>
              <a:rPr lang="en-US" sz="1100" b="1" spc="100" kern="0" dirty="0">
                <a:solidFill>
                  <a:schemeClr val="accent1"/>
                </a:solidFill>
              </a:rPr>
              <a:t>COMPRA EN</a:t>
            </a:r>
            <a:endParaRPr lang="en-US" sz="1100" dirty="0"/>
          </a:p>
        </p:txBody>
      </p:sp>
      <p:sp>
        <p:nvSpPr>
          <p:cNvPr id="48" name="Text 43"/>
          <p:cNvSpPr txBox="1"/>
          <p:nvPr/>
        </p:nvSpPr>
        <p:spPr>
          <a:xfrm>
            <a:off x="8394192" y="4983480"/>
            <a:ext cx="2971800" cy="347472"/>
          </a:xfrm>
          <a:prstGeom prst="rect">
            <a:avLst/>
          </a:prstGeom>
          <a:noFill/>
          <a:ln/>
        </p:spPr>
        <p:txBody>
          <a:bodyPr wrap="square" lIns="0" tIns="0" rIns="0" bIns="0" rtlCol="0" anchor="t"/>
          <a:lstStyle/>
          <a:p>
            <a:pPr indent="0" marL="0">
              <a:buNone/>
            </a:pPr>
            <a:r>
              <a:rPr lang="en-US" sz="1500" dirty="0">
                <a:solidFill>
                  <a:schemeClr val="tx1"/>
                </a:solidFill>
              </a:rPr>
              <a:t>Directo al productor</a:t>
            </a:r>
            <a:endParaRPr lang="en-US" sz="1500" dirty="0"/>
          </a:p>
        </p:txBody>
      </p:sp>
      <p:sp>
        <p:nvSpPr>
          <p:cNvPr id="49" name="Text 44"/>
          <p:cNvSpPr txBox="1"/>
          <p:nvPr/>
        </p:nvSpPr>
        <p:spPr>
          <a:xfrm>
            <a:off x="8394192" y="5376672"/>
            <a:ext cx="1554480" cy="685800"/>
          </a:xfrm>
          <a:prstGeom prst="rect">
            <a:avLst/>
          </a:prstGeom>
          <a:noFill/>
          <a:ln/>
        </p:spPr>
        <p:txBody>
          <a:bodyPr wrap="square" lIns="0" tIns="0" rIns="0" bIns="0" rtlCol="0" anchor="t"/>
          <a:lstStyle/>
          <a:p>
            <a:pPr indent="0" marL="0">
              <a:buNone/>
            </a:pPr>
            <a:r>
              <a:rPr lang="en-US" sz="3000" b="1" dirty="0">
                <a:solidFill>
                  <a:schemeClr val="accent4"/>
                </a:solidFill>
              </a:rPr>
              <a:t>25 %</a:t>
            </a:r>
            <a:endParaRPr lang="en-US" sz="1400" dirty="0"/>
          </a:p>
          <a:p>
            <a:pPr indent="0" marL="0">
              <a:buNone/>
            </a:pPr>
            <a:r>
              <a:rPr lang="en-US" sz="1100" dirty="0">
                <a:solidFill>
                  <a:schemeClr val="accent2"/>
                </a:solidFill>
              </a:rPr>
              <a:t>del volumen</a:t>
            </a:r>
            <a:endParaRPr lang="en-US" sz="1400" dirty="0"/>
          </a:p>
        </p:txBody>
      </p:sp>
      <p:sp>
        <p:nvSpPr>
          <p:cNvPr id="50" name="Shape 45"/>
          <p:cNvSpPr/>
          <p:nvPr/>
        </p:nvSpPr>
        <p:spPr>
          <a:xfrm>
            <a:off x="9902952" y="5486400"/>
            <a:ext cx="1463040" cy="384048"/>
          </a:xfrm>
          <a:prstGeom prst="roundRect">
            <a:avLst>
              <a:gd name="adj" fmla="val 50000"/>
            </a:avLst>
          </a:prstGeom>
          <a:solidFill>
            <a:schemeClr val="bg2"/>
          </a:solidFill>
          <a:ln w="12700">
            <a:solidFill>
              <a:schemeClr val="accent5"/>
            </a:solidFill>
            <a:prstDash val="solid"/>
          </a:ln>
        </p:spPr>
      </p:sp>
      <p:sp>
        <p:nvSpPr>
          <p:cNvPr id="51" name="Text 46"/>
          <p:cNvSpPr txBox="1"/>
          <p:nvPr/>
        </p:nvSpPr>
        <p:spPr>
          <a:xfrm>
            <a:off x="9902952" y="5486400"/>
            <a:ext cx="1463040" cy="384048"/>
          </a:xfrm>
          <a:prstGeom prst="rect">
            <a:avLst/>
          </a:prstGeom>
          <a:noFill/>
          <a:ln/>
        </p:spPr>
        <p:txBody>
          <a:bodyPr wrap="square" lIns="0" tIns="0" rIns="0" bIns="0" rtlCol="0" anchor="ctr"/>
          <a:lstStyle/>
          <a:p>
            <a:pPr algn="ctr" indent="0" marL="0">
              <a:buNone/>
            </a:pPr>
            <a:r>
              <a:rPr lang="en-US" sz="1100" b="1" dirty="0">
                <a:solidFill>
                  <a:schemeClr val="tx2"/>
                </a:solidFill>
              </a:rPr>
              <a:t>Nos recomienda</a:t>
            </a:r>
            <a:endParaRPr lang="en-US" sz="11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5 · BUYER PERSONA · SEGMENTO A</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Claudia Mendoza</a:t>
            </a:r>
            <a:endParaRPr lang="en-US" sz="3400" dirty="0"/>
          </a:p>
        </p:txBody>
      </p:sp>
      <p:sp>
        <p:nvSpPr>
          <p:cNvPr id="4" name="IMAGEN_1"/>
          <p:cNvSpPr/>
          <p:nvPr/>
        </p:nvSpPr>
        <p:spPr>
          <a:xfrm>
            <a:off x="548640" y="1463040"/>
            <a:ext cx="3383280" cy="4663440"/>
          </a:xfrm>
          <a:prstGeom prst="roundRect">
            <a:avLst>
              <a:gd name="adj" fmla="val 4054"/>
            </a:avLst>
          </a:prstGeom>
          <a:solidFill>
            <a:srgbClr val="F0E2CF"/>
          </a:solidFill>
          <a:ln w="19050">
            <a:solidFill>
              <a:schemeClr val="accent5"/>
            </a:solidFill>
            <a:prstDash val="dash"/>
          </a:ln>
        </p:spPr>
      </p:sp>
      <p:pic>
        <p:nvPicPr>
          <p:cNvPr id="5" name="Image 0" descr="preencoded.png">    </p:cNvPr>
          <p:cNvPicPr>
            <a:picLocks noChangeAspect="1"/>
          </p:cNvPicPr>
          <p:nvPr/>
        </p:nvPicPr>
        <p:blipFill>
          <a:blip r:embed="rId1"/>
          <a:stretch>
            <a:fillRect/>
          </a:stretch>
        </p:blipFill>
        <p:spPr>
          <a:xfrm>
            <a:off x="1874520" y="2880360"/>
            <a:ext cx="731520" cy="731520"/>
          </a:xfrm>
          <a:prstGeom prst="rect">
            <a:avLst/>
          </a:prstGeom>
        </p:spPr>
      </p:pic>
      <p:sp>
        <p:nvSpPr>
          <p:cNvPr id="6" name="Text 3"/>
          <p:cNvSpPr txBox="1"/>
          <p:nvPr/>
        </p:nvSpPr>
        <p:spPr>
          <a:xfrm>
            <a:off x="731520" y="3794760"/>
            <a:ext cx="3017520" cy="1097280"/>
          </a:xfrm>
          <a:prstGeom prst="rect">
            <a:avLst/>
          </a:prstGeom>
          <a:noFill/>
          <a:ln/>
        </p:spPr>
        <p:txBody>
          <a:bodyPr wrap="square" lIns="0" tIns="0" rIns="0" bIns="0" rtlCol="0" anchor="t"/>
          <a:lstStyle/>
          <a:p>
            <a:pPr algn="ctr" indent="0" marL="0">
              <a:buNone/>
            </a:pPr>
            <a:r>
              <a:rPr lang="en-US" sz="1600" b="1" dirty="0">
                <a:solidFill>
                  <a:schemeClr val="accent2"/>
                </a:solidFill>
              </a:rPr>
              <a:t>IMAGEN 1</a:t>
            </a:r>
            <a:endParaRPr lang="en-US" sz="1400" dirty="0"/>
          </a:p>
          <a:p>
            <a:pPr algn="ctr" indent="0" marL="0">
              <a:buNone/>
            </a:pPr>
            <a:r>
              <a:rPr lang="en-US" sz="1300" dirty="0">
                <a:solidFill>
                  <a:schemeClr val="accent2"/>
                </a:solidFill>
              </a:rPr>
              <a:t>Retrato de Claudia (38, San Borja)</a:t>
            </a:r>
            <a:endParaRPr lang="en-US" sz="1400" dirty="0"/>
          </a:p>
          <a:p>
            <a:pPr algn="ctr" indent="0" marL="0">
              <a:buNone/>
            </a:pPr>
            <a:r>
              <a:rPr lang="en-US" sz="1100" i="1" dirty="0">
                <a:solidFill>
                  <a:schemeClr val="accent2"/>
                </a:solidFill>
              </a:rPr>
              <a:t>Prompt en las notas del orador</a:t>
            </a:r>
            <a:endParaRPr lang="en-US" sz="1400" dirty="0"/>
          </a:p>
        </p:txBody>
      </p:sp>
      <p:sp>
        <p:nvSpPr>
          <p:cNvPr id="7" name="Text 4"/>
          <p:cNvSpPr txBox="1"/>
          <p:nvPr/>
        </p:nvSpPr>
        <p:spPr>
          <a:xfrm>
            <a:off x="4206240" y="1463040"/>
            <a:ext cx="7434072" cy="411480"/>
          </a:xfrm>
          <a:prstGeom prst="rect">
            <a:avLst/>
          </a:prstGeom>
          <a:noFill/>
          <a:ln/>
        </p:spPr>
        <p:txBody>
          <a:bodyPr wrap="square" lIns="0" tIns="0" rIns="0" bIns="0" rtlCol="0" anchor="t"/>
          <a:lstStyle/>
          <a:p>
            <a:pPr indent="0" marL="0">
              <a:buNone/>
            </a:pPr>
            <a:r>
              <a:rPr lang="en-US" sz="2200" b="1" i="1" dirty="0">
                <a:solidFill>
                  <a:schemeClr val="accent1"/>
                </a:solidFill>
              </a:rPr>
              <a:t>La mamá que lee etiquetas</a:t>
            </a:r>
            <a:endParaRPr lang="en-US" sz="2200" dirty="0"/>
          </a:p>
        </p:txBody>
      </p:sp>
      <p:sp>
        <p:nvSpPr>
          <p:cNvPr id="8" name="Shape 5"/>
          <p:cNvSpPr/>
          <p:nvPr/>
        </p:nvSpPr>
        <p:spPr>
          <a:xfrm>
            <a:off x="4206240" y="2057400"/>
            <a:ext cx="2331720" cy="777240"/>
          </a:xfrm>
          <a:prstGeom prst="roundRect">
            <a:avLst>
              <a:gd name="adj" fmla="val 11765"/>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9" name="Text 6"/>
          <p:cNvSpPr txBox="1"/>
          <p:nvPr/>
        </p:nvSpPr>
        <p:spPr>
          <a:xfrm>
            <a:off x="4370832" y="2167128"/>
            <a:ext cx="2057400"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EDAD Y DISTRITO</a:t>
            </a:r>
            <a:endParaRPr lang="en-US" sz="1000" dirty="0"/>
          </a:p>
        </p:txBody>
      </p:sp>
      <p:sp>
        <p:nvSpPr>
          <p:cNvPr id="10" name="Text 7"/>
          <p:cNvSpPr txBox="1"/>
          <p:nvPr/>
        </p:nvSpPr>
        <p:spPr>
          <a:xfrm>
            <a:off x="4370832" y="2404872"/>
            <a:ext cx="2057400" cy="347472"/>
          </a:xfrm>
          <a:prstGeom prst="rect">
            <a:avLst/>
          </a:prstGeom>
          <a:noFill/>
          <a:ln/>
        </p:spPr>
        <p:txBody>
          <a:bodyPr wrap="square" lIns="0" tIns="0" rIns="0" bIns="0" rtlCol="0" anchor="t"/>
          <a:lstStyle/>
          <a:p>
            <a:pPr indent="0" marL="0">
              <a:buNone/>
            </a:pPr>
            <a:r>
              <a:rPr lang="en-US" sz="1500" b="1" dirty="0">
                <a:solidFill>
                  <a:schemeClr val="tx2"/>
                </a:solidFill>
              </a:rPr>
              <a:t>38 años · San Borja</a:t>
            </a:r>
            <a:endParaRPr lang="en-US" sz="1500" dirty="0"/>
          </a:p>
        </p:txBody>
      </p:sp>
      <p:sp>
        <p:nvSpPr>
          <p:cNvPr id="11" name="Shape 8"/>
          <p:cNvSpPr/>
          <p:nvPr/>
        </p:nvSpPr>
        <p:spPr>
          <a:xfrm>
            <a:off x="6757416" y="2057400"/>
            <a:ext cx="2331720" cy="777240"/>
          </a:xfrm>
          <a:prstGeom prst="roundRect">
            <a:avLst>
              <a:gd name="adj" fmla="val 11765"/>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2" name="Text 9"/>
          <p:cNvSpPr txBox="1"/>
          <p:nvPr/>
        </p:nvSpPr>
        <p:spPr>
          <a:xfrm>
            <a:off x="6922008" y="2167128"/>
            <a:ext cx="2057400"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OCUPACIÓN</a:t>
            </a:r>
            <a:endParaRPr lang="en-US" sz="1000" dirty="0"/>
          </a:p>
        </p:txBody>
      </p:sp>
      <p:sp>
        <p:nvSpPr>
          <p:cNvPr id="13" name="Text 10"/>
          <p:cNvSpPr txBox="1"/>
          <p:nvPr/>
        </p:nvSpPr>
        <p:spPr>
          <a:xfrm>
            <a:off x="6922008" y="2404872"/>
            <a:ext cx="2057400" cy="347472"/>
          </a:xfrm>
          <a:prstGeom prst="rect">
            <a:avLst/>
          </a:prstGeom>
          <a:noFill/>
          <a:ln/>
        </p:spPr>
        <p:txBody>
          <a:bodyPr wrap="square" lIns="0" tIns="0" rIns="0" bIns="0" rtlCol="0" anchor="t"/>
          <a:lstStyle/>
          <a:p>
            <a:pPr indent="0" marL="0">
              <a:buNone/>
            </a:pPr>
            <a:r>
              <a:rPr lang="en-US" sz="1500" b="1" dirty="0">
                <a:solidFill>
                  <a:schemeClr val="tx2"/>
                </a:solidFill>
              </a:rPr>
              <a:t>Abogada corporativa</a:t>
            </a:r>
            <a:endParaRPr lang="en-US" sz="1500" dirty="0"/>
          </a:p>
        </p:txBody>
      </p:sp>
      <p:sp>
        <p:nvSpPr>
          <p:cNvPr id="14" name="Shape 11"/>
          <p:cNvSpPr/>
          <p:nvPr/>
        </p:nvSpPr>
        <p:spPr>
          <a:xfrm>
            <a:off x="9308592" y="2057400"/>
            <a:ext cx="2331720" cy="777240"/>
          </a:xfrm>
          <a:prstGeom prst="roundRect">
            <a:avLst>
              <a:gd name="adj" fmla="val 11765"/>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5" name="Text 12"/>
          <p:cNvSpPr txBox="1"/>
          <p:nvPr/>
        </p:nvSpPr>
        <p:spPr>
          <a:xfrm>
            <a:off x="9473184" y="2167128"/>
            <a:ext cx="2057400"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FAMILIA</a:t>
            </a:r>
            <a:endParaRPr lang="en-US" sz="1000" dirty="0"/>
          </a:p>
        </p:txBody>
      </p:sp>
      <p:sp>
        <p:nvSpPr>
          <p:cNvPr id="16" name="Text 13"/>
          <p:cNvSpPr txBox="1"/>
          <p:nvPr/>
        </p:nvSpPr>
        <p:spPr>
          <a:xfrm>
            <a:off x="9473184" y="2404872"/>
            <a:ext cx="2057400" cy="347472"/>
          </a:xfrm>
          <a:prstGeom prst="rect">
            <a:avLst/>
          </a:prstGeom>
          <a:noFill/>
          <a:ln/>
        </p:spPr>
        <p:txBody>
          <a:bodyPr wrap="square" lIns="0" tIns="0" rIns="0" bIns="0" rtlCol="0" anchor="t"/>
          <a:lstStyle/>
          <a:p>
            <a:pPr indent="0" marL="0">
              <a:buNone/>
            </a:pPr>
            <a:r>
              <a:rPr lang="en-US" sz="1500" b="1" dirty="0">
                <a:solidFill>
                  <a:schemeClr val="tx2"/>
                </a:solidFill>
              </a:rPr>
              <a:t>2 hijos (7 y 4)</a:t>
            </a:r>
            <a:endParaRPr lang="en-US" sz="1500" dirty="0"/>
          </a:p>
        </p:txBody>
      </p:sp>
      <p:sp>
        <p:nvSpPr>
          <p:cNvPr id="17" name="Shape 14"/>
          <p:cNvSpPr/>
          <p:nvPr/>
        </p:nvSpPr>
        <p:spPr>
          <a:xfrm>
            <a:off x="4206240" y="2971800"/>
            <a:ext cx="2331720" cy="777240"/>
          </a:xfrm>
          <a:prstGeom prst="roundRect">
            <a:avLst>
              <a:gd name="adj" fmla="val 11765"/>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8" name="Text 15"/>
          <p:cNvSpPr txBox="1"/>
          <p:nvPr/>
        </p:nvSpPr>
        <p:spPr>
          <a:xfrm>
            <a:off x="4370832" y="3081528"/>
            <a:ext cx="2057400"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INGRESO FAMILIAR</a:t>
            </a:r>
            <a:endParaRPr lang="en-US" sz="1000" dirty="0"/>
          </a:p>
        </p:txBody>
      </p:sp>
      <p:sp>
        <p:nvSpPr>
          <p:cNvPr id="19" name="Text 16"/>
          <p:cNvSpPr txBox="1"/>
          <p:nvPr/>
        </p:nvSpPr>
        <p:spPr>
          <a:xfrm>
            <a:off x="4370832" y="3319272"/>
            <a:ext cx="2057400" cy="347472"/>
          </a:xfrm>
          <a:prstGeom prst="rect">
            <a:avLst/>
          </a:prstGeom>
          <a:noFill/>
          <a:ln/>
        </p:spPr>
        <p:txBody>
          <a:bodyPr wrap="square" lIns="0" tIns="0" rIns="0" bIns="0" rtlCol="0" anchor="t"/>
          <a:lstStyle/>
          <a:p>
            <a:pPr indent="0" marL="0">
              <a:buNone/>
            </a:pPr>
            <a:r>
              <a:rPr lang="en-US" sz="1500" b="1" dirty="0">
                <a:solidFill>
                  <a:schemeClr val="tx2"/>
                </a:solidFill>
              </a:rPr>
              <a:t>S/13,500 al mes</a:t>
            </a:r>
            <a:endParaRPr lang="en-US" sz="1500" dirty="0"/>
          </a:p>
        </p:txBody>
      </p:sp>
      <p:sp>
        <p:nvSpPr>
          <p:cNvPr id="20" name="Shape 17"/>
          <p:cNvSpPr/>
          <p:nvPr/>
        </p:nvSpPr>
        <p:spPr>
          <a:xfrm>
            <a:off x="6757416" y="2971800"/>
            <a:ext cx="2331720" cy="777240"/>
          </a:xfrm>
          <a:prstGeom prst="roundRect">
            <a:avLst>
              <a:gd name="adj" fmla="val 11765"/>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1" name="Text 18"/>
          <p:cNvSpPr txBox="1"/>
          <p:nvPr/>
        </p:nvSpPr>
        <p:spPr>
          <a:xfrm>
            <a:off x="6922008" y="3081528"/>
            <a:ext cx="2057400"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SE INFORMA</a:t>
            </a:r>
            <a:endParaRPr lang="en-US" sz="1000" dirty="0"/>
          </a:p>
        </p:txBody>
      </p:sp>
      <p:sp>
        <p:nvSpPr>
          <p:cNvPr id="22" name="Text 19"/>
          <p:cNvSpPr txBox="1"/>
          <p:nvPr/>
        </p:nvSpPr>
        <p:spPr>
          <a:xfrm>
            <a:off x="6922008" y="3319272"/>
            <a:ext cx="2057400" cy="347472"/>
          </a:xfrm>
          <a:prstGeom prst="rect">
            <a:avLst/>
          </a:prstGeom>
          <a:noFill/>
          <a:ln/>
        </p:spPr>
        <p:txBody>
          <a:bodyPr wrap="square" lIns="0" tIns="0" rIns="0" bIns="0" rtlCol="0" anchor="t"/>
          <a:lstStyle/>
          <a:p>
            <a:pPr indent="0" marL="0">
              <a:buNone/>
            </a:pPr>
            <a:r>
              <a:rPr lang="en-US" sz="1500" b="1" dirty="0">
                <a:solidFill>
                  <a:schemeClr val="tx2"/>
                </a:solidFill>
              </a:rPr>
              <a:t>Pediatra e Instagram</a:t>
            </a:r>
            <a:endParaRPr lang="en-US" sz="1500" dirty="0"/>
          </a:p>
        </p:txBody>
      </p:sp>
      <p:sp>
        <p:nvSpPr>
          <p:cNvPr id="23" name="Shape 20"/>
          <p:cNvSpPr/>
          <p:nvPr/>
        </p:nvSpPr>
        <p:spPr>
          <a:xfrm>
            <a:off x="9308592" y="2971800"/>
            <a:ext cx="2331720" cy="777240"/>
          </a:xfrm>
          <a:prstGeom prst="roundRect">
            <a:avLst>
              <a:gd name="adj" fmla="val 11765"/>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4" name="Text 21"/>
          <p:cNvSpPr txBox="1"/>
          <p:nvPr/>
        </p:nvSpPr>
        <p:spPr>
          <a:xfrm>
            <a:off x="9473184" y="3081528"/>
            <a:ext cx="2057400"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PAGARÍA</a:t>
            </a:r>
            <a:endParaRPr lang="en-US" sz="1000" dirty="0"/>
          </a:p>
        </p:txBody>
      </p:sp>
      <p:sp>
        <p:nvSpPr>
          <p:cNvPr id="25" name="Text 22"/>
          <p:cNvSpPr txBox="1"/>
          <p:nvPr/>
        </p:nvSpPr>
        <p:spPr>
          <a:xfrm>
            <a:off x="9473184" y="3319272"/>
            <a:ext cx="2057400" cy="347472"/>
          </a:xfrm>
          <a:prstGeom prst="rect">
            <a:avLst/>
          </a:prstGeom>
          <a:noFill/>
          <a:ln/>
        </p:spPr>
        <p:txBody>
          <a:bodyPr wrap="square" lIns="0" tIns="0" rIns="0" bIns="0" rtlCol="0" anchor="t"/>
          <a:lstStyle/>
          <a:p>
            <a:pPr indent="0" marL="0">
              <a:buNone/>
            </a:pPr>
            <a:r>
              <a:rPr lang="en-US" sz="1500" b="1" dirty="0">
                <a:solidFill>
                  <a:schemeClr val="tx2"/>
                </a:solidFill>
              </a:rPr>
              <a:t>S/24 a 30 el pack</a:t>
            </a:r>
            <a:endParaRPr lang="en-US" sz="1500" dirty="0"/>
          </a:p>
        </p:txBody>
      </p:sp>
      <p:sp>
        <p:nvSpPr>
          <p:cNvPr id="26" name="Shape 23"/>
          <p:cNvSpPr/>
          <p:nvPr/>
        </p:nvSpPr>
        <p:spPr>
          <a:xfrm>
            <a:off x="4206240" y="3977640"/>
            <a:ext cx="3611880" cy="1325880"/>
          </a:xfrm>
          <a:prstGeom prst="roundRect">
            <a:avLst>
              <a:gd name="adj" fmla="val 8276"/>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7" name="Shape 24"/>
          <p:cNvSpPr/>
          <p:nvPr/>
        </p:nvSpPr>
        <p:spPr>
          <a:xfrm>
            <a:off x="4389120" y="4160520"/>
            <a:ext cx="457200" cy="457200"/>
          </a:xfrm>
          <a:prstGeom prst="ellipse">
            <a:avLst/>
          </a:prstGeom>
          <a:solidFill>
            <a:schemeClr val="accent6"/>
          </a:solidFill>
          <a:ln w="12700">
            <a:solidFill>
              <a:schemeClr val="accent6"/>
            </a:solidFill>
            <a:prstDash val="solid"/>
          </a:ln>
        </p:spPr>
      </p:sp>
      <p:pic>
        <p:nvPicPr>
          <p:cNvPr id="28" name="Image 1" descr="preencoded.png">    </p:cNvPr>
          <p:cNvPicPr>
            <a:picLocks noChangeAspect="1"/>
          </p:cNvPicPr>
          <p:nvPr/>
        </p:nvPicPr>
        <p:blipFill>
          <a:blip r:embed="rId2"/>
          <a:stretch>
            <a:fillRect/>
          </a:stretch>
        </p:blipFill>
        <p:spPr>
          <a:xfrm>
            <a:off x="4489704" y="4261104"/>
            <a:ext cx="256032" cy="256032"/>
          </a:xfrm>
          <a:prstGeom prst="rect">
            <a:avLst/>
          </a:prstGeom>
        </p:spPr>
      </p:pic>
      <p:sp>
        <p:nvSpPr>
          <p:cNvPr id="29" name="Text 25"/>
          <p:cNvSpPr txBox="1"/>
          <p:nvPr/>
        </p:nvSpPr>
        <p:spPr>
          <a:xfrm>
            <a:off x="4983480" y="4178808"/>
            <a:ext cx="2697480" cy="411480"/>
          </a:xfrm>
          <a:prstGeom prst="rect">
            <a:avLst/>
          </a:prstGeom>
          <a:noFill/>
          <a:ln/>
        </p:spPr>
        <p:txBody>
          <a:bodyPr wrap="square" lIns="0" tIns="0" rIns="0" bIns="0" rtlCol="0" anchor="ctr"/>
          <a:lstStyle/>
          <a:p>
            <a:pPr indent="0" marL="0">
              <a:buNone/>
            </a:pPr>
            <a:r>
              <a:rPr lang="en-US" sz="1600" b="1" dirty="0">
                <a:solidFill>
                  <a:schemeClr val="tx2"/>
                </a:solidFill>
              </a:rPr>
              <a:t>Su dolor</a:t>
            </a:r>
            <a:endParaRPr lang="en-US" sz="1600" dirty="0"/>
          </a:p>
        </p:txBody>
      </p:sp>
      <p:sp>
        <p:nvSpPr>
          <p:cNvPr id="30" name="Text 26"/>
          <p:cNvSpPr txBox="1"/>
          <p:nvPr/>
        </p:nvSpPr>
        <p:spPr>
          <a:xfrm>
            <a:off x="4434840" y="4690872"/>
            <a:ext cx="3246120" cy="54864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tx1"/>
                </a:solidFill>
              </a:rPr>
              <a:t>Hemoglobina baja en el control</a:t>
            </a:r>
            <a:endParaRPr lang="en-US" sz="1400" dirty="0"/>
          </a:p>
          <a:p>
            <a:pPr marL="342900" indent="-342900">
              <a:spcAft>
                <a:spcPts val="200"/>
              </a:spcAft>
              <a:buSzPct val="100000"/>
              <a:buChar char="•"/>
            </a:pPr>
            <a:r>
              <a:rPr lang="en-US" sz="1400" dirty="0">
                <a:solidFill>
                  <a:schemeClr val="tx1"/>
                </a:solidFill>
              </a:rPr>
              <a:t>Lo nutritivo regresa intacto</a:t>
            </a:r>
            <a:endParaRPr lang="en-US" sz="1400" dirty="0"/>
          </a:p>
        </p:txBody>
      </p:sp>
      <p:sp>
        <p:nvSpPr>
          <p:cNvPr id="31" name="Shape 27"/>
          <p:cNvSpPr/>
          <p:nvPr/>
        </p:nvSpPr>
        <p:spPr>
          <a:xfrm>
            <a:off x="8028432" y="3977640"/>
            <a:ext cx="3611880" cy="1325880"/>
          </a:xfrm>
          <a:prstGeom prst="roundRect">
            <a:avLst>
              <a:gd name="adj" fmla="val 8276"/>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32" name="Shape 28"/>
          <p:cNvSpPr/>
          <p:nvPr/>
        </p:nvSpPr>
        <p:spPr>
          <a:xfrm>
            <a:off x="8211312" y="4160520"/>
            <a:ext cx="457200" cy="457200"/>
          </a:xfrm>
          <a:prstGeom prst="ellipse">
            <a:avLst/>
          </a:prstGeom>
          <a:solidFill>
            <a:schemeClr val="accent4"/>
          </a:solidFill>
          <a:ln w="12700">
            <a:solidFill>
              <a:schemeClr val="accent4"/>
            </a:solidFill>
            <a:prstDash val="solid"/>
          </a:ln>
        </p:spPr>
      </p:sp>
      <p:pic>
        <p:nvPicPr>
          <p:cNvPr id="33" name="Image 2" descr="preencoded.png">    </p:cNvPr>
          <p:cNvPicPr>
            <a:picLocks noChangeAspect="1"/>
          </p:cNvPicPr>
          <p:nvPr/>
        </p:nvPicPr>
        <p:blipFill>
          <a:blip r:embed="rId3"/>
          <a:stretch>
            <a:fillRect/>
          </a:stretch>
        </p:blipFill>
        <p:spPr>
          <a:xfrm>
            <a:off x="8311896" y="4261104"/>
            <a:ext cx="256032" cy="256032"/>
          </a:xfrm>
          <a:prstGeom prst="rect">
            <a:avLst/>
          </a:prstGeom>
        </p:spPr>
      </p:pic>
      <p:sp>
        <p:nvSpPr>
          <p:cNvPr id="34" name="Text 29"/>
          <p:cNvSpPr txBox="1"/>
          <p:nvPr/>
        </p:nvSpPr>
        <p:spPr>
          <a:xfrm>
            <a:off x="8805672" y="4178808"/>
            <a:ext cx="2697480" cy="411480"/>
          </a:xfrm>
          <a:prstGeom prst="rect">
            <a:avLst/>
          </a:prstGeom>
          <a:noFill/>
          <a:ln/>
        </p:spPr>
        <p:txBody>
          <a:bodyPr wrap="square" lIns="0" tIns="0" rIns="0" bIns="0" rtlCol="0" anchor="ctr"/>
          <a:lstStyle/>
          <a:p>
            <a:pPr indent="0" marL="0">
              <a:buNone/>
            </a:pPr>
            <a:r>
              <a:rPr lang="en-US" sz="1600" b="1" dirty="0">
                <a:solidFill>
                  <a:schemeClr val="tx2"/>
                </a:solidFill>
              </a:rPr>
              <a:t>Lo que busca</a:t>
            </a:r>
            <a:endParaRPr lang="en-US" sz="1600" dirty="0"/>
          </a:p>
        </p:txBody>
      </p:sp>
      <p:sp>
        <p:nvSpPr>
          <p:cNvPr id="35" name="Text 30"/>
          <p:cNvSpPr txBox="1"/>
          <p:nvPr/>
        </p:nvSpPr>
        <p:spPr>
          <a:xfrm>
            <a:off x="8257032" y="4690872"/>
            <a:ext cx="3246120" cy="54864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tx1"/>
                </a:solidFill>
              </a:rPr>
              <a:t>Hierro en mg y cero octógonos</a:t>
            </a:r>
            <a:endParaRPr lang="en-US" sz="1400" dirty="0"/>
          </a:p>
          <a:p>
            <a:pPr marL="342900" indent="-342900">
              <a:spcAft>
                <a:spcPts val="200"/>
              </a:spcAft>
              <a:buSzPct val="100000"/>
              <a:buChar char="•"/>
            </a:pPr>
            <a:r>
              <a:rPr lang="en-US" sz="1400" dirty="0">
                <a:solidFill>
                  <a:schemeClr val="tx1"/>
                </a:solidFill>
              </a:rPr>
              <a:t>Que su hijo lo pida solo</a:t>
            </a:r>
            <a:endParaRPr lang="en-US" sz="1400" dirty="0"/>
          </a:p>
        </p:txBody>
      </p:sp>
      <p:sp>
        <p:nvSpPr>
          <p:cNvPr id="36" name="Shape 31"/>
          <p:cNvSpPr/>
          <p:nvPr/>
        </p:nvSpPr>
        <p:spPr>
          <a:xfrm>
            <a:off x="4206240" y="5486400"/>
            <a:ext cx="7434072" cy="640080"/>
          </a:xfrm>
          <a:prstGeom prst="roundRect">
            <a:avLst>
              <a:gd name="adj" fmla="val 50000"/>
            </a:avLst>
          </a:prstGeom>
          <a:solidFill>
            <a:schemeClr val="tx2"/>
          </a:solidFill>
          <a:ln w="12700">
            <a:solidFill>
              <a:schemeClr val="tx2"/>
            </a:solidFill>
            <a:prstDash val="solid"/>
          </a:ln>
        </p:spPr>
      </p:sp>
      <p:sp>
        <p:nvSpPr>
          <p:cNvPr id="37" name="Text 32"/>
          <p:cNvSpPr txBox="1"/>
          <p:nvPr/>
        </p:nvSpPr>
        <p:spPr>
          <a:xfrm>
            <a:off x="4480560" y="5486400"/>
            <a:ext cx="6885432" cy="640080"/>
          </a:xfrm>
          <a:prstGeom prst="rect">
            <a:avLst/>
          </a:prstGeom>
          <a:noFill/>
          <a:ln/>
        </p:spPr>
        <p:txBody>
          <a:bodyPr wrap="square" lIns="0" tIns="0" rIns="0" bIns="0" rtlCol="0" anchor="ctr"/>
          <a:lstStyle/>
          <a:p>
            <a:pPr indent="0" marL="0">
              <a:buNone/>
            </a:pPr>
            <a:r>
              <a:rPr lang="en-US" sz="1800" b="1" i="1" dirty="0">
                <a:solidFill>
                  <a:schemeClr val="bg2"/>
                </a:solidFill>
              </a:rPr>
              <a:t>"Todo lo que le hace bien, mi hijo lo escupe."</a:t>
            </a:r>
            <a:endParaRPr lang="en-US" sz="18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5 · BUYER PERSONA · SEGMENTO B</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Rodrigo Salazar</a:t>
            </a:r>
            <a:endParaRPr lang="en-US" sz="3400" dirty="0"/>
          </a:p>
        </p:txBody>
      </p:sp>
      <p:sp>
        <p:nvSpPr>
          <p:cNvPr id="4" name="IMAGEN_2"/>
          <p:cNvSpPr/>
          <p:nvPr/>
        </p:nvSpPr>
        <p:spPr>
          <a:xfrm>
            <a:off x="8257032" y="1463040"/>
            <a:ext cx="3383280" cy="4663440"/>
          </a:xfrm>
          <a:prstGeom prst="roundRect">
            <a:avLst>
              <a:gd name="adj" fmla="val 4054"/>
            </a:avLst>
          </a:prstGeom>
          <a:solidFill>
            <a:srgbClr val="F0E2CF"/>
          </a:solidFill>
          <a:ln w="19050">
            <a:solidFill>
              <a:schemeClr val="accent5"/>
            </a:solidFill>
            <a:prstDash val="dash"/>
          </a:ln>
        </p:spPr>
      </p:sp>
      <p:pic>
        <p:nvPicPr>
          <p:cNvPr id="5" name="Image 0" descr="preencoded.png">    </p:cNvPr>
          <p:cNvPicPr>
            <a:picLocks noChangeAspect="1"/>
          </p:cNvPicPr>
          <p:nvPr/>
        </p:nvPicPr>
        <p:blipFill>
          <a:blip r:embed="rId1"/>
          <a:stretch>
            <a:fillRect/>
          </a:stretch>
        </p:blipFill>
        <p:spPr>
          <a:xfrm>
            <a:off x="9582912" y="2880360"/>
            <a:ext cx="731520" cy="731520"/>
          </a:xfrm>
          <a:prstGeom prst="rect">
            <a:avLst/>
          </a:prstGeom>
        </p:spPr>
      </p:pic>
      <p:sp>
        <p:nvSpPr>
          <p:cNvPr id="6" name="Text 3"/>
          <p:cNvSpPr txBox="1"/>
          <p:nvPr/>
        </p:nvSpPr>
        <p:spPr>
          <a:xfrm>
            <a:off x="8439912" y="3794760"/>
            <a:ext cx="3017520" cy="1097280"/>
          </a:xfrm>
          <a:prstGeom prst="rect">
            <a:avLst/>
          </a:prstGeom>
          <a:noFill/>
          <a:ln/>
        </p:spPr>
        <p:txBody>
          <a:bodyPr wrap="square" lIns="0" tIns="0" rIns="0" bIns="0" rtlCol="0" anchor="t"/>
          <a:lstStyle/>
          <a:p>
            <a:pPr algn="ctr" indent="0" marL="0">
              <a:buNone/>
            </a:pPr>
            <a:r>
              <a:rPr lang="en-US" sz="1600" b="1" dirty="0">
                <a:solidFill>
                  <a:schemeClr val="accent2"/>
                </a:solidFill>
              </a:rPr>
              <a:t>IMAGEN 2</a:t>
            </a:r>
            <a:endParaRPr lang="en-US" sz="1400" dirty="0"/>
          </a:p>
          <a:p>
            <a:pPr algn="ctr" indent="0" marL="0">
              <a:buNone/>
            </a:pPr>
            <a:r>
              <a:rPr lang="en-US" sz="1300" dirty="0">
                <a:solidFill>
                  <a:schemeClr val="accent2"/>
                </a:solidFill>
              </a:rPr>
              <a:t>Retrato de Rodrigo (40, San Miguel)</a:t>
            </a:r>
            <a:endParaRPr lang="en-US" sz="1400" dirty="0"/>
          </a:p>
          <a:p>
            <a:pPr algn="ctr" indent="0" marL="0">
              <a:buNone/>
            </a:pPr>
            <a:r>
              <a:rPr lang="en-US" sz="1100" i="1" dirty="0">
                <a:solidFill>
                  <a:schemeClr val="accent2"/>
                </a:solidFill>
              </a:rPr>
              <a:t>Prompt en las notas del orador</a:t>
            </a:r>
            <a:endParaRPr lang="en-US" sz="1400" dirty="0"/>
          </a:p>
        </p:txBody>
      </p:sp>
      <p:sp>
        <p:nvSpPr>
          <p:cNvPr id="7" name="Text 4"/>
          <p:cNvSpPr txBox="1"/>
          <p:nvPr/>
        </p:nvSpPr>
        <p:spPr>
          <a:xfrm>
            <a:off x="548640" y="1463040"/>
            <a:ext cx="7434072" cy="411480"/>
          </a:xfrm>
          <a:prstGeom prst="rect">
            <a:avLst/>
          </a:prstGeom>
          <a:noFill/>
          <a:ln/>
        </p:spPr>
        <p:txBody>
          <a:bodyPr wrap="square" lIns="0" tIns="0" rIns="0" bIns="0" rtlCol="0" anchor="t"/>
          <a:lstStyle/>
          <a:p>
            <a:pPr indent="0" marL="0">
              <a:buNone/>
            </a:pPr>
            <a:r>
              <a:rPr lang="en-US" sz="2200" b="1" i="1" dirty="0">
                <a:solidFill>
                  <a:schemeClr val="accent1"/>
                </a:solidFill>
              </a:rPr>
              <a:t>El papá que resuelve la mañana</a:t>
            </a:r>
            <a:endParaRPr lang="en-US" sz="2200" dirty="0"/>
          </a:p>
        </p:txBody>
      </p:sp>
      <p:sp>
        <p:nvSpPr>
          <p:cNvPr id="8" name="Shape 5"/>
          <p:cNvSpPr/>
          <p:nvPr/>
        </p:nvSpPr>
        <p:spPr>
          <a:xfrm>
            <a:off x="548640" y="2057400"/>
            <a:ext cx="2331720" cy="777240"/>
          </a:xfrm>
          <a:prstGeom prst="roundRect">
            <a:avLst>
              <a:gd name="adj" fmla="val 11765"/>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9" name="Text 6"/>
          <p:cNvSpPr txBox="1"/>
          <p:nvPr/>
        </p:nvSpPr>
        <p:spPr>
          <a:xfrm>
            <a:off x="713232" y="2167128"/>
            <a:ext cx="2057400"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EDAD Y DISTRITO</a:t>
            </a:r>
            <a:endParaRPr lang="en-US" sz="1000" dirty="0"/>
          </a:p>
        </p:txBody>
      </p:sp>
      <p:sp>
        <p:nvSpPr>
          <p:cNvPr id="10" name="Text 7"/>
          <p:cNvSpPr txBox="1"/>
          <p:nvPr/>
        </p:nvSpPr>
        <p:spPr>
          <a:xfrm>
            <a:off x="713232" y="2404872"/>
            <a:ext cx="2057400" cy="347472"/>
          </a:xfrm>
          <a:prstGeom prst="rect">
            <a:avLst/>
          </a:prstGeom>
          <a:noFill/>
          <a:ln/>
        </p:spPr>
        <p:txBody>
          <a:bodyPr wrap="square" lIns="0" tIns="0" rIns="0" bIns="0" rtlCol="0" anchor="t"/>
          <a:lstStyle/>
          <a:p>
            <a:pPr indent="0" marL="0">
              <a:buNone/>
            </a:pPr>
            <a:r>
              <a:rPr lang="en-US" sz="1500" b="1" dirty="0">
                <a:solidFill>
                  <a:schemeClr val="tx2"/>
                </a:solidFill>
              </a:rPr>
              <a:t>40 años · San Miguel</a:t>
            </a:r>
            <a:endParaRPr lang="en-US" sz="1500" dirty="0"/>
          </a:p>
        </p:txBody>
      </p:sp>
      <p:sp>
        <p:nvSpPr>
          <p:cNvPr id="11" name="Shape 8"/>
          <p:cNvSpPr/>
          <p:nvPr/>
        </p:nvSpPr>
        <p:spPr>
          <a:xfrm>
            <a:off x="3099816" y="2057400"/>
            <a:ext cx="2331720" cy="777240"/>
          </a:xfrm>
          <a:prstGeom prst="roundRect">
            <a:avLst>
              <a:gd name="adj" fmla="val 11765"/>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2" name="Text 9"/>
          <p:cNvSpPr txBox="1"/>
          <p:nvPr/>
        </p:nvSpPr>
        <p:spPr>
          <a:xfrm>
            <a:off x="3264408" y="2167128"/>
            <a:ext cx="2057400"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OCUPACIÓN</a:t>
            </a:r>
            <a:endParaRPr lang="en-US" sz="1000" dirty="0"/>
          </a:p>
        </p:txBody>
      </p:sp>
      <p:sp>
        <p:nvSpPr>
          <p:cNvPr id="13" name="Text 10"/>
          <p:cNvSpPr txBox="1"/>
          <p:nvPr/>
        </p:nvSpPr>
        <p:spPr>
          <a:xfrm>
            <a:off x="3264408" y="2404872"/>
            <a:ext cx="2057400" cy="347472"/>
          </a:xfrm>
          <a:prstGeom prst="rect">
            <a:avLst/>
          </a:prstGeom>
          <a:noFill/>
          <a:ln/>
        </p:spPr>
        <p:txBody>
          <a:bodyPr wrap="square" lIns="0" tIns="0" rIns="0" bIns="0" rtlCol="0" anchor="t"/>
          <a:lstStyle/>
          <a:p>
            <a:pPr indent="0" marL="0">
              <a:buNone/>
            </a:pPr>
            <a:r>
              <a:rPr lang="en-US" sz="1500" b="1" dirty="0">
                <a:solidFill>
                  <a:schemeClr val="tx2"/>
                </a:solidFill>
              </a:rPr>
              <a:t>Jefe de logística</a:t>
            </a:r>
            <a:endParaRPr lang="en-US" sz="1500" dirty="0"/>
          </a:p>
        </p:txBody>
      </p:sp>
      <p:sp>
        <p:nvSpPr>
          <p:cNvPr id="14" name="Shape 11"/>
          <p:cNvSpPr/>
          <p:nvPr/>
        </p:nvSpPr>
        <p:spPr>
          <a:xfrm>
            <a:off x="5650992" y="2057400"/>
            <a:ext cx="2331720" cy="777240"/>
          </a:xfrm>
          <a:prstGeom prst="roundRect">
            <a:avLst>
              <a:gd name="adj" fmla="val 11765"/>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5" name="Text 12"/>
          <p:cNvSpPr txBox="1"/>
          <p:nvPr/>
        </p:nvSpPr>
        <p:spPr>
          <a:xfrm>
            <a:off x="5815584" y="2167128"/>
            <a:ext cx="2057400"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FAMILIA</a:t>
            </a:r>
            <a:endParaRPr lang="en-US" sz="1000" dirty="0"/>
          </a:p>
        </p:txBody>
      </p:sp>
      <p:sp>
        <p:nvSpPr>
          <p:cNvPr id="16" name="Text 13"/>
          <p:cNvSpPr txBox="1"/>
          <p:nvPr/>
        </p:nvSpPr>
        <p:spPr>
          <a:xfrm>
            <a:off x="5815584" y="2404872"/>
            <a:ext cx="2057400" cy="347472"/>
          </a:xfrm>
          <a:prstGeom prst="rect">
            <a:avLst/>
          </a:prstGeom>
          <a:noFill/>
          <a:ln/>
        </p:spPr>
        <p:txBody>
          <a:bodyPr wrap="square" lIns="0" tIns="0" rIns="0" bIns="0" rtlCol="0" anchor="t"/>
          <a:lstStyle/>
          <a:p>
            <a:pPr indent="0" marL="0">
              <a:buNone/>
            </a:pPr>
            <a:r>
              <a:rPr lang="en-US" sz="1500" b="1" dirty="0">
                <a:solidFill>
                  <a:schemeClr val="tx2"/>
                </a:solidFill>
              </a:rPr>
              <a:t>2 hijos (9 y 6)</a:t>
            </a:r>
            <a:endParaRPr lang="en-US" sz="1500" dirty="0"/>
          </a:p>
        </p:txBody>
      </p:sp>
      <p:sp>
        <p:nvSpPr>
          <p:cNvPr id="17" name="Shape 14"/>
          <p:cNvSpPr/>
          <p:nvPr/>
        </p:nvSpPr>
        <p:spPr>
          <a:xfrm>
            <a:off x="548640" y="2971800"/>
            <a:ext cx="2331720" cy="777240"/>
          </a:xfrm>
          <a:prstGeom prst="roundRect">
            <a:avLst>
              <a:gd name="adj" fmla="val 11765"/>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8" name="Text 15"/>
          <p:cNvSpPr txBox="1"/>
          <p:nvPr/>
        </p:nvSpPr>
        <p:spPr>
          <a:xfrm>
            <a:off x="713232" y="3081528"/>
            <a:ext cx="2057400"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INGRESO FAMILIAR</a:t>
            </a:r>
            <a:endParaRPr lang="en-US" sz="1000" dirty="0"/>
          </a:p>
        </p:txBody>
      </p:sp>
      <p:sp>
        <p:nvSpPr>
          <p:cNvPr id="19" name="Text 16"/>
          <p:cNvSpPr txBox="1"/>
          <p:nvPr/>
        </p:nvSpPr>
        <p:spPr>
          <a:xfrm>
            <a:off x="713232" y="3319272"/>
            <a:ext cx="2057400" cy="347472"/>
          </a:xfrm>
          <a:prstGeom prst="rect">
            <a:avLst/>
          </a:prstGeom>
          <a:noFill/>
          <a:ln/>
        </p:spPr>
        <p:txBody>
          <a:bodyPr wrap="square" lIns="0" tIns="0" rIns="0" bIns="0" rtlCol="0" anchor="t"/>
          <a:lstStyle/>
          <a:p>
            <a:pPr indent="0" marL="0">
              <a:buNone/>
            </a:pPr>
            <a:r>
              <a:rPr lang="en-US" sz="1500" b="1" dirty="0">
                <a:solidFill>
                  <a:schemeClr val="tx2"/>
                </a:solidFill>
              </a:rPr>
              <a:t>S/8,500 al mes</a:t>
            </a:r>
            <a:endParaRPr lang="en-US" sz="1500" dirty="0"/>
          </a:p>
        </p:txBody>
      </p:sp>
      <p:sp>
        <p:nvSpPr>
          <p:cNvPr id="20" name="Shape 17"/>
          <p:cNvSpPr/>
          <p:nvPr/>
        </p:nvSpPr>
        <p:spPr>
          <a:xfrm>
            <a:off x="3099816" y="2971800"/>
            <a:ext cx="2331720" cy="777240"/>
          </a:xfrm>
          <a:prstGeom prst="roundRect">
            <a:avLst>
              <a:gd name="adj" fmla="val 11765"/>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1" name="Text 18"/>
          <p:cNvSpPr txBox="1"/>
          <p:nvPr/>
        </p:nvSpPr>
        <p:spPr>
          <a:xfrm>
            <a:off x="3264408" y="3081528"/>
            <a:ext cx="2057400"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COMPRA</a:t>
            </a:r>
            <a:endParaRPr lang="en-US" sz="1000" dirty="0"/>
          </a:p>
        </p:txBody>
      </p:sp>
      <p:sp>
        <p:nvSpPr>
          <p:cNvPr id="22" name="Text 19"/>
          <p:cNvSpPr txBox="1"/>
          <p:nvPr/>
        </p:nvSpPr>
        <p:spPr>
          <a:xfrm>
            <a:off x="3264408" y="3319272"/>
            <a:ext cx="2057400" cy="347472"/>
          </a:xfrm>
          <a:prstGeom prst="rect">
            <a:avLst/>
          </a:prstGeom>
          <a:noFill/>
          <a:ln/>
        </p:spPr>
        <p:txBody>
          <a:bodyPr wrap="square" lIns="0" tIns="0" rIns="0" bIns="0" rtlCol="0" anchor="t"/>
          <a:lstStyle/>
          <a:p>
            <a:pPr indent="0" marL="0">
              <a:buNone/>
            </a:pPr>
            <a:r>
              <a:rPr lang="en-US" sz="1500" b="1" dirty="0">
                <a:solidFill>
                  <a:schemeClr val="tx2"/>
                </a:solidFill>
              </a:rPr>
              <a:t>Plaza Vea y WhatsApp</a:t>
            </a:r>
            <a:endParaRPr lang="en-US" sz="1500" dirty="0"/>
          </a:p>
        </p:txBody>
      </p:sp>
      <p:sp>
        <p:nvSpPr>
          <p:cNvPr id="23" name="Shape 20"/>
          <p:cNvSpPr/>
          <p:nvPr/>
        </p:nvSpPr>
        <p:spPr>
          <a:xfrm>
            <a:off x="5650992" y="2971800"/>
            <a:ext cx="2331720" cy="777240"/>
          </a:xfrm>
          <a:prstGeom prst="roundRect">
            <a:avLst>
              <a:gd name="adj" fmla="val 11765"/>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4" name="Text 21"/>
          <p:cNvSpPr txBox="1"/>
          <p:nvPr/>
        </p:nvSpPr>
        <p:spPr>
          <a:xfrm>
            <a:off x="5815584" y="3081528"/>
            <a:ext cx="2057400" cy="228600"/>
          </a:xfrm>
          <a:prstGeom prst="rect">
            <a:avLst/>
          </a:prstGeom>
          <a:noFill/>
          <a:ln/>
        </p:spPr>
        <p:txBody>
          <a:bodyPr wrap="square" lIns="0" tIns="0" rIns="0" bIns="0" rtlCol="0" anchor="t"/>
          <a:lstStyle/>
          <a:p>
            <a:pPr indent="0" marL="0">
              <a:buNone/>
            </a:pPr>
            <a:r>
              <a:rPr lang="en-US" sz="1000" b="1" spc="100" kern="0" dirty="0">
                <a:solidFill>
                  <a:schemeClr val="accent1"/>
                </a:solidFill>
              </a:rPr>
              <a:t>PAGARÍA</a:t>
            </a:r>
            <a:endParaRPr lang="en-US" sz="1000" dirty="0"/>
          </a:p>
        </p:txBody>
      </p:sp>
      <p:sp>
        <p:nvSpPr>
          <p:cNvPr id="25" name="Text 22"/>
          <p:cNvSpPr txBox="1"/>
          <p:nvPr/>
        </p:nvSpPr>
        <p:spPr>
          <a:xfrm>
            <a:off x="5815584" y="3319272"/>
            <a:ext cx="2057400" cy="347472"/>
          </a:xfrm>
          <a:prstGeom prst="rect">
            <a:avLst/>
          </a:prstGeom>
          <a:noFill/>
          <a:ln/>
        </p:spPr>
        <p:txBody>
          <a:bodyPr wrap="square" lIns="0" tIns="0" rIns="0" bIns="0" rtlCol="0" anchor="t"/>
          <a:lstStyle/>
          <a:p>
            <a:pPr indent="0" marL="0">
              <a:buNone/>
            </a:pPr>
            <a:r>
              <a:rPr lang="en-US" sz="1500" b="1" dirty="0">
                <a:solidFill>
                  <a:schemeClr val="tx2"/>
                </a:solidFill>
              </a:rPr>
              <a:t>S/18 a 24 por 6 u</a:t>
            </a:r>
            <a:endParaRPr lang="en-US" sz="1500" dirty="0"/>
          </a:p>
        </p:txBody>
      </p:sp>
      <p:sp>
        <p:nvSpPr>
          <p:cNvPr id="26" name="Shape 23"/>
          <p:cNvSpPr/>
          <p:nvPr/>
        </p:nvSpPr>
        <p:spPr>
          <a:xfrm>
            <a:off x="548640" y="3977640"/>
            <a:ext cx="3611880" cy="1325880"/>
          </a:xfrm>
          <a:prstGeom prst="roundRect">
            <a:avLst>
              <a:gd name="adj" fmla="val 8276"/>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7" name="Shape 24"/>
          <p:cNvSpPr/>
          <p:nvPr/>
        </p:nvSpPr>
        <p:spPr>
          <a:xfrm>
            <a:off x="731520" y="4160520"/>
            <a:ext cx="457200" cy="457200"/>
          </a:xfrm>
          <a:prstGeom prst="ellipse">
            <a:avLst/>
          </a:prstGeom>
          <a:solidFill>
            <a:schemeClr val="accent6"/>
          </a:solidFill>
          <a:ln w="12700">
            <a:solidFill>
              <a:schemeClr val="accent6"/>
            </a:solidFill>
            <a:prstDash val="solid"/>
          </a:ln>
        </p:spPr>
      </p:sp>
      <p:pic>
        <p:nvPicPr>
          <p:cNvPr id="28" name="Image 1" descr="preencoded.png">    </p:cNvPr>
          <p:cNvPicPr>
            <a:picLocks noChangeAspect="1"/>
          </p:cNvPicPr>
          <p:nvPr/>
        </p:nvPicPr>
        <p:blipFill>
          <a:blip r:embed="rId2"/>
          <a:stretch>
            <a:fillRect/>
          </a:stretch>
        </p:blipFill>
        <p:spPr>
          <a:xfrm>
            <a:off x="832104" y="4261104"/>
            <a:ext cx="256032" cy="256032"/>
          </a:xfrm>
          <a:prstGeom prst="rect">
            <a:avLst/>
          </a:prstGeom>
        </p:spPr>
      </p:pic>
      <p:sp>
        <p:nvSpPr>
          <p:cNvPr id="29" name="Text 25"/>
          <p:cNvSpPr txBox="1"/>
          <p:nvPr/>
        </p:nvSpPr>
        <p:spPr>
          <a:xfrm>
            <a:off x="1325880" y="4178808"/>
            <a:ext cx="2697480" cy="411480"/>
          </a:xfrm>
          <a:prstGeom prst="rect">
            <a:avLst/>
          </a:prstGeom>
          <a:noFill/>
          <a:ln/>
        </p:spPr>
        <p:txBody>
          <a:bodyPr wrap="square" lIns="0" tIns="0" rIns="0" bIns="0" rtlCol="0" anchor="ctr"/>
          <a:lstStyle/>
          <a:p>
            <a:pPr indent="0" marL="0">
              <a:buNone/>
            </a:pPr>
            <a:r>
              <a:rPr lang="en-US" sz="1600" b="1" dirty="0">
                <a:solidFill>
                  <a:schemeClr val="tx2"/>
                </a:solidFill>
              </a:rPr>
              <a:t>Su dolor</a:t>
            </a:r>
            <a:endParaRPr lang="en-US" sz="1600" dirty="0"/>
          </a:p>
        </p:txBody>
      </p:sp>
      <p:sp>
        <p:nvSpPr>
          <p:cNvPr id="30" name="Text 26"/>
          <p:cNvSpPr txBox="1"/>
          <p:nvPr/>
        </p:nvSpPr>
        <p:spPr>
          <a:xfrm>
            <a:off x="777240" y="4690872"/>
            <a:ext cx="3246120" cy="54864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tx1"/>
                </a:solidFill>
              </a:rPr>
              <a:t>Jueves y viernes sin ideas</a:t>
            </a:r>
            <a:endParaRPr lang="en-US" sz="1400" dirty="0"/>
          </a:p>
          <a:p>
            <a:pPr marL="342900" indent="-342900">
              <a:spcAft>
                <a:spcPts val="200"/>
              </a:spcAft>
              <a:buSzPct val="100000"/>
              <a:buChar char="•"/>
            </a:pPr>
            <a:r>
              <a:rPr lang="en-US" sz="1400" dirty="0">
                <a:solidFill>
                  <a:schemeClr val="tx1"/>
                </a:solidFill>
              </a:rPr>
              <a:t>Que no le rinda el dinero</a:t>
            </a:r>
            <a:endParaRPr lang="en-US" sz="1400" dirty="0"/>
          </a:p>
        </p:txBody>
      </p:sp>
      <p:sp>
        <p:nvSpPr>
          <p:cNvPr id="31" name="Shape 27"/>
          <p:cNvSpPr/>
          <p:nvPr/>
        </p:nvSpPr>
        <p:spPr>
          <a:xfrm>
            <a:off x="4370832" y="3977640"/>
            <a:ext cx="3611880" cy="1325880"/>
          </a:xfrm>
          <a:prstGeom prst="roundRect">
            <a:avLst>
              <a:gd name="adj" fmla="val 8276"/>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32" name="Shape 28"/>
          <p:cNvSpPr/>
          <p:nvPr/>
        </p:nvSpPr>
        <p:spPr>
          <a:xfrm>
            <a:off x="4553712" y="4160520"/>
            <a:ext cx="457200" cy="457200"/>
          </a:xfrm>
          <a:prstGeom prst="ellipse">
            <a:avLst/>
          </a:prstGeom>
          <a:solidFill>
            <a:schemeClr val="accent4"/>
          </a:solidFill>
          <a:ln w="12700">
            <a:solidFill>
              <a:schemeClr val="accent4"/>
            </a:solidFill>
            <a:prstDash val="solid"/>
          </a:ln>
        </p:spPr>
      </p:sp>
      <p:pic>
        <p:nvPicPr>
          <p:cNvPr id="33" name="Image 2" descr="preencoded.png">    </p:cNvPr>
          <p:cNvPicPr>
            <a:picLocks noChangeAspect="1"/>
          </p:cNvPicPr>
          <p:nvPr/>
        </p:nvPicPr>
        <p:blipFill>
          <a:blip r:embed="rId3"/>
          <a:stretch>
            <a:fillRect/>
          </a:stretch>
        </p:blipFill>
        <p:spPr>
          <a:xfrm>
            <a:off x="4654296" y="4261104"/>
            <a:ext cx="256032" cy="256032"/>
          </a:xfrm>
          <a:prstGeom prst="rect">
            <a:avLst/>
          </a:prstGeom>
        </p:spPr>
      </p:pic>
      <p:sp>
        <p:nvSpPr>
          <p:cNvPr id="34" name="Text 29"/>
          <p:cNvSpPr txBox="1"/>
          <p:nvPr/>
        </p:nvSpPr>
        <p:spPr>
          <a:xfrm>
            <a:off x="5148072" y="4178808"/>
            <a:ext cx="2697480" cy="411480"/>
          </a:xfrm>
          <a:prstGeom prst="rect">
            <a:avLst/>
          </a:prstGeom>
          <a:noFill/>
          <a:ln/>
        </p:spPr>
        <p:txBody>
          <a:bodyPr wrap="square" lIns="0" tIns="0" rIns="0" bIns="0" rtlCol="0" anchor="ctr"/>
          <a:lstStyle/>
          <a:p>
            <a:pPr indent="0" marL="0">
              <a:buNone/>
            </a:pPr>
            <a:r>
              <a:rPr lang="en-US" sz="1600" b="1" dirty="0">
                <a:solidFill>
                  <a:schemeClr val="tx2"/>
                </a:solidFill>
              </a:rPr>
              <a:t>Lo que busca</a:t>
            </a:r>
            <a:endParaRPr lang="en-US" sz="1600" dirty="0"/>
          </a:p>
        </p:txBody>
      </p:sp>
      <p:sp>
        <p:nvSpPr>
          <p:cNvPr id="35" name="Text 30"/>
          <p:cNvSpPr txBox="1"/>
          <p:nvPr/>
        </p:nvSpPr>
        <p:spPr>
          <a:xfrm>
            <a:off x="4599432" y="4690872"/>
            <a:ext cx="3246120" cy="548640"/>
          </a:xfrm>
          <a:prstGeom prst="rect">
            <a:avLst/>
          </a:prstGeom>
          <a:noFill/>
          <a:ln/>
        </p:spPr>
        <p:txBody>
          <a:bodyPr wrap="square" lIns="0" tIns="0" rIns="0" bIns="0" rtlCol="0" anchor="t"/>
          <a:lstStyle/>
          <a:p>
            <a:pPr marL="342900" indent="-342900">
              <a:spcAft>
                <a:spcPts val="200"/>
              </a:spcAft>
              <a:buSzPct val="100000"/>
              <a:buChar char="•"/>
            </a:pPr>
            <a:r>
              <a:rPr lang="en-US" sz="1400" dirty="0">
                <a:solidFill>
                  <a:schemeClr val="tx1"/>
                </a:solidFill>
              </a:rPr>
              <a:t>Que resuelva toda la semana</a:t>
            </a:r>
            <a:endParaRPr lang="en-US" sz="1400" dirty="0"/>
          </a:p>
          <a:p>
            <a:pPr marL="342900" indent="-342900">
              <a:spcAft>
                <a:spcPts val="200"/>
              </a:spcAft>
              <a:buSzPct val="100000"/>
              <a:buChar char="•"/>
            </a:pPr>
            <a:r>
              <a:rPr lang="en-US" sz="1400" dirty="0">
                <a:solidFill>
                  <a:schemeClr val="tx1"/>
                </a:solidFill>
              </a:rPr>
              <a:t>Precio claro por brownie</a:t>
            </a:r>
            <a:endParaRPr lang="en-US" sz="1400" dirty="0"/>
          </a:p>
        </p:txBody>
      </p:sp>
      <p:sp>
        <p:nvSpPr>
          <p:cNvPr id="36" name="Shape 31"/>
          <p:cNvSpPr/>
          <p:nvPr/>
        </p:nvSpPr>
        <p:spPr>
          <a:xfrm>
            <a:off x="548640" y="5486400"/>
            <a:ext cx="7434072" cy="640080"/>
          </a:xfrm>
          <a:prstGeom prst="roundRect">
            <a:avLst>
              <a:gd name="adj" fmla="val 50000"/>
            </a:avLst>
          </a:prstGeom>
          <a:solidFill>
            <a:schemeClr val="tx2"/>
          </a:solidFill>
          <a:ln w="12700">
            <a:solidFill>
              <a:schemeClr val="tx2"/>
            </a:solidFill>
            <a:prstDash val="solid"/>
          </a:ln>
        </p:spPr>
      </p:sp>
      <p:sp>
        <p:nvSpPr>
          <p:cNvPr id="37" name="Text 32"/>
          <p:cNvSpPr txBox="1"/>
          <p:nvPr/>
        </p:nvSpPr>
        <p:spPr>
          <a:xfrm>
            <a:off x="822960" y="5486400"/>
            <a:ext cx="6885432" cy="640080"/>
          </a:xfrm>
          <a:prstGeom prst="rect">
            <a:avLst/>
          </a:prstGeom>
          <a:noFill/>
          <a:ln/>
        </p:spPr>
        <p:txBody>
          <a:bodyPr wrap="square" lIns="0" tIns="0" rIns="0" bIns="0" rtlCol="0" anchor="ctr"/>
          <a:lstStyle/>
          <a:p>
            <a:pPr indent="0" marL="0">
              <a:buNone/>
            </a:pPr>
            <a:r>
              <a:rPr lang="en-US" sz="1800" b="1" i="1" dirty="0">
                <a:solidFill>
                  <a:schemeClr val="bg2"/>
                </a:solidFill>
              </a:rPr>
              <a:t>"No me vendas salud, véndeme una mañana menos."</a:t>
            </a:r>
            <a:endParaRPr lang="en-US" sz="18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5 · TIPOS DE MERCADO</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Vendemos a familias (mercado de consumo), en un nicho A/B</a:t>
            </a:r>
            <a:endParaRPr lang="en-US" sz="3400" dirty="0"/>
          </a:p>
        </p:txBody>
      </p:sp>
      <p:sp>
        <p:nvSpPr>
          <p:cNvPr id="4" name="Shape 2"/>
          <p:cNvSpPr/>
          <p:nvPr/>
        </p:nvSpPr>
        <p:spPr>
          <a:xfrm>
            <a:off x="548640" y="1554480"/>
            <a:ext cx="2035454" cy="3383280"/>
          </a:xfrm>
          <a:prstGeom prst="roundRect">
            <a:avLst>
              <a:gd name="adj" fmla="val 5391"/>
            </a:avLst>
          </a:prstGeom>
          <a:solidFill>
            <a:schemeClr val="accent1"/>
          </a:solidFill>
          <a:ln w="12700">
            <a:solidFill>
              <a:schemeClr val="accent1"/>
            </a:solidFill>
            <a:prstDash val="solid"/>
          </a:ln>
          <a:effectLst>
            <a:outerShdw sx="100000" sy="100000" kx="0" ky="0" algn="bl" rotWithShape="0" blurRad="101600" dist="25400" dir="5400000">
              <a:srgbClr val="7A4A30">
                <a:alpha val="14000"/>
              </a:srgbClr>
            </a:outerShdw>
          </a:effectLst>
        </p:spPr>
      </p:sp>
      <p:sp>
        <p:nvSpPr>
          <p:cNvPr id="5" name="Shape 3"/>
          <p:cNvSpPr/>
          <p:nvPr/>
        </p:nvSpPr>
        <p:spPr>
          <a:xfrm>
            <a:off x="777240" y="1783080"/>
            <a:ext cx="640080" cy="640080"/>
          </a:xfrm>
          <a:prstGeom prst="ellipse">
            <a:avLst/>
          </a:prstGeom>
          <a:solidFill>
            <a:schemeClr val="bg1"/>
          </a:solidFill>
          <a:ln w="12700">
            <a:solidFill>
              <a:schemeClr val="bg1"/>
            </a:solidFill>
            <a:prstDash val="solid"/>
          </a:ln>
        </p:spPr>
      </p:sp>
      <p:pic>
        <p:nvPicPr>
          <p:cNvPr id="6" name="Image 0" descr="preencoded.png">    </p:cNvPr>
          <p:cNvPicPr>
            <a:picLocks noChangeAspect="1"/>
          </p:cNvPicPr>
          <p:nvPr/>
        </p:nvPicPr>
        <p:blipFill>
          <a:blip r:embed="rId1"/>
          <a:stretch>
            <a:fillRect/>
          </a:stretch>
        </p:blipFill>
        <p:spPr>
          <a:xfrm>
            <a:off x="918058" y="1923898"/>
            <a:ext cx="358445" cy="358445"/>
          </a:xfrm>
          <a:prstGeom prst="rect">
            <a:avLst/>
          </a:prstGeom>
        </p:spPr>
      </p:pic>
      <p:sp>
        <p:nvSpPr>
          <p:cNvPr id="7" name="Text 4"/>
          <p:cNvSpPr txBox="1"/>
          <p:nvPr/>
        </p:nvSpPr>
        <p:spPr>
          <a:xfrm>
            <a:off x="777240" y="2542032"/>
            <a:ext cx="1669694" cy="384048"/>
          </a:xfrm>
          <a:prstGeom prst="rect">
            <a:avLst/>
          </a:prstGeom>
          <a:noFill/>
          <a:ln/>
        </p:spPr>
        <p:txBody>
          <a:bodyPr wrap="square" lIns="0" tIns="0" rIns="0" bIns="0" rtlCol="0" anchor="t"/>
          <a:lstStyle/>
          <a:p>
            <a:pPr indent="0" marL="0">
              <a:buNone/>
            </a:pPr>
            <a:r>
              <a:rPr lang="en-US" sz="1800" b="1" dirty="0">
                <a:solidFill>
                  <a:schemeClr val="bg1"/>
                </a:solidFill>
              </a:rPr>
              <a:t>Consumo</a:t>
            </a:r>
            <a:endParaRPr lang="en-US" sz="1800" dirty="0"/>
          </a:p>
        </p:txBody>
      </p:sp>
      <p:sp>
        <p:nvSpPr>
          <p:cNvPr id="8" name="Text 5"/>
          <p:cNvSpPr txBox="1"/>
          <p:nvPr/>
        </p:nvSpPr>
        <p:spPr>
          <a:xfrm>
            <a:off x="777240" y="2926080"/>
            <a:ext cx="1669694" cy="548640"/>
          </a:xfrm>
          <a:prstGeom prst="rect">
            <a:avLst/>
          </a:prstGeom>
          <a:noFill/>
          <a:ln/>
        </p:spPr>
        <p:txBody>
          <a:bodyPr wrap="square" lIns="0" tIns="0" rIns="0" bIns="0" rtlCol="0" anchor="t"/>
          <a:lstStyle/>
          <a:p>
            <a:pPr indent="0" marL="0">
              <a:buNone/>
            </a:pPr>
            <a:r>
              <a:rPr lang="en-US" sz="1200" dirty="0">
                <a:solidFill>
                  <a:schemeClr val="bg2"/>
                </a:solidFill>
              </a:rPr>
              <a:t>Personas que compran para su familia</a:t>
            </a:r>
            <a:endParaRPr lang="en-US" sz="1200" dirty="0"/>
          </a:p>
        </p:txBody>
      </p:sp>
      <p:sp>
        <p:nvSpPr>
          <p:cNvPr id="9" name="Shape 6"/>
          <p:cNvSpPr/>
          <p:nvPr/>
        </p:nvSpPr>
        <p:spPr>
          <a:xfrm>
            <a:off x="777240" y="3520440"/>
            <a:ext cx="1188720" cy="292608"/>
          </a:xfrm>
          <a:prstGeom prst="roundRect">
            <a:avLst>
              <a:gd name="adj" fmla="val 50000"/>
            </a:avLst>
          </a:prstGeom>
          <a:solidFill>
            <a:schemeClr val="bg1"/>
          </a:solidFill>
          <a:ln w="12700">
            <a:solidFill>
              <a:schemeClr val="bg1"/>
            </a:solidFill>
            <a:prstDash val="solid"/>
          </a:ln>
        </p:spPr>
      </p:sp>
      <p:sp>
        <p:nvSpPr>
          <p:cNvPr id="10" name="Text 7"/>
          <p:cNvSpPr txBox="1"/>
          <p:nvPr/>
        </p:nvSpPr>
        <p:spPr>
          <a:xfrm>
            <a:off x="777240" y="3520440"/>
            <a:ext cx="1188720" cy="292608"/>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ELEGIDO</a:t>
            </a:r>
            <a:endParaRPr lang="en-US" sz="1000" dirty="0"/>
          </a:p>
        </p:txBody>
      </p:sp>
      <p:sp>
        <p:nvSpPr>
          <p:cNvPr id="11" name="Text 8"/>
          <p:cNvSpPr txBox="1"/>
          <p:nvPr/>
        </p:nvSpPr>
        <p:spPr>
          <a:xfrm>
            <a:off x="777240" y="3931920"/>
            <a:ext cx="1669694" cy="914400"/>
          </a:xfrm>
          <a:prstGeom prst="rect">
            <a:avLst/>
          </a:prstGeom>
          <a:noFill/>
          <a:ln/>
        </p:spPr>
        <p:txBody>
          <a:bodyPr wrap="square" lIns="0" tIns="0" rIns="0" bIns="0" rtlCol="0" anchor="t"/>
          <a:lstStyle/>
          <a:p>
            <a:pPr indent="0" marL="0">
              <a:buNone/>
            </a:pPr>
            <a:r>
              <a:rPr lang="en-US" sz="1400" dirty="0">
                <a:solidFill>
                  <a:schemeClr val="bg1"/>
                </a:solidFill>
              </a:rPr>
              <a:t>Padres A/B que compran la lonchera</a:t>
            </a:r>
            <a:endParaRPr lang="en-US" sz="1400" dirty="0"/>
          </a:p>
        </p:txBody>
      </p:sp>
      <p:sp>
        <p:nvSpPr>
          <p:cNvPr id="12" name="Shape 9"/>
          <p:cNvSpPr/>
          <p:nvPr/>
        </p:nvSpPr>
        <p:spPr>
          <a:xfrm>
            <a:off x="2812694" y="1554480"/>
            <a:ext cx="2035454" cy="3383280"/>
          </a:xfrm>
          <a:prstGeom prst="roundRect">
            <a:avLst>
              <a:gd name="adj" fmla="val 5391"/>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3" name="Shape 10"/>
          <p:cNvSpPr/>
          <p:nvPr/>
        </p:nvSpPr>
        <p:spPr>
          <a:xfrm>
            <a:off x="3041294" y="1783080"/>
            <a:ext cx="640080" cy="640080"/>
          </a:xfrm>
          <a:prstGeom prst="ellipse">
            <a:avLst/>
          </a:prstGeom>
          <a:solidFill>
            <a:schemeClr val="bg2"/>
          </a:solidFill>
          <a:ln w="12700">
            <a:solidFill>
              <a:schemeClr val="bg2"/>
            </a:solidFill>
            <a:prstDash val="solid"/>
          </a:ln>
        </p:spPr>
      </p:sp>
      <p:pic>
        <p:nvPicPr>
          <p:cNvPr id="14" name="Image 1" descr="preencoded.png">    </p:cNvPr>
          <p:cNvPicPr>
            <a:picLocks noChangeAspect="1"/>
          </p:cNvPicPr>
          <p:nvPr/>
        </p:nvPicPr>
        <p:blipFill>
          <a:blip r:embed="rId2"/>
          <a:stretch>
            <a:fillRect/>
          </a:stretch>
        </p:blipFill>
        <p:spPr>
          <a:xfrm>
            <a:off x="3182112" y="1923898"/>
            <a:ext cx="358445" cy="358445"/>
          </a:xfrm>
          <a:prstGeom prst="rect">
            <a:avLst/>
          </a:prstGeom>
        </p:spPr>
      </p:pic>
      <p:sp>
        <p:nvSpPr>
          <p:cNvPr id="15" name="Text 11"/>
          <p:cNvSpPr txBox="1"/>
          <p:nvPr/>
        </p:nvSpPr>
        <p:spPr>
          <a:xfrm>
            <a:off x="3041294" y="2542032"/>
            <a:ext cx="1669694" cy="384048"/>
          </a:xfrm>
          <a:prstGeom prst="rect">
            <a:avLst/>
          </a:prstGeom>
          <a:noFill/>
          <a:ln/>
        </p:spPr>
        <p:txBody>
          <a:bodyPr wrap="square" lIns="0" tIns="0" rIns="0" bIns="0" rtlCol="0" anchor="t"/>
          <a:lstStyle/>
          <a:p>
            <a:pPr indent="0" marL="0">
              <a:buNone/>
            </a:pPr>
            <a:r>
              <a:rPr lang="en-US" sz="1800" b="1" dirty="0">
                <a:solidFill>
                  <a:schemeClr val="tx2"/>
                </a:solidFill>
              </a:rPr>
              <a:t>Industrial</a:t>
            </a:r>
            <a:endParaRPr lang="en-US" sz="1800" dirty="0"/>
          </a:p>
        </p:txBody>
      </p:sp>
      <p:sp>
        <p:nvSpPr>
          <p:cNvPr id="16" name="Text 12"/>
          <p:cNvSpPr txBox="1"/>
          <p:nvPr/>
        </p:nvSpPr>
        <p:spPr>
          <a:xfrm>
            <a:off x="3041294" y="2926080"/>
            <a:ext cx="1669694" cy="548640"/>
          </a:xfrm>
          <a:prstGeom prst="rect">
            <a:avLst/>
          </a:prstGeom>
          <a:noFill/>
          <a:ln/>
        </p:spPr>
        <p:txBody>
          <a:bodyPr wrap="square" lIns="0" tIns="0" rIns="0" bIns="0" rtlCol="0" anchor="t"/>
          <a:lstStyle/>
          <a:p>
            <a:pPr indent="0" marL="0">
              <a:buNone/>
            </a:pPr>
            <a:r>
              <a:rPr lang="en-US" sz="1200" dirty="0">
                <a:solidFill>
                  <a:schemeClr val="accent2"/>
                </a:solidFill>
              </a:rPr>
              <a:t>Empresas que compran para producir</a:t>
            </a:r>
            <a:endParaRPr lang="en-US" sz="1200" dirty="0"/>
          </a:p>
        </p:txBody>
      </p:sp>
      <p:sp>
        <p:nvSpPr>
          <p:cNvPr id="17" name="Shape 13"/>
          <p:cNvSpPr/>
          <p:nvPr/>
        </p:nvSpPr>
        <p:spPr>
          <a:xfrm>
            <a:off x="3041294" y="3520440"/>
            <a:ext cx="1188720" cy="292608"/>
          </a:xfrm>
          <a:prstGeom prst="roundRect">
            <a:avLst>
              <a:gd name="adj" fmla="val 50000"/>
            </a:avLst>
          </a:prstGeom>
          <a:solidFill>
            <a:schemeClr val="bg2"/>
          </a:solidFill>
          <a:ln w="12700">
            <a:solidFill>
              <a:schemeClr val="bg2"/>
            </a:solidFill>
            <a:prstDash val="solid"/>
          </a:ln>
        </p:spPr>
      </p:sp>
      <p:sp>
        <p:nvSpPr>
          <p:cNvPr id="18" name="Text 14"/>
          <p:cNvSpPr txBox="1"/>
          <p:nvPr/>
        </p:nvSpPr>
        <p:spPr>
          <a:xfrm>
            <a:off x="3041294" y="3520440"/>
            <a:ext cx="1188720" cy="292608"/>
          </a:xfrm>
          <a:prstGeom prst="rect">
            <a:avLst/>
          </a:prstGeom>
          <a:noFill/>
          <a:ln/>
        </p:spPr>
        <p:txBody>
          <a:bodyPr wrap="square" lIns="0" tIns="0" rIns="0" bIns="0" rtlCol="0" anchor="ctr"/>
          <a:lstStyle/>
          <a:p>
            <a:pPr algn="ctr" indent="0" marL="0">
              <a:buNone/>
            </a:pPr>
            <a:r>
              <a:rPr lang="en-US" sz="1000" b="1" spc="100" kern="0" dirty="0">
                <a:solidFill>
                  <a:schemeClr val="tx2"/>
                </a:solidFill>
              </a:rPr>
              <a:t>NO APLICA</a:t>
            </a:r>
            <a:endParaRPr lang="en-US" sz="1000" dirty="0"/>
          </a:p>
        </p:txBody>
      </p:sp>
      <p:sp>
        <p:nvSpPr>
          <p:cNvPr id="19" name="Text 15"/>
          <p:cNvSpPr txBox="1"/>
          <p:nvPr/>
        </p:nvSpPr>
        <p:spPr>
          <a:xfrm>
            <a:off x="3041294" y="3931920"/>
            <a:ext cx="1669694" cy="914400"/>
          </a:xfrm>
          <a:prstGeom prst="rect">
            <a:avLst/>
          </a:prstGeom>
          <a:noFill/>
          <a:ln/>
        </p:spPr>
        <p:txBody>
          <a:bodyPr wrap="square" lIns="0" tIns="0" rIns="0" bIns="0" rtlCol="0" anchor="t"/>
          <a:lstStyle/>
          <a:p>
            <a:pPr indent="0" marL="0">
              <a:buNone/>
            </a:pPr>
            <a:r>
              <a:rPr lang="en-US" sz="1400" dirty="0">
                <a:solidFill>
                  <a:schemeClr val="tx1"/>
                </a:solidFill>
              </a:rPr>
              <a:t>No vendemos insumos a otras empresas</a:t>
            </a:r>
            <a:endParaRPr lang="en-US" sz="1400" dirty="0"/>
          </a:p>
        </p:txBody>
      </p:sp>
      <p:sp>
        <p:nvSpPr>
          <p:cNvPr id="20" name="Shape 16"/>
          <p:cNvSpPr/>
          <p:nvPr/>
        </p:nvSpPr>
        <p:spPr>
          <a:xfrm>
            <a:off x="5076749" y="1554480"/>
            <a:ext cx="2035454" cy="3383280"/>
          </a:xfrm>
          <a:prstGeom prst="roundRect">
            <a:avLst>
              <a:gd name="adj" fmla="val 5391"/>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1" name="Shape 17"/>
          <p:cNvSpPr/>
          <p:nvPr/>
        </p:nvSpPr>
        <p:spPr>
          <a:xfrm>
            <a:off x="5305349" y="1783080"/>
            <a:ext cx="640080" cy="640080"/>
          </a:xfrm>
          <a:prstGeom prst="ellipse">
            <a:avLst/>
          </a:prstGeom>
          <a:solidFill>
            <a:schemeClr val="bg2"/>
          </a:solidFill>
          <a:ln w="12700">
            <a:solidFill>
              <a:schemeClr val="bg2"/>
            </a:solidFill>
            <a:prstDash val="solid"/>
          </a:ln>
        </p:spPr>
      </p:sp>
      <p:pic>
        <p:nvPicPr>
          <p:cNvPr id="22" name="Image 2" descr="preencoded.png">    </p:cNvPr>
          <p:cNvPicPr>
            <a:picLocks noChangeAspect="1"/>
          </p:cNvPicPr>
          <p:nvPr/>
        </p:nvPicPr>
        <p:blipFill>
          <a:blip r:embed="rId3"/>
          <a:stretch>
            <a:fillRect/>
          </a:stretch>
        </p:blipFill>
        <p:spPr>
          <a:xfrm>
            <a:off x="5446166" y="1923898"/>
            <a:ext cx="358445" cy="358445"/>
          </a:xfrm>
          <a:prstGeom prst="rect">
            <a:avLst/>
          </a:prstGeom>
        </p:spPr>
      </p:pic>
      <p:sp>
        <p:nvSpPr>
          <p:cNvPr id="23" name="Text 18"/>
          <p:cNvSpPr txBox="1"/>
          <p:nvPr/>
        </p:nvSpPr>
        <p:spPr>
          <a:xfrm>
            <a:off x="5305349" y="2542032"/>
            <a:ext cx="1669694" cy="384048"/>
          </a:xfrm>
          <a:prstGeom prst="rect">
            <a:avLst/>
          </a:prstGeom>
          <a:noFill/>
          <a:ln/>
        </p:spPr>
        <p:txBody>
          <a:bodyPr wrap="square" lIns="0" tIns="0" rIns="0" bIns="0" rtlCol="0" anchor="t"/>
          <a:lstStyle/>
          <a:p>
            <a:pPr indent="0" marL="0">
              <a:buNone/>
            </a:pPr>
            <a:r>
              <a:rPr lang="en-US" sz="1800" b="1" dirty="0">
                <a:solidFill>
                  <a:schemeClr val="tx2"/>
                </a:solidFill>
              </a:rPr>
              <a:t>Servicios</a:t>
            </a:r>
            <a:endParaRPr lang="en-US" sz="1800" dirty="0"/>
          </a:p>
        </p:txBody>
      </p:sp>
      <p:sp>
        <p:nvSpPr>
          <p:cNvPr id="24" name="Text 19"/>
          <p:cNvSpPr txBox="1"/>
          <p:nvPr/>
        </p:nvSpPr>
        <p:spPr>
          <a:xfrm>
            <a:off x="5305349" y="2926080"/>
            <a:ext cx="1669694" cy="548640"/>
          </a:xfrm>
          <a:prstGeom prst="rect">
            <a:avLst/>
          </a:prstGeom>
          <a:noFill/>
          <a:ln/>
        </p:spPr>
        <p:txBody>
          <a:bodyPr wrap="square" lIns="0" tIns="0" rIns="0" bIns="0" rtlCol="0" anchor="t"/>
          <a:lstStyle/>
          <a:p>
            <a:pPr indent="0" marL="0">
              <a:buNone/>
            </a:pPr>
            <a:r>
              <a:rPr lang="en-US" sz="1200" dirty="0">
                <a:solidFill>
                  <a:schemeClr val="accent2"/>
                </a:solidFill>
              </a:rPr>
              <a:t>Compras de algo que no se toca</a:t>
            </a:r>
            <a:endParaRPr lang="en-US" sz="1200" dirty="0"/>
          </a:p>
        </p:txBody>
      </p:sp>
      <p:sp>
        <p:nvSpPr>
          <p:cNvPr id="25" name="Shape 20"/>
          <p:cNvSpPr/>
          <p:nvPr/>
        </p:nvSpPr>
        <p:spPr>
          <a:xfrm>
            <a:off x="5305349" y="3520440"/>
            <a:ext cx="1188720" cy="292608"/>
          </a:xfrm>
          <a:prstGeom prst="roundRect">
            <a:avLst>
              <a:gd name="adj" fmla="val 50000"/>
            </a:avLst>
          </a:prstGeom>
          <a:solidFill>
            <a:schemeClr val="bg2"/>
          </a:solidFill>
          <a:ln w="12700">
            <a:solidFill>
              <a:schemeClr val="bg2"/>
            </a:solidFill>
            <a:prstDash val="solid"/>
          </a:ln>
        </p:spPr>
      </p:sp>
      <p:sp>
        <p:nvSpPr>
          <p:cNvPr id="26" name="Text 21"/>
          <p:cNvSpPr txBox="1"/>
          <p:nvPr/>
        </p:nvSpPr>
        <p:spPr>
          <a:xfrm>
            <a:off x="5305349" y="3520440"/>
            <a:ext cx="1188720" cy="292608"/>
          </a:xfrm>
          <a:prstGeom prst="rect">
            <a:avLst/>
          </a:prstGeom>
          <a:noFill/>
          <a:ln/>
        </p:spPr>
        <p:txBody>
          <a:bodyPr wrap="square" lIns="0" tIns="0" rIns="0" bIns="0" rtlCol="0" anchor="ctr"/>
          <a:lstStyle/>
          <a:p>
            <a:pPr algn="ctr" indent="0" marL="0">
              <a:buNone/>
            </a:pPr>
            <a:r>
              <a:rPr lang="en-US" sz="1000" b="1" spc="100" kern="0" dirty="0">
                <a:solidFill>
                  <a:schemeClr val="tx2"/>
                </a:solidFill>
              </a:rPr>
              <a:t>NO APLICA</a:t>
            </a:r>
            <a:endParaRPr lang="en-US" sz="1000" dirty="0"/>
          </a:p>
        </p:txBody>
      </p:sp>
      <p:sp>
        <p:nvSpPr>
          <p:cNvPr id="27" name="Text 22"/>
          <p:cNvSpPr txBox="1"/>
          <p:nvPr/>
        </p:nvSpPr>
        <p:spPr>
          <a:xfrm>
            <a:off x="5305349" y="3931920"/>
            <a:ext cx="1669694" cy="914400"/>
          </a:xfrm>
          <a:prstGeom prst="rect">
            <a:avLst/>
          </a:prstGeom>
          <a:noFill/>
          <a:ln/>
        </p:spPr>
        <p:txBody>
          <a:bodyPr wrap="square" lIns="0" tIns="0" rIns="0" bIns="0" rtlCol="0" anchor="t"/>
          <a:lstStyle/>
          <a:p>
            <a:pPr indent="0" marL="0">
              <a:buNone/>
            </a:pPr>
            <a:r>
              <a:rPr lang="en-US" sz="1400" dirty="0">
                <a:solidFill>
                  <a:schemeClr val="tx1"/>
                </a:solidFill>
              </a:rPr>
              <a:t>Vendemos un producto, no un servicio</a:t>
            </a:r>
            <a:endParaRPr lang="en-US" sz="1400" dirty="0"/>
          </a:p>
        </p:txBody>
      </p:sp>
      <p:sp>
        <p:nvSpPr>
          <p:cNvPr id="28" name="Shape 23"/>
          <p:cNvSpPr/>
          <p:nvPr/>
        </p:nvSpPr>
        <p:spPr>
          <a:xfrm>
            <a:off x="7340803" y="1554480"/>
            <a:ext cx="2035454" cy="3383280"/>
          </a:xfrm>
          <a:prstGeom prst="roundRect">
            <a:avLst>
              <a:gd name="adj" fmla="val 5391"/>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9" name="Shape 24"/>
          <p:cNvSpPr/>
          <p:nvPr/>
        </p:nvSpPr>
        <p:spPr>
          <a:xfrm>
            <a:off x="7569403" y="1783080"/>
            <a:ext cx="640080" cy="640080"/>
          </a:xfrm>
          <a:prstGeom prst="ellipse">
            <a:avLst/>
          </a:prstGeom>
          <a:solidFill>
            <a:schemeClr val="bg2"/>
          </a:solidFill>
          <a:ln w="12700">
            <a:solidFill>
              <a:schemeClr val="bg2"/>
            </a:solidFill>
            <a:prstDash val="solid"/>
          </a:ln>
        </p:spPr>
      </p:sp>
      <p:pic>
        <p:nvPicPr>
          <p:cNvPr id="30" name="Image 3" descr="preencoded.png">    </p:cNvPr>
          <p:cNvPicPr>
            <a:picLocks noChangeAspect="1"/>
          </p:cNvPicPr>
          <p:nvPr/>
        </p:nvPicPr>
        <p:blipFill>
          <a:blip r:embed="rId4"/>
          <a:stretch>
            <a:fillRect/>
          </a:stretch>
        </p:blipFill>
        <p:spPr>
          <a:xfrm>
            <a:off x="7710221" y="1923898"/>
            <a:ext cx="358445" cy="358445"/>
          </a:xfrm>
          <a:prstGeom prst="rect">
            <a:avLst/>
          </a:prstGeom>
        </p:spPr>
      </p:pic>
      <p:sp>
        <p:nvSpPr>
          <p:cNvPr id="31" name="Text 25"/>
          <p:cNvSpPr txBox="1"/>
          <p:nvPr/>
        </p:nvSpPr>
        <p:spPr>
          <a:xfrm>
            <a:off x="7569403" y="2542032"/>
            <a:ext cx="1669694" cy="384048"/>
          </a:xfrm>
          <a:prstGeom prst="rect">
            <a:avLst/>
          </a:prstGeom>
          <a:noFill/>
          <a:ln/>
        </p:spPr>
        <p:txBody>
          <a:bodyPr wrap="square" lIns="0" tIns="0" rIns="0" bIns="0" rtlCol="0" anchor="t"/>
          <a:lstStyle/>
          <a:p>
            <a:pPr indent="0" marL="0">
              <a:buNone/>
            </a:pPr>
            <a:r>
              <a:rPr lang="en-US" sz="1800" b="1" dirty="0">
                <a:solidFill>
                  <a:schemeClr val="tx2"/>
                </a:solidFill>
              </a:rPr>
              <a:t>Gobierno</a:t>
            </a:r>
            <a:endParaRPr lang="en-US" sz="1800" dirty="0"/>
          </a:p>
        </p:txBody>
      </p:sp>
      <p:sp>
        <p:nvSpPr>
          <p:cNvPr id="32" name="Text 26"/>
          <p:cNvSpPr txBox="1"/>
          <p:nvPr/>
        </p:nvSpPr>
        <p:spPr>
          <a:xfrm>
            <a:off x="7569403" y="2926080"/>
            <a:ext cx="1669694" cy="548640"/>
          </a:xfrm>
          <a:prstGeom prst="rect">
            <a:avLst/>
          </a:prstGeom>
          <a:noFill/>
          <a:ln/>
        </p:spPr>
        <p:txBody>
          <a:bodyPr wrap="square" lIns="0" tIns="0" rIns="0" bIns="0" rtlCol="0" anchor="t"/>
          <a:lstStyle/>
          <a:p>
            <a:pPr indent="0" marL="0">
              <a:buNone/>
            </a:pPr>
            <a:r>
              <a:rPr lang="en-US" sz="1200" dirty="0">
                <a:solidFill>
                  <a:schemeClr val="accent2"/>
                </a:solidFill>
              </a:rPr>
              <a:t>El Estado como cliente</a:t>
            </a:r>
            <a:endParaRPr lang="en-US" sz="1200" dirty="0"/>
          </a:p>
        </p:txBody>
      </p:sp>
      <p:sp>
        <p:nvSpPr>
          <p:cNvPr id="33" name="Shape 27"/>
          <p:cNvSpPr/>
          <p:nvPr/>
        </p:nvSpPr>
        <p:spPr>
          <a:xfrm>
            <a:off x="7569403" y="3520440"/>
            <a:ext cx="1188720" cy="292608"/>
          </a:xfrm>
          <a:prstGeom prst="roundRect">
            <a:avLst>
              <a:gd name="adj" fmla="val 50000"/>
            </a:avLst>
          </a:prstGeom>
          <a:solidFill>
            <a:schemeClr val="accent3"/>
          </a:solidFill>
          <a:ln w="12700">
            <a:solidFill>
              <a:schemeClr val="accent3"/>
            </a:solidFill>
            <a:prstDash val="solid"/>
          </a:ln>
        </p:spPr>
      </p:sp>
      <p:sp>
        <p:nvSpPr>
          <p:cNvPr id="34" name="Text 28"/>
          <p:cNvSpPr txBox="1"/>
          <p:nvPr/>
        </p:nvSpPr>
        <p:spPr>
          <a:xfrm>
            <a:off x="7569403" y="3520440"/>
            <a:ext cx="1188720" cy="292608"/>
          </a:xfrm>
          <a:prstGeom prst="rect">
            <a:avLst/>
          </a:prstGeom>
          <a:noFill/>
          <a:ln/>
        </p:spPr>
        <p:txBody>
          <a:bodyPr wrap="square" lIns="0" tIns="0" rIns="0" bIns="0" rtlCol="0" anchor="ctr"/>
          <a:lstStyle/>
          <a:p>
            <a:pPr algn="ctr" indent="0" marL="0">
              <a:buNone/>
            </a:pPr>
            <a:r>
              <a:rPr lang="en-US" sz="1000" b="1" spc="100" kern="0" dirty="0">
                <a:solidFill>
                  <a:schemeClr val="tx2"/>
                </a:solidFill>
              </a:rPr>
              <a:t>AÑO 3</a:t>
            </a:r>
            <a:endParaRPr lang="en-US" sz="1000" dirty="0"/>
          </a:p>
        </p:txBody>
      </p:sp>
      <p:sp>
        <p:nvSpPr>
          <p:cNvPr id="35" name="Text 29"/>
          <p:cNvSpPr txBox="1"/>
          <p:nvPr/>
        </p:nvSpPr>
        <p:spPr>
          <a:xfrm>
            <a:off x="7569403" y="3931920"/>
            <a:ext cx="1669694" cy="914400"/>
          </a:xfrm>
          <a:prstGeom prst="rect">
            <a:avLst/>
          </a:prstGeom>
          <a:noFill/>
          <a:ln/>
        </p:spPr>
        <p:txBody>
          <a:bodyPr wrap="square" lIns="0" tIns="0" rIns="0" bIns="0" rtlCol="0" anchor="t"/>
          <a:lstStyle/>
          <a:p>
            <a:pPr indent="0" marL="0">
              <a:buNone/>
            </a:pPr>
            <a:r>
              <a:rPr lang="en-US" sz="1400" dirty="0">
                <a:solidFill>
                  <a:schemeClr val="tx1"/>
                </a:solidFill>
              </a:rPr>
              <a:t>Programas contra la anemia, con licitación</a:t>
            </a:r>
            <a:endParaRPr lang="en-US" sz="1400" dirty="0"/>
          </a:p>
        </p:txBody>
      </p:sp>
      <p:sp>
        <p:nvSpPr>
          <p:cNvPr id="36" name="Shape 30"/>
          <p:cNvSpPr/>
          <p:nvPr/>
        </p:nvSpPr>
        <p:spPr>
          <a:xfrm>
            <a:off x="9604858" y="1554480"/>
            <a:ext cx="2035454" cy="3383280"/>
          </a:xfrm>
          <a:prstGeom prst="roundRect">
            <a:avLst>
              <a:gd name="adj" fmla="val 5391"/>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37" name="Shape 31"/>
          <p:cNvSpPr/>
          <p:nvPr/>
        </p:nvSpPr>
        <p:spPr>
          <a:xfrm>
            <a:off x="9833458" y="1783080"/>
            <a:ext cx="640080" cy="640080"/>
          </a:xfrm>
          <a:prstGeom prst="ellipse">
            <a:avLst/>
          </a:prstGeom>
          <a:solidFill>
            <a:schemeClr val="bg2"/>
          </a:solidFill>
          <a:ln w="12700">
            <a:solidFill>
              <a:schemeClr val="bg2"/>
            </a:solidFill>
            <a:prstDash val="solid"/>
          </a:ln>
        </p:spPr>
      </p:sp>
      <p:pic>
        <p:nvPicPr>
          <p:cNvPr id="38" name="Image 4" descr="preencoded.png">    </p:cNvPr>
          <p:cNvPicPr>
            <a:picLocks noChangeAspect="1"/>
          </p:cNvPicPr>
          <p:nvPr/>
        </p:nvPicPr>
        <p:blipFill>
          <a:blip r:embed="rId5"/>
          <a:stretch>
            <a:fillRect/>
          </a:stretch>
        </p:blipFill>
        <p:spPr>
          <a:xfrm>
            <a:off x="9974275" y="1923898"/>
            <a:ext cx="358445" cy="358445"/>
          </a:xfrm>
          <a:prstGeom prst="rect">
            <a:avLst/>
          </a:prstGeom>
        </p:spPr>
      </p:pic>
      <p:sp>
        <p:nvSpPr>
          <p:cNvPr id="39" name="Text 32"/>
          <p:cNvSpPr txBox="1"/>
          <p:nvPr/>
        </p:nvSpPr>
        <p:spPr>
          <a:xfrm>
            <a:off x="9833458" y="2542032"/>
            <a:ext cx="1669694" cy="384048"/>
          </a:xfrm>
          <a:prstGeom prst="rect">
            <a:avLst/>
          </a:prstGeom>
          <a:noFill/>
          <a:ln/>
        </p:spPr>
        <p:txBody>
          <a:bodyPr wrap="square" lIns="0" tIns="0" rIns="0" bIns="0" rtlCol="0" anchor="t"/>
          <a:lstStyle/>
          <a:p>
            <a:pPr indent="0" marL="0">
              <a:buNone/>
            </a:pPr>
            <a:r>
              <a:rPr lang="en-US" sz="1800" b="1" dirty="0">
                <a:solidFill>
                  <a:schemeClr val="tx2"/>
                </a:solidFill>
              </a:rPr>
              <a:t>Global</a:t>
            </a:r>
            <a:endParaRPr lang="en-US" sz="1800" dirty="0"/>
          </a:p>
        </p:txBody>
      </p:sp>
      <p:sp>
        <p:nvSpPr>
          <p:cNvPr id="40" name="Text 33"/>
          <p:cNvSpPr txBox="1"/>
          <p:nvPr/>
        </p:nvSpPr>
        <p:spPr>
          <a:xfrm>
            <a:off x="9833458" y="2926080"/>
            <a:ext cx="1669694" cy="548640"/>
          </a:xfrm>
          <a:prstGeom prst="rect">
            <a:avLst/>
          </a:prstGeom>
          <a:noFill/>
          <a:ln/>
        </p:spPr>
        <p:txBody>
          <a:bodyPr wrap="square" lIns="0" tIns="0" rIns="0" bIns="0" rtlCol="0" anchor="t"/>
          <a:lstStyle/>
          <a:p>
            <a:pPr indent="0" marL="0">
              <a:buNone/>
            </a:pPr>
            <a:r>
              <a:rPr lang="en-US" sz="1200" dirty="0">
                <a:solidFill>
                  <a:schemeClr val="accent2"/>
                </a:solidFill>
              </a:rPr>
              <a:t>Clientes fuera del país</a:t>
            </a:r>
            <a:endParaRPr lang="en-US" sz="1200" dirty="0"/>
          </a:p>
        </p:txBody>
      </p:sp>
      <p:sp>
        <p:nvSpPr>
          <p:cNvPr id="41" name="Shape 34"/>
          <p:cNvSpPr/>
          <p:nvPr/>
        </p:nvSpPr>
        <p:spPr>
          <a:xfrm>
            <a:off x="9833458" y="3520440"/>
            <a:ext cx="1188720" cy="292608"/>
          </a:xfrm>
          <a:prstGeom prst="roundRect">
            <a:avLst>
              <a:gd name="adj" fmla="val 50000"/>
            </a:avLst>
          </a:prstGeom>
          <a:solidFill>
            <a:schemeClr val="accent3"/>
          </a:solidFill>
          <a:ln w="12700">
            <a:solidFill>
              <a:schemeClr val="accent3"/>
            </a:solidFill>
            <a:prstDash val="solid"/>
          </a:ln>
        </p:spPr>
      </p:sp>
      <p:sp>
        <p:nvSpPr>
          <p:cNvPr id="42" name="Text 35"/>
          <p:cNvSpPr txBox="1"/>
          <p:nvPr/>
        </p:nvSpPr>
        <p:spPr>
          <a:xfrm>
            <a:off x="9833458" y="3520440"/>
            <a:ext cx="1188720" cy="292608"/>
          </a:xfrm>
          <a:prstGeom prst="rect">
            <a:avLst/>
          </a:prstGeom>
          <a:noFill/>
          <a:ln/>
        </p:spPr>
        <p:txBody>
          <a:bodyPr wrap="square" lIns="0" tIns="0" rIns="0" bIns="0" rtlCol="0" anchor="ctr"/>
          <a:lstStyle/>
          <a:p>
            <a:pPr algn="ctr" indent="0" marL="0">
              <a:buNone/>
            </a:pPr>
            <a:r>
              <a:rPr lang="en-US" sz="1000" b="1" spc="100" kern="0" dirty="0">
                <a:solidFill>
                  <a:schemeClr val="tx2"/>
                </a:solidFill>
              </a:rPr>
              <a:t>AÑO 3</a:t>
            </a:r>
            <a:endParaRPr lang="en-US" sz="1000" dirty="0"/>
          </a:p>
        </p:txBody>
      </p:sp>
      <p:sp>
        <p:nvSpPr>
          <p:cNvPr id="43" name="Text 36"/>
          <p:cNvSpPr txBox="1"/>
          <p:nvPr/>
        </p:nvSpPr>
        <p:spPr>
          <a:xfrm>
            <a:off x="9833458" y="3931920"/>
            <a:ext cx="1669694" cy="914400"/>
          </a:xfrm>
          <a:prstGeom prst="rect">
            <a:avLst/>
          </a:prstGeom>
          <a:noFill/>
          <a:ln/>
        </p:spPr>
        <p:txBody>
          <a:bodyPr wrap="square" lIns="0" tIns="0" rIns="0" bIns="0" rtlCol="0" anchor="t"/>
          <a:lstStyle/>
          <a:p>
            <a:pPr indent="0" marL="0">
              <a:buNone/>
            </a:pPr>
            <a:r>
              <a:rPr lang="en-US" sz="1400" dirty="0">
                <a:solidFill>
                  <a:schemeClr val="tx1"/>
                </a:solidFill>
              </a:rPr>
              <a:t>Peruanos en Chile y EE. UU.</a:t>
            </a:r>
            <a:endParaRPr lang="en-US" sz="1400" dirty="0"/>
          </a:p>
        </p:txBody>
      </p:sp>
      <p:sp>
        <p:nvSpPr>
          <p:cNvPr id="44" name="Text 37"/>
          <p:cNvSpPr txBox="1"/>
          <p:nvPr/>
        </p:nvSpPr>
        <p:spPr>
          <a:xfrm>
            <a:off x="548640" y="5138928"/>
            <a:ext cx="5486400" cy="292608"/>
          </a:xfrm>
          <a:prstGeom prst="rect">
            <a:avLst/>
          </a:prstGeom>
          <a:noFill/>
          <a:ln/>
        </p:spPr>
        <p:txBody>
          <a:bodyPr wrap="square" lIns="0" tIns="0" rIns="0" bIns="0" rtlCol="0" anchor="t"/>
          <a:lstStyle/>
          <a:p>
            <a:pPr indent="0" marL="0">
              <a:buNone/>
            </a:pPr>
            <a:r>
              <a:rPr lang="en-US" sz="1400" b="1" dirty="0">
                <a:solidFill>
                  <a:schemeClr val="tx2"/>
                </a:solidFill>
              </a:rPr>
              <a:t>Dentro del mercado de consumo</a:t>
            </a:r>
            <a:endParaRPr lang="en-US" sz="1400" dirty="0"/>
          </a:p>
        </p:txBody>
      </p:sp>
      <p:sp>
        <p:nvSpPr>
          <p:cNvPr id="45" name="Shape 38"/>
          <p:cNvSpPr/>
          <p:nvPr/>
        </p:nvSpPr>
        <p:spPr>
          <a:xfrm>
            <a:off x="548640" y="5486400"/>
            <a:ext cx="11091672" cy="566928"/>
          </a:xfrm>
          <a:prstGeom prst="roundRect">
            <a:avLst>
              <a:gd name="adj" fmla="val 16129"/>
            </a:avLst>
          </a:prstGeom>
          <a:solidFill>
            <a:schemeClr val="tx2"/>
          </a:solidFill>
          <a:ln w="12700">
            <a:solidFill>
              <a:schemeClr val="tx2"/>
            </a:solidFill>
            <a:prstDash val="solid"/>
          </a:ln>
        </p:spPr>
      </p:sp>
      <p:sp>
        <p:nvSpPr>
          <p:cNvPr id="46" name="Text 39"/>
          <p:cNvSpPr txBox="1"/>
          <p:nvPr/>
        </p:nvSpPr>
        <p:spPr>
          <a:xfrm>
            <a:off x="777240" y="5486400"/>
            <a:ext cx="10698480" cy="566928"/>
          </a:xfrm>
          <a:prstGeom prst="rect">
            <a:avLst/>
          </a:prstGeom>
          <a:noFill/>
          <a:ln/>
        </p:spPr>
        <p:txBody>
          <a:bodyPr wrap="square" lIns="0" tIns="0" rIns="0" bIns="0" rtlCol="0" anchor="ctr"/>
          <a:lstStyle/>
          <a:p>
            <a:pPr indent="0" marL="0">
              <a:buNone/>
            </a:pPr>
            <a:r>
              <a:rPr lang="en-US" sz="1500" b="1" dirty="0">
                <a:solidFill>
                  <a:schemeClr val="bg1"/>
                </a:solidFill>
              </a:rPr>
              <a:t>Nicho: 46,000 hogares A/B con hijos de 4 a 11 · dos segmentos: salud (Claudia) y tiempo (Rodrigo)</a:t>
            </a:r>
            <a:endParaRPr lang="en-US" sz="15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5 · TAMAÑO DEL MERCADO</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Un nicho chico que sí invierte en la salud de sus hijos</a:t>
            </a:r>
            <a:endParaRPr lang="en-US" sz="3400" dirty="0"/>
          </a:p>
        </p:txBody>
      </p:sp>
      <p:sp>
        <p:nvSpPr>
          <p:cNvPr id="4" name="Shape 2"/>
          <p:cNvSpPr/>
          <p:nvPr/>
        </p:nvSpPr>
        <p:spPr>
          <a:xfrm>
            <a:off x="594360" y="1554480"/>
            <a:ext cx="6035040" cy="914400"/>
          </a:xfrm>
          <a:prstGeom prst="roundRect">
            <a:avLst>
              <a:gd name="adj" fmla="val 12000"/>
            </a:avLst>
          </a:prstGeom>
          <a:solidFill>
            <a:schemeClr val="accent5"/>
          </a:solidFill>
          <a:ln w="12700">
            <a:solidFill>
              <a:schemeClr val="accent5"/>
            </a:solidFill>
            <a:prstDash val="solid"/>
          </a:ln>
        </p:spPr>
      </p:sp>
      <p:sp>
        <p:nvSpPr>
          <p:cNvPr id="5" name="Text 3"/>
          <p:cNvSpPr txBox="1"/>
          <p:nvPr/>
        </p:nvSpPr>
        <p:spPr>
          <a:xfrm>
            <a:off x="731520" y="1554480"/>
            <a:ext cx="5760720" cy="914400"/>
          </a:xfrm>
          <a:prstGeom prst="rect">
            <a:avLst/>
          </a:prstGeom>
          <a:noFill/>
          <a:ln/>
        </p:spPr>
        <p:txBody>
          <a:bodyPr wrap="square" lIns="0" tIns="0" rIns="0" bIns="0" rtlCol="0" anchor="ctr"/>
          <a:lstStyle/>
          <a:p>
            <a:pPr algn="ctr" indent="0" marL="0">
              <a:buNone/>
            </a:pPr>
            <a:r>
              <a:rPr lang="en-US" sz="1800" b="1" dirty="0">
                <a:solidFill>
                  <a:schemeClr val="tx1"/>
                </a:solidFill>
              </a:rPr>
              <a:t>Mercado total · S/130.9 millones</a:t>
            </a:r>
            <a:endParaRPr lang="en-US" sz="1400" dirty="0"/>
          </a:p>
          <a:p>
            <a:pPr algn="ctr" indent="0" marL="0">
              <a:buNone/>
            </a:pPr>
            <a:r>
              <a:rPr lang="en-US" sz="1200" dirty="0">
                <a:solidFill>
                  <a:schemeClr val="tx1"/>
                </a:solidFill>
              </a:rPr>
              <a:t>932 mil hogares · todas las loncheras de Lima</a:t>
            </a:r>
            <a:endParaRPr lang="en-US" sz="1400" dirty="0"/>
          </a:p>
        </p:txBody>
      </p:sp>
      <p:sp>
        <p:nvSpPr>
          <p:cNvPr id="6" name="Shape 4"/>
          <p:cNvSpPr/>
          <p:nvPr/>
        </p:nvSpPr>
        <p:spPr>
          <a:xfrm>
            <a:off x="1143000" y="2633472"/>
            <a:ext cx="4937760" cy="914400"/>
          </a:xfrm>
          <a:prstGeom prst="roundRect">
            <a:avLst>
              <a:gd name="adj" fmla="val 12000"/>
            </a:avLst>
          </a:prstGeom>
          <a:solidFill>
            <a:schemeClr val="accent2"/>
          </a:solidFill>
          <a:ln w="12700">
            <a:solidFill>
              <a:schemeClr val="accent2"/>
            </a:solidFill>
            <a:prstDash val="solid"/>
          </a:ln>
        </p:spPr>
      </p:sp>
      <p:sp>
        <p:nvSpPr>
          <p:cNvPr id="7" name="Text 5"/>
          <p:cNvSpPr txBox="1"/>
          <p:nvPr/>
        </p:nvSpPr>
        <p:spPr>
          <a:xfrm>
            <a:off x="1280160" y="2633472"/>
            <a:ext cx="4663440" cy="914400"/>
          </a:xfrm>
          <a:prstGeom prst="rect">
            <a:avLst/>
          </a:prstGeom>
          <a:noFill/>
          <a:ln/>
        </p:spPr>
        <p:txBody>
          <a:bodyPr wrap="square" lIns="0" tIns="0" rIns="0" bIns="0" rtlCol="0" anchor="ctr"/>
          <a:lstStyle/>
          <a:p>
            <a:pPr algn="ctr" indent="0" marL="0">
              <a:buNone/>
            </a:pPr>
            <a:r>
              <a:rPr lang="en-US" sz="1800" b="1" dirty="0">
                <a:solidFill>
                  <a:schemeClr val="bg1"/>
                </a:solidFill>
              </a:rPr>
              <a:t>Mercado al que apuntamos · S/62.8 M</a:t>
            </a:r>
            <a:endParaRPr lang="en-US" sz="1400" dirty="0"/>
          </a:p>
          <a:p>
            <a:pPr algn="ctr" indent="0" marL="0">
              <a:buNone/>
            </a:pPr>
            <a:r>
              <a:rPr lang="en-US" sz="1200" dirty="0">
                <a:solidFill>
                  <a:schemeClr val="bg1"/>
                </a:solidFill>
              </a:rPr>
              <a:t>168 mil hogares A/B con niños de 4 a 11</a:t>
            </a:r>
            <a:endParaRPr lang="en-US" sz="1400" dirty="0"/>
          </a:p>
        </p:txBody>
      </p:sp>
      <p:sp>
        <p:nvSpPr>
          <p:cNvPr id="8" name="Shape 6"/>
          <p:cNvSpPr/>
          <p:nvPr/>
        </p:nvSpPr>
        <p:spPr>
          <a:xfrm>
            <a:off x="1691640" y="3712464"/>
            <a:ext cx="3840480" cy="914400"/>
          </a:xfrm>
          <a:prstGeom prst="roundRect">
            <a:avLst>
              <a:gd name="adj" fmla="val 12000"/>
            </a:avLst>
          </a:prstGeom>
          <a:solidFill>
            <a:schemeClr val="accent1"/>
          </a:solidFill>
          <a:ln w="12700">
            <a:solidFill>
              <a:schemeClr val="accent1"/>
            </a:solidFill>
            <a:prstDash val="solid"/>
          </a:ln>
        </p:spPr>
      </p:sp>
      <p:sp>
        <p:nvSpPr>
          <p:cNvPr id="9" name="Text 7"/>
          <p:cNvSpPr txBox="1"/>
          <p:nvPr/>
        </p:nvSpPr>
        <p:spPr>
          <a:xfrm>
            <a:off x="1828800" y="3712464"/>
            <a:ext cx="3566160" cy="914400"/>
          </a:xfrm>
          <a:prstGeom prst="rect">
            <a:avLst/>
          </a:prstGeom>
          <a:noFill/>
          <a:ln/>
        </p:spPr>
        <p:txBody>
          <a:bodyPr wrap="square" lIns="0" tIns="0" rIns="0" bIns="0" rtlCol="0" anchor="ctr"/>
          <a:lstStyle/>
          <a:p>
            <a:pPr algn="ctr" indent="0" marL="0">
              <a:buNone/>
            </a:pPr>
            <a:r>
              <a:rPr lang="en-US" sz="1800" b="1" dirty="0">
                <a:solidFill>
                  <a:schemeClr val="bg1"/>
                </a:solidFill>
              </a:rPr>
              <a:t>Núcleo · S/17.3 millones</a:t>
            </a:r>
            <a:endParaRPr lang="en-US" sz="1400" dirty="0"/>
          </a:p>
          <a:p>
            <a:pPr algn="ctr" indent="0" marL="0">
              <a:buNone/>
            </a:pPr>
            <a:r>
              <a:rPr lang="en-US" sz="1200" dirty="0">
                <a:solidFill>
                  <a:schemeClr val="bg1"/>
                </a:solidFill>
              </a:rPr>
              <a:t>46 mil hogares en Lima Top y Moderna</a:t>
            </a:r>
            <a:endParaRPr lang="en-US" sz="1400" dirty="0"/>
          </a:p>
        </p:txBody>
      </p:sp>
      <p:sp>
        <p:nvSpPr>
          <p:cNvPr id="10" name="Shape 8"/>
          <p:cNvSpPr/>
          <p:nvPr/>
        </p:nvSpPr>
        <p:spPr>
          <a:xfrm>
            <a:off x="2240280" y="4791456"/>
            <a:ext cx="2743200" cy="914400"/>
          </a:xfrm>
          <a:prstGeom prst="roundRect">
            <a:avLst>
              <a:gd name="adj" fmla="val 12000"/>
            </a:avLst>
          </a:prstGeom>
          <a:solidFill>
            <a:schemeClr val="tx2"/>
          </a:solidFill>
          <a:ln w="12700">
            <a:solidFill>
              <a:schemeClr val="tx2"/>
            </a:solidFill>
            <a:prstDash val="solid"/>
          </a:ln>
        </p:spPr>
      </p:sp>
      <p:sp>
        <p:nvSpPr>
          <p:cNvPr id="11" name="Text 9"/>
          <p:cNvSpPr txBox="1"/>
          <p:nvPr/>
        </p:nvSpPr>
        <p:spPr>
          <a:xfrm>
            <a:off x="2377440" y="4791456"/>
            <a:ext cx="2468880" cy="914400"/>
          </a:xfrm>
          <a:prstGeom prst="rect">
            <a:avLst/>
          </a:prstGeom>
          <a:noFill/>
          <a:ln/>
        </p:spPr>
        <p:txBody>
          <a:bodyPr wrap="square" lIns="0" tIns="0" rIns="0" bIns="0" rtlCol="0" anchor="ctr"/>
          <a:lstStyle/>
          <a:p>
            <a:pPr algn="ctr" indent="0" marL="0">
              <a:buNone/>
            </a:pPr>
            <a:r>
              <a:rPr lang="en-US" sz="1800" b="1" dirty="0">
                <a:solidFill>
                  <a:schemeClr val="bg1"/>
                </a:solidFill>
              </a:rPr>
              <a:t>Meta del año 1 · S/0.24 M</a:t>
            </a:r>
            <a:endParaRPr lang="en-US" sz="1400" dirty="0"/>
          </a:p>
          <a:p>
            <a:pPr algn="ctr" indent="0" marL="0">
              <a:buNone/>
            </a:pPr>
            <a:r>
              <a:rPr lang="en-US" sz="1200" dirty="0">
                <a:solidFill>
                  <a:schemeClr val="bg1"/>
                </a:solidFill>
              </a:rPr>
              <a:t>52,331 brownies · 1 a 3 puntos</a:t>
            </a:r>
            <a:endParaRPr lang="en-US" sz="1400" dirty="0"/>
          </a:p>
        </p:txBody>
      </p:sp>
      <p:sp>
        <p:nvSpPr>
          <p:cNvPr id="12" name="Shape 10"/>
          <p:cNvSpPr/>
          <p:nvPr/>
        </p:nvSpPr>
        <p:spPr>
          <a:xfrm>
            <a:off x="7086600" y="1554480"/>
            <a:ext cx="4553712" cy="1298448"/>
          </a:xfrm>
          <a:prstGeom prst="roundRect">
            <a:avLst>
              <a:gd name="adj" fmla="val 8451"/>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3" name="Text 11"/>
          <p:cNvSpPr txBox="1"/>
          <p:nvPr/>
        </p:nvSpPr>
        <p:spPr>
          <a:xfrm>
            <a:off x="7315200" y="1554480"/>
            <a:ext cx="1783080" cy="1298448"/>
          </a:xfrm>
          <a:prstGeom prst="rect">
            <a:avLst/>
          </a:prstGeom>
          <a:noFill/>
          <a:ln/>
        </p:spPr>
        <p:txBody>
          <a:bodyPr wrap="square" lIns="0" tIns="0" rIns="0" bIns="0" rtlCol="0" anchor="ctr"/>
          <a:lstStyle/>
          <a:p>
            <a:pPr indent="0" marL="0">
              <a:buNone/>
            </a:pPr>
            <a:r>
              <a:rPr lang="en-US" sz="3200" b="1" dirty="0">
                <a:solidFill>
                  <a:schemeClr val="accent1"/>
                </a:solidFill>
              </a:rPr>
              <a:t>53.1 %</a:t>
            </a:r>
            <a:endParaRPr lang="en-US" sz="3200" dirty="0"/>
          </a:p>
        </p:txBody>
      </p:sp>
      <p:sp>
        <p:nvSpPr>
          <p:cNvPr id="14" name="Text 12"/>
          <p:cNvSpPr txBox="1"/>
          <p:nvPr/>
        </p:nvSpPr>
        <p:spPr>
          <a:xfrm>
            <a:off x="9144000" y="1691640"/>
            <a:ext cx="2313432" cy="1024128"/>
          </a:xfrm>
          <a:prstGeom prst="rect">
            <a:avLst/>
          </a:prstGeom>
          <a:noFill/>
          <a:ln/>
        </p:spPr>
        <p:txBody>
          <a:bodyPr wrap="square" lIns="0" tIns="0" rIns="0" bIns="0" rtlCol="0" anchor="ctr"/>
          <a:lstStyle/>
          <a:p>
            <a:pPr indent="0" marL="0">
              <a:buNone/>
            </a:pPr>
            <a:r>
              <a:rPr lang="en-US" sz="1400" dirty="0">
                <a:solidFill>
                  <a:schemeClr val="tx1"/>
                </a:solidFill>
              </a:rPr>
              <a:t>de los nacimientos de Lima son de madres de 30 años o más</a:t>
            </a:r>
            <a:endParaRPr lang="en-US" sz="1400" dirty="0"/>
          </a:p>
          <a:p>
            <a:pPr indent="0" marL="0">
              <a:buNone/>
            </a:pPr>
            <a:r>
              <a:rPr lang="en-US" sz="1100" i="1" dirty="0">
                <a:solidFill>
                  <a:schemeClr val="accent2"/>
                </a:solidFill>
              </a:rPr>
              <a:t>INEI 2022</a:t>
            </a:r>
            <a:endParaRPr lang="en-US" sz="1400" dirty="0"/>
          </a:p>
        </p:txBody>
      </p:sp>
      <p:sp>
        <p:nvSpPr>
          <p:cNvPr id="15" name="Shape 13"/>
          <p:cNvSpPr/>
          <p:nvPr/>
        </p:nvSpPr>
        <p:spPr>
          <a:xfrm>
            <a:off x="7086600" y="3035808"/>
            <a:ext cx="4553712" cy="1298448"/>
          </a:xfrm>
          <a:prstGeom prst="roundRect">
            <a:avLst>
              <a:gd name="adj" fmla="val 8451"/>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6" name="Text 14"/>
          <p:cNvSpPr txBox="1"/>
          <p:nvPr/>
        </p:nvSpPr>
        <p:spPr>
          <a:xfrm>
            <a:off x="7315200" y="3035808"/>
            <a:ext cx="1783080" cy="1298448"/>
          </a:xfrm>
          <a:prstGeom prst="rect">
            <a:avLst/>
          </a:prstGeom>
          <a:noFill/>
          <a:ln/>
        </p:spPr>
        <p:txBody>
          <a:bodyPr wrap="square" lIns="0" tIns="0" rIns="0" bIns="0" rtlCol="0" anchor="ctr"/>
          <a:lstStyle/>
          <a:p>
            <a:pPr indent="0" marL="0">
              <a:buNone/>
            </a:pPr>
            <a:r>
              <a:rPr lang="en-US" sz="3200" b="1" dirty="0">
                <a:solidFill>
                  <a:schemeClr val="accent1"/>
                </a:solidFill>
              </a:rPr>
              <a:t>83 %</a:t>
            </a:r>
            <a:endParaRPr lang="en-US" sz="3200" dirty="0"/>
          </a:p>
        </p:txBody>
      </p:sp>
      <p:sp>
        <p:nvSpPr>
          <p:cNvPr id="17" name="Text 15"/>
          <p:cNvSpPr txBox="1"/>
          <p:nvPr/>
        </p:nvSpPr>
        <p:spPr>
          <a:xfrm>
            <a:off x="9144000" y="3172968"/>
            <a:ext cx="2313432" cy="1024128"/>
          </a:xfrm>
          <a:prstGeom prst="rect">
            <a:avLst/>
          </a:prstGeom>
          <a:noFill/>
          <a:ln/>
        </p:spPr>
        <p:txBody>
          <a:bodyPr wrap="square" lIns="0" tIns="0" rIns="0" bIns="0" rtlCol="0" anchor="ctr"/>
          <a:lstStyle/>
          <a:p>
            <a:pPr indent="0" marL="0">
              <a:buNone/>
            </a:pPr>
            <a:r>
              <a:rPr lang="en-US" sz="1400" dirty="0">
                <a:solidFill>
                  <a:schemeClr val="tx1"/>
                </a:solidFill>
              </a:rPr>
              <a:t>cambia su compra por los octógonos; 70 % teme el "Alto en azúcar"</a:t>
            </a:r>
            <a:endParaRPr lang="en-US" sz="1400" dirty="0"/>
          </a:p>
          <a:p>
            <a:pPr indent="0" marL="0">
              <a:buNone/>
            </a:pPr>
            <a:r>
              <a:rPr lang="en-US" sz="1100" i="1" dirty="0">
                <a:solidFill>
                  <a:schemeClr val="accent2"/>
                </a:solidFill>
              </a:rPr>
              <a:t>Ipsos 2025</a:t>
            </a:r>
            <a:endParaRPr lang="en-US" sz="1400" dirty="0"/>
          </a:p>
        </p:txBody>
      </p:sp>
      <p:sp>
        <p:nvSpPr>
          <p:cNvPr id="18" name="Shape 16"/>
          <p:cNvSpPr/>
          <p:nvPr/>
        </p:nvSpPr>
        <p:spPr>
          <a:xfrm>
            <a:off x="7086600" y="4517136"/>
            <a:ext cx="4553712" cy="1298448"/>
          </a:xfrm>
          <a:prstGeom prst="roundRect">
            <a:avLst>
              <a:gd name="adj" fmla="val 8451"/>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9" name="Text 17"/>
          <p:cNvSpPr txBox="1"/>
          <p:nvPr/>
        </p:nvSpPr>
        <p:spPr>
          <a:xfrm>
            <a:off x="7315200" y="4517136"/>
            <a:ext cx="1783080" cy="1298448"/>
          </a:xfrm>
          <a:prstGeom prst="rect">
            <a:avLst/>
          </a:prstGeom>
          <a:noFill/>
          <a:ln/>
        </p:spPr>
        <p:txBody>
          <a:bodyPr wrap="square" lIns="0" tIns="0" rIns="0" bIns="0" rtlCol="0" anchor="ctr"/>
          <a:lstStyle/>
          <a:p>
            <a:pPr indent="0" marL="0">
              <a:buNone/>
            </a:pPr>
            <a:r>
              <a:rPr lang="en-US" sz="3200" b="1" dirty="0">
                <a:solidFill>
                  <a:schemeClr val="accent1"/>
                </a:solidFill>
              </a:rPr>
              <a:t>S/1,709</a:t>
            </a:r>
            <a:endParaRPr lang="en-US" sz="3200" dirty="0"/>
          </a:p>
        </p:txBody>
      </p:sp>
      <p:sp>
        <p:nvSpPr>
          <p:cNvPr id="20" name="Text 18"/>
          <p:cNvSpPr txBox="1"/>
          <p:nvPr/>
        </p:nvSpPr>
        <p:spPr>
          <a:xfrm>
            <a:off x="9144000" y="4654296"/>
            <a:ext cx="2313432" cy="1024128"/>
          </a:xfrm>
          <a:prstGeom prst="rect">
            <a:avLst/>
          </a:prstGeom>
          <a:noFill/>
          <a:ln/>
        </p:spPr>
        <p:txBody>
          <a:bodyPr wrap="square" lIns="0" tIns="0" rIns="0" bIns="0" rtlCol="0" anchor="ctr"/>
          <a:lstStyle/>
          <a:p>
            <a:pPr indent="0" marL="0">
              <a:buNone/>
            </a:pPr>
            <a:r>
              <a:rPr lang="en-US" sz="1400" dirty="0">
                <a:solidFill>
                  <a:schemeClr val="tx1"/>
                </a:solidFill>
              </a:rPr>
              <a:t>gasta al mes un hogar A en educación y salud</a:t>
            </a:r>
            <a:endParaRPr lang="en-US" sz="1400" dirty="0"/>
          </a:p>
          <a:p>
            <a:pPr indent="0" marL="0">
              <a:buNone/>
            </a:pPr>
            <a:r>
              <a:rPr lang="en-US" sz="1100" i="1" dirty="0">
                <a:solidFill>
                  <a:schemeClr val="accent2"/>
                </a:solidFill>
              </a:rPr>
              <a:t>APEIM 2025</a:t>
            </a:r>
            <a:endParaRPr lang="en-US" sz="14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5 · CANAL DE DISTRIBUCIÓN</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El niño prueba en el stand y el padre compra ahí mismo</a:t>
            </a:r>
            <a:endParaRPr lang="en-US" sz="3400" dirty="0"/>
          </a:p>
        </p:txBody>
      </p:sp>
      <p:sp>
        <p:nvSpPr>
          <p:cNvPr id="4" name="Shape 2"/>
          <p:cNvSpPr/>
          <p:nvPr/>
        </p:nvSpPr>
        <p:spPr>
          <a:xfrm>
            <a:off x="1600200" y="2057400"/>
            <a:ext cx="1207008" cy="0"/>
          </a:xfrm>
          <a:prstGeom prst="line">
            <a:avLst/>
          </a:prstGeom>
          <a:noFill/>
          <a:ln w="25400">
            <a:solidFill>
              <a:schemeClr val="accent5"/>
            </a:solidFill>
            <a:prstDash val="dash"/>
            <a:tailEnd type="triangle"/>
          </a:ln>
        </p:spPr>
      </p:sp>
      <p:sp>
        <p:nvSpPr>
          <p:cNvPr id="5" name="Shape 3"/>
          <p:cNvSpPr/>
          <p:nvPr/>
        </p:nvSpPr>
        <p:spPr>
          <a:xfrm>
            <a:off x="548640" y="1600200"/>
            <a:ext cx="914400" cy="914400"/>
          </a:xfrm>
          <a:prstGeom prst="ellipse">
            <a:avLst/>
          </a:prstGeom>
          <a:solidFill>
            <a:schemeClr val="tx2"/>
          </a:solidFill>
          <a:ln w="12700">
            <a:solidFill>
              <a:schemeClr val="tx2"/>
            </a:solidFill>
            <a:prstDash val="solid"/>
          </a:ln>
        </p:spPr>
      </p:sp>
      <p:pic>
        <p:nvPicPr>
          <p:cNvPr id="6" name="Image 0" descr="preencoded.png">    </p:cNvPr>
          <p:cNvPicPr>
            <a:picLocks noChangeAspect="1"/>
          </p:cNvPicPr>
          <p:nvPr/>
        </p:nvPicPr>
        <p:blipFill>
          <a:blip r:embed="rId1"/>
          <a:stretch>
            <a:fillRect/>
          </a:stretch>
        </p:blipFill>
        <p:spPr>
          <a:xfrm>
            <a:off x="749808" y="1801368"/>
            <a:ext cx="512064" cy="512064"/>
          </a:xfrm>
          <a:prstGeom prst="rect">
            <a:avLst/>
          </a:prstGeom>
        </p:spPr>
      </p:pic>
      <p:sp>
        <p:nvSpPr>
          <p:cNvPr id="7" name="Text 4"/>
          <p:cNvSpPr txBox="1"/>
          <p:nvPr/>
        </p:nvSpPr>
        <p:spPr>
          <a:xfrm>
            <a:off x="548640" y="2697480"/>
            <a:ext cx="2075688" cy="365760"/>
          </a:xfrm>
          <a:prstGeom prst="rect">
            <a:avLst/>
          </a:prstGeom>
          <a:noFill/>
          <a:ln/>
        </p:spPr>
        <p:txBody>
          <a:bodyPr wrap="square" lIns="0" tIns="0" rIns="0" bIns="0" rtlCol="0" anchor="t"/>
          <a:lstStyle/>
          <a:p>
            <a:pPr indent="0" marL="0">
              <a:buNone/>
            </a:pPr>
            <a:r>
              <a:rPr lang="en-US" sz="1700" b="1" dirty="0">
                <a:solidFill>
                  <a:schemeClr val="tx2"/>
                </a:solidFill>
              </a:rPr>
              <a:t>1 · Información</a:t>
            </a:r>
            <a:endParaRPr lang="en-US" sz="1700" dirty="0"/>
          </a:p>
        </p:txBody>
      </p:sp>
      <p:sp>
        <p:nvSpPr>
          <p:cNvPr id="8" name="Text 5"/>
          <p:cNvSpPr txBox="1"/>
          <p:nvPr/>
        </p:nvSpPr>
        <p:spPr>
          <a:xfrm>
            <a:off x="548640" y="3108960"/>
            <a:ext cx="1984248" cy="1097280"/>
          </a:xfrm>
          <a:prstGeom prst="rect">
            <a:avLst/>
          </a:prstGeom>
          <a:noFill/>
          <a:ln/>
        </p:spPr>
        <p:txBody>
          <a:bodyPr wrap="square" lIns="0" tIns="0" rIns="0" bIns="0" rtlCol="0" anchor="t"/>
          <a:lstStyle/>
          <a:p>
            <a:pPr indent="0" marL="0">
              <a:buNone/>
            </a:pPr>
            <a:r>
              <a:rPr lang="en-US" sz="1400" dirty="0">
                <a:solidFill>
                  <a:schemeClr val="tx1"/>
                </a:solidFill>
              </a:rPr>
              <a:t>Stand en mall o súper, Instagram y chat del salón</a:t>
            </a:r>
            <a:endParaRPr lang="en-US" sz="1400" dirty="0"/>
          </a:p>
        </p:txBody>
      </p:sp>
      <p:sp>
        <p:nvSpPr>
          <p:cNvPr id="9" name="Shape 6"/>
          <p:cNvSpPr/>
          <p:nvPr/>
        </p:nvSpPr>
        <p:spPr>
          <a:xfrm>
            <a:off x="3858768" y="2057400"/>
            <a:ext cx="1207008" cy="0"/>
          </a:xfrm>
          <a:prstGeom prst="line">
            <a:avLst/>
          </a:prstGeom>
          <a:noFill/>
          <a:ln w="25400">
            <a:solidFill>
              <a:schemeClr val="accent5"/>
            </a:solidFill>
            <a:prstDash val="dash"/>
            <a:tailEnd type="triangle"/>
          </a:ln>
        </p:spPr>
      </p:sp>
      <p:sp>
        <p:nvSpPr>
          <p:cNvPr id="10" name="Shape 7"/>
          <p:cNvSpPr/>
          <p:nvPr/>
        </p:nvSpPr>
        <p:spPr>
          <a:xfrm>
            <a:off x="2807208" y="1600200"/>
            <a:ext cx="914400" cy="914400"/>
          </a:xfrm>
          <a:prstGeom prst="ellipse">
            <a:avLst/>
          </a:prstGeom>
          <a:solidFill>
            <a:schemeClr val="tx2"/>
          </a:solidFill>
          <a:ln w="12700">
            <a:solidFill>
              <a:schemeClr val="tx2"/>
            </a:solidFill>
            <a:prstDash val="solid"/>
          </a:ln>
        </p:spPr>
      </p:sp>
      <p:pic>
        <p:nvPicPr>
          <p:cNvPr id="11" name="Image 1" descr="preencoded.png">    </p:cNvPr>
          <p:cNvPicPr>
            <a:picLocks noChangeAspect="1"/>
          </p:cNvPicPr>
          <p:nvPr/>
        </p:nvPicPr>
        <p:blipFill>
          <a:blip r:embed="rId2"/>
          <a:stretch>
            <a:fillRect/>
          </a:stretch>
        </p:blipFill>
        <p:spPr>
          <a:xfrm>
            <a:off x="3008376" y="1801368"/>
            <a:ext cx="512064" cy="512064"/>
          </a:xfrm>
          <a:prstGeom prst="rect">
            <a:avLst/>
          </a:prstGeom>
        </p:spPr>
      </p:pic>
      <p:sp>
        <p:nvSpPr>
          <p:cNvPr id="12" name="Text 8"/>
          <p:cNvSpPr txBox="1"/>
          <p:nvPr/>
        </p:nvSpPr>
        <p:spPr>
          <a:xfrm>
            <a:off x="2807208" y="2697480"/>
            <a:ext cx="2075688" cy="365760"/>
          </a:xfrm>
          <a:prstGeom prst="rect">
            <a:avLst/>
          </a:prstGeom>
          <a:noFill/>
          <a:ln/>
        </p:spPr>
        <p:txBody>
          <a:bodyPr wrap="square" lIns="0" tIns="0" rIns="0" bIns="0" rtlCol="0" anchor="t"/>
          <a:lstStyle/>
          <a:p>
            <a:pPr indent="0" marL="0">
              <a:buNone/>
            </a:pPr>
            <a:r>
              <a:rPr lang="en-US" sz="1700" b="1" dirty="0">
                <a:solidFill>
                  <a:schemeClr val="tx2"/>
                </a:solidFill>
              </a:rPr>
              <a:t>2 · Evaluación</a:t>
            </a:r>
            <a:endParaRPr lang="en-US" sz="1700" dirty="0"/>
          </a:p>
        </p:txBody>
      </p:sp>
      <p:sp>
        <p:nvSpPr>
          <p:cNvPr id="13" name="Text 9"/>
          <p:cNvSpPr txBox="1"/>
          <p:nvPr/>
        </p:nvSpPr>
        <p:spPr>
          <a:xfrm>
            <a:off x="2807208" y="3108960"/>
            <a:ext cx="1984248" cy="1097280"/>
          </a:xfrm>
          <a:prstGeom prst="rect">
            <a:avLst/>
          </a:prstGeom>
          <a:noFill/>
          <a:ln/>
        </p:spPr>
        <p:txBody>
          <a:bodyPr wrap="square" lIns="0" tIns="0" rIns="0" bIns="0" rtlCol="0" anchor="t"/>
          <a:lstStyle/>
          <a:p>
            <a:pPr indent="0" marL="0">
              <a:buNone/>
            </a:pPr>
            <a:r>
              <a:rPr lang="en-US" sz="1400" dirty="0">
                <a:solidFill>
                  <a:schemeClr val="tx1"/>
                </a:solidFill>
              </a:rPr>
              <a:t>Degustación gratis: el niño prueba delante del padre</a:t>
            </a:r>
            <a:endParaRPr lang="en-US" sz="1400" dirty="0"/>
          </a:p>
        </p:txBody>
      </p:sp>
      <p:sp>
        <p:nvSpPr>
          <p:cNvPr id="14" name="Shape 10"/>
          <p:cNvSpPr/>
          <p:nvPr/>
        </p:nvSpPr>
        <p:spPr>
          <a:xfrm>
            <a:off x="6117336" y="2057400"/>
            <a:ext cx="1207008" cy="0"/>
          </a:xfrm>
          <a:prstGeom prst="line">
            <a:avLst/>
          </a:prstGeom>
          <a:noFill/>
          <a:ln w="25400">
            <a:solidFill>
              <a:schemeClr val="accent5"/>
            </a:solidFill>
            <a:prstDash val="dash"/>
            <a:tailEnd type="triangle"/>
          </a:ln>
        </p:spPr>
      </p:sp>
      <p:sp>
        <p:nvSpPr>
          <p:cNvPr id="15" name="Shape 11"/>
          <p:cNvSpPr/>
          <p:nvPr/>
        </p:nvSpPr>
        <p:spPr>
          <a:xfrm>
            <a:off x="5065776" y="1600200"/>
            <a:ext cx="914400" cy="914400"/>
          </a:xfrm>
          <a:prstGeom prst="ellipse">
            <a:avLst/>
          </a:prstGeom>
          <a:solidFill>
            <a:schemeClr val="accent1"/>
          </a:solidFill>
          <a:ln w="12700">
            <a:solidFill>
              <a:schemeClr val="accent1"/>
            </a:solidFill>
            <a:prstDash val="solid"/>
          </a:ln>
        </p:spPr>
      </p:sp>
      <p:pic>
        <p:nvPicPr>
          <p:cNvPr id="16" name="Image 2" descr="preencoded.png">    </p:cNvPr>
          <p:cNvPicPr>
            <a:picLocks noChangeAspect="1"/>
          </p:cNvPicPr>
          <p:nvPr/>
        </p:nvPicPr>
        <p:blipFill>
          <a:blip r:embed="rId3"/>
          <a:stretch>
            <a:fillRect/>
          </a:stretch>
        </p:blipFill>
        <p:spPr>
          <a:xfrm>
            <a:off x="5266944" y="1801368"/>
            <a:ext cx="512064" cy="512064"/>
          </a:xfrm>
          <a:prstGeom prst="rect">
            <a:avLst/>
          </a:prstGeom>
        </p:spPr>
      </p:pic>
      <p:sp>
        <p:nvSpPr>
          <p:cNvPr id="17" name="Text 12"/>
          <p:cNvSpPr txBox="1"/>
          <p:nvPr/>
        </p:nvSpPr>
        <p:spPr>
          <a:xfrm>
            <a:off x="5065776" y="2697480"/>
            <a:ext cx="2075688" cy="365760"/>
          </a:xfrm>
          <a:prstGeom prst="rect">
            <a:avLst/>
          </a:prstGeom>
          <a:noFill/>
          <a:ln/>
        </p:spPr>
        <p:txBody>
          <a:bodyPr wrap="square" lIns="0" tIns="0" rIns="0" bIns="0" rtlCol="0" anchor="t"/>
          <a:lstStyle/>
          <a:p>
            <a:pPr indent="0" marL="0">
              <a:buNone/>
            </a:pPr>
            <a:r>
              <a:rPr lang="en-US" sz="1700" b="1" dirty="0">
                <a:solidFill>
                  <a:schemeClr val="tx2"/>
                </a:solidFill>
              </a:rPr>
              <a:t>3 · Compra</a:t>
            </a:r>
            <a:endParaRPr lang="en-US" sz="1700" dirty="0"/>
          </a:p>
        </p:txBody>
      </p:sp>
      <p:sp>
        <p:nvSpPr>
          <p:cNvPr id="18" name="Text 13"/>
          <p:cNvSpPr txBox="1"/>
          <p:nvPr/>
        </p:nvSpPr>
        <p:spPr>
          <a:xfrm>
            <a:off x="5065776" y="3108960"/>
            <a:ext cx="1984248" cy="1097280"/>
          </a:xfrm>
          <a:prstGeom prst="rect">
            <a:avLst/>
          </a:prstGeom>
          <a:noFill/>
          <a:ln/>
        </p:spPr>
        <p:txBody>
          <a:bodyPr wrap="square" lIns="0" tIns="0" rIns="0" bIns="0" rtlCol="0" anchor="t"/>
          <a:lstStyle/>
          <a:p>
            <a:pPr indent="0" marL="0">
              <a:buNone/>
            </a:pPr>
            <a:r>
              <a:rPr lang="en-US" sz="1400" dirty="0">
                <a:solidFill>
                  <a:schemeClr val="tx1"/>
                </a:solidFill>
              </a:rPr>
              <a:t>Unidad S/6, caja de 3 S/16.50 o pack S/27.90, con Yape o tarjeta</a:t>
            </a:r>
            <a:endParaRPr lang="en-US" sz="1400" dirty="0"/>
          </a:p>
        </p:txBody>
      </p:sp>
      <p:sp>
        <p:nvSpPr>
          <p:cNvPr id="19" name="Shape 14"/>
          <p:cNvSpPr/>
          <p:nvPr/>
        </p:nvSpPr>
        <p:spPr>
          <a:xfrm>
            <a:off x="8375904" y="2057400"/>
            <a:ext cx="1207008" cy="0"/>
          </a:xfrm>
          <a:prstGeom prst="line">
            <a:avLst/>
          </a:prstGeom>
          <a:noFill/>
          <a:ln w="25400">
            <a:solidFill>
              <a:schemeClr val="accent5"/>
            </a:solidFill>
            <a:prstDash val="dash"/>
            <a:tailEnd type="triangle"/>
          </a:ln>
        </p:spPr>
      </p:sp>
      <p:sp>
        <p:nvSpPr>
          <p:cNvPr id="20" name="Shape 15"/>
          <p:cNvSpPr/>
          <p:nvPr/>
        </p:nvSpPr>
        <p:spPr>
          <a:xfrm>
            <a:off x="7324344" y="1600200"/>
            <a:ext cx="914400" cy="914400"/>
          </a:xfrm>
          <a:prstGeom prst="ellipse">
            <a:avLst/>
          </a:prstGeom>
          <a:solidFill>
            <a:schemeClr val="tx2"/>
          </a:solidFill>
          <a:ln w="12700">
            <a:solidFill>
              <a:schemeClr val="tx2"/>
            </a:solidFill>
            <a:prstDash val="solid"/>
          </a:ln>
        </p:spPr>
      </p:sp>
      <p:pic>
        <p:nvPicPr>
          <p:cNvPr id="21" name="Image 3" descr="preencoded.png">    </p:cNvPr>
          <p:cNvPicPr>
            <a:picLocks noChangeAspect="1"/>
          </p:cNvPicPr>
          <p:nvPr/>
        </p:nvPicPr>
        <p:blipFill>
          <a:blip r:embed="rId4"/>
          <a:stretch>
            <a:fillRect/>
          </a:stretch>
        </p:blipFill>
        <p:spPr>
          <a:xfrm>
            <a:off x="7525512" y="1801368"/>
            <a:ext cx="512064" cy="512064"/>
          </a:xfrm>
          <a:prstGeom prst="rect">
            <a:avLst/>
          </a:prstGeom>
        </p:spPr>
      </p:pic>
      <p:sp>
        <p:nvSpPr>
          <p:cNvPr id="22" name="Text 16"/>
          <p:cNvSpPr txBox="1"/>
          <p:nvPr/>
        </p:nvSpPr>
        <p:spPr>
          <a:xfrm>
            <a:off x="7324344" y="2697480"/>
            <a:ext cx="2075688" cy="365760"/>
          </a:xfrm>
          <a:prstGeom prst="rect">
            <a:avLst/>
          </a:prstGeom>
          <a:noFill/>
          <a:ln/>
        </p:spPr>
        <p:txBody>
          <a:bodyPr wrap="square" lIns="0" tIns="0" rIns="0" bIns="0" rtlCol="0" anchor="t"/>
          <a:lstStyle/>
          <a:p>
            <a:pPr indent="0" marL="0">
              <a:buNone/>
            </a:pPr>
            <a:r>
              <a:rPr lang="en-US" sz="1700" b="1" dirty="0">
                <a:solidFill>
                  <a:schemeClr val="tx2"/>
                </a:solidFill>
              </a:rPr>
              <a:t>4 · Entrega</a:t>
            </a:r>
            <a:endParaRPr lang="en-US" sz="1700" dirty="0"/>
          </a:p>
        </p:txBody>
      </p:sp>
      <p:sp>
        <p:nvSpPr>
          <p:cNvPr id="23" name="Text 17"/>
          <p:cNvSpPr txBox="1"/>
          <p:nvPr/>
        </p:nvSpPr>
        <p:spPr>
          <a:xfrm>
            <a:off x="7324344" y="3108960"/>
            <a:ext cx="1984248" cy="1097280"/>
          </a:xfrm>
          <a:prstGeom prst="rect">
            <a:avLst/>
          </a:prstGeom>
          <a:noFill/>
          <a:ln/>
        </p:spPr>
        <p:txBody>
          <a:bodyPr wrap="square" lIns="0" tIns="0" rIns="0" bIns="0" rtlCol="0" anchor="t"/>
          <a:lstStyle/>
          <a:p>
            <a:pPr indent="0" marL="0">
              <a:buNone/>
            </a:pPr>
            <a:r>
              <a:rPr lang="en-US" sz="1400" dirty="0">
                <a:solidFill>
                  <a:schemeClr val="tx1"/>
                </a:solidFill>
              </a:rPr>
              <a:t>En el momento; por WhatsApp, entrega 2 días por semana o recojo en el stand</a:t>
            </a:r>
            <a:endParaRPr lang="en-US" sz="1400" dirty="0"/>
          </a:p>
        </p:txBody>
      </p:sp>
      <p:sp>
        <p:nvSpPr>
          <p:cNvPr id="24" name="Shape 18"/>
          <p:cNvSpPr/>
          <p:nvPr/>
        </p:nvSpPr>
        <p:spPr>
          <a:xfrm>
            <a:off x="9582912" y="1600200"/>
            <a:ext cx="914400" cy="914400"/>
          </a:xfrm>
          <a:prstGeom prst="ellipse">
            <a:avLst/>
          </a:prstGeom>
          <a:solidFill>
            <a:schemeClr val="tx2"/>
          </a:solidFill>
          <a:ln w="12700">
            <a:solidFill>
              <a:schemeClr val="tx2"/>
            </a:solidFill>
            <a:prstDash val="solid"/>
          </a:ln>
        </p:spPr>
      </p:sp>
      <p:pic>
        <p:nvPicPr>
          <p:cNvPr id="25" name="Image 4" descr="preencoded.png">    </p:cNvPr>
          <p:cNvPicPr>
            <a:picLocks noChangeAspect="1"/>
          </p:cNvPicPr>
          <p:nvPr/>
        </p:nvPicPr>
        <p:blipFill>
          <a:blip r:embed="rId5"/>
          <a:stretch>
            <a:fillRect/>
          </a:stretch>
        </p:blipFill>
        <p:spPr>
          <a:xfrm>
            <a:off x="9784080" y="1801368"/>
            <a:ext cx="512064" cy="512064"/>
          </a:xfrm>
          <a:prstGeom prst="rect">
            <a:avLst/>
          </a:prstGeom>
        </p:spPr>
      </p:pic>
      <p:sp>
        <p:nvSpPr>
          <p:cNvPr id="26" name="Text 19"/>
          <p:cNvSpPr txBox="1"/>
          <p:nvPr/>
        </p:nvSpPr>
        <p:spPr>
          <a:xfrm>
            <a:off x="9582912" y="2697480"/>
            <a:ext cx="2075688" cy="365760"/>
          </a:xfrm>
          <a:prstGeom prst="rect">
            <a:avLst/>
          </a:prstGeom>
          <a:noFill/>
          <a:ln/>
        </p:spPr>
        <p:txBody>
          <a:bodyPr wrap="square" lIns="0" tIns="0" rIns="0" bIns="0" rtlCol="0" anchor="t"/>
          <a:lstStyle/>
          <a:p>
            <a:pPr indent="0" marL="0">
              <a:buNone/>
            </a:pPr>
            <a:r>
              <a:rPr lang="en-US" sz="1700" b="1" dirty="0">
                <a:solidFill>
                  <a:schemeClr val="tx2"/>
                </a:solidFill>
              </a:rPr>
              <a:t>5 · Posventa</a:t>
            </a:r>
            <a:endParaRPr lang="en-US" sz="1700" dirty="0"/>
          </a:p>
        </p:txBody>
      </p:sp>
      <p:sp>
        <p:nvSpPr>
          <p:cNvPr id="27" name="Text 20"/>
          <p:cNvSpPr txBox="1"/>
          <p:nvPr/>
        </p:nvSpPr>
        <p:spPr>
          <a:xfrm>
            <a:off x="9582912" y="3108960"/>
            <a:ext cx="1984248" cy="1097280"/>
          </a:xfrm>
          <a:prstGeom prst="rect">
            <a:avLst/>
          </a:prstGeom>
          <a:noFill/>
          <a:ln/>
        </p:spPr>
        <p:txBody>
          <a:bodyPr wrap="square" lIns="0" tIns="0" rIns="0" bIns="0" rtlCol="0" anchor="t"/>
          <a:lstStyle/>
          <a:p>
            <a:pPr indent="0" marL="0">
              <a:buNone/>
            </a:pPr>
            <a:r>
              <a:rPr lang="en-US" sz="1400" dirty="0">
                <a:solidFill>
                  <a:schemeClr val="tx1"/>
                </a:solidFill>
              </a:rPr>
              <a:t>App Andi: hierro del lote y aviso de recompra</a:t>
            </a:r>
            <a:endParaRPr lang="en-US" sz="1400" dirty="0"/>
          </a:p>
        </p:txBody>
      </p:sp>
      <p:sp>
        <p:nvSpPr>
          <p:cNvPr id="28" name="Shape 21"/>
          <p:cNvSpPr/>
          <p:nvPr/>
        </p:nvSpPr>
        <p:spPr>
          <a:xfrm>
            <a:off x="548640" y="3931920"/>
            <a:ext cx="6949440" cy="1508760"/>
          </a:xfrm>
          <a:prstGeom prst="roundRect">
            <a:avLst>
              <a:gd name="adj" fmla="val 7273"/>
            </a:avLst>
          </a:prstGeom>
          <a:solidFill>
            <a:schemeClr val="tx2"/>
          </a:solidFill>
          <a:ln w="12700">
            <a:solidFill>
              <a:schemeClr val="tx2"/>
            </a:solidFill>
            <a:prstDash val="solid"/>
          </a:ln>
        </p:spPr>
      </p:sp>
      <p:sp>
        <p:nvSpPr>
          <p:cNvPr id="29" name="Text 22"/>
          <p:cNvSpPr txBox="1"/>
          <p:nvPr/>
        </p:nvSpPr>
        <p:spPr>
          <a:xfrm>
            <a:off x="868680" y="4069080"/>
            <a:ext cx="6400800" cy="1280160"/>
          </a:xfrm>
          <a:prstGeom prst="rect">
            <a:avLst/>
          </a:prstGeom>
          <a:noFill/>
          <a:ln/>
        </p:spPr>
        <p:txBody>
          <a:bodyPr wrap="square" lIns="0" tIns="0" rIns="0" bIns="0" rtlCol="0" anchor="ctr"/>
          <a:lstStyle/>
          <a:p>
            <a:pPr indent="0" marL="0">
              <a:buNone/>
            </a:pPr>
            <a:r>
              <a:rPr lang="en-US" sz="2000" b="1" dirty="0">
                <a:solidFill>
                  <a:schemeClr val="accent3"/>
                </a:solidFill>
              </a:rPr>
              <a:t>Canal directo · 75.4 %</a:t>
            </a:r>
            <a:endParaRPr lang="en-US" sz="1400" dirty="0"/>
          </a:p>
          <a:p>
            <a:pPr indent="0" marL="0">
              <a:buNone/>
            </a:pPr>
            <a:r>
              <a:rPr lang="en-US" sz="1500" dirty="0">
                <a:solidFill>
                  <a:schemeClr val="bg1"/>
                </a:solidFill>
              </a:rPr>
              <a:t>Stands, carrito, ferias y WhatsApp: más esfuerzo, más control. El niño prueba y el padre decide.</a:t>
            </a:r>
            <a:endParaRPr lang="en-US" sz="1400" dirty="0"/>
          </a:p>
        </p:txBody>
      </p:sp>
      <p:sp>
        <p:nvSpPr>
          <p:cNvPr id="30" name="Shape 23"/>
          <p:cNvSpPr/>
          <p:nvPr/>
        </p:nvSpPr>
        <p:spPr>
          <a:xfrm>
            <a:off x="7726680" y="3931920"/>
            <a:ext cx="3913632" cy="1508760"/>
          </a:xfrm>
          <a:prstGeom prst="roundRect">
            <a:avLst>
              <a:gd name="adj" fmla="val 727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31" name="Text 24"/>
          <p:cNvSpPr txBox="1"/>
          <p:nvPr/>
        </p:nvSpPr>
        <p:spPr>
          <a:xfrm>
            <a:off x="7955280" y="4069080"/>
            <a:ext cx="3520440" cy="1280160"/>
          </a:xfrm>
          <a:prstGeom prst="rect">
            <a:avLst/>
          </a:prstGeom>
          <a:noFill/>
          <a:ln/>
        </p:spPr>
        <p:txBody>
          <a:bodyPr wrap="square" lIns="0" tIns="0" rIns="0" bIns="0" rtlCol="0" anchor="ctr"/>
          <a:lstStyle/>
          <a:p>
            <a:pPr indent="0" marL="0">
              <a:buNone/>
            </a:pPr>
            <a:r>
              <a:rPr lang="en-US" sz="2000" b="1" dirty="0">
                <a:solidFill>
                  <a:schemeClr val="tx2"/>
                </a:solidFill>
              </a:rPr>
              <a:t>Canal indirecto · 24.6 %</a:t>
            </a:r>
            <a:endParaRPr lang="en-US" sz="1400" dirty="0"/>
          </a:p>
          <a:p>
            <a:pPr indent="0" marL="0">
              <a:buNone/>
            </a:pPr>
            <a:r>
              <a:rPr lang="en-US" sz="1500" dirty="0">
                <a:solidFill>
                  <a:schemeClr val="tx1"/>
                </a:solidFill>
              </a:rPr>
              <a:t>Quioscos escolares y tiendas naturistas, que se quedan del 20 al 36 % del precio</a:t>
            </a:r>
            <a:endParaRPr lang="en-US" sz="14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5 · SELECCIÓN DEL CANAL</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Elegimos vender cara a cara: stands y carritos</a:t>
            </a:r>
            <a:endParaRPr lang="en-US" sz="3400" dirty="0"/>
          </a:p>
        </p:txBody>
      </p:sp>
      <p:graphicFrame>
        <p:nvGraphicFramePr>
          <p:cNvPr id="4" name="Chart 0" descr=""/>
          <p:cNvGraphicFramePr/>
          <p:nvPr/>
        </p:nvGraphicFramePr>
        <p:xfrm>
          <a:off x="365760" y="1463040"/>
          <a:ext cx="4846320" cy="4663440"/>
        </p:xfrm>
        <a:graphic xmlns:a="http://schemas.openxmlformats.org/drawingml/2006/main">
          <a:graphicData uri="http://schemas.openxmlformats.org/drawingml/2006/chart">
            <c:chart xmlns:c="http://schemas.openxmlformats.org/drawingml/2006/chart" r:id="rId1"/>
          </a:graphicData>
        </a:graphic>
      </p:graphicFrame>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0" y="1554480"/>
          <a:ext cx="6153912" cy="914400"/>
        </p:xfrm>
        <a:graphic>
          <a:graphicData uri="http://schemas.openxmlformats.org/drawingml/2006/table">
            <a:tbl>
              <a:tblPr/>
              <a:tblGrid>
                <a:gridCol w="2039112"/>
                <a:gridCol w="685800"/>
                <a:gridCol w="685800"/>
                <a:gridCol w="685800"/>
                <a:gridCol w="685800"/>
                <a:gridCol w="685800"/>
                <a:gridCol w="685800"/>
              </a:tblGrid>
              <a:tr h="411480">
                <a:tc>
                  <a:txBody>
                    <a:bodyPr/>
                    <a:lstStyle/>
                    <a:p>
                      <a:pPr indent="0" marL="0">
                        <a:buNone/>
                      </a:pPr>
                      <a:r>
                        <a:rPr lang="en-US" sz="1200" b="1" dirty="0">
                          <a:solidFill>
                            <a:schemeClr val="bg1"/>
                          </a:solidFill>
                        </a:rPr>
                        <a:t>Canal</a:t>
                      </a:r>
                      <a:endParaRPr lang="en-US" sz="12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Margen</a:t>
                      </a:r>
                      <a:endParaRPr lang="en-US" sz="12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Control</a:t>
                      </a:r>
                      <a:endParaRPr lang="en-US" sz="12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Entrada</a:t>
                      </a:r>
                      <a:endParaRPr lang="en-US" sz="12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Alcance</a:t>
                      </a:r>
                      <a:endParaRPr lang="en-US" sz="12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Prueba</a:t>
                      </a:r>
                      <a:endParaRPr lang="en-US" sz="12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Total</a:t>
                      </a:r>
                      <a:endParaRPr lang="en-US" sz="12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r>
              <a:tr h="411480">
                <a:tc>
                  <a:txBody>
                    <a:bodyPr/>
                    <a:lstStyle/>
                    <a:p>
                      <a:pPr indent="0" marL="0">
                        <a:buNone/>
                      </a:pPr>
                      <a:r>
                        <a:rPr lang="en-US" sz="1300" b="1" dirty="0">
                          <a:solidFill>
                            <a:schemeClr val="tx1"/>
                          </a:solidFill>
                        </a:rPr>
                        <a:t>Stands y carritos</a:t>
                      </a:r>
                      <a:endParaRPr lang="en-US" sz="13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6DCD5"/>
                    </a:solidFill>
                  </a:tcPr>
                </a:tc>
                <a:tc>
                  <a:txBody>
                    <a:bodyPr/>
                    <a:lstStyle/>
                    <a:p>
                      <a:pPr algn="ctr" indent="0" marL="0">
                        <a:buNone/>
                      </a:pPr>
                      <a:r>
                        <a:rPr lang="en-US" sz="1400" dirty="0">
                          <a:solidFill>
                            <a:schemeClr val="tx1"/>
                          </a:solidFill>
                        </a:rPr>
                        <a:t>5</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6DCD5"/>
                    </a:solidFill>
                  </a:tcPr>
                </a:tc>
                <a:tc>
                  <a:txBody>
                    <a:bodyPr/>
                    <a:lstStyle/>
                    <a:p>
                      <a:pPr algn="ctr" indent="0" marL="0">
                        <a:buNone/>
                      </a:pPr>
                      <a:r>
                        <a:rPr lang="en-US" sz="1400" dirty="0">
                          <a:solidFill>
                            <a:schemeClr val="tx1"/>
                          </a:solidFill>
                        </a:rPr>
                        <a:t>5</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6DCD5"/>
                    </a:solidFill>
                  </a:tcPr>
                </a:tc>
                <a:tc>
                  <a:txBody>
                    <a:bodyPr/>
                    <a:lstStyle/>
                    <a:p>
                      <a:pPr algn="ctr" indent="0" marL="0">
                        <a:buNone/>
                      </a:pPr>
                      <a:r>
                        <a:rPr lang="en-US" sz="1400" dirty="0">
                          <a:solidFill>
                            <a:schemeClr val="tx1"/>
                          </a:solidFill>
                        </a:rPr>
                        <a:t>3</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6DCD5"/>
                    </a:solidFill>
                  </a:tcPr>
                </a:tc>
                <a:tc>
                  <a:txBody>
                    <a:bodyPr/>
                    <a:lstStyle/>
                    <a:p>
                      <a:pPr algn="ctr" indent="0" marL="0">
                        <a:buNone/>
                      </a:pPr>
                      <a:r>
                        <a:rPr lang="en-US" sz="1400" dirty="0">
                          <a:solidFill>
                            <a:schemeClr val="tx1"/>
                          </a:solidFill>
                        </a:rPr>
                        <a:t>5</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6DCD5"/>
                    </a:solidFill>
                  </a:tcPr>
                </a:tc>
                <a:tc>
                  <a:txBody>
                    <a:bodyPr/>
                    <a:lstStyle/>
                    <a:p>
                      <a:pPr algn="ctr" indent="0" marL="0">
                        <a:buNone/>
                      </a:pPr>
                      <a:r>
                        <a:rPr lang="en-US" sz="1400" dirty="0">
                          <a:solidFill>
                            <a:schemeClr val="tx1"/>
                          </a:solidFill>
                        </a:rPr>
                        <a:t>5</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6DCD5"/>
                    </a:solidFill>
                  </a:tcPr>
                </a:tc>
                <a:tc>
                  <a:txBody>
                    <a:bodyPr/>
                    <a:lstStyle/>
                    <a:p>
                      <a:pPr algn="ctr" indent="0" marL="0">
                        <a:buNone/>
                      </a:pPr>
                      <a:r>
                        <a:rPr lang="en-US" sz="1500" b="1" dirty="0">
                          <a:solidFill>
                            <a:schemeClr val="accent1"/>
                          </a:solidFill>
                        </a:rPr>
                        <a:t>23</a:t>
                      </a:r>
                      <a:endParaRPr lang="en-US" sz="15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6DCD5"/>
                    </a:solidFill>
                  </a:tcPr>
                </a:tc>
              </a:tr>
              <a:tr h="411480">
                <a:tc>
                  <a:txBody>
                    <a:bodyPr/>
                    <a:lstStyle/>
                    <a:p>
                      <a:pPr indent="0" marL="0">
                        <a:buNone/>
                      </a:pPr>
                      <a:r>
                        <a:rPr lang="en-US" sz="1300" dirty="0">
                          <a:solidFill>
                            <a:schemeClr val="tx1"/>
                          </a:solidFill>
                        </a:rPr>
                        <a:t>Ferias y eventos</a:t>
                      </a:r>
                      <a:endParaRPr lang="en-US" sz="13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5</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4</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4</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5</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500" b="1" dirty="0">
                          <a:solidFill>
                            <a:schemeClr val="tx1"/>
                          </a:solidFill>
                        </a:rPr>
                        <a:t>21</a:t>
                      </a:r>
                      <a:endParaRPr lang="en-US" sz="15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11480">
                <a:tc>
                  <a:txBody>
                    <a:bodyPr/>
                    <a:lstStyle/>
                    <a:p>
                      <a:pPr indent="0" marL="0">
                        <a:buNone/>
                      </a:pPr>
                      <a:r>
                        <a:rPr lang="en-US" sz="1300" dirty="0">
                          <a:solidFill>
                            <a:schemeClr val="tx1"/>
                          </a:solidFill>
                        </a:rPr>
                        <a:t>WhatsApp (recompra)</a:t>
                      </a:r>
                      <a:endParaRPr lang="en-US" sz="13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5</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5</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1</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500" b="1" dirty="0">
                          <a:solidFill>
                            <a:schemeClr val="tx1"/>
                          </a:solidFill>
                        </a:rPr>
                        <a:t>17</a:t>
                      </a:r>
                      <a:endParaRPr lang="en-US" sz="15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11480">
                <a:tc>
                  <a:txBody>
                    <a:bodyPr/>
                    <a:lstStyle/>
                    <a:p>
                      <a:pPr indent="0" marL="0">
                        <a:buNone/>
                      </a:pPr>
                      <a:r>
                        <a:rPr lang="en-US" sz="1300" dirty="0">
                          <a:solidFill>
                            <a:schemeClr val="tx1"/>
                          </a:solidFill>
                        </a:rPr>
                        <a:t>Quioscos escolares</a:t>
                      </a:r>
                      <a:endParaRPr lang="en-US" sz="13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4</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4</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500" b="1" dirty="0">
                          <a:solidFill>
                            <a:schemeClr val="tx1"/>
                          </a:solidFill>
                        </a:rPr>
                        <a:t>17</a:t>
                      </a:r>
                      <a:endParaRPr lang="en-US" sz="15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11480">
                <a:tc>
                  <a:txBody>
                    <a:bodyPr/>
                    <a:lstStyle/>
                    <a:p>
                      <a:pPr indent="0" marL="0">
                        <a:buNone/>
                      </a:pPr>
                      <a:r>
                        <a:rPr lang="en-US" sz="1300" dirty="0">
                          <a:solidFill>
                            <a:schemeClr val="tx1"/>
                          </a:solidFill>
                        </a:rPr>
                        <a:t>Tiendas naturistas</a:t>
                      </a:r>
                      <a:endParaRPr lang="en-US" sz="13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2</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2</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4</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3</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2</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500" b="1" dirty="0">
                          <a:solidFill>
                            <a:schemeClr val="tx1"/>
                          </a:solidFill>
                        </a:rPr>
                        <a:t>13</a:t>
                      </a:r>
                      <a:endParaRPr lang="en-US" sz="15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11480">
                <a:tc>
                  <a:txBody>
                    <a:bodyPr/>
                    <a:lstStyle/>
                    <a:p>
                      <a:pPr indent="0" marL="0">
                        <a:buNone/>
                      </a:pPr>
                      <a:r>
                        <a:rPr lang="en-US" sz="1300" dirty="0">
                          <a:solidFill>
                            <a:schemeClr val="tx1"/>
                          </a:solidFill>
                        </a:rPr>
                        <a:t>Góndola de súper (año 2)</a:t>
                      </a:r>
                      <a:endParaRPr lang="en-US" sz="13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1</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1</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1</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4</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400" dirty="0">
                          <a:solidFill>
                            <a:schemeClr val="tx1"/>
                          </a:solidFill>
                        </a:rPr>
                        <a:t>1</a:t>
                      </a:r>
                      <a:endParaRPr lang="en-US" sz="14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500" b="1" dirty="0">
                          <a:solidFill>
                            <a:schemeClr val="tx1"/>
                          </a:solidFill>
                        </a:rPr>
                        <a:t>8</a:t>
                      </a:r>
                      <a:endParaRPr lang="en-US" sz="15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486400" y="4498848"/>
            <a:ext cx="6153912" cy="274320"/>
          </a:xfrm>
          <a:prstGeom prst="rect">
            <a:avLst/>
          </a:prstGeom>
          <a:noFill/>
          <a:ln/>
        </p:spPr>
        <p:txBody>
          <a:bodyPr wrap="square" lIns="0" tIns="0" rIns="0" bIns="0" rtlCol="0" anchor="t"/>
          <a:lstStyle/>
          <a:p>
            <a:pPr indent="0" marL="0">
              <a:buNone/>
            </a:pPr>
            <a:r>
              <a:rPr lang="en-US" sz="1100" i="1" dirty="0">
                <a:solidFill>
                  <a:schemeClr val="accent2"/>
                </a:solidFill>
              </a:rPr>
              <a:t>Puntaje del equipo, de 1 a 5. Prueba = el niño prueba delante del padre.</a:t>
            </a:r>
            <a:endParaRPr lang="en-US" sz="1100" dirty="0"/>
          </a:p>
        </p:txBody>
      </p:sp>
      <p:sp>
        <p:nvSpPr>
          <p:cNvPr id="7" name="Shape 3"/>
          <p:cNvSpPr/>
          <p:nvPr/>
        </p:nvSpPr>
        <p:spPr>
          <a:xfrm>
            <a:off x="5486400" y="4846320"/>
            <a:ext cx="6153912" cy="1280160"/>
          </a:xfrm>
          <a:prstGeom prst="roundRect">
            <a:avLst>
              <a:gd name="adj" fmla="val 8571"/>
            </a:avLst>
          </a:prstGeom>
          <a:solidFill>
            <a:schemeClr val="accent1"/>
          </a:solidFill>
          <a:ln w="12700">
            <a:solidFill>
              <a:schemeClr val="accent1"/>
            </a:solidFill>
            <a:prstDash val="solid"/>
          </a:ln>
          <a:effectLst>
            <a:outerShdw sx="100000" sy="100000" kx="0" ky="0" algn="bl" rotWithShape="0" blurRad="101600" dist="25400" dir="5400000">
              <a:srgbClr val="7A4A30">
                <a:alpha val="14000"/>
              </a:srgbClr>
            </a:outerShdw>
          </a:effectLst>
        </p:spPr>
      </p:sp>
      <p:sp>
        <p:nvSpPr>
          <p:cNvPr id="8" name="Text 4"/>
          <p:cNvSpPr txBox="1"/>
          <p:nvPr/>
        </p:nvSpPr>
        <p:spPr>
          <a:xfrm>
            <a:off x="5760720" y="4919472"/>
            <a:ext cx="5669280" cy="1143000"/>
          </a:xfrm>
          <a:prstGeom prst="rect">
            <a:avLst/>
          </a:prstGeom>
          <a:noFill/>
          <a:ln/>
        </p:spPr>
        <p:txBody>
          <a:bodyPr wrap="square" lIns="0" tIns="0" rIns="0" bIns="0" rtlCol="0" anchor="ctr"/>
          <a:lstStyle/>
          <a:p>
            <a:pPr indent="0" marL="0">
              <a:buNone/>
            </a:pPr>
            <a:r>
              <a:rPr lang="en-US" sz="2000" b="1" dirty="0">
                <a:solidFill>
                  <a:schemeClr val="bg1"/>
                </a:solidFill>
              </a:rPr>
              <a:t>23 de 25 puntos</a:t>
            </a:r>
            <a:endParaRPr lang="en-US" sz="1400" dirty="0"/>
          </a:p>
          <a:p>
            <a:pPr indent="0" marL="0">
              <a:buNone/>
            </a:pPr>
            <a:r>
              <a:rPr lang="en-US" sz="1400" dirty="0">
                <a:solidFill>
                  <a:schemeClr val="bg1"/>
                </a:solidFill>
              </a:rPr>
              <a:t>Stands para que el niño pruebe y el padre compre; ferias en la campaña escolar y el Día del Niño; WhatsApp para volver a comprar.</a:t>
            </a:r>
            <a:endParaRPr lang="en-US" sz="14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5 · PUNTOS DE VENTA</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Vamos donde está la familia: malls, súper, ferias y colegios</a:t>
            </a:r>
            <a:endParaRPr lang="en-US" sz="3400" dirty="0"/>
          </a:p>
        </p:txBody>
      </p:sp>
      <p:sp>
        <p:nvSpPr>
          <p:cNvPr id="4" name="Shape 2"/>
          <p:cNvSpPr/>
          <p:nvPr/>
        </p:nvSpPr>
        <p:spPr>
          <a:xfrm>
            <a:off x="548640" y="1554480"/>
            <a:ext cx="4480560" cy="1005840"/>
          </a:xfrm>
          <a:prstGeom prst="roundRect">
            <a:avLst>
              <a:gd name="adj" fmla="val 1090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5" name="Shape 3"/>
          <p:cNvSpPr/>
          <p:nvPr/>
        </p:nvSpPr>
        <p:spPr>
          <a:xfrm>
            <a:off x="731520" y="1737360"/>
            <a:ext cx="640080" cy="64008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872338" y="1878178"/>
            <a:ext cx="358445" cy="358445"/>
          </a:xfrm>
          <a:prstGeom prst="rect">
            <a:avLst/>
          </a:prstGeom>
        </p:spPr>
      </p:pic>
      <p:sp>
        <p:nvSpPr>
          <p:cNvPr id="7" name="Text 4"/>
          <p:cNvSpPr txBox="1"/>
          <p:nvPr/>
        </p:nvSpPr>
        <p:spPr>
          <a:xfrm>
            <a:off x="1554480" y="1554480"/>
            <a:ext cx="3337560" cy="1005840"/>
          </a:xfrm>
          <a:prstGeom prst="rect">
            <a:avLst/>
          </a:prstGeom>
          <a:noFill/>
          <a:ln/>
        </p:spPr>
        <p:txBody>
          <a:bodyPr wrap="square" lIns="0" tIns="0" rIns="0" bIns="0" rtlCol="0" anchor="ctr"/>
          <a:lstStyle/>
          <a:p>
            <a:pPr indent="0" marL="0">
              <a:buNone/>
            </a:pPr>
            <a:r>
              <a:rPr lang="en-US" sz="1600" b="1" dirty="0">
                <a:solidFill>
                  <a:schemeClr val="tx2"/>
                </a:solidFill>
              </a:rPr>
              <a:t>Malls para A y para B</a:t>
            </a:r>
            <a:endParaRPr lang="en-US" sz="1400" dirty="0"/>
          </a:p>
          <a:p>
            <a:pPr indent="0" marL="0">
              <a:buNone/>
            </a:pPr>
            <a:r>
              <a:rPr lang="en-US" sz="1300" dirty="0">
                <a:solidFill>
                  <a:schemeClr val="accent2"/>
                </a:solidFill>
              </a:rPr>
              <a:t>Jockey y La Rambla (A y B) · Real Plaza Salaverry y Open Plaza Angamos (B)</a:t>
            </a:r>
            <a:endParaRPr lang="en-US" sz="1400" dirty="0"/>
          </a:p>
        </p:txBody>
      </p:sp>
      <p:sp>
        <p:nvSpPr>
          <p:cNvPr id="8" name="Shape 5"/>
          <p:cNvSpPr/>
          <p:nvPr/>
        </p:nvSpPr>
        <p:spPr>
          <a:xfrm>
            <a:off x="548640" y="2697480"/>
            <a:ext cx="4480560" cy="1005840"/>
          </a:xfrm>
          <a:prstGeom prst="roundRect">
            <a:avLst>
              <a:gd name="adj" fmla="val 1090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9" name="Shape 6"/>
          <p:cNvSpPr/>
          <p:nvPr/>
        </p:nvSpPr>
        <p:spPr>
          <a:xfrm>
            <a:off x="731520" y="2880360"/>
            <a:ext cx="640080" cy="64008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872338" y="3021178"/>
            <a:ext cx="358445" cy="358445"/>
          </a:xfrm>
          <a:prstGeom prst="rect">
            <a:avLst/>
          </a:prstGeom>
        </p:spPr>
      </p:pic>
      <p:sp>
        <p:nvSpPr>
          <p:cNvPr id="11" name="Text 7"/>
          <p:cNvSpPr txBox="1"/>
          <p:nvPr/>
        </p:nvSpPr>
        <p:spPr>
          <a:xfrm>
            <a:off x="1554480" y="2697480"/>
            <a:ext cx="3337560" cy="1005840"/>
          </a:xfrm>
          <a:prstGeom prst="rect">
            <a:avLst/>
          </a:prstGeom>
          <a:noFill/>
          <a:ln/>
        </p:spPr>
        <p:txBody>
          <a:bodyPr wrap="square" lIns="0" tIns="0" rIns="0" bIns="0" rtlCol="0" anchor="ctr"/>
          <a:lstStyle/>
          <a:p>
            <a:pPr indent="0" marL="0">
              <a:buNone/>
            </a:pPr>
            <a:r>
              <a:rPr lang="en-US" sz="1600" b="1" dirty="0">
                <a:solidFill>
                  <a:schemeClr val="tx2"/>
                </a:solidFill>
              </a:rPr>
              <a:t>Supermercados</a:t>
            </a:r>
            <a:endParaRPr lang="en-US" sz="1400" dirty="0"/>
          </a:p>
          <a:p>
            <a:pPr indent="0" marL="0">
              <a:buNone/>
            </a:pPr>
            <a:r>
              <a:rPr lang="en-US" sz="1300" dirty="0">
                <a:solidFill>
                  <a:schemeClr val="accent2"/>
                </a:solidFill>
              </a:rPr>
              <a:t>Carrito en Wong o Vivanda (A) y en Plaza Vea (B), los fines de semana</a:t>
            </a:r>
            <a:endParaRPr lang="en-US" sz="1400" dirty="0"/>
          </a:p>
        </p:txBody>
      </p:sp>
      <p:sp>
        <p:nvSpPr>
          <p:cNvPr id="12" name="Shape 8"/>
          <p:cNvSpPr/>
          <p:nvPr/>
        </p:nvSpPr>
        <p:spPr>
          <a:xfrm>
            <a:off x="548640" y="3840480"/>
            <a:ext cx="4480560" cy="1005840"/>
          </a:xfrm>
          <a:prstGeom prst="roundRect">
            <a:avLst>
              <a:gd name="adj" fmla="val 1090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3" name="Shape 9"/>
          <p:cNvSpPr/>
          <p:nvPr/>
        </p:nvSpPr>
        <p:spPr>
          <a:xfrm>
            <a:off x="731520" y="4023360"/>
            <a:ext cx="640080" cy="640080"/>
          </a:xfrm>
          <a:prstGeom prst="ellipse">
            <a:avLst/>
          </a:prstGeom>
          <a:solidFill>
            <a:schemeClr val="tx2"/>
          </a:solidFill>
          <a:ln w="12700">
            <a:solidFill>
              <a:schemeClr val="tx2"/>
            </a:solidFill>
            <a:prstDash val="solid"/>
          </a:ln>
        </p:spPr>
      </p:sp>
      <p:pic>
        <p:nvPicPr>
          <p:cNvPr id="14" name="Image 2" descr="preencoded.png">    </p:cNvPr>
          <p:cNvPicPr>
            <a:picLocks noChangeAspect="1"/>
          </p:cNvPicPr>
          <p:nvPr/>
        </p:nvPicPr>
        <p:blipFill>
          <a:blip r:embed="rId3"/>
          <a:stretch>
            <a:fillRect/>
          </a:stretch>
        </p:blipFill>
        <p:spPr>
          <a:xfrm>
            <a:off x="872338" y="4164178"/>
            <a:ext cx="358445" cy="358445"/>
          </a:xfrm>
          <a:prstGeom prst="rect">
            <a:avLst/>
          </a:prstGeom>
        </p:spPr>
      </p:pic>
      <p:sp>
        <p:nvSpPr>
          <p:cNvPr id="15" name="Text 10"/>
          <p:cNvSpPr txBox="1"/>
          <p:nvPr/>
        </p:nvSpPr>
        <p:spPr>
          <a:xfrm>
            <a:off x="1554480" y="3840480"/>
            <a:ext cx="3337560" cy="1005840"/>
          </a:xfrm>
          <a:prstGeom prst="rect">
            <a:avLst/>
          </a:prstGeom>
          <a:noFill/>
          <a:ln/>
        </p:spPr>
        <p:txBody>
          <a:bodyPr wrap="square" lIns="0" tIns="0" rIns="0" bIns="0" rtlCol="0" anchor="ctr"/>
          <a:lstStyle/>
          <a:p>
            <a:pPr indent="0" marL="0">
              <a:buNone/>
            </a:pPr>
            <a:r>
              <a:rPr lang="en-US" sz="1600" b="1" dirty="0">
                <a:solidFill>
                  <a:schemeClr val="tx2"/>
                </a:solidFill>
              </a:rPr>
              <a:t>Ferias de temporada</a:t>
            </a:r>
            <a:endParaRPr lang="en-US" sz="1400" dirty="0"/>
          </a:p>
          <a:p>
            <a:pPr indent="0" marL="0">
              <a:buNone/>
            </a:pPr>
            <a:r>
              <a:rPr lang="en-US" sz="1300" dirty="0">
                <a:solidFill>
                  <a:schemeClr val="accent2"/>
                </a:solidFill>
              </a:rPr>
              <a:t>Campaña escolar (febrero) y Día del Niño (abril)</a:t>
            </a:r>
            <a:endParaRPr lang="en-US" sz="1400" dirty="0"/>
          </a:p>
        </p:txBody>
      </p:sp>
      <p:sp>
        <p:nvSpPr>
          <p:cNvPr id="16" name="Shape 11"/>
          <p:cNvSpPr/>
          <p:nvPr/>
        </p:nvSpPr>
        <p:spPr>
          <a:xfrm>
            <a:off x="548640" y="4983480"/>
            <a:ext cx="4480560" cy="1005840"/>
          </a:xfrm>
          <a:prstGeom prst="roundRect">
            <a:avLst>
              <a:gd name="adj" fmla="val 1090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7" name="Shape 12"/>
          <p:cNvSpPr/>
          <p:nvPr/>
        </p:nvSpPr>
        <p:spPr>
          <a:xfrm>
            <a:off x="731520" y="5166360"/>
            <a:ext cx="640080" cy="640080"/>
          </a:xfrm>
          <a:prstGeom prst="ellipse">
            <a:avLst/>
          </a:prstGeom>
          <a:solidFill>
            <a:schemeClr val="tx2"/>
          </a:solidFill>
          <a:ln w="12700">
            <a:solidFill>
              <a:schemeClr val="tx2"/>
            </a:solidFill>
            <a:prstDash val="solid"/>
          </a:ln>
        </p:spPr>
      </p:sp>
      <p:pic>
        <p:nvPicPr>
          <p:cNvPr id="18" name="Image 3" descr="preencoded.png">    </p:cNvPr>
          <p:cNvPicPr>
            <a:picLocks noChangeAspect="1"/>
          </p:cNvPicPr>
          <p:nvPr/>
        </p:nvPicPr>
        <p:blipFill>
          <a:blip r:embed="rId4"/>
          <a:stretch>
            <a:fillRect/>
          </a:stretch>
        </p:blipFill>
        <p:spPr>
          <a:xfrm>
            <a:off x="872338" y="5307178"/>
            <a:ext cx="358445" cy="358445"/>
          </a:xfrm>
          <a:prstGeom prst="rect">
            <a:avLst/>
          </a:prstGeom>
        </p:spPr>
      </p:pic>
      <p:sp>
        <p:nvSpPr>
          <p:cNvPr id="19" name="Text 13"/>
          <p:cNvSpPr txBox="1"/>
          <p:nvPr/>
        </p:nvSpPr>
        <p:spPr>
          <a:xfrm>
            <a:off x="1554480" y="4983480"/>
            <a:ext cx="3337560" cy="1005840"/>
          </a:xfrm>
          <a:prstGeom prst="rect">
            <a:avLst/>
          </a:prstGeom>
          <a:noFill/>
          <a:ln/>
        </p:spPr>
        <p:txBody>
          <a:bodyPr wrap="square" lIns="0" tIns="0" rIns="0" bIns="0" rtlCol="0" anchor="ctr"/>
          <a:lstStyle/>
          <a:p>
            <a:pPr indent="0" marL="0">
              <a:buNone/>
            </a:pPr>
            <a:r>
              <a:rPr lang="en-US" sz="1600" b="1" dirty="0">
                <a:solidFill>
                  <a:schemeClr val="tx2"/>
                </a:solidFill>
              </a:rPr>
              <a:t>Colegios de los dos segmentos</a:t>
            </a:r>
            <a:endParaRPr lang="en-US" sz="1400" dirty="0"/>
          </a:p>
          <a:p>
            <a:pPr indent="0" marL="0">
              <a:buNone/>
            </a:pPr>
            <a:r>
              <a:rPr lang="en-US" sz="1300" dirty="0">
                <a:solidFill>
                  <a:schemeClr val="accent2"/>
                </a:solidFill>
              </a:rPr>
              <a:t>Quioscos y kermeses en colegios de pensión alta (A) y en cadenas como Innova Schools (B)</a:t>
            </a:r>
            <a:endParaRPr lang="en-US" sz="1400" dirty="0"/>
          </a:p>
        </p:txBody>
      </p:sp>
      <p:graphicFrame>
        <p:nvGraphicFramePr>
          <p:cNvPr id="20" name="Chart 0" descr=""/>
          <p:cNvGraphicFramePr/>
          <p:nvPr/>
        </p:nvGraphicFramePr>
        <p:xfrm>
          <a:off x="5212080" y="1463040"/>
          <a:ext cx="6583680" cy="4663440"/>
        </p:xfrm>
        <a:graphic xmlns:a="http://schemas.openxmlformats.org/drawingml/2006/main">
          <a:graphicData uri="http://schemas.openxmlformats.org/drawingml/2006/chart">
            <c:chart xmlns:c="http://schemas.openxmlformats.org/drawingml/2006/chart" r:id="rId5"/>
          </a:graphicData>
        </a:graphic>
      </p:graphicFrame>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777240"/>
            <a:ext cx="3657600" cy="1737360"/>
          </a:xfrm>
          <a:prstGeom prst="rect">
            <a:avLst/>
          </a:prstGeom>
          <a:noFill/>
          <a:ln/>
        </p:spPr>
        <p:txBody>
          <a:bodyPr wrap="square" lIns="0" tIns="0" rIns="0" bIns="0" rtlCol="0" anchor="t"/>
          <a:lstStyle/>
          <a:p>
            <a:pPr indent="0" marL="0">
              <a:buNone/>
            </a:pPr>
            <a:r>
              <a:rPr lang="en-US" sz="12000" b="1" dirty="0">
                <a:solidFill>
                  <a:schemeClr val="accent1"/>
                </a:solidFill>
              </a:rPr>
              <a:t>06</a:t>
            </a:r>
            <a:endParaRPr lang="en-US" sz="12000" dirty="0"/>
          </a:p>
        </p:txBody>
      </p:sp>
      <p:sp>
        <p:nvSpPr>
          <p:cNvPr id="3" name="Text 0"/>
          <p:cNvSpPr/>
          <p:nvPr>
            <p:ph idx="100" type="title" hasCustomPrompt="1"/>
          </p:nvPr>
        </p:nvSpPr>
        <p:spPr>
          <a:xfrm>
            <a:off x="731520" y="2514600"/>
            <a:ext cx="6949440" cy="1417320"/>
          </a:xfrm>
          <a:prstGeom prst="rect">
            <a:avLst/>
          </a:prstGeom>
          <a:noFill/>
          <a:ln/>
        </p:spPr>
        <p:txBody>
          <a:bodyPr wrap="square" lIns="0" tIns="0" rIns="0" bIns="0" rtlCol="0" anchor="b"/>
          <a:lstStyle/>
          <a:p>
            <a:pPr algn="l" indent="0" marL="0">
              <a:buNone/>
            </a:pPr>
            <a:r>
              <a:rPr lang="en-US" sz="4400" b="1" dirty="0">
                <a:solidFill>
                  <a:schemeClr val="bg2"/>
                </a:solidFill>
              </a:rPr>
              <a:t>Relación con el cliente e ingresos</a:t>
            </a:r>
            <a:endParaRPr lang="en-US" sz="4400" dirty="0"/>
          </a:p>
        </p:txBody>
      </p:sp>
      <p:sp>
        <p:nvSpPr>
          <p:cNvPr id="4" name="Text 0"/>
          <p:cNvSpPr/>
          <p:nvPr>
            <p:ph idx="101" type="body" hasCustomPrompt="1"/>
          </p:nvPr>
        </p:nvSpPr>
        <p:spPr>
          <a:xfrm>
            <a:off x="731520" y="4069080"/>
            <a:ext cx="6949440" cy="1188720"/>
          </a:xfrm>
          <a:prstGeom prst="rect">
            <a:avLst/>
          </a:prstGeom>
          <a:noFill/>
          <a:ln/>
        </p:spPr>
        <p:txBody>
          <a:bodyPr wrap="square" lIns="0" tIns="0" rIns="0" bIns="0" rtlCol="0" anchor="t"/>
          <a:lstStyle/>
          <a:p>
            <a:pPr indent="0" marL="0">
              <a:buNone/>
            </a:pPr>
            <a:r>
              <a:rPr lang="en-US" sz="1800" dirty="0">
                <a:solidFill>
                  <a:schemeClr val="accent5"/>
                </a:solidFill>
              </a:rPr>
              <a:t>Tipos de relación · Captar, fidelizar y crecer · Fuentes de ingreso · Ventas del año 1</a:t>
            </a:r>
            <a:endParaRPr lang="en-US" sz="1800" dirty="0"/>
          </a:p>
        </p:txBody>
      </p:sp>
      <p:sp>
        <p:nvSpPr>
          <p:cNvPr id="5" name="Shape 3"/>
          <p:cNvSpPr/>
          <p:nvPr/>
        </p:nvSpPr>
        <p:spPr>
          <a:xfrm>
            <a:off x="8001000" y="1417320"/>
            <a:ext cx="3840480" cy="384048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9006840" y="2423160"/>
            <a:ext cx="1828800" cy="1828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6 · RELACIÓN CON EL CLIENTE</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Cara a cara en el stand, automática al recomprar</a:t>
            </a:r>
            <a:endParaRPr lang="en-US" sz="3400" dirty="0"/>
          </a:p>
        </p:txBody>
      </p:sp>
      <p:sp>
        <p:nvSpPr>
          <p:cNvPr id="4" name="Shape 2"/>
          <p:cNvSpPr/>
          <p:nvPr/>
        </p:nvSpPr>
        <p:spPr>
          <a:xfrm>
            <a:off x="548640" y="1554480"/>
            <a:ext cx="3566160" cy="2194560"/>
          </a:xfrm>
          <a:prstGeom prst="roundRect">
            <a:avLst>
              <a:gd name="adj" fmla="val 500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5" name="Shape 3"/>
          <p:cNvSpPr/>
          <p:nvPr/>
        </p:nvSpPr>
        <p:spPr>
          <a:xfrm>
            <a:off x="822960" y="1828800"/>
            <a:ext cx="685800" cy="68580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973836" y="1979676"/>
            <a:ext cx="384048" cy="384048"/>
          </a:xfrm>
          <a:prstGeom prst="rect">
            <a:avLst/>
          </a:prstGeom>
        </p:spPr>
      </p:pic>
      <p:sp>
        <p:nvSpPr>
          <p:cNvPr id="7" name="Text 4"/>
          <p:cNvSpPr txBox="1"/>
          <p:nvPr/>
        </p:nvSpPr>
        <p:spPr>
          <a:xfrm>
            <a:off x="1645920" y="1828800"/>
            <a:ext cx="2331720" cy="384048"/>
          </a:xfrm>
          <a:prstGeom prst="rect">
            <a:avLst/>
          </a:prstGeom>
          <a:noFill/>
          <a:ln/>
        </p:spPr>
        <p:txBody>
          <a:bodyPr wrap="square" lIns="0" tIns="0" rIns="0" bIns="0" rtlCol="0" anchor="t"/>
          <a:lstStyle/>
          <a:p>
            <a:pPr indent="0" marL="0">
              <a:buNone/>
            </a:pPr>
            <a:r>
              <a:rPr lang="en-US" sz="1700" b="1" dirty="0">
                <a:solidFill>
                  <a:schemeClr val="tx2"/>
                </a:solidFill>
              </a:rPr>
              <a:t>Asistencia personal</a:t>
            </a:r>
            <a:endParaRPr lang="en-US" sz="1700" dirty="0"/>
          </a:p>
        </p:txBody>
      </p:sp>
      <p:sp>
        <p:nvSpPr>
          <p:cNvPr id="8" name="Shape 5"/>
          <p:cNvSpPr/>
          <p:nvPr/>
        </p:nvSpPr>
        <p:spPr>
          <a:xfrm>
            <a:off x="1645920" y="2249424"/>
            <a:ext cx="868680" cy="256032"/>
          </a:xfrm>
          <a:prstGeom prst="roundRect">
            <a:avLst>
              <a:gd name="adj" fmla="val 50000"/>
            </a:avLst>
          </a:prstGeom>
          <a:solidFill>
            <a:schemeClr val="accent1"/>
          </a:solidFill>
          <a:ln w="9525">
            <a:solidFill>
              <a:schemeClr val="accent1"/>
            </a:solidFill>
            <a:prstDash val="solid"/>
          </a:ln>
        </p:spPr>
      </p:sp>
      <p:sp>
        <p:nvSpPr>
          <p:cNvPr id="9" name="Text 6"/>
          <p:cNvSpPr txBox="1"/>
          <p:nvPr/>
        </p:nvSpPr>
        <p:spPr>
          <a:xfrm>
            <a:off x="1645920" y="2249424"/>
            <a:ext cx="868680" cy="256032"/>
          </a:xfrm>
          <a:prstGeom prst="rect">
            <a:avLst/>
          </a:prstGeom>
          <a:noFill/>
          <a:ln/>
        </p:spPr>
        <p:txBody>
          <a:bodyPr wrap="square" lIns="0" tIns="0" rIns="0" bIns="0" rtlCol="0" anchor="ctr"/>
          <a:lstStyle/>
          <a:p>
            <a:pPr algn="ctr" indent="0" marL="0">
              <a:buNone/>
            </a:pPr>
            <a:r>
              <a:rPr lang="en-US" sz="1000" b="1" dirty="0">
                <a:solidFill>
                  <a:schemeClr val="bg1"/>
                </a:solidFill>
              </a:rPr>
              <a:t>FUERTE</a:t>
            </a:r>
            <a:endParaRPr lang="en-US" sz="1000" dirty="0"/>
          </a:p>
        </p:txBody>
      </p:sp>
      <p:sp>
        <p:nvSpPr>
          <p:cNvPr id="10" name="Text 7"/>
          <p:cNvSpPr txBox="1"/>
          <p:nvPr/>
        </p:nvSpPr>
        <p:spPr>
          <a:xfrm>
            <a:off x="822960" y="2743200"/>
            <a:ext cx="3017520" cy="868680"/>
          </a:xfrm>
          <a:prstGeom prst="rect">
            <a:avLst/>
          </a:prstGeom>
          <a:noFill/>
          <a:ln/>
        </p:spPr>
        <p:txBody>
          <a:bodyPr wrap="square" lIns="0" tIns="0" rIns="0" bIns="0" rtlCol="0" anchor="t"/>
          <a:lstStyle/>
          <a:p>
            <a:pPr indent="0" marL="0">
              <a:buNone/>
            </a:pPr>
            <a:r>
              <a:rPr lang="en-US" sz="1500" dirty="0">
                <a:solidFill>
                  <a:schemeClr val="tx1"/>
                </a:solidFill>
              </a:rPr>
              <a:t>En el stand el niño prueba y el padre compra, con el consejo de la vendedora</a:t>
            </a:r>
            <a:endParaRPr lang="en-US" sz="1500" dirty="0"/>
          </a:p>
        </p:txBody>
      </p:sp>
      <p:sp>
        <p:nvSpPr>
          <p:cNvPr id="11" name="Shape 8"/>
          <p:cNvSpPr/>
          <p:nvPr/>
        </p:nvSpPr>
        <p:spPr>
          <a:xfrm>
            <a:off x="4311396" y="1554480"/>
            <a:ext cx="3566160" cy="2194560"/>
          </a:xfrm>
          <a:prstGeom prst="roundRect">
            <a:avLst>
              <a:gd name="adj" fmla="val 500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2" name="Shape 9"/>
          <p:cNvSpPr/>
          <p:nvPr/>
        </p:nvSpPr>
        <p:spPr>
          <a:xfrm>
            <a:off x="4585716" y="1828800"/>
            <a:ext cx="685800" cy="685800"/>
          </a:xfrm>
          <a:prstGeom prst="ellipse">
            <a:avLst/>
          </a:prstGeom>
          <a:solidFill>
            <a:schemeClr val="accent5"/>
          </a:solidFill>
          <a:ln w="12700">
            <a:solidFill>
              <a:schemeClr val="accent5"/>
            </a:solidFill>
            <a:prstDash val="solid"/>
          </a:ln>
        </p:spPr>
      </p:sp>
      <p:pic>
        <p:nvPicPr>
          <p:cNvPr id="13" name="Image 1" descr="preencoded.png">    </p:cNvPr>
          <p:cNvPicPr>
            <a:picLocks noChangeAspect="1"/>
          </p:cNvPicPr>
          <p:nvPr/>
        </p:nvPicPr>
        <p:blipFill>
          <a:blip r:embed="rId2"/>
          <a:stretch>
            <a:fillRect/>
          </a:stretch>
        </p:blipFill>
        <p:spPr>
          <a:xfrm>
            <a:off x="4736592" y="1979676"/>
            <a:ext cx="384048" cy="384048"/>
          </a:xfrm>
          <a:prstGeom prst="rect">
            <a:avLst/>
          </a:prstGeom>
        </p:spPr>
      </p:pic>
      <p:sp>
        <p:nvSpPr>
          <p:cNvPr id="14" name="Text 10"/>
          <p:cNvSpPr txBox="1"/>
          <p:nvPr/>
        </p:nvSpPr>
        <p:spPr>
          <a:xfrm>
            <a:off x="5408676" y="1828800"/>
            <a:ext cx="2331720" cy="384048"/>
          </a:xfrm>
          <a:prstGeom prst="rect">
            <a:avLst/>
          </a:prstGeom>
          <a:noFill/>
          <a:ln/>
        </p:spPr>
        <p:txBody>
          <a:bodyPr wrap="square" lIns="0" tIns="0" rIns="0" bIns="0" rtlCol="0" anchor="t"/>
          <a:lstStyle/>
          <a:p>
            <a:pPr indent="0" marL="0">
              <a:buNone/>
            </a:pPr>
            <a:r>
              <a:rPr lang="en-US" sz="1700" b="1" dirty="0">
                <a:solidFill>
                  <a:schemeClr val="tx2"/>
                </a:solidFill>
              </a:rPr>
              <a:t>Asistencia exclusiva</a:t>
            </a:r>
            <a:endParaRPr lang="en-US" sz="1700" dirty="0"/>
          </a:p>
        </p:txBody>
      </p:sp>
      <p:sp>
        <p:nvSpPr>
          <p:cNvPr id="15" name="Shape 11"/>
          <p:cNvSpPr/>
          <p:nvPr/>
        </p:nvSpPr>
        <p:spPr>
          <a:xfrm>
            <a:off x="5408676" y="2249424"/>
            <a:ext cx="868680" cy="256032"/>
          </a:xfrm>
          <a:prstGeom prst="roundRect">
            <a:avLst>
              <a:gd name="adj" fmla="val 50000"/>
            </a:avLst>
          </a:prstGeom>
          <a:solidFill>
            <a:schemeClr val="bg2"/>
          </a:solidFill>
          <a:ln w="9525">
            <a:solidFill>
              <a:schemeClr val="accent5"/>
            </a:solidFill>
            <a:prstDash val="solid"/>
          </a:ln>
        </p:spPr>
      </p:sp>
      <p:sp>
        <p:nvSpPr>
          <p:cNvPr id="16" name="Text 12"/>
          <p:cNvSpPr txBox="1"/>
          <p:nvPr/>
        </p:nvSpPr>
        <p:spPr>
          <a:xfrm>
            <a:off x="5408676" y="2249424"/>
            <a:ext cx="868680" cy="256032"/>
          </a:xfrm>
          <a:prstGeom prst="rect">
            <a:avLst/>
          </a:prstGeom>
          <a:noFill/>
          <a:ln/>
        </p:spPr>
        <p:txBody>
          <a:bodyPr wrap="square" lIns="0" tIns="0" rIns="0" bIns="0" rtlCol="0" anchor="ctr"/>
          <a:lstStyle/>
          <a:p>
            <a:pPr algn="ctr" indent="0" marL="0">
              <a:buNone/>
            </a:pPr>
            <a:r>
              <a:rPr lang="en-US" sz="1000" b="1" dirty="0">
                <a:solidFill>
                  <a:schemeClr val="accent2"/>
                </a:solidFill>
              </a:rPr>
              <a:t>APOYO</a:t>
            </a:r>
            <a:endParaRPr lang="en-US" sz="1000" dirty="0"/>
          </a:p>
        </p:txBody>
      </p:sp>
      <p:sp>
        <p:nvSpPr>
          <p:cNvPr id="17" name="Text 13"/>
          <p:cNvSpPr txBox="1"/>
          <p:nvPr/>
        </p:nvSpPr>
        <p:spPr>
          <a:xfrm>
            <a:off x="4585716" y="2743200"/>
            <a:ext cx="3017520" cy="868680"/>
          </a:xfrm>
          <a:prstGeom prst="rect">
            <a:avLst/>
          </a:prstGeom>
          <a:noFill/>
          <a:ln/>
        </p:spPr>
        <p:txBody>
          <a:bodyPr wrap="square" lIns="0" tIns="0" rIns="0" bIns="0" rtlCol="0" anchor="t"/>
          <a:lstStyle/>
          <a:p>
            <a:pPr indent="0" marL="0">
              <a:buNone/>
            </a:pPr>
            <a:r>
              <a:rPr lang="en-US" sz="1500" dirty="0">
                <a:solidFill>
                  <a:schemeClr val="tx1"/>
                </a:solidFill>
              </a:rPr>
              <a:t>La coordinadora atiende a cada colegio y a cada naturista</a:t>
            </a:r>
            <a:endParaRPr lang="en-US" sz="1500" dirty="0"/>
          </a:p>
        </p:txBody>
      </p:sp>
      <p:sp>
        <p:nvSpPr>
          <p:cNvPr id="18" name="Shape 14"/>
          <p:cNvSpPr/>
          <p:nvPr/>
        </p:nvSpPr>
        <p:spPr>
          <a:xfrm>
            <a:off x="8074152" y="1554480"/>
            <a:ext cx="3566160" cy="2194560"/>
          </a:xfrm>
          <a:prstGeom prst="roundRect">
            <a:avLst>
              <a:gd name="adj" fmla="val 500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9" name="Shape 15"/>
          <p:cNvSpPr/>
          <p:nvPr/>
        </p:nvSpPr>
        <p:spPr>
          <a:xfrm>
            <a:off x="8348472" y="1828800"/>
            <a:ext cx="685800" cy="685800"/>
          </a:xfrm>
          <a:prstGeom prst="ellipse">
            <a:avLst/>
          </a:prstGeom>
          <a:solidFill>
            <a:schemeClr val="accent1"/>
          </a:solidFill>
          <a:ln w="12700">
            <a:solidFill>
              <a:schemeClr val="accent1"/>
            </a:solidFill>
            <a:prstDash val="solid"/>
          </a:ln>
        </p:spPr>
      </p:sp>
      <p:pic>
        <p:nvPicPr>
          <p:cNvPr id="20" name="Image 2" descr="preencoded.png">    </p:cNvPr>
          <p:cNvPicPr>
            <a:picLocks noChangeAspect="1"/>
          </p:cNvPicPr>
          <p:nvPr/>
        </p:nvPicPr>
        <p:blipFill>
          <a:blip r:embed="rId3"/>
          <a:stretch>
            <a:fillRect/>
          </a:stretch>
        </p:blipFill>
        <p:spPr>
          <a:xfrm>
            <a:off x="8499348" y="1979676"/>
            <a:ext cx="384048" cy="384048"/>
          </a:xfrm>
          <a:prstGeom prst="rect">
            <a:avLst/>
          </a:prstGeom>
        </p:spPr>
      </p:pic>
      <p:sp>
        <p:nvSpPr>
          <p:cNvPr id="21" name="Text 16"/>
          <p:cNvSpPr txBox="1"/>
          <p:nvPr/>
        </p:nvSpPr>
        <p:spPr>
          <a:xfrm>
            <a:off x="9171432" y="1828800"/>
            <a:ext cx="2331720" cy="384048"/>
          </a:xfrm>
          <a:prstGeom prst="rect">
            <a:avLst/>
          </a:prstGeom>
          <a:noFill/>
          <a:ln/>
        </p:spPr>
        <p:txBody>
          <a:bodyPr wrap="square" lIns="0" tIns="0" rIns="0" bIns="0" rtlCol="0" anchor="t"/>
          <a:lstStyle/>
          <a:p>
            <a:pPr indent="0" marL="0">
              <a:buNone/>
            </a:pPr>
            <a:r>
              <a:rPr lang="en-US" sz="1700" b="1" dirty="0">
                <a:solidFill>
                  <a:schemeClr val="tx2"/>
                </a:solidFill>
              </a:rPr>
              <a:t>Autoservicio</a:t>
            </a:r>
            <a:endParaRPr lang="en-US" sz="1700" dirty="0"/>
          </a:p>
        </p:txBody>
      </p:sp>
      <p:sp>
        <p:nvSpPr>
          <p:cNvPr id="22" name="Shape 17"/>
          <p:cNvSpPr/>
          <p:nvPr/>
        </p:nvSpPr>
        <p:spPr>
          <a:xfrm>
            <a:off x="9171432" y="2249424"/>
            <a:ext cx="868680" cy="256032"/>
          </a:xfrm>
          <a:prstGeom prst="roundRect">
            <a:avLst>
              <a:gd name="adj" fmla="val 50000"/>
            </a:avLst>
          </a:prstGeom>
          <a:solidFill>
            <a:schemeClr val="accent1"/>
          </a:solidFill>
          <a:ln w="9525">
            <a:solidFill>
              <a:schemeClr val="accent1"/>
            </a:solidFill>
            <a:prstDash val="solid"/>
          </a:ln>
        </p:spPr>
      </p:sp>
      <p:sp>
        <p:nvSpPr>
          <p:cNvPr id="23" name="Text 18"/>
          <p:cNvSpPr txBox="1"/>
          <p:nvPr/>
        </p:nvSpPr>
        <p:spPr>
          <a:xfrm>
            <a:off x="9171432" y="2249424"/>
            <a:ext cx="868680" cy="256032"/>
          </a:xfrm>
          <a:prstGeom prst="rect">
            <a:avLst/>
          </a:prstGeom>
          <a:noFill/>
          <a:ln/>
        </p:spPr>
        <p:txBody>
          <a:bodyPr wrap="square" lIns="0" tIns="0" rIns="0" bIns="0" rtlCol="0" anchor="ctr"/>
          <a:lstStyle/>
          <a:p>
            <a:pPr algn="ctr" indent="0" marL="0">
              <a:buNone/>
            </a:pPr>
            <a:r>
              <a:rPr lang="en-US" sz="1000" b="1" dirty="0">
                <a:solidFill>
                  <a:schemeClr val="bg1"/>
                </a:solidFill>
              </a:rPr>
              <a:t>FUERTE</a:t>
            </a:r>
            <a:endParaRPr lang="en-US" sz="1000" dirty="0"/>
          </a:p>
        </p:txBody>
      </p:sp>
      <p:sp>
        <p:nvSpPr>
          <p:cNvPr id="24" name="Text 19"/>
          <p:cNvSpPr txBox="1"/>
          <p:nvPr/>
        </p:nvSpPr>
        <p:spPr>
          <a:xfrm>
            <a:off x="8348472" y="2743200"/>
            <a:ext cx="3017520" cy="868680"/>
          </a:xfrm>
          <a:prstGeom prst="rect">
            <a:avLst/>
          </a:prstGeom>
          <a:noFill/>
          <a:ln/>
        </p:spPr>
        <p:txBody>
          <a:bodyPr wrap="square" lIns="0" tIns="0" rIns="0" bIns="0" rtlCol="0" anchor="t"/>
          <a:lstStyle/>
          <a:p>
            <a:pPr indent="0" marL="0">
              <a:buNone/>
            </a:pPr>
            <a:r>
              <a:rPr lang="en-US" sz="1500" dirty="0">
                <a:solidFill>
                  <a:schemeClr val="tx1"/>
                </a:solidFill>
              </a:rPr>
              <a:t>App Andi: hierro del lote, loncheras y pedido en un clic</a:t>
            </a:r>
            <a:endParaRPr lang="en-US" sz="1500" dirty="0"/>
          </a:p>
        </p:txBody>
      </p:sp>
      <p:sp>
        <p:nvSpPr>
          <p:cNvPr id="25" name="Shape 20"/>
          <p:cNvSpPr/>
          <p:nvPr/>
        </p:nvSpPr>
        <p:spPr>
          <a:xfrm>
            <a:off x="548640" y="3950208"/>
            <a:ext cx="3566160" cy="2194560"/>
          </a:xfrm>
          <a:prstGeom prst="roundRect">
            <a:avLst>
              <a:gd name="adj" fmla="val 500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6" name="Shape 21"/>
          <p:cNvSpPr/>
          <p:nvPr/>
        </p:nvSpPr>
        <p:spPr>
          <a:xfrm>
            <a:off x="822960" y="4224528"/>
            <a:ext cx="685800" cy="685800"/>
          </a:xfrm>
          <a:prstGeom prst="ellipse">
            <a:avLst/>
          </a:prstGeom>
          <a:solidFill>
            <a:schemeClr val="accent1"/>
          </a:solidFill>
          <a:ln w="12700">
            <a:solidFill>
              <a:schemeClr val="accent1"/>
            </a:solidFill>
            <a:prstDash val="solid"/>
          </a:ln>
        </p:spPr>
      </p:sp>
      <p:pic>
        <p:nvPicPr>
          <p:cNvPr id="27" name="Image 3" descr="preencoded.png">    </p:cNvPr>
          <p:cNvPicPr>
            <a:picLocks noChangeAspect="1"/>
          </p:cNvPicPr>
          <p:nvPr/>
        </p:nvPicPr>
        <p:blipFill>
          <a:blip r:embed="rId4"/>
          <a:stretch>
            <a:fillRect/>
          </a:stretch>
        </p:blipFill>
        <p:spPr>
          <a:xfrm>
            <a:off x="973836" y="4375404"/>
            <a:ext cx="384048" cy="384048"/>
          </a:xfrm>
          <a:prstGeom prst="rect">
            <a:avLst/>
          </a:prstGeom>
        </p:spPr>
      </p:pic>
      <p:sp>
        <p:nvSpPr>
          <p:cNvPr id="28" name="Text 22"/>
          <p:cNvSpPr txBox="1"/>
          <p:nvPr/>
        </p:nvSpPr>
        <p:spPr>
          <a:xfrm>
            <a:off x="1645920" y="4224528"/>
            <a:ext cx="2331720" cy="384048"/>
          </a:xfrm>
          <a:prstGeom prst="rect">
            <a:avLst/>
          </a:prstGeom>
          <a:noFill/>
          <a:ln/>
        </p:spPr>
        <p:txBody>
          <a:bodyPr wrap="square" lIns="0" tIns="0" rIns="0" bIns="0" rtlCol="0" anchor="t"/>
          <a:lstStyle/>
          <a:p>
            <a:pPr indent="0" marL="0">
              <a:buNone/>
            </a:pPr>
            <a:r>
              <a:rPr lang="en-US" sz="1700" b="1" dirty="0">
                <a:solidFill>
                  <a:schemeClr val="tx2"/>
                </a:solidFill>
              </a:rPr>
              <a:t>Servicio automático</a:t>
            </a:r>
            <a:endParaRPr lang="en-US" sz="1700" dirty="0"/>
          </a:p>
        </p:txBody>
      </p:sp>
      <p:sp>
        <p:nvSpPr>
          <p:cNvPr id="29" name="Shape 23"/>
          <p:cNvSpPr/>
          <p:nvPr/>
        </p:nvSpPr>
        <p:spPr>
          <a:xfrm>
            <a:off x="1645920" y="4645152"/>
            <a:ext cx="868680" cy="256032"/>
          </a:xfrm>
          <a:prstGeom prst="roundRect">
            <a:avLst>
              <a:gd name="adj" fmla="val 50000"/>
            </a:avLst>
          </a:prstGeom>
          <a:solidFill>
            <a:schemeClr val="accent1"/>
          </a:solidFill>
          <a:ln w="9525">
            <a:solidFill>
              <a:schemeClr val="accent1"/>
            </a:solidFill>
            <a:prstDash val="solid"/>
          </a:ln>
        </p:spPr>
      </p:sp>
      <p:sp>
        <p:nvSpPr>
          <p:cNvPr id="30" name="Text 24"/>
          <p:cNvSpPr txBox="1"/>
          <p:nvPr/>
        </p:nvSpPr>
        <p:spPr>
          <a:xfrm>
            <a:off x="1645920" y="4645152"/>
            <a:ext cx="868680" cy="256032"/>
          </a:xfrm>
          <a:prstGeom prst="rect">
            <a:avLst/>
          </a:prstGeom>
          <a:noFill/>
          <a:ln/>
        </p:spPr>
        <p:txBody>
          <a:bodyPr wrap="square" lIns="0" tIns="0" rIns="0" bIns="0" rtlCol="0" anchor="ctr"/>
          <a:lstStyle/>
          <a:p>
            <a:pPr algn="ctr" indent="0" marL="0">
              <a:buNone/>
            </a:pPr>
            <a:r>
              <a:rPr lang="en-US" sz="1000" b="1" dirty="0">
                <a:solidFill>
                  <a:schemeClr val="bg1"/>
                </a:solidFill>
              </a:rPr>
              <a:t>FUERTE</a:t>
            </a:r>
            <a:endParaRPr lang="en-US" sz="1000" dirty="0"/>
          </a:p>
        </p:txBody>
      </p:sp>
      <p:sp>
        <p:nvSpPr>
          <p:cNvPr id="31" name="Text 25"/>
          <p:cNvSpPr txBox="1"/>
          <p:nvPr/>
        </p:nvSpPr>
        <p:spPr>
          <a:xfrm>
            <a:off x="822960" y="5138928"/>
            <a:ext cx="3017520" cy="868680"/>
          </a:xfrm>
          <a:prstGeom prst="rect">
            <a:avLst/>
          </a:prstGeom>
          <a:noFill/>
          <a:ln/>
        </p:spPr>
        <p:txBody>
          <a:bodyPr wrap="square" lIns="0" tIns="0" rIns="0" bIns="0" rtlCol="0" anchor="t"/>
          <a:lstStyle/>
          <a:p>
            <a:pPr indent="0" marL="0">
              <a:buNone/>
            </a:pPr>
            <a:r>
              <a:rPr lang="en-US" sz="1500" dirty="0">
                <a:solidFill>
                  <a:schemeClr val="tx1"/>
                </a:solidFill>
              </a:rPr>
              <a:t>La app avisa cuando el pack se está acabando</a:t>
            </a:r>
            <a:endParaRPr lang="en-US" sz="1500" dirty="0"/>
          </a:p>
        </p:txBody>
      </p:sp>
      <p:sp>
        <p:nvSpPr>
          <p:cNvPr id="32" name="Shape 26"/>
          <p:cNvSpPr/>
          <p:nvPr/>
        </p:nvSpPr>
        <p:spPr>
          <a:xfrm>
            <a:off x="4311396" y="3950208"/>
            <a:ext cx="3566160" cy="2194560"/>
          </a:xfrm>
          <a:prstGeom prst="roundRect">
            <a:avLst>
              <a:gd name="adj" fmla="val 500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33" name="Shape 27"/>
          <p:cNvSpPr/>
          <p:nvPr/>
        </p:nvSpPr>
        <p:spPr>
          <a:xfrm>
            <a:off x="4585716" y="4224528"/>
            <a:ext cx="685800" cy="685800"/>
          </a:xfrm>
          <a:prstGeom prst="ellipse">
            <a:avLst/>
          </a:prstGeom>
          <a:solidFill>
            <a:schemeClr val="accent1"/>
          </a:solidFill>
          <a:ln w="12700">
            <a:solidFill>
              <a:schemeClr val="accent1"/>
            </a:solidFill>
            <a:prstDash val="solid"/>
          </a:ln>
        </p:spPr>
      </p:sp>
      <p:pic>
        <p:nvPicPr>
          <p:cNvPr id="34" name="Image 4" descr="preencoded.png">    </p:cNvPr>
          <p:cNvPicPr>
            <a:picLocks noChangeAspect="1"/>
          </p:cNvPicPr>
          <p:nvPr/>
        </p:nvPicPr>
        <p:blipFill>
          <a:blip r:embed="rId5"/>
          <a:stretch>
            <a:fillRect/>
          </a:stretch>
        </p:blipFill>
        <p:spPr>
          <a:xfrm>
            <a:off x="4736592" y="4375404"/>
            <a:ext cx="384048" cy="384048"/>
          </a:xfrm>
          <a:prstGeom prst="rect">
            <a:avLst/>
          </a:prstGeom>
        </p:spPr>
      </p:pic>
      <p:sp>
        <p:nvSpPr>
          <p:cNvPr id="35" name="Text 28"/>
          <p:cNvSpPr txBox="1"/>
          <p:nvPr/>
        </p:nvSpPr>
        <p:spPr>
          <a:xfrm>
            <a:off x="5408676" y="4224528"/>
            <a:ext cx="2331720" cy="384048"/>
          </a:xfrm>
          <a:prstGeom prst="rect">
            <a:avLst/>
          </a:prstGeom>
          <a:noFill/>
          <a:ln/>
        </p:spPr>
        <p:txBody>
          <a:bodyPr wrap="square" lIns="0" tIns="0" rIns="0" bIns="0" rtlCol="0" anchor="t"/>
          <a:lstStyle/>
          <a:p>
            <a:pPr indent="0" marL="0">
              <a:buNone/>
            </a:pPr>
            <a:r>
              <a:rPr lang="en-US" sz="1700" b="1" dirty="0">
                <a:solidFill>
                  <a:schemeClr val="tx2"/>
                </a:solidFill>
              </a:rPr>
              <a:t>Comunidades</a:t>
            </a:r>
            <a:endParaRPr lang="en-US" sz="1700" dirty="0"/>
          </a:p>
        </p:txBody>
      </p:sp>
      <p:sp>
        <p:nvSpPr>
          <p:cNvPr id="36" name="Shape 29"/>
          <p:cNvSpPr/>
          <p:nvPr/>
        </p:nvSpPr>
        <p:spPr>
          <a:xfrm>
            <a:off x="5408676" y="4645152"/>
            <a:ext cx="868680" cy="256032"/>
          </a:xfrm>
          <a:prstGeom prst="roundRect">
            <a:avLst>
              <a:gd name="adj" fmla="val 50000"/>
            </a:avLst>
          </a:prstGeom>
          <a:solidFill>
            <a:schemeClr val="accent1"/>
          </a:solidFill>
          <a:ln w="9525">
            <a:solidFill>
              <a:schemeClr val="accent1"/>
            </a:solidFill>
            <a:prstDash val="solid"/>
          </a:ln>
        </p:spPr>
      </p:sp>
      <p:sp>
        <p:nvSpPr>
          <p:cNvPr id="37" name="Text 30"/>
          <p:cNvSpPr txBox="1"/>
          <p:nvPr/>
        </p:nvSpPr>
        <p:spPr>
          <a:xfrm>
            <a:off x="5408676" y="4645152"/>
            <a:ext cx="868680" cy="256032"/>
          </a:xfrm>
          <a:prstGeom prst="rect">
            <a:avLst/>
          </a:prstGeom>
          <a:noFill/>
          <a:ln/>
        </p:spPr>
        <p:txBody>
          <a:bodyPr wrap="square" lIns="0" tIns="0" rIns="0" bIns="0" rtlCol="0" anchor="ctr"/>
          <a:lstStyle/>
          <a:p>
            <a:pPr algn="ctr" indent="0" marL="0">
              <a:buNone/>
            </a:pPr>
            <a:r>
              <a:rPr lang="en-US" sz="1000" b="1" dirty="0">
                <a:solidFill>
                  <a:schemeClr val="bg1"/>
                </a:solidFill>
              </a:rPr>
              <a:t>FUERTE</a:t>
            </a:r>
            <a:endParaRPr lang="en-US" sz="1000" dirty="0"/>
          </a:p>
        </p:txBody>
      </p:sp>
      <p:sp>
        <p:nvSpPr>
          <p:cNvPr id="38" name="Text 31"/>
          <p:cNvSpPr txBox="1"/>
          <p:nvPr/>
        </p:nvSpPr>
        <p:spPr>
          <a:xfrm>
            <a:off x="4585716" y="5138928"/>
            <a:ext cx="3017520" cy="868680"/>
          </a:xfrm>
          <a:prstGeom prst="rect">
            <a:avLst/>
          </a:prstGeom>
          <a:noFill/>
          <a:ln/>
        </p:spPr>
        <p:txBody>
          <a:bodyPr wrap="square" lIns="0" tIns="0" rIns="0" bIns="0" rtlCol="0" anchor="t"/>
          <a:lstStyle/>
          <a:p>
            <a:pPr indent="0" marL="0">
              <a:buNone/>
            </a:pPr>
            <a:r>
              <a:rPr lang="en-US" sz="1500" dirty="0">
                <a:solidFill>
                  <a:schemeClr val="tx1"/>
                </a:solidFill>
              </a:rPr>
              <a:t>Mamá embajadora por salón y comunidad en Instagram</a:t>
            </a:r>
            <a:endParaRPr lang="en-US" sz="1500" dirty="0"/>
          </a:p>
        </p:txBody>
      </p:sp>
      <p:sp>
        <p:nvSpPr>
          <p:cNvPr id="39" name="Shape 32"/>
          <p:cNvSpPr/>
          <p:nvPr/>
        </p:nvSpPr>
        <p:spPr>
          <a:xfrm>
            <a:off x="8074152" y="3950208"/>
            <a:ext cx="3566160" cy="2194560"/>
          </a:xfrm>
          <a:prstGeom prst="roundRect">
            <a:avLst>
              <a:gd name="adj" fmla="val 500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40" name="Shape 33"/>
          <p:cNvSpPr/>
          <p:nvPr/>
        </p:nvSpPr>
        <p:spPr>
          <a:xfrm>
            <a:off x="8348472" y="4224528"/>
            <a:ext cx="685800" cy="685800"/>
          </a:xfrm>
          <a:prstGeom prst="ellipse">
            <a:avLst/>
          </a:prstGeom>
          <a:solidFill>
            <a:schemeClr val="accent5"/>
          </a:solidFill>
          <a:ln w="12700">
            <a:solidFill>
              <a:schemeClr val="accent5"/>
            </a:solidFill>
            <a:prstDash val="solid"/>
          </a:ln>
        </p:spPr>
      </p:sp>
      <p:pic>
        <p:nvPicPr>
          <p:cNvPr id="41" name="Image 5" descr="preencoded.png">    </p:cNvPr>
          <p:cNvPicPr>
            <a:picLocks noChangeAspect="1"/>
          </p:cNvPicPr>
          <p:nvPr/>
        </p:nvPicPr>
        <p:blipFill>
          <a:blip r:embed="rId6"/>
          <a:stretch>
            <a:fillRect/>
          </a:stretch>
        </p:blipFill>
        <p:spPr>
          <a:xfrm>
            <a:off x="8499348" y="4375404"/>
            <a:ext cx="384048" cy="384048"/>
          </a:xfrm>
          <a:prstGeom prst="rect">
            <a:avLst/>
          </a:prstGeom>
        </p:spPr>
      </p:pic>
      <p:sp>
        <p:nvSpPr>
          <p:cNvPr id="42" name="Text 34"/>
          <p:cNvSpPr txBox="1"/>
          <p:nvPr/>
        </p:nvSpPr>
        <p:spPr>
          <a:xfrm>
            <a:off x="9171432" y="4224528"/>
            <a:ext cx="2331720" cy="384048"/>
          </a:xfrm>
          <a:prstGeom prst="rect">
            <a:avLst/>
          </a:prstGeom>
          <a:noFill/>
          <a:ln/>
        </p:spPr>
        <p:txBody>
          <a:bodyPr wrap="square" lIns="0" tIns="0" rIns="0" bIns="0" rtlCol="0" anchor="t"/>
          <a:lstStyle/>
          <a:p>
            <a:pPr indent="0" marL="0">
              <a:buNone/>
            </a:pPr>
            <a:r>
              <a:rPr lang="en-US" sz="1700" b="1" dirty="0">
                <a:solidFill>
                  <a:schemeClr val="tx2"/>
                </a:solidFill>
              </a:rPr>
              <a:t>Creación colectiva</a:t>
            </a:r>
            <a:endParaRPr lang="en-US" sz="1700" dirty="0"/>
          </a:p>
        </p:txBody>
      </p:sp>
      <p:sp>
        <p:nvSpPr>
          <p:cNvPr id="43" name="Shape 35"/>
          <p:cNvSpPr/>
          <p:nvPr/>
        </p:nvSpPr>
        <p:spPr>
          <a:xfrm>
            <a:off x="9171432" y="4645152"/>
            <a:ext cx="868680" cy="256032"/>
          </a:xfrm>
          <a:prstGeom prst="roundRect">
            <a:avLst>
              <a:gd name="adj" fmla="val 50000"/>
            </a:avLst>
          </a:prstGeom>
          <a:solidFill>
            <a:schemeClr val="bg2"/>
          </a:solidFill>
          <a:ln w="9525">
            <a:solidFill>
              <a:schemeClr val="accent5"/>
            </a:solidFill>
            <a:prstDash val="solid"/>
          </a:ln>
        </p:spPr>
      </p:sp>
      <p:sp>
        <p:nvSpPr>
          <p:cNvPr id="44" name="Text 36"/>
          <p:cNvSpPr txBox="1"/>
          <p:nvPr/>
        </p:nvSpPr>
        <p:spPr>
          <a:xfrm>
            <a:off x="9171432" y="4645152"/>
            <a:ext cx="868680" cy="256032"/>
          </a:xfrm>
          <a:prstGeom prst="rect">
            <a:avLst/>
          </a:prstGeom>
          <a:noFill/>
          <a:ln/>
        </p:spPr>
        <p:txBody>
          <a:bodyPr wrap="square" lIns="0" tIns="0" rIns="0" bIns="0" rtlCol="0" anchor="ctr"/>
          <a:lstStyle/>
          <a:p>
            <a:pPr algn="ctr" indent="0" marL="0">
              <a:buNone/>
            </a:pPr>
            <a:r>
              <a:rPr lang="en-US" sz="1000" b="1" dirty="0">
                <a:solidFill>
                  <a:schemeClr val="accent2"/>
                </a:solidFill>
              </a:rPr>
              <a:t>APOYO</a:t>
            </a:r>
            <a:endParaRPr lang="en-US" sz="1000" dirty="0"/>
          </a:p>
        </p:txBody>
      </p:sp>
      <p:sp>
        <p:nvSpPr>
          <p:cNvPr id="45" name="Text 37"/>
          <p:cNvSpPr txBox="1"/>
          <p:nvPr/>
        </p:nvSpPr>
        <p:spPr>
          <a:xfrm>
            <a:off x="8348472" y="5138928"/>
            <a:ext cx="3017520" cy="868680"/>
          </a:xfrm>
          <a:prstGeom prst="rect">
            <a:avLst/>
          </a:prstGeom>
          <a:noFill/>
          <a:ln/>
        </p:spPr>
        <p:txBody>
          <a:bodyPr wrap="square" lIns="0" tIns="0" rIns="0" bIns="0" rtlCol="0" anchor="t"/>
          <a:lstStyle/>
          <a:p>
            <a:pPr indent="0" marL="0">
              <a:buNone/>
            </a:pPr>
            <a:r>
              <a:rPr lang="en-US" sz="1500" dirty="0">
                <a:solidFill>
                  <a:schemeClr val="tx1"/>
                </a:solidFill>
              </a:rPr>
              <a:t>Los niños votan el sabor del mes en el stand</a:t>
            </a:r>
            <a:endParaRPr lang="en-US" sz="15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6 · CICLO DE RELACIÓN</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Cómo una familia nos prueba, vuelve y nos recomienda</a:t>
            </a:r>
            <a:endParaRPr lang="en-US" sz="3400" dirty="0"/>
          </a:p>
        </p:txBody>
      </p:sp>
      <p:sp>
        <p:nvSpPr>
          <p:cNvPr id="4" name="Shape 2"/>
          <p:cNvSpPr/>
          <p:nvPr/>
        </p:nvSpPr>
        <p:spPr>
          <a:xfrm>
            <a:off x="548640" y="1554480"/>
            <a:ext cx="2697480" cy="4572000"/>
          </a:xfrm>
          <a:prstGeom prst="roundRect">
            <a:avLst>
              <a:gd name="adj" fmla="val 4068"/>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5" name="Text 3"/>
          <p:cNvSpPr txBox="1"/>
          <p:nvPr/>
        </p:nvSpPr>
        <p:spPr>
          <a:xfrm>
            <a:off x="822960" y="1828800"/>
            <a:ext cx="214884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1 · CAPTAR</a:t>
            </a:r>
            <a:endParaRPr lang="en-US" sz="1200" dirty="0"/>
          </a:p>
        </p:txBody>
      </p:sp>
      <p:sp>
        <p:nvSpPr>
          <p:cNvPr id="6" name="Text 4"/>
          <p:cNvSpPr txBox="1"/>
          <p:nvPr/>
        </p:nvSpPr>
        <p:spPr>
          <a:xfrm>
            <a:off x="822960" y="2148840"/>
            <a:ext cx="2148840" cy="731520"/>
          </a:xfrm>
          <a:prstGeom prst="rect">
            <a:avLst/>
          </a:prstGeom>
          <a:noFill/>
          <a:ln/>
        </p:spPr>
        <p:txBody>
          <a:bodyPr wrap="square" lIns="0" tIns="0" rIns="0" bIns="0" rtlCol="0" anchor="t"/>
          <a:lstStyle/>
          <a:p>
            <a:pPr indent="0" marL="0">
              <a:buNone/>
            </a:pPr>
            <a:r>
              <a:rPr lang="en-US" sz="2100" b="1" dirty="0">
                <a:solidFill>
                  <a:schemeClr val="tx2"/>
                </a:solidFill>
              </a:rPr>
              <a:t>Que lo prueben</a:t>
            </a:r>
            <a:endParaRPr lang="en-US" sz="2100" dirty="0"/>
          </a:p>
        </p:txBody>
      </p:sp>
      <p:sp>
        <p:nvSpPr>
          <p:cNvPr id="7" name="Text 5"/>
          <p:cNvSpPr txBox="1"/>
          <p:nvPr/>
        </p:nvSpPr>
        <p:spPr>
          <a:xfrm>
            <a:off x="822960" y="2926080"/>
            <a:ext cx="2148840" cy="1371600"/>
          </a:xfrm>
          <a:prstGeom prst="rect">
            <a:avLst/>
          </a:prstGeom>
          <a:noFill/>
          <a:ln/>
        </p:spPr>
        <p:txBody>
          <a:bodyPr wrap="square" lIns="0" tIns="0" rIns="0" bIns="0" rtlCol="0" anchor="t"/>
          <a:lstStyle/>
          <a:p>
            <a:pPr indent="0" marL="0">
              <a:buNone/>
            </a:pPr>
            <a:r>
              <a:rPr lang="en-US" sz="1500" dirty="0">
                <a:solidFill>
                  <a:schemeClr val="tx1"/>
                </a:solidFill>
              </a:rPr>
              <a:t>Degustación gratis en el stand; el padre se lleva la unidad, la caja de 3 sabores o el pack</a:t>
            </a:r>
            <a:endParaRPr lang="en-US" sz="1500" dirty="0"/>
          </a:p>
        </p:txBody>
      </p:sp>
      <p:sp>
        <p:nvSpPr>
          <p:cNvPr id="8" name="Shape 6"/>
          <p:cNvSpPr/>
          <p:nvPr/>
        </p:nvSpPr>
        <p:spPr>
          <a:xfrm>
            <a:off x="731520" y="4480560"/>
            <a:ext cx="2331720" cy="1463040"/>
          </a:xfrm>
          <a:prstGeom prst="roundRect">
            <a:avLst>
              <a:gd name="adj" fmla="val 6250"/>
            </a:avLst>
          </a:prstGeom>
          <a:solidFill>
            <a:schemeClr val="bg2"/>
          </a:solidFill>
          <a:ln w="12700">
            <a:solidFill>
              <a:schemeClr val="bg2"/>
            </a:solidFill>
            <a:prstDash val="solid"/>
          </a:ln>
        </p:spPr>
      </p:sp>
      <p:sp>
        <p:nvSpPr>
          <p:cNvPr id="9" name="Text 7"/>
          <p:cNvSpPr txBox="1"/>
          <p:nvPr/>
        </p:nvSpPr>
        <p:spPr>
          <a:xfrm>
            <a:off x="914400" y="4572000"/>
            <a:ext cx="1965960" cy="1280160"/>
          </a:xfrm>
          <a:prstGeom prst="rect">
            <a:avLst/>
          </a:prstGeom>
          <a:noFill/>
          <a:ln/>
        </p:spPr>
        <p:txBody>
          <a:bodyPr wrap="square" lIns="0" tIns="0" rIns="0" bIns="0" rtlCol="0" anchor="ctr"/>
          <a:lstStyle/>
          <a:p>
            <a:pPr indent="0" marL="0">
              <a:buNone/>
            </a:pPr>
            <a:r>
              <a:rPr lang="en-US" sz="3400" b="1" dirty="0">
                <a:solidFill>
                  <a:schemeClr val="accent1"/>
                </a:solidFill>
              </a:rPr>
              <a:t>80</a:t>
            </a:r>
            <a:endParaRPr lang="en-US" sz="1400" dirty="0"/>
          </a:p>
          <a:p>
            <a:pPr indent="0" marL="0">
              <a:buNone/>
            </a:pPr>
            <a:r>
              <a:rPr lang="en-US" sz="1300" dirty="0">
                <a:solidFill>
                  <a:schemeClr val="accent2"/>
                </a:solidFill>
              </a:rPr>
              <a:t>brownies por día en cada punto de venta</a:t>
            </a:r>
            <a:endParaRPr lang="en-US" sz="1400" dirty="0"/>
          </a:p>
        </p:txBody>
      </p:sp>
      <p:sp>
        <p:nvSpPr>
          <p:cNvPr id="10" name="Shape 8"/>
          <p:cNvSpPr/>
          <p:nvPr/>
        </p:nvSpPr>
        <p:spPr>
          <a:xfrm>
            <a:off x="3200400" y="3566160"/>
            <a:ext cx="411480" cy="411480"/>
          </a:xfrm>
          <a:prstGeom prst="ellipse">
            <a:avLst/>
          </a:prstGeom>
          <a:solidFill>
            <a:schemeClr val="accent3"/>
          </a:solidFill>
          <a:ln w="12700">
            <a:solidFill>
              <a:schemeClr val="accent3"/>
            </a:solidFill>
            <a:prstDash val="solid"/>
          </a:ln>
        </p:spPr>
      </p:sp>
      <p:pic>
        <p:nvPicPr>
          <p:cNvPr id="11" name="Image 0" descr="preencoded.png">    </p:cNvPr>
          <p:cNvPicPr>
            <a:picLocks noChangeAspect="1"/>
          </p:cNvPicPr>
          <p:nvPr/>
        </p:nvPicPr>
        <p:blipFill>
          <a:blip r:embed="rId1"/>
          <a:stretch>
            <a:fillRect/>
          </a:stretch>
        </p:blipFill>
        <p:spPr>
          <a:xfrm>
            <a:off x="3290926" y="3656686"/>
            <a:ext cx="230429" cy="230429"/>
          </a:xfrm>
          <a:prstGeom prst="rect">
            <a:avLst/>
          </a:prstGeom>
        </p:spPr>
      </p:pic>
      <p:sp>
        <p:nvSpPr>
          <p:cNvPr id="12" name="Shape 9"/>
          <p:cNvSpPr/>
          <p:nvPr/>
        </p:nvSpPr>
        <p:spPr>
          <a:xfrm>
            <a:off x="3566160" y="1554480"/>
            <a:ext cx="2697480" cy="4572000"/>
          </a:xfrm>
          <a:prstGeom prst="roundRect">
            <a:avLst>
              <a:gd name="adj" fmla="val 4068"/>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3" name="Text 10"/>
          <p:cNvSpPr txBox="1"/>
          <p:nvPr/>
        </p:nvSpPr>
        <p:spPr>
          <a:xfrm>
            <a:off x="3840480" y="1828800"/>
            <a:ext cx="214884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2 · FIDELIZAR</a:t>
            </a:r>
            <a:endParaRPr lang="en-US" sz="1200" dirty="0"/>
          </a:p>
        </p:txBody>
      </p:sp>
      <p:sp>
        <p:nvSpPr>
          <p:cNvPr id="14" name="Text 11"/>
          <p:cNvSpPr txBox="1"/>
          <p:nvPr/>
        </p:nvSpPr>
        <p:spPr>
          <a:xfrm>
            <a:off x="3840480" y="2148840"/>
            <a:ext cx="2148840" cy="731520"/>
          </a:xfrm>
          <a:prstGeom prst="rect">
            <a:avLst/>
          </a:prstGeom>
          <a:noFill/>
          <a:ln/>
        </p:spPr>
        <p:txBody>
          <a:bodyPr wrap="square" lIns="0" tIns="0" rIns="0" bIns="0" rtlCol="0" anchor="t"/>
          <a:lstStyle/>
          <a:p>
            <a:pPr indent="0" marL="0">
              <a:buNone/>
            </a:pPr>
            <a:r>
              <a:rPr lang="en-US" sz="2100" b="1" dirty="0">
                <a:solidFill>
                  <a:schemeClr val="tx2"/>
                </a:solidFill>
              </a:rPr>
              <a:t>Que vuelvan</a:t>
            </a:r>
            <a:endParaRPr lang="en-US" sz="2100" dirty="0"/>
          </a:p>
        </p:txBody>
      </p:sp>
      <p:sp>
        <p:nvSpPr>
          <p:cNvPr id="15" name="Text 12"/>
          <p:cNvSpPr txBox="1"/>
          <p:nvPr/>
        </p:nvSpPr>
        <p:spPr>
          <a:xfrm>
            <a:off x="3840480" y="2926080"/>
            <a:ext cx="2148840" cy="1371600"/>
          </a:xfrm>
          <a:prstGeom prst="rect">
            <a:avLst/>
          </a:prstGeom>
          <a:noFill/>
          <a:ln/>
        </p:spPr>
        <p:txBody>
          <a:bodyPr wrap="square" lIns="0" tIns="0" rIns="0" bIns="0" rtlCol="0" anchor="t"/>
          <a:lstStyle/>
          <a:p>
            <a:pPr indent="0" marL="0">
              <a:buNone/>
            </a:pPr>
            <a:r>
              <a:rPr lang="en-US" sz="1500" dirty="0">
                <a:solidFill>
                  <a:schemeClr val="tx1"/>
                </a:solidFill>
              </a:rPr>
              <a:t>La app Andi avisa la recompra, arma loncheras y mide el hierro de la semana</a:t>
            </a:r>
            <a:endParaRPr lang="en-US" sz="1500" dirty="0"/>
          </a:p>
        </p:txBody>
      </p:sp>
      <p:sp>
        <p:nvSpPr>
          <p:cNvPr id="16" name="Shape 13"/>
          <p:cNvSpPr/>
          <p:nvPr/>
        </p:nvSpPr>
        <p:spPr>
          <a:xfrm>
            <a:off x="3749040" y="4480560"/>
            <a:ext cx="2331720" cy="1463040"/>
          </a:xfrm>
          <a:prstGeom prst="roundRect">
            <a:avLst>
              <a:gd name="adj" fmla="val 6250"/>
            </a:avLst>
          </a:prstGeom>
          <a:solidFill>
            <a:schemeClr val="bg2"/>
          </a:solidFill>
          <a:ln w="12700">
            <a:solidFill>
              <a:schemeClr val="bg2"/>
            </a:solidFill>
            <a:prstDash val="solid"/>
          </a:ln>
        </p:spPr>
      </p:sp>
      <p:sp>
        <p:nvSpPr>
          <p:cNvPr id="17" name="Text 14"/>
          <p:cNvSpPr txBox="1"/>
          <p:nvPr/>
        </p:nvSpPr>
        <p:spPr>
          <a:xfrm>
            <a:off x="3931920" y="4572000"/>
            <a:ext cx="1965960" cy="1280160"/>
          </a:xfrm>
          <a:prstGeom prst="rect">
            <a:avLst/>
          </a:prstGeom>
          <a:noFill/>
          <a:ln/>
        </p:spPr>
        <p:txBody>
          <a:bodyPr wrap="square" lIns="0" tIns="0" rIns="0" bIns="0" rtlCol="0" anchor="ctr"/>
          <a:lstStyle/>
          <a:p>
            <a:pPr indent="0" marL="0">
              <a:buNone/>
            </a:pPr>
            <a:r>
              <a:rPr lang="en-US" sz="3400" b="1" dirty="0">
                <a:solidFill>
                  <a:schemeClr val="accent1"/>
                </a:solidFill>
              </a:rPr>
              <a:t>35 %</a:t>
            </a:r>
            <a:endParaRPr lang="en-US" sz="1400" dirty="0"/>
          </a:p>
          <a:p>
            <a:pPr indent="0" marL="0">
              <a:buNone/>
            </a:pPr>
            <a:r>
              <a:rPr lang="en-US" sz="1300" dirty="0">
                <a:solidFill>
                  <a:schemeClr val="accent2"/>
                </a:solidFill>
              </a:rPr>
              <a:t>de lo vendido en físico vuelve por WhatsApp</a:t>
            </a:r>
            <a:endParaRPr lang="en-US" sz="1400" dirty="0"/>
          </a:p>
        </p:txBody>
      </p:sp>
      <p:sp>
        <p:nvSpPr>
          <p:cNvPr id="18" name="Shape 15"/>
          <p:cNvSpPr/>
          <p:nvPr/>
        </p:nvSpPr>
        <p:spPr>
          <a:xfrm>
            <a:off x="6217920" y="3566160"/>
            <a:ext cx="411480" cy="411480"/>
          </a:xfrm>
          <a:prstGeom prst="ellipse">
            <a:avLst/>
          </a:prstGeom>
          <a:solidFill>
            <a:schemeClr val="accent3"/>
          </a:solidFill>
          <a:ln w="12700">
            <a:solidFill>
              <a:schemeClr val="accent3"/>
            </a:solidFill>
            <a:prstDash val="solid"/>
          </a:ln>
        </p:spPr>
      </p:sp>
      <p:pic>
        <p:nvPicPr>
          <p:cNvPr id="19" name="Image 1" descr="preencoded.png">    </p:cNvPr>
          <p:cNvPicPr>
            <a:picLocks noChangeAspect="1"/>
          </p:cNvPicPr>
          <p:nvPr/>
        </p:nvPicPr>
        <p:blipFill>
          <a:blip r:embed="rId2"/>
          <a:stretch>
            <a:fillRect/>
          </a:stretch>
        </p:blipFill>
        <p:spPr>
          <a:xfrm>
            <a:off x="6308446" y="3656686"/>
            <a:ext cx="230429" cy="230429"/>
          </a:xfrm>
          <a:prstGeom prst="rect">
            <a:avLst/>
          </a:prstGeom>
        </p:spPr>
      </p:pic>
      <p:sp>
        <p:nvSpPr>
          <p:cNvPr id="20" name="Shape 16"/>
          <p:cNvSpPr/>
          <p:nvPr/>
        </p:nvSpPr>
        <p:spPr>
          <a:xfrm>
            <a:off x="6583680" y="1554480"/>
            <a:ext cx="2697480" cy="4572000"/>
          </a:xfrm>
          <a:prstGeom prst="roundRect">
            <a:avLst>
              <a:gd name="adj" fmla="val 4068"/>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1" name="Text 17"/>
          <p:cNvSpPr txBox="1"/>
          <p:nvPr/>
        </p:nvSpPr>
        <p:spPr>
          <a:xfrm>
            <a:off x="6858000" y="1828800"/>
            <a:ext cx="214884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3 · CRECER</a:t>
            </a:r>
            <a:endParaRPr lang="en-US" sz="1200" dirty="0"/>
          </a:p>
        </p:txBody>
      </p:sp>
      <p:sp>
        <p:nvSpPr>
          <p:cNvPr id="22" name="Text 18"/>
          <p:cNvSpPr txBox="1"/>
          <p:nvPr/>
        </p:nvSpPr>
        <p:spPr>
          <a:xfrm>
            <a:off x="6858000" y="2148840"/>
            <a:ext cx="2148840" cy="731520"/>
          </a:xfrm>
          <a:prstGeom prst="rect">
            <a:avLst/>
          </a:prstGeom>
          <a:noFill/>
          <a:ln/>
        </p:spPr>
        <p:txBody>
          <a:bodyPr wrap="square" lIns="0" tIns="0" rIns="0" bIns="0" rtlCol="0" anchor="t"/>
          <a:lstStyle/>
          <a:p>
            <a:pPr indent="0" marL="0">
              <a:buNone/>
            </a:pPr>
            <a:r>
              <a:rPr lang="en-US" sz="2100" b="1" dirty="0">
                <a:solidFill>
                  <a:schemeClr val="tx2"/>
                </a:solidFill>
              </a:rPr>
              <a:t>Que nos recomienden</a:t>
            </a:r>
            <a:endParaRPr lang="en-US" sz="2100" dirty="0"/>
          </a:p>
        </p:txBody>
      </p:sp>
      <p:sp>
        <p:nvSpPr>
          <p:cNvPr id="23" name="Text 19"/>
          <p:cNvSpPr txBox="1"/>
          <p:nvPr/>
        </p:nvSpPr>
        <p:spPr>
          <a:xfrm>
            <a:off x="6858000" y="2926080"/>
            <a:ext cx="2148840" cy="1371600"/>
          </a:xfrm>
          <a:prstGeom prst="rect">
            <a:avLst/>
          </a:prstGeom>
          <a:noFill/>
          <a:ln/>
        </p:spPr>
        <p:txBody>
          <a:bodyPr wrap="square" lIns="0" tIns="0" rIns="0" bIns="0" rtlCol="0" anchor="t"/>
          <a:lstStyle/>
          <a:p>
            <a:pPr indent="0" marL="0">
              <a:buNone/>
            </a:pPr>
            <a:r>
              <a:rPr lang="en-US" sz="1500" dirty="0">
                <a:solidFill>
                  <a:schemeClr val="tx1"/>
                </a:solidFill>
              </a:rPr>
              <a:t>Mamá embajadora por salón: recomienda en el chat del colegio con su código</a:t>
            </a:r>
            <a:endParaRPr lang="en-US" sz="1500" dirty="0"/>
          </a:p>
        </p:txBody>
      </p:sp>
      <p:sp>
        <p:nvSpPr>
          <p:cNvPr id="24" name="Shape 20"/>
          <p:cNvSpPr/>
          <p:nvPr/>
        </p:nvSpPr>
        <p:spPr>
          <a:xfrm>
            <a:off x="6766560" y="4480560"/>
            <a:ext cx="2331720" cy="1463040"/>
          </a:xfrm>
          <a:prstGeom prst="roundRect">
            <a:avLst>
              <a:gd name="adj" fmla="val 6250"/>
            </a:avLst>
          </a:prstGeom>
          <a:solidFill>
            <a:schemeClr val="bg2"/>
          </a:solidFill>
          <a:ln w="12700">
            <a:solidFill>
              <a:schemeClr val="bg2"/>
            </a:solidFill>
            <a:prstDash val="solid"/>
          </a:ln>
        </p:spPr>
      </p:sp>
      <p:sp>
        <p:nvSpPr>
          <p:cNvPr id="25" name="Text 21"/>
          <p:cNvSpPr txBox="1"/>
          <p:nvPr/>
        </p:nvSpPr>
        <p:spPr>
          <a:xfrm>
            <a:off x="6949440" y="4572000"/>
            <a:ext cx="1965960" cy="1280160"/>
          </a:xfrm>
          <a:prstGeom prst="rect">
            <a:avLst/>
          </a:prstGeom>
          <a:noFill/>
          <a:ln/>
        </p:spPr>
        <p:txBody>
          <a:bodyPr wrap="square" lIns="0" tIns="0" rIns="0" bIns="0" rtlCol="0" anchor="ctr"/>
          <a:lstStyle/>
          <a:p>
            <a:pPr indent="0" marL="0">
              <a:buNone/>
            </a:pPr>
            <a:r>
              <a:rPr lang="en-US" sz="3400" b="1" dirty="0">
                <a:solidFill>
                  <a:schemeClr val="accent1"/>
                </a:solidFill>
              </a:rPr>
              <a:t>3</a:t>
            </a:r>
            <a:endParaRPr lang="en-US" sz="1400" dirty="0"/>
          </a:p>
          <a:p>
            <a:pPr indent="0" marL="0">
              <a:buNone/>
            </a:pPr>
            <a:r>
              <a:rPr lang="en-US" sz="1300" dirty="0">
                <a:solidFill>
                  <a:schemeClr val="accent2"/>
                </a:solidFill>
              </a:rPr>
              <a:t>puntos de venta desde agosto de 2027</a:t>
            </a:r>
            <a:endParaRPr lang="en-US" sz="1400" dirty="0"/>
          </a:p>
        </p:txBody>
      </p:sp>
      <p:sp>
        <p:nvSpPr>
          <p:cNvPr id="26" name="IMAGEN_3"/>
          <p:cNvSpPr/>
          <p:nvPr/>
        </p:nvSpPr>
        <p:spPr>
          <a:xfrm>
            <a:off x="9555480" y="1554480"/>
            <a:ext cx="2084832" cy="4572000"/>
          </a:xfrm>
          <a:prstGeom prst="roundRect">
            <a:avLst>
              <a:gd name="adj" fmla="val 6579"/>
            </a:avLst>
          </a:prstGeom>
          <a:solidFill>
            <a:srgbClr val="F0E2CF"/>
          </a:solidFill>
          <a:ln w="19050">
            <a:solidFill>
              <a:schemeClr val="accent5"/>
            </a:solidFill>
            <a:prstDash val="dash"/>
          </a:ln>
        </p:spPr>
      </p:sp>
      <p:pic>
        <p:nvPicPr>
          <p:cNvPr id="27" name="Image 2" descr="preencoded.png">    </p:cNvPr>
          <p:cNvPicPr>
            <a:picLocks noChangeAspect="1"/>
          </p:cNvPicPr>
          <p:nvPr/>
        </p:nvPicPr>
        <p:blipFill>
          <a:blip r:embed="rId3"/>
          <a:stretch>
            <a:fillRect/>
          </a:stretch>
        </p:blipFill>
        <p:spPr>
          <a:xfrm>
            <a:off x="10232136" y="2926080"/>
            <a:ext cx="731520" cy="731520"/>
          </a:xfrm>
          <a:prstGeom prst="rect">
            <a:avLst/>
          </a:prstGeom>
        </p:spPr>
      </p:pic>
      <p:sp>
        <p:nvSpPr>
          <p:cNvPr id="28" name="Text 23"/>
          <p:cNvSpPr txBox="1"/>
          <p:nvPr/>
        </p:nvSpPr>
        <p:spPr>
          <a:xfrm>
            <a:off x="9738360" y="3840480"/>
            <a:ext cx="1719072" cy="1097280"/>
          </a:xfrm>
          <a:prstGeom prst="rect">
            <a:avLst/>
          </a:prstGeom>
          <a:noFill/>
          <a:ln/>
        </p:spPr>
        <p:txBody>
          <a:bodyPr wrap="square" lIns="0" tIns="0" rIns="0" bIns="0" rtlCol="0" anchor="t"/>
          <a:lstStyle/>
          <a:p>
            <a:pPr algn="ctr" indent="0" marL="0">
              <a:buNone/>
            </a:pPr>
            <a:r>
              <a:rPr lang="en-US" sz="1600" b="1" dirty="0">
                <a:solidFill>
                  <a:schemeClr val="accent2"/>
                </a:solidFill>
              </a:rPr>
              <a:t>IMAGEN 3</a:t>
            </a:r>
            <a:endParaRPr lang="en-US" sz="1400" dirty="0"/>
          </a:p>
          <a:p>
            <a:pPr algn="ctr" indent="0" marL="0">
              <a:buNone/>
            </a:pPr>
            <a:r>
              <a:rPr lang="en-US" sz="1300" dirty="0">
                <a:solidFill>
                  <a:schemeClr val="accent2"/>
                </a:solidFill>
              </a:rPr>
              <a:t>Lonchera con AndiBite y fruta</a:t>
            </a:r>
            <a:endParaRPr lang="en-US" sz="1400" dirty="0"/>
          </a:p>
          <a:p>
            <a:pPr algn="ctr" indent="0" marL="0">
              <a:buNone/>
            </a:pPr>
            <a:r>
              <a:rPr lang="en-US" sz="1100" i="1" dirty="0">
                <a:solidFill>
                  <a:schemeClr val="accent2"/>
                </a:solidFill>
              </a:rPr>
              <a:t>Prompt en las notas del orador</a:t>
            </a:r>
            <a:endParaRPr lang="en-US" sz="14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6 · FUENTES DE INGRESO</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De dónde viene el dinero: cuatro fuentes, un solo producto</a:t>
            </a:r>
            <a:endParaRPr lang="en-US" sz="3400" dirty="0"/>
          </a:p>
        </p:txBody>
      </p:sp>
      <p:sp>
        <p:nvSpPr>
          <p:cNvPr id="4" name="Shape 2"/>
          <p:cNvSpPr/>
          <p:nvPr/>
        </p:nvSpPr>
        <p:spPr>
          <a:xfrm>
            <a:off x="548640" y="1554480"/>
            <a:ext cx="5760720" cy="987552"/>
          </a:xfrm>
          <a:prstGeom prst="roundRect">
            <a:avLst>
              <a:gd name="adj" fmla="val 11111"/>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5" name="Shape 3"/>
          <p:cNvSpPr/>
          <p:nvPr/>
        </p:nvSpPr>
        <p:spPr>
          <a:xfrm>
            <a:off x="731520" y="1728216"/>
            <a:ext cx="640080" cy="64008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872338" y="1869034"/>
            <a:ext cx="358445" cy="358445"/>
          </a:xfrm>
          <a:prstGeom prst="rect">
            <a:avLst/>
          </a:prstGeom>
        </p:spPr>
      </p:pic>
      <p:sp>
        <p:nvSpPr>
          <p:cNvPr id="7" name="Text 4"/>
          <p:cNvSpPr txBox="1"/>
          <p:nvPr/>
        </p:nvSpPr>
        <p:spPr>
          <a:xfrm>
            <a:off x="1554480" y="1554480"/>
            <a:ext cx="3520440" cy="987552"/>
          </a:xfrm>
          <a:prstGeom prst="rect">
            <a:avLst/>
          </a:prstGeom>
          <a:noFill/>
          <a:ln/>
        </p:spPr>
        <p:txBody>
          <a:bodyPr wrap="square" lIns="0" tIns="0" rIns="0" bIns="0" rtlCol="0" anchor="ctr"/>
          <a:lstStyle/>
          <a:p>
            <a:pPr indent="0" marL="0">
              <a:buNone/>
            </a:pPr>
            <a:r>
              <a:rPr lang="en-US" sz="1600" b="1" dirty="0">
                <a:solidFill>
                  <a:schemeClr val="tx2"/>
                </a:solidFill>
              </a:rPr>
              <a:t>Venta en stands y carritos</a:t>
            </a:r>
            <a:endParaRPr lang="en-US" sz="1400" dirty="0"/>
          </a:p>
          <a:p>
            <a:pPr indent="0" marL="0">
              <a:buNone/>
            </a:pPr>
            <a:r>
              <a:rPr lang="en-US" sz="1300" dirty="0">
                <a:solidFill>
                  <a:schemeClr val="accent2"/>
                </a:solidFill>
              </a:rPr>
              <a:t>Unidades, cajas de 3 y packs en malls y súper</a:t>
            </a:r>
            <a:endParaRPr lang="en-US" sz="1400" dirty="0"/>
          </a:p>
        </p:txBody>
      </p:sp>
      <p:sp>
        <p:nvSpPr>
          <p:cNvPr id="8" name="Text 5"/>
          <p:cNvSpPr txBox="1"/>
          <p:nvPr/>
        </p:nvSpPr>
        <p:spPr>
          <a:xfrm>
            <a:off x="5120640" y="1554480"/>
            <a:ext cx="1097280" cy="987552"/>
          </a:xfrm>
          <a:prstGeom prst="rect">
            <a:avLst/>
          </a:prstGeom>
          <a:noFill/>
          <a:ln/>
        </p:spPr>
        <p:txBody>
          <a:bodyPr wrap="square" lIns="0" tIns="0" rIns="0" bIns="0" rtlCol="0" anchor="ctr"/>
          <a:lstStyle/>
          <a:p>
            <a:pPr algn="r" indent="0" marL="0">
              <a:buNone/>
            </a:pPr>
            <a:r>
              <a:rPr lang="en-US" sz="2400" b="1" dirty="0">
                <a:solidFill>
                  <a:schemeClr val="accent1"/>
                </a:solidFill>
              </a:rPr>
              <a:t>49.8 %</a:t>
            </a:r>
            <a:endParaRPr lang="en-US" sz="1400" dirty="0"/>
          </a:p>
          <a:p>
            <a:pPr algn="r" indent="0" marL="0">
              <a:buNone/>
            </a:pPr>
            <a:r>
              <a:rPr lang="en-US" sz="1000" dirty="0">
                <a:solidFill>
                  <a:schemeClr val="accent2"/>
                </a:solidFill>
              </a:rPr>
              <a:t>de los ingresos</a:t>
            </a:r>
            <a:endParaRPr lang="en-US" sz="1400" dirty="0"/>
          </a:p>
        </p:txBody>
      </p:sp>
      <p:sp>
        <p:nvSpPr>
          <p:cNvPr id="9" name="Shape 6"/>
          <p:cNvSpPr/>
          <p:nvPr/>
        </p:nvSpPr>
        <p:spPr>
          <a:xfrm>
            <a:off x="548640" y="2679192"/>
            <a:ext cx="5760720" cy="987552"/>
          </a:xfrm>
          <a:prstGeom prst="roundRect">
            <a:avLst>
              <a:gd name="adj" fmla="val 11111"/>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0" name="Shape 7"/>
          <p:cNvSpPr/>
          <p:nvPr/>
        </p:nvSpPr>
        <p:spPr>
          <a:xfrm>
            <a:off x="731520" y="2852928"/>
            <a:ext cx="640080" cy="640080"/>
          </a:xfrm>
          <a:prstGeom prst="ellipse">
            <a:avLst/>
          </a:prstGeom>
          <a:solidFill>
            <a:schemeClr val="tx2"/>
          </a:solidFill>
          <a:ln w="12700">
            <a:solidFill>
              <a:schemeClr val="tx2"/>
            </a:solidFill>
            <a:prstDash val="solid"/>
          </a:ln>
        </p:spPr>
      </p:sp>
      <p:pic>
        <p:nvPicPr>
          <p:cNvPr id="11" name="Image 1" descr="preencoded.png">    </p:cNvPr>
          <p:cNvPicPr>
            <a:picLocks noChangeAspect="1"/>
          </p:cNvPicPr>
          <p:nvPr/>
        </p:nvPicPr>
        <p:blipFill>
          <a:blip r:embed="rId2"/>
          <a:stretch>
            <a:fillRect/>
          </a:stretch>
        </p:blipFill>
        <p:spPr>
          <a:xfrm>
            <a:off x="872338" y="2993746"/>
            <a:ext cx="358445" cy="358445"/>
          </a:xfrm>
          <a:prstGeom prst="rect">
            <a:avLst/>
          </a:prstGeom>
        </p:spPr>
      </p:pic>
      <p:sp>
        <p:nvSpPr>
          <p:cNvPr id="12" name="Text 8"/>
          <p:cNvSpPr txBox="1"/>
          <p:nvPr/>
        </p:nvSpPr>
        <p:spPr>
          <a:xfrm>
            <a:off x="1554480" y="2679192"/>
            <a:ext cx="3520440" cy="987552"/>
          </a:xfrm>
          <a:prstGeom prst="rect">
            <a:avLst/>
          </a:prstGeom>
          <a:noFill/>
          <a:ln/>
        </p:spPr>
        <p:txBody>
          <a:bodyPr wrap="square" lIns="0" tIns="0" rIns="0" bIns="0" rtlCol="0" anchor="ctr"/>
          <a:lstStyle/>
          <a:p>
            <a:pPr indent="0" marL="0">
              <a:buNone/>
            </a:pPr>
            <a:r>
              <a:rPr lang="en-US" sz="1600" b="1" dirty="0">
                <a:solidFill>
                  <a:schemeClr val="tx2"/>
                </a:solidFill>
              </a:rPr>
              <a:t>Ferias y eventos</a:t>
            </a:r>
            <a:endParaRPr lang="en-US" sz="1400" dirty="0"/>
          </a:p>
          <a:p>
            <a:pPr indent="0" marL="0">
              <a:buNone/>
            </a:pPr>
            <a:r>
              <a:rPr lang="en-US" sz="1300" dirty="0">
                <a:solidFill>
                  <a:schemeClr val="accent2"/>
                </a:solidFill>
              </a:rPr>
              <a:t>Campaña escolar, Día del Niño, kermeses y cumpleaños</a:t>
            </a:r>
            <a:endParaRPr lang="en-US" sz="1400" dirty="0"/>
          </a:p>
        </p:txBody>
      </p:sp>
      <p:sp>
        <p:nvSpPr>
          <p:cNvPr id="13" name="Text 9"/>
          <p:cNvSpPr txBox="1"/>
          <p:nvPr/>
        </p:nvSpPr>
        <p:spPr>
          <a:xfrm>
            <a:off x="5120640" y="2679192"/>
            <a:ext cx="1097280" cy="987552"/>
          </a:xfrm>
          <a:prstGeom prst="rect">
            <a:avLst/>
          </a:prstGeom>
          <a:noFill/>
          <a:ln/>
        </p:spPr>
        <p:txBody>
          <a:bodyPr wrap="square" lIns="0" tIns="0" rIns="0" bIns="0" rtlCol="0" anchor="ctr"/>
          <a:lstStyle/>
          <a:p>
            <a:pPr algn="r" indent="0" marL="0">
              <a:buNone/>
            </a:pPr>
            <a:r>
              <a:rPr lang="en-US" sz="2400" b="1" dirty="0">
                <a:solidFill>
                  <a:schemeClr val="accent1"/>
                </a:solidFill>
              </a:rPr>
              <a:t>16.8 %</a:t>
            </a:r>
            <a:endParaRPr lang="en-US" sz="1400" dirty="0"/>
          </a:p>
          <a:p>
            <a:pPr algn="r" indent="0" marL="0">
              <a:buNone/>
            </a:pPr>
            <a:r>
              <a:rPr lang="en-US" sz="1000" dirty="0">
                <a:solidFill>
                  <a:schemeClr val="accent2"/>
                </a:solidFill>
              </a:rPr>
              <a:t>de los ingresos</a:t>
            </a:r>
            <a:endParaRPr lang="en-US" sz="1400" dirty="0"/>
          </a:p>
        </p:txBody>
      </p:sp>
      <p:sp>
        <p:nvSpPr>
          <p:cNvPr id="14" name="Shape 10"/>
          <p:cNvSpPr/>
          <p:nvPr/>
        </p:nvSpPr>
        <p:spPr>
          <a:xfrm>
            <a:off x="548640" y="3803904"/>
            <a:ext cx="5760720" cy="987552"/>
          </a:xfrm>
          <a:prstGeom prst="roundRect">
            <a:avLst>
              <a:gd name="adj" fmla="val 11111"/>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5" name="Shape 11"/>
          <p:cNvSpPr/>
          <p:nvPr/>
        </p:nvSpPr>
        <p:spPr>
          <a:xfrm>
            <a:off x="731520" y="3977640"/>
            <a:ext cx="640080" cy="640080"/>
          </a:xfrm>
          <a:prstGeom prst="ellipse">
            <a:avLst/>
          </a:prstGeom>
          <a:solidFill>
            <a:schemeClr val="tx2"/>
          </a:solidFill>
          <a:ln w="12700">
            <a:solidFill>
              <a:schemeClr val="tx2"/>
            </a:solidFill>
            <a:prstDash val="solid"/>
          </a:ln>
        </p:spPr>
      </p:sp>
      <p:pic>
        <p:nvPicPr>
          <p:cNvPr id="16" name="Image 2" descr="preencoded.png">    </p:cNvPr>
          <p:cNvPicPr>
            <a:picLocks noChangeAspect="1"/>
          </p:cNvPicPr>
          <p:nvPr/>
        </p:nvPicPr>
        <p:blipFill>
          <a:blip r:embed="rId3"/>
          <a:stretch>
            <a:fillRect/>
          </a:stretch>
        </p:blipFill>
        <p:spPr>
          <a:xfrm>
            <a:off x="872338" y="4118458"/>
            <a:ext cx="358445" cy="358445"/>
          </a:xfrm>
          <a:prstGeom prst="rect">
            <a:avLst/>
          </a:prstGeom>
        </p:spPr>
      </p:pic>
      <p:sp>
        <p:nvSpPr>
          <p:cNvPr id="17" name="Text 12"/>
          <p:cNvSpPr txBox="1"/>
          <p:nvPr/>
        </p:nvSpPr>
        <p:spPr>
          <a:xfrm>
            <a:off x="1554480" y="3803904"/>
            <a:ext cx="3520440" cy="987552"/>
          </a:xfrm>
          <a:prstGeom prst="rect">
            <a:avLst/>
          </a:prstGeom>
          <a:noFill/>
          <a:ln/>
        </p:spPr>
        <p:txBody>
          <a:bodyPr wrap="square" lIns="0" tIns="0" rIns="0" bIns="0" rtlCol="0" anchor="ctr"/>
          <a:lstStyle/>
          <a:p>
            <a:pPr indent="0" marL="0">
              <a:buNone/>
            </a:pPr>
            <a:r>
              <a:rPr lang="en-US" sz="1600" b="1" dirty="0">
                <a:solidFill>
                  <a:schemeClr val="tx2"/>
                </a:solidFill>
              </a:rPr>
              <a:t>Recompra por WhatsApp</a:t>
            </a:r>
            <a:endParaRPr lang="en-US" sz="1400" dirty="0"/>
          </a:p>
          <a:p>
            <a:pPr indent="0" marL="0">
              <a:buNone/>
            </a:pPr>
            <a:r>
              <a:rPr lang="en-US" sz="1300" dirty="0">
                <a:solidFill>
                  <a:schemeClr val="accent2"/>
                </a:solidFill>
              </a:rPr>
              <a:t>Packs de 6 y de 12 con entrega o recojo</a:t>
            </a:r>
            <a:endParaRPr lang="en-US" sz="1400" dirty="0"/>
          </a:p>
        </p:txBody>
      </p:sp>
      <p:sp>
        <p:nvSpPr>
          <p:cNvPr id="18" name="Text 13"/>
          <p:cNvSpPr txBox="1"/>
          <p:nvPr/>
        </p:nvSpPr>
        <p:spPr>
          <a:xfrm>
            <a:off x="5120640" y="3803904"/>
            <a:ext cx="1097280" cy="987552"/>
          </a:xfrm>
          <a:prstGeom prst="rect">
            <a:avLst/>
          </a:prstGeom>
          <a:noFill/>
          <a:ln/>
        </p:spPr>
        <p:txBody>
          <a:bodyPr wrap="square" lIns="0" tIns="0" rIns="0" bIns="0" rtlCol="0" anchor="ctr"/>
          <a:lstStyle/>
          <a:p>
            <a:pPr algn="r" indent="0" marL="0">
              <a:buNone/>
            </a:pPr>
            <a:r>
              <a:rPr lang="en-US" sz="2400" b="1" dirty="0">
                <a:solidFill>
                  <a:schemeClr val="accent1"/>
                </a:solidFill>
              </a:rPr>
              <a:t>16.7 %</a:t>
            </a:r>
            <a:endParaRPr lang="en-US" sz="1400" dirty="0"/>
          </a:p>
          <a:p>
            <a:pPr algn="r" indent="0" marL="0">
              <a:buNone/>
            </a:pPr>
            <a:r>
              <a:rPr lang="en-US" sz="1000" dirty="0">
                <a:solidFill>
                  <a:schemeClr val="accent2"/>
                </a:solidFill>
              </a:rPr>
              <a:t>de los ingresos</a:t>
            </a:r>
            <a:endParaRPr lang="en-US" sz="1400" dirty="0"/>
          </a:p>
        </p:txBody>
      </p:sp>
      <p:sp>
        <p:nvSpPr>
          <p:cNvPr id="19" name="Shape 14"/>
          <p:cNvSpPr/>
          <p:nvPr/>
        </p:nvSpPr>
        <p:spPr>
          <a:xfrm>
            <a:off x="548640" y="4928616"/>
            <a:ext cx="5760720" cy="987552"/>
          </a:xfrm>
          <a:prstGeom prst="roundRect">
            <a:avLst>
              <a:gd name="adj" fmla="val 11111"/>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0" name="Shape 15"/>
          <p:cNvSpPr/>
          <p:nvPr/>
        </p:nvSpPr>
        <p:spPr>
          <a:xfrm>
            <a:off x="731520" y="5102352"/>
            <a:ext cx="640080" cy="640080"/>
          </a:xfrm>
          <a:prstGeom prst="ellipse">
            <a:avLst/>
          </a:prstGeom>
          <a:solidFill>
            <a:schemeClr val="tx2"/>
          </a:solidFill>
          <a:ln w="12700">
            <a:solidFill>
              <a:schemeClr val="tx2"/>
            </a:solidFill>
            <a:prstDash val="solid"/>
          </a:ln>
        </p:spPr>
      </p:sp>
      <p:pic>
        <p:nvPicPr>
          <p:cNvPr id="21" name="Image 3" descr="preencoded.png">    </p:cNvPr>
          <p:cNvPicPr>
            <a:picLocks noChangeAspect="1"/>
          </p:cNvPicPr>
          <p:nvPr/>
        </p:nvPicPr>
        <p:blipFill>
          <a:blip r:embed="rId4"/>
          <a:stretch>
            <a:fillRect/>
          </a:stretch>
        </p:blipFill>
        <p:spPr>
          <a:xfrm>
            <a:off x="872338" y="5243170"/>
            <a:ext cx="358445" cy="358445"/>
          </a:xfrm>
          <a:prstGeom prst="rect">
            <a:avLst/>
          </a:prstGeom>
        </p:spPr>
      </p:pic>
      <p:sp>
        <p:nvSpPr>
          <p:cNvPr id="22" name="Text 16"/>
          <p:cNvSpPr txBox="1"/>
          <p:nvPr/>
        </p:nvSpPr>
        <p:spPr>
          <a:xfrm>
            <a:off x="1554480" y="4928616"/>
            <a:ext cx="3520440" cy="987552"/>
          </a:xfrm>
          <a:prstGeom prst="rect">
            <a:avLst/>
          </a:prstGeom>
          <a:noFill/>
          <a:ln/>
        </p:spPr>
        <p:txBody>
          <a:bodyPr wrap="square" lIns="0" tIns="0" rIns="0" bIns="0" rtlCol="0" anchor="ctr"/>
          <a:lstStyle/>
          <a:p>
            <a:pPr indent="0" marL="0">
              <a:buNone/>
            </a:pPr>
            <a:r>
              <a:rPr lang="en-US" sz="1600" b="1" dirty="0">
                <a:solidFill>
                  <a:schemeClr val="tx2"/>
                </a:solidFill>
              </a:rPr>
              <a:t>Venta a colegios y tiendas</a:t>
            </a:r>
            <a:endParaRPr lang="en-US" sz="1400" dirty="0"/>
          </a:p>
          <a:p>
            <a:pPr indent="0" marL="0">
              <a:buNone/>
            </a:pPr>
            <a:r>
              <a:rPr lang="en-US" sz="1300" dirty="0">
                <a:solidFill>
                  <a:schemeClr val="accent2"/>
                </a:solidFill>
              </a:rPr>
              <a:t>Quioscos escolares y tiendas naturistas, con factura</a:t>
            </a:r>
            <a:endParaRPr lang="en-US" sz="1400" dirty="0"/>
          </a:p>
        </p:txBody>
      </p:sp>
      <p:sp>
        <p:nvSpPr>
          <p:cNvPr id="23" name="Text 17"/>
          <p:cNvSpPr txBox="1"/>
          <p:nvPr/>
        </p:nvSpPr>
        <p:spPr>
          <a:xfrm>
            <a:off x="5120640" y="4928616"/>
            <a:ext cx="1097280" cy="987552"/>
          </a:xfrm>
          <a:prstGeom prst="rect">
            <a:avLst/>
          </a:prstGeom>
          <a:noFill/>
          <a:ln/>
        </p:spPr>
        <p:txBody>
          <a:bodyPr wrap="square" lIns="0" tIns="0" rIns="0" bIns="0" rtlCol="0" anchor="ctr"/>
          <a:lstStyle/>
          <a:p>
            <a:pPr algn="r" indent="0" marL="0">
              <a:buNone/>
            </a:pPr>
            <a:r>
              <a:rPr lang="en-US" sz="2400" b="1" dirty="0">
                <a:solidFill>
                  <a:schemeClr val="accent1"/>
                </a:solidFill>
              </a:rPr>
              <a:t>16.7 %</a:t>
            </a:r>
            <a:endParaRPr lang="en-US" sz="1400" dirty="0"/>
          </a:p>
          <a:p>
            <a:pPr algn="r" indent="0" marL="0">
              <a:buNone/>
            </a:pPr>
            <a:r>
              <a:rPr lang="en-US" sz="1000" dirty="0">
                <a:solidFill>
                  <a:schemeClr val="accent2"/>
                </a:solidFill>
              </a:rPr>
              <a:t>de los ingresos</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583680" y="1554480"/>
          <a:ext cx="5056632" cy="914400"/>
        </p:xfrm>
        <a:graphic>
          <a:graphicData uri="http://schemas.openxmlformats.org/drawingml/2006/table">
            <a:tbl>
              <a:tblPr/>
              <a:tblGrid>
                <a:gridCol w="1399032"/>
                <a:gridCol w="868680"/>
                <a:gridCol w="914400"/>
                <a:gridCol w="960120"/>
                <a:gridCol w="914400"/>
              </a:tblGrid>
              <a:tr h="502920">
                <a:tc>
                  <a:txBody>
                    <a:bodyPr/>
                    <a:lstStyle/>
                    <a:p>
                      <a:pPr indent="0" marL="0">
                        <a:buNone/>
                      </a:pPr>
                      <a:r>
                        <a:rPr lang="en-US" sz="1200" b="1" dirty="0">
                          <a:solidFill>
                            <a:schemeClr val="bg1"/>
                          </a:solidFill>
                        </a:rPr>
                        <a:t>Precio con IGV</a:t>
                      </a:r>
                      <a:endParaRPr lang="en-US" sz="12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Unidad</a:t>
                      </a:r>
                      <a:endParaRPr lang="en-US" sz="12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Caja de 3</a:t>
                      </a:r>
                      <a:endParaRPr lang="en-US" sz="12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Pack de 6</a:t>
                      </a:r>
                      <a:endParaRPr lang="en-US" sz="12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Pack de 12</a:t>
                      </a:r>
                      <a:endParaRPr lang="en-US" sz="12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r>
              <a:tr h="502920">
                <a:tc>
                  <a:txBody>
                    <a:bodyPr/>
                    <a:lstStyle/>
                    <a:p>
                      <a:pPr indent="0" marL="0">
                        <a:buNone/>
                      </a:pPr>
                      <a:r>
                        <a:rPr lang="en-US" sz="1300" b="1" dirty="0">
                          <a:solidFill>
                            <a:schemeClr val="tx1"/>
                          </a:solidFill>
                        </a:rPr>
                        <a:t>Stand y ferias</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6DCD5"/>
                    </a:solidFill>
                  </a:tcPr>
                </a:tc>
                <a:tc>
                  <a:txBody>
                    <a:bodyPr/>
                    <a:lstStyle/>
                    <a:p>
                      <a:pPr algn="ctr" indent="0" marL="0">
                        <a:buNone/>
                      </a:pPr>
                      <a:r>
                        <a:rPr lang="en-US" sz="1300" b="1" dirty="0">
                          <a:solidFill>
                            <a:schemeClr val="tx1"/>
                          </a:solidFill>
                        </a:rPr>
                        <a:t>S/6.00</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6DCD5"/>
                    </a:solidFill>
                  </a:tcPr>
                </a:tc>
                <a:tc>
                  <a:txBody>
                    <a:bodyPr/>
                    <a:lstStyle/>
                    <a:p>
                      <a:pPr algn="ctr" indent="0" marL="0">
                        <a:buNone/>
                      </a:pPr>
                      <a:r>
                        <a:rPr lang="en-US" sz="1300" b="1" dirty="0">
                          <a:solidFill>
                            <a:schemeClr val="tx1"/>
                          </a:solidFill>
                        </a:rPr>
                        <a:t>S/16.50</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6DCD5"/>
                    </a:solidFill>
                  </a:tcPr>
                </a:tc>
                <a:tc>
                  <a:txBody>
                    <a:bodyPr/>
                    <a:lstStyle/>
                    <a:p>
                      <a:pPr algn="ctr" indent="0" marL="0">
                        <a:buNone/>
                      </a:pPr>
                      <a:r>
                        <a:rPr lang="en-US" sz="1300" b="1" dirty="0">
                          <a:solidFill>
                            <a:schemeClr val="tx1"/>
                          </a:solidFill>
                        </a:rPr>
                        <a:t>S/27.90</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6DCD5"/>
                    </a:solidFill>
                  </a:tcPr>
                </a:tc>
                <a:tc>
                  <a:txBody>
                    <a:bodyPr/>
                    <a:lstStyle/>
                    <a:p>
                      <a:pPr algn="ctr" indent="0" marL="0">
                        <a:buNone/>
                      </a:pPr>
                      <a:r>
                        <a:rPr lang="en-US" sz="1300" b="1" dirty="0">
                          <a:solidFill>
                            <a:schemeClr val="tx1"/>
                          </a:solidFill>
                        </a:rPr>
                        <a:t>S/51.90</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6DCD5"/>
                    </a:solidFill>
                  </a:tcPr>
                </a:tc>
              </a:tr>
              <a:tr h="502920">
                <a:tc>
                  <a:txBody>
                    <a:bodyPr/>
                    <a:lstStyle/>
                    <a:p>
                      <a:pPr indent="0" marL="0">
                        <a:buNone/>
                      </a:pPr>
                      <a:r>
                        <a:rPr lang="en-US" sz="1300" b="1" dirty="0">
                          <a:solidFill>
                            <a:schemeClr val="tx1"/>
                          </a:solidFill>
                        </a:rPr>
                        <a:t>WhatsApp</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S/12.00</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S/26.90</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S/49.90</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chemeClr val="tx1"/>
                          </a:solidFill>
                        </a:rPr>
                        <a:t>Quiosco escolar</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S/4.00*</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chemeClr val="tx1"/>
                          </a:solidFill>
                        </a:rPr>
                        <a:t>Tienda naturista</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S/28.90*</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300" dirty="0">
                          <a:solidFill>
                            <a:schemeClr val="tx1"/>
                          </a:solidFill>
                        </a:rPr>
                        <a:t>–</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bl>
          </a:graphicData>
        </a:graphic>
      </p:graphicFrame>
      <p:sp>
        <p:nvSpPr>
          <p:cNvPr id="25" name="Shape 18"/>
          <p:cNvSpPr/>
          <p:nvPr/>
        </p:nvSpPr>
        <p:spPr>
          <a:xfrm>
            <a:off x="6583680" y="4343400"/>
            <a:ext cx="5056632" cy="1783080"/>
          </a:xfrm>
          <a:prstGeom prst="roundRect">
            <a:avLst>
              <a:gd name="adj" fmla="val 6154"/>
            </a:avLst>
          </a:prstGeom>
          <a:solidFill>
            <a:schemeClr val="bg2"/>
          </a:solidFill>
          <a:ln w="12700">
            <a:solidFill>
              <a:schemeClr val="bg2"/>
            </a:solidFill>
            <a:prstDash val="solid"/>
          </a:ln>
        </p:spPr>
      </p:sp>
      <p:sp>
        <p:nvSpPr>
          <p:cNvPr id="26" name="Text 19"/>
          <p:cNvSpPr txBox="1"/>
          <p:nvPr/>
        </p:nvSpPr>
        <p:spPr>
          <a:xfrm>
            <a:off x="6812280" y="4434840"/>
            <a:ext cx="4617720" cy="160020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Precio fijo por lista</a:t>
            </a:r>
            <a:endParaRPr lang="en-US" sz="1400" dirty="0"/>
          </a:p>
          <a:p>
            <a:pPr indent="0" marL="0">
              <a:spcAft>
                <a:spcPts val="400"/>
              </a:spcAft>
              <a:buNone/>
            </a:pPr>
            <a:r>
              <a:rPr lang="en-US" sz="1400" dirty="0">
                <a:solidFill>
                  <a:schemeClr val="tx1"/>
                </a:solidFill>
              </a:rPr>
              <a:t>Incluye el hierro medido por lote y la app. En el stand se cobra algo más por el alquiler y el personal.</a:t>
            </a:r>
            <a:endParaRPr lang="en-US" sz="1400" dirty="0"/>
          </a:p>
          <a:p>
            <a:pPr indent="0" marL="0">
              <a:spcAft>
                <a:spcPts val="400"/>
              </a:spcAft>
              <a:buNone/>
            </a:pPr>
            <a:r>
              <a:rPr lang="en-US" sz="1100" i="1" dirty="0">
                <a:solidFill>
                  <a:schemeClr val="accent2"/>
                </a:solidFill>
              </a:rPr>
              <a:t>* Precio al público. AndiBite recibe S/3.20 en el quiosco y S/18.50 en la naturista.</a:t>
            </a:r>
            <a:endParaRPr lang="en-US" sz="14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6 · VENTAS DEL AÑO 1</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S/244,700 en ventas el primer año</a:t>
            </a:r>
            <a:endParaRPr lang="en-US" sz="3400" dirty="0"/>
          </a:p>
        </p:txBody>
      </p:sp>
      <p:graphicFrame>
        <p:nvGraphicFramePr>
          <p:cNvPr id="4" name="Chart 0" descr=""/>
          <p:cNvGraphicFramePr/>
          <p:nvPr/>
        </p:nvGraphicFramePr>
        <p:xfrm>
          <a:off x="365760" y="1463040"/>
          <a:ext cx="4023360" cy="40690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572000" y="1463040"/>
          <a:ext cx="7223760" cy="406908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548640" y="5596128"/>
            <a:ext cx="3566160" cy="658368"/>
          </a:xfrm>
          <a:prstGeom prst="roundRect">
            <a:avLst>
              <a:gd name="adj" fmla="val 1388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7" name="Text 3"/>
          <p:cNvSpPr txBox="1"/>
          <p:nvPr/>
        </p:nvSpPr>
        <p:spPr>
          <a:xfrm>
            <a:off x="777240" y="5596128"/>
            <a:ext cx="3200400" cy="658368"/>
          </a:xfrm>
          <a:prstGeom prst="rect">
            <a:avLst/>
          </a:prstGeom>
          <a:noFill/>
          <a:ln/>
        </p:spPr>
        <p:txBody>
          <a:bodyPr wrap="square" lIns="0" tIns="0" rIns="0" bIns="0" rtlCol="0" anchor="ctr"/>
          <a:lstStyle/>
          <a:p>
            <a:pPr indent="0" marL="0">
              <a:buNone/>
            </a:pPr>
            <a:r>
              <a:rPr lang="en-US" sz="2000" b="1" dirty="0">
                <a:solidFill>
                  <a:schemeClr val="accent1"/>
                </a:solidFill>
              </a:rPr>
              <a:t>52,331  </a:t>
            </a:r>
            <a:pPr indent="0" marL="0">
              <a:buNone/>
            </a:pPr>
            <a:r>
              <a:rPr lang="en-US" sz="1300" dirty="0">
                <a:solidFill>
                  <a:schemeClr val="accent2"/>
                </a:solidFill>
              </a:rPr>
              <a:t>brownies vendidos</a:t>
            </a:r>
            <a:endParaRPr lang="en-US" sz="1400" dirty="0"/>
          </a:p>
        </p:txBody>
      </p:sp>
      <p:sp>
        <p:nvSpPr>
          <p:cNvPr id="8" name="Shape 4"/>
          <p:cNvSpPr/>
          <p:nvPr/>
        </p:nvSpPr>
        <p:spPr>
          <a:xfrm>
            <a:off x="4311396" y="5596128"/>
            <a:ext cx="3566160" cy="658368"/>
          </a:xfrm>
          <a:prstGeom prst="roundRect">
            <a:avLst>
              <a:gd name="adj" fmla="val 1388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9" name="Text 5"/>
          <p:cNvSpPr txBox="1"/>
          <p:nvPr/>
        </p:nvSpPr>
        <p:spPr>
          <a:xfrm>
            <a:off x="4539996" y="5596128"/>
            <a:ext cx="3200400" cy="658368"/>
          </a:xfrm>
          <a:prstGeom prst="rect">
            <a:avLst/>
          </a:prstGeom>
          <a:noFill/>
          <a:ln/>
        </p:spPr>
        <p:txBody>
          <a:bodyPr wrap="square" lIns="0" tIns="0" rIns="0" bIns="0" rtlCol="0" anchor="ctr"/>
          <a:lstStyle/>
          <a:p>
            <a:pPr indent="0" marL="0">
              <a:buNone/>
            </a:pPr>
            <a:r>
              <a:rPr lang="en-US" sz="2000" b="1" dirty="0">
                <a:solidFill>
                  <a:schemeClr val="accent1"/>
                </a:solidFill>
              </a:rPr>
              <a:t>3,252 + 1,315  </a:t>
            </a:r>
            <a:pPr indent="0" marL="0">
              <a:buNone/>
            </a:pPr>
            <a:r>
              <a:rPr lang="en-US" sz="1300" dirty="0">
                <a:solidFill>
                  <a:schemeClr val="accent2"/>
                </a:solidFill>
              </a:rPr>
              <a:t>packs de 6 y cajas de 3</a:t>
            </a:r>
            <a:endParaRPr lang="en-US" sz="1400" dirty="0"/>
          </a:p>
        </p:txBody>
      </p:sp>
      <p:sp>
        <p:nvSpPr>
          <p:cNvPr id="10" name="Shape 6"/>
          <p:cNvSpPr/>
          <p:nvPr/>
        </p:nvSpPr>
        <p:spPr>
          <a:xfrm>
            <a:off x="8074152" y="5596128"/>
            <a:ext cx="3566160" cy="658368"/>
          </a:xfrm>
          <a:prstGeom prst="roundRect">
            <a:avLst>
              <a:gd name="adj" fmla="val 1388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1" name="Text 7"/>
          <p:cNvSpPr txBox="1"/>
          <p:nvPr/>
        </p:nvSpPr>
        <p:spPr>
          <a:xfrm>
            <a:off x="8302752" y="5596128"/>
            <a:ext cx="3200400" cy="658368"/>
          </a:xfrm>
          <a:prstGeom prst="rect">
            <a:avLst/>
          </a:prstGeom>
          <a:noFill/>
          <a:ln/>
        </p:spPr>
        <p:txBody>
          <a:bodyPr wrap="square" lIns="0" tIns="0" rIns="0" bIns="0" rtlCol="0" anchor="ctr"/>
          <a:lstStyle/>
          <a:p>
            <a:pPr indent="0" marL="0">
              <a:buNone/>
            </a:pPr>
            <a:r>
              <a:rPr lang="en-US" sz="2000" b="1" dirty="0">
                <a:solidFill>
                  <a:schemeClr val="accent1"/>
                </a:solidFill>
              </a:rPr>
              <a:t>S/4.68  </a:t>
            </a:r>
            <a:pPr indent="0" marL="0">
              <a:buNone/>
            </a:pPr>
            <a:r>
              <a:rPr lang="en-US" sz="1300" dirty="0">
                <a:solidFill>
                  <a:schemeClr val="accent2"/>
                </a:solidFill>
              </a:rPr>
              <a:t>de ingreso promedio por brownie</a:t>
            </a:r>
            <a:endParaRPr lang="en-US" sz="14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31520" y="777240"/>
            <a:ext cx="3657600" cy="1737360"/>
          </a:xfrm>
          <a:prstGeom prst="rect">
            <a:avLst/>
          </a:prstGeom>
          <a:noFill/>
          <a:ln/>
        </p:spPr>
        <p:txBody>
          <a:bodyPr wrap="square" lIns="0" tIns="0" rIns="0" bIns="0" rtlCol="0" anchor="t"/>
          <a:lstStyle/>
          <a:p>
            <a:pPr indent="0" marL="0">
              <a:buNone/>
            </a:pPr>
            <a:r>
              <a:rPr lang="en-US" sz="12000" b="1" dirty="0">
                <a:solidFill>
                  <a:schemeClr val="accent1"/>
                </a:solidFill>
              </a:rPr>
              <a:t>07</a:t>
            </a:r>
            <a:endParaRPr lang="en-US" sz="12000" dirty="0"/>
          </a:p>
        </p:txBody>
      </p:sp>
      <p:sp>
        <p:nvSpPr>
          <p:cNvPr id="3" name="Text 0"/>
          <p:cNvSpPr/>
          <p:nvPr>
            <p:ph idx="100" type="title" hasCustomPrompt="1"/>
          </p:nvPr>
        </p:nvSpPr>
        <p:spPr>
          <a:xfrm>
            <a:off x="731520" y="2514600"/>
            <a:ext cx="6949440" cy="1417320"/>
          </a:xfrm>
          <a:prstGeom prst="rect">
            <a:avLst/>
          </a:prstGeom>
          <a:noFill/>
          <a:ln/>
        </p:spPr>
        <p:txBody>
          <a:bodyPr wrap="square" lIns="0" tIns="0" rIns="0" bIns="0" rtlCol="0" anchor="b"/>
          <a:lstStyle/>
          <a:p>
            <a:pPr algn="l" indent="0" marL="0">
              <a:buNone/>
            </a:pPr>
            <a:r>
              <a:rPr lang="en-US" sz="4400" b="1" dirty="0">
                <a:solidFill>
                  <a:schemeClr val="bg2"/>
                </a:solidFill>
              </a:rPr>
              <a:t>Socios, recursos, actividades y costos</a:t>
            </a:r>
            <a:endParaRPr lang="en-US" sz="4400" dirty="0"/>
          </a:p>
        </p:txBody>
      </p:sp>
      <p:sp>
        <p:nvSpPr>
          <p:cNvPr id="4" name="Text 0"/>
          <p:cNvSpPr/>
          <p:nvPr>
            <p:ph idx="101" type="body" hasCustomPrompt="1"/>
          </p:nvPr>
        </p:nvSpPr>
        <p:spPr>
          <a:xfrm>
            <a:off x="731520" y="4069080"/>
            <a:ext cx="6949440" cy="1188720"/>
          </a:xfrm>
          <a:prstGeom prst="rect">
            <a:avLst/>
          </a:prstGeom>
          <a:noFill/>
          <a:ln/>
        </p:spPr>
        <p:txBody>
          <a:bodyPr wrap="square" lIns="0" tIns="0" rIns="0" bIns="0" rtlCol="0" anchor="t"/>
          <a:lstStyle/>
          <a:p>
            <a:pPr indent="0" marL="0">
              <a:buNone/>
            </a:pPr>
            <a:r>
              <a:rPr lang="en-US" sz="1800" dirty="0">
                <a:solidFill>
                  <a:schemeClr val="accent5"/>
                </a:solidFill>
              </a:rPr>
              <a:t>Socios y recursos · Actividades y costos · Punto de equilibrio · Resultados de los años 1 y 2 · Canvas</a:t>
            </a:r>
            <a:endParaRPr lang="en-US" sz="1800" dirty="0"/>
          </a:p>
        </p:txBody>
      </p:sp>
      <p:sp>
        <p:nvSpPr>
          <p:cNvPr id="5" name="Shape 3"/>
          <p:cNvSpPr/>
          <p:nvPr/>
        </p:nvSpPr>
        <p:spPr>
          <a:xfrm>
            <a:off x="8001000" y="1417320"/>
            <a:ext cx="3840480" cy="384048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9006840" y="2423160"/>
            <a:ext cx="1828800" cy="18288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7 · SOCIOS CLAVE</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Seis aliados que hacen lo que nosotros no podemos</a:t>
            </a:r>
            <a:endParaRPr lang="en-US" sz="3400" dirty="0"/>
          </a:p>
        </p:txBody>
      </p:sp>
      <p:sp>
        <p:nvSpPr>
          <p:cNvPr id="4" name="Shape 2"/>
          <p:cNvSpPr/>
          <p:nvPr/>
        </p:nvSpPr>
        <p:spPr>
          <a:xfrm>
            <a:off x="4956048" y="2697480"/>
            <a:ext cx="2286000" cy="2286000"/>
          </a:xfrm>
          <a:prstGeom prst="ellipse">
            <a:avLst/>
          </a:prstGeom>
          <a:solidFill>
            <a:schemeClr val="tx2"/>
          </a:solidFill>
          <a:ln w="38100">
            <a:solidFill>
              <a:schemeClr val="accent5"/>
            </a:solidFill>
            <a:prstDash val="solid"/>
          </a:ln>
        </p:spPr>
      </p:sp>
      <p:pic>
        <p:nvPicPr>
          <p:cNvPr id="5" name="Image 0" descr="img/logo_light.png">    </p:cNvPr>
          <p:cNvPicPr>
            <a:picLocks noChangeAspect="1"/>
          </p:cNvPicPr>
          <p:nvPr/>
        </p:nvPicPr>
        <p:blipFill>
          <a:blip r:embed="rId1"/>
          <a:stretch>
            <a:fillRect/>
          </a:stretch>
        </p:blipFill>
        <p:spPr>
          <a:xfrm>
            <a:off x="5276088" y="3310128"/>
            <a:ext cx="1645920" cy="566928"/>
          </a:xfrm>
          <a:prstGeom prst="rect">
            <a:avLst/>
          </a:prstGeom>
        </p:spPr>
      </p:pic>
      <p:sp>
        <p:nvSpPr>
          <p:cNvPr id="6" name="Text 3"/>
          <p:cNvSpPr txBox="1"/>
          <p:nvPr/>
        </p:nvSpPr>
        <p:spPr>
          <a:xfrm>
            <a:off x="4956048" y="4023360"/>
            <a:ext cx="2286000" cy="320040"/>
          </a:xfrm>
          <a:prstGeom prst="rect">
            <a:avLst/>
          </a:prstGeom>
          <a:noFill/>
          <a:ln/>
        </p:spPr>
        <p:txBody>
          <a:bodyPr wrap="square" lIns="0" tIns="0" rIns="0" bIns="0" rtlCol="0" anchor="t"/>
          <a:lstStyle/>
          <a:p>
            <a:pPr algn="ctr" indent="0" marL="0">
              <a:buNone/>
            </a:pPr>
            <a:r>
              <a:rPr lang="en-US" sz="1300" b="1" dirty="0">
                <a:solidFill>
                  <a:schemeClr val="accent5"/>
                </a:solidFill>
              </a:rPr>
              <a:t>AndiBite S.A.C.</a:t>
            </a:r>
            <a:endParaRPr lang="en-US" sz="1300" dirty="0"/>
          </a:p>
        </p:txBody>
      </p:sp>
      <p:sp>
        <p:nvSpPr>
          <p:cNvPr id="7" name="Shape 4"/>
          <p:cNvSpPr/>
          <p:nvPr/>
        </p:nvSpPr>
        <p:spPr>
          <a:xfrm>
            <a:off x="4480560" y="2217420"/>
            <a:ext cx="795528" cy="1623060"/>
          </a:xfrm>
          <a:prstGeom prst="line">
            <a:avLst/>
          </a:prstGeom>
          <a:noFill/>
          <a:ln w="19050">
            <a:solidFill>
              <a:schemeClr val="accent5"/>
            </a:solidFill>
            <a:prstDash val="dash"/>
          </a:ln>
        </p:spPr>
      </p:sp>
      <p:sp>
        <p:nvSpPr>
          <p:cNvPr id="8" name="Shape 5"/>
          <p:cNvSpPr/>
          <p:nvPr/>
        </p:nvSpPr>
        <p:spPr>
          <a:xfrm>
            <a:off x="548640" y="1554480"/>
            <a:ext cx="3931920" cy="1325880"/>
          </a:xfrm>
          <a:prstGeom prst="roundRect">
            <a:avLst>
              <a:gd name="adj" fmla="val 8276"/>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9" name="Shape 6"/>
          <p:cNvSpPr/>
          <p:nvPr/>
        </p:nvSpPr>
        <p:spPr>
          <a:xfrm>
            <a:off x="731520" y="1783080"/>
            <a:ext cx="594360" cy="59436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862279" y="1913839"/>
            <a:ext cx="332842" cy="332842"/>
          </a:xfrm>
          <a:prstGeom prst="rect">
            <a:avLst/>
          </a:prstGeom>
        </p:spPr>
      </p:pic>
      <p:sp>
        <p:nvSpPr>
          <p:cNvPr id="11" name="Text 7"/>
          <p:cNvSpPr txBox="1"/>
          <p:nvPr/>
        </p:nvSpPr>
        <p:spPr>
          <a:xfrm>
            <a:off x="1508760" y="1691640"/>
            <a:ext cx="2834640" cy="329184"/>
          </a:xfrm>
          <a:prstGeom prst="rect">
            <a:avLst/>
          </a:prstGeom>
          <a:noFill/>
          <a:ln/>
        </p:spPr>
        <p:txBody>
          <a:bodyPr wrap="square" lIns="0" tIns="0" rIns="0" bIns="0" rtlCol="0" anchor="t"/>
          <a:lstStyle/>
          <a:p>
            <a:pPr indent="0" marL="0">
              <a:buNone/>
            </a:pPr>
            <a:r>
              <a:rPr lang="en-US" sz="1600" b="1" dirty="0">
                <a:solidFill>
                  <a:schemeClr val="tx2"/>
                </a:solidFill>
              </a:rPr>
              <a:t>Planta que fabrica por nosotros</a:t>
            </a:r>
            <a:endParaRPr lang="en-US" sz="1600" dirty="0"/>
          </a:p>
        </p:txBody>
      </p:sp>
      <p:sp>
        <p:nvSpPr>
          <p:cNvPr id="12" name="Text 8"/>
          <p:cNvSpPr txBox="1"/>
          <p:nvPr/>
        </p:nvSpPr>
        <p:spPr>
          <a:xfrm>
            <a:off x="1508760" y="2011680"/>
            <a:ext cx="2834640" cy="329184"/>
          </a:xfrm>
          <a:prstGeom prst="rect">
            <a:avLst/>
          </a:prstGeom>
          <a:noFill/>
          <a:ln/>
        </p:spPr>
        <p:txBody>
          <a:bodyPr wrap="square" lIns="0" tIns="0" rIns="0" bIns="0" rtlCol="0" anchor="t"/>
          <a:lstStyle/>
          <a:p>
            <a:pPr indent="0" marL="0">
              <a:buNone/>
            </a:pPr>
            <a:r>
              <a:rPr lang="en-US" sz="1200" dirty="0">
                <a:solidFill>
                  <a:schemeClr val="tx1"/>
                </a:solidFill>
              </a:rPr>
              <a:t>MAKING, Panificadora Unión, INDDA</a:t>
            </a:r>
            <a:endParaRPr lang="en-US" sz="1200" dirty="0"/>
          </a:p>
        </p:txBody>
      </p:sp>
      <p:sp>
        <p:nvSpPr>
          <p:cNvPr id="13" name="Shape 9"/>
          <p:cNvSpPr/>
          <p:nvPr/>
        </p:nvSpPr>
        <p:spPr>
          <a:xfrm>
            <a:off x="1508760" y="2441448"/>
            <a:ext cx="914400" cy="274320"/>
          </a:xfrm>
          <a:prstGeom prst="roundRect">
            <a:avLst>
              <a:gd name="adj" fmla="val 50000"/>
            </a:avLst>
          </a:prstGeom>
          <a:solidFill>
            <a:schemeClr val="bg2"/>
          </a:solidFill>
          <a:ln w="9525">
            <a:solidFill>
              <a:schemeClr val="accent5"/>
            </a:solidFill>
            <a:prstDash val="solid"/>
          </a:ln>
        </p:spPr>
      </p:sp>
      <p:sp>
        <p:nvSpPr>
          <p:cNvPr id="14" name="Text 10"/>
          <p:cNvSpPr txBox="1"/>
          <p:nvPr/>
        </p:nvSpPr>
        <p:spPr>
          <a:xfrm>
            <a:off x="1508760" y="2441448"/>
            <a:ext cx="914400" cy="274320"/>
          </a:xfrm>
          <a:prstGeom prst="rect">
            <a:avLst/>
          </a:prstGeom>
          <a:noFill/>
          <a:ln/>
        </p:spPr>
        <p:txBody>
          <a:bodyPr wrap="square" lIns="0" tIns="0" rIns="0" bIns="0" rtlCol="0" anchor="ctr"/>
          <a:lstStyle/>
          <a:p>
            <a:pPr algn="ctr" indent="0" marL="0">
              <a:buNone/>
            </a:pPr>
            <a:r>
              <a:rPr lang="en-US" sz="900" b="1" dirty="0">
                <a:solidFill>
                  <a:schemeClr val="accent2"/>
                </a:solidFill>
              </a:rPr>
              <a:t>– Conecta</a:t>
            </a:r>
            <a:endParaRPr lang="en-US" sz="900" dirty="0"/>
          </a:p>
        </p:txBody>
      </p:sp>
      <p:sp>
        <p:nvSpPr>
          <p:cNvPr id="15" name="Shape 11"/>
          <p:cNvSpPr/>
          <p:nvPr/>
        </p:nvSpPr>
        <p:spPr>
          <a:xfrm>
            <a:off x="2478024" y="2441448"/>
            <a:ext cx="914400" cy="274320"/>
          </a:xfrm>
          <a:prstGeom prst="roundRect">
            <a:avLst>
              <a:gd name="adj" fmla="val 50000"/>
            </a:avLst>
          </a:prstGeom>
          <a:solidFill>
            <a:schemeClr val="accent4"/>
          </a:solidFill>
          <a:ln w="9525">
            <a:solidFill>
              <a:schemeClr val="accent4"/>
            </a:solidFill>
            <a:prstDash val="solid"/>
          </a:ln>
        </p:spPr>
      </p:sp>
      <p:sp>
        <p:nvSpPr>
          <p:cNvPr id="16" name="Text 12"/>
          <p:cNvSpPr txBox="1"/>
          <p:nvPr/>
        </p:nvSpPr>
        <p:spPr>
          <a:xfrm>
            <a:off x="2478024" y="2441448"/>
            <a:ext cx="914400" cy="274320"/>
          </a:xfrm>
          <a:prstGeom prst="rect">
            <a:avLst/>
          </a:prstGeom>
          <a:noFill/>
          <a:ln/>
        </p:spPr>
        <p:txBody>
          <a:bodyPr wrap="square" lIns="0" tIns="0" rIns="0" bIns="0" rtlCol="0" anchor="ctr"/>
          <a:lstStyle/>
          <a:p>
            <a:pPr algn="ctr" indent="0" marL="0">
              <a:buNone/>
            </a:pPr>
            <a:r>
              <a:rPr lang="en-US" sz="900" b="1" dirty="0">
                <a:solidFill>
                  <a:schemeClr val="bg1"/>
                </a:solidFill>
              </a:rPr>
              <a:t>✓ Convierte</a:t>
            </a:r>
            <a:endParaRPr lang="en-US" sz="900" dirty="0"/>
          </a:p>
        </p:txBody>
      </p:sp>
      <p:sp>
        <p:nvSpPr>
          <p:cNvPr id="17" name="Shape 13"/>
          <p:cNvSpPr/>
          <p:nvPr/>
        </p:nvSpPr>
        <p:spPr>
          <a:xfrm>
            <a:off x="3447288" y="2441448"/>
            <a:ext cx="914400" cy="274320"/>
          </a:xfrm>
          <a:prstGeom prst="roundRect">
            <a:avLst>
              <a:gd name="adj" fmla="val 50000"/>
            </a:avLst>
          </a:prstGeom>
          <a:solidFill>
            <a:schemeClr val="accent4"/>
          </a:solidFill>
          <a:ln w="9525">
            <a:solidFill>
              <a:schemeClr val="accent4"/>
            </a:solidFill>
            <a:prstDash val="solid"/>
          </a:ln>
        </p:spPr>
      </p:sp>
      <p:sp>
        <p:nvSpPr>
          <p:cNvPr id="18" name="Text 14"/>
          <p:cNvSpPr txBox="1"/>
          <p:nvPr/>
        </p:nvSpPr>
        <p:spPr>
          <a:xfrm>
            <a:off x="3447288" y="2441448"/>
            <a:ext cx="914400" cy="274320"/>
          </a:xfrm>
          <a:prstGeom prst="rect">
            <a:avLst/>
          </a:prstGeom>
          <a:noFill/>
          <a:ln/>
        </p:spPr>
        <p:txBody>
          <a:bodyPr wrap="square" lIns="0" tIns="0" rIns="0" bIns="0" rtlCol="0" anchor="ctr"/>
          <a:lstStyle/>
          <a:p>
            <a:pPr algn="ctr" indent="0" marL="0">
              <a:buNone/>
            </a:pPr>
            <a:r>
              <a:rPr lang="en-US" sz="900" b="1" dirty="0">
                <a:solidFill>
                  <a:schemeClr val="bg1"/>
                </a:solidFill>
              </a:rPr>
              <a:t>✓ Complementa</a:t>
            </a:r>
            <a:endParaRPr lang="en-US" sz="900" dirty="0"/>
          </a:p>
        </p:txBody>
      </p:sp>
      <p:sp>
        <p:nvSpPr>
          <p:cNvPr id="19" name="Shape 15"/>
          <p:cNvSpPr/>
          <p:nvPr/>
        </p:nvSpPr>
        <p:spPr>
          <a:xfrm>
            <a:off x="4480560" y="3753612"/>
            <a:ext cx="795528" cy="86868"/>
          </a:xfrm>
          <a:prstGeom prst="line">
            <a:avLst/>
          </a:prstGeom>
          <a:noFill/>
          <a:ln w="19050">
            <a:solidFill>
              <a:schemeClr val="accent5"/>
            </a:solidFill>
            <a:prstDash val="dash"/>
          </a:ln>
        </p:spPr>
      </p:sp>
      <p:sp>
        <p:nvSpPr>
          <p:cNvPr id="20" name="Shape 16"/>
          <p:cNvSpPr/>
          <p:nvPr/>
        </p:nvSpPr>
        <p:spPr>
          <a:xfrm>
            <a:off x="548640" y="3090672"/>
            <a:ext cx="3931920" cy="1325880"/>
          </a:xfrm>
          <a:prstGeom prst="roundRect">
            <a:avLst>
              <a:gd name="adj" fmla="val 8276"/>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1" name="Shape 17"/>
          <p:cNvSpPr/>
          <p:nvPr/>
        </p:nvSpPr>
        <p:spPr>
          <a:xfrm>
            <a:off x="731520" y="3319272"/>
            <a:ext cx="594360" cy="594360"/>
          </a:xfrm>
          <a:prstGeom prst="ellipse">
            <a:avLst/>
          </a:prstGeom>
          <a:solidFill>
            <a:schemeClr val="accent1"/>
          </a:solidFill>
          <a:ln w="12700">
            <a:solidFill>
              <a:schemeClr val="accent1"/>
            </a:solidFill>
            <a:prstDash val="solid"/>
          </a:ln>
        </p:spPr>
      </p:sp>
      <p:pic>
        <p:nvPicPr>
          <p:cNvPr id="22" name="Image 2" descr="preencoded.png">    </p:cNvPr>
          <p:cNvPicPr>
            <a:picLocks noChangeAspect="1"/>
          </p:cNvPicPr>
          <p:nvPr/>
        </p:nvPicPr>
        <p:blipFill>
          <a:blip r:embed="rId3"/>
          <a:stretch>
            <a:fillRect/>
          </a:stretch>
        </p:blipFill>
        <p:spPr>
          <a:xfrm>
            <a:off x="862279" y="3450031"/>
            <a:ext cx="332842" cy="332842"/>
          </a:xfrm>
          <a:prstGeom prst="rect">
            <a:avLst/>
          </a:prstGeom>
        </p:spPr>
      </p:pic>
      <p:sp>
        <p:nvSpPr>
          <p:cNvPr id="23" name="Text 18"/>
          <p:cNvSpPr txBox="1"/>
          <p:nvPr/>
        </p:nvSpPr>
        <p:spPr>
          <a:xfrm>
            <a:off x="1508760" y="3227832"/>
            <a:ext cx="2834640" cy="329184"/>
          </a:xfrm>
          <a:prstGeom prst="rect">
            <a:avLst/>
          </a:prstGeom>
          <a:noFill/>
          <a:ln/>
        </p:spPr>
        <p:txBody>
          <a:bodyPr wrap="square" lIns="0" tIns="0" rIns="0" bIns="0" rtlCol="0" anchor="t"/>
          <a:lstStyle/>
          <a:p>
            <a:pPr indent="0" marL="0">
              <a:buNone/>
            </a:pPr>
            <a:r>
              <a:rPr lang="en-US" sz="1600" b="1" dirty="0">
                <a:solidFill>
                  <a:schemeClr val="tx2"/>
                </a:solidFill>
              </a:rPr>
              <a:t>Laboratorio acreditado</a:t>
            </a:r>
            <a:endParaRPr lang="en-US" sz="1600" dirty="0"/>
          </a:p>
        </p:txBody>
      </p:sp>
      <p:sp>
        <p:nvSpPr>
          <p:cNvPr id="24" name="Text 19"/>
          <p:cNvSpPr txBox="1"/>
          <p:nvPr/>
        </p:nvSpPr>
        <p:spPr>
          <a:xfrm>
            <a:off x="1508760" y="3547872"/>
            <a:ext cx="2834640" cy="329184"/>
          </a:xfrm>
          <a:prstGeom prst="rect">
            <a:avLst/>
          </a:prstGeom>
          <a:noFill/>
          <a:ln/>
        </p:spPr>
        <p:txBody>
          <a:bodyPr wrap="square" lIns="0" tIns="0" rIns="0" bIns="0" rtlCol="0" anchor="t"/>
          <a:lstStyle/>
          <a:p>
            <a:pPr indent="0" marL="0">
              <a:buNone/>
            </a:pPr>
            <a:r>
              <a:rPr lang="en-US" sz="1200" dirty="0">
                <a:solidFill>
                  <a:schemeClr val="tx1"/>
                </a:solidFill>
              </a:rPr>
              <a:t>SAT Perú y La Molina Calidad Total</a:t>
            </a:r>
            <a:endParaRPr lang="en-US" sz="1200" dirty="0"/>
          </a:p>
        </p:txBody>
      </p:sp>
      <p:sp>
        <p:nvSpPr>
          <p:cNvPr id="25" name="Shape 20"/>
          <p:cNvSpPr/>
          <p:nvPr/>
        </p:nvSpPr>
        <p:spPr>
          <a:xfrm>
            <a:off x="1508760" y="3977640"/>
            <a:ext cx="914400" cy="274320"/>
          </a:xfrm>
          <a:prstGeom prst="roundRect">
            <a:avLst>
              <a:gd name="adj" fmla="val 50000"/>
            </a:avLst>
          </a:prstGeom>
          <a:solidFill>
            <a:schemeClr val="accent4"/>
          </a:solidFill>
          <a:ln w="9525">
            <a:solidFill>
              <a:schemeClr val="accent4"/>
            </a:solidFill>
            <a:prstDash val="solid"/>
          </a:ln>
        </p:spPr>
      </p:sp>
      <p:sp>
        <p:nvSpPr>
          <p:cNvPr id="26" name="Text 21"/>
          <p:cNvSpPr txBox="1"/>
          <p:nvPr/>
        </p:nvSpPr>
        <p:spPr>
          <a:xfrm>
            <a:off x="1508760" y="3977640"/>
            <a:ext cx="914400" cy="274320"/>
          </a:xfrm>
          <a:prstGeom prst="rect">
            <a:avLst/>
          </a:prstGeom>
          <a:noFill/>
          <a:ln/>
        </p:spPr>
        <p:txBody>
          <a:bodyPr wrap="square" lIns="0" tIns="0" rIns="0" bIns="0" rtlCol="0" anchor="ctr"/>
          <a:lstStyle/>
          <a:p>
            <a:pPr algn="ctr" indent="0" marL="0">
              <a:buNone/>
            </a:pPr>
            <a:r>
              <a:rPr lang="en-US" sz="900" b="1" dirty="0">
                <a:solidFill>
                  <a:schemeClr val="bg1"/>
                </a:solidFill>
              </a:rPr>
              <a:t>✓ Conecta</a:t>
            </a:r>
            <a:endParaRPr lang="en-US" sz="900" dirty="0"/>
          </a:p>
        </p:txBody>
      </p:sp>
      <p:sp>
        <p:nvSpPr>
          <p:cNvPr id="27" name="Shape 22"/>
          <p:cNvSpPr/>
          <p:nvPr/>
        </p:nvSpPr>
        <p:spPr>
          <a:xfrm>
            <a:off x="2478024" y="3977640"/>
            <a:ext cx="914400" cy="274320"/>
          </a:xfrm>
          <a:prstGeom prst="roundRect">
            <a:avLst>
              <a:gd name="adj" fmla="val 50000"/>
            </a:avLst>
          </a:prstGeom>
          <a:solidFill>
            <a:schemeClr val="accent4"/>
          </a:solidFill>
          <a:ln w="9525">
            <a:solidFill>
              <a:schemeClr val="accent4"/>
            </a:solidFill>
            <a:prstDash val="solid"/>
          </a:ln>
        </p:spPr>
      </p:sp>
      <p:sp>
        <p:nvSpPr>
          <p:cNvPr id="28" name="Text 23"/>
          <p:cNvSpPr txBox="1"/>
          <p:nvPr/>
        </p:nvSpPr>
        <p:spPr>
          <a:xfrm>
            <a:off x="2478024" y="3977640"/>
            <a:ext cx="914400" cy="274320"/>
          </a:xfrm>
          <a:prstGeom prst="rect">
            <a:avLst/>
          </a:prstGeom>
          <a:noFill/>
          <a:ln/>
        </p:spPr>
        <p:txBody>
          <a:bodyPr wrap="square" lIns="0" tIns="0" rIns="0" bIns="0" rtlCol="0" anchor="ctr"/>
          <a:lstStyle/>
          <a:p>
            <a:pPr algn="ctr" indent="0" marL="0">
              <a:buNone/>
            </a:pPr>
            <a:r>
              <a:rPr lang="en-US" sz="900" b="1" dirty="0">
                <a:solidFill>
                  <a:schemeClr val="bg1"/>
                </a:solidFill>
              </a:rPr>
              <a:t>✓ Convierte</a:t>
            </a:r>
            <a:endParaRPr lang="en-US" sz="900" dirty="0"/>
          </a:p>
        </p:txBody>
      </p:sp>
      <p:sp>
        <p:nvSpPr>
          <p:cNvPr id="29" name="Shape 24"/>
          <p:cNvSpPr/>
          <p:nvPr/>
        </p:nvSpPr>
        <p:spPr>
          <a:xfrm>
            <a:off x="3447288" y="3977640"/>
            <a:ext cx="914400" cy="274320"/>
          </a:xfrm>
          <a:prstGeom prst="roundRect">
            <a:avLst>
              <a:gd name="adj" fmla="val 50000"/>
            </a:avLst>
          </a:prstGeom>
          <a:solidFill>
            <a:schemeClr val="accent4"/>
          </a:solidFill>
          <a:ln w="9525">
            <a:solidFill>
              <a:schemeClr val="accent4"/>
            </a:solidFill>
            <a:prstDash val="solid"/>
          </a:ln>
        </p:spPr>
      </p:sp>
      <p:sp>
        <p:nvSpPr>
          <p:cNvPr id="30" name="Text 25"/>
          <p:cNvSpPr txBox="1"/>
          <p:nvPr/>
        </p:nvSpPr>
        <p:spPr>
          <a:xfrm>
            <a:off x="3447288" y="3977640"/>
            <a:ext cx="914400" cy="274320"/>
          </a:xfrm>
          <a:prstGeom prst="rect">
            <a:avLst/>
          </a:prstGeom>
          <a:noFill/>
          <a:ln/>
        </p:spPr>
        <p:txBody>
          <a:bodyPr wrap="square" lIns="0" tIns="0" rIns="0" bIns="0" rtlCol="0" anchor="ctr"/>
          <a:lstStyle/>
          <a:p>
            <a:pPr algn="ctr" indent="0" marL="0">
              <a:buNone/>
            </a:pPr>
            <a:r>
              <a:rPr lang="en-US" sz="900" b="1" dirty="0">
                <a:solidFill>
                  <a:schemeClr val="bg1"/>
                </a:solidFill>
              </a:rPr>
              <a:t>✓ Complementa</a:t>
            </a:r>
            <a:endParaRPr lang="en-US" sz="900" dirty="0"/>
          </a:p>
        </p:txBody>
      </p:sp>
      <p:sp>
        <p:nvSpPr>
          <p:cNvPr id="31" name="Shape 26"/>
          <p:cNvSpPr/>
          <p:nvPr/>
        </p:nvSpPr>
        <p:spPr>
          <a:xfrm>
            <a:off x="4480560" y="5289804"/>
            <a:ext cx="795528" cy="-1449324"/>
          </a:xfrm>
          <a:prstGeom prst="line">
            <a:avLst/>
          </a:prstGeom>
          <a:noFill/>
          <a:ln w="19050">
            <a:solidFill>
              <a:schemeClr val="accent5"/>
            </a:solidFill>
            <a:prstDash val="dash"/>
          </a:ln>
        </p:spPr>
      </p:sp>
      <p:sp>
        <p:nvSpPr>
          <p:cNvPr id="32" name="Shape 27"/>
          <p:cNvSpPr/>
          <p:nvPr/>
        </p:nvSpPr>
        <p:spPr>
          <a:xfrm>
            <a:off x="548640" y="4626864"/>
            <a:ext cx="3931920" cy="1325880"/>
          </a:xfrm>
          <a:prstGeom prst="roundRect">
            <a:avLst>
              <a:gd name="adj" fmla="val 8276"/>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33" name="Shape 28"/>
          <p:cNvSpPr/>
          <p:nvPr/>
        </p:nvSpPr>
        <p:spPr>
          <a:xfrm>
            <a:off x="731520" y="4855464"/>
            <a:ext cx="594360" cy="594360"/>
          </a:xfrm>
          <a:prstGeom prst="ellipse">
            <a:avLst/>
          </a:prstGeom>
          <a:solidFill>
            <a:schemeClr val="accent1"/>
          </a:solidFill>
          <a:ln w="12700">
            <a:solidFill>
              <a:schemeClr val="accent1"/>
            </a:solidFill>
            <a:prstDash val="solid"/>
          </a:ln>
        </p:spPr>
      </p:sp>
      <p:pic>
        <p:nvPicPr>
          <p:cNvPr id="34" name="Image 3" descr="preencoded.png">    </p:cNvPr>
          <p:cNvPicPr>
            <a:picLocks noChangeAspect="1"/>
          </p:cNvPicPr>
          <p:nvPr/>
        </p:nvPicPr>
        <p:blipFill>
          <a:blip r:embed="rId4"/>
          <a:stretch>
            <a:fillRect/>
          </a:stretch>
        </p:blipFill>
        <p:spPr>
          <a:xfrm>
            <a:off x="862279" y="4986223"/>
            <a:ext cx="332842" cy="332842"/>
          </a:xfrm>
          <a:prstGeom prst="rect">
            <a:avLst/>
          </a:prstGeom>
        </p:spPr>
      </p:pic>
      <p:sp>
        <p:nvSpPr>
          <p:cNvPr id="35" name="Text 29"/>
          <p:cNvSpPr txBox="1"/>
          <p:nvPr/>
        </p:nvSpPr>
        <p:spPr>
          <a:xfrm>
            <a:off x="1508760" y="4764024"/>
            <a:ext cx="2834640" cy="329184"/>
          </a:xfrm>
          <a:prstGeom prst="rect">
            <a:avLst/>
          </a:prstGeom>
          <a:noFill/>
          <a:ln/>
        </p:spPr>
        <p:txBody>
          <a:bodyPr wrap="square" lIns="0" tIns="0" rIns="0" bIns="0" rtlCol="0" anchor="t"/>
          <a:lstStyle/>
          <a:p>
            <a:pPr indent="0" marL="0">
              <a:buNone/>
            </a:pPr>
            <a:r>
              <a:rPr lang="en-US" sz="1600" b="1" dirty="0">
                <a:solidFill>
                  <a:schemeClr val="tx2"/>
                </a:solidFill>
              </a:rPr>
              <a:t>Proveedores</a:t>
            </a:r>
            <a:endParaRPr lang="en-US" sz="1600" dirty="0"/>
          </a:p>
        </p:txBody>
      </p:sp>
      <p:sp>
        <p:nvSpPr>
          <p:cNvPr id="36" name="Text 30"/>
          <p:cNvSpPr txBox="1"/>
          <p:nvPr/>
        </p:nvSpPr>
        <p:spPr>
          <a:xfrm>
            <a:off x="1508760" y="5084064"/>
            <a:ext cx="2834640" cy="329184"/>
          </a:xfrm>
          <a:prstGeom prst="rect">
            <a:avLst/>
          </a:prstGeom>
          <a:noFill/>
          <a:ln/>
        </p:spPr>
        <p:txBody>
          <a:bodyPr wrap="square" lIns="0" tIns="0" rIns="0" bIns="0" rtlCol="0" anchor="t"/>
          <a:lstStyle/>
          <a:p>
            <a:pPr indent="0" marL="0">
              <a:buNone/>
            </a:pPr>
            <a:r>
              <a:rPr lang="en-US" sz="1200" dirty="0">
                <a:solidFill>
                  <a:schemeClr val="tx1"/>
                </a:solidFill>
              </a:rPr>
              <a:t>Sangrecita en polvo con RS, Makro, empaques</a:t>
            </a:r>
            <a:endParaRPr lang="en-US" sz="1200" dirty="0"/>
          </a:p>
        </p:txBody>
      </p:sp>
      <p:sp>
        <p:nvSpPr>
          <p:cNvPr id="37" name="Shape 31"/>
          <p:cNvSpPr/>
          <p:nvPr/>
        </p:nvSpPr>
        <p:spPr>
          <a:xfrm>
            <a:off x="1508760" y="5513832"/>
            <a:ext cx="914400" cy="274320"/>
          </a:xfrm>
          <a:prstGeom prst="roundRect">
            <a:avLst>
              <a:gd name="adj" fmla="val 50000"/>
            </a:avLst>
          </a:prstGeom>
          <a:solidFill>
            <a:schemeClr val="bg2"/>
          </a:solidFill>
          <a:ln w="9525">
            <a:solidFill>
              <a:schemeClr val="accent5"/>
            </a:solidFill>
            <a:prstDash val="solid"/>
          </a:ln>
        </p:spPr>
      </p:sp>
      <p:sp>
        <p:nvSpPr>
          <p:cNvPr id="38" name="Text 32"/>
          <p:cNvSpPr txBox="1"/>
          <p:nvPr/>
        </p:nvSpPr>
        <p:spPr>
          <a:xfrm>
            <a:off x="1508760" y="5513832"/>
            <a:ext cx="914400" cy="274320"/>
          </a:xfrm>
          <a:prstGeom prst="rect">
            <a:avLst/>
          </a:prstGeom>
          <a:noFill/>
          <a:ln/>
        </p:spPr>
        <p:txBody>
          <a:bodyPr wrap="square" lIns="0" tIns="0" rIns="0" bIns="0" rtlCol="0" anchor="ctr"/>
          <a:lstStyle/>
          <a:p>
            <a:pPr algn="ctr" indent="0" marL="0">
              <a:buNone/>
            </a:pPr>
            <a:r>
              <a:rPr lang="en-US" sz="900" b="1" dirty="0">
                <a:solidFill>
                  <a:schemeClr val="accent2"/>
                </a:solidFill>
              </a:rPr>
              <a:t>– Conecta</a:t>
            </a:r>
            <a:endParaRPr lang="en-US" sz="900" dirty="0"/>
          </a:p>
        </p:txBody>
      </p:sp>
      <p:sp>
        <p:nvSpPr>
          <p:cNvPr id="39" name="Shape 33"/>
          <p:cNvSpPr/>
          <p:nvPr/>
        </p:nvSpPr>
        <p:spPr>
          <a:xfrm>
            <a:off x="2478024" y="5513832"/>
            <a:ext cx="914400" cy="274320"/>
          </a:xfrm>
          <a:prstGeom prst="roundRect">
            <a:avLst>
              <a:gd name="adj" fmla="val 50000"/>
            </a:avLst>
          </a:prstGeom>
          <a:solidFill>
            <a:schemeClr val="accent4"/>
          </a:solidFill>
          <a:ln w="9525">
            <a:solidFill>
              <a:schemeClr val="accent4"/>
            </a:solidFill>
            <a:prstDash val="solid"/>
          </a:ln>
        </p:spPr>
      </p:sp>
      <p:sp>
        <p:nvSpPr>
          <p:cNvPr id="40" name="Text 34"/>
          <p:cNvSpPr txBox="1"/>
          <p:nvPr/>
        </p:nvSpPr>
        <p:spPr>
          <a:xfrm>
            <a:off x="2478024" y="5513832"/>
            <a:ext cx="914400" cy="274320"/>
          </a:xfrm>
          <a:prstGeom prst="rect">
            <a:avLst/>
          </a:prstGeom>
          <a:noFill/>
          <a:ln/>
        </p:spPr>
        <p:txBody>
          <a:bodyPr wrap="square" lIns="0" tIns="0" rIns="0" bIns="0" rtlCol="0" anchor="ctr"/>
          <a:lstStyle/>
          <a:p>
            <a:pPr algn="ctr" indent="0" marL="0">
              <a:buNone/>
            </a:pPr>
            <a:r>
              <a:rPr lang="en-US" sz="900" b="1" dirty="0">
                <a:solidFill>
                  <a:schemeClr val="bg1"/>
                </a:solidFill>
              </a:rPr>
              <a:t>✓ Convierte</a:t>
            </a:r>
            <a:endParaRPr lang="en-US" sz="900" dirty="0"/>
          </a:p>
        </p:txBody>
      </p:sp>
      <p:sp>
        <p:nvSpPr>
          <p:cNvPr id="41" name="Shape 35"/>
          <p:cNvSpPr/>
          <p:nvPr/>
        </p:nvSpPr>
        <p:spPr>
          <a:xfrm>
            <a:off x="3447288" y="5513832"/>
            <a:ext cx="914400" cy="274320"/>
          </a:xfrm>
          <a:prstGeom prst="roundRect">
            <a:avLst>
              <a:gd name="adj" fmla="val 50000"/>
            </a:avLst>
          </a:prstGeom>
          <a:solidFill>
            <a:schemeClr val="accent4"/>
          </a:solidFill>
          <a:ln w="9525">
            <a:solidFill>
              <a:schemeClr val="accent4"/>
            </a:solidFill>
            <a:prstDash val="solid"/>
          </a:ln>
        </p:spPr>
      </p:sp>
      <p:sp>
        <p:nvSpPr>
          <p:cNvPr id="42" name="Text 36"/>
          <p:cNvSpPr txBox="1"/>
          <p:nvPr/>
        </p:nvSpPr>
        <p:spPr>
          <a:xfrm>
            <a:off x="3447288" y="5513832"/>
            <a:ext cx="914400" cy="274320"/>
          </a:xfrm>
          <a:prstGeom prst="rect">
            <a:avLst/>
          </a:prstGeom>
          <a:noFill/>
          <a:ln/>
        </p:spPr>
        <p:txBody>
          <a:bodyPr wrap="square" lIns="0" tIns="0" rIns="0" bIns="0" rtlCol="0" anchor="ctr"/>
          <a:lstStyle/>
          <a:p>
            <a:pPr algn="ctr" indent="0" marL="0">
              <a:buNone/>
            </a:pPr>
            <a:r>
              <a:rPr lang="en-US" sz="900" b="1" dirty="0">
                <a:solidFill>
                  <a:schemeClr val="bg1"/>
                </a:solidFill>
              </a:rPr>
              <a:t>✓ Complementa</a:t>
            </a:r>
            <a:endParaRPr lang="en-US" sz="900" dirty="0"/>
          </a:p>
        </p:txBody>
      </p:sp>
      <p:sp>
        <p:nvSpPr>
          <p:cNvPr id="43" name="Shape 37"/>
          <p:cNvSpPr/>
          <p:nvPr/>
        </p:nvSpPr>
        <p:spPr>
          <a:xfrm flipV="1">
            <a:off x="6922008" y="2217420"/>
            <a:ext cx="786384" cy="1623060"/>
          </a:xfrm>
          <a:prstGeom prst="line">
            <a:avLst/>
          </a:prstGeom>
          <a:noFill/>
          <a:ln w="19050">
            <a:solidFill>
              <a:schemeClr val="accent5"/>
            </a:solidFill>
            <a:prstDash val="dash"/>
          </a:ln>
        </p:spPr>
      </p:sp>
      <p:sp>
        <p:nvSpPr>
          <p:cNvPr id="44" name="Shape 38"/>
          <p:cNvSpPr/>
          <p:nvPr/>
        </p:nvSpPr>
        <p:spPr>
          <a:xfrm>
            <a:off x="7708392" y="1554480"/>
            <a:ext cx="3931920" cy="1325880"/>
          </a:xfrm>
          <a:prstGeom prst="roundRect">
            <a:avLst>
              <a:gd name="adj" fmla="val 8276"/>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45" name="Shape 39"/>
          <p:cNvSpPr/>
          <p:nvPr/>
        </p:nvSpPr>
        <p:spPr>
          <a:xfrm>
            <a:off x="7891272" y="1783080"/>
            <a:ext cx="594360" cy="594360"/>
          </a:xfrm>
          <a:prstGeom prst="ellipse">
            <a:avLst/>
          </a:prstGeom>
          <a:solidFill>
            <a:schemeClr val="accent1"/>
          </a:solidFill>
          <a:ln w="12700">
            <a:solidFill>
              <a:schemeClr val="accent1"/>
            </a:solidFill>
            <a:prstDash val="solid"/>
          </a:ln>
        </p:spPr>
      </p:sp>
      <p:pic>
        <p:nvPicPr>
          <p:cNvPr id="46" name="Image 4" descr="preencoded.png">    </p:cNvPr>
          <p:cNvPicPr>
            <a:picLocks noChangeAspect="1"/>
          </p:cNvPicPr>
          <p:nvPr/>
        </p:nvPicPr>
        <p:blipFill>
          <a:blip r:embed="rId5"/>
          <a:stretch>
            <a:fillRect/>
          </a:stretch>
        </p:blipFill>
        <p:spPr>
          <a:xfrm>
            <a:off x="8022031" y="1913839"/>
            <a:ext cx="332842" cy="332842"/>
          </a:xfrm>
          <a:prstGeom prst="rect">
            <a:avLst/>
          </a:prstGeom>
        </p:spPr>
      </p:pic>
      <p:sp>
        <p:nvSpPr>
          <p:cNvPr id="47" name="Text 40"/>
          <p:cNvSpPr txBox="1"/>
          <p:nvPr/>
        </p:nvSpPr>
        <p:spPr>
          <a:xfrm>
            <a:off x="8668512" y="1691640"/>
            <a:ext cx="2834640" cy="329184"/>
          </a:xfrm>
          <a:prstGeom prst="rect">
            <a:avLst/>
          </a:prstGeom>
          <a:noFill/>
          <a:ln/>
        </p:spPr>
        <p:txBody>
          <a:bodyPr wrap="square" lIns="0" tIns="0" rIns="0" bIns="0" rtlCol="0" anchor="t"/>
          <a:lstStyle/>
          <a:p>
            <a:pPr indent="0" marL="0">
              <a:buNone/>
            </a:pPr>
            <a:r>
              <a:rPr lang="en-US" sz="1600" b="1" dirty="0">
                <a:solidFill>
                  <a:schemeClr val="tx2"/>
                </a:solidFill>
              </a:rPr>
              <a:t>Dónde vendemos</a:t>
            </a:r>
            <a:endParaRPr lang="en-US" sz="1600" dirty="0"/>
          </a:p>
        </p:txBody>
      </p:sp>
      <p:sp>
        <p:nvSpPr>
          <p:cNvPr id="48" name="Text 41"/>
          <p:cNvSpPr txBox="1"/>
          <p:nvPr/>
        </p:nvSpPr>
        <p:spPr>
          <a:xfrm>
            <a:off x="8668512" y="2011680"/>
            <a:ext cx="2834640" cy="329184"/>
          </a:xfrm>
          <a:prstGeom prst="rect">
            <a:avLst/>
          </a:prstGeom>
          <a:noFill/>
          <a:ln/>
        </p:spPr>
        <p:txBody>
          <a:bodyPr wrap="square" lIns="0" tIns="0" rIns="0" bIns="0" rtlCol="0" anchor="t"/>
          <a:lstStyle/>
          <a:p>
            <a:pPr indent="0" marL="0">
              <a:buNone/>
            </a:pPr>
            <a:r>
              <a:rPr lang="en-US" sz="1200" dirty="0">
                <a:solidFill>
                  <a:schemeClr val="tx1"/>
                </a:solidFill>
              </a:rPr>
              <a:t>Malls y súper para A y B, ferias, quioscos y naturistas</a:t>
            </a:r>
            <a:endParaRPr lang="en-US" sz="1200" dirty="0"/>
          </a:p>
        </p:txBody>
      </p:sp>
      <p:sp>
        <p:nvSpPr>
          <p:cNvPr id="49" name="Shape 42"/>
          <p:cNvSpPr/>
          <p:nvPr/>
        </p:nvSpPr>
        <p:spPr>
          <a:xfrm>
            <a:off x="8668512" y="2441448"/>
            <a:ext cx="914400" cy="274320"/>
          </a:xfrm>
          <a:prstGeom prst="roundRect">
            <a:avLst>
              <a:gd name="adj" fmla="val 50000"/>
            </a:avLst>
          </a:prstGeom>
          <a:solidFill>
            <a:schemeClr val="accent4"/>
          </a:solidFill>
          <a:ln w="9525">
            <a:solidFill>
              <a:schemeClr val="accent4"/>
            </a:solidFill>
            <a:prstDash val="solid"/>
          </a:ln>
        </p:spPr>
      </p:sp>
      <p:sp>
        <p:nvSpPr>
          <p:cNvPr id="50" name="Text 43"/>
          <p:cNvSpPr txBox="1"/>
          <p:nvPr/>
        </p:nvSpPr>
        <p:spPr>
          <a:xfrm>
            <a:off x="8668512" y="2441448"/>
            <a:ext cx="914400" cy="274320"/>
          </a:xfrm>
          <a:prstGeom prst="rect">
            <a:avLst/>
          </a:prstGeom>
          <a:noFill/>
          <a:ln/>
        </p:spPr>
        <p:txBody>
          <a:bodyPr wrap="square" lIns="0" tIns="0" rIns="0" bIns="0" rtlCol="0" anchor="ctr"/>
          <a:lstStyle/>
          <a:p>
            <a:pPr algn="ctr" indent="0" marL="0">
              <a:buNone/>
            </a:pPr>
            <a:r>
              <a:rPr lang="en-US" sz="900" b="1" dirty="0">
                <a:solidFill>
                  <a:schemeClr val="bg1"/>
                </a:solidFill>
              </a:rPr>
              <a:t>✓ Conecta</a:t>
            </a:r>
            <a:endParaRPr lang="en-US" sz="900" dirty="0"/>
          </a:p>
        </p:txBody>
      </p:sp>
      <p:sp>
        <p:nvSpPr>
          <p:cNvPr id="51" name="Shape 44"/>
          <p:cNvSpPr/>
          <p:nvPr/>
        </p:nvSpPr>
        <p:spPr>
          <a:xfrm>
            <a:off x="9637776" y="2441448"/>
            <a:ext cx="914400" cy="274320"/>
          </a:xfrm>
          <a:prstGeom prst="roundRect">
            <a:avLst>
              <a:gd name="adj" fmla="val 50000"/>
            </a:avLst>
          </a:prstGeom>
          <a:solidFill>
            <a:schemeClr val="accent4"/>
          </a:solidFill>
          <a:ln w="9525">
            <a:solidFill>
              <a:schemeClr val="accent4"/>
            </a:solidFill>
            <a:prstDash val="solid"/>
          </a:ln>
        </p:spPr>
      </p:sp>
      <p:sp>
        <p:nvSpPr>
          <p:cNvPr id="52" name="Text 45"/>
          <p:cNvSpPr txBox="1"/>
          <p:nvPr/>
        </p:nvSpPr>
        <p:spPr>
          <a:xfrm>
            <a:off x="9637776" y="2441448"/>
            <a:ext cx="914400" cy="274320"/>
          </a:xfrm>
          <a:prstGeom prst="rect">
            <a:avLst/>
          </a:prstGeom>
          <a:noFill/>
          <a:ln/>
        </p:spPr>
        <p:txBody>
          <a:bodyPr wrap="square" lIns="0" tIns="0" rIns="0" bIns="0" rtlCol="0" anchor="ctr"/>
          <a:lstStyle/>
          <a:p>
            <a:pPr algn="ctr" indent="0" marL="0">
              <a:buNone/>
            </a:pPr>
            <a:r>
              <a:rPr lang="en-US" sz="900" b="1" dirty="0">
                <a:solidFill>
                  <a:schemeClr val="bg1"/>
                </a:solidFill>
              </a:rPr>
              <a:t>✓ Convierte</a:t>
            </a:r>
            <a:endParaRPr lang="en-US" sz="900" dirty="0"/>
          </a:p>
        </p:txBody>
      </p:sp>
      <p:sp>
        <p:nvSpPr>
          <p:cNvPr id="53" name="Shape 46"/>
          <p:cNvSpPr/>
          <p:nvPr/>
        </p:nvSpPr>
        <p:spPr>
          <a:xfrm>
            <a:off x="10607040" y="2441448"/>
            <a:ext cx="914400" cy="274320"/>
          </a:xfrm>
          <a:prstGeom prst="roundRect">
            <a:avLst>
              <a:gd name="adj" fmla="val 50000"/>
            </a:avLst>
          </a:prstGeom>
          <a:solidFill>
            <a:schemeClr val="accent4"/>
          </a:solidFill>
          <a:ln w="9525">
            <a:solidFill>
              <a:schemeClr val="accent4"/>
            </a:solidFill>
            <a:prstDash val="solid"/>
          </a:ln>
        </p:spPr>
      </p:sp>
      <p:sp>
        <p:nvSpPr>
          <p:cNvPr id="54" name="Text 47"/>
          <p:cNvSpPr txBox="1"/>
          <p:nvPr/>
        </p:nvSpPr>
        <p:spPr>
          <a:xfrm>
            <a:off x="10607040" y="2441448"/>
            <a:ext cx="914400" cy="274320"/>
          </a:xfrm>
          <a:prstGeom prst="rect">
            <a:avLst/>
          </a:prstGeom>
          <a:noFill/>
          <a:ln/>
        </p:spPr>
        <p:txBody>
          <a:bodyPr wrap="square" lIns="0" tIns="0" rIns="0" bIns="0" rtlCol="0" anchor="ctr"/>
          <a:lstStyle/>
          <a:p>
            <a:pPr algn="ctr" indent="0" marL="0">
              <a:buNone/>
            </a:pPr>
            <a:r>
              <a:rPr lang="en-US" sz="900" b="1" dirty="0">
                <a:solidFill>
                  <a:schemeClr val="bg1"/>
                </a:solidFill>
              </a:rPr>
              <a:t>✓ Complementa</a:t>
            </a:r>
            <a:endParaRPr lang="en-US" sz="900" dirty="0"/>
          </a:p>
        </p:txBody>
      </p:sp>
      <p:sp>
        <p:nvSpPr>
          <p:cNvPr id="55" name="Shape 48"/>
          <p:cNvSpPr/>
          <p:nvPr/>
        </p:nvSpPr>
        <p:spPr>
          <a:xfrm flipV="1">
            <a:off x="6922008" y="3753612"/>
            <a:ext cx="786384" cy="86868"/>
          </a:xfrm>
          <a:prstGeom prst="line">
            <a:avLst/>
          </a:prstGeom>
          <a:noFill/>
          <a:ln w="19050">
            <a:solidFill>
              <a:schemeClr val="accent5"/>
            </a:solidFill>
            <a:prstDash val="dash"/>
          </a:ln>
        </p:spPr>
      </p:sp>
      <p:sp>
        <p:nvSpPr>
          <p:cNvPr id="56" name="Shape 49"/>
          <p:cNvSpPr/>
          <p:nvPr/>
        </p:nvSpPr>
        <p:spPr>
          <a:xfrm>
            <a:off x="7708392" y="3090672"/>
            <a:ext cx="3931920" cy="1325880"/>
          </a:xfrm>
          <a:prstGeom prst="roundRect">
            <a:avLst>
              <a:gd name="adj" fmla="val 8276"/>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57" name="Shape 50"/>
          <p:cNvSpPr/>
          <p:nvPr/>
        </p:nvSpPr>
        <p:spPr>
          <a:xfrm>
            <a:off x="7891272" y="3319272"/>
            <a:ext cx="594360" cy="594360"/>
          </a:xfrm>
          <a:prstGeom prst="ellipse">
            <a:avLst/>
          </a:prstGeom>
          <a:solidFill>
            <a:schemeClr val="accent1"/>
          </a:solidFill>
          <a:ln w="12700">
            <a:solidFill>
              <a:schemeClr val="accent1"/>
            </a:solidFill>
            <a:prstDash val="solid"/>
          </a:ln>
        </p:spPr>
      </p:sp>
      <p:pic>
        <p:nvPicPr>
          <p:cNvPr id="58" name="Image 5" descr="preencoded.png">    </p:cNvPr>
          <p:cNvPicPr>
            <a:picLocks noChangeAspect="1"/>
          </p:cNvPicPr>
          <p:nvPr/>
        </p:nvPicPr>
        <p:blipFill>
          <a:blip r:embed="rId6"/>
          <a:stretch>
            <a:fillRect/>
          </a:stretch>
        </p:blipFill>
        <p:spPr>
          <a:xfrm>
            <a:off x="8022031" y="3450031"/>
            <a:ext cx="332842" cy="332842"/>
          </a:xfrm>
          <a:prstGeom prst="rect">
            <a:avLst/>
          </a:prstGeom>
        </p:spPr>
      </p:pic>
      <p:sp>
        <p:nvSpPr>
          <p:cNvPr id="59" name="Text 51"/>
          <p:cNvSpPr txBox="1"/>
          <p:nvPr/>
        </p:nvSpPr>
        <p:spPr>
          <a:xfrm>
            <a:off x="8668512" y="3227832"/>
            <a:ext cx="2834640" cy="329184"/>
          </a:xfrm>
          <a:prstGeom prst="rect">
            <a:avLst/>
          </a:prstGeom>
          <a:noFill/>
          <a:ln/>
        </p:spPr>
        <p:txBody>
          <a:bodyPr wrap="square" lIns="0" tIns="0" rIns="0" bIns="0" rtlCol="0" anchor="t"/>
          <a:lstStyle/>
          <a:p>
            <a:pPr indent="0" marL="0">
              <a:buNone/>
            </a:pPr>
            <a:r>
              <a:rPr lang="en-US" sz="1600" b="1" dirty="0">
                <a:solidFill>
                  <a:schemeClr val="tx2"/>
                </a:solidFill>
              </a:rPr>
              <a:t>Tecnología</a:t>
            </a:r>
            <a:endParaRPr lang="en-US" sz="1600" dirty="0"/>
          </a:p>
        </p:txBody>
      </p:sp>
      <p:sp>
        <p:nvSpPr>
          <p:cNvPr id="60" name="Text 52"/>
          <p:cNvSpPr txBox="1"/>
          <p:nvPr/>
        </p:nvSpPr>
        <p:spPr>
          <a:xfrm>
            <a:off x="8668512" y="3547872"/>
            <a:ext cx="2834640" cy="329184"/>
          </a:xfrm>
          <a:prstGeom prst="rect">
            <a:avLst/>
          </a:prstGeom>
          <a:noFill/>
          <a:ln/>
        </p:spPr>
        <p:txBody>
          <a:bodyPr wrap="square" lIns="0" tIns="0" rIns="0" bIns="0" rtlCol="0" anchor="t"/>
          <a:lstStyle/>
          <a:p>
            <a:pPr indent="0" marL="0">
              <a:buNone/>
            </a:pPr>
            <a:r>
              <a:rPr lang="en-US" sz="1200" dirty="0">
                <a:solidFill>
                  <a:schemeClr val="tx1"/>
                </a:solidFill>
              </a:rPr>
              <a:t>Desarrollador de la app y Google Cloud</a:t>
            </a:r>
            <a:endParaRPr lang="en-US" sz="1200" dirty="0"/>
          </a:p>
        </p:txBody>
      </p:sp>
      <p:sp>
        <p:nvSpPr>
          <p:cNvPr id="61" name="Shape 53"/>
          <p:cNvSpPr/>
          <p:nvPr/>
        </p:nvSpPr>
        <p:spPr>
          <a:xfrm>
            <a:off x="8668512" y="3977640"/>
            <a:ext cx="914400" cy="274320"/>
          </a:xfrm>
          <a:prstGeom prst="roundRect">
            <a:avLst>
              <a:gd name="adj" fmla="val 50000"/>
            </a:avLst>
          </a:prstGeom>
          <a:solidFill>
            <a:schemeClr val="bg2"/>
          </a:solidFill>
          <a:ln w="9525">
            <a:solidFill>
              <a:schemeClr val="accent5"/>
            </a:solidFill>
            <a:prstDash val="solid"/>
          </a:ln>
        </p:spPr>
      </p:sp>
      <p:sp>
        <p:nvSpPr>
          <p:cNvPr id="62" name="Text 54"/>
          <p:cNvSpPr txBox="1"/>
          <p:nvPr/>
        </p:nvSpPr>
        <p:spPr>
          <a:xfrm>
            <a:off x="8668512" y="3977640"/>
            <a:ext cx="914400" cy="274320"/>
          </a:xfrm>
          <a:prstGeom prst="rect">
            <a:avLst/>
          </a:prstGeom>
          <a:noFill/>
          <a:ln/>
        </p:spPr>
        <p:txBody>
          <a:bodyPr wrap="square" lIns="0" tIns="0" rIns="0" bIns="0" rtlCol="0" anchor="ctr"/>
          <a:lstStyle/>
          <a:p>
            <a:pPr algn="ctr" indent="0" marL="0">
              <a:buNone/>
            </a:pPr>
            <a:r>
              <a:rPr lang="en-US" sz="900" b="1" dirty="0">
                <a:solidFill>
                  <a:schemeClr val="accent2"/>
                </a:solidFill>
              </a:rPr>
              <a:t>– Conecta</a:t>
            </a:r>
            <a:endParaRPr lang="en-US" sz="900" dirty="0"/>
          </a:p>
        </p:txBody>
      </p:sp>
      <p:sp>
        <p:nvSpPr>
          <p:cNvPr id="63" name="Shape 55"/>
          <p:cNvSpPr/>
          <p:nvPr/>
        </p:nvSpPr>
        <p:spPr>
          <a:xfrm>
            <a:off x="9637776" y="3977640"/>
            <a:ext cx="914400" cy="274320"/>
          </a:xfrm>
          <a:prstGeom prst="roundRect">
            <a:avLst>
              <a:gd name="adj" fmla="val 50000"/>
            </a:avLst>
          </a:prstGeom>
          <a:solidFill>
            <a:schemeClr val="accent4"/>
          </a:solidFill>
          <a:ln w="9525">
            <a:solidFill>
              <a:schemeClr val="accent4"/>
            </a:solidFill>
            <a:prstDash val="solid"/>
          </a:ln>
        </p:spPr>
      </p:sp>
      <p:sp>
        <p:nvSpPr>
          <p:cNvPr id="64" name="Text 56"/>
          <p:cNvSpPr txBox="1"/>
          <p:nvPr/>
        </p:nvSpPr>
        <p:spPr>
          <a:xfrm>
            <a:off x="9637776" y="3977640"/>
            <a:ext cx="914400" cy="274320"/>
          </a:xfrm>
          <a:prstGeom prst="rect">
            <a:avLst/>
          </a:prstGeom>
          <a:noFill/>
          <a:ln/>
        </p:spPr>
        <p:txBody>
          <a:bodyPr wrap="square" lIns="0" tIns="0" rIns="0" bIns="0" rtlCol="0" anchor="ctr"/>
          <a:lstStyle/>
          <a:p>
            <a:pPr algn="ctr" indent="0" marL="0">
              <a:buNone/>
            </a:pPr>
            <a:r>
              <a:rPr lang="en-US" sz="900" b="1" dirty="0">
                <a:solidFill>
                  <a:schemeClr val="bg1"/>
                </a:solidFill>
              </a:rPr>
              <a:t>✓ Convierte</a:t>
            </a:r>
            <a:endParaRPr lang="en-US" sz="900" dirty="0"/>
          </a:p>
        </p:txBody>
      </p:sp>
      <p:sp>
        <p:nvSpPr>
          <p:cNvPr id="65" name="Shape 57"/>
          <p:cNvSpPr/>
          <p:nvPr/>
        </p:nvSpPr>
        <p:spPr>
          <a:xfrm>
            <a:off x="10607040" y="3977640"/>
            <a:ext cx="914400" cy="274320"/>
          </a:xfrm>
          <a:prstGeom prst="roundRect">
            <a:avLst>
              <a:gd name="adj" fmla="val 50000"/>
            </a:avLst>
          </a:prstGeom>
          <a:solidFill>
            <a:schemeClr val="accent4"/>
          </a:solidFill>
          <a:ln w="9525">
            <a:solidFill>
              <a:schemeClr val="accent4"/>
            </a:solidFill>
            <a:prstDash val="solid"/>
          </a:ln>
        </p:spPr>
      </p:sp>
      <p:sp>
        <p:nvSpPr>
          <p:cNvPr id="66" name="Text 58"/>
          <p:cNvSpPr txBox="1"/>
          <p:nvPr/>
        </p:nvSpPr>
        <p:spPr>
          <a:xfrm>
            <a:off x="10607040" y="3977640"/>
            <a:ext cx="914400" cy="274320"/>
          </a:xfrm>
          <a:prstGeom prst="rect">
            <a:avLst/>
          </a:prstGeom>
          <a:noFill/>
          <a:ln/>
        </p:spPr>
        <p:txBody>
          <a:bodyPr wrap="square" lIns="0" tIns="0" rIns="0" bIns="0" rtlCol="0" anchor="ctr"/>
          <a:lstStyle/>
          <a:p>
            <a:pPr algn="ctr" indent="0" marL="0">
              <a:buNone/>
            </a:pPr>
            <a:r>
              <a:rPr lang="en-US" sz="900" b="1" dirty="0">
                <a:solidFill>
                  <a:schemeClr val="bg1"/>
                </a:solidFill>
              </a:rPr>
              <a:t>✓ Complementa</a:t>
            </a:r>
            <a:endParaRPr lang="en-US" sz="900" dirty="0"/>
          </a:p>
        </p:txBody>
      </p:sp>
      <p:sp>
        <p:nvSpPr>
          <p:cNvPr id="67" name="Shape 59"/>
          <p:cNvSpPr/>
          <p:nvPr/>
        </p:nvSpPr>
        <p:spPr>
          <a:xfrm>
            <a:off x="6922008" y="3840480"/>
            <a:ext cx="786384" cy="1449324"/>
          </a:xfrm>
          <a:prstGeom prst="line">
            <a:avLst/>
          </a:prstGeom>
          <a:noFill/>
          <a:ln w="19050">
            <a:solidFill>
              <a:schemeClr val="accent5"/>
            </a:solidFill>
            <a:prstDash val="dash"/>
          </a:ln>
        </p:spPr>
      </p:sp>
      <p:sp>
        <p:nvSpPr>
          <p:cNvPr id="68" name="Shape 60"/>
          <p:cNvSpPr/>
          <p:nvPr/>
        </p:nvSpPr>
        <p:spPr>
          <a:xfrm>
            <a:off x="7708392" y="4626864"/>
            <a:ext cx="3931920" cy="1325880"/>
          </a:xfrm>
          <a:prstGeom prst="roundRect">
            <a:avLst>
              <a:gd name="adj" fmla="val 8276"/>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69" name="Shape 61"/>
          <p:cNvSpPr/>
          <p:nvPr/>
        </p:nvSpPr>
        <p:spPr>
          <a:xfrm>
            <a:off x="7891272" y="4855464"/>
            <a:ext cx="594360" cy="594360"/>
          </a:xfrm>
          <a:prstGeom prst="ellipse">
            <a:avLst/>
          </a:prstGeom>
          <a:solidFill>
            <a:schemeClr val="accent1"/>
          </a:solidFill>
          <a:ln w="12700">
            <a:solidFill>
              <a:schemeClr val="accent1"/>
            </a:solidFill>
            <a:prstDash val="solid"/>
          </a:ln>
        </p:spPr>
      </p:sp>
      <p:pic>
        <p:nvPicPr>
          <p:cNvPr id="70" name="Image 6" descr="preencoded.png">    </p:cNvPr>
          <p:cNvPicPr>
            <a:picLocks noChangeAspect="1"/>
          </p:cNvPicPr>
          <p:nvPr/>
        </p:nvPicPr>
        <p:blipFill>
          <a:blip r:embed="rId7"/>
          <a:stretch>
            <a:fillRect/>
          </a:stretch>
        </p:blipFill>
        <p:spPr>
          <a:xfrm>
            <a:off x="8022031" y="4986223"/>
            <a:ext cx="332842" cy="332842"/>
          </a:xfrm>
          <a:prstGeom prst="rect">
            <a:avLst/>
          </a:prstGeom>
        </p:spPr>
      </p:pic>
      <p:sp>
        <p:nvSpPr>
          <p:cNvPr id="71" name="Text 62"/>
          <p:cNvSpPr txBox="1"/>
          <p:nvPr/>
        </p:nvSpPr>
        <p:spPr>
          <a:xfrm>
            <a:off x="8668512" y="4764024"/>
            <a:ext cx="2834640" cy="329184"/>
          </a:xfrm>
          <a:prstGeom prst="rect">
            <a:avLst/>
          </a:prstGeom>
          <a:noFill/>
          <a:ln/>
        </p:spPr>
        <p:txBody>
          <a:bodyPr wrap="square" lIns="0" tIns="0" rIns="0" bIns="0" rtlCol="0" anchor="t"/>
          <a:lstStyle/>
          <a:p>
            <a:pPr indent="0" marL="0">
              <a:buNone/>
            </a:pPr>
            <a:r>
              <a:rPr lang="en-US" sz="1600" b="1" dirty="0">
                <a:solidFill>
                  <a:schemeClr val="tx2"/>
                </a:solidFill>
              </a:rPr>
              <a:t>Quienes nos recomiendan</a:t>
            </a:r>
            <a:endParaRPr lang="en-US" sz="1600" dirty="0"/>
          </a:p>
        </p:txBody>
      </p:sp>
      <p:sp>
        <p:nvSpPr>
          <p:cNvPr id="72" name="Text 63"/>
          <p:cNvSpPr txBox="1"/>
          <p:nvPr/>
        </p:nvSpPr>
        <p:spPr>
          <a:xfrm>
            <a:off x="8668512" y="5084064"/>
            <a:ext cx="2834640" cy="329184"/>
          </a:xfrm>
          <a:prstGeom prst="rect">
            <a:avLst/>
          </a:prstGeom>
          <a:noFill/>
          <a:ln/>
        </p:spPr>
        <p:txBody>
          <a:bodyPr wrap="square" lIns="0" tIns="0" rIns="0" bIns="0" rtlCol="0" anchor="t"/>
          <a:lstStyle/>
          <a:p>
            <a:pPr indent="0" marL="0">
              <a:buNone/>
            </a:pPr>
            <a:r>
              <a:rPr lang="en-US" sz="1200" dirty="0">
                <a:solidFill>
                  <a:schemeClr val="tx1"/>
                </a:solidFill>
              </a:rPr>
              <a:t>Pediatras y nutricionista</a:t>
            </a:r>
            <a:endParaRPr lang="en-US" sz="1200" dirty="0"/>
          </a:p>
        </p:txBody>
      </p:sp>
      <p:sp>
        <p:nvSpPr>
          <p:cNvPr id="73" name="Shape 64"/>
          <p:cNvSpPr/>
          <p:nvPr/>
        </p:nvSpPr>
        <p:spPr>
          <a:xfrm>
            <a:off x="8668512" y="5513832"/>
            <a:ext cx="914400" cy="274320"/>
          </a:xfrm>
          <a:prstGeom prst="roundRect">
            <a:avLst>
              <a:gd name="adj" fmla="val 50000"/>
            </a:avLst>
          </a:prstGeom>
          <a:solidFill>
            <a:schemeClr val="accent4"/>
          </a:solidFill>
          <a:ln w="9525">
            <a:solidFill>
              <a:schemeClr val="accent4"/>
            </a:solidFill>
            <a:prstDash val="solid"/>
          </a:ln>
        </p:spPr>
      </p:sp>
      <p:sp>
        <p:nvSpPr>
          <p:cNvPr id="74" name="Text 65"/>
          <p:cNvSpPr txBox="1"/>
          <p:nvPr/>
        </p:nvSpPr>
        <p:spPr>
          <a:xfrm>
            <a:off x="8668512" y="5513832"/>
            <a:ext cx="914400" cy="274320"/>
          </a:xfrm>
          <a:prstGeom prst="rect">
            <a:avLst/>
          </a:prstGeom>
          <a:noFill/>
          <a:ln/>
        </p:spPr>
        <p:txBody>
          <a:bodyPr wrap="square" lIns="0" tIns="0" rIns="0" bIns="0" rtlCol="0" anchor="ctr"/>
          <a:lstStyle/>
          <a:p>
            <a:pPr algn="ctr" indent="0" marL="0">
              <a:buNone/>
            </a:pPr>
            <a:r>
              <a:rPr lang="en-US" sz="900" b="1" dirty="0">
                <a:solidFill>
                  <a:schemeClr val="bg1"/>
                </a:solidFill>
              </a:rPr>
              <a:t>✓ Conecta</a:t>
            </a:r>
            <a:endParaRPr lang="en-US" sz="900" dirty="0"/>
          </a:p>
        </p:txBody>
      </p:sp>
      <p:sp>
        <p:nvSpPr>
          <p:cNvPr id="75" name="Shape 66"/>
          <p:cNvSpPr/>
          <p:nvPr/>
        </p:nvSpPr>
        <p:spPr>
          <a:xfrm>
            <a:off x="9637776" y="5513832"/>
            <a:ext cx="914400" cy="274320"/>
          </a:xfrm>
          <a:prstGeom prst="roundRect">
            <a:avLst>
              <a:gd name="adj" fmla="val 50000"/>
            </a:avLst>
          </a:prstGeom>
          <a:solidFill>
            <a:schemeClr val="accent4"/>
          </a:solidFill>
          <a:ln w="9525">
            <a:solidFill>
              <a:schemeClr val="accent4"/>
            </a:solidFill>
            <a:prstDash val="solid"/>
          </a:ln>
        </p:spPr>
      </p:sp>
      <p:sp>
        <p:nvSpPr>
          <p:cNvPr id="76" name="Text 67"/>
          <p:cNvSpPr txBox="1"/>
          <p:nvPr/>
        </p:nvSpPr>
        <p:spPr>
          <a:xfrm>
            <a:off x="9637776" y="5513832"/>
            <a:ext cx="914400" cy="274320"/>
          </a:xfrm>
          <a:prstGeom prst="rect">
            <a:avLst/>
          </a:prstGeom>
          <a:noFill/>
          <a:ln/>
        </p:spPr>
        <p:txBody>
          <a:bodyPr wrap="square" lIns="0" tIns="0" rIns="0" bIns="0" rtlCol="0" anchor="ctr"/>
          <a:lstStyle/>
          <a:p>
            <a:pPr algn="ctr" indent="0" marL="0">
              <a:buNone/>
            </a:pPr>
            <a:r>
              <a:rPr lang="en-US" sz="900" b="1" dirty="0">
                <a:solidFill>
                  <a:schemeClr val="bg1"/>
                </a:solidFill>
              </a:rPr>
              <a:t>✓ Convierte</a:t>
            </a:r>
            <a:endParaRPr lang="en-US" sz="900" dirty="0"/>
          </a:p>
        </p:txBody>
      </p:sp>
      <p:sp>
        <p:nvSpPr>
          <p:cNvPr id="77" name="Shape 68"/>
          <p:cNvSpPr/>
          <p:nvPr/>
        </p:nvSpPr>
        <p:spPr>
          <a:xfrm>
            <a:off x="10607040" y="5513832"/>
            <a:ext cx="914400" cy="274320"/>
          </a:xfrm>
          <a:prstGeom prst="roundRect">
            <a:avLst>
              <a:gd name="adj" fmla="val 50000"/>
            </a:avLst>
          </a:prstGeom>
          <a:solidFill>
            <a:schemeClr val="bg2"/>
          </a:solidFill>
          <a:ln w="9525">
            <a:solidFill>
              <a:schemeClr val="accent5"/>
            </a:solidFill>
            <a:prstDash val="solid"/>
          </a:ln>
        </p:spPr>
      </p:sp>
      <p:sp>
        <p:nvSpPr>
          <p:cNvPr id="78" name="Text 69"/>
          <p:cNvSpPr txBox="1"/>
          <p:nvPr/>
        </p:nvSpPr>
        <p:spPr>
          <a:xfrm>
            <a:off x="10607040" y="5513832"/>
            <a:ext cx="914400" cy="274320"/>
          </a:xfrm>
          <a:prstGeom prst="rect">
            <a:avLst/>
          </a:prstGeom>
          <a:noFill/>
          <a:ln/>
        </p:spPr>
        <p:txBody>
          <a:bodyPr wrap="square" lIns="0" tIns="0" rIns="0" bIns="0" rtlCol="0" anchor="ctr"/>
          <a:lstStyle/>
          <a:p>
            <a:pPr algn="ctr" indent="0" marL="0">
              <a:buNone/>
            </a:pPr>
            <a:r>
              <a:rPr lang="en-US" sz="900" b="1" dirty="0">
                <a:solidFill>
                  <a:schemeClr val="accent2"/>
                </a:solidFill>
              </a:rPr>
              <a:t>– Complementa</a:t>
            </a:r>
            <a:endParaRPr lang="en-US" sz="900" dirty="0"/>
          </a:p>
        </p:txBody>
      </p:sp>
      <p:sp>
        <p:nvSpPr>
          <p:cNvPr id="79" name="Text 70"/>
          <p:cNvSpPr txBox="1"/>
          <p:nvPr/>
        </p:nvSpPr>
        <p:spPr>
          <a:xfrm>
            <a:off x="548640" y="6053328"/>
            <a:ext cx="11091672" cy="274320"/>
          </a:xfrm>
          <a:prstGeom prst="rect">
            <a:avLst/>
          </a:prstGeom>
          <a:noFill/>
          <a:ln/>
        </p:spPr>
        <p:txBody>
          <a:bodyPr wrap="square" lIns="0" tIns="0" rIns="0" bIns="0" rtlCol="0" anchor="t"/>
          <a:lstStyle/>
          <a:p>
            <a:pPr algn="ctr" indent="0" marL="0">
              <a:buNone/>
            </a:pPr>
            <a:r>
              <a:rPr lang="en-US" sz="1050" b="1" dirty="0">
                <a:solidFill>
                  <a:schemeClr val="accent2"/>
                </a:solidFill>
              </a:rPr>
              <a:t>Conecta: </a:t>
            </a:r>
            <a:pPr algn="ctr" indent="0" marL="0">
              <a:buNone/>
            </a:pPr>
            <a:r>
              <a:rPr lang="en-US" sz="1050" dirty="0">
                <a:solidFill>
                  <a:schemeClr val="accent2"/>
                </a:solidFill>
              </a:rPr>
              <a:t>nos acerca al cliente · </a:t>
            </a:r>
            <a:pPr algn="ctr" indent="0" marL="0">
              <a:buNone/>
            </a:pPr>
            <a:r>
              <a:rPr lang="en-US" sz="1050" b="1" dirty="0">
                <a:solidFill>
                  <a:schemeClr val="accent2"/>
                </a:solidFill>
              </a:rPr>
              <a:t>Convierte: </a:t>
            </a:r>
            <a:pPr algn="ctr" indent="0" marL="0">
              <a:buNone/>
            </a:pPr>
            <a:r>
              <a:rPr lang="en-US" sz="1050" dirty="0">
                <a:solidFill>
                  <a:schemeClr val="accent2"/>
                </a:solidFill>
              </a:rPr>
              <a:t>hace posible la venta · </a:t>
            </a:r>
            <a:pPr algn="ctr" indent="0" marL="0">
              <a:buNone/>
            </a:pPr>
            <a:r>
              <a:rPr lang="en-US" sz="1050" b="1" dirty="0">
                <a:solidFill>
                  <a:schemeClr val="accent2"/>
                </a:solidFill>
              </a:rPr>
              <a:t>Complementa: </a:t>
            </a:r>
            <a:pPr algn="ctr" indent="0" marL="0">
              <a:buNone/>
            </a:pPr>
            <a:r>
              <a:rPr lang="en-US" sz="1050" dirty="0">
                <a:solidFill>
                  <a:schemeClr val="accent2"/>
                </a:solidFill>
              </a:rPr>
              <a:t>pone lo que no tenemos · RS = registro sanitario · S.A.C. = tipo de empresa</a:t>
            </a:r>
            <a:endParaRPr lang="en-US" sz="105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7 · RECURSOS CLAVE</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Seis recursos sin los que AndiBite no funciona</a:t>
            </a:r>
            <a:endParaRPr lang="en-US" sz="3400" dirty="0"/>
          </a:p>
        </p:txBody>
      </p:sp>
      <p:sp>
        <p:nvSpPr>
          <p:cNvPr id="4" name="Text 2"/>
          <p:cNvSpPr txBox="1"/>
          <p:nvPr/>
        </p:nvSpPr>
        <p:spPr>
          <a:xfrm>
            <a:off x="7269480" y="1417320"/>
            <a:ext cx="4370832" cy="274320"/>
          </a:xfrm>
          <a:prstGeom prst="rect">
            <a:avLst/>
          </a:prstGeom>
          <a:noFill/>
          <a:ln/>
        </p:spPr>
        <p:txBody>
          <a:bodyPr wrap="square" lIns="0" tIns="0" rIns="0" bIns="0" rtlCol="0" anchor="t"/>
          <a:lstStyle/>
          <a:p>
            <a:pPr indent="0" marL="0">
              <a:buNone/>
            </a:pPr>
            <a:r>
              <a:rPr lang="en-US" sz="1200" b="1" dirty="0">
                <a:solidFill>
                  <a:schemeClr val="accent2"/>
                </a:solidFill>
              </a:rPr>
              <a:t>Test rápido de la sesión 07</a:t>
            </a:r>
            <a:endParaRPr lang="en-US" sz="1200" dirty="0"/>
          </a:p>
        </p:txBody>
      </p:sp>
      <p:sp>
        <p:nvSpPr>
          <p:cNvPr id="5" name="Text 3"/>
          <p:cNvSpPr txBox="1"/>
          <p:nvPr/>
        </p:nvSpPr>
        <p:spPr>
          <a:xfrm>
            <a:off x="7269480" y="1691640"/>
            <a:ext cx="1417320" cy="411480"/>
          </a:xfrm>
          <a:prstGeom prst="rect">
            <a:avLst/>
          </a:prstGeom>
          <a:noFill/>
          <a:ln/>
        </p:spPr>
        <p:txBody>
          <a:bodyPr wrap="square" lIns="0" tIns="0" rIns="0" bIns="0" rtlCol="0" anchor="t"/>
          <a:lstStyle/>
          <a:p>
            <a:pPr algn="ctr" indent="0" marL="0">
              <a:buNone/>
            </a:pPr>
            <a:r>
              <a:rPr lang="en-US" sz="1100" b="1" dirty="0">
                <a:solidFill>
                  <a:schemeClr val="tx2"/>
                </a:solidFill>
              </a:rPr>
              <a:t>Si falta, no funciona</a:t>
            </a:r>
            <a:endParaRPr lang="en-US" sz="1100" dirty="0"/>
          </a:p>
        </p:txBody>
      </p:sp>
      <p:sp>
        <p:nvSpPr>
          <p:cNvPr id="6" name="Text 4"/>
          <p:cNvSpPr txBox="1"/>
          <p:nvPr/>
        </p:nvSpPr>
        <p:spPr>
          <a:xfrm>
            <a:off x="8732520" y="1691640"/>
            <a:ext cx="1417320" cy="411480"/>
          </a:xfrm>
          <a:prstGeom prst="rect">
            <a:avLst/>
          </a:prstGeom>
          <a:noFill/>
          <a:ln/>
        </p:spPr>
        <p:txBody>
          <a:bodyPr wrap="square" lIns="0" tIns="0" rIns="0" bIns="0" rtlCol="0" anchor="t"/>
          <a:lstStyle/>
          <a:p>
            <a:pPr algn="ctr" indent="0" marL="0">
              <a:buNone/>
            </a:pPr>
            <a:r>
              <a:rPr lang="en-US" sz="1100" b="1" dirty="0">
                <a:solidFill>
                  <a:schemeClr val="tx2"/>
                </a:solidFill>
              </a:rPr>
              <a:t>Nos diferencia</a:t>
            </a:r>
            <a:endParaRPr lang="en-US" sz="1100" dirty="0"/>
          </a:p>
        </p:txBody>
      </p:sp>
      <p:sp>
        <p:nvSpPr>
          <p:cNvPr id="7" name="Text 5"/>
          <p:cNvSpPr txBox="1"/>
          <p:nvPr/>
        </p:nvSpPr>
        <p:spPr>
          <a:xfrm>
            <a:off x="10195560" y="1691640"/>
            <a:ext cx="1417320" cy="411480"/>
          </a:xfrm>
          <a:prstGeom prst="rect">
            <a:avLst/>
          </a:prstGeom>
          <a:noFill/>
          <a:ln/>
        </p:spPr>
        <p:txBody>
          <a:bodyPr wrap="square" lIns="0" tIns="0" rIns="0" bIns="0" rtlCol="0" anchor="t"/>
          <a:lstStyle/>
          <a:p>
            <a:pPr algn="ctr" indent="0" marL="0">
              <a:buNone/>
            </a:pPr>
            <a:r>
              <a:rPr lang="en-US" sz="1100" b="1" dirty="0">
                <a:solidFill>
                  <a:schemeClr val="tx2"/>
                </a:solidFill>
              </a:rPr>
              <a:t>Difícil de copiar</a:t>
            </a:r>
            <a:endParaRPr lang="en-US" sz="1100" dirty="0"/>
          </a:p>
        </p:txBody>
      </p:sp>
      <p:sp>
        <p:nvSpPr>
          <p:cNvPr id="8" name="Shape 6"/>
          <p:cNvSpPr/>
          <p:nvPr/>
        </p:nvSpPr>
        <p:spPr>
          <a:xfrm>
            <a:off x="548640" y="2148840"/>
            <a:ext cx="11091672" cy="576072"/>
          </a:xfrm>
          <a:prstGeom prst="roundRect">
            <a:avLst>
              <a:gd name="adj" fmla="val 1587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9" name="Shape 7"/>
          <p:cNvSpPr/>
          <p:nvPr/>
        </p:nvSpPr>
        <p:spPr>
          <a:xfrm>
            <a:off x="685800" y="2221992"/>
            <a:ext cx="429768" cy="429768"/>
          </a:xfrm>
          <a:prstGeom prst="ellipse">
            <a:avLst/>
          </a:prstGeom>
          <a:solidFill>
            <a:schemeClr val="accent1"/>
          </a:solidFill>
          <a:ln w="12700">
            <a:solidFill>
              <a:schemeClr val="accent1"/>
            </a:solidFill>
            <a:prstDash val="solid"/>
          </a:ln>
        </p:spPr>
      </p:sp>
      <p:pic>
        <p:nvPicPr>
          <p:cNvPr id="10" name="Image 0" descr="preencoded.png">    </p:cNvPr>
          <p:cNvPicPr>
            <a:picLocks noChangeAspect="1"/>
          </p:cNvPicPr>
          <p:nvPr/>
        </p:nvPicPr>
        <p:blipFill>
          <a:blip r:embed="rId1"/>
          <a:stretch>
            <a:fillRect/>
          </a:stretch>
        </p:blipFill>
        <p:spPr>
          <a:xfrm>
            <a:off x="780349" y="2316541"/>
            <a:ext cx="240670" cy="240670"/>
          </a:xfrm>
          <a:prstGeom prst="rect">
            <a:avLst/>
          </a:prstGeom>
        </p:spPr>
      </p:pic>
      <p:sp>
        <p:nvSpPr>
          <p:cNvPr id="11" name="Text 8"/>
          <p:cNvSpPr txBox="1"/>
          <p:nvPr/>
        </p:nvSpPr>
        <p:spPr>
          <a:xfrm>
            <a:off x="1280160" y="2148840"/>
            <a:ext cx="1463040" cy="576072"/>
          </a:xfrm>
          <a:prstGeom prst="rect">
            <a:avLst/>
          </a:prstGeom>
          <a:noFill/>
          <a:ln/>
        </p:spPr>
        <p:txBody>
          <a:bodyPr wrap="square" lIns="0" tIns="0" rIns="0" bIns="0" rtlCol="0" anchor="ctr"/>
          <a:lstStyle/>
          <a:p>
            <a:pPr indent="0" marL="0">
              <a:buNone/>
            </a:pPr>
            <a:r>
              <a:rPr lang="en-US" sz="1100" b="1" spc="100" kern="0" dirty="0">
                <a:solidFill>
                  <a:schemeClr val="accent1"/>
                </a:solidFill>
              </a:rPr>
              <a:t>INTANGIBLE</a:t>
            </a:r>
            <a:endParaRPr lang="en-US" sz="1100" dirty="0"/>
          </a:p>
        </p:txBody>
      </p:sp>
      <p:sp>
        <p:nvSpPr>
          <p:cNvPr id="12" name="Text 9"/>
          <p:cNvSpPr txBox="1"/>
          <p:nvPr/>
        </p:nvSpPr>
        <p:spPr>
          <a:xfrm>
            <a:off x="2743200" y="2148840"/>
            <a:ext cx="4434840" cy="576072"/>
          </a:xfrm>
          <a:prstGeom prst="rect">
            <a:avLst/>
          </a:prstGeom>
          <a:noFill/>
          <a:ln/>
        </p:spPr>
        <p:txBody>
          <a:bodyPr wrap="square" lIns="0" tIns="0" rIns="0" bIns="0" rtlCol="0" anchor="ctr"/>
          <a:lstStyle/>
          <a:p>
            <a:pPr indent="0" marL="0">
              <a:buNone/>
            </a:pPr>
            <a:r>
              <a:rPr lang="en-US" sz="1500" dirty="0">
                <a:solidFill>
                  <a:schemeClr val="tx1"/>
                </a:solidFill>
              </a:rPr>
              <a:t>Fórmula de 3 sabores con sangrecita</a:t>
            </a:r>
            <a:endParaRPr lang="en-US" sz="1500" dirty="0"/>
          </a:p>
        </p:txBody>
      </p:sp>
      <p:sp>
        <p:nvSpPr>
          <p:cNvPr id="13" name="Shape 10"/>
          <p:cNvSpPr/>
          <p:nvPr/>
        </p:nvSpPr>
        <p:spPr>
          <a:xfrm>
            <a:off x="7772400" y="2267712"/>
            <a:ext cx="347472" cy="347472"/>
          </a:xfrm>
          <a:prstGeom prst="ellipse">
            <a:avLst/>
          </a:prstGeom>
          <a:solidFill>
            <a:schemeClr val="accent4"/>
          </a:solidFill>
          <a:ln w="9525">
            <a:solidFill>
              <a:schemeClr val="accent4"/>
            </a:solidFill>
            <a:prstDash val="solid"/>
          </a:ln>
        </p:spPr>
      </p:sp>
      <p:sp>
        <p:nvSpPr>
          <p:cNvPr id="14" name="Text 11"/>
          <p:cNvSpPr txBox="1"/>
          <p:nvPr/>
        </p:nvSpPr>
        <p:spPr>
          <a:xfrm>
            <a:off x="7772400" y="2267712"/>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15" name="Shape 12"/>
          <p:cNvSpPr/>
          <p:nvPr/>
        </p:nvSpPr>
        <p:spPr>
          <a:xfrm>
            <a:off x="9235440" y="2267712"/>
            <a:ext cx="347472" cy="347472"/>
          </a:xfrm>
          <a:prstGeom prst="ellipse">
            <a:avLst/>
          </a:prstGeom>
          <a:solidFill>
            <a:schemeClr val="accent4"/>
          </a:solidFill>
          <a:ln w="9525">
            <a:solidFill>
              <a:schemeClr val="accent4"/>
            </a:solidFill>
            <a:prstDash val="solid"/>
          </a:ln>
        </p:spPr>
      </p:sp>
      <p:sp>
        <p:nvSpPr>
          <p:cNvPr id="16" name="Text 13"/>
          <p:cNvSpPr txBox="1"/>
          <p:nvPr/>
        </p:nvSpPr>
        <p:spPr>
          <a:xfrm>
            <a:off x="9235440" y="2267712"/>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17" name="Shape 14"/>
          <p:cNvSpPr/>
          <p:nvPr/>
        </p:nvSpPr>
        <p:spPr>
          <a:xfrm>
            <a:off x="10698480" y="2267712"/>
            <a:ext cx="347472" cy="347472"/>
          </a:xfrm>
          <a:prstGeom prst="ellipse">
            <a:avLst/>
          </a:prstGeom>
          <a:solidFill>
            <a:schemeClr val="accent4"/>
          </a:solidFill>
          <a:ln w="9525">
            <a:solidFill>
              <a:schemeClr val="accent4"/>
            </a:solidFill>
            <a:prstDash val="solid"/>
          </a:ln>
        </p:spPr>
      </p:sp>
      <p:sp>
        <p:nvSpPr>
          <p:cNvPr id="18" name="Text 15"/>
          <p:cNvSpPr txBox="1"/>
          <p:nvPr/>
        </p:nvSpPr>
        <p:spPr>
          <a:xfrm>
            <a:off x="10698480" y="2267712"/>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19" name="Shape 16"/>
          <p:cNvSpPr/>
          <p:nvPr/>
        </p:nvSpPr>
        <p:spPr>
          <a:xfrm>
            <a:off x="548640" y="2816352"/>
            <a:ext cx="11091672" cy="576072"/>
          </a:xfrm>
          <a:prstGeom prst="roundRect">
            <a:avLst>
              <a:gd name="adj" fmla="val 1587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0" name="Shape 17"/>
          <p:cNvSpPr/>
          <p:nvPr/>
        </p:nvSpPr>
        <p:spPr>
          <a:xfrm>
            <a:off x="685800" y="2889504"/>
            <a:ext cx="429768" cy="429768"/>
          </a:xfrm>
          <a:prstGeom prst="ellipse">
            <a:avLst/>
          </a:prstGeom>
          <a:solidFill>
            <a:schemeClr val="accent1"/>
          </a:solidFill>
          <a:ln w="12700">
            <a:solidFill>
              <a:schemeClr val="accent1"/>
            </a:solidFill>
            <a:prstDash val="solid"/>
          </a:ln>
        </p:spPr>
      </p:sp>
      <p:pic>
        <p:nvPicPr>
          <p:cNvPr id="21" name="Image 1" descr="preencoded.png">    </p:cNvPr>
          <p:cNvPicPr>
            <a:picLocks noChangeAspect="1"/>
          </p:cNvPicPr>
          <p:nvPr/>
        </p:nvPicPr>
        <p:blipFill>
          <a:blip r:embed="rId2"/>
          <a:stretch>
            <a:fillRect/>
          </a:stretch>
        </p:blipFill>
        <p:spPr>
          <a:xfrm>
            <a:off x="780349" y="2984053"/>
            <a:ext cx="240670" cy="240670"/>
          </a:xfrm>
          <a:prstGeom prst="rect">
            <a:avLst/>
          </a:prstGeom>
        </p:spPr>
      </p:pic>
      <p:sp>
        <p:nvSpPr>
          <p:cNvPr id="22" name="Text 18"/>
          <p:cNvSpPr txBox="1"/>
          <p:nvPr/>
        </p:nvSpPr>
        <p:spPr>
          <a:xfrm>
            <a:off x="1280160" y="2816352"/>
            <a:ext cx="1463040" cy="576072"/>
          </a:xfrm>
          <a:prstGeom prst="rect">
            <a:avLst/>
          </a:prstGeom>
          <a:noFill/>
          <a:ln/>
        </p:spPr>
        <p:txBody>
          <a:bodyPr wrap="square" lIns="0" tIns="0" rIns="0" bIns="0" rtlCol="0" anchor="ctr"/>
          <a:lstStyle/>
          <a:p>
            <a:pPr indent="0" marL="0">
              <a:buNone/>
            </a:pPr>
            <a:r>
              <a:rPr lang="en-US" sz="1100" b="1" spc="100" kern="0" dirty="0">
                <a:solidFill>
                  <a:schemeClr val="accent1"/>
                </a:solidFill>
              </a:rPr>
              <a:t>INTANGIBLE</a:t>
            </a:r>
            <a:endParaRPr lang="en-US" sz="1100" dirty="0"/>
          </a:p>
        </p:txBody>
      </p:sp>
      <p:sp>
        <p:nvSpPr>
          <p:cNvPr id="23" name="Text 19"/>
          <p:cNvSpPr txBox="1"/>
          <p:nvPr/>
        </p:nvSpPr>
        <p:spPr>
          <a:xfrm>
            <a:off x="2743200" y="2816352"/>
            <a:ext cx="4434840" cy="576072"/>
          </a:xfrm>
          <a:prstGeom prst="rect">
            <a:avLst/>
          </a:prstGeom>
          <a:noFill/>
          <a:ln/>
        </p:spPr>
        <p:txBody>
          <a:bodyPr wrap="square" lIns="0" tIns="0" rIns="0" bIns="0" rtlCol="0" anchor="ctr"/>
          <a:lstStyle/>
          <a:p>
            <a:pPr indent="0" marL="0">
              <a:buNone/>
            </a:pPr>
            <a:r>
              <a:rPr lang="en-US" sz="1500" dirty="0">
                <a:solidFill>
                  <a:schemeClr val="tx1"/>
                </a:solidFill>
              </a:rPr>
              <a:t>Marca AndiBite y registro sanitario</a:t>
            </a:r>
            <a:endParaRPr lang="en-US" sz="1500" dirty="0"/>
          </a:p>
        </p:txBody>
      </p:sp>
      <p:sp>
        <p:nvSpPr>
          <p:cNvPr id="24" name="Shape 20"/>
          <p:cNvSpPr/>
          <p:nvPr/>
        </p:nvSpPr>
        <p:spPr>
          <a:xfrm>
            <a:off x="7772400" y="2935224"/>
            <a:ext cx="347472" cy="347472"/>
          </a:xfrm>
          <a:prstGeom prst="ellipse">
            <a:avLst/>
          </a:prstGeom>
          <a:solidFill>
            <a:schemeClr val="accent4"/>
          </a:solidFill>
          <a:ln w="9525">
            <a:solidFill>
              <a:schemeClr val="accent4"/>
            </a:solidFill>
            <a:prstDash val="solid"/>
          </a:ln>
        </p:spPr>
      </p:sp>
      <p:sp>
        <p:nvSpPr>
          <p:cNvPr id="25" name="Text 21"/>
          <p:cNvSpPr txBox="1"/>
          <p:nvPr/>
        </p:nvSpPr>
        <p:spPr>
          <a:xfrm>
            <a:off x="7772400" y="2935224"/>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26" name="Shape 22"/>
          <p:cNvSpPr/>
          <p:nvPr/>
        </p:nvSpPr>
        <p:spPr>
          <a:xfrm>
            <a:off x="9235440" y="2935224"/>
            <a:ext cx="347472" cy="347472"/>
          </a:xfrm>
          <a:prstGeom prst="ellipse">
            <a:avLst/>
          </a:prstGeom>
          <a:solidFill>
            <a:schemeClr val="accent4"/>
          </a:solidFill>
          <a:ln w="9525">
            <a:solidFill>
              <a:schemeClr val="accent4"/>
            </a:solidFill>
            <a:prstDash val="solid"/>
          </a:ln>
        </p:spPr>
      </p:sp>
      <p:sp>
        <p:nvSpPr>
          <p:cNvPr id="27" name="Text 23"/>
          <p:cNvSpPr txBox="1"/>
          <p:nvPr/>
        </p:nvSpPr>
        <p:spPr>
          <a:xfrm>
            <a:off x="9235440" y="2935224"/>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28" name="Shape 24"/>
          <p:cNvSpPr/>
          <p:nvPr/>
        </p:nvSpPr>
        <p:spPr>
          <a:xfrm>
            <a:off x="10698480" y="2935224"/>
            <a:ext cx="347472" cy="347472"/>
          </a:xfrm>
          <a:prstGeom prst="ellipse">
            <a:avLst/>
          </a:prstGeom>
          <a:solidFill>
            <a:schemeClr val="accent4"/>
          </a:solidFill>
          <a:ln w="9525">
            <a:solidFill>
              <a:schemeClr val="accent4"/>
            </a:solidFill>
            <a:prstDash val="solid"/>
          </a:ln>
        </p:spPr>
      </p:sp>
      <p:sp>
        <p:nvSpPr>
          <p:cNvPr id="29" name="Text 25"/>
          <p:cNvSpPr txBox="1"/>
          <p:nvPr/>
        </p:nvSpPr>
        <p:spPr>
          <a:xfrm>
            <a:off x="10698480" y="2935224"/>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30" name="Shape 26"/>
          <p:cNvSpPr/>
          <p:nvPr/>
        </p:nvSpPr>
        <p:spPr>
          <a:xfrm>
            <a:off x="548640" y="3483864"/>
            <a:ext cx="11091672" cy="576072"/>
          </a:xfrm>
          <a:prstGeom prst="roundRect">
            <a:avLst>
              <a:gd name="adj" fmla="val 1587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31" name="Shape 27"/>
          <p:cNvSpPr/>
          <p:nvPr/>
        </p:nvSpPr>
        <p:spPr>
          <a:xfrm>
            <a:off x="685800" y="3557016"/>
            <a:ext cx="429768" cy="429768"/>
          </a:xfrm>
          <a:prstGeom prst="ellipse">
            <a:avLst/>
          </a:prstGeom>
          <a:solidFill>
            <a:schemeClr val="tx2"/>
          </a:solidFill>
          <a:ln w="12700">
            <a:solidFill>
              <a:schemeClr val="tx2"/>
            </a:solidFill>
            <a:prstDash val="solid"/>
          </a:ln>
        </p:spPr>
      </p:sp>
      <p:pic>
        <p:nvPicPr>
          <p:cNvPr id="32" name="Image 2" descr="preencoded.png">    </p:cNvPr>
          <p:cNvPicPr>
            <a:picLocks noChangeAspect="1"/>
          </p:cNvPicPr>
          <p:nvPr/>
        </p:nvPicPr>
        <p:blipFill>
          <a:blip r:embed="rId3"/>
          <a:stretch>
            <a:fillRect/>
          </a:stretch>
        </p:blipFill>
        <p:spPr>
          <a:xfrm>
            <a:off x="780349" y="3651565"/>
            <a:ext cx="240670" cy="240670"/>
          </a:xfrm>
          <a:prstGeom prst="rect">
            <a:avLst/>
          </a:prstGeom>
        </p:spPr>
      </p:pic>
      <p:sp>
        <p:nvSpPr>
          <p:cNvPr id="33" name="Text 28"/>
          <p:cNvSpPr txBox="1"/>
          <p:nvPr/>
        </p:nvSpPr>
        <p:spPr>
          <a:xfrm>
            <a:off x="1280160" y="3483864"/>
            <a:ext cx="1463040" cy="576072"/>
          </a:xfrm>
          <a:prstGeom prst="rect">
            <a:avLst/>
          </a:prstGeom>
          <a:noFill/>
          <a:ln/>
        </p:spPr>
        <p:txBody>
          <a:bodyPr wrap="square" lIns="0" tIns="0" rIns="0" bIns="0" rtlCol="0" anchor="ctr"/>
          <a:lstStyle/>
          <a:p>
            <a:pPr indent="0" marL="0">
              <a:buNone/>
            </a:pPr>
            <a:r>
              <a:rPr lang="en-US" sz="1100" b="1" spc="100" kern="0" dirty="0">
                <a:solidFill>
                  <a:schemeClr val="accent1"/>
                </a:solidFill>
              </a:rPr>
              <a:t>HUMANO</a:t>
            </a:r>
            <a:endParaRPr lang="en-US" sz="1100" dirty="0"/>
          </a:p>
        </p:txBody>
      </p:sp>
      <p:sp>
        <p:nvSpPr>
          <p:cNvPr id="34" name="Text 29"/>
          <p:cNvSpPr txBox="1"/>
          <p:nvPr/>
        </p:nvSpPr>
        <p:spPr>
          <a:xfrm>
            <a:off x="2743200" y="3483864"/>
            <a:ext cx="4434840" cy="576072"/>
          </a:xfrm>
          <a:prstGeom prst="rect">
            <a:avLst/>
          </a:prstGeom>
          <a:noFill/>
          <a:ln/>
        </p:spPr>
        <p:txBody>
          <a:bodyPr wrap="square" lIns="0" tIns="0" rIns="0" bIns="0" rtlCol="0" anchor="ctr"/>
          <a:lstStyle/>
          <a:p>
            <a:pPr indent="0" marL="0">
              <a:buNone/>
            </a:pPr>
            <a:r>
              <a:rPr lang="en-US" sz="1500" dirty="0">
                <a:solidFill>
                  <a:schemeClr val="tx1"/>
                </a:solidFill>
              </a:rPr>
              <a:t>Vendedores de stand, coordinador y 5 socios</a:t>
            </a:r>
            <a:endParaRPr lang="en-US" sz="1500" dirty="0"/>
          </a:p>
        </p:txBody>
      </p:sp>
      <p:sp>
        <p:nvSpPr>
          <p:cNvPr id="35" name="Shape 30"/>
          <p:cNvSpPr/>
          <p:nvPr/>
        </p:nvSpPr>
        <p:spPr>
          <a:xfrm>
            <a:off x="7772400" y="3602736"/>
            <a:ext cx="347472" cy="347472"/>
          </a:xfrm>
          <a:prstGeom prst="ellipse">
            <a:avLst/>
          </a:prstGeom>
          <a:solidFill>
            <a:schemeClr val="accent4"/>
          </a:solidFill>
          <a:ln w="9525">
            <a:solidFill>
              <a:schemeClr val="accent4"/>
            </a:solidFill>
            <a:prstDash val="solid"/>
          </a:ln>
        </p:spPr>
      </p:sp>
      <p:sp>
        <p:nvSpPr>
          <p:cNvPr id="36" name="Text 31"/>
          <p:cNvSpPr txBox="1"/>
          <p:nvPr/>
        </p:nvSpPr>
        <p:spPr>
          <a:xfrm>
            <a:off x="7772400" y="3602736"/>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37" name="Shape 32"/>
          <p:cNvSpPr/>
          <p:nvPr/>
        </p:nvSpPr>
        <p:spPr>
          <a:xfrm>
            <a:off x="9235440" y="3602736"/>
            <a:ext cx="347472" cy="347472"/>
          </a:xfrm>
          <a:prstGeom prst="ellipse">
            <a:avLst/>
          </a:prstGeom>
          <a:solidFill>
            <a:schemeClr val="accent4"/>
          </a:solidFill>
          <a:ln w="9525">
            <a:solidFill>
              <a:schemeClr val="accent4"/>
            </a:solidFill>
            <a:prstDash val="solid"/>
          </a:ln>
        </p:spPr>
      </p:sp>
      <p:sp>
        <p:nvSpPr>
          <p:cNvPr id="38" name="Text 33"/>
          <p:cNvSpPr txBox="1"/>
          <p:nvPr/>
        </p:nvSpPr>
        <p:spPr>
          <a:xfrm>
            <a:off x="9235440" y="3602736"/>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39" name="Shape 34"/>
          <p:cNvSpPr/>
          <p:nvPr/>
        </p:nvSpPr>
        <p:spPr>
          <a:xfrm>
            <a:off x="10698480" y="3602736"/>
            <a:ext cx="347472" cy="347472"/>
          </a:xfrm>
          <a:prstGeom prst="ellipse">
            <a:avLst/>
          </a:prstGeom>
          <a:solidFill>
            <a:schemeClr val="bg2"/>
          </a:solidFill>
          <a:ln w="9525">
            <a:solidFill>
              <a:schemeClr val="accent5"/>
            </a:solidFill>
            <a:prstDash val="solid"/>
          </a:ln>
        </p:spPr>
      </p:sp>
      <p:sp>
        <p:nvSpPr>
          <p:cNvPr id="40" name="Text 35"/>
          <p:cNvSpPr txBox="1"/>
          <p:nvPr/>
        </p:nvSpPr>
        <p:spPr>
          <a:xfrm>
            <a:off x="10698480" y="3602736"/>
            <a:ext cx="347472" cy="347472"/>
          </a:xfrm>
          <a:prstGeom prst="rect">
            <a:avLst/>
          </a:prstGeom>
          <a:noFill/>
          <a:ln/>
        </p:spPr>
        <p:txBody>
          <a:bodyPr wrap="square" lIns="0" tIns="0" rIns="0" bIns="0" rtlCol="0" anchor="ctr"/>
          <a:lstStyle/>
          <a:p>
            <a:pPr algn="ctr" indent="0" marL="0">
              <a:buNone/>
            </a:pPr>
            <a:r>
              <a:rPr lang="en-US" sz="1300" b="1" dirty="0">
                <a:solidFill>
                  <a:schemeClr val="accent2"/>
                </a:solidFill>
              </a:rPr>
              <a:t>–</a:t>
            </a:r>
            <a:endParaRPr lang="en-US" sz="1300" dirty="0"/>
          </a:p>
        </p:txBody>
      </p:sp>
      <p:sp>
        <p:nvSpPr>
          <p:cNvPr id="41" name="Shape 36"/>
          <p:cNvSpPr/>
          <p:nvPr/>
        </p:nvSpPr>
        <p:spPr>
          <a:xfrm>
            <a:off x="548640" y="4151376"/>
            <a:ext cx="11091672" cy="576072"/>
          </a:xfrm>
          <a:prstGeom prst="roundRect">
            <a:avLst>
              <a:gd name="adj" fmla="val 1587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42" name="Shape 37"/>
          <p:cNvSpPr/>
          <p:nvPr/>
        </p:nvSpPr>
        <p:spPr>
          <a:xfrm>
            <a:off x="685800" y="4224528"/>
            <a:ext cx="429768" cy="429768"/>
          </a:xfrm>
          <a:prstGeom prst="ellipse">
            <a:avLst/>
          </a:prstGeom>
          <a:solidFill>
            <a:schemeClr val="tx2"/>
          </a:solidFill>
          <a:ln w="12700">
            <a:solidFill>
              <a:schemeClr val="tx2"/>
            </a:solidFill>
            <a:prstDash val="solid"/>
          </a:ln>
        </p:spPr>
      </p:sp>
      <p:pic>
        <p:nvPicPr>
          <p:cNvPr id="43" name="Image 3" descr="preencoded.png">    </p:cNvPr>
          <p:cNvPicPr>
            <a:picLocks noChangeAspect="1"/>
          </p:cNvPicPr>
          <p:nvPr/>
        </p:nvPicPr>
        <p:blipFill>
          <a:blip r:embed="rId4"/>
          <a:stretch>
            <a:fillRect/>
          </a:stretch>
        </p:blipFill>
        <p:spPr>
          <a:xfrm>
            <a:off x="780349" y="4319077"/>
            <a:ext cx="240670" cy="240670"/>
          </a:xfrm>
          <a:prstGeom prst="rect">
            <a:avLst/>
          </a:prstGeom>
        </p:spPr>
      </p:pic>
      <p:sp>
        <p:nvSpPr>
          <p:cNvPr id="44" name="Text 38"/>
          <p:cNvSpPr txBox="1"/>
          <p:nvPr/>
        </p:nvSpPr>
        <p:spPr>
          <a:xfrm>
            <a:off x="1280160" y="4151376"/>
            <a:ext cx="1463040" cy="576072"/>
          </a:xfrm>
          <a:prstGeom prst="rect">
            <a:avLst/>
          </a:prstGeom>
          <a:noFill/>
          <a:ln/>
        </p:spPr>
        <p:txBody>
          <a:bodyPr wrap="square" lIns="0" tIns="0" rIns="0" bIns="0" rtlCol="0" anchor="ctr"/>
          <a:lstStyle/>
          <a:p>
            <a:pPr indent="0" marL="0">
              <a:buNone/>
            </a:pPr>
            <a:r>
              <a:rPr lang="en-US" sz="1100" b="1" spc="100" kern="0" dirty="0">
                <a:solidFill>
                  <a:schemeClr val="accent1"/>
                </a:solidFill>
              </a:rPr>
              <a:t>FÍSICO</a:t>
            </a:r>
            <a:endParaRPr lang="en-US" sz="1100" dirty="0"/>
          </a:p>
        </p:txBody>
      </p:sp>
      <p:sp>
        <p:nvSpPr>
          <p:cNvPr id="45" name="Text 39"/>
          <p:cNvSpPr txBox="1"/>
          <p:nvPr/>
        </p:nvSpPr>
        <p:spPr>
          <a:xfrm>
            <a:off x="2743200" y="4151376"/>
            <a:ext cx="4434840" cy="576072"/>
          </a:xfrm>
          <a:prstGeom prst="rect">
            <a:avLst/>
          </a:prstGeom>
          <a:noFill/>
          <a:ln/>
        </p:spPr>
        <p:txBody>
          <a:bodyPr wrap="square" lIns="0" tIns="0" rIns="0" bIns="0" rtlCol="0" anchor="ctr"/>
          <a:lstStyle/>
          <a:p>
            <a:pPr indent="0" marL="0">
              <a:buNone/>
            </a:pPr>
            <a:r>
              <a:rPr lang="en-US" sz="1500" dirty="0">
                <a:solidFill>
                  <a:schemeClr val="tx1"/>
                </a:solidFill>
              </a:rPr>
              <a:t>Carrito, kit de feria y stock en la planta</a:t>
            </a:r>
            <a:endParaRPr lang="en-US" sz="1500" dirty="0"/>
          </a:p>
        </p:txBody>
      </p:sp>
      <p:sp>
        <p:nvSpPr>
          <p:cNvPr id="46" name="Shape 40"/>
          <p:cNvSpPr/>
          <p:nvPr/>
        </p:nvSpPr>
        <p:spPr>
          <a:xfrm>
            <a:off x="7772400" y="4270248"/>
            <a:ext cx="347472" cy="347472"/>
          </a:xfrm>
          <a:prstGeom prst="ellipse">
            <a:avLst/>
          </a:prstGeom>
          <a:solidFill>
            <a:schemeClr val="accent4"/>
          </a:solidFill>
          <a:ln w="9525">
            <a:solidFill>
              <a:schemeClr val="accent4"/>
            </a:solidFill>
            <a:prstDash val="solid"/>
          </a:ln>
        </p:spPr>
      </p:sp>
      <p:sp>
        <p:nvSpPr>
          <p:cNvPr id="47" name="Text 41"/>
          <p:cNvSpPr txBox="1"/>
          <p:nvPr/>
        </p:nvSpPr>
        <p:spPr>
          <a:xfrm>
            <a:off x="7772400" y="42702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48" name="Shape 42"/>
          <p:cNvSpPr/>
          <p:nvPr/>
        </p:nvSpPr>
        <p:spPr>
          <a:xfrm>
            <a:off x="9235440" y="4270248"/>
            <a:ext cx="347472" cy="347472"/>
          </a:xfrm>
          <a:prstGeom prst="ellipse">
            <a:avLst/>
          </a:prstGeom>
          <a:solidFill>
            <a:schemeClr val="bg2"/>
          </a:solidFill>
          <a:ln w="9525">
            <a:solidFill>
              <a:schemeClr val="accent5"/>
            </a:solidFill>
            <a:prstDash val="solid"/>
          </a:ln>
        </p:spPr>
      </p:sp>
      <p:sp>
        <p:nvSpPr>
          <p:cNvPr id="49" name="Text 43"/>
          <p:cNvSpPr txBox="1"/>
          <p:nvPr/>
        </p:nvSpPr>
        <p:spPr>
          <a:xfrm>
            <a:off x="9235440" y="4270248"/>
            <a:ext cx="347472" cy="347472"/>
          </a:xfrm>
          <a:prstGeom prst="rect">
            <a:avLst/>
          </a:prstGeom>
          <a:noFill/>
          <a:ln/>
        </p:spPr>
        <p:txBody>
          <a:bodyPr wrap="square" lIns="0" tIns="0" rIns="0" bIns="0" rtlCol="0" anchor="ctr"/>
          <a:lstStyle/>
          <a:p>
            <a:pPr algn="ctr" indent="0" marL="0">
              <a:buNone/>
            </a:pPr>
            <a:r>
              <a:rPr lang="en-US" sz="1300" b="1" dirty="0">
                <a:solidFill>
                  <a:schemeClr val="accent2"/>
                </a:solidFill>
              </a:rPr>
              <a:t>–</a:t>
            </a:r>
            <a:endParaRPr lang="en-US" sz="1300" dirty="0"/>
          </a:p>
        </p:txBody>
      </p:sp>
      <p:sp>
        <p:nvSpPr>
          <p:cNvPr id="50" name="Shape 44"/>
          <p:cNvSpPr/>
          <p:nvPr/>
        </p:nvSpPr>
        <p:spPr>
          <a:xfrm>
            <a:off x="10698480" y="4270248"/>
            <a:ext cx="347472" cy="347472"/>
          </a:xfrm>
          <a:prstGeom prst="ellipse">
            <a:avLst/>
          </a:prstGeom>
          <a:solidFill>
            <a:schemeClr val="bg2"/>
          </a:solidFill>
          <a:ln w="9525">
            <a:solidFill>
              <a:schemeClr val="accent5"/>
            </a:solidFill>
            <a:prstDash val="solid"/>
          </a:ln>
        </p:spPr>
      </p:sp>
      <p:sp>
        <p:nvSpPr>
          <p:cNvPr id="51" name="Text 45"/>
          <p:cNvSpPr txBox="1"/>
          <p:nvPr/>
        </p:nvSpPr>
        <p:spPr>
          <a:xfrm>
            <a:off x="10698480" y="4270248"/>
            <a:ext cx="347472" cy="347472"/>
          </a:xfrm>
          <a:prstGeom prst="rect">
            <a:avLst/>
          </a:prstGeom>
          <a:noFill/>
          <a:ln/>
        </p:spPr>
        <p:txBody>
          <a:bodyPr wrap="square" lIns="0" tIns="0" rIns="0" bIns="0" rtlCol="0" anchor="ctr"/>
          <a:lstStyle/>
          <a:p>
            <a:pPr algn="ctr" indent="0" marL="0">
              <a:buNone/>
            </a:pPr>
            <a:r>
              <a:rPr lang="en-US" sz="1300" b="1" dirty="0">
                <a:solidFill>
                  <a:schemeClr val="accent2"/>
                </a:solidFill>
              </a:rPr>
              <a:t>–</a:t>
            </a:r>
            <a:endParaRPr lang="en-US" sz="1300" dirty="0"/>
          </a:p>
        </p:txBody>
      </p:sp>
      <p:sp>
        <p:nvSpPr>
          <p:cNvPr id="52" name="Shape 46"/>
          <p:cNvSpPr/>
          <p:nvPr/>
        </p:nvSpPr>
        <p:spPr>
          <a:xfrm>
            <a:off x="548640" y="4818888"/>
            <a:ext cx="11091672" cy="576072"/>
          </a:xfrm>
          <a:prstGeom prst="roundRect">
            <a:avLst>
              <a:gd name="adj" fmla="val 1587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53" name="Shape 47"/>
          <p:cNvSpPr/>
          <p:nvPr/>
        </p:nvSpPr>
        <p:spPr>
          <a:xfrm>
            <a:off x="685800" y="4892040"/>
            <a:ext cx="429768" cy="429768"/>
          </a:xfrm>
          <a:prstGeom prst="ellipse">
            <a:avLst/>
          </a:prstGeom>
          <a:solidFill>
            <a:schemeClr val="tx2"/>
          </a:solidFill>
          <a:ln w="12700">
            <a:solidFill>
              <a:schemeClr val="tx2"/>
            </a:solidFill>
            <a:prstDash val="solid"/>
          </a:ln>
        </p:spPr>
      </p:sp>
      <p:pic>
        <p:nvPicPr>
          <p:cNvPr id="54" name="Image 4" descr="preencoded.png">    </p:cNvPr>
          <p:cNvPicPr>
            <a:picLocks noChangeAspect="1"/>
          </p:cNvPicPr>
          <p:nvPr/>
        </p:nvPicPr>
        <p:blipFill>
          <a:blip r:embed="rId5"/>
          <a:stretch>
            <a:fillRect/>
          </a:stretch>
        </p:blipFill>
        <p:spPr>
          <a:xfrm>
            <a:off x="780349" y="4986589"/>
            <a:ext cx="240670" cy="240670"/>
          </a:xfrm>
          <a:prstGeom prst="rect">
            <a:avLst/>
          </a:prstGeom>
        </p:spPr>
      </p:pic>
      <p:sp>
        <p:nvSpPr>
          <p:cNvPr id="55" name="Text 48"/>
          <p:cNvSpPr txBox="1"/>
          <p:nvPr/>
        </p:nvSpPr>
        <p:spPr>
          <a:xfrm>
            <a:off x="1280160" y="4818888"/>
            <a:ext cx="1463040" cy="576072"/>
          </a:xfrm>
          <a:prstGeom prst="rect">
            <a:avLst/>
          </a:prstGeom>
          <a:noFill/>
          <a:ln/>
        </p:spPr>
        <p:txBody>
          <a:bodyPr wrap="square" lIns="0" tIns="0" rIns="0" bIns="0" rtlCol="0" anchor="ctr"/>
          <a:lstStyle/>
          <a:p>
            <a:pPr indent="0" marL="0">
              <a:buNone/>
            </a:pPr>
            <a:r>
              <a:rPr lang="en-US" sz="1100" b="1" spc="100" kern="0" dirty="0">
                <a:solidFill>
                  <a:schemeClr val="accent1"/>
                </a:solidFill>
              </a:rPr>
              <a:t>DIGITAL</a:t>
            </a:r>
            <a:endParaRPr lang="en-US" sz="1100" dirty="0"/>
          </a:p>
        </p:txBody>
      </p:sp>
      <p:sp>
        <p:nvSpPr>
          <p:cNvPr id="56" name="Text 49"/>
          <p:cNvSpPr txBox="1"/>
          <p:nvPr/>
        </p:nvSpPr>
        <p:spPr>
          <a:xfrm>
            <a:off x="2743200" y="4818888"/>
            <a:ext cx="4434840" cy="576072"/>
          </a:xfrm>
          <a:prstGeom prst="rect">
            <a:avLst/>
          </a:prstGeom>
          <a:noFill/>
          <a:ln/>
        </p:spPr>
        <p:txBody>
          <a:bodyPr wrap="square" lIns="0" tIns="0" rIns="0" bIns="0" rtlCol="0" anchor="ctr"/>
          <a:lstStyle/>
          <a:p>
            <a:pPr indent="0" marL="0">
              <a:buNone/>
            </a:pPr>
            <a:r>
              <a:rPr lang="en-US" sz="1500" dirty="0">
                <a:solidFill>
                  <a:schemeClr val="tx1"/>
                </a:solidFill>
              </a:rPr>
              <a:t>App Andi, Misión Hierro y base de clientes</a:t>
            </a:r>
            <a:endParaRPr lang="en-US" sz="1500" dirty="0"/>
          </a:p>
        </p:txBody>
      </p:sp>
      <p:sp>
        <p:nvSpPr>
          <p:cNvPr id="57" name="Shape 50"/>
          <p:cNvSpPr/>
          <p:nvPr/>
        </p:nvSpPr>
        <p:spPr>
          <a:xfrm>
            <a:off x="7772400" y="4937760"/>
            <a:ext cx="347472" cy="347472"/>
          </a:xfrm>
          <a:prstGeom prst="ellipse">
            <a:avLst/>
          </a:prstGeom>
          <a:solidFill>
            <a:schemeClr val="accent4"/>
          </a:solidFill>
          <a:ln w="9525">
            <a:solidFill>
              <a:schemeClr val="accent4"/>
            </a:solidFill>
            <a:prstDash val="solid"/>
          </a:ln>
        </p:spPr>
      </p:sp>
      <p:sp>
        <p:nvSpPr>
          <p:cNvPr id="58" name="Text 51"/>
          <p:cNvSpPr txBox="1"/>
          <p:nvPr/>
        </p:nvSpPr>
        <p:spPr>
          <a:xfrm>
            <a:off x="7772400" y="4937760"/>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59" name="Shape 52"/>
          <p:cNvSpPr/>
          <p:nvPr/>
        </p:nvSpPr>
        <p:spPr>
          <a:xfrm>
            <a:off x="9235440" y="4937760"/>
            <a:ext cx="347472" cy="347472"/>
          </a:xfrm>
          <a:prstGeom prst="ellipse">
            <a:avLst/>
          </a:prstGeom>
          <a:solidFill>
            <a:schemeClr val="accent4"/>
          </a:solidFill>
          <a:ln w="9525">
            <a:solidFill>
              <a:schemeClr val="accent4"/>
            </a:solidFill>
            <a:prstDash val="solid"/>
          </a:ln>
        </p:spPr>
      </p:sp>
      <p:sp>
        <p:nvSpPr>
          <p:cNvPr id="60" name="Text 53"/>
          <p:cNvSpPr txBox="1"/>
          <p:nvPr/>
        </p:nvSpPr>
        <p:spPr>
          <a:xfrm>
            <a:off x="9235440" y="4937760"/>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61" name="Shape 54"/>
          <p:cNvSpPr/>
          <p:nvPr/>
        </p:nvSpPr>
        <p:spPr>
          <a:xfrm>
            <a:off x="10698480" y="4937760"/>
            <a:ext cx="347472" cy="347472"/>
          </a:xfrm>
          <a:prstGeom prst="ellipse">
            <a:avLst/>
          </a:prstGeom>
          <a:solidFill>
            <a:schemeClr val="accent4"/>
          </a:solidFill>
          <a:ln w="9525">
            <a:solidFill>
              <a:schemeClr val="accent4"/>
            </a:solidFill>
            <a:prstDash val="solid"/>
          </a:ln>
        </p:spPr>
      </p:sp>
      <p:sp>
        <p:nvSpPr>
          <p:cNvPr id="62" name="Text 55"/>
          <p:cNvSpPr txBox="1"/>
          <p:nvPr/>
        </p:nvSpPr>
        <p:spPr>
          <a:xfrm>
            <a:off x="10698480" y="4937760"/>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63" name="Shape 56"/>
          <p:cNvSpPr/>
          <p:nvPr/>
        </p:nvSpPr>
        <p:spPr>
          <a:xfrm>
            <a:off x="548640" y="5486400"/>
            <a:ext cx="11091672" cy="576072"/>
          </a:xfrm>
          <a:prstGeom prst="roundRect">
            <a:avLst>
              <a:gd name="adj" fmla="val 1587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64" name="Shape 57"/>
          <p:cNvSpPr/>
          <p:nvPr/>
        </p:nvSpPr>
        <p:spPr>
          <a:xfrm>
            <a:off x="685800" y="5559552"/>
            <a:ext cx="429768" cy="429768"/>
          </a:xfrm>
          <a:prstGeom prst="ellipse">
            <a:avLst/>
          </a:prstGeom>
          <a:solidFill>
            <a:schemeClr val="tx2"/>
          </a:solidFill>
          <a:ln w="12700">
            <a:solidFill>
              <a:schemeClr val="tx2"/>
            </a:solidFill>
            <a:prstDash val="solid"/>
          </a:ln>
        </p:spPr>
      </p:sp>
      <p:pic>
        <p:nvPicPr>
          <p:cNvPr id="65" name="Image 5" descr="preencoded.png">    </p:cNvPr>
          <p:cNvPicPr>
            <a:picLocks noChangeAspect="1"/>
          </p:cNvPicPr>
          <p:nvPr/>
        </p:nvPicPr>
        <p:blipFill>
          <a:blip r:embed="rId6"/>
          <a:stretch>
            <a:fillRect/>
          </a:stretch>
        </p:blipFill>
        <p:spPr>
          <a:xfrm>
            <a:off x="780349" y="5654101"/>
            <a:ext cx="240670" cy="240670"/>
          </a:xfrm>
          <a:prstGeom prst="rect">
            <a:avLst/>
          </a:prstGeom>
        </p:spPr>
      </p:pic>
      <p:sp>
        <p:nvSpPr>
          <p:cNvPr id="66" name="Text 58"/>
          <p:cNvSpPr txBox="1"/>
          <p:nvPr/>
        </p:nvSpPr>
        <p:spPr>
          <a:xfrm>
            <a:off x="1280160" y="5486400"/>
            <a:ext cx="1463040" cy="576072"/>
          </a:xfrm>
          <a:prstGeom prst="rect">
            <a:avLst/>
          </a:prstGeom>
          <a:noFill/>
          <a:ln/>
        </p:spPr>
        <p:txBody>
          <a:bodyPr wrap="square" lIns="0" tIns="0" rIns="0" bIns="0" rtlCol="0" anchor="ctr"/>
          <a:lstStyle/>
          <a:p>
            <a:pPr indent="0" marL="0">
              <a:buNone/>
            </a:pPr>
            <a:r>
              <a:rPr lang="en-US" sz="1100" b="1" spc="100" kern="0" dirty="0">
                <a:solidFill>
                  <a:schemeClr val="accent1"/>
                </a:solidFill>
              </a:rPr>
              <a:t>FINANCIERO</a:t>
            </a:r>
            <a:endParaRPr lang="en-US" sz="1100" dirty="0"/>
          </a:p>
        </p:txBody>
      </p:sp>
      <p:sp>
        <p:nvSpPr>
          <p:cNvPr id="67" name="Text 59"/>
          <p:cNvSpPr txBox="1"/>
          <p:nvPr/>
        </p:nvSpPr>
        <p:spPr>
          <a:xfrm>
            <a:off x="2743200" y="5486400"/>
            <a:ext cx="4434840" cy="576072"/>
          </a:xfrm>
          <a:prstGeom prst="rect">
            <a:avLst/>
          </a:prstGeom>
          <a:noFill/>
          <a:ln/>
        </p:spPr>
        <p:txBody>
          <a:bodyPr wrap="square" lIns="0" tIns="0" rIns="0" bIns="0" rtlCol="0" anchor="ctr"/>
          <a:lstStyle/>
          <a:p>
            <a:pPr indent="0" marL="0">
              <a:buNone/>
            </a:pPr>
            <a:r>
              <a:rPr lang="en-US" sz="1500" dirty="0">
                <a:solidFill>
                  <a:schemeClr val="tx1"/>
                </a:solidFill>
              </a:rPr>
              <a:t>S/40,876 de inversión: socios y préstamo</a:t>
            </a:r>
            <a:endParaRPr lang="en-US" sz="1500" dirty="0"/>
          </a:p>
        </p:txBody>
      </p:sp>
      <p:sp>
        <p:nvSpPr>
          <p:cNvPr id="68" name="Shape 60"/>
          <p:cNvSpPr/>
          <p:nvPr/>
        </p:nvSpPr>
        <p:spPr>
          <a:xfrm>
            <a:off x="7772400" y="5605272"/>
            <a:ext cx="347472" cy="347472"/>
          </a:xfrm>
          <a:prstGeom prst="ellipse">
            <a:avLst/>
          </a:prstGeom>
          <a:solidFill>
            <a:schemeClr val="accent4"/>
          </a:solidFill>
          <a:ln w="9525">
            <a:solidFill>
              <a:schemeClr val="accent4"/>
            </a:solidFill>
            <a:prstDash val="solid"/>
          </a:ln>
        </p:spPr>
      </p:sp>
      <p:sp>
        <p:nvSpPr>
          <p:cNvPr id="69" name="Text 61"/>
          <p:cNvSpPr txBox="1"/>
          <p:nvPr/>
        </p:nvSpPr>
        <p:spPr>
          <a:xfrm>
            <a:off x="7772400" y="5605272"/>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a:t>
            </a:r>
            <a:endParaRPr lang="en-US" sz="1300" dirty="0"/>
          </a:p>
        </p:txBody>
      </p:sp>
      <p:sp>
        <p:nvSpPr>
          <p:cNvPr id="70" name="Shape 62"/>
          <p:cNvSpPr/>
          <p:nvPr/>
        </p:nvSpPr>
        <p:spPr>
          <a:xfrm>
            <a:off x="9235440" y="5605272"/>
            <a:ext cx="347472" cy="347472"/>
          </a:xfrm>
          <a:prstGeom prst="ellipse">
            <a:avLst/>
          </a:prstGeom>
          <a:solidFill>
            <a:schemeClr val="bg2"/>
          </a:solidFill>
          <a:ln w="9525">
            <a:solidFill>
              <a:schemeClr val="accent5"/>
            </a:solidFill>
            <a:prstDash val="solid"/>
          </a:ln>
        </p:spPr>
      </p:sp>
      <p:sp>
        <p:nvSpPr>
          <p:cNvPr id="71" name="Text 63"/>
          <p:cNvSpPr txBox="1"/>
          <p:nvPr/>
        </p:nvSpPr>
        <p:spPr>
          <a:xfrm>
            <a:off x="9235440" y="5605272"/>
            <a:ext cx="347472" cy="347472"/>
          </a:xfrm>
          <a:prstGeom prst="rect">
            <a:avLst/>
          </a:prstGeom>
          <a:noFill/>
          <a:ln/>
        </p:spPr>
        <p:txBody>
          <a:bodyPr wrap="square" lIns="0" tIns="0" rIns="0" bIns="0" rtlCol="0" anchor="ctr"/>
          <a:lstStyle/>
          <a:p>
            <a:pPr algn="ctr" indent="0" marL="0">
              <a:buNone/>
            </a:pPr>
            <a:r>
              <a:rPr lang="en-US" sz="1300" b="1" dirty="0">
                <a:solidFill>
                  <a:schemeClr val="accent2"/>
                </a:solidFill>
              </a:rPr>
              <a:t>–</a:t>
            </a:r>
            <a:endParaRPr lang="en-US" sz="1300" dirty="0"/>
          </a:p>
        </p:txBody>
      </p:sp>
      <p:sp>
        <p:nvSpPr>
          <p:cNvPr id="72" name="Shape 64"/>
          <p:cNvSpPr/>
          <p:nvPr/>
        </p:nvSpPr>
        <p:spPr>
          <a:xfrm>
            <a:off x="10698480" y="5605272"/>
            <a:ext cx="347472" cy="347472"/>
          </a:xfrm>
          <a:prstGeom prst="ellipse">
            <a:avLst/>
          </a:prstGeom>
          <a:solidFill>
            <a:schemeClr val="bg2"/>
          </a:solidFill>
          <a:ln w="9525">
            <a:solidFill>
              <a:schemeClr val="accent5"/>
            </a:solidFill>
            <a:prstDash val="solid"/>
          </a:ln>
        </p:spPr>
      </p:sp>
      <p:sp>
        <p:nvSpPr>
          <p:cNvPr id="73" name="Text 65"/>
          <p:cNvSpPr txBox="1"/>
          <p:nvPr/>
        </p:nvSpPr>
        <p:spPr>
          <a:xfrm>
            <a:off x="10698480" y="5605272"/>
            <a:ext cx="347472" cy="347472"/>
          </a:xfrm>
          <a:prstGeom prst="rect">
            <a:avLst/>
          </a:prstGeom>
          <a:noFill/>
          <a:ln/>
        </p:spPr>
        <p:txBody>
          <a:bodyPr wrap="square" lIns="0" tIns="0" rIns="0" bIns="0" rtlCol="0" anchor="ctr"/>
          <a:lstStyle/>
          <a:p>
            <a:pPr algn="ctr" indent="0" marL="0">
              <a:buNone/>
            </a:pPr>
            <a:r>
              <a:rPr lang="en-US" sz="1300" b="1" dirty="0">
                <a:solidFill>
                  <a:schemeClr val="accent2"/>
                </a:solidFill>
              </a:rPr>
              <a:t>–</a:t>
            </a:r>
            <a:endParaRPr lang="en-US" sz="13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7 · ACTIVIDADES CLAVE</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Lo que hacemos cada mes y cuánto nos cuesta</a:t>
            </a:r>
            <a:endParaRPr lang="en-US" sz="3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1280160" y="1481328"/>
          <a:ext cx="10360152" cy="914400"/>
        </p:xfrm>
        <a:graphic>
          <a:graphicData uri="http://schemas.openxmlformats.org/drawingml/2006/table">
            <a:tbl>
              <a:tblPr/>
              <a:tblGrid>
                <a:gridCol w="2697480"/>
                <a:gridCol w="1600200"/>
                <a:gridCol w="4343400"/>
                <a:gridCol w="1719072"/>
              </a:tblGrid>
              <a:tr h="457200">
                <a:tc>
                  <a:txBody>
                    <a:bodyPr/>
                    <a:lstStyle/>
                    <a:p>
                      <a:pPr indent="0" marL="0">
                        <a:buNone/>
                      </a:pPr>
                      <a:r>
                        <a:rPr lang="en-US" sz="1300" b="1" dirty="0">
                          <a:solidFill>
                            <a:schemeClr val="bg1"/>
                          </a:solidFill>
                        </a:rPr>
                        <a:t>Actividad clave</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Para qué</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Lo que cuesta</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Tipo de costo</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r>
              <a:tr h="457200">
                <a:tc>
                  <a:txBody>
                    <a:bodyPr/>
                    <a:lstStyle/>
                    <a:p>
                      <a:pPr indent="0" marL="0">
                        <a:buNone/>
                      </a:pPr>
                      <a:r>
                        <a:rPr lang="en-US" sz="1300" b="1" dirty="0">
                          <a:solidFill>
                            <a:schemeClr val="tx1"/>
                          </a:solidFill>
                        </a:rPr>
                        <a:t>Producir con la planta</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b="1" dirty="0">
                          <a:solidFill>
                            <a:schemeClr val="accent1"/>
                          </a:solidFill>
                        </a:rPr>
                        <a:t>Producción</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S/1.64 por brownie todo incluido (fabricar S/1.06 + empaque y calidad S/0.58)</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2"/>
                          </a:solidFill>
                        </a:rPr>
                        <a:t>Variable</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457200">
                <a:tc>
                  <a:txBody>
                    <a:bodyPr/>
                    <a:lstStyle/>
                    <a:p>
                      <a:pPr indent="0" marL="0">
                        <a:buNone/>
                      </a:pPr>
                      <a:r>
                        <a:rPr lang="en-US" sz="1300" b="1" dirty="0">
                          <a:solidFill>
                            <a:schemeClr val="tx1"/>
                          </a:solidFill>
                        </a:rPr>
                        <a:t>Calidad y hierro medido</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b="1" dirty="0">
                          <a:solidFill>
                            <a:schemeClr val="accent1"/>
                          </a:solidFill>
                        </a:rPr>
                        <a:t>Producción</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S/625 por la producción de cada mes (S/0.12 por brownie)</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2"/>
                          </a:solidFill>
                        </a:rPr>
                        <a:t>Variable</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chemeClr val="tx1"/>
                          </a:solidFill>
                        </a:rPr>
                        <a:t>Vender en stands y carrito</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b="1" dirty="0">
                          <a:solidFill>
                            <a:schemeClr val="accent1"/>
                          </a:solidFill>
                        </a:rPr>
                        <a:t>Atender al cliente</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S/600 por punto al mes + S/90 por día de vendedor(a)</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2"/>
                          </a:solidFill>
                        </a:rPr>
                        <a:t>Crece con cada punto</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457200">
                <a:tc>
                  <a:txBody>
                    <a:bodyPr/>
                    <a:lstStyle/>
                    <a:p>
                      <a:pPr indent="0" marL="0">
                        <a:buNone/>
                      </a:pPr>
                      <a:r>
                        <a:rPr lang="en-US" sz="1300" b="1" dirty="0">
                          <a:solidFill>
                            <a:schemeClr val="tx1"/>
                          </a:solidFill>
                        </a:rPr>
                        <a:t>Ferias y eventos</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b="1" dirty="0">
                          <a:solidFill>
                            <a:schemeClr val="accent1"/>
                          </a:solidFill>
                        </a:rPr>
                        <a:t>Atender al cliente</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Feria S/1,800 + S/270 de vendedor(a) · evento S/160</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2"/>
                          </a:solidFill>
                        </a:rPr>
                        <a:t>Por evento</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chemeClr val="tx1"/>
                          </a:solidFill>
                        </a:rPr>
                        <a:t>Recompra y entregas</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b="1" dirty="0">
                          <a:solidFill>
                            <a:schemeClr val="accent1"/>
                          </a:solidFill>
                        </a:rPr>
                        <a:t>Mantener canales</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S/0.50 por brownie (entregas agrupadas por zona)</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2"/>
                          </a:solidFill>
                        </a:rPr>
                        <a:t>Variable</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457200">
                <a:tc>
                  <a:txBody>
                    <a:bodyPr/>
                    <a:lstStyle/>
                    <a:p>
                      <a:pPr indent="0" marL="0">
                        <a:buNone/>
                      </a:pPr>
                      <a:r>
                        <a:rPr lang="en-US" sz="1300" b="1" dirty="0">
                          <a:solidFill>
                            <a:schemeClr val="tx1"/>
                          </a:solidFill>
                        </a:rPr>
                        <a:t>Contenido y mamás embajadoras</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b="1" dirty="0">
                          <a:solidFill>
                            <a:schemeClr val="accent1"/>
                          </a:solidFill>
                        </a:rPr>
                        <a:t>Mantener canales</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S/700 de pauta + S/200 de embajadoras al mes</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2"/>
                          </a:solidFill>
                        </a:rPr>
                        <a:t>Fijo</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chemeClr val="tx1"/>
                          </a:solidFill>
                        </a:rPr>
                        <a:t>Mantener la app Andi</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b="1" dirty="0">
                          <a:solidFill>
                            <a:schemeClr val="accent1"/>
                          </a:solidFill>
                        </a:rPr>
                        <a:t>Mantener canales</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S/250 al mes + S/0.04 por código impreso</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2"/>
                          </a:solidFill>
                        </a:rPr>
                        <a:t>Fijo y variable</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BF3E8"/>
                    </a:solidFill>
                  </a:tcPr>
                </a:tc>
              </a:tr>
              <a:tr h="457200">
                <a:tc>
                  <a:txBody>
                    <a:bodyPr/>
                    <a:lstStyle/>
                    <a:p>
                      <a:pPr indent="0" marL="0">
                        <a:buNone/>
                      </a:pPr>
                      <a:r>
                        <a:rPr lang="en-US" sz="1300" b="1" dirty="0">
                          <a:solidFill>
                            <a:schemeClr val="tx1"/>
                          </a:solidFill>
                        </a:rPr>
                        <a:t>Administrar el negocio</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b="1" dirty="0">
                          <a:solidFill>
                            <a:schemeClr val="accent1"/>
                          </a:solidFill>
                        </a:rPr>
                        <a:t>Gestión</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300" dirty="0">
                          <a:solidFill>
                            <a:schemeClr val="tx1"/>
                          </a:solidFill>
                        </a:rPr>
                        <a:t>S/745 de administración + S/709 de la coordinadora al mes</a:t>
                      </a:r>
                      <a:endParaRPr lang="en-US" sz="13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indent="0" marL="0">
                        <a:buNone/>
                      </a:pPr>
                      <a:r>
                        <a:rPr lang="en-US" sz="1200" dirty="0">
                          <a:solidFill>
                            <a:schemeClr val="accent2"/>
                          </a:solidFill>
                        </a:rPr>
                        <a:t>Fijo</a:t>
                      </a:r>
                      <a:endParaRPr lang="en-US" sz="1200" dirty="0"/>
                    </a:p>
                  </a:txBody>
                  <a:tcPr marL="64008" marR="64008" marT="64008" marB="64008"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bl>
          </a:graphicData>
        </a:graphic>
      </p:graphicFrame>
      <p:sp>
        <p:nvSpPr>
          <p:cNvPr id="5" name="Shape 2"/>
          <p:cNvSpPr/>
          <p:nvPr/>
        </p:nvSpPr>
        <p:spPr>
          <a:xfrm>
            <a:off x="694944" y="1984248"/>
            <a:ext cx="365760" cy="36576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775411" y="2064715"/>
            <a:ext cx="204826" cy="204826"/>
          </a:xfrm>
          <a:prstGeom prst="rect">
            <a:avLst/>
          </a:prstGeom>
        </p:spPr>
      </p:pic>
      <p:sp>
        <p:nvSpPr>
          <p:cNvPr id="7" name="Shape 3"/>
          <p:cNvSpPr/>
          <p:nvPr/>
        </p:nvSpPr>
        <p:spPr>
          <a:xfrm>
            <a:off x="694944" y="2441448"/>
            <a:ext cx="365760" cy="365760"/>
          </a:xfrm>
          <a:prstGeom prst="ellipse">
            <a:avLst/>
          </a:prstGeom>
          <a:solidFill>
            <a:schemeClr val="accent1"/>
          </a:solidFill>
          <a:ln w="12700">
            <a:solidFill>
              <a:schemeClr val="accent1"/>
            </a:solidFill>
            <a:prstDash val="solid"/>
          </a:ln>
        </p:spPr>
      </p:sp>
      <p:pic>
        <p:nvPicPr>
          <p:cNvPr id="8" name="Image 1" descr="preencoded.png">    </p:cNvPr>
          <p:cNvPicPr>
            <a:picLocks noChangeAspect="1"/>
          </p:cNvPicPr>
          <p:nvPr/>
        </p:nvPicPr>
        <p:blipFill>
          <a:blip r:embed="rId2"/>
          <a:stretch>
            <a:fillRect/>
          </a:stretch>
        </p:blipFill>
        <p:spPr>
          <a:xfrm>
            <a:off x="775411" y="2521915"/>
            <a:ext cx="204826" cy="204826"/>
          </a:xfrm>
          <a:prstGeom prst="rect">
            <a:avLst/>
          </a:prstGeom>
        </p:spPr>
      </p:pic>
      <p:sp>
        <p:nvSpPr>
          <p:cNvPr id="9" name="Shape 4"/>
          <p:cNvSpPr/>
          <p:nvPr/>
        </p:nvSpPr>
        <p:spPr>
          <a:xfrm>
            <a:off x="694944" y="2898648"/>
            <a:ext cx="365760" cy="365760"/>
          </a:xfrm>
          <a:prstGeom prst="ellipse">
            <a:avLst/>
          </a:prstGeom>
          <a:solidFill>
            <a:schemeClr val="accent1"/>
          </a:solidFill>
          <a:ln w="12700">
            <a:solidFill>
              <a:schemeClr val="accent1"/>
            </a:solidFill>
            <a:prstDash val="solid"/>
          </a:ln>
        </p:spPr>
      </p:sp>
      <p:pic>
        <p:nvPicPr>
          <p:cNvPr id="10" name="Image 2" descr="preencoded.png">    </p:cNvPr>
          <p:cNvPicPr>
            <a:picLocks noChangeAspect="1"/>
          </p:cNvPicPr>
          <p:nvPr/>
        </p:nvPicPr>
        <p:blipFill>
          <a:blip r:embed="rId3"/>
          <a:stretch>
            <a:fillRect/>
          </a:stretch>
        </p:blipFill>
        <p:spPr>
          <a:xfrm>
            <a:off x="775411" y="2979115"/>
            <a:ext cx="204826" cy="204826"/>
          </a:xfrm>
          <a:prstGeom prst="rect">
            <a:avLst/>
          </a:prstGeom>
        </p:spPr>
      </p:pic>
      <p:sp>
        <p:nvSpPr>
          <p:cNvPr id="11" name="Shape 5"/>
          <p:cNvSpPr/>
          <p:nvPr/>
        </p:nvSpPr>
        <p:spPr>
          <a:xfrm>
            <a:off x="694944" y="3355848"/>
            <a:ext cx="365760" cy="365760"/>
          </a:xfrm>
          <a:prstGeom prst="ellipse">
            <a:avLst/>
          </a:prstGeom>
          <a:solidFill>
            <a:schemeClr val="accent1"/>
          </a:solidFill>
          <a:ln w="12700">
            <a:solidFill>
              <a:schemeClr val="accent1"/>
            </a:solidFill>
            <a:prstDash val="solid"/>
          </a:ln>
        </p:spPr>
      </p:sp>
      <p:pic>
        <p:nvPicPr>
          <p:cNvPr id="12" name="Image 3" descr="preencoded.png">    </p:cNvPr>
          <p:cNvPicPr>
            <a:picLocks noChangeAspect="1"/>
          </p:cNvPicPr>
          <p:nvPr/>
        </p:nvPicPr>
        <p:blipFill>
          <a:blip r:embed="rId4"/>
          <a:stretch>
            <a:fillRect/>
          </a:stretch>
        </p:blipFill>
        <p:spPr>
          <a:xfrm>
            <a:off x="775411" y="3436315"/>
            <a:ext cx="204826" cy="204826"/>
          </a:xfrm>
          <a:prstGeom prst="rect">
            <a:avLst/>
          </a:prstGeom>
        </p:spPr>
      </p:pic>
      <p:sp>
        <p:nvSpPr>
          <p:cNvPr id="13" name="Shape 6"/>
          <p:cNvSpPr/>
          <p:nvPr/>
        </p:nvSpPr>
        <p:spPr>
          <a:xfrm>
            <a:off x="694944" y="3813048"/>
            <a:ext cx="365760" cy="365760"/>
          </a:xfrm>
          <a:prstGeom prst="ellipse">
            <a:avLst/>
          </a:prstGeom>
          <a:solidFill>
            <a:schemeClr val="accent1"/>
          </a:solidFill>
          <a:ln w="12700">
            <a:solidFill>
              <a:schemeClr val="accent1"/>
            </a:solidFill>
            <a:prstDash val="solid"/>
          </a:ln>
        </p:spPr>
      </p:sp>
      <p:pic>
        <p:nvPicPr>
          <p:cNvPr id="14" name="Image 4" descr="preencoded.png">    </p:cNvPr>
          <p:cNvPicPr>
            <a:picLocks noChangeAspect="1"/>
          </p:cNvPicPr>
          <p:nvPr/>
        </p:nvPicPr>
        <p:blipFill>
          <a:blip r:embed="rId5"/>
          <a:stretch>
            <a:fillRect/>
          </a:stretch>
        </p:blipFill>
        <p:spPr>
          <a:xfrm>
            <a:off x="775411" y="3893515"/>
            <a:ext cx="204826" cy="204826"/>
          </a:xfrm>
          <a:prstGeom prst="rect">
            <a:avLst/>
          </a:prstGeom>
        </p:spPr>
      </p:pic>
      <p:sp>
        <p:nvSpPr>
          <p:cNvPr id="15" name="Shape 7"/>
          <p:cNvSpPr/>
          <p:nvPr/>
        </p:nvSpPr>
        <p:spPr>
          <a:xfrm>
            <a:off x="694944" y="4270248"/>
            <a:ext cx="365760" cy="365760"/>
          </a:xfrm>
          <a:prstGeom prst="ellipse">
            <a:avLst/>
          </a:prstGeom>
          <a:solidFill>
            <a:schemeClr val="accent1"/>
          </a:solidFill>
          <a:ln w="12700">
            <a:solidFill>
              <a:schemeClr val="accent1"/>
            </a:solidFill>
            <a:prstDash val="solid"/>
          </a:ln>
        </p:spPr>
      </p:sp>
      <p:pic>
        <p:nvPicPr>
          <p:cNvPr id="16" name="Image 5" descr="preencoded.png">    </p:cNvPr>
          <p:cNvPicPr>
            <a:picLocks noChangeAspect="1"/>
          </p:cNvPicPr>
          <p:nvPr/>
        </p:nvPicPr>
        <p:blipFill>
          <a:blip r:embed="rId6"/>
          <a:stretch>
            <a:fillRect/>
          </a:stretch>
        </p:blipFill>
        <p:spPr>
          <a:xfrm>
            <a:off x="775411" y="4350715"/>
            <a:ext cx="204826" cy="204826"/>
          </a:xfrm>
          <a:prstGeom prst="rect">
            <a:avLst/>
          </a:prstGeom>
        </p:spPr>
      </p:pic>
      <p:sp>
        <p:nvSpPr>
          <p:cNvPr id="17" name="Shape 8"/>
          <p:cNvSpPr/>
          <p:nvPr/>
        </p:nvSpPr>
        <p:spPr>
          <a:xfrm>
            <a:off x="694944" y="4727448"/>
            <a:ext cx="365760" cy="365760"/>
          </a:xfrm>
          <a:prstGeom prst="ellipse">
            <a:avLst/>
          </a:prstGeom>
          <a:solidFill>
            <a:schemeClr val="accent1"/>
          </a:solidFill>
          <a:ln w="12700">
            <a:solidFill>
              <a:schemeClr val="accent1"/>
            </a:solidFill>
            <a:prstDash val="solid"/>
          </a:ln>
        </p:spPr>
      </p:sp>
      <p:pic>
        <p:nvPicPr>
          <p:cNvPr id="18" name="Image 6" descr="preencoded.png">    </p:cNvPr>
          <p:cNvPicPr>
            <a:picLocks noChangeAspect="1"/>
          </p:cNvPicPr>
          <p:nvPr/>
        </p:nvPicPr>
        <p:blipFill>
          <a:blip r:embed="rId7"/>
          <a:stretch>
            <a:fillRect/>
          </a:stretch>
        </p:blipFill>
        <p:spPr>
          <a:xfrm>
            <a:off x="775411" y="4807915"/>
            <a:ext cx="204826" cy="204826"/>
          </a:xfrm>
          <a:prstGeom prst="rect">
            <a:avLst/>
          </a:prstGeom>
        </p:spPr>
      </p:pic>
      <p:sp>
        <p:nvSpPr>
          <p:cNvPr id="19" name="Shape 9"/>
          <p:cNvSpPr/>
          <p:nvPr/>
        </p:nvSpPr>
        <p:spPr>
          <a:xfrm>
            <a:off x="694944" y="5184648"/>
            <a:ext cx="365760" cy="365760"/>
          </a:xfrm>
          <a:prstGeom prst="ellipse">
            <a:avLst/>
          </a:prstGeom>
          <a:solidFill>
            <a:schemeClr val="accent1"/>
          </a:solidFill>
          <a:ln w="12700">
            <a:solidFill>
              <a:schemeClr val="accent1"/>
            </a:solidFill>
            <a:prstDash val="solid"/>
          </a:ln>
        </p:spPr>
      </p:sp>
      <p:pic>
        <p:nvPicPr>
          <p:cNvPr id="20" name="Image 7" descr="preencoded.png">    </p:cNvPr>
          <p:cNvPicPr>
            <a:picLocks noChangeAspect="1"/>
          </p:cNvPicPr>
          <p:nvPr/>
        </p:nvPicPr>
        <p:blipFill>
          <a:blip r:embed="rId8"/>
          <a:stretch>
            <a:fillRect/>
          </a:stretch>
        </p:blipFill>
        <p:spPr>
          <a:xfrm>
            <a:off x="775411" y="5265115"/>
            <a:ext cx="204826" cy="204826"/>
          </a:xfrm>
          <a:prstGeom prst="rect">
            <a:avLst/>
          </a:prstGeom>
        </p:spPr>
      </p:pic>
      <p:sp>
        <p:nvSpPr>
          <p:cNvPr id="21" name="Shape 10"/>
          <p:cNvSpPr/>
          <p:nvPr/>
        </p:nvSpPr>
        <p:spPr>
          <a:xfrm>
            <a:off x="548640" y="5779008"/>
            <a:ext cx="11091672" cy="502920"/>
          </a:xfrm>
          <a:prstGeom prst="roundRect">
            <a:avLst>
              <a:gd name="adj" fmla="val 49091"/>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22" name="Text 11"/>
          <p:cNvSpPr txBox="1"/>
          <p:nvPr/>
        </p:nvSpPr>
        <p:spPr>
          <a:xfrm>
            <a:off x="822960" y="5779008"/>
            <a:ext cx="10607040" cy="502920"/>
          </a:xfrm>
          <a:prstGeom prst="rect">
            <a:avLst/>
          </a:prstGeom>
          <a:noFill/>
          <a:ln/>
        </p:spPr>
        <p:txBody>
          <a:bodyPr wrap="square" lIns="0" tIns="0" rIns="0" bIns="0" rtlCol="0" anchor="ctr"/>
          <a:lstStyle/>
          <a:p>
            <a:pPr indent="0" marL="0">
              <a:buNone/>
            </a:pPr>
            <a:r>
              <a:rPr lang="en-US" sz="1400" i="1" dirty="0">
                <a:solidFill>
                  <a:schemeClr val="bg2"/>
                </a:solidFill>
              </a:rPr>
              <a:t>"Si una actividad parece gratis, estás ignorando un recurso oculto": por eso los stands, los eventos y los pedidos tienen personal pagado.</a:t>
            </a:r>
            <a:endParaRPr lang="en-US" sz="14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7 · ESTRUCTURA DE COSTOS</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Cuánto cuesta y cuánto nos queda de cada presentación</a:t>
            </a:r>
            <a:endParaRPr lang="en-US" sz="3400" dirty="0"/>
          </a:p>
        </p:txBody>
      </p:sp>
      <p:graphicFrame>
        <p:nvGraphicFramePr>
          <p:cNvPr id="4" name="Chart 0" descr=""/>
          <p:cNvGraphicFramePr/>
          <p:nvPr/>
        </p:nvGraphicFramePr>
        <p:xfrm>
          <a:off x="365760" y="1417320"/>
          <a:ext cx="6126480" cy="47548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675120" y="1463040"/>
            <a:ext cx="2331720" cy="896112"/>
          </a:xfrm>
          <a:prstGeom prst="roundRect">
            <a:avLst>
              <a:gd name="adj" fmla="val 12245"/>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6" name="Text 3"/>
          <p:cNvSpPr txBox="1"/>
          <p:nvPr/>
        </p:nvSpPr>
        <p:spPr>
          <a:xfrm>
            <a:off x="6839712" y="1463040"/>
            <a:ext cx="2057400" cy="896112"/>
          </a:xfrm>
          <a:prstGeom prst="rect">
            <a:avLst/>
          </a:prstGeom>
          <a:noFill/>
          <a:ln/>
        </p:spPr>
        <p:txBody>
          <a:bodyPr wrap="square" lIns="0" tIns="0" rIns="0" bIns="0" rtlCol="0" anchor="ctr"/>
          <a:lstStyle/>
          <a:p>
            <a:pPr indent="0" marL="0">
              <a:buNone/>
            </a:pPr>
            <a:r>
              <a:rPr lang="en-US" sz="1900" b="1" dirty="0">
                <a:solidFill>
                  <a:schemeClr val="accent1"/>
                </a:solidFill>
              </a:rPr>
              <a:t>S/1.54 a 1.72</a:t>
            </a:r>
            <a:endParaRPr lang="en-US" sz="1400" dirty="0"/>
          </a:p>
          <a:p>
            <a:pPr indent="0" marL="0">
              <a:buNone/>
            </a:pPr>
            <a:r>
              <a:rPr lang="en-US" sz="1100" dirty="0">
                <a:solidFill>
                  <a:schemeClr val="tx1"/>
                </a:solidFill>
              </a:rPr>
              <a:t>cuesta producir un brownie, sin planta propia</a:t>
            </a:r>
            <a:endParaRPr lang="en-US" sz="1400" dirty="0"/>
          </a:p>
        </p:txBody>
      </p:sp>
      <p:sp>
        <p:nvSpPr>
          <p:cNvPr id="7" name="Shape 4"/>
          <p:cNvSpPr/>
          <p:nvPr/>
        </p:nvSpPr>
        <p:spPr>
          <a:xfrm>
            <a:off x="6675120" y="2487168"/>
            <a:ext cx="2331720" cy="896112"/>
          </a:xfrm>
          <a:prstGeom prst="roundRect">
            <a:avLst>
              <a:gd name="adj" fmla="val 12245"/>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8" name="Text 5"/>
          <p:cNvSpPr txBox="1"/>
          <p:nvPr/>
        </p:nvSpPr>
        <p:spPr>
          <a:xfrm>
            <a:off x="6839712" y="2487168"/>
            <a:ext cx="2057400" cy="896112"/>
          </a:xfrm>
          <a:prstGeom prst="rect">
            <a:avLst/>
          </a:prstGeom>
          <a:noFill/>
          <a:ln/>
        </p:spPr>
        <p:txBody>
          <a:bodyPr wrap="square" lIns="0" tIns="0" rIns="0" bIns="0" rtlCol="0" anchor="ctr"/>
          <a:lstStyle/>
          <a:p>
            <a:pPr indent="0" marL="0">
              <a:buNone/>
            </a:pPr>
            <a:r>
              <a:rPr lang="en-US" sz="1900" b="1" dirty="0">
                <a:solidFill>
                  <a:schemeClr val="accent1"/>
                </a:solidFill>
              </a:rPr>
              <a:t>58 a 66 %</a:t>
            </a:r>
            <a:endParaRPr lang="en-US" sz="1400" dirty="0"/>
          </a:p>
          <a:p>
            <a:pPr indent="0" marL="0">
              <a:buNone/>
            </a:pPr>
            <a:r>
              <a:rPr lang="en-US" sz="1100" dirty="0">
                <a:solidFill>
                  <a:schemeClr val="tx1"/>
                </a:solidFill>
              </a:rPr>
              <a:t>margen bruto en el stand</a:t>
            </a:r>
            <a:endParaRPr lang="en-US" sz="1400" dirty="0"/>
          </a:p>
        </p:txBody>
      </p:sp>
      <p:sp>
        <p:nvSpPr>
          <p:cNvPr id="9" name="Shape 6"/>
          <p:cNvSpPr/>
          <p:nvPr/>
        </p:nvSpPr>
        <p:spPr>
          <a:xfrm>
            <a:off x="6675120" y="3511296"/>
            <a:ext cx="2331720" cy="896112"/>
          </a:xfrm>
          <a:prstGeom prst="roundRect">
            <a:avLst>
              <a:gd name="adj" fmla="val 12245"/>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0" name="Text 7"/>
          <p:cNvSpPr txBox="1"/>
          <p:nvPr/>
        </p:nvSpPr>
        <p:spPr>
          <a:xfrm>
            <a:off x="6839712" y="3511296"/>
            <a:ext cx="2057400" cy="896112"/>
          </a:xfrm>
          <a:prstGeom prst="rect">
            <a:avLst/>
          </a:prstGeom>
          <a:noFill/>
          <a:ln/>
        </p:spPr>
        <p:txBody>
          <a:bodyPr wrap="square" lIns="0" tIns="0" rIns="0" bIns="0" rtlCol="0" anchor="ctr"/>
          <a:lstStyle/>
          <a:p>
            <a:pPr indent="0" marL="0">
              <a:buNone/>
            </a:pPr>
            <a:r>
              <a:rPr lang="en-US" sz="1900" b="1" dirty="0">
                <a:solidFill>
                  <a:schemeClr val="accent1"/>
                </a:solidFill>
              </a:rPr>
              <a:t>S/1.69 a 2.86</a:t>
            </a:r>
            <a:endParaRPr lang="en-US" sz="1400" dirty="0"/>
          </a:p>
          <a:p>
            <a:pPr indent="0" marL="0">
              <a:buNone/>
            </a:pPr>
            <a:r>
              <a:rPr lang="en-US" sz="1100" dirty="0">
                <a:solidFill>
                  <a:schemeClr val="tx1"/>
                </a:solidFill>
              </a:rPr>
              <a:t>nos queda por brownie antes de pagar el stand</a:t>
            </a:r>
            <a:endParaRPr lang="en-US" sz="1400" dirty="0"/>
          </a:p>
        </p:txBody>
      </p:sp>
      <p:sp>
        <p:nvSpPr>
          <p:cNvPr id="11" name="Shape 8"/>
          <p:cNvSpPr/>
          <p:nvPr/>
        </p:nvSpPr>
        <p:spPr>
          <a:xfrm>
            <a:off x="9189720" y="1463040"/>
            <a:ext cx="2450592" cy="4709160"/>
          </a:xfrm>
          <a:prstGeom prst="roundRect">
            <a:avLst>
              <a:gd name="adj" fmla="val 4478"/>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12" name="Text 9"/>
          <p:cNvSpPr txBox="1"/>
          <p:nvPr/>
        </p:nvSpPr>
        <p:spPr>
          <a:xfrm>
            <a:off x="9372600" y="1572768"/>
            <a:ext cx="2194560" cy="274320"/>
          </a:xfrm>
          <a:prstGeom prst="rect">
            <a:avLst/>
          </a:prstGeom>
          <a:noFill/>
          <a:ln/>
        </p:spPr>
        <p:txBody>
          <a:bodyPr wrap="square" lIns="0" tIns="0" rIns="0" bIns="0" rtlCol="0" anchor="t"/>
          <a:lstStyle/>
          <a:p>
            <a:pPr indent="0" marL="0">
              <a:buNone/>
            </a:pPr>
            <a:r>
              <a:rPr lang="en-US" sz="1100" b="1" spc="100" kern="0" dirty="0">
                <a:solidFill>
                  <a:schemeClr val="accent3"/>
                </a:solidFill>
              </a:rPr>
              <a:t>DE S/4.68 A LA GANANCIA</a:t>
            </a:r>
            <a:endParaRPr lang="en-US" sz="1100" dirty="0"/>
          </a:p>
        </p:txBody>
      </p:sp>
      <p:sp>
        <p:nvSpPr>
          <p:cNvPr id="13" name="Text 10"/>
          <p:cNvSpPr txBox="1"/>
          <p:nvPr/>
        </p:nvSpPr>
        <p:spPr>
          <a:xfrm>
            <a:off x="9372600" y="1828800"/>
            <a:ext cx="2194560" cy="256032"/>
          </a:xfrm>
          <a:prstGeom prst="rect">
            <a:avLst/>
          </a:prstGeom>
          <a:noFill/>
          <a:ln/>
        </p:spPr>
        <p:txBody>
          <a:bodyPr wrap="square" lIns="0" tIns="0" rIns="0" bIns="0" rtlCol="0" anchor="t"/>
          <a:lstStyle/>
          <a:p>
            <a:pPr indent="0" marL="0">
              <a:buNone/>
            </a:pPr>
            <a:r>
              <a:rPr lang="en-US" sz="1000" dirty="0">
                <a:solidFill>
                  <a:schemeClr val="accent5"/>
                </a:solidFill>
              </a:rPr>
              <a:t>Promedio por brownie, año 1</a:t>
            </a:r>
            <a:endParaRPr lang="en-US" sz="1000" dirty="0"/>
          </a:p>
        </p:txBody>
      </p:sp>
      <p:sp>
        <p:nvSpPr>
          <p:cNvPr id="14" name="Text 11"/>
          <p:cNvSpPr txBox="1"/>
          <p:nvPr/>
        </p:nvSpPr>
        <p:spPr>
          <a:xfrm>
            <a:off x="9372600" y="2212848"/>
            <a:ext cx="2194560" cy="219456"/>
          </a:xfrm>
          <a:prstGeom prst="rect">
            <a:avLst/>
          </a:prstGeom>
          <a:noFill/>
          <a:ln/>
        </p:spPr>
        <p:txBody>
          <a:bodyPr wrap="square" lIns="0" tIns="0" rIns="0" bIns="0" rtlCol="0" anchor="t"/>
          <a:lstStyle/>
          <a:p>
            <a:pPr indent="0" marL="0">
              <a:buNone/>
            </a:pPr>
            <a:r>
              <a:rPr lang="en-US" sz="1000" b="1" dirty="0">
                <a:solidFill>
                  <a:schemeClr val="bg2"/>
                </a:solidFill>
              </a:rPr>
              <a:t>Precio con IGV</a:t>
            </a:r>
            <a:endParaRPr lang="en-US" sz="1000" dirty="0"/>
          </a:p>
        </p:txBody>
      </p:sp>
      <p:sp>
        <p:nvSpPr>
          <p:cNvPr id="15" name="Shape 12"/>
          <p:cNvSpPr/>
          <p:nvPr/>
        </p:nvSpPr>
        <p:spPr>
          <a:xfrm>
            <a:off x="9372600" y="2450592"/>
            <a:ext cx="1536192" cy="201168"/>
          </a:xfrm>
          <a:prstGeom prst="rect">
            <a:avLst/>
          </a:prstGeom>
          <a:solidFill>
            <a:schemeClr val="accent5"/>
          </a:solidFill>
          <a:ln w="12700">
            <a:solidFill>
              <a:schemeClr val="accent5"/>
            </a:solidFill>
            <a:prstDash val="solid"/>
          </a:ln>
        </p:spPr>
      </p:sp>
      <p:sp>
        <p:nvSpPr>
          <p:cNvPr id="16" name="Text 13"/>
          <p:cNvSpPr txBox="1"/>
          <p:nvPr/>
        </p:nvSpPr>
        <p:spPr>
          <a:xfrm>
            <a:off x="10954512" y="2432304"/>
            <a:ext cx="603504" cy="237744"/>
          </a:xfrm>
          <a:prstGeom prst="rect">
            <a:avLst/>
          </a:prstGeom>
          <a:noFill/>
          <a:ln/>
        </p:spPr>
        <p:txBody>
          <a:bodyPr wrap="square" lIns="0" tIns="0" rIns="0" bIns="0" rtlCol="0" anchor="ctr"/>
          <a:lstStyle/>
          <a:p>
            <a:pPr algn="r" indent="0" marL="0">
              <a:buNone/>
            </a:pPr>
            <a:r>
              <a:rPr lang="en-US" sz="1050" b="1" dirty="0">
                <a:solidFill>
                  <a:schemeClr val="bg1"/>
                </a:solidFill>
              </a:rPr>
              <a:t>S/4.68</a:t>
            </a:r>
            <a:endParaRPr lang="en-US" sz="1050" dirty="0"/>
          </a:p>
        </p:txBody>
      </p:sp>
      <p:sp>
        <p:nvSpPr>
          <p:cNvPr id="17" name="Text 14"/>
          <p:cNvSpPr txBox="1"/>
          <p:nvPr/>
        </p:nvSpPr>
        <p:spPr>
          <a:xfrm>
            <a:off x="9372600" y="2761488"/>
            <a:ext cx="2194560" cy="219456"/>
          </a:xfrm>
          <a:prstGeom prst="rect">
            <a:avLst/>
          </a:prstGeom>
          <a:noFill/>
          <a:ln/>
        </p:spPr>
        <p:txBody>
          <a:bodyPr wrap="square" lIns="0" tIns="0" rIns="0" bIns="0" rtlCol="0" anchor="t"/>
          <a:lstStyle/>
          <a:p>
            <a:pPr indent="0" marL="0">
              <a:buNone/>
            </a:pPr>
            <a:r>
              <a:rPr lang="en-US" sz="1000" dirty="0">
                <a:solidFill>
                  <a:schemeClr val="bg2"/>
                </a:solidFill>
              </a:rPr>
              <a:t>IGV</a:t>
            </a:r>
            <a:endParaRPr lang="en-US" sz="1000" dirty="0"/>
          </a:p>
        </p:txBody>
      </p:sp>
      <p:sp>
        <p:nvSpPr>
          <p:cNvPr id="18" name="Shape 15"/>
          <p:cNvSpPr/>
          <p:nvPr/>
        </p:nvSpPr>
        <p:spPr>
          <a:xfrm>
            <a:off x="10675737" y="2999232"/>
            <a:ext cx="233055" cy="201168"/>
          </a:xfrm>
          <a:prstGeom prst="rect">
            <a:avLst/>
          </a:prstGeom>
          <a:solidFill>
            <a:schemeClr val="accent1"/>
          </a:solidFill>
          <a:ln w="12700">
            <a:solidFill>
              <a:schemeClr val="accent1"/>
            </a:solidFill>
            <a:prstDash val="solid"/>
          </a:ln>
        </p:spPr>
      </p:sp>
      <p:sp>
        <p:nvSpPr>
          <p:cNvPr id="19" name="Text 16"/>
          <p:cNvSpPr txBox="1"/>
          <p:nvPr/>
        </p:nvSpPr>
        <p:spPr>
          <a:xfrm>
            <a:off x="10954512" y="2980944"/>
            <a:ext cx="603504" cy="237744"/>
          </a:xfrm>
          <a:prstGeom prst="rect">
            <a:avLst/>
          </a:prstGeom>
          <a:noFill/>
          <a:ln/>
        </p:spPr>
        <p:txBody>
          <a:bodyPr wrap="square" lIns="0" tIns="0" rIns="0" bIns="0" rtlCol="0" anchor="ctr"/>
          <a:lstStyle/>
          <a:p>
            <a:pPr algn="r" indent="0" marL="0">
              <a:buNone/>
            </a:pPr>
            <a:r>
              <a:rPr lang="en-US" sz="1050" b="1" dirty="0">
                <a:solidFill>
                  <a:schemeClr val="bg1"/>
                </a:solidFill>
              </a:rPr>
              <a:t>−S/0.71</a:t>
            </a:r>
            <a:endParaRPr lang="en-US" sz="1050" dirty="0"/>
          </a:p>
        </p:txBody>
      </p:sp>
      <p:sp>
        <p:nvSpPr>
          <p:cNvPr id="20" name="Text 17"/>
          <p:cNvSpPr txBox="1"/>
          <p:nvPr/>
        </p:nvSpPr>
        <p:spPr>
          <a:xfrm>
            <a:off x="9372600" y="3310128"/>
            <a:ext cx="2194560" cy="219456"/>
          </a:xfrm>
          <a:prstGeom prst="rect">
            <a:avLst/>
          </a:prstGeom>
          <a:noFill/>
          <a:ln/>
        </p:spPr>
        <p:txBody>
          <a:bodyPr wrap="square" lIns="0" tIns="0" rIns="0" bIns="0" rtlCol="0" anchor="t"/>
          <a:lstStyle/>
          <a:p>
            <a:pPr indent="0" marL="0">
              <a:buNone/>
            </a:pPr>
            <a:r>
              <a:rPr lang="en-US" sz="1000" dirty="0">
                <a:solidFill>
                  <a:schemeClr val="bg2"/>
                </a:solidFill>
              </a:rPr>
              <a:t>Producir y vender</a:t>
            </a:r>
            <a:endParaRPr lang="en-US" sz="1000" dirty="0"/>
          </a:p>
        </p:txBody>
      </p:sp>
      <p:sp>
        <p:nvSpPr>
          <p:cNvPr id="21" name="Shape 18"/>
          <p:cNvSpPr/>
          <p:nvPr/>
        </p:nvSpPr>
        <p:spPr>
          <a:xfrm>
            <a:off x="9986420" y="3547872"/>
            <a:ext cx="689317" cy="201168"/>
          </a:xfrm>
          <a:prstGeom prst="rect">
            <a:avLst/>
          </a:prstGeom>
          <a:solidFill>
            <a:schemeClr val="accent1"/>
          </a:solidFill>
          <a:ln w="12700">
            <a:solidFill>
              <a:schemeClr val="accent1"/>
            </a:solidFill>
            <a:prstDash val="solid"/>
          </a:ln>
        </p:spPr>
      </p:sp>
      <p:sp>
        <p:nvSpPr>
          <p:cNvPr id="22" name="Text 19"/>
          <p:cNvSpPr txBox="1"/>
          <p:nvPr/>
        </p:nvSpPr>
        <p:spPr>
          <a:xfrm>
            <a:off x="10954512" y="3529584"/>
            <a:ext cx="603504" cy="237744"/>
          </a:xfrm>
          <a:prstGeom prst="rect">
            <a:avLst/>
          </a:prstGeom>
          <a:noFill/>
          <a:ln/>
        </p:spPr>
        <p:txBody>
          <a:bodyPr wrap="square" lIns="0" tIns="0" rIns="0" bIns="0" rtlCol="0" anchor="ctr"/>
          <a:lstStyle/>
          <a:p>
            <a:pPr algn="r" indent="0" marL="0">
              <a:buNone/>
            </a:pPr>
            <a:r>
              <a:rPr lang="en-US" sz="1050" b="1" dirty="0">
                <a:solidFill>
                  <a:schemeClr val="bg1"/>
                </a:solidFill>
              </a:rPr>
              <a:t>−S/2.10</a:t>
            </a:r>
            <a:endParaRPr lang="en-US" sz="1050" dirty="0"/>
          </a:p>
        </p:txBody>
      </p:sp>
      <p:sp>
        <p:nvSpPr>
          <p:cNvPr id="23" name="Text 20"/>
          <p:cNvSpPr txBox="1"/>
          <p:nvPr/>
        </p:nvSpPr>
        <p:spPr>
          <a:xfrm>
            <a:off x="9372600" y="3858768"/>
            <a:ext cx="2194560" cy="219456"/>
          </a:xfrm>
          <a:prstGeom prst="rect">
            <a:avLst/>
          </a:prstGeom>
          <a:noFill/>
          <a:ln/>
        </p:spPr>
        <p:txBody>
          <a:bodyPr wrap="square" lIns="0" tIns="0" rIns="0" bIns="0" rtlCol="0" anchor="t"/>
          <a:lstStyle/>
          <a:p>
            <a:pPr indent="0" marL="0">
              <a:buNone/>
            </a:pPr>
            <a:r>
              <a:rPr lang="en-US" sz="1000" dirty="0">
                <a:solidFill>
                  <a:schemeClr val="bg2"/>
                </a:solidFill>
              </a:rPr>
              <a:t>Stands, ferias y eventos</a:t>
            </a:r>
            <a:endParaRPr lang="en-US" sz="1000" dirty="0"/>
          </a:p>
        </p:txBody>
      </p:sp>
      <p:sp>
        <p:nvSpPr>
          <p:cNvPr id="24" name="Shape 21"/>
          <p:cNvSpPr/>
          <p:nvPr/>
        </p:nvSpPr>
        <p:spPr>
          <a:xfrm>
            <a:off x="9664739" y="4096512"/>
            <a:ext cx="321681" cy="201168"/>
          </a:xfrm>
          <a:prstGeom prst="rect">
            <a:avLst/>
          </a:prstGeom>
          <a:solidFill>
            <a:schemeClr val="accent1"/>
          </a:solidFill>
          <a:ln w="12700">
            <a:solidFill>
              <a:schemeClr val="accent1"/>
            </a:solidFill>
            <a:prstDash val="solid"/>
          </a:ln>
        </p:spPr>
      </p:sp>
      <p:sp>
        <p:nvSpPr>
          <p:cNvPr id="25" name="Text 22"/>
          <p:cNvSpPr txBox="1"/>
          <p:nvPr/>
        </p:nvSpPr>
        <p:spPr>
          <a:xfrm>
            <a:off x="10954512" y="4078224"/>
            <a:ext cx="603504" cy="237744"/>
          </a:xfrm>
          <a:prstGeom prst="rect">
            <a:avLst/>
          </a:prstGeom>
          <a:noFill/>
          <a:ln/>
        </p:spPr>
        <p:txBody>
          <a:bodyPr wrap="square" lIns="0" tIns="0" rIns="0" bIns="0" rtlCol="0" anchor="ctr"/>
          <a:lstStyle/>
          <a:p>
            <a:pPr algn="r" indent="0" marL="0">
              <a:buNone/>
            </a:pPr>
            <a:r>
              <a:rPr lang="en-US" sz="1050" b="1" dirty="0">
                <a:solidFill>
                  <a:schemeClr val="bg1"/>
                </a:solidFill>
              </a:rPr>
              <a:t>−S/0.98</a:t>
            </a:r>
            <a:endParaRPr lang="en-US" sz="1050" dirty="0"/>
          </a:p>
        </p:txBody>
      </p:sp>
      <p:sp>
        <p:nvSpPr>
          <p:cNvPr id="26" name="Text 23"/>
          <p:cNvSpPr txBox="1"/>
          <p:nvPr/>
        </p:nvSpPr>
        <p:spPr>
          <a:xfrm>
            <a:off x="9372600" y="4407408"/>
            <a:ext cx="2194560" cy="219456"/>
          </a:xfrm>
          <a:prstGeom prst="rect">
            <a:avLst/>
          </a:prstGeom>
          <a:noFill/>
          <a:ln/>
        </p:spPr>
        <p:txBody>
          <a:bodyPr wrap="square" lIns="0" tIns="0" rIns="0" bIns="0" rtlCol="0" anchor="t"/>
          <a:lstStyle/>
          <a:p>
            <a:pPr indent="0" marL="0">
              <a:buNone/>
            </a:pPr>
            <a:r>
              <a:rPr lang="en-US" sz="1000" dirty="0">
                <a:solidFill>
                  <a:schemeClr val="bg2"/>
                </a:solidFill>
              </a:rPr>
              <a:t>Gastos fijos</a:t>
            </a:r>
            <a:endParaRPr lang="en-US" sz="1000" dirty="0"/>
          </a:p>
        </p:txBody>
      </p:sp>
      <p:sp>
        <p:nvSpPr>
          <p:cNvPr id="27" name="Shape 24"/>
          <p:cNvSpPr/>
          <p:nvPr/>
        </p:nvSpPr>
        <p:spPr>
          <a:xfrm>
            <a:off x="9457944" y="4645152"/>
            <a:ext cx="206795" cy="201168"/>
          </a:xfrm>
          <a:prstGeom prst="rect">
            <a:avLst/>
          </a:prstGeom>
          <a:solidFill>
            <a:schemeClr val="accent1"/>
          </a:solidFill>
          <a:ln w="12700">
            <a:solidFill>
              <a:schemeClr val="accent1"/>
            </a:solidFill>
            <a:prstDash val="solid"/>
          </a:ln>
        </p:spPr>
      </p:sp>
      <p:sp>
        <p:nvSpPr>
          <p:cNvPr id="28" name="Text 25"/>
          <p:cNvSpPr txBox="1"/>
          <p:nvPr/>
        </p:nvSpPr>
        <p:spPr>
          <a:xfrm>
            <a:off x="10954512" y="4626864"/>
            <a:ext cx="603504" cy="237744"/>
          </a:xfrm>
          <a:prstGeom prst="rect">
            <a:avLst/>
          </a:prstGeom>
          <a:noFill/>
          <a:ln/>
        </p:spPr>
        <p:txBody>
          <a:bodyPr wrap="square" lIns="0" tIns="0" rIns="0" bIns="0" rtlCol="0" anchor="ctr"/>
          <a:lstStyle/>
          <a:p>
            <a:pPr algn="r" indent="0" marL="0">
              <a:buNone/>
            </a:pPr>
            <a:r>
              <a:rPr lang="en-US" sz="1050" b="1" dirty="0">
                <a:solidFill>
                  <a:schemeClr val="bg1"/>
                </a:solidFill>
              </a:rPr>
              <a:t>−S/0.63</a:t>
            </a:r>
            <a:endParaRPr lang="en-US" sz="1050" dirty="0"/>
          </a:p>
        </p:txBody>
      </p:sp>
      <p:sp>
        <p:nvSpPr>
          <p:cNvPr id="29" name="Text 26"/>
          <p:cNvSpPr txBox="1"/>
          <p:nvPr/>
        </p:nvSpPr>
        <p:spPr>
          <a:xfrm>
            <a:off x="9372600" y="4956048"/>
            <a:ext cx="2194560" cy="219456"/>
          </a:xfrm>
          <a:prstGeom prst="rect">
            <a:avLst/>
          </a:prstGeom>
          <a:noFill/>
          <a:ln/>
        </p:spPr>
        <p:txBody>
          <a:bodyPr wrap="square" lIns="0" tIns="0" rIns="0" bIns="0" rtlCol="0" anchor="t"/>
          <a:lstStyle/>
          <a:p>
            <a:pPr indent="0" marL="0">
              <a:buNone/>
            </a:pPr>
            <a:r>
              <a:rPr lang="en-US" sz="1000" dirty="0">
                <a:solidFill>
                  <a:schemeClr val="bg2"/>
                </a:solidFill>
              </a:rPr>
              <a:t>Intereses e impuesto</a:t>
            </a:r>
            <a:endParaRPr lang="en-US" sz="1000" dirty="0"/>
          </a:p>
        </p:txBody>
      </p:sp>
      <p:sp>
        <p:nvSpPr>
          <p:cNvPr id="30" name="Shape 27"/>
          <p:cNvSpPr/>
          <p:nvPr/>
        </p:nvSpPr>
        <p:spPr>
          <a:xfrm>
            <a:off x="9438249" y="5193792"/>
            <a:ext cx="27432" cy="201168"/>
          </a:xfrm>
          <a:prstGeom prst="rect">
            <a:avLst/>
          </a:prstGeom>
          <a:solidFill>
            <a:schemeClr val="accent1"/>
          </a:solidFill>
          <a:ln w="12700">
            <a:solidFill>
              <a:schemeClr val="accent1"/>
            </a:solidFill>
            <a:prstDash val="solid"/>
          </a:ln>
        </p:spPr>
      </p:sp>
      <p:sp>
        <p:nvSpPr>
          <p:cNvPr id="31" name="Text 28"/>
          <p:cNvSpPr txBox="1"/>
          <p:nvPr/>
        </p:nvSpPr>
        <p:spPr>
          <a:xfrm>
            <a:off x="10954512" y="5175504"/>
            <a:ext cx="603504" cy="237744"/>
          </a:xfrm>
          <a:prstGeom prst="rect">
            <a:avLst/>
          </a:prstGeom>
          <a:noFill/>
          <a:ln/>
        </p:spPr>
        <p:txBody>
          <a:bodyPr wrap="square" lIns="0" tIns="0" rIns="0" bIns="0" rtlCol="0" anchor="ctr"/>
          <a:lstStyle/>
          <a:p>
            <a:pPr algn="r" indent="0" marL="0">
              <a:buNone/>
            </a:pPr>
            <a:r>
              <a:rPr lang="en-US" sz="1050" b="1" dirty="0">
                <a:solidFill>
                  <a:schemeClr val="bg1"/>
                </a:solidFill>
              </a:rPr>
              <a:t>−S/0.06</a:t>
            </a:r>
            <a:endParaRPr lang="en-US" sz="1050" dirty="0"/>
          </a:p>
        </p:txBody>
      </p:sp>
      <p:sp>
        <p:nvSpPr>
          <p:cNvPr id="32" name="Text 29"/>
          <p:cNvSpPr txBox="1"/>
          <p:nvPr/>
        </p:nvSpPr>
        <p:spPr>
          <a:xfrm>
            <a:off x="9372600" y="5504688"/>
            <a:ext cx="2194560" cy="219456"/>
          </a:xfrm>
          <a:prstGeom prst="rect">
            <a:avLst/>
          </a:prstGeom>
          <a:noFill/>
          <a:ln/>
        </p:spPr>
        <p:txBody>
          <a:bodyPr wrap="square" lIns="0" tIns="0" rIns="0" bIns="0" rtlCol="0" anchor="t"/>
          <a:lstStyle/>
          <a:p>
            <a:pPr indent="0" marL="0">
              <a:buNone/>
            </a:pPr>
            <a:r>
              <a:rPr lang="en-US" sz="1000" b="1" dirty="0">
                <a:solidFill>
                  <a:schemeClr val="bg2"/>
                </a:solidFill>
              </a:rPr>
              <a:t>Ganancia final</a:t>
            </a:r>
            <a:endParaRPr lang="en-US" sz="1000" dirty="0"/>
          </a:p>
        </p:txBody>
      </p:sp>
      <p:sp>
        <p:nvSpPr>
          <p:cNvPr id="33" name="Shape 30"/>
          <p:cNvSpPr/>
          <p:nvPr/>
        </p:nvSpPr>
        <p:spPr>
          <a:xfrm>
            <a:off x="9372600" y="5742432"/>
            <a:ext cx="65649" cy="201168"/>
          </a:xfrm>
          <a:prstGeom prst="rect">
            <a:avLst/>
          </a:prstGeom>
          <a:solidFill>
            <a:schemeClr val="accent3"/>
          </a:solidFill>
          <a:ln w="12700">
            <a:solidFill>
              <a:schemeClr val="accent3"/>
            </a:solidFill>
            <a:prstDash val="solid"/>
          </a:ln>
        </p:spPr>
      </p:sp>
      <p:sp>
        <p:nvSpPr>
          <p:cNvPr id="34" name="Text 31"/>
          <p:cNvSpPr txBox="1"/>
          <p:nvPr/>
        </p:nvSpPr>
        <p:spPr>
          <a:xfrm>
            <a:off x="10954512" y="5724144"/>
            <a:ext cx="603504" cy="237744"/>
          </a:xfrm>
          <a:prstGeom prst="rect">
            <a:avLst/>
          </a:prstGeom>
          <a:noFill/>
          <a:ln/>
        </p:spPr>
        <p:txBody>
          <a:bodyPr wrap="square" lIns="0" tIns="0" rIns="0" bIns="0" rtlCol="0" anchor="ctr"/>
          <a:lstStyle/>
          <a:p>
            <a:pPr algn="r" indent="0" marL="0">
              <a:buNone/>
            </a:pPr>
            <a:r>
              <a:rPr lang="en-US" sz="1050" b="1" dirty="0">
                <a:solidFill>
                  <a:schemeClr val="accent3"/>
                </a:solidFill>
              </a:rPr>
              <a:t>S/0.20</a:t>
            </a:r>
            <a:endParaRPr lang="en-US" sz="1050" dirty="0"/>
          </a:p>
        </p:txBody>
      </p:sp>
      <p:sp>
        <p:nvSpPr>
          <p:cNvPr id="35" name="Shape 32"/>
          <p:cNvSpPr/>
          <p:nvPr/>
        </p:nvSpPr>
        <p:spPr>
          <a:xfrm>
            <a:off x="6675120" y="4553712"/>
            <a:ext cx="2331720" cy="1618488"/>
          </a:xfrm>
          <a:prstGeom prst="roundRect">
            <a:avLst>
              <a:gd name="adj" fmla="val 6780"/>
            </a:avLst>
          </a:prstGeom>
          <a:solidFill>
            <a:schemeClr val="accent1"/>
          </a:solidFill>
          <a:ln w="12700">
            <a:solidFill>
              <a:schemeClr val="accent1"/>
            </a:solidFill>
            <a:prstDash val="solid"/>
          </a:ln>
          <a:effectLst>
            <a:outerShdw sx="100000" sy="100000" kx="0" ky="0" algn="bl" rotWithShape="0" blurRad="101600" dist="25400" dir="5400000">
              <a:srgbClr val="7A4A30">
                <a:alpha val="14000"/>
              </a:srgbClr>
            </a:outerShdw>
          </a:effectLst>
        </p:spPr>
      </p:sp>
      <p:sp>
        <p:nvSpPr>
          <p:cNvPr id="36" name="Text 33"/>
          <p:cNvSpPr txBox="1"/>
          <p:nvPr/>
        </p:nvSpPr>
        <p:spPr>
          <a:xfrm>
            <a:off x="6839712" y="4553712"/>
            <a:ext cx="2057400" cy="1618488"/>
          </a:xfrm>
          <a:prstGeom prst="rect">
            <a:avLst/>
          </a:prstGeom>
          <a:noFill/>
          <a:ln/>
        </p:spPr>
        <p:txBody>
          <a:bodyPr wrap="square" lIns="0" tIns="0" rIns="0" bIns="0" rtlCol="0" anchor="ctr"/>
          <a:lstStyle/>
          <a:p>
            <a:pPr indent="0" marL="0">
              <a:buNone/>
            </a:pPr>
            <a:r>
              <a:rPr lang="en-US" sz="1900" b="1" dirty="0">
                <a:solidFill>
                  <a:schemeClr val="bg1"/>
                </a:solidFill>
              </a:rPr>
              <a:t>S/0.20 → S/0.40</a:t>
            </a:r>
            <a:endParaRPr lang="en-US" sz="1400" dirty="0"/>
          </a:p>
          <a:p>
            <a:pPr indent="0" marL="0">
              <a:buNone/>
            </a:pPr>
            <a:r>
              <a:rPr lang="en-US" sz="1100" dirty="0">
                <a:solidFill>
                  <a:schemeClr val="bg1"/>
                </a:solidFill>
              </a:rPr>
              <a:t>ganancia final por brownie en el año 1 y en el año 2, con 3 puntos todo el año</a:t>
            </a:r>
            <a:endParaRPr lang="en-US" sz="14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7 · INVERSIÓN INICIAL</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Lo que necesitamos para empezar: S/40,876, con todos los permisos</a:t>
            </a:r>
            <a:endParaRPr lang="en-US" sz="3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852160" cy="914400"/>
        </p:xfrm>
        <a:graphic>
          <a:graphicData uri="http://schemas.openxmlformats.org/drawingml/2006/table">
            <a:tbl>
              <a:tblPr/>
              <a:tblGrid>
                <a:gridCol w="4754880"/>
                <a:gridCol w="1097280"/>
              </a:tblGrid>
              <a:tr h="365760">
                <a:tc>
                  <a:txBody>
                    <a:bodyPr/>
                    <a:lstStyle/>
                    <a:p>
                      <a:pPr algn="l" indent="0" marL="0">
                        <a:buNone/>
                      </a:pPr>
                      <a:r>
                        <a:rPr lang="en-US" sz="1300" b="1" dirty="0">
                          <a:solidFill>
                            <a:schemeClr val="bg1"/>
                          </a:solidFill>
                        </a:rPr>
                        <a:t>Documento o permiso</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Costo</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r>
              <a:tr h="365760">
                <a:tc>
                  <a:txBody>
                    <a:bodyPr/>
                    <a:lstStyle/>
                    <a:p>
                      <a:pPr indent="0" marL="0">
                        <a:buNone/>
                      </a:pPr>
                      <a:r>
                        <a:rPr lang="en-US" sz="1300" dirty="0">
                          <a:solidFill>
                            <a:schemeClr val="tx1"/>
                          </a:solidFill>
                        </a:rPr>
                        <a:t>Crear la empresa (S.A.C.) ante notario</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S/150</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365760">
                <a:tc>
                  <a:txBody>
                    <a:bodyPr/>
                    <a:lstStyle/>
                    <a:p>
                      <a:pPr indent="0" marL="0">
                        <a:buNone/>
                      </a:pPr>
                      <a:r>
                        <a:rPr lang="en-US" sz="1300" dirty="0">
                          <a:solidFill>
                            <a:schemeClr val="tx1"/>
                          </a:solidFill>
                        </a:rPr>
                        <a:t>RUC, registro de microempresa y libro de reclamaciones</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S/0</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365760">
                <a:tc>
                  <a:txBody>
                    <a:bodyPr/>
                    <a:lstStyle/>
                    <a:p>
                      <a:pPr indent="0" marL="0">
                        <a:buNone/>
                      </a:pPr>
                      <a:r>
                        <a:rPr lang="en-US" sz="1300" dirty="0">
                          <a:solidFill>
                            <a:schemeClr val="tx1"/>
                          </a:solidFill>
                        </a:rPr>
                        <a:t>Marca registrada en INDECOPI (alimentos)</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S/401</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365760">
                <a:tc>
                  <a:txBody>
                    <a:bodyPr/>
                    <a:lstStyle/>
                    <a:p>
                      <a:pPr indent="0" marL="0">
                        <a:buNone/>
                      </a:pPr>
                      <a:r>
                        <a:rPr lang="en-US" sz="1300" dirty="0">
                          <a:solidFill>
                            <a:schemeClr val="tx1"/>
                          </a:solidFill>
                        </a:rPr>
                        <a:t>Revisión legal del contrato con la planta</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S/400</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365760">
                <a:tc>
                  <a:txBody>
                    <a:bodyPr/>
                    <a:lstStyle/>
                    <a:p>
                      <a:pPr indent="0" marL="0">
                        <a:buNone/>
                      </a:pPr>
                      <a:r>
                        <a:rPr lang="en-US" sz="1300" dirty="0">
                          <a:solidFill>
                            <a:schemeClr val="tx1"/>
                          </a:solidFill>
                        </a:rPr>
                        <a:t>Análisis para el registro sanitario (3 sabores)</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S/1,800</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365760">
                <a:tc>
                  <a:txBody>
                    <a:bodyPr/>
                    <a:lstStyle/>
                    <a:p>
                      <a:pPr indent="0" marL="0">
                        <a:buNone/>
                      </a:pPr>
                      <a:r>
                        <a:rPr lang="en-US" sz="1300" dirty="0">
                          <a:solidFill>
                            <a:schemeClr val="tx1"/>
                          </a:solidFill>
                        </a:rPr>
                        <a:t>Perfil nutricional y hierro</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S/1,125</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365760">
                <a:tc>
                  <a:txBody>
                    <a:bodyPr/>
                    <a:lstStyle/>
                    <a:p>
                      <a:pPr indent="0" marL="0">
                        <a:buNone/>
                      </a:pPr>
                      <a:r>
                        <a:rPr lang="en-US" sz="1300" dirty="0">
                          <a:solidFill>
                            <a:schemeClr val="tx1"/>
                          </a:solidFill>
                        </a:rPr>
                        <a:t>Estudio de cuánto dura el producto</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S/1,050</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365760">
                <a:tc>
                  <a:txBody>
                    <a:bodyPr/>
                    <a:lstStyle/>
                    <a:p>
                      <a:pPr indent="0" marL="0">
                        <a:buNone/>
                      </a:pPr>
                      <a:r>
                        <a:rPr lang="en-US" sz="1300" dirty="0">
                          <a:solidFill>
                            <a:schemeClr val="tx1"/>
                          </a:solidFill>
                        </a:rPr>
                        <a:t>Etiqueta (rotulado y Ley 30021)</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S/650</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365760">
                <a:tc>
                  <a:txBody>
                    <a:bodyPr/>
                    <a:lstStyle/>
                    <a:p>
                      <a:pPr indent="0" marL="0">
                        <a:buNone/>
                      </a:pPr>
                      <a:r>
                        <a:rPr lang="en-US" sz="1300" dirty="0">
                          <a:solidFill>
                            <a:schemeClr val="tx1"/>
                          </a:solidFill>
                        </a:rPr>
                        <a:t>Registro sanitario de DIGESA (tasa)</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S/0</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365760">
                <a:tc>
                  <a:txBody>
                    <a:bodyPr/>
                    <a:lstStyle/>
                    <a:p>
                      <a:pPr indent="0" marL="0">
                        <a:buNone/>
                      </a:pPr>
                      <a:r>
                        <a:rPr lang="en-US" sz="1300" dirty="0">
                          <a:solidFill>
                            <a:schemeClr val="tx1"/>
                          </a:solidFill>
                        </a:rPr>
                        <a:t>Seguro para los stands (1 año)</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r" indent="0" marL="0">
                        <a:buNone/>
                      </a:pPr>
                      <a:r>
                        <a:rPr lang="en-US" sz="1300" dirty="0">
                          <a:solidFill>
                            <a:schemeClr val="tx1"/>
                          </a:solidFill>
                        </a:rPr>
                        <a:t>S/600</a:t>
                      </a:r>
                      <a:endParaRPr lang="en-US" sz="13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365760">
                <a:tc>
                  <a:txBody>
                    <a:bodyPr/>
                    <a:lstStyle/>
                    <a:p>
                      <a:pPr indent="0" marL="0">
                        <a:buNone/>
                      </a:pPr>
                      <a:r>
                        <a:rPr lang="en-US" sz="1400" b="1" dirty="0">
                          <a:solidFill>
                            <a:schemeClr val="tx1"/>
                          </a:solidFill>
                        </a:rPr>
                        <a:t>Total documentos y permisos</a:t>
                      </a:r>
                      <a:endParaRPr lang="en-US" sz="14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6DCD5"/>
                    </a:solidFill>
                  </a:tcPr>
                </a:tc>
                <a:tc>
                  <a:txBody>
                    <a:bodyPr/>
                    <a:lstStyle/>
                    <a:p>
                      <a:pPr algn="r" indent="0" marL="0">
                        <a:buNone/>
                      </a:pPr>
                      <a:r>
                        <a:rPr lang="en-US" sz="1400" b="1" dirty="0">
                          <a:solidFill>
                            <a:schemeClr val="accent1"/>
                          </a:solidFill>
                        </a:rPr>
                        <a:t>S/6,176</a:t>
                      </a:r>
                      <a:endParaRPr lang="en-US" sz="1400" dirty="0"/>
                    </a:p>
                  </a:txBody>
                  <a:tcPr marL="54864" marR="54864" marT="54864" marB="54864"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6DCD5"/>
                    </a:solidFill>
                  </a:tcPr>
                </a:tc>
              </a:tr>
            </a:tbl>
          </a:graphicData>
        </a:graphic>
      </p:graphicFrame>
      <p:graphicFrame>
        <p:nvGraphicFramePr>
          <p:cNvPr id="5" name="Chart 0" descr=""/>
          <p:cNvGraphicFramePr/>
          <p:nvPr/>
        </p:nvGraphicFramePr>
        <p:xfrm>
          <a:off x="6583680" y="1417320"/>
          <a:ext cx="5212080" cy="370332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766560" y="5212080"/>
            <a:ext cx="4873752" cy="914400"/>
          </a:xfrm>
          <a:prstGeom prst="roundRect">
            <a:avLst>
              <a:gd name="adj" fmla="val 12000"/>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7" name="Text 3"/>
          <p:cNvSpPr txBox="1"/>
          <p:nvPr/>
        </p:nvSpPr>
        <p:spPr>
          <a:xfrm>
            <a:off x="6995160" y="5212080"/>
            <a:ext cx="4480560" cy="914400"/>
          </a:xfrm>
          <a:prstGeom prst="rect">
            <a:avLst/>
          </a:prstGeom>
          <a:noFill/>
          <a:ln/>
        </p:spPr>
        <p:txBody>
          <a:bodyPr wrap="square" lIns="0" tIns="0" rIns="0" bIns="0" rtlCol="0" anchor="ctr"/>
          <a:lstStyle/>
          <a:p>
            <a:pPr indent="0" marL="0">
              <a:buNone/>
            </a:pPr>
            <a:r>
              <a:rPr lang="en-US" sz="1600" b="1" dirty="0">
                <a:solidFill>
                  <a:schemeClr val="accent3"/>
                </a:solidFill>
              </a:rPr>
              <a:t>Socios S/25,000 · préstamo S/16,000</a:t>
            </a:r>
            <a:endParaRPr lang="en-US" sz="1400" dirty="0"/>
          </a:p>
          <a:p>
            <a:pPr indent="0" marL="0">
              <a:buNone/>
            </a:pPr>
            <a:r>
              <a:rPr lang="en-US" sz="1200" dirty="0">
                <a:solidFill>
                  <a:schemeClr val="bg1"/>
                </a:solidFill>
              </a:rPr>
              <a:t>24 cuotas de S/898 (interés de 35 % al año) · línea de crédito de respaldo S/3,000</a:t>
            </a:r>
            <a:endParaRPr lang="en-US" sz="14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7 · PUNTO DE EQUILIBRIO</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Cuántos brownies hay que vender cada mes para no perder</a:t>
            </a:r>
            <a:endParaRPr lang="en-US" sz="3400" dirty="0"/>
          </a:p>
        </p:txBody>
      </p:sp>
      <p:graphicFrame>
        <p:nvGraphicFramePr>
          <p:cNvPr id="4" name="Chart 0" descr=""/>
          <p:cNvGraphicFramePr/>
          <p:nvPr/>
        </p:nvGraphicFramePr>
        <p:xfrm>
          <a:off x="365760" y="1417320"/>
          <a:ext cx="438912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937760" y="1417320"/>
          <a:ext cx="6858000" cy="434340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548640" y="5833872"/>
            <a:ext cx="3611880" cy="475488"/>
          </a:xfrm>
          <a:prstGeom prst="roundRect">
            <a:avLst>
              <a:gd name="adj" fmla="val 19231"/>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7" name="Text 3"/>
          <p:cNvSpPr txBox="1"/>
          <p:nvPr/>
        </p:nvSpPr>
        <p:spPr>
          <a:xfrm>
            <a:off x="731520" y="5833872"/>
            <a:ext cx="3337560" cy="475488"/>
          </a:xfrm>
          <a:prstGeom prst="rect">
            <a:avLst/>
          </a:prstGeom>
          <a:noFill/>
          <a:ln/>
        </p:spPr>
        <p:txBody>
          <a:bodyPr wrap="square" lIns="0" tIns="0" rIns="0" bIns="0" rtlCol="0" anchor="ctr"/>
          <a:lstStyle/>
          <a:p>
            <a:pPr indent="0" marL="0">
              <a:buNone/>
            </a:pPr>
            <a:r>
              <a:rPr lang="en-US" sz="1300" b="1" dirty="0">
                <a:solidFill>
                  <a:schemeClr val="accent1"/>
                </a:solidFill>
              </a:rPr>
              <a:t>1 punto: </a:t>
            </a:r>
            <a:pPr indent="0" marL="0">
              <a:buNone/>
            </a:pPr>
            <a:r>
              <a:rPr lang="en-US" sz="1300" b="1" dirty="0">
                <a:solidFill>
                  <a:schemeClr val="tx1"/>
                </a:solidFill>
              </a:rPr>
              <a:t>≈ 2,100 al mes </a:t>
            </a:r>
            <a:pPr indent="0" marL="0">
              <a:buNone/>
            </a:pPr>
            <a:r>
              <a:rPr lang="en-US" sz="1100" dirty="0">
                <a:solidFill>
                  <a:schemeClr val="tx1"/>
                </a:solidFill>
              </a:rPr>
              <a:t>(enero)</a:t>
            </a:r>
            <a:endParaRPr lang="en-US" sz="1300" dirty="0"/>
          </a:p>
        </p:txBody>
      </p:sp>
      <p:sp>
        <p:nvSpPr>
          <p:cNvPr id="8" name="Shape 4"/>
          <p:cNvSpPr/>
          <p:nvPr/>
        </p:nvSpPr>
        <p:spPr>
          <a:xfrm>
            <a:off x="4288536" y="5833872"/>
            <a:ext cx="3611880" cy="475488"/>
          </a:xfrm>
          <a:prstGeom prst="roundRect">
            <a:avLst>
              <a:gd name="adj" fmla="val 19231"/>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9" name="Text 5"/>
          <p:cNvSpPr txBox="1"/>
          <p:nvPr/>
        </p:nvSpPr>
        <p:spPr>
          <a:xfrm>
            <a:off x="4471416" y="5833872"/>
            <a:ext cx="3337560" cy="475488"/>
          </a:xfrm>
          <a:prstGeom prst="rect">
            <a:avLst/>
          </a:prstGeom>
          <a:noFill/>
          <a:ln/>
        </p:spPr>
        <p:txBody>
          <a:bodyPr wrap="square" lIns="0" tIns="0" rIns="0" bIns="0" rtlCol="0" anchor="ctr"/>
          <a:lstStyle/>
          <a:p>
            <a:pPr indent="0" marL="0">
              <a:buNone/>
            </a:pPr>
            <a:r>
              <a:rPr lang="en-US" sz="1300" b="1" dirty="0">
                <a:solidFill>
                  <a:schemeClr val="accent1"/>
                </a:solidFill>
              </a:rPr>
              <a:t>2 puntos: </a:t>
            </a:r>
            <a:pPr indent="0" marL="0">
              <a:buNone/>
            </a:pPr>
            <a:r>
              <a:rPr lang="en-US" sz="1300" b="1" dirty="0">
                <a:solidFill>
                  <a:schemeClr val="tx1"/>
                </a:solidFill>
              </a:rPr>
              <a:t>≈ 3,100 a 3,500 </a:t>
            </a:r>
            <a:pPr indent="0" marL="0">
              <a:buNone/>
            </a:pPr>
            <a:r>
              <a:rPr lang="en-US" sz="1100" dirty="0">
                <a:solidFill>
                  <a:schemeClr val="tx1"/>
                </a:solidFill>
              </a:rPr>
              <a:t>(febrero a julio)</a:t>
            </a:r>
            <a:endParaRPr lang="en-US" sz="1300" dirty="0"/>
          </a:p>
        </p:txBody>
      </p:sp>
      <p:sp>
        <p:nvSpPr>
          <p:cNvPr id="10" name="Shape 6"/>
          <p:cNvSpPr/>
          <p:nvPr/>
        </p:nvSpPr>
        <p:spPr>
          <a:xfrm>
            <a:off x="8028432" y="5833872"/>
            <a:ext cx="3611880" cy="475488"/>
          </a:xfrm>
          <a:prstGeom prst="roundRect">
            <a:avLst>
              <a:gd name="adj" fmla="val 19231"/>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11" name="Text 7"/>
          <p:cNvSpPr txBox="1"/>
          <p:nvPr/>
        </p:nvSpPr>
        <p:spPr>
          <a:xfrm>
            <a:off x="8211312" y="5833872"/>
            <a:ext cx="3337560" cy="475488"/>
          </a:xfrm>
          <a:prstGeom prst="rect">
            <a:avLst/>
          </a:prstGeom>
          <a:noFill/>
          <a:ln/>
        </p:spPr>
        <p:txBody>
          <a:bodyPr wrap="square" lIns="0" tIns="0" rIns="0" bIns="0" rtlCol="0" anchor="ctr"/>
          <a:lstStyle/>
          <a:p>
            <a:pPr indent="0" marL="0">
              <a:buNone/>
            </a:pPr>
            <a:r>
              <a:rPr lang="en-US" sz="1300" b="1" dirty="0">
                <a:solidFill>
                  <a:schemeClr val="accent3"/>
                </a:solidFill>
              </a:rPr>
              <a:t>3 puntos: </a:t>
            </a:r>
            <a:pPr indent="0" marL="0">
              <a:buNone/>
            </a:pPr>
            <a:r>
              <a:rPr lang="en-US" sz="1300" b="1" dirty="0">
                <a:solidFill>
                  <a:schemeClr val="bg1"/>
                </a:solidFill>
              </a:rPr>
              <a:t>≈ 4,200 a 4,400 </a:t>
            </a:r>
            <a:pPr indent="0" marL="0">
              <a:buNone/>
            </a:pPr>
            <a:r>
              <a:rPr lang="en-US" sz="1100" dirty="0">
                <a:solidFill>
                  <a:schemeClr val="bg1"/>
                </a:solidFill>
              </a:rPr>
              <a:t>(agosto a diciembre)</a:t>
            </a:r>
            <a:endParaRPr lang="en-US" sz="13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7 · RESULTADO DEL AÑO 1</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Desde marzo, todos los meses dan ganancia</a:t>
            </a:r>
            <a:endParaRPr lang="en-US" sz="3400" dirty="0"/>
          </a:p>
        </p:txBody>
      </p:sp>
      <p:graphicFrame>
        <p:nvGraphicFramePr>
          <p:cNvPr id="4" name="Chart 0" descr=""/>
          <p:cNvGraphicFramePr/>
          <p:nvPr/>
        </p:nvGraphicFramePr>
        <p:xfrm>
          <a:off x="365760" y="1417320"/>
          <a:ext cx="7772400" cy="4343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 y="5833872"/>
            <a:ext cx="7589520" cy="475488"/>
          </a:xfrm>
          <a:prstGeom prst="roundRect">
            <a:avLst>
              <a:gd name="adj" fmla="val 19231"/>
            </a:avLst>
          </a:prstGeom>
          <a:solidFill>
            <a:schemeClr val="bg2"/>
          </a:solidFill>
          <a:ln w="12700">
            <a:solidFill>
              <a:schemeClr val="bg2"/>
            </a:solidFill>
            <a:prstDash val="solid"/>
          </a:ln>
        </p:spPr>
      </p:sp>
      <p:sp>
        <p:nvSpPr>
          <p:cNvPr id="6" name="Text 3"/>
          <p:cNvSpPr txBox="1"/>
          <p:nvPr/>
        </p:nvSpPr>
        <p:spPr>
          <a:xfrm>
            <a:off x="731520" y="5833872"/>
            <a:ext cx="7315200" cy="475488"/>
          </a:xfrm>
          <a:prstGeom prst="rect">
            <a:avLst/>
          </a:prstGeom>
          <a:noFill/>
          <a:ln/>
        </p:spPr>
        <p:txBody>
          <a:bodyPr wrap="square" lIns="0" tIns="0" rIns="0" bIns="0" rtlCol="0" anchor="ctr"/>
          <a:lstStyle/>
          <a:p>
            <a:pPr indent="0" marL="0">
              <a:buNone/>
            </a:pPr>
            <a:r>
              <a:rPr lang="en-US" sz="1200" b="1" dirty="0">
                <a:solidFill>
                  <a:schemeClr val="accent1"/>
                </a:solidFill>
              </a:rPr>
              <a:t>Respaldo: </a:t>
            </a:r>
            <a:pPr indent="0" marL="0">
              <a:buNone/>
            </a:pPr>
            <a:r>
              <a:rPr lang="en-US" sz="1200" dirty="0">
                <a:solidFill>
                  <a:schemeClr val="tx1"/>
                </a:solidFill>
              </a:rPr>
              <a:t>la caja más baja es S/2,545 (febrero). Si vendemos 20 % menos, llega a −S/2,188 y la cubre la línea de crédito de S/3,000.</a:t>
            </a:r>
            <a:endParaRPr lang="en-US" sz="1200" dirty="0"/>
          </a:p>
        </p:txBody>
      </p:sp>
      <p:sp>
        <p:nvSpPr>
          <p:cNvPr id="7" name="Shape 4"/>
          <p:cNvSpPr/>
          <p:nvPr/>
        </p:nvSpPr>
        <p:spPr>
          <a:xfrm>
            <a:off x="8321040" y="1463040"/>
            <a:ext cx="3319272" cy="1078992"/>
          </a:xfrm>
          <a:prstGeom prst="roundRect">
            <a:avLst>
              <a:gd name="adj" fmla="val 1016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8" name="Text 5"/>
          <p:cNvSpPr txBox="1"/>
          <p:nvPr/>
        </p:nvSpPr>
        <p:spPr>
          <a:xfrm>
            <a:off x="8549640" y="1463040"/>
            <a:ext cx="2953512" cy="1078992"/>
          </a:xfrm>
          <a:prstGeom prst="rect">
            <a:avLst/>
          </a:prstGeom>
          <a:noFill/>
          <a:ln/>
        </p:spPr>
        <p:txBody>
          <a:bodyPr wrap="square" lIns="0" tIns="0" rIns="0" bIns="0" rtlCol="0" anchor="ctr"/>
          <a:lstStyle/>
          <a:p>
            <a:pPr indent="0" marL="0">
              <a:buNone/>
            </a:pPr>
            <a:r>
              <a:rPr lang="en-US" sz="2200" b="1" dirty="0">
                <a:solidFill>
                  <a:schemeClr val="accent1"/>
                </a:solidFill>
              </a:rPr>
              <a:t>S/244,728</a:t>
            </a:r>
            <a:endParaRPr lang="en-US" sz="1400" dirty="0"/>
          </a:p>
          <a:p>
            <a:pPr indent="0" marL="0">
              <a:buNone/>
            </a:pPr>
            <a:r>
              <a:rPr lang="en-US" sz="1200" dirty="0">
                <a:solidFill>
                  <a:schemeClr val="accent2"/>
                </a:solidFill>
              </a:rPr>
              <a:t>ventas con IGV</a:t>
            </a:r>
            <a:endParaRPr lang="en-US" sz="1400" dirty="0"/>
          </a:p>
        </p:txBody>
      </p:sp>
      <p:sp>
        <p:nvSpPr>
          <p:cNvPr id="9" name="Shape 6"/>
          <p:cNvSpPr/>
          <p:nvPr/>
        </p:nvSpPr>
        <p:spPr>
          <a:xfrm>
            <a:off x="8321040" y="2679192"/>
            <a:ext cx="3319272" cy="1078992"/>
          </a:xfrm>
          <a:prstGeom prst="roundRect">
            <a:avLst>
              <a:gd name="adj" fmla="val 1016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0" name="Text 7"/>
          <p:cNvSpPr txBox="1"/>
          <p:nvPr/>
        </p:nvSpPr>
        <p:spPr>
          <a:xfrm>
            <a:off x="8549640" y="2679192"/>
            <a:ext cx="2953512" cy="1078992"/>
          </a:xfrm>
          <a:prstGeom prst="rect">
            <a:avLst/>
          </a:prstGeom>
          <a:noFill/>
          <a:ln/>
        </p:spPr>
        <p:txBody>
          <a:bodyPr wrap="square" lIns="0" tIns="0" rIns="0" bIns="0" rtlCol="0" anchor="ctr"/>
          <a:lstStyle/>
          <a:p>
            <a:pPr indent="0" marL="0">
              <a:buNone/>
            </a:pPr>
            <a:r>
              <a:rPr lang="en-US" sz="2200" b="1" dirty="0">
                <a:solidFill>
                  <a:schemeClr val="accent1"/>
                </a:solidFill>
              </a:rPr>
              <a:t>S/13,423</a:t>
            </a:r>
            <a:endParaRPr lang="en-US" sz="1400" dirty="0"/>
          </a:p>
          <a:p>
            <a:pPr indent="0" marL="0">
              <a:buNone/>
            </a:pPr>
            <a:r>
              <a:rPr lang="en-US" sz="1200" dirty="0">
                <a:solidFill>
                  <a:schemeClr val="accent2"/>
                </a:solidFill>
              </a:rPr>
              <a:t>resultado operativo (6.5 % de las ventas)</a:t>
            </a:r>
            <a:endParaRPr lang="en-US" sz="1400" dirty="0"/>
          </a:p>
        </p:txBody>
      </p:sp>
      <p:sp>
        <p:nvSpPr>
          <p:cNvPr id="11" name="Shape 8"/>
          <p:cNvSpPr/>
          <p:nvPr/>
        </p:nvSpPr>
        <p:spPr>
          <a:xfrm>
            <a:off x="8321040" y="3895344"/>
            <a:ext cx="3319272" cy="1078992"/>
          </a:xfrm>
          <a:prstGeom prst="roundRect">
            <a:avLst>
              <a:gd name="adj" fmla="val 10169"/>
            </a:avLst>
          </a:prstGeom>
          <a:solidFill>
            <a:schemeClr val="accent1"/>
          </a:solidFill>
          <a:ln w="12700">
            <a:solidFill>
              <a:schemeClr val="accent1"/>
            </a:solidFill>
            <a:prstDash val="solid"/>
          </a:ln>
          <a:effectLst>
            <a:outerShdw sx="100000" sy="100000" kx="0" ky="0" algn="bl" rotWithShape="0" blurRad="101600" dist="25400" dir="5400000">
              <a:srgbClr val="7A4A30">
                <a:alpha val="14000"/>
              </a:srgbClr>
            </a:outerShdw>
          </a:effectLst>
        </p:spPr>
      </p:sp>
      <p:sp>
        <p:nvSpPr>
          <p:cNvPr id="12" name="Text 9"/>
          <p:cNvSpPr txBox="1"/>
          <p:nvPr/>
        </p:nvSpPr>
        <p:spPr>
          <a:xfrm>
            <a:off x="8549640" y="3895344"/>
            <a:ext cx="2953512" cy="1078992"/>
          </a:xfrm>
          <a:prstGeom prst="rect">
            <a:avLst/>
          </a:prstGeom>
          <a:noFill/>
          <a:ln/>
        </p:spPr>
        <p:txBody>
          <a:bodyPr wrap="square" lIns="0" tIns="0" rIns="0" bIns="0" rtlCol="0" anchor="ctr"/>
          <a:lstStyle/>
          <a:p>
            <a:pPr indent="0" marL="0">
              <a:buNone/>
            </a:pPr>
            <a:r>
              <a:rPr lang="en-US" sz="2200" b="1" dirty="0">
                <a:solidFill>
                  <a:schemeClr val="bg1"/>
                </a:solidFill>
              </a:rPr>
              <a:t>S/10,379</a:t>
            </a:r>
            <a:endParaRPr lang="en-US" sz="1400" dirty="0"/>
          </a:p>
          <a:p>
            <a:pPr indent="0" marL="0">
              <a:buNone/>
            </a:pPr>
            <a:r>
              <a:rPr lang="en-US" sz="1200" dirty="0">
                <a:solidFill>
                  <a:schemeClr val="bg1"/>
                </a:solidFill>
              </a:rPr>
              <a:t>utilidad neta: 42 % de lo que pusieron los socios</a:t>
            </a:r>
            <a:endParaRPr lang="en-US" sz="1400" dirty="0"/>
          </a:p>
        </p:txBody>
      </p:sp>
      <p:sp>
        <p:nvSpPr>
          <p:cNvPr id="13" name="Shape 10"/>
          <p:cNvSpPr/>
          <p:nvPr/>
        </p:nvSpPr>
        <p:spPr>
          <a:xfrm>
            <a:off x="8321040" y="5111496"/>
            <a:ext cx="3319272" cy="1078992"/>
          </a:xfrm>
          <a:prstGeom prst="roundRect">
            <a:avLst>
              <a:gd name="adj" fmla="val 10169"/>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14" name="Text 11"/>
          <p:cNvSpPr txBox="1"/>
          <p:nvPr/>
        </p:nvSpPr>
        <p:spPr>
          <a:xfrm>
            <a:off x="8549640" y="5111496"/>
            <a:ext cx="2953512" cy="1078992"/>
          </a:xfrm>
          <a:prstGeom prst="rect">
            <a:avLst/>
          </a:prstGeom>
          <a:noFill/>
          <a:ln/>
        </p:spPr>
        <p:txBody>
          <a:bodyPr wrap="square" lIns="0" tIns="0" rIns="0" bIns="0" rtlCol="0" anchor="ctr"/>
          <a:lstStyle/>
          <a:p>
            <a:pPr indent="0" marL="0">
              <a:buNone/>
            </a:pPr>
            <a:r>
              <a:rPr lang="en-US" sz="2200" b="1" dirty="0">
                <a:solidFill>
                  <a:schemeClr val="accent3"/>
                </a:solidFill>
              </a:rPr>
              <a:t>Año 2: S/28,447</a:t>
            </a:r>
            <a:endParaRPr lang="en-US" sz="1400" dirty="0"/>
          </a:p>
          <a:p>
            <a:pPr indent="0" marL="0">
              <a:buNone/>
            </a:pPr>
            <a:r>
              <a:rPr lang="en-US" sz="1200" dirty="0">
                <a:solidFill>
                  <a:schemeClr val="bg1"/>
                </a:solidFill>
              </a:rPr>
              <a:t>de utilidad neta, con 3 puntos todo el año</a:t>
            </a:r>
            <a:endParaRPr lang="en-US" sz="14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7 · RESULTADO DEL AÑO 2</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Año 2: con 3 puntos todo el año, la utilidad casi se triplica</a:t>
            </a:r>
            <a:endParaRPr lang="en-US" sz="3400" dirty="0"/>
          </a:p>
        </p:txBody>
      </p:sp>
      <p:graphicFrame>
        <p:nvGraphicFramePr>
          <p:cNvPr id="4" name="Chart 0" descr=""/>
          <p:cNvGraphicFramePr/>
          <p:nvPr/>
        </p:nvGraphicFramePr>
        <p:xfrm>
          <a:off x="365760" y="1417320"/>
          <a:ext cx="7772400" cy="4343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 y="5870448"/>
            <a:ext cx="1810512" cy="411480"/>
          </a:xfrm>
          <a:prstGeom prst="roundRect">
            <a:avLst>
              <a:gd name="adj" fmla="val 48889"/>
            </a:avLst>
          </a:prstGeom>
          <a:solidFill>
            <a:schemeClr val="bg1"/>
          </a:solidFill>
          <a:ln w="12700">
            <a:solidFill>
              <a:schemeClr val="accent5"/>
            </a:solidFill>
            <a:prstDash val="solid"/>
          </a:ln>
        </p:spPr>
      </p:sp>
      <p:sp>
        <p:nvSpPr>
          <p:cNvPr id="6" name="Text 3"/>
          <p:cNvSpPr txBox="1"/>
          <p:nvPr/>
        </p:nvSpPr>
        <p:spPr>
          <a:xfrm>
            <a:off x="548640" y="5870448"/>
            <a:ext cx="1810512" cy="411480"/>
          </a:xfrm>
          <a:prstGeom prst="rect">
            <a:avLst/>
          </a:prstGeom>
          <a:noFill/>
          <a:ln/>
        </p:spPr>
        <p:txBody>
          <a:bodyPr wrap="square" lIns="0" tIns="0" rIns="0" bIns="0" rtlCol="0" anchor="ctr"/>
          <a:lstStyle/>
          <a:p>
            <a:pPr algn="ctr" indent="0" marL="0">
              <a:buNone/>
            </a:pPr>
            <a:r>
              <a:rPr lang="en-US" sz="1100" b="1" dirty="0">
                <a:solidFill>
                  <a:schemeClr val="tx2"/>
                </a:solidFill>
              </a:rPr>
              <a:t>3 puntos todo el año</a:t>
            </a:r>
            <a:endParaRPr lang="en-US" sz="1100" dirty="0"/>
          </a:p>
        </p:txBody>
      </p:sp>
      <p:sp>
        <p:nvSpPr>
          <p:cNvPr id="7" name="Shape 4"/>
          <p:cNvSpPr/>
          <p:nvPr/>
        </p:nvSpPr>
        <p:spPr>
          <a:xfrm>
            <a:off x="2478024" y="5870448"/>
            <a:ext cx="1810512" cy="411480"/>
          </a:xfrm>
          <a:prstGeom prst="roundRect">
            <a:avLst>
              <a:gd name="adj" fmla="val 48889"/>
            </a:avLst>
          </a:prstGeom>
          <a:solidFill>
            <a:schemeClr val="bg1"/>
          </a:solidFill>
          <a:ln w="12700">
            <a:solidFill>
              <a:schemeClr val="accent5"/>
            </a:solidFill>
            <a:prstDash val="solid"/>
          </a:ln>
        </p:spPr>
      </p:sp>
      <p:sp>
        <p:nvSpPr>
          <p:cNvPr id="8" name="Text 5"/>
          <p:cNvSpPr txBox="1"/>
          <p:nvPr/>
        </p:nvSpPr>
        <p:spPr>
          <a:xfrm>
            <a:off x="2478024" y="5870448"/>
            <a:ext cx="1810512" cy="411480"/>
          </a:xfrm>
          <a:prstGeom prst="rect">
            <a:avLst/>
          </a:prstGeom>
          <a:noFill/>
          <a:ln/>
        </p:spPr>
        <p:txBody>
          <a:bodyPr wrap="square" lIns="0" tIns="0" rIns="0" bIns="0" rtlCol="0" anchor="ctr"/>
          <a:lstStyle/>
          <a:p>
            <a:pPr algn="ctr" indent="0" marL="0">
              <a:buNone/>
            </a:pPr>
            <a:r>
              <a:rPr lang="en-US" sz="1100" b="1" dirty="0">
                <a:solidFill>
                  <a:schemeClr val="tx2"/>
                </a:solidFill>
              </a:rPr>
              <a:t>80 a 90 brownies por día</a:t>
            </a:r>
            <a:endParaRPr lang="en-US" sz="1100" dirty="0"/>
          </a:p>
        </p:txBody>
      </p:sp>
      <p:sp>
        <p:nvSpPr>
          <p:cNvPr id="9" name="Shape 6"/>
          <p:cNvSpPr/>
          <p:nvPr/>
        </p:nvSpPr>
        <p:spPr>
          <a:xfrm>
            <a:off x="4407408" y="5870448"/>
            <a:ext cx="1810512" cy="411480"/>
          </a:xfrm>
          <a:prstGeom prst="roundRect">
            <a:avLst>
              <a:gd name="adj" fmla="val 48889"/>
            </a:avLst>
          </a:prstGeom>
          <a:solidFill>
            <a:schemeClr val="bg1"/>
          </a:solidFill>
          <a:ln w="12700">
            <a:solidFill>
              <a:schemeClr val="accent5"/>
            </a:solidFill>
            <a:prstDash val="solid"/>
          </a:ln>
        </p:spPr>
      </p:sp>
      <p:sp>
        <p:nvSpPr>
          <p:cNvPr id="10" name="Text 7"/>
          <p:cNvSpPr txBox="1"/>
          <p:nvPr/>
        </p:nvSpPr>
        <p:spPr>
          <a:xfrm>
            <a:off x="4407408" y="5870448"/>
            <a:ext cx="1810512" cy="411480"/>
          </a:xfrm>
          <a:prstGeom prst="rect">
            <a:avLst/>
          </a:prstGeom>
          <a:noFill/>
          <a:ln/>
        </p:spPr>
        <p:txBody>
          <a:bodyPr wrap="square" lIns="0" tIns="0" rIns="0" bIns="0" rtlCol="0" anchor="ctr"/>
          <a:lstStyle/>
          <a:p>
            <a:pPr algn="ctr" indent="0" marL="0">
              <a:buNone/>
            </a:pPr>
            <a:r>
              <a:rPr lang="en-US" sz="1100" b="1" dirty="0">
                <a:solidFill>
                  <a:schemeClr val="tx2"/>
                </a:solidFill>
              </a:rPr>
              <a:t>quioscos todo el año escolar</a:t>
            </a:r>
            <a:endParaRPr lang="en-US" sz="1100" dirty="0"/>
          </a:p>
        </p:txBody>
      </p:sp>
      <p:sp>
        <p:nvSpPr>
          <p:cNvPr id="11" name="Shape 8"/>
          <p:cNvSpPr/>
          <p:nvPr/>
        </p:nvSpPr>
        <p:spPr>
          <a:xfrm>
            <a:off x="6336792" y="5870448"/>
            <a:ext cx="1810512" cy="411480"/>
          </a:xfrm>
          <a:prstGeom prst="roundRect">
            <a:avLst>
              <a:gd name="adj" fmla="val 48889"/>
            </a:avLst>
          </a:prstGeom>
          <a:solidFill>
            <a:schemeClr val="bg1"/>
          </a:solidFill>
          <a:ln w="12700">
            <a:solidFill>
              <a:schemeClr val="accent5"/>
            </a:solidFill>
            <a:prstDash val="solid"/>
          </a:ln>
        </p:spPr>
      </p:sp>
      <p:sp>
        <p:nvSpPr>
          <p:cNvPr id="12" name="Text 9"/>
          <p:cNvSpPr txBox="1"/>
          <p:nvPr/>
        </p:nvSpPr>
        <p:spPr>
          <a:xfrm>
            <a:off x="6336792" y="5870448"/>
            <a:ext cx="1810512" cy="411480"/>
          </a:xfrm>
          <a:prstGeom prst="rect">
            <a:avLst/>
          </a:prstGeom>
          <a:noFill/>
          <a:ln/>
        </p:spPr>
        <p:txBody>
          <a:bodyPr wrap="square" lIns="0" tIns="0" rIns="0" bIns="0" rtlCol="0" anchor="ctr"/>
          <a:lstStyle/>
          <a:p>
            <a:pPr algn="ctr" indent="0" marL="0">
              <a:buNone/>
            </a:pPr>
            <a:r>
              <a:rPr lang="en-US" sz="1100" b="1" dirty="0">
                <a:solidFill>
                  <a:schemeClr val="tx2"/>
                </a:solidFill>
              </a:rPr>
              <a:t>mismos precios y costos</a:t>
            </a:r>
            <a:endParaRPr lang="en-US" sz="1100" dirty="0"/>
          </a:p>
        </p:txBody>
      </p:sp>
      <p:sp>
        <p:nvSpPr>
          <p:cNvPr id="13" name="Shape 10"/>
          <p:cNvSpPr/>
          <p:nvPr/>
        </p:nvSpPr>
        <p:spPr>
          <a:xfrm>
            <a:off x="8321040" y="1463040"/>
            <a:ext cx="3319272" cy="1078992"/>
          </a:xfrm>
          <a:prstGeom prst="roundRect">
            <a:avLst>
              <a:gd name="adj" fmla="val 1016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4" name="Text 11"/>
          <p:cNvSpPr txBox="1"/>
          <p:nvPr/>
        </p:nvSpPr>
        <p:spPr>
          <a:xfrm>
            <a:off x="8549640" y="1463040"/>
            <a:ext cx="2953512" cy="1078992"/>
          </a:xfrm>
          <a:prstGeom prst="rect">
            <a:avLst/>
          </a:prstGeom>
          <a:noFill/>
          <a:ln/>
        </p:spPr>
        <p:txBody>
          <a:bodyPr wrap="square" lIns="0" tIns="0" rIns="0" bIns="0" rtlCol="0" anchor="ctr"/>
          <a:lstStyle/>
          <a:p>
            <a:pPr indent="0" marL="0">
              <a:buNone/>
            </a:pPr>
            <a:r>
              <a:rPr lang="en-US" sz="2200" b="1" dirty="0">
                <a:solidFill>
                  <a:schemeClr val="accent1"/>
                </a:solidFill>
              </a:rPr>
              <a:t>S/322,329</a:t>
            </a:r>
            <a:endParaRPr lang="en-US" sz="1400" dirty="0"/>
          </a:p>
          <a:p>
            <a:pPr indent="0" marL="0">
              <a:buNone/>
            </a:pPr>
            <a:r>
              <a:rPr lang="en-US" sz="1200" dirty="0">
                <a:solidFill>
                  <a:schemeClr val="accent2"/>
                </a:solidFill>
              </a:rPr>
              <a:t>ventas con IGV (+32 %)</a:t>
            </a:r>
            <a:endParaRPr lang="en-US" sz="1400" dirty="0"/>
          </a:p>
        </p:txBody>
      </p:sp>
      <p:sp>
        <p:nvSpPr>
          <p:cNvPr id="15" name="Shape 12"/>
          <p:cNvSpPr/>
          <p:nvPr/>
        </p:nvSpPr>
        <p:spPr>
          <a:xfrm>
            <a:off x="8321040" y="2679192"/>
            <a:ext cx="3319272" cy="1078992"/>
          </a:xfrm>
          <a:prstGeom prst="roundRect">
            <a:avLst>
              <a:gd name="adj" fmla="val 1016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6" name="Text 13"/>
          <p:cNvSpPr txBox="1"/>
          <p:nvPr/>
        </p:nvSpPr>
        <p:spPr>
          <a:xfrm>
            <a:off x="8549640" y="2679192"/>
            <a:ext cx="2953512" cy="1078992"/>
          </a:xfrm>
          <a:prstGeom prst="rect">
            <a:avLst/>
          </a:prstGeom>
          <a:noFill/>
          <a:ln/>
        </p:spPr>
        <p:txBody>
          <a:bodyPr wrap="square" lIns="0" tIns="0" rIns="0" bIns="0" rtlCol="0" anchor="ctr"/>
          <a:lstStyle/>
          <a:p>
            <a:pPr indent="0" marL="0">
              <a:buNone/>
            </a:pPr>
            <a:r>
              <a:rPr lang="en-US" sz="2200" b="1" dirty="0">
                <a:solidFill>
                  <a:schemeClr val="accent1"/>
                </a:solidFill>
              </a:rPr>
              <a:t>S/30,459</a:t>
            </a:r>
            <a:endParaRPr lang="en-US" sz="1400" dirty="0"/>
          </a:p>
          <a:p>
            <a:pPr indent="0" marL="0">
              <a:buNone/>
            </a:pPr>
            <a:r>
              <a:rPr lang="en-US" sz="1200" dirty="0">
                <a:solidFill>
                  <a:schemeClr val="accent2"/>
                </a:solidFill>
              </a:rPr>
              <a:t>resultado operativo (11.2 % de las ventas)</a:t>
            </a:r>
            <a:endParaRPr lang="en-US" sz="1400" dirty="0"/>
          </a:p>
        </p:txBody>
      </p:sp>
      <p:sp>
        <p:nvSpPr>
          <p:cNvPr id="17" name="Shape 14"/>
          <p:cNvSpPr/>
          <p:nvPr/>
        </p:nvSpPr>
        <p:spPr>
          <a:xfrm>
            <a:off x="8321040" y="3895344"/>
            <a:ext cx="3319272" cy="1078992"/>
          </a:xfrm>
          <a:prstGeom prst="roundRect">
            <a:avLst>
              <a:gd name="adj" fmla="val 10169"/>
            </a:avLst>
          </a:prstGeom>
          <a:solidFill>
            <a:schemeClr val="accent1"/>
          </a:solidFill>
          <a:ln w="12700">
            <a:solidFill>
              <a:schemeClr val="accent1"/>
            </a:solidFill>
            <a:prstDash val="solid"/>
          </a:ln>
          <a:effectLst>
            <a:outerShdw sx="100000" sy="100000" kx="0" ky="0" algn="bl" rotWithShape="0" blurRad="101600" dist="25400" dir="5400000">
              <a:srgbClr val="7A4A30">
                <a:alpha val="14000"/>
              </a:srgbClr>
            </a:outerShdw>
          </a:effectLst>
        </p:spPr>
      </p:sp>
      <p:sp>
        <p:nvSpPr>
          <p:cNvPr id="18" name="Text 15"/>
          <p:cNvSpPr txBox="1"/>
          <p:nvPr/>
        </p:nvSpPr>
        <p:spPr>
          <a:xfrm>
            <a:off x="8549640" y="3895344"/>
            <a:ext cx="2953512" cy="1078992"/>
          </a:xfrm>
          <a:prstGeom prst="rect">
            <a:avLst/>
          </a:prstGeom>
          <a:noFill/>
          <a:ln/>
        </p:spPr>
        <p:txBody>
          <a:bodyPr wrap="square" lIns="0" tIns="0" rIns="0" bIns="0" rtlCol="0" anchor="ctr"/>
          <a:lstStyle/>
          <a:p>
            <a:pPr indent="0" marL="0">
              <a:buNone/>
            </a:pPr>
            <a:r>
              <a:rPr lang="en-US" sz="2200" b="1" dirty="0">
                <a:solidFill>
                  <a:schemeClr val="bg1"/>
                </a:solidFill>
              </a:rPr>
              <a:t>S/28,447</a:t>
            </a:r>
            <a:endParaRPr lang="en-US" sz="1400" dirty="0"/>
          </a:p>
          <a:p>
            <a:pPr indent="0" marL="0">
              <a:buNone/>
            </a:pPr>
            <a:r>
              <a:rPr lang="en-US" sz="1200" dirty="0">
                <a:solidFill>
                  <a:schemeClr val="bg1"/>
                </a:solidFill>
              </a:rPr>
              <a:t>utilidad neta: 2.7 veces la del año 1</a:t>
            </a:r>
            <a:endParaRPr lang="en-US" sz="1400" dirty="0"/>
          </a:p>
        </p:txBody>
      </p:sp>
      <p:sp>
        <p:nvSpPr>
          <p:cNvPr id="19" name="Shape 16"/>
          <p:cNvSpPr/>
          <p:nvPr/>
        </p:nvSpPr>
        <p:spPr>
          <a:xfrm>
            <a:off x="8321040" y="5111496"/>
            <a:ext cx="3319272" cy="1078992"/>
          </a:xfrm>
          <a:prstGeom prst="roundRect">
            <a:avLst>
              <a:gd name="adj" fmla="val 1016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0" name="Text 17"/>
          <p:cNvSpPr txBox="1"/>
          <p:nvPr/>
        </p:nvSpPr>
        <p:spPr>
          <a:xfrm>
            <a:off x="8549640" y="5111496"/>
            <a:ext cx="2953512" cy="1078992"/>
          </a:xfrm>
          <a:prstGeom prst="rect">
            <a:avLst/>
          </a:prstGeom>
          <a:noFill/>
          <a:ln/>
        </p:spPr>
        <p:txBody>
          <a:bodyPr wrap="square" lIns="0" tIns="0" rIns="0" bIns="0" rtlCol="0" anchor="ctr"/>
          <a:lstStyle/>
          <a:p>
            <a:pPr indent="0" marL="0">
              <a:buNone/>
            </a:pPr>
            <a:r>
              <a:rPr lang="en-US" sz="2200" b="1" dirty="0">
                <a:solidFill>
                  <a:schemeClr val="accent1"/>
                </a:solidFill>
              </a:rPr>
              <a:t>Mes 23</a:t>
            </a:r>
            <a:endParaRPr lang="en-US" sz="1400" dirty="0"/>
          </a:p>
          <a:p>
            <a:pPr indent="0" marL="0">
              <a:buNone/>
            </a:pPr>
            <a:r>
              <a:rPr lang="en-US" sz="1200" dirty="0">
                <a:solidFill>
                  <a:schemeClr val="accent2"/>
                </a:solidFill>
              </a:rPr>
              <a:t>recuperamos los S/40,876 (noviembre de 2028)</a:t>
            </a:r>
            <a:endParaRPr lang="en-US" sz="14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7 · MODELO CANVAS</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El negocio en una página: por qué AndiBite funciona</a:t>
            </a:r>
            <a:endParaRPr lang="en-US" sz="3400" dirty="0"/>
          </a:p>
        </p:txBody>
      </p:sp>
      <p:sp>
        <p:nvSpPr>
          <p:cNvPr id="4" name="Shape 2"/>
          <p:cNvSpPr/>
          <p:nvPr/>
        </p:nvSpPr>
        <p:spPr>
          <a:xfrm>
            <a:off x="548640" y="1389888"/>
            <a:ext cx="2159813" cy="3310128"/>
          </a:xfrm>
          <a:prstGeom prst="roundRect">
            <a:avLst>
              <a:gd name="adj" fmla="val 3387"/>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pic>
        <p:nvPicPr>
          <p:cNvPr id="5" name="Image 0" descr="preencoded.png">    </p:cNvPr>
          <p:cNvPicPr>
            <a:picLocks noChangeAspect="1"/>
          </p:cNvPicPr>
          <p:nvPr/>
        </p:nvPicPr>
        <p:blipFill>
          <a:blip r:embed="rId1"/>
          <a:stretch>
            <a:fillRect/>
          </a:stretch>
        </p:blipFill>
        <p:spPr>
          <a:xfrm>
            <a:off x="658368" y="1490472"/>
            <a:ext cx="237744" cy="237744"/>
          </a:xfrm>
          <a:prstGeom prst="rect">
            <a:avLst/>
          </a:prstGeom>
        </p:spPr>
      </p:pic>
      <p:sp>
        <p:nvSpPr>
          <p:cNvPr id="6" name="Text 3"/>
          <p:cNvSpPr txBox="1"/>
          <p:nvPr/>
        </p:nvSpPr>
        <p:spPr>
          <a:xfrm>
            <a:off x="969264" y="1463040"/>
            <a:ext cx="1684325" cy="292608"/>
          </a:xfrm>
          <a:prstGeom prst="rect">
            <a:avLst/>
          </a:prstGeom>
          <a:noFill/>
          <a:ln/>
        </p:spPr>
        <p:txBody>
          <a:bodyPr wrap="square" lIns="0" tIns="0" rIns="0" bIns="0" rtlCol="0" anchor="ctr"/>
          <a:lstStyle/>
          <a:p>
            <a:pPr indent="0" marL="0">
              <a:buNone/>
            </a:pPr>
            <a:r>
              <a:rPr lang="en-US" sz="1100" b="1" spc="100" kern="0" dirty="0">
                <a:solidFill>
                  <a:schemeClr val="tx2"/>
                </a:solidFill>
              </a:rPr>
              <a:t>SOCIOS CLAVE</a:t>
            </a:r>
            <a:endParaRPr lang="en-US" sz="1100" dirty="0"/>
          </a:p>
        </p:txBody>
      </p:sp>
      <p:sp>
        <p:nvSpPr>
          <p:cNvPr id="7" name="Text 4"/>
          <p:cNvSpPr txBox="1"/>
          <p:nvPr/>
        </p:nvSpPr>
        <p:spPr>
          <a:xfrm>
            <a:off x="640080" y="1792224"/>
            <a:ext cx="1995221" cy="2852928"/>
          </a:xfrm>
          <a:prstGeom prst="rect">
            <a:avLst/>
          </a:prstGeom>
          <a:noFill/>
          <a:ln/>
        </p:spPr>
        <p:txBody>
          <a:bodyPr wrap="square" lIns="0" tIns="0" rIns="0" bIns="0" rtlCol="0" anchor="t"/>
          <a:lstStyle/>
          <a:p>
            <a:pPr marL="114300" indent="-114300">
              <a:spcAft>
                <a:spcPts val="300"/>
              </a:spcAft>
              <a:buSzPct val="100000"/>
              <a:buChar char="•"/>
            </a:pPr>
            <a:r>
              <a:rPr lang="en-US" sz="1200" dirty="0">
                <a:solidFill>
                  <a:schemeClr val="tx1"/>
                </a:solidFill>
              </a:rPr>
              <a:t>Planta con certificación que fabrica por nosotros</a:t>
            </a:r>
            <a:endParaRPr lang="en-US" sz="1200" dirty="0"/>
          </a:p>
          <a:p>
            <a:pPr marL="114300" indent="-114300">
              <a:spcAft>
                <a:spcPts val="300"/>
              </a:spcAft>
              <a:buSzPct val="100000"/>
              <a:buChar char="•"/>
            </a:pPr>
            <a:r>
              <a:rPr lang="en-US" sz="1200" dirty="0">
                <a:solidFill>
                  <a:schemeClr val="tx1"/>
                </a:solidFill>
              </a:rPr>
              <a:t>Laboratorio que mide el hierro de cada lote</a:t>
            </a:r>
            <a:endParaRPr lang="en-US" sz="1200" dirty="0"/>
          </a:p>
          <a:p>
            <a:pPr marL="114300" indent="-114300">
              <a:spcAft>
                <a:spcPts val="300"/>
              </a:spcAft>
              <a:buSzPct val="100000"/>
              <a:buChar char="•"/>
            </a:pPr>
            <a:r>
              <a:rPr lang="en-US" sz="1200" dirty="0">
                <a:solidFill>
                  <a:schemeClr val="tx1"/>
                </a:solidFill>
              </a:rPr>
              <a:t>Proveedor de sangrecita en polvo con registro sanitario</a:t>
            </a:r>
            <a:endParaRPr lang="en-US" sz="1200" dirty="0"/>
          </a:p>
          <a:p>
            <a:pPr marL="114300" indent="-114300">
              <a:spcAft>
                <a:spcPts val="300"/>
              </a:spcAft>
              <a:buSzPct val="100000"/>
              <a:buChar char="•"/>
            </a:pPr>
            <a:r>
              <a:rPr lang="en-US" sz="1200" dirty="0">
                <a:solidFill>
                  <a:schemeClr val="tx1"/>
                </a:solidFill>
              </a:rPr>
              <a:t>Malls y súper para A y para B</a:t>
            </a:r>
            <a:endParaRPr lang="en-US" sz="1200" dirty="0"/>
          </a:p>
          <a:p>
            <a:pPr marL="114300" indent="-114300">
              <a:spcAft>
                <a:spcPts val="300"/>
              </a:spcAft>
              <a:buSzPct val="100000"/>
              <a:buChar char="•"/>
            </a:pPr>
            <a:r>
              <a:rPr lang="en-US" sz="1200" dirty="0">
                <a:solidFill>
                  <a:schemeClr val="tx1"/>
                </a:solidFill>
              </a:rPr>
              <a:t>Pediatras y nutricionista que nos recomiendan</a:t>
            </a:r>
            <a:endParaRPr lang="en-US" sz="1200" dirty="0"/>
          </a:p>
        </p:txBody>
      </p:sp>
      <p:sp>
        <p:nvSpPr>
          <p:cNvPr id="8" name="Shape 5"/>
          <p:cNvSpPr/>
          <p:nvPr/>
        </p:nvSpPr>
        <p:spPr>
          <a:xfrm>
            <a:off x="2781605" y="1389888"/>
            <a:ext cx="2159813" cy="1618488"/>
          </a:xfrm>
          <a:prstGeom prst="roundRect">
            <a:avLst>
              <a:gd name="adj" fmla="val 452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pic>
        <p:nvPicPr>
          <p:cNvPr id="9" name="Image 1" descr="preencoded.png">    </p:cNvPr>
          <p:cNvPicPr>
            <a:picLocks noChangeAspect="1"/>
          </p:cNvPicPr>
          <p:nvPr/>
        </p:nvPicPr>
        <p:blipFill>
          <a:blip r:embed="rId2"/>
          <a:stretch>
            <a:fillRect/>
          </a:stretch>
        </p:blipFill>
        <p:spPr>
          <a:xfrm>
            <a:off x="2891333" y="1490472"/>
            <a:ext cx="237744" cy="237744"/>
          </a:xfrm>
          <a:prstGeom prst="rect">
            <a:avLst/>
          </a:prstGeom>
        </p:spPr>
      </p:pic>
      <p:sp>
        <p:nvSpPr>
          <p:cNvPr id="10" name="Text 6"/>
          <p:cNvSpPr txBox="1"/>
          <p:nvPr/>
        </p:nvSpPr>
        <p:spPr>
          <a:xfrm>
            <a:off x="3202229" y="1463040"/>
            <a:ext cx="1684325" cy="292608"/>
          </a:xfrm>
          <a:prstGeom prst="rect">
            <a:avLst/>
          </a:prstGeom>
          <a:noFill/>
          <a:ln/>
        </p:spPr>
        <p:txBody>
          <a:bodyPr wrap="square" lIns="0" tIns="0" rIns="0" bIns="0" rtlCol="0" anchor="ctr"/>
          <a:lstStyle/>
          <a:p>
            <a:pPr indent="0" marL="0">
              <a:buNone/>
            </a:pPr>
            <a:r>
              <a:rPr lang="en-US" sz="1100" b="1" spc="100" kern="0" dirty="0">
                <a:solidFill>
                  <a:schemeClr val="tx2"/>
                </a:solidFill>
              </a:rPr>
              <a:t>ACTIVIDADES CLAVE</a:t>
            </a:r>
            <a:endParaRPr lang="en-US" sz="1100" dirty="0"/>
          </a:p>
        </p:txBody>
      </p:sp>
      <p:sp>
        <p:nvSpPr>
          <p:cNvPr id="11" name="Text 7"/>
          <p:cNvSpPr txBox="1"/>
          <p:nvPr/>
        </p:nvSpPr>
        <p:spPr>
          <a:xfrm>
            <a:off x="2873045" y="1792224"/>
            <a:ext cx="1995221" cy="1161288"/>
          </a:xfrm>
          <a:prstGeom prst="rect">
            <a:avLst/>
          </a:prstGeom>
          <a:noFill/>
          <a:ln/>
        </p:spPr>
        <p:txBody>
          <a:bodyPr wrap="square" lIns="0" tIns="0" rIns="0" bIns="0" rtlCol="0" anchor="t"/>
          <a:lstStyle/>
          <a:p>
            <a:pPr marL="114300" indent="-114300">
              <a:spcAft>
                <a:spcPts val="300"/>
              </a:spcAft>
              <a:buSzPct val="100000"/>
              <a:buChar char="•"/>
            </a:pPr>
            <a:r>
              <a:rPr lang="en-US" sz="1200" dirty="0">
                <a:solidFill>
                  <a:schemeClr val="tx1"/>
                </a:solidFill>
              </a:rPr>
              <a:t>Fabricar sin planta propia</a:t>
            </a:r>
            <a:endParaRPr lang="en-US" sz="1200" dirty="0"/>
          </a:p>
          <a:p>
            <a:pPr marL="114300" indent="-114300">
              <a:spcAft>
                <a:spcPts val="300"/>
              </a:spcAft>
              <a:buSzPct val="100000"/>
              <a:buChar char="•"/>
            </a:pPr>
            <a:r>
              <a:rPr lang="en-US" sz="1200" dirty="0">
                <a:solidFill>
                  <a:schemeClr val="tx1"/>
                </a:solidFill>
              </a:rPr>
              <a:t>Medir y publicar el hierro</a:t>
            </a:r>
            <a:endParaRPr lang="en-US" sz="1200" dirty="0"/>
          </a:p>
          <a:p>
            <a:pPr marL="114300" indent="-114300">
              <a:spcAft>
                <a:spcPts val="300"/>
              </a:spcAft>
              <a:buSzPct val="100000"/>
              <a:buChar char="•"/>
            </a:pPr>
            <a:r>
              <a:rPr lang="en-US" sz="1200" dirty="0">
                <a:solidFill>
                  <a:schemeClr val="tx1"/>
                </a:solidFill>
              </a:rPr>
              <a:t>Vender en stands y ferias</a:t>
            </a:r>
            <a:endParaRPr lang="en-US" sz="1200" dirty="0"/>
          </a:p>
          <a:p>
            <a:pPr marL="114300" indent="-114300">
              <a:spcAft>
                <a:spcPts val="300"/>
              </a:spcAft>
              <a:buSzPct val="100000"/>
              <a:buChar char="•"/>
            </a:pPr>
            <a:r>
              <a:rPr lang="en-US" sz="1200" dirty="0">
                <a:solidFill>
                  <a:schemeClr val="tx1"/>
                </a:solidFill>
              </a:rPr>
              <a:t>Recompra con la app</a:t>
            </a:r>
            <a:endParaRPr lang="en-US" sz="1200" dirty="0"/>
          </a:p>
        </p:txBody>
      </p:sp>
      <p:sp>
        <p:nvSpPr>
          <p:cNvPr id="12" name="Shape 8"/>
          <p:cNvSpPr/>
          <p:nvPr/>
        </p:nvSpPr>
        <p:spPr>
          <a:xfrm>
            <a:off x="2781605" y="3081528"/>
            <a:ext cx="2159813" cy="1618488"/>
          </a:xfrm>
          <a:prstGeom prst="roundRect">
            <a:avLst>
              <a:gd name="adj" fmla="val 452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pic>
        <p:nvPicPr>
          <p:cNvPr id="13" name="Image 2" descr="preencoded.png">    </p:cNvPr>
          <p:cNvPicPr>
            <a:picLocks noChangeAspect="1"/>
          </p:cNvPicPr>
          <p:nvPr/>
        </p:nvPicPr>
        <p:blipFill>
          <a:blip r:embed="rId3"/>
          <a:stretch>
            <a:fillRect/>
          </a:stretch>
        </p:blipFill>
        <p:spPr>
          <a:xfrm>
            <a:off x="2891333" y="3182112"/>
            <a:ext cx="237744" cy="237744"/>
          </a:xfrm>
          <a:prstGeom prst="rect">
            <a:avLst/>
          </a:prstGeom>
        </p:spPr>
      </p:pic>
      <p:sp>
        <p:nvSpPr>
          <p:cNvPr id="14" name="Text 9"/>
          <p:cNvSpPr txBox="1"/>
          <p:nvPr/>
        </p:nvSpPr>
        <p:spPr>
          <a:xfrm>
            <a:off x="3202229" y="3154680"/>
            <a:ext cx="1684325" cy="292608"/>
          </a:xfrm>
          <a:prstGeom prst="rect">
            <a:avLst/>
          </a:prstGeom>
          <a:noFill/>
          <a:ln/>
        </p:spPr>
        <p:txBody>
          <a:bodyPr wrap="square" lIns="0" tIns="0" rIns="0" bIns="0" rtlCol="0" anchor="ctr"/>
          <a:lstStyle/>
          <a:p>
            <a:pPr indent="0" marL="0">
              <a:buNone/>
            </a:pPr>
            <a:r>
              <a:rPr lang="en-US" sz="1100" b="1" spc="100" kern="0" dirty="0">
                <a:solidFill>
                  <a:schemeClr val="tx2"/>
                </a:solidFill>
              </a:rPr>
              <a:t>RECURSOS CLAVE</a:t>
            </a:r>
            <a:endParaRPr lang="en-US" sz="1100" dirty="0"/>
          </a:p>
        </p:txBody>
      </p:sp>
      <p:sp>
        <p:nvSpPr>
          <p:cNvPr id="15" name="Text 10"/>
          <p:cNvSpPr txBox="1"/>
          <p:nvPr/>
        </p:nvSpPr>
        <p:spPr>
          <a:xfrm>
            <a:off x="2873045" y="3483864"/>
            <a:ext cx="1995221" cy="1161288"/>
          </a:xfrm>
          <a:prstGeom prst="rect">
            <a:avLst/>
          </a:prstGeom>
          <a:noFill/>
          <a:ln/>
        </p:spPr>
        <p:txBody>
          <a:bodyPr wrap="square" lIns="0" tIns="0" rIns="0" bIns="0" rtlCol="0" anchor="t"/>
          <a:lstStyle/>
          <a:p>
            <a:pPr marL="114300" indent="-114300">
              <a:spcAft>
                <a:spcPts val="300"/>
              </a:spcAft>
              <a:buSzPct val="100000"/>
              <a:buChar char="•"/>
            </a:pPr>
            <a:r>
              <a:rPr lang="en-US" sz="1200" dirty="0">
                <a:solidFill>
                  <a:schemeClr val="tx1"/>
                </a:solidFill>
              </a:rPr>
              <a:t>Receta que esconde la sangrecita</a:t>
            </a:r>
            <a:endParaRPr lang="en-US" sz="1200" dirty="0"/>
          </a:p>
          <a:p>
            <a:pPr marL="114300" indent="-114300">
              <a:spcAft>
                <a:spcPts val="300"/>
              </a:spcAft>
              <a:buSzPct val="100000"/>
              <a:buChar char="•"/>
            </a:pPr>
            <a:r>
              <a:rPr lang="en-US" sz="1200" dirty="0">
                <a:solidFill>
                  <a:schemeClr val="tx1"/>
                </a:solidFill>
              </a:rPr>
              <a:t>Marca y registro sanitario</a:t>
            </a:r>
            <a:endParaRPr lang="en-US" sz="1200" dirty="0"/>
          </a:p>
          <a:p>
            <a:pPr marL="114300" indent="-114300">
              <a:spcAft>
                <a:spcPts val="300"/>
              </a:spcAft>
              <a:buSzPct val="100000"/>
              <a:buChar char="•"/>
            </a:pPr>
            <a:r>
              <a:rPr lang="en-US" sz="1200" dirty="0">
                <a:solidFill>
                  <a:schemeClr val="tx1"/>
                </a:solidFill>
              </a:rPr>
              <a:t>App y datos de cada familia</a:t>
            </a:r>
            <a:endParaRPr lang="en-US" sz="1200" dirty="0"/>
          </a:p>
          <a:p>
            <a:pPr marL="114300" indent="-114300">
              <a:spcAft>
                <a:spcPts val="300"/>
              </a:spcAft>
              <a:buSzPct val="100000"/>
              <a:buChar char="•"/>
            </a:pPr>
            <a:r>
              <a:rPr lang="en-US" sz="1200" dirty="0">
                <a:solidFill>
                  <a:schemeClr val="tx1"/>
                </a:solidFill>
              </a:rPr>
              <a:t>Equipo de venta pagado</a:t>
            </a:r>
            <a:endParaRPr lang="en-US" sz="1200" dirty="0"/>
          </a:p>
        </p:txBody>
      </p:sp>
      <p:sp>
        <p:nvSpPr>
          <p:cNvPr id="16" name="Shape 11"/>
          <p:cNvSpPr/>
          <p:nvPr/>
        </p:nvSpPr>
        <p:spPr>
          <a:xfrm>
            <a:off x="5014570" y="1389888"/>
            <a:ext cx="2159813" cy="3310128"/>
          </a:xfrm>
          <a:prstGeom prst="roundRect">
            <a:avLst>
              <a:gd name="adj" fmla="val 3387"/>
            </a:avLst>
          </a:prstGeom>
          <a:solidFill>
            <a:schemeClr val="accent1"/>
          </a:solidFill>
          <a:ln w="12700">
            <a:solidFill>
              <a:schemeClr val="accent1"/>
            </a:solidFill>
            <a:prstDash val="solid"/>
          </a:ln>
          <a:effectLst>
            <a:outerShdw sx="100000" sy="100000" kx="0" ky="0" algn="bl" rotWithShape="0" blurRad="101600" dist="25400" dir="5400000">
              <a:srgbClr val="7A4A30">
                <a:alpha val="14000"/>
              </a:srgbClr>
            </a:outerShdw>
          </a:effectLst>
        </p:spPr>
      </p:sp>
      <p:pic>
        <p:nvPicPr>
          <p:cNvPr id="17" name="Image 3" descr="preencoded.png">    </p:cNvPr>
          <p:cNvPicPr>
            <a:picLocks noChangeAspect="1"/>
          </p:cNvPicPr>
          <p:nvPr/>
        </p:nvPicPr>
        <p:blipFill>
          <a:blip r:embed="rId4"/>
          <a:stretch>
            <a:fillRect/>
          </a:stretch>
        </p:blipFill>
        <p:spPr>
          <a:xfrm>
            <a:off x="5124298" y="1490472"/>
            <a:ext cx="237744" cy="237744"/>
          </a:xfrm>
          <a:prstGeom prst="rect">
            <a:avLst/>
          </a:prstGeom>
        </p:spPr>
      </p:pic>
      <p:sp>
        <p:nvSpPr>
          <p:cNvPr id="18" name="Text 12"/>
          <p:cNvSpPr txBox="1"/>
          <p:nvPr/>
        </p:nvSpPr>
        <p:spPr>
          <a:xfrm>
            <a:off x="5435194" y="1463040"/>
            <a:ext cx="1684325" cy="292608"/>
          </a:xfrm>
          <a:prstGeom prst="rect">
            <a:avLst/>
          </a:prstGeom>
          <a:noFill/>
          <a:ln/>
        </p:spPr>
        <p:txBody>
          <a:bodyPr wrap="square" lIns="0" tIns="0" rIns="0" bIns="0" rtlCol="0" anchor="ctr"/>
          <a:lstStyle/>
          <a:p>
            <a:pPr indent="0" marL="0">
              <a:buNone/>
            </a:pPr>
            <a:r>
              <a:rPr lang="en-US" sz="1100" b="1" spc="100" kern="0" dirty="0">
                <a:solidFill>
                  <a:schemeClr val="bg1"/>
                </a:solidFill>
              </a:rPr>
              <a:t>PROPUESTA DE VALOR</a:t>
            </a:r>
            <a:endParaRPr lang="en-US" sz="1100" dirty="0"/>
          </a:p>
        </p:txBody>
      </p:sp>
      <p:sp>
        <p:nvSpPr>
          <p:cNvPr id="19" name="Text 13"/>
          <p:cNvSpPr txBox="1"/>
          <p:nvPr/>
        </p:nvSpPr>
        <p:spPr>
          <a:xfrm>
            <a:off x="5106010" y="1792224"/>
            <a:ext cx="1995221" cy="2852928"/>
          </a:xfrm>
          <a:prstGeom prst="rect">
            <a:avLst/>
          </a:prstGeom>
          <a:noFill/>
          <a:ln/>
        </p:spPr>
        <p:txBody>
          <a:bodyPr wrap="square" lIns="0" tIns="0" rIns="0" bIns="0" rtlCol="0" anchor="t"/>
          <a:lstStyle/>
          <a:p>
            <a:pPr marL="114300" indent="-114300">
              <a:spcAft>
                <a:spcPts val="300"/>
              </a:spcAft>
              <a:buSzPct val="100000"/>
              <a:buChar char="•"/>
            </a:pPr>
            <a:r>
              <a:rPr lang="en-US" sz="1200" b="1" dirty="0">
                <a:solidFill>
                  <a:schemeClr val="bg1"/>
                </a:solidFill>
              </a:rPr>
              <a:t>El snack de lonchera con hierro que el niño sí se come</a:t>
            </a:r>
            <a:endParaRPr lang="en-US" sz="1200" dirty="0"/>
          </a:p>
          <a:p>
            <a:pPr marL="114300" indent="-114300">
              <a:spcAft>
                <a:spcPts val="300"/>
              </a:spcAft>
              <a:buSzPct val="100000"/>
              <a:buChar char="•"/>
            </a:pPr>
            <a:r>
              <a:rPr lang="en-US" sz="1200" dirty="0">
                <a:solidFill>
                  <a:schemeClr val="bg1"/>
                </a:solidFill>
              </a:rPr>
              <a:t>Hierro medido en cada lote, visible en la app</a:t>
            </a:r>
            <a:endParaRPr lang="en-US" sz="1200" dirty="0"/>
          </a:p>
          <a:p>
            <a:pPr marL="114300" indent="-114300">
              <a:spcAft>
                <a:spcPts val="300"/>
              </a:spcAft>
              <a:buSzPct val="100000"/>
              <a:buChar char="•"/>
            </a:pPr>
            <a:r>
              <a:rPr lang="en-US" sz="1200" dirty="0">
                <a:solidFill>
                  <a:schemeClr val="bg1"/>
                </a:solidFill>
              </a:rPr>
              <a:t>Sabor a brownie, sin octógono</a:t>
            </a:r>
            <a:endParaRPr lang="en-US" sz="1200" dirty="0"/>
          </a:p>
          <a:p>
            <a:pPr marL="114300" indent="-114300">
              <a:spcAft>
                <a:spcPts val="300"/>
              </a:spcAft>
              <a:buSzPct val="100000"/>
              <a:buChar char="•"/>
            </a:pPr>
            <a:r>
              <a:rPr lang="en-US" sz="1200" dirty="0">
                <a:solidFill>
                  <a:schemeClr val="bg1"/>
                </a:solidFill>
              </a:rPr>
              <a:t>App para padres y juego para niños</a:t>
            </a:r>
            <a:endParaRPr lang="en-US" sz="1200" dirty="0"/>
          </a:p>
          <a:p>
            <a:pPr marL="114300" indent="-114300">
              <a:spcAft>
                <a:spcPts val="300"/>
              </a:spcAft>
              <a:buSzPct val="100000"/>
              <a:buChar char="•"/>
            </a:pPr>
            <a:r>
              <a:rPr lang="en-US" sz="1200" dirty="0">
                <a:solidFill>
                  <a:schemeClr val="bg1"/>
                </a:solidFill>
              </a:rPr>
              <a:t>Se prueba gratis antes de comprar</a:t>
            </a:r>
            <a:endParaRPr lang="en-US" sz="1200" dirty="0"/>
          </a:p>
        </p:txBody>
      </p:sp>
      <p:sp>
        <p:nvSpPr>
          <p:cNvPr id="20" name="Shape 14"/>
          <p:cNvSpPr/>
          <p:nvPr/>
        </p:nvSpPr>
        <p:spPr>
          <a:xfrm>
            <a:off x="7247534" y="1389888"/>
            <a:ext cx="2159813" cy="1618488"/>
          </a:xfrm>
          <a:prstGeom prst="roundRect">
            <a:avLst>
              <a:gd name="adj" fmla="val 452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pic>
        <p:nvPicPr>
          <p:cNvPr id="21" name="Image 4" descr="preencoded.png">    </p:cNvPr>
          <p:cNvPicPr>
            <a:picLocks noChangeAspect="1"/>
          </p:cNvPicPr>
          <p:nvPr/>
        </p:nvPicPr>
        <p:blipFill>
          <a:blip r:embed="rId5"/>
          <a:stretch>
            <a:fillRect/>
          </a:stretch>
        </p:blipFill>
        <p:spPr>
          <a:xfrm>
            <a:off x="7357262" y="1490472"/>
            <a:ext cx="237744" cy="237744"/>
          </a:xfrm>
          <a:prstGeom prst="rect">
            <a:avLst/>
          </a:prstGeom>
        </p:spPr>
      </p:pic>
      <p:sp>
        <p:nvSpPr>
          <p:cNvPr id="22" name="Text 15"/>
          <p:cNvSpPr txBox="1"/>
          <p:nvPr/>
        </p:nvSpPr>
        <p:spPr>
          <a:xfrm>
            <a:off x="7668158" y="1463040"/>
            <a:ext cx="1684325" cy="292608"/>
          </a:xfrm>
          <a:prstGeom prst="rect">
            <a:avLst/>
          </a:prstGeom>
          <a:noFill/>
          <a:ln/>
        </p:spPr>
        <p:txBody>
          <a:bodyPr wrap="square" lIns="0" tIns="0" rIns="0" bIns="0" rtlCol="0" anchor="ctr"/>
          <a:lstStyle/>
          <a:p>
            <a:pPr indent="0" marL="0">
              <a:buNone/>
            </a:pPr>
            <a:r>
              <a:rPr lang="en-US" sz="1100" b="1" spc="100" kern="0" dirty="0">
                <a:solidFill>
                  <a:schemeClr val="tx2"/>
                </a:solidFill>
              </a:rPr>
              <a:t>RELACIÓN CON CLIENTES</a:t>
            </a:r>
            <a:endParaRPr lang="en-US" sz="1100" dirty="0"/>
          </a:p>
        </p:txBody>
      </p:sp>
      <p:sp>
        <p:nvSpPr>
          <p:cNvPr id="23" name="Text 16"/>
          <p:cNvSpPr txBox="1"/>
          <p:nvPr/>
        </p:nvSpPr>
        <p:spPr>
          <a:xfrm>
            <a:off x="7338974" y="1792224"/>
            <a:ext cx="1995221" cy="1161288"/>
          </a:xfrm>
          <a:prstGeom prst="rect">
            <a:avLst/>
          </a:prstGeom>
          <a:noFill/>
          <a:ln/>
        </p:spPr>
        <p:txBody>
          <a:bodyPr wrap="square" lIns="0" tIns="0" rIns="0" bIns="0" rtlCol="0" anchor="t"/>
          <a:lstStyle/>
          <a:p>
            <a:pPr marL="114300" indent="-114300">
              <a:spcAft>
                <a:spcPts val="300"/>
              </a:spcAft>
              <a:buSzPct val="100000"/>
              <a:buChar char="•"/>
            </a:pPr>
            <a:r>
              <a:rPr lang="en-US" sz="1200" dirty="0">
                <a:solidFill>
                  <a:schemeClr val="tx1"/>
                </a:solidFill>
              </a:rPr>
              <a:t>Degustación cara a cara</a:t>
            </a:r>
            <a:endParaRPr lang="en-US" sz="1200" dirty="0"/>
          </a:p>
          <a:p>
            <a:pPr marL="114300" indent="-114300">
              <a:spcAft>
                <a:spcPts val="300"/>
              </a:spcAft>
              <a:buSzPct val="100000"/>
              <a:buChar char="•"/>
            </a:pPr>
            <a:r>
              <a:rPr lang="en-US" sz="1200" dirty="0">
                <a:solidFill>
                  <a:schemeClr val="tx1"/>
                </a:solidFill>
              </a:rPr>
              <a:t>La app avisa cuándo recomprar</a:t>
            </a:r>
            <a:endParaRPr lang="en-US" sz="1200" dirty="0"/>
          </a:p>
          <a:p>
            <a:pPr marL="114300" indent="-114300">
              <a:spcAft>
                <a:spcPts val="300"/>
              </a:spcAft>
              <a:buSzPct val="100000"/>
              <a:buChar char="•"/>
            </a:pPr>
            <a:r>
              <a:rPr lang="en-US" sz="1200" dirty="0">
                <a:solidFill>
                  <a:schemeClr val="tx1"/>
                </a:solidFill>
              </a:rPr>
              <a:t>Mamás embajadoras por salón</a:t>
            </a:r>
            <a:endParaRPr lang="en-US" sz="1200" dirty="0"/>
          </a:p>
        </p:txBody>
      </p:sp>
      <p:sp>
        <p:nvSpPr>
          <p:cNvPr id="24" name="Shape 17"/>
          <p:cNvSpPr/>
          <p:nvPr/>
        </p:nvSpPr>
        <p:spPr>
          <a:xfrm>
            <a:off x="7247534" y="3081528"/>
            <a:ext cx="2159813" cy="1618488"/>
          </a:xfrm>
          <a:prstGeom prst="roundRect">
            <a:avLst>
              <a:gd name="adj" fmla="val 452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pic>
        <p:nvPicPr>
          <p:cNvPr id="25" name="Image 5" descr="preencoded.png">    </p:cNvPr>
          <p:cNvPicPr>
            <a:picLocks noChangeAspect="1"/>
          </p:cNvPicPr>
          <p:nvPr/>
        </p:nvPicPr>
        <p:blipFill>
          <a:blip r:embed="rId6"/>
          <a:stretch>
            <a:fillRect/>
          </a:stretch>
        </p:blipFill>
        <p:spPr>
          <a:xfrm>
            <a:off x="7357262" y="3182112"/>
            <a:ext cx="237744" cy="237744"/>
          </a:xfrm>
          <a:prstGeom prst="rect">
            <a:avLst/>
          </a:prstGeom>
        </p:spPr>
      </p:pic>
      <p:sp>
        <p:nvSpPr>
          <p:cNvPr id="26" name="Text 18"/>
          <p:cNvSpPr txBox="1"/>
          <p:nvPr/>
        </p:nvSpPr>
        <p:spPr>
          <a:xfrm>
            <a:off x="7668158" y="3154680"/>
            <a:ext cx="1684325" cy="292608"/>
          </a:xfrm>
          <a:prstGeom prst="rect">
            <a:avLst/>
          </a:prstGeom>
          <a:noFill/>
          <a:ln/>
        </p:spPr>
        <p:txBody>
          <a:bodyPr wrap="square" lIns="0" tIns="0" rIns="0" bIns="0" rtlCol="0" anchor="ctr"/>
          <a:lstStyle/>
          <a:p>
            <a:pPr indent="0" marL="0">
              <a:buNone/>
            </a:pPr>
            <a:r>
              <a:rPr lang="en-US" sz="1100" b="1" spc="100" kern="0" dirty="0">
                <a:solidFill>
                  <a:schemeClr val="tx2"/>
                </a:solidFill>
              </a:rPr>
              <a:t>CANALES</a:t>
            </a:r>
            <a:endParaRPr lang="en-US" sz="1100" dirty="0"/>
          </a:p>
        </p:txBody>
      </p:sp>
      <p:sp>
        <p:nvSpPr>
          <p:cNvPr id="27" name="Text 19"/>
          <p:cNvSpPr txBox="1"/>
          <p:nvPr/>
        </p:nvSpPr>
        <p:spPr>
          <a:xfrm>
            <a:off x="7338974" y="3483864"/>
            <a:ext cx="1995221" cy="1161288"/>
          </a:xfrm>
          <a:prstGeom prst="rect">
            <a:avLst/>
          </a:prstGeom>
          <a:noFill/>
          <a:ln/>
        </p:spPr>
        <p:txBody>
          <a:bodyPr wrap="square" lIns="0" tIns="0" rIns="0" bIns="0" rtlCol="0" anchor="t"/>
          <a:lstStyle/>
          <a:p>
            <a:pPr marL="114300" indent="-114300">
              <a:spcAft>
                <a:spcPts val="300"/>
              </a:spcAft>
              <a:buSzPct val="100000"/>
              <a:buChar char="•"/>
            </a:pPr>
            <a:r>
              <a:rPr lang="en-US" sz="1200" dirty="0">
                <a:solidFill>
                  <a:schemeClr val="tx1"/>
                </a:solidFill>
              </a:rPr>
              <a:t>Stands y carrito 43 %</a:t>
            </a:r>
            <a:endParaRPr lang="en-US" sz="1200" dirty="0"/>
          </a:p>
          <a:p>
            <a:pPr marL="114300" indent="-114300">
              <a:spcAft>
                <a:spcPts val="300"/>
              </a:spcAft>
              <a:buSzPct val="100000"/>
              <a:buChar char="•"/>
            </a:pPr>
            <a:r>
              <a:rPr lang="en-US" sz="1200" dirty="0">
                <a:solidFill>
                  <a:schemeClr val="tx1"/>
                </a:solidFill>
              </a:rPr>
              <a:t>WhatsApp 18 % · ferias 14 %</a:t>
            </a:r>
            <a:endParaRPr lang="en-US" sz="1200" dirty="0"/>
          </a:p>
          <a:p>
            <a:pPr marL="114300" indent="-114300">
              <a:spcAft>
                <a:spcPts val="300"/>
              </a:spcAft>
              <a:buSzPct val="100000"/>
              <a:buChar char="•"/>
            </a:pPr>
            <a:r>
              <a:rPr lang="en-US" sz="1200" dirty="0">
                <a:solidFill>
                  <a:schemeClr val="tx1"/>
                </a:solidFill>
              </a:rPr>
              <a:t>Colegios y naturistas 25 %</a:t>
            </a:r>
            <a:endParaRPr lang="en-US" sz="1200" dirty="0"/>
          </a:p>
        </p:txBody>
      </p:sp>
      <p:sp>
        <p:nvSpPr>
          <p:cNvPr id="28" name="Shape 20"/>
          <p:cNvSpPr/>
          <p:nvPr/>
        </p:nvSpPr>
        <p:spPr>
          <a:xfrm>
            <a:off x="9480499" y="1389888"/>
            <a:ext cx="2159813" cy="3310128"/>
          </a:xfrm>
          <a:prstGeom prst="roundRect">
            <a:avLst>
              <a:gd name="adj" fmla="val 3387"/>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pic>
        <p:nvPicPr>
          <p:cNvPr id="29" name="Image 6" descr="preencoded.png">    </p:cNvPr>
          <p:cNvPicPr>
            <a:picLocks noChangeAspect="1"/>
          </p:cNvPicPr>
          <p:nvPr/>
        </p:nvPicPr>
        <p:blipFill>
          <a:blip r:embed="rId7"/>
          <a:stretch>
            <a:fillRect/>
          </a:stretch>
        </p:blipFill>
        <p:spPr>
          <a:xfrm>
            <a:off x="9590227" y="1490472"/>
            <a:ext cx="237744" cy="237744"/>
          </a:xfrm>
          <a:prstGeom prst="rect">
            <a:avLst/>
          </a:prstGeom>
        </p:spPr>
      </p:pic>
      <p:sp>
        <p:nvSpPr>
          <p:cNvPr id="30" name="Text 21"/>
          <p:cNvSpPr txBox="1"/>
          <p:nvPr/>
        </p:nvSpPr>
        <p:spPr>
          <a:xfrm>
            <a:off x="9901123" y="1463040"/>
            <a:ext cx="1684325" cy="292608"/>
          </a:xfrm>
          <a:prstGeom prst="rect">
            <a:avLst/>
          </a:prstGeom>
          <a:noFill/>
          <a:ln/>
        </p:spPr>
        <p:txBody>
          <a:bodyPr wrap="square" lIns="0" tIns="0" rIns="0" bIns="0" rtlCol="0" anchor="ctr"/>
          <a:lstStyle/>
          <a:p>
            <a:pPr indent="0" marL="0">
              <a:buNone/>
            </a:pPr>
            <a:r>
              <a:rPr lang="en-US" sz="1100" b="1" spc="100" kern="0" dirty="0">
                <a:solidFill>
                  <a:schemeClr val="tx2"/>
                </a:solidFill>
              </a:rPr>
              <a:t>SEGMENTOS</a:t>
            </a:r>
            <a:endParaRPr lang="en-US" sz="1100" dirty="0"/>
          </a:p>
        </p:txBody>
      </p:sp>
      <p:sp>
        <p:nvSpPr>
          <p:cNvPr id="31" name="Text 22"/>
          <p:cNvSpPr txBox="1"/>
          <p:nvPr/>
        </p:nvSpPr>
        <p:spPr>
          <a:xfrm>
            <a:off x="9571939" y="1792224"/>
            <a:ext cx="1995221" cy="2852928"/>
          </a:xfrm>
          <a:prstGeom prst="rect">
            <a:avLst/>
          </a:prstGeom>
          <a:noFill/>
          <a:ln/>
        </p:spPr>
        <p:txBody>
          <a:bodyPr wrap="square" lIns="0" tIns="0" rIns="0" bIns="0" rtlCol="0" anchor="t"/>
          <a:lstStyle/>
          <a:p>
            <a:pPr marL="114300" indent="-114300">
              <a:spcAft>
                <a:spcPts val="300"/>
              </a:spcAft>
              <a:buSzPct val="100000"/>
              <a:buChar char="•"/>
            </a:pPr>
            <a:r>
              <a:rPr lang="en-US" sz="1200" dirty="0">
                <a:solidFill>
                  <a:schemeClr val="tx1"/>
                </a:solidFill>
              </a:rPr>
              <a:t>Padres A y B de 32 a 45 que leen etiquetas (7 de cada 10, B)</a:t>
            </a:r>
            <a:endParaRPr lang="en-US" sz="1200" dirty="0"/>
          </a:p>
          <a:p>
            <a:pPr marL="114300" indent="-114300">
              <a:spcAft>
                <a:spcPts val="300"/>
              </a:spcAft>
              <a:buSzPct val="100000"/>
              <a:buChar char="•"/>
            </a:pPr>
            <a:r>
              <a:rPr lang="en-US" sz="1200" dirty="0">
                <a:solidFill>
                  <a:schemeClr val="tx1"/>
                </a:solidFill>
              </a:rPr>
              <a:t>Hijos de 4 a 11 en colegio privado</a:t>
            </a:r>
            <a:endParaRPr lang="en-US" sz="1200" dirty="0"/>
          </a:p>
          <a:p>
            <a:pPr marL="114300" indent="-114300">
              <a:spcAft>
                <a:spcPts val="300"/>
              </a:spcAft>
              <a:buSzPct val="100000"/>
              <a:buChar char="•"/>
            </a:pPr>
            <a:r>
              <a:rPr lang="en-US" sz="1200" dirty="0">
                <a:solidFill>
                  <a:schemeClr val="tx1"/>
                </a:solidFill>
              </a:rPr>
              <a:t>46,000 hogares en Lima Top y Moderna</a:t>
            </a:r>
            <a:endParaRPr lang="en-US" sz="1200" dirty="0"/>
          </a:p>
          <a:p>
            <a:pPr marL="114300" indent="-114300">
              <a:spcAft>
                <a:spcPts val="300"/>
              </a:spcAft>
              <a:buSzPct val="100000"/>
              <a:buChar char="•"/>
            </a:pPr>
            <a:r>
              <a:rPr lang="en-US" sz="1200" dirty="0">
                <a:solidFill>
                  <a:schemeClr val="tx1"/>
                </a:solidFill>
              </a:rPr>
              <a:t>Colegios y tiendas naturistas</a:t>
            </a:r>
            <a:endParaRPr lang="en-US" sz="1200" dirty="0"/>
          </a:p>
        </p:txBody>
      </p:sp>
      <p:sp>
        <p:nvSpPr>
          <p:cNvPr id="32" name="Shape 23"/>
          <p:cNvSpPr/>
          <p:nvPr/>
        </p:nvSpPr>
        <p:spPr>
          <a:xfrm>
            <a:off x="548640" y="4773168"/>
            <a:ext cx="5545836" cy="1115568"/>
          </a:xfrm>
          <a:prstGeom prst="roundRect">
            <a:avLst>
              <a:gd name="adj" fmla="val 6557"/>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pic>
        <p:nvPicPr>
          <p:cNvPr id="33" name="Image 7" descr="preencoded.png">    </p:cNvPr>
          <p:cNvPicPr>
            <a:picLocks noChangeAspect="1"/>
          </p:cNvPicPr>
          <p:nvPr/>
        </p:nvPicPr>
        <p:blipFill>
          <a:blip r:embed="rId8"/>
          <a:stretch>
            <a:fillRect/>
          </a:stretch>
        </p:blipFill>
        <p:spPr>
          <a:xfrm>
            <a:off x="658368" y="4873752"/>
            <a:ext cx="237744" cy="237744"/>
          </a:xfrm>
          <a:prstGeom prst="rect">
            <a:avLst/>
          </a:prstGeom>
        </p:spPr>
      </p:pic>
      <p:sp>
        <p:nvSpPr>
          <p:cNvPr id="34" name="Text 24"/>
          <p:cNvSpPr txBox="1"/>
          <p:nvPr/>
        </p:nvSpPr>
        <p:spPr>
          <a:xfrm>
            <a:off x="969264" y="4846320"/>
            <a:ext cx="5070348" cy="292608"/>
          </a:xfrm>
          <a:prstGeom prst="rect">
            <a:avLst/>
          </a:prstGeom>
          <a:noFill/>
          <a:ln/>
        </p:spPr>
        <p:txBody>
          <a:bodyPr wrap="square" lIns="0" tIns="0" rIns="0" bIns="0" rtlCol="0" anchor="ctr"/>
          <a:lstStyle/>
          <a:p>
            <a:pPr indent="0" marL="0">
              <a:buNone/>
            </a:pPr>
            <a:r>
              <a:rPr lang="en-US" sz="1100" b="1" spc="100" kern="0" dirty="0">
                <a:solidFill>
                  <a:schemeClr val="tx2"/>
                </a:solidFill>
              </a:rPr>
              <a:t>ESTRUCTURA DE COSTOS</a:t>
            </a:r>
            <a:endParaRPr lang="en-US" sz="1100" dirty="0"/>
          </a:p>
        </p:txBody>
      </p:sp>
      <p:sp>
        <p:nvSpPr>
          <p:cNvPr id="35" name="Text 25"/>
          <p:cNvSpPr txBox="1"/>
          <p:nvPr/>
        </p:nvSpPr>
        <p:spPr>
          <a:xfrm>
            <a:off x="640080" y="5175504"/>
            <a:ext cx="5381244" cy="658368"/>
          </a:xfrm>
          <a:prstGeom prst="rect">
            <a:avLst/>
          </a:prstGeom>
          <a:noFill/>
          <a:ln/>
        </p:spPr>
        <p:txBody>
          <a:bodyPr wrap="square" lIns="0" tIns="0" rIns="0" bIns="0" rtlCol="0" anchor="t"/>
          <a:lstStyle/>
          <a:p>
            <a:pPr marL="114300" indent="-114300">
              <a:spcAft>
                <a:spcPts val="300"/>
              </a:spcAft>
              <a:buSzPct val="100000"/>
              <a:buChar char="•"/>
            </a:pPr>
            <a:r>
              <a:rPr lang="en-US" sz="1150" dirty="0">
                <a:solidFill>
                  <a:schemeClr val="tx1"/>
                </a:solidFill>
              </a:rPr>
              <a:t>Producir S/1.64 por brownie, sin comprar planta</a:t>
            </a:r>
            <a:endParaRPr lang="en-US" sz="1150" dirty="0"/>
          </a:p>
          <a:p>
            <a:pPr marL="114300" indent="-114300">
              <a:spcAft>
                <a:spcPts val="300"/>
              </a:spcAft>
              <a:buSzPct val="100000"/>
              <a:buChar char="•"/>
            </a:pPr>
            <a:r>
              <a:rPr lang="en-US" sz="1150" dirty="0">
                <a:solidFill>
                  <a:schemeClr val="tx1"/>
                </a:solidFill>
              </a:rPr>
              <a:t>Stands, ferias y vendedores S/51,010 al año · fijos S/2,738 al mes</a:t>
            </a:r>
            <a:endParaRPr lang="en-US" sz="1150" dirty="0"/>
          </a:p>
          <a:p>
            <a:pPr marL="114300" indent="-114300">
              <a:spcAft>
                <a:spcPts val="300"/>
              </a:spcAft>
              <a:buSzPct val="100000"/>
              <a:buChar char="•"/>
            </a:pPr>
            <a:r>
              <a:rPr lang="en-US" sz="1150" dirty="0">
                <a:solidFill>
                  <a:schemeClr val="tx1"/>
                </a:solidFill>
              </a:rPr>
              <a:t>Equilibrio: 2,100 a 4,400 brownies al mes, según los puntos abiertos</a:t>
            </a:r>
            <a:endParaRPr lang="en-US" sz="1150" dirty="0"/>
          </a:p>
        </p:txBody>
      </p:sp>
      <p:sp>
        <p:nvSpPr>
          <p:cNvPr id="36" name="Shape 26"/>
          <p:cNvSpPr/>
          <p:nvPr/>
        </p:nvSpPr>
        <p:spPr>
          <a:xfrm>
            <a:off x="6167628" y="4773168"/>
            <a:ext cx="5472684" cy="1115568"/>
          </a:xfrm>
          <a:prstGeom prst="roundRect">
            <a:avLst>
              <a:gd name="adj" fmla="val 6557"/>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pic>
        <p:nvPicPr>
          <p:cNvPr id="37" name="Image 8" descr="preencoded.png">    </p:cNvPr>
          <p:cNvPicPr>
            <a:picLocks noChangeAspect="1"/>
          </p:cNvPicPr>
          <p:nvPr/>
        </p:nvPicPr>
        <p:blipFill>
          <a:blip r:embed="rId9"/>
          <a:stretch>
            <a:fillRect/>
          </a:stretch>
        </p:blipFill>
        <p:spPr>
          <a:xfrm>
            <a:off x="6277356" y="4873752"/>
            <a:ext cx="237744" cy="237744"/>
          </a:xfrm>
          <a:prstGeom prst="rect">
            <a:avLst/>
          </a:prstGeom>
        </p:spPr>
      </p:pic>
      <p:sp>
        <p:nvSpPr>
          <p:cNvPr id="38" name="Text 27"/>
          <p:cNvSpPr txBox="1"/>
          <p:nvPr/>
        </p:nvSpPr>
        <p:spPr>
          <a:xfrm>
            <a:off x="6588252" y="4846320"/>
            <a:ext cx="4997196" cy="292608"/>
          </a:xfrm>
          <a:prstGeom prst="rect">
            <a:avLst/>
          </a:prstGeom>
          <a:noFill/>
          <a:ln/>
        </p:spPr>
        <p:txBody>
          <a:bodyPr wrap="square" lIns="0" tIns="0" rIns="0" bIns="0" rtlCol="0" anchor="ctr"/>
          <a:lstStyle/>
          <a:p>
            <a:pPr indent="0" marL="0">
              <a:buNone/>
            </a:pPr>
            <a:r>
              <a:rPr lang="en-US" sz="1100" b="1" spc="100" kern="0" dirty="0">
                <a:solidFill>
                  <a:schemeClr val="tx2"/>
                </a:solidFill>
              </a:rPr>
              <a:t>FUENTES DE INGRESO</a:t>
            </a:r>
            <a:endParaRPr lang="en-US" sz="1100" dirty="0"/>
          </a:p>
        </p:txBody>
      </p:sp>
      <p:sp>
        <p:nvSpPr>
          <p:cNvPr id="39" name="Text 28"/>
          <p:cNvSpPr txBox="1"/>
          <p:nvPr/>
        </p:nvSpPr>
        <p:spPr>
          <a:xfrm>
            <a:off x="6259068" y="5175504"/>
            <a:ext cx="5308092" cy="658368"/>
          </a:xfrm>
          <a:prstGeom prst="rect">
            <a:avLst/>
          </a:prstGeom>
          <a:noFill/>
          <a:ln/>
        </p:spPr>
        <p:txBody>
          <a:bodyPr wrap="square" lIns="0" tIns="0" rIns="0" bIns="0" rtlCol="0" anchor="t"/>
          <a:lstStyle/>
          <a:p>
            <a:pPr marL="114300" indent="-114300">
              <a:spcAft>
                <a:spcPts val="300"/>
              </a:spcAft>
              <a:buSzPct val="100000"/>
              <a:buChar char="•"/>
            </a:pPr>
            <a:r>
              <a:rPr lang="en-US" sz="1150" dirty="0">
                <a:solidFill>
                  <a:schemeClr val="tx1"/>
                </a:solidFill>
              </a:rPr>
              <a:t>Unidad S/6.00 · caja de 3 S/16.50 · pack de 6 S/27.90</a:t>
            </a:r>
            <a:endParaRPr lang="en-US" sz="1150" dirty="0"/>
          </a:p>
          <a:p>
            <a:pPr marL="114300" indent="-114300">
              <a:spcAft>
                <a:spcPts val="300"/>
              </a:spcAft>
              <a:buSzPct val="100000"/>
              <a:buChar char="•"/>
            </a:pPr>
            <a:r>
              <a:rPr lang="en-US" sz="1150" dirty="0">
                <a:solidFill>
                  <a:schemeClr val="tx1"/>
                </a:solidFill>
              </a:rPr>
              <a:t>Año 1: S/244,728 de ventas y S/10,379 de utilidad neta</a:t>
            </a:r>
            <a:endParaRPr lang="en-US" sz="1150" dirty="0"/>
          </a:p>
          <a:p>
            <a:pPr marL="114300" indent="-114300">
              <a:spcAft>
                <a:spcPts val="300"/>
              </a:spcAft>
              <a:buSzPct val="100000"/>
              <a:buChar char="•"/>
            </a:pPr>
            <a:r>
              <a:rPr lang="en-US" sz="1150" dirty="0">
                <a:solidFill>
                  <a:schemeClr val="tx1"/>
                </a:solidFill>
              </a:rPr>
              <a:t>Año 2: S/322,329 de ventas y S/28,447 de utilidad neta</a:t>
            </a:r>
            <a:endParaRPr lang="en-US" sz="1150" dirty="0"/>
          </a:p>
        </p:txBody>
      </p:sp>
      <p:sp>
        <p:nvSpPr>
          <p:cNvPr id="40" name="Text 29"/>
          <p:cNvSpPr txBox="1"/>
          <p:nvPr/>
        </p:nvSpPr>
        <p:spPr>
          <a:xfrm>
            <a:off x="5124298" y="4133088"/>
            <a:ext cx="1940357" cy="457200"/>
          </a:xfrm>
          <a:prstGeom prst="rect">
            <a:avLst/>
          </a:prstGeom>
          <a:noFill/>
          <a:ln/>
        </p:spPr>
        <p:txBody>
          <a:bodyPr wrap="square" lIns="0" tIns="0" rIns="0" bIns="0" rtlCol="0" anchor="t"/>
          <a:lstStyle/>
          <a:p>
            <a:pPr indent="0" marL="0">
              <a:buNone/>
            </a:pPr>
            <a:r>
              <a:rPr lang="en-US" sz="1300" b="1" i="1" dirty="0">
                <a:solidFill>
                  <a:schemeClr val="accent3"/>
                </a:solidFill>
              </a:rPr>
              <a:t>"Hierro medido. Sabor a brownie."</a:t>
            </a:r>
            <a:endParaRPr lang="en-US" sz="1300" dirty="0"/>
          </a:p>
        </p:txBody>
      </p:sp>
      <p:sp>
        <p:nvSpPr>
          <p:cNvPr id="41" name="Shape 30"/>
          <p:cNvSpPr/>
          <p:nvPr/>
        </p:nvSpPr>
        <p:spPr>
          <a:xfrm>
            <a:off x="548640" y="5925312"/>
            <a:ext cx="11091672" cy="420624"/>
          </a:xfrm>
          <a:prstGeom prst="roundRect">
            <a:avLst>
              <a:gd name="adj" fmla="val 50000"/>
            </a:avLst>
          </a:prstGeom>
          <a:solidFill>
            <a:schemeClr val="tx2"/>
          </a:solidFill>
          <a:ln w="12700">
            <a:solidFill>
              <a:schemeClr val="tx2"/>
            </a:solidFill>
            <a:prstDash val="solid"/>
          </a:ln>
        </p:spPr>
      </p:sp>
      <p:sp>
        <p:nvSpPr>
          <p:cNvPr id="42" name="Text 31"/>
          <p:cNvSpPr txBox="1"/>
          <p:nvPr/>
        </p:nvSpPr>
        <p:spPr>
          <a:xfrm>
            <a:off x="777240" y="5925312"/>
            <a:ext cx="10698480" cy="420624"/>
          </a:xfrm>
          <a:prstGeom prst="rect">
            <a:avLst/>
          </a:prstGeom>
          <a:noFill/>
          <a:ln/>
        </p:spPr>
        <p:txBody>
          <a:bodyPr wrap="square" lIns="0" tIns="0" rIns="0" bIns="0" rtlCol="0" anchor="ctr"/>
          <a:lstStyle/>
          <a:p>
            <a:pPr indent="0" marL="0">
              <a:buNone/>
            </a:pPr>
            <a:r>
              <a:rPr lang="en-US" sz="1300" b="1" dirty="0">
                <a:solidFill>
                  <a:schemeClr val="accent3"/>
                </a:solidFill>
              </a:rPr>
              <a:t>Para el inversionista:  </a:t>
            </a:r>
            <a:pPr indent="0" marL="0">
              <a:buNone/>
            </a:pPr>
            <a:r>
              <a:rPr lang="en-US" sz="1300" dirty="0">
                <a:solidFill>
                  <a:schemeClr val="bg1"/>
                </a:solidFill>
              </a:rPr>
              <a:t>margen bruto de 58 a 66 % · sin planta propia · ganancia desde marzo · inversión recuperada en 23 meses · utilidad ×2.7 en el año 2</a:t>
            </a:r>
            <a:endParaRPr lang="en-US" sz="13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731520" y="777240"/>
            <a:ext cx="3657600" cy="1737360"/>
          </a:xfrm>
          <a:prstGeom prst="rect">
            <a:avLst/>
          </a:prstGeom>
          <a:noFill/>
          <a:ln/>
        </p:spPr>
        <p:txBody>
          <a:bodyPr wrap="square" lIns="0" tIns="0" rIns="0" bIns="0" rtlCol="0" anchor="t"/>
          <a:lstStyle/>
          <a:p>
            <a:pPr indent="0" marL="0">
              <a:buNone/>
            </a:pPr>
            <a:r>
              <a:rPr lang="en-US" sz="12000" b="1" dirty="0">
                <a:solidFill>
                  <a:schemeClr val="accent1"/>
                </a:solidFill>
              </a:rPr>
              <a:t>08</a:t>
            </a:r>
            <a:endParaRPr lang="en-US" sz="12000" dirty="0"/>
          </a:p>
        </p:txBody>
      </p:sp>
      <p:sp>
        <p:nvSpPr>
          <p:cNvPr id="3" name="Text 0"/>
          <p:cNvSpPr/>
          <p:nvPr>
            <p:ph idx="100" type="title" hasCustomPrompt="1"/>
          </p:nvPr>
        </p:nvSpPr>
        <p:spPr>
          <a:xfrm>
            <a:off x="731520" y="2514600"/>
            <a:ext cx="6949440" cy="1417320"/>
          </a:xfrm>
          <a:prstGeom prst="rect">
            <a:avLst/>
          </a:prstGeom>
          <a:noFill/>
          <a:ln/>
        </p:spPr>
        <p:txBody>
          <a:bodyPr wrap="square" lIns="0" tIns="0" rIns="0" bIns="0" rtlCol="0" anchor="b"/>
          <a:lstStyle/>
          <a:p>
            <a:pPr algn="l" indent="0" marL="0">
              <a:buNone/>
            </a:pPr>
            <a:r>
              <a:rPr lang="en-US" sz="4400" b="1" dirty="0">
                <a:solidFill>
                  <a:schemeClr val="bg2"/>
                </a:solidFill>
              </a:rPr>
              <a:t>Mapa de propuesta de valor</a:t>
            </a:r>
            <a:endParaRPr lang="en-US" sz="4400" dirty="0"/>
          </a:p>
        </p:txBody>
      </p:sp>
      <p:sp>
        <p:nvSpPr>
          <p:cNvPr id="4" name="Text 0"/>
          <p:cNvSpPr/>
          <p:nvPr>
            <p:ph idx="101" type="body" hasCustomPrompt="1"/>
          </p:nvPr>
        </p:nvSpPr>
        <p:spPr>
          <a:xfrm>
            <a:off x="731520" y="4069080"/>
            <a:ext cx="6949440" cy="1188720"/>
          </a:xfrm>
          <a:prstGeom prst="rect">
            <a:avLst/>
          </a:prstGeom>
          <a:noFill/>
          <a:ln/>
        </p:spPr>
        <p:txBody>
          <a:bodyPr wrap="square" lIns="0" tIns="0" rIns="0" bIns="0" rtlCol="0" anchor="t"/>
          <a:lstStyle/>
          <a:p>
            <a:pPr indent="0" marL="0">
              <a:buNone/>
            </a:pPr>
            <a:r>
              <a:rPr lang="en-US" sz="1800" dirty="0">
                <a:solidFill>
                  <a:schemeClr val="accent5"/>
                </a:solidFill>
              </a:rPr>
              <a:t>Perfil del cliente · Mapa de valor · Encaje · App Andi, Misión Hierro · Competencia · Plan de marketing</a:t>
            </a:r>
            <a:endParaRPr lang="en-US" sz="1800" dirty="0"/>
          </a:p>
        </p:txBody>
      </p:sp>
      <p:sp>
        <p:nvSpPr>
          <p:cNvPr id="5" name="Shape 3"/>
          <p:cNvSpPr/>
          <p:nvPr/>
        </p:nvSpPr>
        <p:spPr>
          <a:xfrm>
            <a:off x="8001000" y="1417320"/>
            <a:ext cx="3840480" cy="3840480"/>
          </a:xfrm>
          <a:prstGeom prst="ellipse">
            <a:avLst/>
          </a:prstGeom>
          <a:solidFill>
            <a:schemeClr val="accent2"/>
          </a:solidFill>
          <a:ln w="12700">
            <a:solidFill>
              <a:schemeClr val="accent2"/>
            </a:solidFill>
            <a:prstDash val="solid"/>
          </a:ln>
        </p:spPr>
      </p:sp>
      <p:pic>
        <p:nvPicPr>
          <p:cNvPr id="6" name="Image 0" descr="preencoded.png">    </p:cNvPr>
          <p:cNvPicPr>
            <a:picLocks noChangeAspect="1"/>
          </p:cNvPicPr>
          <p:nvPr/>
        </p:nvPicPr>
        <p:blipFill>
          <a:blip r:embed="rId1"/>
          <a:stretch>
            <a:fillRect/>
          </a:stretch>
        </p:blipFill>
        <p:spPr>
          <a:xfrm>
            <a:off x="9006840" y="2423160"/>
            <a:ext cx="1828800" cy="18288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8 · MAPA DE PROPUESTA DE VALOR</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Lo que ofrecemos encaja con lo que vive el cliente</a:t>
            </a:r>
            <a:endParaRPr lang="en-US" sz="3400" dirty="0"/>
          </a:p>
        </p:txBody>
      </p:sp>
      <p:sp>
        <p:nvSpPr>
          <p:cNvPr id="4" name="Shape 2"/>
          <p:cNvSpPr/>
          <p:nvPr/>
        </p:nvSpPr>
        <p:spPr>
          <a:xfrm>
            <a:off x="640080" y="1463040"/>
            <a:ext cx="4480560" cy="4480560"/>
          </a:xfrm>
          <a:prstGeom prst="roundRect">
            <a:avLst>
              <a:gd name="adj" fmla="val 2041"/>
            </a:avLst>
          </a:prstGeom>
          <a:solidFill>
            <a:schemeClr val="bg1"/>
          </a:solidFill>
          <a:ln w="25400">
            <a:solidFill>
              <a:schemeClr val="accent2"/>
            </a:solidFill>
            <a:prstDash val="solid"/>
          </a:ln>
          <a:effectLst>
            <a:outerShdw sx="100000" sy="100000" kx="0" ky="0" algn="bl" rotWithShape="0" blurRad="101600" dist="25400" dir="5400000">
              <a:srgbClr val="7A4A30">
                <a:alpha val="14000"/>
              </a:srgbClr>
            </a:outerShdw>
          </a:effectLst>
        </p:spPr>
      </p:sp>
      <p:sp>
        <p:nvSpPr>
          <p:cNvPr id="5" name="Shape 3"/>
          <p:cNvSpPr/>
          <p:nvPr/>
        </p:nvSpPr>
        <p:spPr>
          <a:xfrm>
            <a:off x="2880360" y="1463040"/>
            <a:ext cx="0" cy="4480560"/>
          </a:xfrm>
          <a:prstGeom prst="line">
            <a:avLst/>
          </a:prstGeom>
          <a:noFill/>
          <a:ln w="19050">
            <a:solidFill>
              <a:schemeClr val="accent2"/>
            </a:solidFill>
            <a:prstDash val="solid"/>
          </a:ln>
        </p:spPr>
      </p:sp>
      <p:sp>
        <p:nvSpPr>
          <p:cNvPr id="6" name="Shape 4"/>
          <p:cNvSpPr/>
          <p:nvPr/>
        </p:nvSpPr>
        <p:spPr>
          <a:xfrm>
            <a:off x="2880360" y="3703320"/>
            <a:ext cx="2240280" cy="0"/>
          </a:xfrm>
          <a:prstGeom prst="line">
            <a:avLst/>
          </a:prstGeom>
          <a:noFill/>
          <a:ln w="19050">
            <a:solidFill>
              <a:schemeClr val="accent2"/>
            </a:solidFill>
            <a:prstDash val="solid"/>
          </a:ln>
        </p:spPr>
      </p:sp>
      <p:sp>
        <p:nvSpPr>
          <p:cNvPr id="7" name="Shape 5"/>
          <p:cNvSpPr/>
          <p:nvPr/>
        </p:nvSpPr>
        <p:spPr>
          <a:xfrm>
            <a:off x="7178040" y="1463040"/>
            <a:ext cx="4480560" cy="4480560"/>
          </a:xfrm>
          <a:prstGeom prst="ellipse">
            <a:avLst/>
          </a:prstGeom>
          <a:solidFill>
            <a:schemeClr val="bg1"/>
          </a:solidFill>
          <a:ln w="25400">
            <a:solidFill>
              <a:schemeClr val="accent1"/>
            </a:solidFill>
            <a:prstDash val="solid"/>
          </a:ln>
          <a:effectLst>
            <a:outerShdw sx="100000" sy="100000" kx="0" ky="0" algn="bl" rotWithShape="0" blurRad="101600" dist="25400" dir="5400000">
              <a:srgbClr val="7A4A30">
                <a:alpha val="14000"/>
              </a:srgbClr>
            </a:outerShdw>
          </a:effectLst>
        </p:spPr>
      </p:sp>
      <p:sp>
        <p:nvSpPr>
          <p:cNvPr id="8" name="Shape 6"/>
          <p:cNvSpPr/>
          <p:nvPr/>
        </p:nvSpPr>
        <p:spPr>
          <a:xfrm>
            <a:off x="9418320" y="1463040"/>
            <a:ext cx="0" cy="4480560"/>
          </a:xfrm>
          <a:prstGeom prst="line">
            <a:avLst/>
          </a:prstGeom>
          <a:noFill/>
          <a:ln w="19050">
            <a:solidFill>
              <a:schemeClr val="accent1"/>
            </a:solidFill>
            <a:prstDash val="solid"/>
          </a:ln>
        </p:spPr>
      </p:sp>
      <p:sp>
        <p:nvSpPr>
          <p:cNvPr id="9" name="Shape 7"/>
          <p:cNvSpPr/>
          <p:nvPr/>
        </p:nvSpPr>
        <p:spPr>
          <a:xfrm>
            <a:off x="7178040" y="3703320"/>
            <a:ext cx="2240280" cy="0"/>
          </a:xfrm>
          <a:prstGeom prst="line">
            <a:avLst/>
          </a:prstGeom>
          <a:noFill/>
          <a:ln w="19050">
            <a:solidFill>
              <a:schemeClr val="accent1"/>
            </a:solidFill>
            <a:prstDash val="solid"/>
          </a:ln>
        </p:spPr>
      </p:sp>
      <p:pic>
        <p:nvPicPr>
          <p:cNvPr id="10" name="Image 0" descr="preencoded.png">    </p:cNvPr>
          <p:cNvPicPr>
            <a:picLocks noChangeAspect="1"/>
          </p:cNvPicPr>
          <p:nvPr/>
        </p:nvPicPr>
        <p:blipFill>
          <a:blip r:embed="rId1"/>
          <a:stretch>
            <a:fillRect/>
          </a:stretch>
        </p:blipFill>
        <p:spPr>
          <a:xfrm>
            <a:off x="777240" y="1645920"/>
            <a:ext cx="274320" cy="274320"/>
          </a:xfrm>
          <a:prstGeom prst="rect">
            <a:avLst/>
          </a:prstGeom>
        </p:spPr>
      </p:pic>
      <p:sp>
        <p:nvSpPr>
          <p:cNvPr id="11" name="Text 8"/>
          <p:cNvSpPr txBox="1"/>
          <p:nvPr/>
        </p:nvSpPr>
        <p:spPr>
          <a:xfrm>
            <a:off x="1124712" y="1627632"/>
            <a:ext cx="1664208" cy="329184"/>
          </a:xfrm>
          <a:prstGeom prst="rect">
            <a:avLst/>
          </a:prstGeom>
          <a:noFill/>
          <a:ln/>
        </p:spPr>
        <p:txBody>
          <a:bodyPr wrap="square" lIns="0" tIns="0" rIns="0" bIns="0" rtlCol="0" anchor="ctr"/>
          <a:lstStyle/>
          <a:p>
            <a:pPr indent="0" marL="0">
              <a:buNone/>
            </a:pPr>
            <a:r>
              <a:rPr lang="en-US" sz="1200" b="1" dirty="0">
                <a:solidFill>
                  <a:schemeClr val="tx2"/>
                </a:solidFill>
              </a:rPr>
              <a:t>Productos y servicios</a:t>
            </a:r>
            <a:endParaRPr lang="en-US" sz="1200" dirty="0"/>
          </a:p>
        </p:txBody>
      </p:sp>
      <p:sp>
        <p:nvSpPr>
          <p:cNvPr id="12" name="Text 9"/>
          <p:cNvSpPr txBox="1"/>
          <p:nvPr/>
        </p:nvSpPr>
        <p:spPr>
          <a:xfrm>
            <a:off x="777240" y="2029968"/>
            <a:ext cx="2011680" cy="3730752"/>
          </a:xfrm>
          <a:prstGeom prst="rect">
            <a:avLst/>
          </a:prstGeom>
          <a:noFill/>
          <a:ln/>
        </p:spPr>
        <p:txBody>
          <a:bodyPr wrap="square" lIns="0" tIns="0" rIns="0" bIns="0" rtlCol="0" anchor="t"/>
          <a:lstStyle/>
          <a:p>
            <a:pPr marL="127000" indent="-127000">
              <a:spcAft>
                <a:spcPts val="400"/>
              </a:spcAft>
              <a:buSzPct val="100000"/>
              <a:buChar char="•"/>
            </a:pPr>
            <a:r>
              <a:rPr lang="en-US" sz="1200" dirty="0">
                <a:solidFill>
                  <a:schemeClr val="tx1"/>
                </a:solidFill>
              </a:rPr>
              <a:t>Pack de 6 (S/27.90 en stand)</a:t>
            </a:r>
            <a:endParaRPr lang="en-US" sz="1200" dirty="0"/>
          </a:p>
          <a:p>
            <a:pPr marL="127000" indent="-127000">
              <a:spcAft>
                <a:spcPts val="400"/>
              </a:spcAft>
              <a:buSzPct val="100000"/>
              <a:buChar char="•"/>
            </a:pPr>
            <a:r>
              <a:rPr lang="en-US" sz="1200" dirty="0">
                <a:solidFill>
                  <a:schemeClr val="tx1"/>
                </a:solidFill>
              </a:rPr>
              <a:t>Pack de 12 "Semana completa"</a:t>
            </a:r>
            <a:endParaRPr lang="en-US" sz="1200" dirty="0"/>
          </a:p>
          <a:p>
            <a:pPr marL="127000" indent="-127000">
              <a:spcAft>
                <a:spcPts val="400"/>
              </a:spcAft>
              <a:buSzPct val="100000"/>
              <a:buChar char="•"/>
            </a:pPr>
            <a:r>
              <a:rPr lang="en-US" sz="1200" dirty="0">
                <a:solidFill>
                  <a:schemeClr val="tx1"/>
                </a:solidFill>
              </a:rPr>
              <a:t>Caja de 3 sabores (S/16.50)</a:t>
            </a:r>
            <a:endParaRPr lang="en-US" sz="1200" dirty="0"/>
          </a:p>
          <a:p>
            <a:pPr marL="127000" indent="-127000">
              <a:spcAft>
                <a:spcPts val="400"/>
              </a:spcAft>
              <a:buSzPct val="100000"/>
              <a:buChar char="•"/>
            </a:pPr>
            <a:r>
              <a:rPr lang="en-US" sz="1200" dirty="0">
                <a:solidFill>
                  <a:schemeClr val="tx1"/>
                </a:solidFill>
              </a:rPr>
              <a:t>Stand con degustación gratis</a:t>
            </a:r>
            <a:endParaRPr lang="en-US" sz="1200" dirty="0"/>
          </a:p>
          <a:p>
            <a:pPr marL="127000" indent="-127000">
              <a:spcAft>
                <a:spcPts val="400"/>
              </a:spcAft>
              <a:buSzPct val="100000"/>
              <a:buChar char="•"/>
            </a:pPr>
            <a:r>
              <a:rPr lang="en-US" sz="1200" dirty="0">
                <a:solidFill>
                  <a:schemeClr val="tx1"/>
                </a:solidFill>
              </a:rPr>
              <a:t>App Andi, Misión Hierro</a:t>
            </a:r>
            <a:endParaRPr lang="en-US" sz="1200" dirty="0"/>
          </a:p>
        </p:txBody>
      </p:sp>
      <p:pic>
        <p:nvPicPr>
          <p:cNvPr id="13" name="Image 1" descr="preencoded.png">    </p:cNvPr>
          <p:cNvPicPr>
            <a:picLocks noChangeAspect="1"/>
          </p:cNvPicPr>
          <p:nvPr/>
        </p:nvPicPr>
        <p:blipFill>
          <a:blip r:embed="rId2"/>
          <a:stretch>
            <a:fillRect/>
          </a:stretch>
        </p:blipFill>
        <p:spPr>
          <a:xfrm>
            <a:off x="3017520" y="1645920"/>
            <a:ext cx="274320" cy="274320"/>
          </a:xfrm>
          <a:prstGeom prst="rect">
            <a:avLst/>
          </a:prstGeom>
        </p:spPr>
      </p:pic>
      <p:sp>
        <p:nvSpPr>
          <p:cNvPr id="14" name="Text 10"/>
          <p:cNvSpPr txBox="1"/>
          <p:nvPr/>
        </p:nvSpPr>
        <p:spPr>
          <a:xfrm>
            <a:off x="3364992" y="1627632"/>
            <a:ext cx="1664208" cy="329184"/>
          </a:xfrm>
          <a:prstGeom prst="rect">
            <a:avLst/>
          </a:prstGeom>
          <a:noFill/>
          <a:ln/>
        </p:spPr>
        <p:txBody>
          <a:bodyPr wrap="square" lIns="0" tIns="0" rIns="0" bIns="0" rtlCol="0" anchor="ctr"/>
          <a:lstStyle/>
          <a:p>
            <a:pPr indent="0" marL="0">
              <a:buNone/>
            </a:pPr>
            <a:r>
              <a:rPr lang="en-US" sz="1200" b="1" dirty="0">
                <a:solidFill>
                  <a:schemeClr val="tx2"/>
                </a:solidFill>
              </a:rPr>
              <a:t>Creadores de alegrías</a:t>
            </a:r>
            <a:endParaRPr lang="en-US" sz="1200" dirty="0"/>
          </a:p>
        </p:txBody>
      </p:sp>
      <p:sp>
        <p:nvSpPr>
          <p:cNvPr id="15" name="Text 11"/>
          <p:cNvSpPr txBox="1"/>
          <p:nvPr/>
        </p:nvSpPr>
        <p:spPr>
          <a:xfrm>
            <a:off x="3017520" y="2029968"/>
            <a:ext cx="2011680" cy="1627632"/>
          </a:xfrm>
          <a:prstGeom prst="rect">
            <a:avLst/>
          </a:prstGeom>
          <a:noFill/>
          <a:ln/>
        </p:spPr>
        <p:txBody>
          <a:bodyPr wrap="square" lIns="0" tIns="0" rIns="0" bIns="0" rtlCol="0" anchor="t"/>
          <a:lstStyle/>
          <a:p>
            <a:pPr marL="127000" indent="-127000">
              <a:spcAft>
                <a:spcPts val="400"/>
              </a:spcAft>
              <a:buSzPct val="100000"/>
              <a:buChar char="•"/>
            </a:pPr>
            <a:r>
              <a:rPr lang="en-US" sz="1200" dirty="0">
                <a:solidFill>
                  <a:schemeClr val="tx1"/>
                </a:solidFill>
              </a:rPr>
              <a:t>El niño pide su sabor</a:t>
            </a:r>
            <a:endParaRPr lang="en-US" sz="1200" dirty="0"/>
          </a:p>
          <a:p>
            <a:pPr marL="127000" indent="-127000">
              <a:spcAft>
                <a:spcPts val="400"/>
              </a:spcAft>
              <a:buSzPct val="100000"/>
              <a:buChar char="•"/>
            </a:pPr>
            <a:r>
              <a:rPr lang="en-US" sz="1200" dirty="0">
                <a:solidFill>
                  <a:schemeClr val="tx1"/>
                </a:solidFill>
              </a:rPr>
              <a:t>Hierro del lote en la app</a:t>
            </a:r>
            <a:endParaRPr lang="en-US" sz="1200" dirty="0"/>
          </a:p>
          <a:p>
            <a:pPr marL="127000" indent="-127000">
              <a:spcAft>
                <a:spcPts val="400"/>
              </a:spcAft>
              <a:buSzPct val="100000"/>
              <a:buChar char="•"/>
            </a:pPr>
            <a:r>
              <a:rPr lang="en-US" sz="1200" dirty="0">
                <a:solidFill>
                  <a:schemeClr val="tx1"/>
                </a:solidFill>
              </a:rPr>
              <a:t>Juego educativo de Andi</a:t>
            </a:r>
            <a:endParaRPr lang="en-US" sz="1200" dirty="0"/>
          </a:p>
        </p:txBody>
      </p:sp>
      <p:pic>
        <p:nvPicPr>
          <p:cNvPr id="16" name="Image 2" descr="preencoded.png">    </p:cNvPr>
          <p:cNvPicPr>
            <a:picLocks noChangeAspect="1"/>
          </p:cNvPicPr>
          <p:nvPr/>
        </p:nvPicPr>
        <p:blipFill>
          <a:blip r:embed="rId3"/>
          <a:stretch>
            <a:fillRect/>
          </a:stretch>
        </p:blipFill>
        <p:spPr>
          <a:xfrm>
            <a:off x="3017520" y="3886200"/>
            <a:ext cx="274320" cy="274320"/>
          </a:xfrm>
          <a:prstGeom prst="rect">
            <a:avLst/>
          </a:prstGeom>
        </p:spPr>
      </p:pic>
      <p:sp>
        <p:nvSpPr>
          <p:cNvPr id="17" name="Text 12"/>
          <p:cNvSpPr txBox="1"/>
          <p:nvPr/>
        </p:nvSpPr>
        <p:spPr>
          <a:xfrm>
            <a:off x="3364992" y="3867912"/>
            <a:ext cx="1664208" cy="329184"/>
          </a:xfrm>
          <a:prstGeom prst="rect">
            <a:avLst/>
          </a:prstGeom>
          <a:noFill/>
          <a:ln/>
        </p:spPr>
        <p:txBody>
          <a:bodyPr wrap="square" lIns="0" tIns="0" rIns="0" bIns="0" rtlCol="0" anchor="ctr"/>
          <a:lstStyle/>
          <a:p>
            <a:pPr indent="0" marL="0">
              <a:buNone/>
            </a:pPr>
            <a:r>
              <a:rPr lang="en-US" sz="1200" b="1" dirty="0">
                <a:solidFill>
                  <a:schemeClr val="tx2"/>
                </a:solidFill>
              </a:rPr>
              <a:t>Aliviadores de dolor</a:t>
            </a:r>
            <a:endParaRPr lang="en-US" sz="1200" dirty="0"/>
          </a:p>
        </p:txBody>
      </p:sp>
      <p:sp>
        <p:nvSpPr>
          <p:cNvPr id="18" name="Text 13"/>
          <p:cNvSpPr txBox="1"/>
          <p:nvPr/>
        </p:nvSpPr>
        <p:spPr>
          <a:xfrm>
            <a:off x="3017520" y="4270248"/>
            <a:ext cx="2011680" cy="1627632"/>
          </a:xfrm>
          <a:prstGeom prst="rect">
            <a:avLst/>
          </a:prstGeom>
          <a:noFill/>
          <a:ln/>
        </p:spPr>
        <p:txBody>
          <a:bodyPr wrap="square" lIns="0" tIns="0" rIns="0" bIns="0" rtlCol="0" anchor="t"/>
          <a:lstStyle/>
          <a:p>
            <a:pPr marL="127000" indent="-127000">
              <a:spcAft>
                <a:spcPts val="400"/>
              </a:spcAft>
              <a:buSzPct val="100000"/>
              <a:buChar char="•"/>
            </a:pPr>
            <a:r>
              <a:rPr lang="en-US" sz="1200" dirty="0">
                <a:solidFill>
                  <a:schemeClr val="tx1"/>
                </a:solidFill>
              </a:rPr>
              <a:t>Cacao que esconde la sangrecita</a:t>
            </a:r>
            <a:endParaRPr lang="en-US" sz="1200" dirty="0"/>
          </a:p>
          <a:p>
            <a:pPr marL="127000" indent="-127000">
              <a:spcAft>
                <a:spcPts val="400"/>
              </a:spcAft>
              <a:buSzPct val="100000"/>
              <a:buChar char="•"/>
            </a:pPr>
            <a:r>
              <a:rPr lang="en-US" sz="1200" dirty="0">
                <a:solidFill>
                  <a:schemeClr val="tx1"/>
                </a:solidFill>
              </a:rPr>
              <a:t>Loncheras listas en la app</a:t>
            </a:r>
            <a:endParaRPr lang="en-US" sz="1200" dirty="0"/>
          </a:p>
          <a:p>
            <a:pPr marL="127000" indent="-127000">
              <a:spcAft>
                <a:spcPts val="400"/>
              </a:spcAft>
              <a:buSzPct val="100000"/>
              <a:buChar char="•"/>
            </a:pPr>
            <a:r>
              <a:rPr lang="en-US" sz="1200" dirty="0">
                <a:solidFill>
                  <a:schemeClr val="tx1"/>
                </a:solidFill>
              </a:rPr>
              <a:t>Aviso antes de que se acabe</a:t>
            </a:r>
            <a:endParaRPr lang="en-US" sz="1200" dirty="0"/>
          </a:p>
        </p:txBody>
      </p:sp>
      <p:pic>
        <p:nvPicPr>
          <p:cNvPr id="19" name="Image 3" descr="preencoded.png">    </p:cNvPr>
          <p:cNvPicPr>
            <a:picLocks noChangeAspect="1"/>
          </p:cNvPicPr>
          <p:nvPr/>
        </p:nvPicPr>
        <p:blipFill>
          <a:blip r:embed="rId4"/>
          <a:stretch>
            <a:fillRect/>
          </a:stretch>
        </p:blipFill>
        <p:spPr>
          <a:xfrm>
            <a:off x="7680960" y="1965960"/>
            <a:ext cx="274320" cy="274320"/>
          </a:xfrm>
          <a:prstGeom prst="rect">
            <a:avLst/>
          </a:prstGeom>
        </p:spPr>
      </p:pic>
      <p:sp>
        <p:nvSpPr>
          <p:cNvPr id="20" name="Text 14"/>
          <p:cNvSpPr txBox="1"/>
          <p:nvPr/>
        </p:nvSpPr>
        <p:spPr>
          <a:xfrm>
            <a:off x="8028432" y="1947672"/>
            <a:ext cx="1344168" cy="329184"/>
          </a:xfrm>
          <a:prstGeom prst="rect">
            <a:avLst/>
          </a:prstGeom>
          <a:noFill/>
          <a:ln/>
        </p:spPr>
        <p:txBody>
          <a:bodyPr wrap="square" lIns="0" tIns="0" rIns="0" bIns="0" rtlCol="0" anchor="ctr"/>
          <a:lstStyle/>
          <a:p>
            <a:pPr indent="0" marL="0">
              <a:buNone/>
            </a:pPr>
            <a:r>
              <a:rPr lang="en-US" sz="1200" b="1" dirty="0">
                <a:solidFill>
                  <a:schemeClr val="tx2"/>
                </a:solidFill>
              </a:rPr>
              <a:t>Alegrías</a:t>
            </a:r>
            <a:endParaRPr lang="en-US" sz="1200" dirty="0"/>
          </a:p>
        </p:txBody>
      </p:sp>
      <p:sp>
        <p:nvSpPr>
          <p:cNvPr id="21" name="Text 15"/>
          <p:cNvSpPr txBox="1"/>
          <p:nvPr/>
        </p:nvSpPr>
        <p:spPr>
          <a:xfrm>
            <a:off x="7680960" y="2350008"/>
            <a:ext cx="1691640" cy="1261872"/>
          </a:xfrm>
          <a:prstGeom prst="rect">
            <a:avLst/>
          </a:prstGeom>
          <a:noFill/>
          <a:ln/>
        </p:spPr>
        <p:txBody>
          <a:bodyPr wrap="square" lIns="0" tIns="0" rIns="0" bIns="0" rtlCol="0" anchor="t"/>
          <a:lstStyle/>
          <a:p>
            <a:pPr marL="127000" indent="-127000">
              <a:spcAft>
                <a:spcPts val="400"/>
              </a:spcAft>
              <a:buSzPct val="100000"/>
              <a:buChar char="•"/>
            </a:pPr>
            <a:r>
              <a:rPr lang="en-US" sz="1200" dirty="0">
                <a:solidFill>
                  <a:schemeClr val="tx1"/>
                </a:solidFill>
              </a:rPr>
              <a:t>Que el niño lo pida</a:t>
            </a:r>
            <a:endParaRPr lang="en-US" sz="1200" dirty="0"/>
          </a:p>
          <a:p>
            <a:pPr marL="127000" indent="-127000">
              <a:spcAft>
                <a:spcPts val="400"/>
              </a:spcAft>
              <a:buSzPct val="100000"/>
              <a:buChar char="•"/>
            </a:pPr>
            <a:r>
              <a:rPr lang="en-US" sz="1200" dirty="0">
                <a:solidFill>
                  <a:schemeClr val="tx1"/>
                </a:solidFill>
              </a:rPr>
              <a:t>Ver el dato, no la promesa</a:t>
            </a:r>
            <a:endParaRPr lang="en-US" sz="1200" dirty="0"/>
          </a:p>
          <a:p>
            <a:pPr marL="127000" indent="-127000">
              <a:spcAft>
                <a:spcPts val="400"/>
              </a:spcAft>
              <a:buSzPct val="100000"/>
              <a:buChar char="•"/>
            </a:pPr>
            <a:r>
              <a:rPr lang="en-US" sz="1200" dirty="0">
                <a:solidFill>
                  <a:schemeClr val="tx1"/>
                </a:solidFill>
              </a:rPr>
              <a:t>Que no pese en el bolsillo</a:t>
            </a:r>
            <a:endParaRPr lang="en-US" sz="1200" dirty="0"/>
          </a:p>
        </p:txBody>
      </p:sp>
      <p:pic>
        <p:nvPicPr>
          <p:cNvPr id="22" name="Image 4" descr="preencoded.png">    </p:cNvPr>
          <p:cNvPicPr>
            <a:picLocks noChangeAspect="1"/>
          </p:cNvPicPr>
          <p:nvPr/>
        </p:nvPicPr>
        <p:blipFill>
          <a:blip r:embed="rId5"/>
          <a:stretch>
            <a:fillRect/>
          </a:stretch>
        </p:blipFill>
        <p:spPr>
          <a:xfrm>
            <a:off x="7680960" y="3813048"/>
            <a:ext cx="274320" cy="274320"/>
          </a:xfrm>
          <a:prstGeom prst="rect">
            <a:avLst/>
          </a:prstGeom>
        </p:spPr>
      </p:pic>
      <p:sp>
        <p:nvSpPr>
          <p:cNvPr id="23" name="Text 16"/>
          <p:cNvSpPr txBox="1"/>
          <p:nvPr/>
        </p:nvSpPr>
        <p:spPr>
          <a:xfrm>
            <a:off x="8028432" y="3794760"/>
            <a:ext cx="1344168" cy="329184"/>
          </a:xfrm>
          <a:prstGeom prst="rect">
            <a:avLst/>
          </a:prstGeom>
          <a:noFill/>
          <a:ln/>
        </p:spPr>
        <p:txBody>
          <a:bodyPr wrap="square" lIns="0" tIns="0" rIns="0" bIns="0" rtlCol="0" anchor="ctr"/>
          <a:lstStyle/>
          <a:p>
            <a:pPr indent="0" marL="0">
              <a:buNone/>
            </a:pPr>
            <a:r>
              <a:rPr lang="en-US" sz="1200" b="1" dirty="0">
                <a:solidFill>
                  <a:schemeClr val="tx2"/>
                </a:solidFill>
              </a:rPr>
              <a:t>Dolores</a:t>
            </a:r>
            <a:endParaRPr lang="en-US" sz="1200" dirty="0"/>
          </a:p>
        </p:txBody>
      </p:sp>
      <p:sp>
        <p:nvSpPr>
          <p:cNvPr id="24" name="Text 17"/>
          <p:cNvSpPr txBox="1"/>
          <p:nvPr/>
        </p:nvSpPr>
        <p:spPr>
          <a:xfrm>
            <a:off x="7680960" y="4197096"/>
            <a:ext cx="1691640" cy="1261872"/>
          </a:xfrm>
          <a:prstGeom prst="rect">
            <a:avLst/>
          </a:prstGeom>
          <a:noFill/>
          <a:ln/>
        </p:spPr>
        <p:txBody>
          <a:bodyPr wrap="square" lIns="0" tIns="0" rIns="0" bIns="0" rtlCol="0" anchor="t"/>
          <a:lstStyle/>
          <a:p>
            <a:pPr marL="127000" indent="-127000">
              <a:spcAft>
                <a:spcPts val="400"/>
              </a:spcAft>
              <a:buSzPct val="100000"/>
              <a:buChar char="•"/>
            </a:pPr>
            <a:r>
              <a:rPr lang="en-US" sz="1200" dirty="0">
                <a:solidFill>
                  <a:schemeClr val="tx1"/>
                </a:solidFill>
              </a:rPr>
              <a:t>Lo sano regresa intacto</a:t>
            </a:r>
            <a:endParaRPr lang="en-US" sz="1200" dirty="0"/>
          </a:p>
          <a:p>
            <a:pPr marL="127000" indent="-127000">
              <a:spcAft>
                <a:spcPts val="400"/>
              </a:spcAft>
              <a:buSzPct val="100000"/>
              <a:buChar char="•"/>
            </a:pPr>
            <a:r>
              <a:rPr lang="en-US" sz="1200" dirty="0">
                <a:solidFill>
                  <a:schemeClr val="tx1"/>
                </a:solidFill>
              </a:rPr>
              <a:t>Octógonos y desconfianza</a:t>
            </a:r>
            <a:endParaRPr lang="en-US" sz="1200" dirty="0"/>
          </a:p>
          <a:p>
            <a:pPr marL="127000" indent="-127000">
              <a:spcAft>
                <a:spcPts val="400"/>
              </a:spcAft>
              <a:buSzPct val="100000"/>
              <a:buChar char="•"/>
            </a:pPr>
            <a:r>
              <a:rPr lang="en-US" sz="1200" dirty="0">
                <a:solidFill>
                  <a:schemeClr val="tx1"/>
                </a:solidFill>
              </a:rPr>
              <a:t>Se acaba la variedad</a:t>
            </a:r>
            <a:endParaRPr lang="en-US" sz="1200" dirty="0"/>
          </a:p>
        </p:txBody>
      </p:sp>
      <p:pic>
        <p:nvPicPr>
          <p:cNvPr id="25" name="Image 5" descr="preencoded.png">    </p:cNvPr>
          <p:cNvPicPr>
            <a:picLocks noChangeAspect="1"/>
          </p:cNvPicPr>
          <p:nvPr/>
        </p:nvPicPr>
        <p:blipFill>
          <a:blip r:embed="rId6"/>
          <a:stretch>
            <a:fillRect/>
          </a:stretch>
        </p:blipFill>
        <p:spPr>
          <a:xfrm>
            <a:off x="9555480" y="2331720"/>
            <a:ext cx="274320" cy="274320"/>
          </a:xfrm>
          <a:prstGeom prst="rect">
            <a:avLst/>
          </a:prstGeom>
        </p:spPr>
      </p:pic>
      <p:sp>
        <p:nvSpPr>
          <p:cNvPr id="26" name="Text 18"/>
          <p:cNvSpPr txBox="1"/>
          <p:nvPr/>
        </p:nvSpPr>
        <p:spPr>
          <a:xfrm>
            <a:off x="9902952" y="2313432"/>
            <a:ext cx="1481328" cy="329184"/>
          </a:xfrm>
          <a:prstGeom prst="rect">
            <a:avLst/>
          </a:prstGeom>
          <a:noFill/>
          <a:ln/>
        </p:spPr>
        <p:txBody>
          <a:bodyPr wrap="square" lIns="0" tIns="0" rIns="0" bIns="0" rtlCol="0" anchor="ctr"/>
          <a:lstStyle/>
          <a:p>
            <a:pPr indent="0" marL="0">
              <a:buNone/>
            </a:pPr>
            <a:r>
              <a:rPr lang="en-US" sz="1200" b="1" dirty="0">
                <a:solidFill>
                  <a:schemeClr val="tx2"/>
                </a:solidFill>
              </a:rPr>
              <a:t>Trabajos del cliente</a:t>
            </a:r>
            <a:endParaRPr lang="en-US" sz="1200" dirty="0"/>
          </a:p>
        </p:txBody>
      </p:sp>
      <p:sp>
        <p:nvSpPr>
          <p:cNvPr id="27" name="Text 19"/>
          <p:cNvSpPr txBox="1"/>
          <p:nvPr/>
        </p:nvSpPr>
        <p:spPr>
          <a:xfrm>
            <a:off x="9555480" y="2715768"/>
            <a:ext cx="1828800" cy="2542032"/>
          </a:xfrm>
          <a:prstGeom prst="rect">
            <a:avLst/>
          </a:prstGeom>
          <a:noFill/>
          <a:ln/>
        </p:spPr>
        <p:txBody>
          <a:bodyPr wrap="square" lIns="0" tIns="0" rIns="0" bIns="0" rtlCol="0" anchor="t"/>
          <a:lstStyle/>
          <a:p>
            <a:pPr marL="127000" indent="-127000">
              <a:spcAft>
                <a:spcPts val="400"/>
              </a:spcAft>
              <a:buSzPct val="100000"/>
              <a:buChar char="•"/>
            </a:pPr>
            <a:r>
              <a:rPr lang="en-US" sz="1200" dirty="0">
                <a:solidFill>
                  <a:schemeClr val="tx1"/>
                </a:solidFill>
              </a:rPr>
              <a:t>Darle hierro sin pelear</a:t>
            </a:r>
            <a:endParaRPr lang="en-US" sz="1200" dirty="0"/>
          </a:p>
          <a:p>
            <a:pPr marL="127000" indent="-127000">
              <a:spcAft>
                <a:spcPts val="400"/>
              </a:spcAft>
              <a:buSzPct val="100000"/>
              <a:buChar char="•"/>
            </a:pPr>
            <a:r>
              <a:rPr lang="en-US" sz="1200" dirty="0">
                <a:solidFill>
                  <a:schemeClr val="tx1"/>
                </a:solidFill>
              </a:rPr>
              <a:t>Lonchera variada en minutos</a:t>
            </a:r>
            <a:endParaRPr lang="en-US" sz="1200" dirty="0"/>
          </a:p>
          <a:p>
            <a:pPr marL="127000" indent="-127000">
              <a:spcAft>
                <a:spcPts val="400"/>
              </a:spcAft>
              <a:buSzPct val="100000"/>
              <a:buChar char="•"/>
            </a:pPr>
            <a:r>
              <a:rPr lang="en-US" sz="1200" dirty="0">
                <a:solidFill>
                  <a:schemeClr val="tx1"/>
                </a:solidFill>
              </a:rPr>
              <a:t>Cumplir la lonchera del colegio</a:t>
            </a:r>
            <a:endParaRPr lang="en-US" sz="1200" dirty="0"/>
          </a:p>
          <a:p>
            <a:pPr marL="127000" indent="-127000">
              <a:spcAft>
                <a:spcPts val="400"/>
              </a:spcAft>
              <a:buSzPct val="100000"/>
              <a:buChar char="•"/>
            </a:pPr>
            <a:r>
              <a:rPr lang="en-US" sz="1200" dirty="0">
                <a:solidFill>
                  <a:schemeClr val="tx1"/>
                </a:solidFill>
              </a:rPr>
              <a:t>Sentirse buen padre o madre</a:t>
            </a:r>
            <a:endParaRPr lang="en-US" sz="1200" dirty="0"/>
          </a:p>
        </p:txBody>
      </p:sp>
      <p:sp>
        <p:nvSpPr>
          <p:cNvPr id="28" name="Shape 20"/>
          <p:cNvSpPr/>
          <p:nvPr/>
        </p:nvSpPr>
        <p:spPr>
          <a:xfrm>
            <a:off x="5349240" y="3401568"/>
            <a:ext cx="1600200" cy="603504"/>
          </a:xfrm>
          <a:prstGeom prst="leftRightArrow">
            <a:avLst/>
          </a:prstGeom>
          <a:solidFill>
            <a:schemeClr val="accent3"/>
          </a:solidFill>
          <a:ln w="12700">
            <a:solidFill>
              <a:schemeClr val="accent3"/>
            </a:solidFill>
            <a:prstDash val="solid"/>
          </a:ln>
        </p:spPr>
      </p:sp>
      <p:sp>
        <p:nvSpPr>
          <p:cNvPr id="29" name="Text 21"/>
          <p:cNvSpPr txBox="1"/>
          <p:nvPr/>
        </p:nvSpPr>
        <p:spPr>
          <a:xfrm>
            <a:off x="5349240" y="3401568"/>
            <a:ext cx="1600200" cy="603504"/>
          </a:xfrm>
          <a:prstGeom prst="rect">
            <a:avLst/>
          </a:prstGeom>
          <a:noFill/>
          <a:ln/>
        </p:spPr>
        <p:txBody>
          <a:bodyPr wrap="square" lIns="0" tIns="0" rIns="0" bIns="0" rtlCol="0" anchor="ctr"/>
          <a:lstStyle/>
          <a:p>
            <a:pPr algn="ctr" indent="0" marL="0">
              <a:buNone/>
            </a:pPr>
            <a:r>
              <a:rPr lang="en-US" sz="1400" b="1" dirty="0">
                <a:solidFill>
                  <a:schemeClr val="tx1"/>
                </a:solidFill>
              </a:rPr>
              <a:t>Encaje</a:t>
            </a:r>
            <a:endParaRPr lang="en-US" sz="1400" dirty="0"/>
          </a:p>
        </p:txBody>
      </p:sp>
      <p:sp>
        <p:nvSpPr>
          <p:cNvPr id="30" name="Text 22"/>
          <p:cNvSpPr txBox="1"/>
          <p:nvPr/>
        </p:nvSpPr>
        <p:spPr>
          <a:xfrm>
            <a:off x="640080" y="6053328"/>
            <a:ext cx="4480560" cy="274320"/>
          </a:xfrm>
          <a:prstGeom prst="rect">
            <a:avLst/>
          </a:prstGeom>
          <a:noFill/>
          <a:ln/>
        </p:spPr>
        <p:txBody>
          <a:bodyPr wrap="square" lIns="0" tIns="0" rIns="0" bIns="0" rtlCol="0" anchor="t"/>
          <a:lstStyle/>
          <a:p>
            <a:pPr algn="ctr" indent="0" marL="0">
              <a:buNone/>
            </a:pPr>
            <a:r>
              <a:rPr lang="en-US" sz="1100" b="1" spc="100" kern="0" dirty="0">
                <a:solidFill>
                  <a:schemeClr val="accent2"/>
                </a:solidFill>
              </a:rPr>
              <a:t>MAPA DE VALOR · ANDIBITE</a:t>
            </a:r>
            <a:endParaRPr lang="en-US" sz="1100" dirty="0"/>
          </a:p>
        </p:txBody>
      </p:sp>
      <p:sp>
        <p:nvSpPr>
          <p:cNvPr id="31" name="Text 23"/>
          <p:cNvSpPr txBox="1"/>
          <p:nvPr/>
        </p:nvSpPr>
        <p:spPr>
          <a:xfrm>
            <a:off x="7178040" y="6053328"/>
            <a:ext cx="4480560" cy="274320"/>
          </a:xfrm>
          <a:prstGeom prst="rect">
            <a:avLst/>
          </a:prstGeom>
          <a:noFill/>
          <a:ln/>
        </p:spPr>
        <p:txBody>
          <a:bodyPr wrap="square" lIns="0" tIns="0" rIns="0" bIns="0" rtlCol="0" anchor="t"/>
          <a:lstStyle/>
          <a:p>
            <a:pPr algn="ctr" indent="0" marL="0">
              <a:buNone/>
            </a:pPr>
            <a:r>
              <a:rPr lang="en-US" sz="1100" b="1" spc="100" kern="0" dirty="0">
                <a:solidFill>
                  <a:schemeClr val="accent1"/>
                </a:solidFill>
              </a:rPr>
              <a:t>PERFIL DEL CLIENTE · CLAUDIA Y RODRIGO</a:t>
            </a:r>
            <a:endParaRPr lang="en-US" sz="11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8 · ENCAJE</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Cada problema del padre tiene una respuesta de AndiBite</a:t>
            </a:r>
            <a:endParaRPr lang="en-US" sz="3400" dirty="0"/>
          </a:p>
        </p:txBody>
      </p:sp>
      <p:sp>
        <p:nvSpPr>
          <p:cNvPr id="4" name="Text 2"/>
          <p:cNvSpPr txBox="1"/>
          <p:nvPr/>
        </p:nvSpPr>
        <p:spPr>
          <a:xfrm>
            <a:off x="548640" y="1463040"/>
            <a:ext cx="36576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PROBLEMA DEL PADRE</a:t>
            </a:r>
            <a:endParaRPr lang="en-US" sz="1200" dirty="0"/>
          </a:p>
        </p:txBody>
      </p:sp>
      <p:sp>
        <p:nvSpPr>
          <p:cNvPr id="5" name="Text 3"/>
          <p:cNvSpPr txBox="1"/>
          <p:nvPr/>
        </p:nvSpPr>
        <p:spPr>
          <a:xfrm>
            <a:off x="6217920" y="1463040"/>
            <a:ext cx="3657600" cy="274320"/>
          </a:xfrm>
          <a:prstGeom prst="rect">
            <a:avLst/>
          </a:prstGeom>
          <a:noFill/>
          <a:ln/>
        </p:spPr>
        <p:txBody>
          <a:bodyPr wrap="square" lIns="0" tIns="0" rIns="0" bIns="0" rtlCol="0" anchor="t"/>
          <a:lstStyle/>
          <a:p>
            <a:pPr indent="0" marL="0">
              <a:buNone/>
            </a:pPr>
            <a:r>
              <a:rPr lang="en-US" sz="1200" b="1" spc="100" kern="0" dirty="0">
                <a:solidFill>
                  <a:schemeClr val="tx2"/>
                </a:solidFill>
              </a:rPr>
              <a:t>LO QUE HACE ANDIBITE</a:t>
            </a:r>
            <a:endParaRPr lang="en-US" sz="1200" dirty="0"/>
          </a:p>
        </p:txBody>
      </p:sp>
      <p:sp>
        <p:nvSpPr>
          <p:cNvPr id="6" name="Text 4"/>
          <p:cNvSpPr txBox="1"/>
          <p:nvPr/>
        </p:nvSpPr>
        <p:spPr>
          <a:xfrm>
            <a:off x="10012680" y="1463040"/>
            <a:ext cx="1627632"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EVIDENCIA</a:t>
            </a:r>
            <a:endParaRPr lang="en-US" sz="1200" dirty="0"/>
          </a:p>
        </p:txBody>
      </p:sp>
      <p:sp>
        <p:nvSpPr>
          <p:cNvPr id="7" name="Shape 5"/>
          <p:cNvSpPr/>
          <p:nvPr/>
        </p:nvSpPr>
        <p:spPr>
          <a:xfrm>
            <a:off x="548640" y="1828800"/>
            <a:ext cx="4572000" cy="713232"/>
          </a:xfrm>
          <a:prstGeom prst="roundRect">
            <a:avLst>
              <a:gd name="adj" fmla="val 5000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8" name="Shape 6"/>
          <p:cNvSpPr/>
          <p:nvPr/>
        </p:nvSpPr>
        <p:spPr>
          <a:xfrm>
            <a:off x="658368" y="1956816"/>
            <a:ext cx="457200" cy="457200"/>
          </a:xfrm>
          <a:prstGeom prst="ellipse">
            <a:avLst/>
          </a:prstGeom>
          <a:solidFill>
            <a:schemeClr val="accent6"/>
          </a:solidFill>
          <a:ln w="12700">
            <a:solidFill>
              <a:schemeClr val="accent6"/>
            </a:solidFill>
            <a:prstDash val="solid"/>
          </a:ln>
        </p:spPr>
      </p:sp>
      <p:pic>
        <p:nvPicPr>
          <p:cNvPr id="9" name="Image 0" descr="preencoded.png">    </p:cNvPr>
          <p:cNvPicPr>
            <a:picLocks noChangeAspect="1"/>
          </p:cNvPicPr>
          <p:nvPr/>
        </p:nvPicPr>
        <p:blipFill>
          <a:blip r:embed="rId1"/>
          <a:stretch>
            <a:fillRect/>
          </a:stretch>
        </p:blipFill>
        <p:spPr>
          <a:xfrm>
            <a:off x="758952" y="2057400"/>
            <a:ext cx="256032" cy="256032"/>
          </a:xfrm>
          <a:prstGeom prst="rect">
            <a:avLst/>
          </a:prstGeom>
        </p:spPr>
      </p:pic>
      <p:sp>
        <p:nvSpPr>
          <p:cNvPr id="10" name="Text 7"/>
          <p:cNvSpPr txBox="1"/>
          <p:nvPr/>
        </p:nvSpPr>
        <p:spPr>
          <a:xfrm>
            <a:off x="1234440" y="1828800"/>
            <a:ext cx="3794760" cy="713232"/>
          </a:xfrm>
          <a:prstGeom prst="rect">
            <a:avLst/>
          </a:prstGeom>
          <a:noFill/>
          <a:ln/>
        </p:spPr>
        <p:txBody>
          <a:bodyPr wrap="square" lIns="0" tIns="0" rIns="0" bIns="0" rtlCol="0" anchor="ctr"/>
          <a:lstStyle/>
          <a:p>
            <a:pPr indent="0" marL="0">
              <a:buNone/>
            </a:pPr>
            <a:r>
              <a:rPr lang="en-US" sz="1500" dirty="0">
                <a:solidFill>
                  <a:schemeClr val="tx1"/>
                </a:solidFill>
              </a:rPr>
              <a:t>Lo saludable regresa intacto</a:t>
            </a:r>
            <a:endParaRPr lang="en-US" sz="1500" dirty="0"/>
          </a:p>
        </p:txBody>
      </p:sp>
      <p:sp>
        <p:nvSpPr>
          <p:cNvPr id="11" name="Shape 8"/>
          <p:cNvSpPr/>
          <p:nvPr/>
        </p:nvSpPr>
        <p:spPr>
          <a:xfrm>
            <a:off x="5285232" y="2011680"/>
            <a:ext cx="777240" cy="347472"/>
          </a:xfrm>
          <a:prstGeom prst="rightArrow">
            <a:avLst/>
          </a:prstGeom>
          <a:solidFill>
            <a:schemeClr val="accent3"/>
          </a:solidFill>
          <a:ln w="12700">
            <a:solidFill>
              <a:schemeClr val="accent3"/>
            </a:solidFill>
            <a:prstDash val="solid"/>
          </a:ln>
        </p:spPr>
      </p:sp>
      <p:sp>
        <p:nvSpPr>
          <p:cNvPr id="12" name="Shape 9"/>
          <p:cNvSpPr/>
          <p:nvPr/>
        </p:nvSpPr>
        <p:spPr>
          <a:xfrm>
            <a:off x="6217920" y="1828800"/>
            <a:ext cx="3657600" cy="713232"/>
          </a:xfrm>
          <a:prstGeom prst="roundRect">
            <a:avLst>
              <a:gd name="adj" fmla="val 50000"/>
            </a:avLst>
          </a:prstGeom>
          <a:solidFill>
            <a:schemeClr val="tx2"/>
          </a:solidFill>
          <a:ln w="12700">
            <a:solidFill>
              <a:schemeClr val="tx2"/>
            </a:solidFill>
            <a:prstDash val="solid"/>
          </a:ln>
        </p:spPr>
      </p:sp>
      <p:sp>
        <p:nvSpPr>
          <p:cNvPr id="13" name="Shape 10"/>
          <p:cNvSpPr/>
          <p:nvPr/>
        </p:nvSpPr>
        <p:spPr>
          <a:xfrm>
            <a:off x="6327648" y="1956816"/>
            <a:ext cx="457200" cy="457200"/>
          </a:xfrm>
          <a:prstGeom prst="ellipse">
            <a:avLst/>
          </a:prstGeom>
          <a:solidFill>
            <a:schemeClr val="accent4"/>
          </a:solidFill>
          <a:ln w="12700">
            <a:solidFill>
              <a:schemeClr val="accent4"/>
            </a:solidFill>
            <a:prstDash val="solid"/>
          </a:ln>
        </p:spPr>
      </p:sp>
      <p:pic>
        <p:nvPicPr>
          <p:cNvPr id="14" name="Image 1" descr="preencoded.png">    </p:cNvPr>
          <p:cNvPicPr>
            <a:picLocks noChangeAspect="1"/>
          </p:cNvPicPr>
          <p:nvPr/>
        </p:nvPicPr>
        <p:blipFill>
          <a:blip r:embed="rId2"/>
          <a:stretch>
            <a:fillRect/>
          </a:stretch>
        </p:blipFill>
        <p:spPr>
          <a:xfrm>
            <a:off x="6428232" y="2057400"/>
            <a:ext cx="256032" cy="256032"/>
          </a:xfrm>
          <a:prstGeom prst="rect">
            <a:avLst/>
          </a:prstGeom>
        </p:spPr>
      </p:pic>
      <p:sp>
        <p:nvSpPr>
          <p:cNvPr id="15" name="Text 11"/>
          <p:cNvSpPr txBox="1"/>
          <p:nvPr/>
        </p:nvSpPr>
        <p:spPr>
          <a:xfrm>
            <a:off x="6903720" y="1828800"/>
            <a:ext cx="2926080" cy="713232"/>
          </a:xfrm>
          <a:prstGeom prst="rect">
            <a:avLst/>
          </a:prstGeom>
          <a:noFill/>
          <a:ln/>
        </p:spPr>
        <p:txBody>
          <a:bodyPr wrap="square" lIns="0" tIns="0" rIns="0" bIns="0" rtlCol="0" anchor="ctr"/>
          <a:lstStyle/>
          <a:p>
            <a:pPr indent="0" marL="0">
              <a:buNone/>
            </a:pPr>
            <a:r>
              <a:rPr lang="en-US" sz="1500" b="1" dirty="0">
                <a:solidFill>
                  <a:schemeClr val="bg1"/>
                </a:solidFill>
              </a:rPr>
              <a:t>Cacao y canela esconden la sangrecita</a:t>
            </a:r>
            <a:endParaRPr lang="en-US" sz="1500" dirty="0"/>
          </a:p>
        </p:txBody>
      </p:sp>
      <p:sp>
        <p:nvSpPr>
          <p:cNvPr id="16" name="Text 12"/>
          <p:cNvSpPr txBox="1"/>
          <p:nvPr/>
        </p:nvSpPr>
        <p:spPr>
          <a:xfrm>
            <a:off x="10012680" y="1828800"/>
            <a:ext cx="1627632" cy="713232"/>
          </a:xfrm>
          <a:prstGeom prst="rect">
            <a:avLst/>
          </a:prstGeom>
          <a:noFill/>
          <a:ln/>
        </p:spPr>
        <p:txBody>
          <a:bodyPr wrap="square" lIns="0" tIns="0" rIns="0" bIns="0" rtlCol="0" anchor="ctr"/>
          <a:lstStyle/>
          <a:p>
            <a:pPr indent="0" marL="0">
              <a:buNone/>
            </a:pPr>
            <a:r>
              <a:rPr lang="en-US" sz="1200" i="1" dirty="0">
                <a:solidFill>
                  <a:schemeClr val="accent2"/>
                </a:solidFill>
              </a:rPr>
              <a:t>Entrevistas y focus 1</a:t>
            </a:r>
            <a:endParaRPr lang="en-US" sz="1200" dirty="0"/>
          </a:p>
        </p:txBody>
      </p:sp>
      <p:sp>
        <p:nvSpPr>
          <p:cNvPr id="17" name="Shape 13"/>
          <p:cNvSpPr/>
          <p:nvPr/>
        </p:nvSpPr>
        <p:spPr>
          <a:xfrm>
            <a:off x="548640" y="2679192"/>
            <a:ext cx="4572000" cy="713232"/>
          </a:xfrm>
          <a:prstGeom prst="roundRect">
            <a:avLst>
              <a:gd name="adj" fmla="val 5000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8" name="Shape 14"/>
          <p:cNvSpPr/>
          <p:nvPr/>
        </p:nvSpPr>
        <p:spPr>
          <a:xfrm>
            <a:off x="658368" y="2807208"/>
            <a:ext cx="457200" cy="457200"/>
          </a:xfrm>
          <a:prstGeom prst="ellipse">
            <a:avLst/>
          </a:prstGeom>
          <a:solidFill>
            <a:schemeClr val="accent6"/>
          </a:solidFill>
          <a:ln w="12700">
            <a:solidFill>
              <a:schemeClr val="accent6"/>
            </a:solidFill>
            <a:prstDash val="solid"/>
          </a:ln>
        </p:spPr>
      </p:sp>
      <p:pic>
        <p:nvPicPr>
          <p:cNvPr id="19" name="Image 2" descr="preencoded.png">    </p:cNvPr>
          <p:cNvPicPr>
            <a:picLocks noChangeAspect="1"/>
          </p:cNvPicPr>
          <p:nvPr/>
        </p:nvPicPr>
        <p:blipFill>
          <a:blip r:embed="rId3"/>
          <a:stretch>
            <a:fillRect/>
          </a:stretch>
        </p:blipFill>
        <p:spPr>
          <a:xfrm>
            <a:off x="758952" y="2907792"/>
            <a:ext cx="256032" cy="256032"/>
          </a:xfrm>
          <a:prstGeom prst="rect">
            <a:avLst/>
          </a:prstGeom>
        </p:spPr>
      </p:pic>
      <p:sp>
        <p:nvSpPr>
          <p:cNvPr id="20" name="Text 15"/>
          <p:cNvSpPr txBox="1"/>
          <p:nvPr/>
        </p:nvSpPr>
        <p:spPr>
          <a:xfrm>
            <a:off x="1234440" y="2679192"/>
            <a:ext cx="3794760" cy="713232"/>
          </a:xfrm>
          <a:prstGeom prst="rect">
            <a:avLst/>
          </a:prstGeom>
          <a:noFill/>
          <a:ln/>
        </p:spPr>
        <p:txBody>
          <a:bodyPr wrap="square" lIns="0" tIns="0" rIns="0" bIns="0" rtlCol="0" anchor="ctr"/>
          <a:lstStyle/>
          <a:p>
            <a:pPr indent="0" marL="0">
              <a:buNone/>
            </a:pPr>
            <a:r>
              <a:rPr lang="en-US" sz="1500" dirty="0">
                <a:solidFill>
                  <a:schemeClr val="tx1"/>
                </a:solidFill>
              </a:rPr>
              <a:t>El octógono contradice lo saludable</a:t>
            </a:r>
            <a:endParaRPr lang="en-US" sz="1500" dirty="0"/>
          </a:p>
        </p:txBody>
      </p:sp>
      <p:sp>
        <p:nvSpPr>
          <p:cNvPr id="21" name="Shape 16"/>
          <p:cNvSpPr/>
          <p:nvPr/>
        </p:nvSpPr>
        <p:spPr>
          <a:xfrm>
            <a:off x="5285232" y="2862072"/>
            <a:ext cx="777240" cy="347472"/>
          </a:xfrm>
          <a:prstGeom prst="rightArrow">
            <a:avLst/>
          </a:prstGeom>
          <a:solidFill>
            <a:schemeClr val="accent3"/>
          </a:solidFill>
          <a:ln w="12700">
            <a:solidFill>
              <a:schemeClr val="accent3"/>
            </a:solidFill>
            <a:prstDash val="solid"/>
          </a:ln>
        </p:spPr>
      </p:sp>
      <p:sp>
        <p:nvSpPr>
          <p:cNvPr id="22" name="Shape 17"/>
          <p:cNvSpPr/>
          <p:nvPr/>
        </p:nvSpPr>
        <p:spPr>
          <a:xfrm>
            <a:off x="6217920" y="2679192"/>
            <a:ext cx="3657600" cy="713232"/>
          </a:xfrm>
          <a:prstGeom prst="roundRect">
            <a:avLst>
              <a:gd name="adj" fmla="val 50000"/>
            </a:avLst>
          </a:prstGeom>
          <a:solidFill>
            <a:schemeClr val="tx2"/>
          </a:solidFill>
          <a:ln w="12700">
            <a:solidFill>
              <a:schemeClr val="tx2"/>
            </a:solidFill>
            <a:prstDash val="solid"/>
          </a:ln>
        </p:spPr>
      </p:sp>
      <p:sp>
        <p:nvSpPr>
          <p:cNvPr id="23" name="Shape 18"/>
          <p:cNvSpPr/>
          <p:nvPr/>
        </p:nvSpPr>
        <p:spPr>
          <a:xfrm>
            <a:off x="6327648" y="2807208"/>
            <a:ext cx="457200" cy="457200"/>
          </a:xfrm>
          <a:prstGeom prst="ellipse">
            <a:avLst/>
          </a:prstGeom>
          <a:solidFill>
            <a:schemeClr val="accent4"/>
          </a:solidFill>
          <a:ln w="12700">
            <a:solidFill>
              <a:schemeClr val="accent4"/>
            </a:solidFill>
            <a:prstDash val="solid"/>
          </a:ln>
        </p:spPr>
      </p:sp>
      <p:pic>
        <p:nvPicPr>
          <p:cNvPr id="24" name="Image 3" descr="preencoded.png">    </p:cNvPr>
          <p:cNvPicPr>
            <a:picLocks noChangeAspect="1"/>
          </p:cNvPicPr>
          <p:nvPr/>
        </p:nvPicPr>
        <p:blipFill>
          <a:blip r:embed="rId4"/>
          <a:stretch>
            <a:fillRect/>
          </a:stretch>
        </p:blipFill>
        <p:spPr>
          <a:xfrm>
            <a:off x="6428232" y="2907792"/>
            <a:ext cx="256032" cy="256032"/>
          </a:xfrm>
          <a:prstGeom prst="rect">
            <a:avLst/>
          </a:prstGeom>
        </p:spPr>
      </p:pic>
      <p:sp>
        <p:nvSpPr>
          <p:cNvPr id="25" name="Text 19"/>
          <p:cNvSpPr txBox="1"/>
          <p:nvPr/>
        </p:nvSpPr>
        <p:spPr>
          <a:xfrm>
            <a:off x="6903720" y="2679192"/>
            <a:ext cx="2926080" cy="713232"/>
          </a:xfrm>
          <a:prstGeom prst="rect">
            <a:avLst/>
          </a:prstGeom>
          <a:noFill/>
          <a:ln/>
        </p:spPr>
        <p:txBody>
          <a:bodyPr wrap="square" lIns="0" tIns="0" rIns="0" bIns="0" rtlCol="0" anchor="ctr"/>
          <a:lstStyle/>
          <a:p>
            <a:pPr indent="0" marL="0">
              <a:buNone/>
            </a:pPr>
            <a:r>
              <a:rPr lang="en-US" sz="1500" b="1" dirty="0">
                <a:solidFill>
                  <a:schemeClr val="bg1"/>
                </a:solidFill>
              </a:rPr>
              <a:t>Sin octógono: menos de 10 g de azúcar</a:t>
            </a:r>
            <a:endParaRPr lang="en-US" sz="1500" dirty="0"/>
          </a:p>
        </p:txBody>
      </p:sp>
      <p:sp>
        <p:nvSpPr>
          <p:cNvPr id="26" name="Text 20"/>
          <p:cNvSpPr txBox="1"/>
          <p:nvPr/>
        </p:nvSpPr>
        <p:spPr>
          <a:xfrm>
            <a:off x="10012680" y="2679192"/>
            <a:ext cx="1627632" cy="713232"/>
          </a:xfrm>
          <a:prstGeom prst="rect">
            <a:avLst/>
          </a:prstGeom>
          <a:noFill/>
          <a:ln/>
        </p:spPr>
        <p:txBody>
          <a:bodyPr wrap="square" lIns="0" tIns="0" rIns="0" bIns="0" rtlCol="0" anchor="ctr"/>
          <a:lstStyle/>
          <a:p>
            <a:pPr indent="0" marL="0">
              <a:buNone/>
            </a:pPr>
            <a:r>
              <a:rPr lang="en-US" sz="1200" i="1" dirty="0">
                <a:solidFill>
                  <a:schemeClr val="accent2"/>
                </a:solidFill>
              </a:rPr>
              <a:t>83 % · Ipsos 2025</a:t>
            </a:r>
            <a:endParaRPr lang="en-US" sz="1200" dirty="0"/>
          </a:p>
        </p:txBody>
      </p:sp>
      <p:sp>
        <p:nvSpPr>
          <p:cNvPr id="27" name="Shape 21"/>
          <p:cNvSpPr/>
          <p:nvPr/>
        </p:nvSpPr>
        <p:spPr>
          <a:xfrm>
            <a:off x="548640" y="3529584"/>
            <a:ext cx="4572000" cy="713232"/>
          </a:xfrm>
          <a:prstGeom prst="roundRect">
            <a:avLst>
              <a:gd name="adj" fmla="val 5000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8" name="Shape 22"/>
          <p:cNvSpPr/>
          <p:nvPr/>
        </p:nvSpPr>
        <p:spPr>
          <a:xfrm>
            <a:off x="658368" y="3657600"/>
            <a:ext cx="457200" cy="457200"/>
          </a:xfrm>
          <a:prstGeom prst="ellipse">
            <a:avLst/>
          </a:prstGeom>
          <a:solidFill>
            <a:schemeClr val="accent6"/>
          </a:solidFill>
          <a:ln w="12700">
            <a:solidFill>
              <a:schemeClr val="accent6"/>
            </a:solidFill>
            <a:prstDash val="solid"/>
          </a:ln>
        </p:spPr>
      </p:sp>
      <p:pic>
        <p:nvPicPr>
          <p:cNvPr id="29" name="Image 4" descr="preencoded.png">    </p:cNvPr>
          <p:cNvPicPr>
            <a:picLocks noChangeAspect="1"/>
          </p:cNvPicPr>
          <p:nvPr/>
        </p:nvPicPr>
        <p:blipFill>
          <a:blip r:embed="rId5"/>
          <a:stretch>
            <a:fillRect/>
          </a:stretch>
        </p:blipFill>
        <p:spPr>
          <a:xfrm>
            <a:off x="758952" y="3758184"/>
            <a:ext cx="256032" cy="256032"/>
          </a:xfrm>
          <a:prstGeom prst="rect">
            <a:avLst/>
          </a:prstGeom>
        </p:spPr>
      </p:pic>
      <p:sp>
        <p:nvSpPr>
          <p:cNvPr id="30" name="Text 23"/>
          <p:cNvSpPr txBox="1"/>
          <p:nvPr/>
        </p:nvSpPr>
        <p:spPr>
          <a:xfrm>
            <a:off x="1234440" y="3529584"/>
            <a:ext cx="3794760" cy="713232"/>
          </a:xfrm>
          <a:prstGeom prst="rect">
            <a:avLst/>
          </a:prstGeom>
          <a:noFill/>
          <a:ln/>
        </p:spPr>
        <p:txBody>
          <a:bodyPr wrap="square" lIns="0" tIns="0" rIns="0" bIns="0" rtlCol="0" anchor="ctr"/>
          <a:lstStyle/>
          <a:p>
            <a:pPr indent="0" marL="0">
              <a:buNone/>
            </a:pPr>
            <a:r>
              <a:rPr lang="en-US" sz="1500" dirty="0">
                <a:solidFill>
                  <a:schemeClr val="tx1"/>
                </a:solidFill>
              </a:rPr>
              <a:t>No confío en lo envasado</a:t>
            </a:r>
            <a:endParaRPr lang="en-US" sz="1500" dirty="0"/>
          </a:p>
        </p:txBody>
      </p:sp>
      <p:sp>
        <p:nvSpPr>
          <p:cNvPr id="31" name="Shape 24"/>
          <p:cNvSpPr/>
          <p:nvPr/>
        </p:nvSpPr>
        <p:spPr>
          <a:xfrm>
            <a:off x="5285232" y="3712464"/>
            <a:ext cx="777240" cy="347472"/>
          </a:xfrm>
          <a:prstGeom prst="rightArrow">
            <a:avLst/>
          </a:prstGeom>
          <a:solidFill>
            <a:schemeClr val="accent3"/>
          </a:solidFill>
          <a:ln w="12700">
            <a:solidFill>
              <a:schemeClr val="accent3"/>
            </a:solidFill>
            <a:prstDash val="solid"/>
          </a:ln>
        </p:spPr>
      </p:sp>
      <p:sp>
        <p:nvSpPr>
          <p:cNvPr id="32" name="Shape 25"/>
          <p:cNvSpPr/>
          <p:nvPr/>
        </p:nvSpPr>
        <p:spPr>
          <a:xfrm>
            <a:off x="6217920" y="3529584"/>
            <a:ext cx="3657600" cy="713232"/>
          </a:xfrm>
          <a:prstGeom prst="roundRect">
            <a:avLst>
              <a:gd name="adj" fmla="val 50000"/>
            </a:avLst>
          </a:prstGeom>
          <a:solidFill>
            <a:schemeClr val="tx2"/>
          </a:solidFill>
          <a:ln w="12700">
            <a:solidFill>
              <a:schemeClr val="tx2"/>
            </a:solidFill>
            <a:prstDash val="solid"/>
          </a:ln>
        </p:spPr>
      </p:sp>
      <p:sp>
        <p:nvSpPr>
          <p:cNvPr id="33" name="Shape 26"/>
          <p:cNvSpPr/>
          <p:nvPr/>
        </p:nvSpPr>
        <p:spPr>
          <a:xfrm>
            <a:off x="6327648" y="3657600"/>
            <a:ext cx="457200" cy="457200"/>
          </a:xfrm>
          <a:prstGeom prst="ellipse">
            <a:avLst/>
          </a:prstGeom>
          <a:solidFill>
            <a:schemeClr val="accent4"/>
          </a:solidFill>
          <a:ln w="12700">
            <a:solidFill>
              <a:schemeClr val="accent4"/>
            </a:solidFill>
            <a:prstDash val="solid"/>
          </a:ln>
        </p:spPr>
      </p:sp>
      <p:pic>
        <p:nvPicPr>
          <p:cNvPr id="34" name="Image 5" descr="preencoded.png">    </p:cNvPr>
          <p:cNvPicPr>
            <a:picLocks noChangeAspect="1"/>
          </p:cNvPicPr>
          <p:nvPr/>
        </p:nvPicPr>
        <p:blipFill>
          <a:blip r:embed="rId6"/>
          <a:stretch>
            <a:fillRect/>
          </a:stretch>
        </p:blipFill>
        <p:spPr>
          <a:xfrm>
            <a:off x="6428232" y="3758184"/>
            <a:ext cx="256032" cy="256032"/>
          </a:xfrm>
          <a:prstGeom prst="rect">
            <a:avLst/>
          </a:prstGeom>
        </p:spPr>
      </p:pic>
      <p:sp>
        <p:nvSpPr>
          <p:cNvPr id="35" name="Text 27"/>
          <p:cNvSpPr txBox="1"/>
          <p:nvPr/>
        </p:nvSpPr>
        <p:spPr>
          <a:xfrm>
            <a:off x="6903720" y="3529584"/>
            <a:ext cx="2926080" cy="713232"/>
          </a:xfrm>
          <a:prstGeom prst="rect">
            <a:avLst/>
          </a:prstGeom>
          <a:noFill/>
          <a:ln/>
        </p:spPr>
        <p:txBody>
          <a:bodyPr wrap="square" lIns="0" tIns="0" rIns="0" bIns="0" rtlCol="0" anchor="ctr"/>
          <a:lstStyle/>
          <a:p>
            <a:pPr indent="0" marL="0">
              <a:buNone/>
            </a:pPr>
            <a:r>
              <a:rPr lang="en-US" sz="1500" b="1" dirty="0">
                <a:solidFill>
                  <a:schemeClr val="bg1"/>
                </a:solidFill>
              </a:rPr>
              <a:t>Hierro medido del lote en la app</a:t>
            </a:r>
            <a:endParaRPr lang="en-US" sz="1500" dirty="0"/>
          </a:p>
        </p:txBody>
      </p:sp>
      <p:sp>
        <p:nvSpPr>
          <p:cNvPr id="36" name="Text 28"/>
          <p:cNvSpPr txBox="1"/>
          <p:nvPr/>
        </p:nvSpPr>
        <p:spPr>
          <a:xfrm>
            <a:off x="10012680" y="3529584"/>
            <a:ext cx="1627632" cy="713232"/>
          </a:xfrm>
          <a:prstGeom prst="rect">
            <a:avLst/>
          </a:prstGeom>
          <a:noFill/>
          <a:ln/>
        </p:spPr>
        <p:txBody>
          <a:bodyPr wrap="square" lIns="0" tIns="0" rIns="0" bIns="0" rtlCol="0" anchor="ctr"/>
          <a:lstStyle/>
          <a:p>
            <a:pPr indent="0" marL="0">
              <a:buNone/>
            </a:pPr>
            <a:r>
              <a:rPr lang="en-US" sz="1200" i="1" dirty="0">
                <a:solidFill>
                  <a:schemeClr val="accent2"/>
                </a:solidFill>
              </a:rPr>
              <a:t>42 % · Kantar 2025</a:t>
            </a:r>
            <a:endParaRPr lang="en-US" sz="1200" dirty="0"/>
          </a:p>
        </p:txBody>
      </p:sp>
      <p:sp>
        <p:nvSpPr>
          <p:cNvPr id="37" name="Shape 29"/>
          <p:cNvSpPr/>
          <p:nvPr/>
        </p:nvSpPr>
        <p:spPr>
          <a:xfrm>
            <a:off x="548640" y="4379976"/>
            <a:ext cx="4572000" cy="713232"/>
          </a:xfrm>
          <a:prstGeom prst="roundRect">
            <a:avLst>
              <a:gd name="adj" fmla="val 5000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38" name="Shape 30"/>
          <p:cNvSpPr/>
          <p:nvPr/>
        </p:nvSpPr>
        <p:spPr>
          <a:xfrm>
            <a:off x="658368" y="4507992"/>
            <a:ext cx="457200" cy="457200"/>
          </a:xfrm>
          <a:prstGeom prst="ellipse">
            <a:avLst/>
          </a:prstGeom>
          <a:solidFill>
            <a:schemeClr val="accent6"/>
          </a:solidFill>
          <a:ln w="12700">
            <a:solidFill>
              <a:schemeClr val="accent6"/>
            </a:solidFill>
            <a:prstDash val="solid"/>
          </a:ln>
        </p:spPr>
      </p:sp>
      <p:pic>
        <p:nvPicPr>
          <p:cNvPr id="39" name="Image 6" descr="preencoded.png">    </p:cNvPr>
          <p:cNvPicPr>
            <a:picLocks noChangeAspect="1"/>
          </p:cNvPicPr>
          <p:nvPr/>
        </p:nvPicPr>
        <p:blipFill>
          <a:blip r:embed="rId7"/>
          <a:stretch>
            <a:fillRect/>
          </a:stretch>
        </p:blipFill>
        <p:spPr>
          <a:xfrm>
            <a:off x="758952" y="4608576"/>
            <a:ext cx="256032" cy="256032"/>
          </a:xfrm>
          <a:prstGeom prst="rect">
            <a:avLst/>
          </a:prstGeom>
        </p:spPr>
      </p:pic>
      <p:sp>
        <p:nvSpPr>
          <p:cNvPr id="40" name="Text 31"/>
          <p:cNvSpPr txBox="1"/>
          <p:nvPr/>
        </p:nvSpPr>
        <p:spPr>
          <a:xfrm>
            <a:off x="1234440" y="4379976"/>
            <a:ext cx="3794760" cy="713232"/>
          </a:xfrm>
          <a:prstGeom prst="rect">
            <a:avLst/>
          </a:prstGeom>
          <a:noFill/>
          <a:ln/>
        </p:spPr>
        <p:txBody>
          <a:bodyPr wrap="square" lIns="0" tIns="0" rIns="0" bIns="0" rtlCol="0" anchor="ctr"/>
          <a:lstStyle/>
          <a:p>
            <a:pPr indent="0" marL="0">
              <a:buNone/>
            </a:pPr>
            <a:r>
              <a:rPr lang="en-US" sz="1500" dirty="0">
                <a:solidFill>
                  <a:schemeClr val="tx1"/>
                </a:solidFill>
              </a:rPr>
              <a:t>El jueves ya no sé qué mandar</a:t>
            </a:r>
            <a:endParaRPr lang="en-US" sz="1500" dirty="0"/>
          </a:p>
        </p:txBody>
      </p:sp>
      <p:sp>
        <p:nvSpPr>
          <p:cNvPr id="41" name="Shape 32"/>
          <p:cNvSpPr/>
          <p:nvPr/>
        </p:nvSpPr>
        <p:spPr>
          <a:xfrm>
            <a:off x="5285232" y="4562856"/>
            <a:ext cx="777240" cy="347472"/>
          </a:xfrm>
          <a:prstGeom prst="rightArrow">
            <a:avLst/>
          </a:prstGeom>
          <a:solidFill>
            <a:schemeClr val="accent3"/>
          </a:solidFill>
          <a:ln w="12700">
            <a:solidFill>
              <a:schemeClr val="accent3"/>
            </a:solidFill>
            <a:prstDash val="solid"/>
          </a:ln>
        </p:spPr>
      </p:sp>
      <p:sp>
        <p:nvSpPr>
          <p:cNvPr id="42" name="Shape 33"/>
          <p:cNvSpPr/>
          <p:nvPr/>
        </p:nvSpPr>
        <p:spPr>
          <a:xfrm>
            <a:off x="6217920" y="4379976"/>
            <a:ext cx="3657600" cy="713232"/>
          </a:xfrm>
          <a:prstGeom prst="roundRect">
            <a:avLst>
              <a:gd name="adj" fmla="val 50000"/>
            </a:avLst>
          </a:prstGeom>
          <a:solidFill>
            <a:schemeClr val="tx2"/>
          </a:solidFill>
          <a:ln w="12700">
            <a:solidFill>
              <a:schemeClr val="tx2"/>
            </a:solidFill>
            <a:prstDash val="solid"/>
          </a:ln>
        </p:spPr>
      </p:sp>
      <p:sp>
        <p:nvSpPr>
          <p:cNvPr id="43" name="Shape 34"/>
          <p:cNvSpPr/>
          <p:nvPr/>
        </p:nvSpPr>
        <p:spPr>
          <a:xfrm>
            <a:off x="6327648" y="4507992"/>
            <a:ext cx="457200" cy="457200"/>
          </a:xfrm>
          <a:prstGeom prst="ellipse">
            <a:avLst/>
          </a:prstGeom>
          <a:solidFill>
            <a:schemeClr val="accent4"/>
          </a:solidFill>
          <a:ln w="12700">
            <a:solidFill>
              <a:schemeClr val="accent4"/>
            </a:solidFill>
            <a:prstDash val="solid"/>
          </a:ln>
        </p:spPr>
      </p:sp>
      <p:pic>
        <p:nvPicPr>
          <p:cNvPr id="44" name="Image 7" descr="preencoded.png">    </p:cNvPr>
          <p:cNvPicPr>
            <a:picLocks noChangeAspect="1"/>
          </p:cNvPicPr>
          <p:nvPr/>
        </p:nvPicPr>
        <p:blipFill>
          <a:blip r:embed="rId8"/>
          <a:stretch>
            <a:fillRect/>
          </a:stretch>
        </p:blipFill>
        <p:spPr>
          <a:xfrm>
            <a:off x="6428232" y="4608576"/>
            <a:ext cx="256032" cy="256032"/>
          </a:xfrm>
          <a:prstGeom prst="rect">
            <a:avLst/>
          </a:prstGeom>
        </p:spPr>
      </p:pic>
      <p:sp>
        <p:nvSpPr>
          <p:cNvPr id="45" name="Text 35"/>
          <p:cNvSpPr txBox="1"/>
          <p:nvPr/>
        </p:nvSpPr>
        <p:spPr>
          <a:xfrm>
            <a:off x="6903720" y="4379976"/>
            <a:ext cx="2926080" cy="713232"/>
          </a:xfrm>
          <a:prstGeom prst="rect">
            <a:avLst/>
          </a:prstGeom>
          <a:noFill/>
          <a:ln/>
        </p:spPr>
        <p:txBody>
          <a:bodyPr wrap="square" lIns="0" tIns="0" rIns="0" bIns="0" rtlCol="0" anchor="ctr"/>
          <a:lstStyle/>
          <a:p>
            <a:pPr indent="0" marL="0">
              <a:buNone/>
            </a:pPr>
            <a:r>
              <a:rPr lang="en-US" sz="1500" b="1" dirty="0">
                <a:solidFill>
                  <a:schemeClr val="bg1"/>
                </a:solidFill>
              </a:rPr>
              <a:t>Plan de loncheras en la app</a:t>
            </a:r>
            <a:endParaRPr lang="en-US" sz="1500" dirty="0"/>
          </a:p>
        </p:txBody>
      </p:sp>
      <p:sp>
        <p:nvSpPr>
          <p:cNvPr id="46" name="Text 36"/>
          <p:cNvSpPr txBox="1"/>
          <p:nvPr/>
        </p:nvSpPr>
        <p:spPr>
          <a:xfrm>
            <a:off x="10012680" y="4379976"/>
            <a:ext cx="1627632" cy="713232"/>
          </a:xfrm>
          <a:prstGeom prst="rect">
            <a:avLst/>
          </a:prstGeom>
          <a:noFill/>
          <a:ln/>
        </p:spPr>
        <p:txBody>
          <a:bodyPr wrap="square" lIns="0" tIns="0" rIns="0" bIns="0" rtlCol="0" anchor="ctr"/>
          <a:lstStyle/>
          <a:p>
            <a:pPr indent="0" marL="0">
              <a:buNone/>
            </a:pPr>
            <a:r>
              <a:rPr lang="en-US" sz="1200" i="1" dirty="0">
                <a:solidFill>
                  <a:schemeClr val="accent2"/>
                </a:solidFill>
              </a:rPr>
              <a:t>Entrevistas</a:t>
            </a:r>
            <a:endParaRPr lang="en-US" sz="1200" dirty="0"/>
          </a:p>
        </p:txBody>
      </p:sp>
      <p:sp>
        <p:nvSpPr>
          <p:cNvPr id="47" name="Shape 37"/>
          <p:cNvSpPr/>
          <p:nvPr/>
        </p:nvSpPr>
        <p:spPr>
          <a:xfrm>
            <a:off x="548640" y="5230368"/>
            <a:ext cx="4572000" cy="713232"/>
          </a:xfrm>
          <a:prstGeom prst="roundRect">
            <a:avLst>
              <a:gd name="adj" fmla="val 50000"/>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48" name="Shape 38"/>
          <p:cNvSpPr/>
          <p:nvPr/>
        </p:nvSpPr>
        <p:spPr>
          <a:xfrm>
            <a:off x="658368" y="5358384"/>
            <a:ext cx="457200" cy="457200"/>
          </a:xfrm>
          <a:prstGeom prst="ellipse">
            <a:avLst/>
          </a:prstGeom>
          <a:solidFill>
            <a:schemeClr val="accent6"/>
          </a:solidFill>
          <a:ln w="12700">
            <a:solidFill>
              <a:schemeClr val="accent6"/>
            </a:solidFill>
            <a:prstDash val="solid"/>
          </a:ln>
        </p:spPr>
      </p:sp>
      <p:pic>
        <p:nvPicPr>
          <p:cNvPr id="49" name="Image 8" descr="preencoded.png">    </p:cNvPr>
          <p:cNvPicPr>
            <a:picLocks noChangeAspect="1"/>
          </p:cNvPicPr>
          <p:nvPr/>
        </p:nvPicPr>
        <p:blipFill>
          <a:blip r:embed="rId9"/>
          <a:stretch>
            <a:fillRect/>
          </a:stretch>
        </p:blipFill>
        <p:spPr>
          <a:xfrm>
            <a:off x="758952" y="5458968"/>
            <a:ext cx="256032" cy="256032"/>
          </a:xfrm>
          <a:prstGeom prst="rect">
            <a:avLst/>
          </a:prstGeom>
        </p:spPr>
      </p:pic>
      <p:sp>
        <p:nvSpPr>
          <p:cNvPr id="50" name="Text 39"/>
          <p:cNvSpPr txBox="1"/>
          <p:nvPr/>
        </p:nvSpPr>
        <p:spPr>
          <a:xfrm>
            <a:off x="1234440" y="5230368"/>
            <a:ext cx="3794760" cy="713232"/>
          </a:xfrm>
          <a:prstGeom prst="rect">
            <a:avLst/>
          </a:prstGeom>
          <a:noFill/>
          <a:ln/>
        </p:spPr>
        <p:txBody>
          <a:bodyPr wrap="square" lIns="0" tIns="0" rIns="0" bIns="0" rtlCol="0" anchor="ctr"/>
          <a:lstStyle/>
          <a:p>
            <a:pPr indent="0" marL="0">
              <a:buNone/>
            </a:pPr>
            <a:r>
              <a:rPr lang="en-US" sz="1500" dirty="0">
                <a:solidFill>
                  <a:schemeClr val="tx1"/>
                </a:solidFill>
              </a:rPr>
              <a:t>La mochila malogra la comida</a:t>
            </a:r>
            <a:endParaRPr lang="en-US" sz="1500" dirty="0"/>
          </a:p>
        </p:txBody>
      </p:sp>
      <p:sp>
        <p:nvSpPr>
          <p:cNvPr id="51" name="Shape 40"/>
          <p:cNvSpPr/>
          <p:nvPr/>
        </p:nvSpPr>
        <p:spPr>
          <a:xfrm>
            <a:off x="5285232" y="5413248"/>
            <a:ext cx="777240" cy="347472"/>
          </a:xfrm>
          <a:prstGeom prst="rightArrow">
            <a:avLst/>
          </a:prstGeom>
          <a:solidFill>
            <a:schemeClr val="accent3"/>
          </a:solidFill>
          <a:ln w="12700">
            <a:solidFill>
              <a:schemeClr val="accent3"/>
            </a:solidFill>
            <a:prstDash val="solid"/>
          </a:ln>
        </p:spPr>
      </p:sp>
      <p:sp>
        <p:nvSpPr>
          <p:cNvPr id="52" name="Shape 41"/>
          <p:cNvSpPr/>
          <p:nvPr/>
        </p:nvSpPr>
        <p:spPr>
          <a:xfrm>
            <a:off x="6217920" y="5230368"/>
            <a:ext cx="3657600" cy="713232"/>
          </a:xfrm>
          <a:prstGeom prst="roundRect">
            <a:avLst>
              <a:gd name="adj" fmla="val 50000"/>
            </a:avLst>
          </a:prstGeom>
          <a:solidFill>
            <a:schemeClr val="tx2"/>
          </a:solidFill>
          <a:ln w="12700">
            <a:solidFill>
              <a:schemeClr val="tx2"/>
            </a:solidFill>
            <a:prstDash val="solid"/>
          </a:ln>
        </p:spPr>
      </p:sp>
      <p:sp>
        <p:nvSpPr>
          <p:cNvPr id="53" name="Shape 42"/>
          <p:cNvSpPr/>
          <p:nvPr/>
        </p:nvSpPr>
        <p:spPr>
          <a:xfrm>
            <a:off x="6327648" y="5358384"/>
            <a:ext cx="457200" cy="457200"/>
          </a:xfrm>
          <a:prstGeom prst="ellipse">
            <a:avLst/>
          </a:prstGeom>
          <a:solidFill>
            <a:schemeClr val="accent4"/>
          </a:solidFill>
          <a:ln w="12700">
            <a:solidFill>
              <a:schemeClr val="accent4"/>
            </a:solidFill>
            <a:prstDash val="solid"/>
          </a:ln>
        </p:spPr>
      </p:sp>
      <p:pic>
        <p:nvPicPr>
          <p:cNvPr id="54" name="Image 9" descr="preencoded.png">    </p:cNvPr>
          <p:cNvPicPr>
            <a:picLocks noChangeAspect="1"/>
          </p:cNvPicPr>
          <p:nvPr/>
        </p:nvPicPr>
        <p:blipFill>
          <a:blip r:embed="rId10"/>
          <a:stretch>
            <a:fillRect/>
          </a:stretch>
        </p:blipFill>
        <p:spPr>
          <a:xfrm>
            <a:off x="6428232" y="5458968"/>
            <a:ext cx="256032" cy="256032"/>
          </a:xfrm>
          <a:prstGeom prst="rect">
            <a:avLst/>
          </a:prstGeom>
        </p:spPr>
      </p:pic>
      <p:sp>
        <p:nvSpPr>
          <p:cNvPr id="55" name="Text 43"/>
          <p:cNvSpPr txBox="1"/>
          <p:nvPr/>
        </p:nvSpPr>
        <p:spPr>
          <a:xfrm>
            <a:off x="6903720" y="5230368"/>
            <a:ext cx="2926080" cy="713232"/>
          </a:xfrm>
          <a:prstGeom prst="rect">
            <a:avLst/>
          </a:prstGeom>
          <a:noFill/>
          <a:ln/>
        </p:spPr>
        <p:txBody>
          <a:bodyPr wrap="square" lIns="0" tIns="0" rIns="0" bIns="0" rtlCol="0" anchor="ctr"/>
          <a:lstStyle/>
          <a:p>
            <a:pPr indent="0" marL="0">
              <a:buNone/>
            </a:pPr>
            <a:r>
              <a:rPr lang="en-US" sz="1500" b="1" dirty="0">
                <a:solidFill>
                  <a:schemeClr val="bg1"/>
                </a:solidFill>
              </a:rPr>
              <a:t>Porción sellada que no necesita frío</a:t>
            </a:r>
            <a:endParaRPr lang="en-US" sz="1500" dirty="0"/>
          </a:p>
        </p:txBody>
      </p:sp>
      <p:sp>
        <p:nvSpPr>
          <p:cNvPr id="56" name="Text 44"/>
          <p:cNvSpPr txBox="1"/>
          <p:nvPr/>
        </p:nvSpPr>
        <p:spPr>
          <a:xfrm>
            <a:off x="10012680" y="5230368"/>
            <a:ext cx="1627632" cy="713232"/>
          </a:xfrm>
          <a:prstGeom prst="rect">
            <a:avLst/>
          </a:prstGeom>
          <a:noFill/>
          <a:ln/>
        </p:spPr>
        <p:txBody>
          <a:bodyPr wrap="square" lIns="0" tIns="0" rIns="0" bIns="0" rtlCol="0" anchor="ctr"/>
          <a:lstStyle/>
          <a:p>
            <a:pPr indent="0" marL="0">
              <a:buNone/>
            </a:pPr>
            <a:r>
              <a:rPr lang="en-US" sz="1200" i="1" dirty="0">
                <a:solidFill>
                  <a:schemeClr val="accent2"/>
                </a:solidFill>
              </a:rPr>
              <a:t>Entrevistas</a:t>
            </a:r>
            <a:endParaRPr lang="en-US" sz="12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8 · INNOVACIÓN TECNOLÓGICA</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App Andi, Misión Hierro: viene con cada envase</a:t>
            </a:r>
            <a:endParaRPr lang="en-US" sz="3400" dirty="0"/>
          </a:p>
        </p:txBody>
      </p:sp>
      <p:sp>
        <p:nvSpPr>
          <p:cNvPr id="4" name="Shape 2"/>
          <p:cNvSpPr/>
          <p:nvPr/>
        </p:nvSpPr>
        <p:spPr>
          <a:xfrm>
            <a:off x="548640" y="1463040"/>
            <a:ext cx="4343400" cy="4069080"/>
          </a:xfrm>
          <a:prstGeom prst="roundRect">
            <a:avLst>
              <a:gd name="adj" fmla="val 2697"/>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5" name="Text 3"/>
          <p:cNvSpPr txBox="1"/>
          <p:nvPr/>
        </p:nvSpPr>
        <p:spPr>
          <a:xfrm>
            <a:off x="822960" y="1645920"/>
            <a:ext cx="384048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MODO PADRES</a:t>
            </a:r>
            <a:endParaRPr lang="en-US" sz="1200" dirty="0"/>
          </a:p>
        </p:txBody>
      </p:sp>
      <p:sp>
        <p:nvSpPr>
          <p:cNvPr id="6" name="Text 4"/>
          <p:cNvSpPr txBox="1"/>
          <p:nvPr/>
        </p:nvSpPr>
        <p:spPr>
          <a:xfrm>
            <a:off x="822960" y="1920240"/>
            <a:ext cx="3840480" cy="384048"/>
          </a:xfrm>
          <a:prstGeom prst="rect">
            <a:avLst/>
          </a:prstGeom>
          <a:noFill/>
          <a:ln/>
        </p:spPr>
        <p:txBody>
          <a:bodyPr wrap="square" lIns="0" tIns="0" rIns="0" bIns="0" rtlCol="0" anchor="t"/>
          <a:lstStyle/>
          <a:p>
            <a:pPr indent="0" marL="0">
              <a:buNone/>
            </a:pPr>
            <a:r>
              <a:rPr lang="en-US" sz="1900" b="1" dirty="0">
                <a:solidFill>
                  <a:schemeClr val="tx2"/>
                </a:solidFill>
              </a:rPr>
              <a:t>Datos que dan confianza</a:t>
            </a:r>
            <a:endParaRPr lang="en-US" sz="1900" dirty="0"/>
          </a:p>
        </p:txBody>
      </p:sp>
      <p:sp>
        <p:nvSpPr>
          <p:cNvPr id="7" name="Shape 5"/>
          <p:cNvSpPr/>
          <p:nvPr/>
        </p:nvSpPr>
        <p:spPr>
          <a:xfrm>
            <a:off x="822960" y="2468880"/>
            <a:ext cx="457200" cy="457200"/>
          </a:xfrm>
          <a:prstGeom prst="ellipse">
            <a:avLst/>
          </a:prstGeom>
          <a:solidFill>
            <a:schemeClr val="accent1"/>
          </a:solidFill>
          <a:ln w="12700">
            <a:solidFill>
              <a:schemeClr val="accent1"/>
            </a:solidFill>
            <a:prstDash val="solid"/>
          </a:ln>
        </p:spPr>
      </p:sp>
      <p:pic>
        <p:nvPicPr>
          <p:cNvPr id="8" name="Image 0" descr="preencoded.png">    </p:cNvPr>
          <p:cNvPicPr>
            <a:picLocks noChangeAspect="1"/>
          </p:cNvPicPr>
          <p:nvPr/>
        </p:nvPicPr>
        <p:blipFill>
          <a:blip r:embed="rId1"/>
          <a:stretch>
            <a:fillRect/>
          </a:stretch>
        </p:blipFill>
        <p:spPr>
          <a:xfrm>
            <a:off x="923544" y="2569464"/>
            <a:ext cx="256032" cy="256032"/>
          </a:xfrm>
          <a:prstGeom prst="rect">
            <a:avLst/>
          </a:prstGeom>
        </p:spPr>
      </p:pic>
      <p:sp>
        <p:nvSpPr>
          <p:cNvPr id="9" name="Text 6"/>
          <p:cNvSpPr txBox="1"/>
          <p:nvPr/>
        </p:nvSpPr>
        <p:spPr>
          <a:xfrm>
            <a:off x="1417320" y="2468880"/>
            <a:ext cx="3383280" cy="457200"/>
          </a:xfrm>
          <a:prstGeom prst="rect">
            <a:avLst/>
          </a:prstGeom>
          <a:noFill/>
          <a:ln/>
        </p:spPr>
        <p:txBody>
          <a:bodyPr wrap="square" lIns="0" tIns="0" rIns="0" bIns="0" rtlCol="0" anchor="ctr"/>
          <a:lstStyle/>
          <a:p>
            <a:pPr indent="0" marL="0">
              <a:buNone/>
            </a:pPr>
            <a:r>
              <a:rPr lang="en-US" sz="1500" b="1" dirty="0">
                <a:solidFill>
                  <a:schemeClr val="tx1"/>
                </a:solidFill>
              </a:rPr>
              <a:t>Mi lote: hierro medido</a:t>
            </a:r>
            <a:endParaRPr lang="en-US" sz="1500" dirty="0"/>
          </a:p>
        </p:txBody>
      </p:sp>
      <p:sp>
        <p:nvSpPr>
          <p:cNvPr id="10" name="Shape 7"/>
          <p:cNvSpPr/>
          <p:nvPr/>
        </p:nvSpPr>
        <p:spPr>
          <a:xfrm>
            <a:off x="822960" y="3072384"/>
            <a:ext cx="457200" cy="457200"/>
          </a:xfrm>
          <a:prstGeom prst="ellipse">
            <a:avLst/>
          </a:prstGeom>
          <a:solidFill>
            <a:schemeClr val="tx2"/>
          </a:solidFill>
          <a:ln w="12700">
            <a:solidFill>
              <a:schemeClr val="tx2"/>
            </a:solidFill>
            <a:prstDash val="solid"/>
          </a:ln>
        </p:spPr>
      </p:sp>
      <p:pic>
        <p:nvPicPr>
          <p:cNvPr id="11" name="Image 1" descr="preencoded.png">    </p:cNvPr>
          <p:cNvPicPr>
            <a:picLocks noChangeAspect="1"/>
          </p:cNvPicPr>
          <p:nvPr/>
        </p:nvPicPr>
        <p:blipFill>
          <a:blip r:embed="rId2"/>
          <a:stretch>
            <a:fillRect/>
          </a:stretch>
        </p:blipFill>
        <p:spPr>
          <a:xfrm>
            <a:off x="923544" y="3172968"/>
            <a:ext cx="256032" cy="256032"/>
          </a:xfrm>
          <a:prstGeom prst="rect">
            <a:avLst/>
          </a:prstGeom>
        </p:spPr>
      </p:pic>
      <p:sp>
        <p:nvSpPr>
          <p:cNvPr id="12" name="Text 8"/>
          <p:cNvSpPr txBox="1"/>
          <p:nvPr/>
        </p:nvSpPr>
        <p:spPr>
          <a:xfrm>
            <a:off x="1417320" y="3072384"/>
            <a:ext cx="3383280" cy="457200"/>
          </a:xfrm>
          <a:prstGeom prst="rect">
            <a:avLst/>
          </a:prstGeom>
          <a:noFill/>
          <a:ln/>
        </p:spPr>
        <p:txBody>
          <a:bodyPr wrap="square" lIns="0" tIns="0" rIns="0" bIns="0" rtlCol="0" anchor="ctr"/>
          <a:lstStyle/>
          <a:p>
            <a:pPr indent="0" marL="0">
              <a:buNone/>
            </a:pPr>
            <a:r>
              <a:rPr lang="en-US" sz="1500" dirty="0">
                <a:solidFill>
                  <a:schemeClr val="tx1"/>
                </a:solidFill>
              </a:rPr>
              <a:t>Semáforo de hierro semanal</a:t>
            </a:r>
            <a:endParaRPr lang="en-US" sz="1500" dirty="0"/>
          </a:p>
        </p:txBody>
      </p:sp>
      <p:sp>
        <p:nvSpPr>
          <p:cNvPr id="13" name="Shape 9"/>
          <p:cNvSpPr/>
          <p:nvPr/>
        </p:nvSpPr>
        <p:spPr>
          <a:xfrm>
            <a:off x="822960" y="3675888"/>
            <a:ext cx="457200" cy="457200"/>
          </a:xfrm>
          <a:prstGeom prst="ellipse">
            <a:avLst/>
          </a:prstGeom>
          <a:solidFill>
            <a:schemeClr val="tx2"/>
          </a:solidFill>
          <a:ln w="12700">
            <a:solidFill>
              <a:schemeClr val="tx2"/>
            </a:solidFill>
            <a:prstDash val="solid"/>
          </a:ln>
        </p:spPr>
      </p:sp>
      <p:pic>
        <p:nvPicPr>
          <p:cNvPr id="14" name="Image 2" descr="preencoded.png">    </p:cNvPr>
          <p:cNvPicPr>
            <a:picLocks noChangeAspect="1"/>
          </p:cNvPicPr>
          <p:nvPr/>
        </p:nvPicPr>
        <p:blipFill>
          <a:blip r:embed="rId3"/>
          <a:stretch>
            <a:fillRect/>
          </a:stretch>
        </p:blipFill>
        <p:spPr>
          <a:xfrm>
            <a:off x="923544" y="3776472"/>
            <a:ext cx="256032" cy="256032"/>
          </a:xfrm>
          <a:prstGeom prst="rect">
            <a:avLst/>
          </a:prstGeom>
        </p:spPr>
      </p:pic>
      <p:sp>
        <p:nvSpPr>
          <p:cNvPr id="15" name="Text 10"/>
          <p:cNvSpPr txBox="1"/>
          <p:nvPr/>
        </p:nvSpPr>
        <p:spPr>
          <a:xfrm>
            <a:off x="1417320" y="3675888"/>
            <a:ext cx="3383280" cy="457200"/>
          </a:xfrm>
          <a:prstGeom prst="rect">
            <a:avLst/>
          </a:prstGeom>
          <a:noFill/>
          <a:ln/>
        </p:spPr>
        <p:txBody>
          <a:bodyPr wrap="square" lIns="0" tIns="0" rIns="0" bIns="0" rtlCol="0" anchor="ctr"/>
          <a:lstStyle/>
          <a:p>
            <a:pPr indent="0" marL="0">
              <a:buNone/>
            </a:pPr>
            <a:r>
              <a:rPr lang="en-US" sz="1500" dirty="0">
                <a:solidFill>
                  <a:schemeClr val="tx1"/>
                </a:solidFill>
              </a:rPr>
              <a:t>Plan de loncheras con IA</a:t>
            </a:r>
            <a:endParaRPr lang="en-US" sz="1500" dirty="0"/>
          </a:p>
        </p:txBody>
      </p:sp>
      <p:sp>
        <p:nvSpPr>
          <p:cNvPr id="16" name="Shape 11"/>
          <p:cNvSpPr/>
          <p:nvPr/>
        </p:nvSpPr>
        <p:spPr>
          <a:xfrm>
            <a:off x="822960" y="4279392"/>
            <a:ext cx="457200" cy="457200"/>
          </a:xfrm>
          <a:prstGeom prst="ellipse">
            <a:avLst/>
          </a:prstGeom>
          <a:solidFill>
            <a:schemeClr val="tx2"/>
          </a:solidFill>
          <a:ln w="12700">
            <a:solidFill>
              <a:schemeClr val="tx2"/>
            </a:solidFill>
            <a:prstDash val="solid"/>
          </a:ln>
        </p:spPr>
      </p:sp>
      <p:pic>
        <p:nvPicPr>
          <p:cNvPr id="17" name="Image 3" descr="preencoded.png">    </p:cNvPr>
          <p:cNvPicPr>
            <a:picLocks noChangeAspect="1"/>
          </p:cNvPicPr>
          <p:nvPr/>
        </p:nvPicPr>
        <p:blipFill>
          <a:blip r:embed="rId4"/>
          <a:stretch>
            <a:fillRect/>
          </a:stretch>
        </p:blipFill>
        <p:spPr>
          <a:xfrm>
            <a:off x="923544" y="4379976"/>
            <a:ext cx="256032" cy="256032"/>
          </a:xfrm>
          <a:prstGeom prst="rect">
            <a:avLst/>
          </a:prstGeom>
        </p:spPr>
      </p:pic>
      <p:sp>
        <p:nvSpPr>
          <p:cNvPr id="18" name="Text 12"/>
          <p:cNvSpPr txBox="1"/>
          <p:nvPr/>
        </p:nvSpPr>
        <p:spPr>
          <a:xfrm>
            <a:off x="1417320" y="4279392"/>
            <a:ext cx="3383280" cy="457200"/>
          </a:xfrm>
          <a:prstGeom prst="rect">
            <a:avLst/>
          </a:prstGeom>
          <a:noFill/>
          <a:ln/>
        </p:spPr>
        <p:txBody>
          <a:bodyPr wrap="square" lIns="0" tIns="0" rIns="0" bIns="0" rtlCol="0" anchor="ctr"/>
          <a:lstStyle/>
          <a:p>
            <a:pPr indent="0" marL="0">
              <a:buNone/>
            </a:pPr>
            <a:r>
              <a:rPr lang="en-US" sz="1500" dirty="0">
                <a:solidFill>
                  <a:schemeClr val="tx1"/>
                </a:solidFill>
              </a:rPr>
              <a:t>Recordatorio de hemoglobina</a:t>
            </a:r>
            <a:endParaRPr lang="en-US" sz="1500" dirty="0"/>
          </a:p>
        </p:txBody>
      </p:sp>
      <p:sp>
        <p:nvSpPr>
          <p:cNvPr id="19" name="Shape 13"/>
          <p:cNvSpPr/>
          <p:nvPr/>
        </p:nvSpPr>
        <p:spPr>
          <a:xfrm>
            <a:off x="822960" y="4882896"/>
            <a:ext cx="457200" cy="457200"/>
          </a:xfrm>
          <a:prstGeom prst="ellipse">
            <a:avLst/>
          </a:prstGeom>
          <a:solidFill>
            <a:schemeClr val="tx2"/>
          </a:solidFill>
          <a:ln w="12700">
            <a:solidFill>
              <a:schemeClr val="tx2"/>
            </a:solidFill>
            <a:prstDash val="solid"/>
          </a:ln>
        </p:spPr>
      </p:sp>
      <p:pic>
        <p:nvPicPr>
          <p:cNvPr id="20" name="Image 4" descr="preencoded.png">    </p:cNvPr>
          <p:cNvPicPr>
            <a:picLocks noChangeAspect="1"/>
          </p:cNvPicPr>
          <p:nvPr/>
        </p:nvPicPr>
        <p:blipFill>
          <a:blip r:embed="rId5"/>
          <a:stretch>
            <a:fillRect/>
          </a:stretch>
        </p:blipFill>
        <p:spPr>
          <a:xfrm>
            <a:off x="923544" y="4983480"/>
            <a:ext cx="256032" cy="256032"/>
          </a:xfrm>
          <a:prstGeom prst="rect">
            <a:avLst/>
          </a:prstGeom>
        </p:spPr>
      </p:pic>
      <p:sp>
        <p:nvSpPr>
          <p:cNvPr id="21" name="Text 14"/>
          <p:cNvSpPr txBox="1"/>
          <p:nvPr/>
        </p:nvSpPr>
        <p:spPr>
          <a:xfrm>
            <a:off x="1417320" y="4882896"/>
            <a:ext cx="3383280" cy="457200"/>
          </a:xfrm>
          <a:prstGeom prst="rect">
            <a:avLst/>
          </a:prstGeom>
          <a:noFill/>
          <a:ln/>
        </p:spPr>
        <p:txBody>
          <a:bodyPr wrap="square" lIns="0" tIns="0" rIns="0" bIns="0" rtlCol="0" anchor="ctr"/>
          <a:lstStyle/>
          <a:p>
            <a:pPr indent="0" marL="0">
              <a:buNone/>
            </a:pPr>
            <a:r>
              <a:rPr lang="en-US" sz="1500" dirty="0">
                <a:solidFill>
                  <a:schemeClr val="tx1"/>
                </a:solidFill>
              </a:rPr>
              <a:t>Recompra en un clic</a:t>
            </a:r>
            <a:endParaRPr lang="en-US" sz="1500" dirty="0"/>
          </a:p>
        </p:txBody>
      </p:sp>
      <p:sp>
        <p:nvSpPr>
          <p:cNvPr id="22" name="Shape 15"/>
          <p:cNvSpPr/>
          <p:nvPr/>
        </p:nvSpPr>
        <p:spPr>
          <a:xfrm>
            <a:off x="5074920" y="1463040"/>
            <a:ext cx="4023360" cy="4069080"/>
          </a:xfrm>
          <a:prstGeom prst="roundRect">
            <a:avLst>
              <a:gd name="adj" fmla="val 2727"/>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23" name="Text 16"/>
          <p:cNvSpPr txBox="1"/>
          <p:nvPr/>
        </p:nvSpPr>
        <p:spPr>
          <a:xfrm>
            <a:off x="5349240" y="1645920"/>
            <a:ext cx="3566160" cy="274320"/>
          </a:xfrm>
          <a:prstGeom prst="rect">
            <a:avLst/>
          </a:prstGeom>
          <a:noFill/>
          <a:ln/>
        </p:spPr>
        <p:txBody>
          <a:bodyPr wrap="square" lIns="0" tIns="0" rIns="0" bIns="0" rtlCol="0" anchor="t"/>
          <a:lstStyle/>
          <a:p>
            <a:pPr indent="0" marL="0">
              <a:buNone/>
            </a:pPr>
            <a:r>
              <a:rPr lang="en-US" sz="1200" b="1" spc="100" kern="0" dirty="0">
                <a:solidFill>
                  <a:schemeClr val="accent3"/>
                </a:solidFill>
              </a:rPr>
              <a:t>MODO NIÑOS</a:t>
            </a:r>
            <a:endParaRPr lang="en-US" sz="1200" dirty="0"/>
          </a:p>
        </p:txBody>
      </p:sp>
      <p:sp>
        <p:nvSpPr>
          <p:cNvPr id="24" name="Text 17"/>
          <p:cNvSpPr txBox="1"/>
          <p:nvPr/>
        </p:nvSpPr>
        <p:spPr>
          <a:xfrm>
            <a:off x="5349240" y="1920240"/>
            <a:ext cx="3566160" cy="384048"/>
          </a:xfrm>
          <a:prstGeom prst="rect">
            <a:avLst/>
          </a:prstGeom>
          <a:noFill/>
          <a:ln/>
        </p:spPr>
        <p:txBody>
          <a:bodyPr wrap="square" lIns="0" tIns="0" rIns="0" bIns="0" rtlCol="0" anchor="t"/>
          <a:lstStyle/>
          <a:p>
            <a:pPr indent="0" marL="0">
              <a:buNone/>
            </a:pPr>
            <a:r>
              <a:rPr lang="en-US" sz="1900" b="1" dirty="0">
                <a:solidFill>
                  <a:schemeClr val="bg1"/>
                </a:solidFill>
              </a:rPr>
              <a:t>Aprender jugando con Andi</a:t>
            </a:r>
            <a:endParaRPr lang="en-US" sz="1900" dirty="0"/>
          </a:p>
        </p:txBody>
      </p:sp>
      <p:sp>
        <p:nvSpPr>
          <p:cNvPr id="25" name="Shape 18"/>
          <p:cNvSpPr/>
          <p:nvPr/>
        </p:nvSpPr>
        <p:spPr>
          <a:xfrm>
            <a:off x="5349240" y="2468880"/>
            <a:ext cx="457200" cy="457200"/>
          </a:xfrm>
          <a:prstGeom prst="ellipse">
            <a:avLst/>
          </a:prstGeom>
          <a:solidFill>
            <a:schemeClr val="accent3"/>
          </a:solidFill>
          <a:ln w="12700">
            <a:solidFill>
              <a:schemeClr val="accent3"/>
            </a:solidFill>
            <a:prstDash val="solid"/>
          </a:ln>
        </p:spPr>
      </p:sp>
      <p:pic>
        <p:nvPicPr>
          <p:cNvPr id="26" name="Image 5" descr="preencoded.png">    </p:cNvPr>
          <p:cNvPicPr>
            <a:picLocks noChangeAspect="1"/>
          </p:cNvPicPr>
          <p:nvPr/>
        </p:nvPicPr>
        <p:blipFill>
          <a:blip r:embed="rId6"/>
          <a:stretch>
            <a:fillRect/>
          </a:stretch>
        </p:blipFill>
        <p:spPr>
          <a:xfrm>
            <a:off x="5449824" y="2569464"/>
            <a:ext cx="256032" cy="256032"/>
          </a:xfrm>
          <a:prstGeom prst="rect">
            <a:avLst/>
          </a:prstGeom>
        </p:spPr>
      </p:pic>
      <p:sp>
        <p:nvSpPr>
          <p:cNvPr id="27" name="Text 19"/>
          <p:cNvSpPr txBox="1"/>
          <p:nvPr/>
        </p:nvSpPr>
        <p:spPr>
          <a:xfrm>
            <a:off x="5943600" y="2468880"/>
            <a:ext cx="3063240" cy="457200"/>
          </a:xfrm>
          <a:prstGeom prst="rect">
            <a:avLst/>
          </a:prstGeom>
          <a:noFill/>
          <a:ln/>
        </p:spPr>
        <p:txBody>
          <a:bodyPr wrap="square" lIns="0" tIns="0" rIns="0" bIns="0" rtlCol="0" anchor="ctr"/>
          <a:lstStyle/>
          <a:p>
            <a:pPr indent="0" marL="0">
              <a:buNone/>
            </a:pPr>
            <a:r>
              <a:rPr lang="en-US" sz="1500" dirty="0">
                <a:solidFill>
                  <a:schemeClr val="bg1"/>
                </a:solidFill>
              </a:rPr>
              <a:t>Arma tu plato fuerte</a:t>
            </a:r>
            <a:endParaRPr lang="en-US" sz="1500" dirty="0"/>
          </a:p>
        </p:txBody>
      </p:sp>
      <p:sp>
        <p:nvSpPr>
          <p:cNvPr id="28" name="Shape 20"/>
          <p:cNvSpPr/>
          <p:nvPr/>
        </p:nvSpPr>
        <p:spPr>
          <a:xfrm>
            <a:off x="5349240" y="3072384"/>
            <a:ext cx="457200" cy="457200"/>
          </a:xfrm>
          <a:prstGeom prst="ellipse">
            <a:avLst/>
          </a:prstGeom>
          <a:solidFill>
            <a:schemeClr val="accent3"/>
          </a:solidFill>
          <a:ln w="12700">
            <a:solidFill>
              <a:schemeClr val="accent3"/>
            </a:solidFill>
            <a:prstDash val="solid"/>
          </a:ln>
        </p:spPr>
      </p:sp>
      <p:pic>
        <p:nvPicPr>
          <p:cNvPr id="29" name="Image 6" descr="preencoded.png">    </p:cNvPr>
          <p:cNvPicPr>
            <a:picLocks noChangeAspect="1"/>
          </p:cNvPicPr>
          <p:nvPr/>
        </p:nvPicPr>
        <p:blipFill>
          <a:blip r:embed="rId7"/>
          <a:stretch>
            <a:fillRect/>
          </a:stretch>
        </p:blipFill>
        <p:spPr>
          <a:xfrm>
            <a:off x="5449824" y="3172968"/>
            <a:ext cx="256032" cy="256032"/>
          </a:xfrm>
          <a:prstGeom prst="rect">
            <a:avLst/>
          </a:prstGeom>
        </p:spPr>
      </p:pic>
      <p:sp>
        <p:nvSpPr>
          <p:cNvPr id="30" name="Text 21"/>
          <p:cNvSpPr txBox="1"/>
          <p:nvPr/>
        </p:nvSpPr>
        <p:spPr>
          <a:xfrm>
            <a:off x="5943600" y="3072384"/>
            <a:ext cx="3063240" cy="457200"/>
          </a:xfrm>
          <a:prstGeom prst="rect">
            <a:avLst/>
          </a:prstGeom>
          <a:noFill/>
          <a:ln/>
        </p:spPr>
        <p:txBody>
          <a:bodyPr wrap="square" lIns="0" tIns="0" rIns="0" bIns="0" rtlCol="0" anchor="ctr"/>
          <a:lstStyle/>
          <a:p>
            <a:pPr indent="0" marL="0">
              <a:buNone/>
            </a:pPr>
            <a:r>
              <a:rPr lang="en-US" sz="1500" dirty="0">
                <a:solidFill>
                  <a:schemeClr val="bg1"/>
                </a:solidFill>
              </a:rPr>
              <a:t>Memoria andina</a:t>
            </a:r>
            <a:endParaRPr lang="en-US" sz="1500" dirty="0"/>
          </a:p>
        </p:txBody>
      </p:sp>
      <p:sp>
        <p:nvSpPr>
          <p:cNvPr id="31" name="Shape 22"/>
          <p:cNvSpPr/>
          <p:nvPr/>
        </p:nvSpPr>
        <p:spPr>
          <a:xfrm>
            <a:off x="5349240" y="3675888"/>
            <a:ext cx="457200" cy="457200"/>
          </a:xfrm>
          <a:prstGeom prst="ellipse">
            <a:avLst/>
          </a:prstGeom>
          <a:solidFill>
            <a:schemeClr val="accent3"/>
          </a:solidFill>
          <a:ln w="12700">
            <a:solidFill>
              <a:schemeClr val="accent3"/>
            </a:solidFill>
            <a:prstDash val="solid"/>
          </a:ln>
        </p:spPr>
      </p:sp>
      <p:pic>
        <p:nvPicPr>
          <p:cNvPr id="32" name="Image 7" descr="preencoded.png">    </p:cNvPr>
          <p:cNvPicPr>
            <a:picLocks noChangeAspect="1"/>
          </p:cNvPicPr>
          <p:nvPr/>
        </p:nvPicPr>
        <p:blipFill>
          <a:blip r:embed="rId8"/>
          <a:stretch>
            <a:fillRect/>
          </a:stretch>
        </p:blipFill>
        <p:spPr>
          <a:xfrm>
            <a:off x="5449824" y="3776472"/>
            <a:ext cx="256032" cy="256032"/>
          </a:xfrm>
          <a:prstGeom prst="rect">
            <a:avLst/>
          </a:prstGeom>
        </p:spPr>
      </p:pic>
      <p:sp>
        <p:nvSpPr>
          <p:cNvPr id="33" name="Text 23"/>
          <p:cNvSpPr txBox="1"/>
          <p:nvPr/>
        </p:nvSpPr>
        <p:spPr>
          <a:xfrm>
            <a:off x="5943600" y="3675888"/>
            <a:ext cx="3063240" cy="457200"/>
          </a:xfrm>
          <a:prstGeom prst="rect">
            <a:avLst/>
          </a:prstGeom>
          <a:noFill/>
          <a:ln/>
        </p:spPr>
        <p:txBody>
          <a:bodyPr wrap="square" lIns="0" tIns="0" rIns="0" bIns="0" rtlCol="0" anchor="ctr"/>
          <a:lstStyle/>
          <a:p>
            <a:pPr indent="0" marL="0">
              <a:buNone/>
            </a:pPr>
            <a:r>
              <a:rPr lang="en-US" sz="1500" dirty="0">
                <a:solidFill>
                  <a:schemeClr val="bg1"/>
                </a:solidFill>
              </a:rPr>
              <a:t>¿Verdad o mito?</a:t>
            </a:r>
            <a:endParaRPr lang="en-US" sz="1500" dirty="0"/>
          </a:p>
        </p:txBody>
      </p:sp>
      <p:sp>
        <p:nvSpPr>
          <p:cNvPr id="34" name="Shape 24"/>
          <p:cNvSpPr/>
          <p:nvPr/>
        </p:nvSpPr>
        <p:spPr>
          <a:xfrm>
            <a:off x="5349240" y="4279392"/>
            <a:ext cx="457200" cy="457200"/>
          </a:xfrm>
          <a:prstGeom prst="ellipse">
            <a:avLst/>
          </a:prstGeom>
          <a:solidFill>
            <a:schemeClr val="accent3"/>
          </a:solidFill>
          <a:ln w="12700">
            <a:solidFill>
              <a:schemeClr val="accent3"/>
            </a:solidFill>
            <a:prstDash val="solid"/>
          </a:ln>
        </p:spPr>
      </p:sp>
      <p:pic>
        <p:nvPicPr>
          <p:cNvPr id="35" name="Image 8" descr="preencoded.png">    </p:cNvPr>
          <p:cNvPicPr>
            <a:picLocks noChangeAspect="1"/>
          </p:cNvPicPr>
          <p:nvPr/>
        </p:nvPicPr>
        <p:blipFill>
          <a:blip r:embed="rId9"/>
          <a:stretch>
            <a:fillRect/>
          </a:stretch>
        </p:blipFill>
        <p:spPr>
          <a:xfrm>
            <a:off x="5449824" y="4379976"/>
            <a:ext cx="256032" cy="256032"/>
          </a:xfrm>
          <a:prstGeom prst="rect">
            <a:avLst/>
          </a:prstGeom>
        </p:spPr>
      </p:pic>
      <p:sp>
        <p:nvSpPr>
          <p:cNvPr id="36" name="Text 25"/>
          <p:cNvSpPr txBox="1"/>
          <p:nvPr/>
        </p:nvSpPr>
        <p:spPr>
          <a:xfrm>
            <a:off x="5943600" y="4279392"/>
            <a:ext cx="3063240" cy="457200"/>
          </a:xfrm>
          <a:prstGeom prst="rect">
            <a:avLst/>
          </a:prstGeom>
          <a:noFill/>
          <a:ln/>
        </p:spPr>
        <p:txBody>
          <a:bodyPr wrap="square" lIns="0" tIns="0" rIns="0" bIns="0" rtlCol="0" anchor="ctr"/>
          <a:lstStyle/>
          <a:p>
            <a:pPr indent="0" marL="0">
              <a:buNone/>
            </a:pPr>
            <a:r>
              <a:rPr lang="en-US" sz="1500" dirty="0">
                <a:solidFill>
                  <a:schemeClr val="bg1"/>
                </a:solidFill>
              </a:rPr>
              <a:t>Ruta de hábitos</a:t>
            </a:r>
            <a:endParaRPr lang="en-US" sz="1500" dirty="0"/>
          </a:p>
        </p:txBody>
      </p:sp>
      <p:sp>
        <p:nvSpPr>
          <p:cNvPr id="37" name="Shape 26"/>
          <p:cNvSpPr/>
          <p:nvPr/>
        </p:nvSpPr>
        <p:spPr>
          <a:xfrm>
            <a:off x="5349240" y="4882896"/>
            <a:ext cx="457200" cy="457200"/>
          </a:xfrm>
          <a:prstGeom prst="ellipse">
            <a:avLst/>
          </a:prstGeom>
          <a:solidFill>
            <a:schemeClr val="accent5"/>
          </a:solidFill>
          <a:ln w="12700">
            <a:solidFill>
              <a:schemeClr val="accent5"/>
            </a:solidFill>
            <a:prstDash val="solid"/>
          </a:ln>
        </p:spPr>
      </p:sp>
      <p:pic>
        <p:nvPicPr>
          <p:cNvPr id="38" name="Image 9" descr="preencoded.png">    </p:cNvPr>
          <p:cNvPicPr>
            <a:picLocks noChangeAspect="1"/>
          </p:cNvPicPr>
          <p:nvPr/>
        </p:nvPicPr>
        <p:blipFill>
          <a:blip r:embed="rId10"/>
          <a:stretch>
            <a:fillRect/>
          </a:stretch>
        </p:blipFill>
        <p:spPr>
          <a:xfrm>
            <a:off x="5449824" y="4983480"/>
            <a:ext cx="256032" cy="256032"/>
          </a:xfrm>
          <a:prstGeom prst="rect">
            <a:avLst/>
          </a:prstGeom>
        </p:spPr>
      </p:pic>
      <p:sp>
        <p:nvSpPr>
          <p:cNvPr id="39" name="Text 27"/>
          <p:cNvSpPr txBox="1"/>
          <p:nvPr/>
        </p:nvSpPr>
        <p:spPr>
          <a:xfrm>
            <a:off x="5943600" y="4882896"/>
            <a:ext cx="3063240" cy="457200"/>
          </a:xfrm>
          <a:prstGeom prst="rect">
            <a:avLst/>
          </a:prstGeom>
          <a:noFill/>
          <a:ln/>
        </p:spPr>
        <p:txBody>
          <a:bodyPr wrap="square" lIns="0" tIns="0" rIns="0" bIns="0" rtlCol="0" anchor="ctr"/>
          <a:lstStyle/>
          <a:p>
            <a:pPr indent="0" marL="0">
              <a:buNone/>
            </a:pPr>
            <a:r>
              <a:rPr lang="en-US" sz="1500" dirty="0">
                <a:solidFill>
                  <a:schemeClr val="bg1"/>
                </a:solidFill>
              </a:rPr>
              <a:t>Lo abre el padre, con tiempo</a:t>
            </a:r>
            <a:endParaRPr lang="en-US" sz="1500" dirty="0"/>
          </a:p>
        </p:txBody>
      </p:sp>
      <p:pic>
        <p:nvPicPr>
          <p:cNvPr id="40" name="Image 10" descr="img/app-lote.png">    </p:cNvPr>
          <p:cNvPicPr>
            <a:picLocks noChangeAspect="1"/>
          </p:cNvPicPr>
          <p:nvPr/>
        </p:nvPicPr>
        <p:blipFill>
          <a:blip r:embed="rId11"/>
          <a:stretch>
            <a:fillRect/>
          </a:stretch>
        </p:blipFill>
        <p:spPr>
          <a:xfrm>
            <a:off x="9445752" y="1371600"/>
            <a:ext cx="2029968" cy="4096512"/>
          </a:xfrm>
          <a:prstGeom prst="rect">
            <a:avLst/>
          </a:prstGeom>
        </p:spPr>
      </p:pic>
      <p:sp>
        <p:nvSpPr>
          <p:cNvPr id="41" name="Shape 28"/>
          <p:cNvSpPr/>
          <p:nvPr/>
        </p:nvSpPr>
        <p:spPr>
          <a:xfrm>
            <a:off x="548640" y="5669280"/>
            <a:ext cx="11091672" cy="548640"/>
          </a:xfrm>
          <a:prstGeom prst="roundRect">
            <a:avLst>
              <a:gd name="adj" fmla="val 50000"/>
            </a:avLst>
          </a:prstGeom>
          <a:solidFill>
            <a:schemeClr val="accent1"/>
          </a:solidFill>
          <a:ln w="12700">
            <a:solidFill>
              <a:schemeClr val="accent1"/>
            </a:solidFill>
            <a:prstDash val="solid"/>
          </a:ln>
        </p:spPr>
      </p:sp>
      <p:sp>
        <p:nvSpPr>
          <p:cNvPr id="42" name="Text 29"/>
          <p:cNvSpPr txBox="1"/>
          <p:nvPr/>
        </p:nvSpPr>
        <p:spPr>
          <a:xfrm>
            <a:off x="822960" y="5669280"/>
            <a:ext cx="10607040" cy="548640"/>
          </a:xfrm>
          <a:prstGeom prst="rect">
            <a:avLst/>
          </a:prstGeom>
          <a:noFill/>
          <a:ln/>
        </p:spPr>
        <p:txBody>
          <a:bodyPr wrap="square" lIns="0" tIns="0" rIns="0" bIns="0" rtlCol="0" anchor="ctr"/>
          <a:lstStyle/>
          <a:p>
            <a:pPr indent="0" marL="0">
              <a:buNone/>
            </a:pPr>
            <a:r>
              <a:rPr lang="en-US" sz="1500" b="1" dirty="0">
                <a:solidFill>
                  <a:schemeClr val="bg1"/>
                </a:solidFill>
              </a:rPr>
              <a:t>Cumple la Ley 30021: </a:t>
            </a:r>
            <a:pPr indent="0" marL="0">
              <a:buNone/>
            </a:pPr>
            <a:r>
              <a:rPr lang="en-US" sz="1500" dirty="0">
                <a:solidFill>
                  <a:schemeClr val="bg1"/>
                </a:solidFill>
              </a:rPr>
              <a:t>en el modo niño no hay compras, ni publicidad, ni premios por comprar.</a:t>
            </a:r>
            <a:endParaRPr lang="en-US" sz="15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8 · INNOVACIÓN TECNOLÓGICA</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Del stand a la recompra, con la app en el medio</a:t>
            </a:r>
            <a:endParaRPr lang="en-US" sz="3400" dirty="0"/>
          </a:p>
        </p:txBody>
      </p:sp>
      <p:sp>
        <p:nvSpPr>
          <p:cNvPr id="4" name="Shape 2"/>
          <p:cNvSpPr/>
          <p:nvPr/>
        </p:nvSpPr>
        <p:spPr>
          <a:xfrm>
            <a:off x="1600200" y="1965960"/>
            <a:ext cx="1207008" cy="0"/>
          </a:xfrm>
          <a:prstGeom prst="line">
            <a:avLst/>
          </a:prstGeom>
          <a:noFill/>
          <a:ln w="25400">
            <a:solidFill>
              <a:schemeClr val="accent5"/>
            </a:solidFill>
            <a:prstDash val="dash"/>
            <a:tailEnd type="triangle"/>
          </a:ln>
        </p:spPr>
      </p:sp>
      <p:sp>
        <p:nvSpPr>
          <p:cNvPr id="5" name="Shape 3"/>
          <p:cNvSpPr/>
          <p:nvPr/>
        </p:nvSpPr>
        <p:spPr>
          <a:xfrm>
            <a:off x="548640" y="1508760"/>
            <a:ext cx="914400" cy="914400"/>
          </a:xfrm>
          <a:prstGeom prst="ellipse">
            <a:avLst/>
          </a:prstGeom>
          <a:solidFill>
            <a:schemeClr val="tx2"/>
          </a:solidFill>
          <a:ln w="12700">
            <a:solidFill>
              <a:schemeClr val="tx2"/>
            </a:solidFill>
            <a:prstDash val="solid"/>
          </a:ln>
        </p:spPr>
      </p:sp>
      <p:pic>
        <p:nvPicPr>
          <p:cNvPr id="6" name="Image 0" descr="preencoded.png">    </p:cNvPr>
          <p:cNvPicPr>
            <a:picLocks noChangeAspect="1"/>
          </p:cNvPicPr>
          <p:nvPr/>
        </p:nvPicPr>
        <p:blipFill>
          <a:blip r:embed="rId1"/>
          <a:stretch>
            <a:fillRect/>
          </a:stretch>
        </p:blipFill>
        <p:spPr>
          <a:xfrm>
            <a:off x="749808" y="1709928"/>
            <a:ext cx="512064" cy="512064"/>
          </a:xfrm>
          <a:prstGeom prst="rect">
            <a:avLst/>
          </a:prstGeom>
        </p:spPr>
      </p:pic>
      <p:sp>
        <p:nvSpPr>
          <p:cNvPr id="7" name="Text 4"/>
          <p:cNvSpPr txBox="1"/>
          <p:nvPr/>
        </p:nvSpPr>
        <p:spPr>
          <a:xfrm>
            <a:off x="548640" y="2560320"/>
            <a:ext cx="1984248" cy="640080"/>
          </a:xfrm>
          <a:prstGeom prst="rect">
            <a:avLst/>
          </a:prstGeom>
          <a:noFill/>
          <a:ln/>
        </p:spPr>
        <p:txBody>
          <a:bodyPr wrap="square" lIns="0" tIns="0" rIns="0" bIns="0" rtlCol="0" anchor="t"/>
          <a:lstStyle/>
          <a:p>
            <a:pPr indent="0" marL="0">
              <a:buNone/>
            </a:pPr>
            <a:r>
              <a:rPr lang="en-US" sz="1600" b="1" dirty="0">
                <a:solidFill>
                  <a:schemeClr val="tx2"/>
                </a:solidFill>
              </a:rPr>
              <a:t>Compra en el stand</a:t>
            </a:r>
            <a:endParaRPr lang="en-US" sz="1600" dirty="0"/>
          </a:p>
        </p:txBody>
      </p:sp>
      <p:sp>
        <p:nvSpPr>
          <p:cNvPr id="8" name="Shape 5"/>
          <p:cNvSpPr/>
          <p:nvPr/>
        </p:nvSpPr>
        <p:spPr>
          <a:xfrm>
            <a:off x="3858768" y="1965960"/>
            <a:ext cx="1207008" cy="0"/>
          </a:xfrm>
          <a:prstGeom prst="line">
            <a:avLst/>
          </a:prstGeom>
          <a:noFill/>
          <a:ln w="25400">
            <a:solidFill>
              <a:schemeClr val="accent5"/>
            </a:solidFill>
            <a:prstDash val="dash"/>
            <a:tailEnd type="triangle"/>
          </a:ln>
        </p:spPr>
      </p:sp>
      <p:sp>
        <p:nvSpPr>
          <p:cNvPr id="9" name="Shape 6"/>
          <p:cNvSpPr/>
          <p:nvPr/>
        </p:nvSpPr>
        <p:spPr>
          <a:xfrm>
            <a:off x="2807208" y="1508760"/>
            <a:ext cx="914400" cy="914400"/>
          </a:xfrm>
          <a:prstGeom prst="ellipse">
            <a:avLst/>
          </a:prstGeom>
          <a:solidFill>
            <a:schemeClr val="tx2"/>
          </a:solidFill>
          <a:ln w="12700">
            <a:solidFill>
              <a:schemeClr val="tx2"/>
            </a:solidFill>
            <a:prstDash val="solid"/>
          </a:ln>
        </p:spPr>
      </p:sp>
      <p:pic>
        <p:nvPicPr>
          <p:cNvPr id="10" name="Image 1" descr="preencoded.png">    </p:cNvPr>
          <p:cNvPicPr>
            <a:picLocks noChangeAspect="1"/>
          </p:cNvPicPr>
          <p:nvPr/>
        </p:nvPicPr>
        <p:blipFill>
          <a:blip r:embed="rId2"/>
          <a:stretch>
            <a:fillRect/>
          </a:stretch>
        </p:blipFill>
        <p:spPr>
          <a:xfrm>
            <a:off x="3008376" y="1709928"/>
            <a:ext cx="512064" cy="512064"/>
          </a:xfrm>
          <a:prstGeom prst="rect">
            <a:avLst/>
          </a:prstGeom>
        </p:spPr>
      </p:pic>
      <p:sp>
        <p:nvSpPr>
          <p:cNvPr id="11" name="Text 7"/>
          <p:cNvSpPr txBox="1"/>
          <p:nvPr/>
        </p:nvSpPr>
        <p:spPr>
          <a:xfrm>
            <a:off x="2807208" y="2560320"/>
            <a:ext cx="1984248" cy="640080"/>
          </a:xfrm>
          <a:prstGeom prst="rect">
            <a:avLst/>
          </a:prstGeom>
          <a:noFill/>
          <a:ln/>
        </p:spPr>
        <p:txBody>
          <a:bodyPr wrap="square" lIns="0" tIns="0" rIns="0" bIns="0" rtlCol="0" anchor="t"/>
          <a:lstStyle/>
          <a:p>
            <a:pPr indent="0" marL="0">
              <a:buNone/>
            </a:pPr>
            <a:r>
              <a:rPr lang="en-US" sz="1600" b="1" dirty="0">
                <a:solidFill>
                  <a:schemeClr val="tx2"/>
                </a:solidFill>
              </a:rPr>
              <a:t>Escanea el QR</a:t>
            </a:r>
            <a:endParaRPr lang="en-US" sz="1600" dirty="0"/>
          </a:p>
        </p:txBody>
      </p:sp>
      <p:sp>
        <p:nvSpPr>
          <p:cNvPr id="12" name="Shape 8"/>
          <p:cNvSpPr/>
          <p:nvPr/>
        </p:nvSpPr>
        <p:spPr>
          <a:xfrm>
            <a:off x="6117336" y="1965960"/>
            <a:ext cx="1207008" cy="0"/>
          </a:xfrm>
          <a:prstGeom prst="line">
            <a:avLst/>
          </a:prstGeom>
          <a:noFill/>
          <a:ln w="25400">
            <a:solidFill>
              <a:schemeClr val="accent5"/>
            </a:solidFill>
            <a:prstDash val="dash"/>
            <a:tailEnd type="triangle"/>
          </a:ln>
        </p:spPr>
      </p:sp>
      <p:sp>
        <p:nvSpPr>
          <p:cNvPr id="13" name="Shape 9"/>
          <p:cNvSpPr/>
          <p:nvPr/>
        </p:nvSpPr>
        <p:spPr>
          <a:xfrm>
            <a:off x="5065776" y="1508760"/>
            <a:ext cx="914400" cy="914400"/>
          </a:xfrm>
          <a:prstGeom prst="ellipse">
            <a:avLst/>
          </a:prstGeom>
          <a:solidFill>
            <a:schemeClr val="accent1"/>
          </a:solidFill>
          <a:ln w="12700">
            <a:solidFill>
              <a:schemeClr val="accent1"/>
            </a:solidFill>
            <a:prstDash val="solid"/>
          </a:ln>
        </p:spPr>
      </p:sp>
      <p:pic>
        <p:nvPicPr>
          <p:cNvPr id="14" name="Image 2" descr="preencoded.png">    </p:cNvPr>
          <p:cNvPicPr>
            <a:picLocks noChangeAspect="1"/>
          </p:cNvPicPr>
          <p:nvPr/>
        </p:nvPicPr>
        <p:blipFill>
          <a:blip r:embed="rId3"/>
          <a:stretch>
            <a:fillRect/>
          </a:stretch>
        </p:blipFill>
        <p:spPr>
          <a:xfrm>
            <a:off x="5266944" y="1709928"/>
            <a:ext cx="512064" cy="512064"/>
          </a:xfrm>
          <a:prstGeom prst="rect">
            <a:avLst/>
          </a:prstGeom>
        </p:spPr>
      </p:pic>
      <p:sp>
        <p:nvSpPr>
          <p:cNvPr id="15" name="Text 10"/>
          <p:cNvSpPr txBox="1"/>
          <p:nvPr/>
        </p:nvSpPr>
        <p:spPr>
          <a:xfrm>
            <a:off x="5065776" y="2560320"/>
            <a:ext cx="1984248" cy="640080"/>
          </a:xfrm>
          <a:prstGeom prst="rect">
            <a:avLst/>
          </a:prstGeom>
          <a:noFill/>
          <a:ln/>
        </p:spPr>
        <p:txBody>
          <a:bodyPr wrap="square" lIns="0" tIns="0" rIns="0" bIns="0" rtlCol="0" anchor="t"/>
          <a:lstStyle/>
          <a:p>
            <a:pPr indent="0" marL="0">
              <a:buNone/>
            </a:pPr>
            <a:r>
              <a:rPr lang="en-US" sz="1600" b="1" dirty="0">
                <a:solidFill>
                  <a:schemeClr val="tx2"/>
                </a:solidFill>
              </a:rPr>
              <a:t>Ve el hierro de su lote</a:t>
            </a:r>
            <a:endParaRPr lang="en-US" sz="1600" dirty="0"/>
          </a:p>
        </p:txBody>
      </p:sp>
      <p:sp>
        <p:nvSpPr>
          <p:cNvPr id="16" name="Shape 11"/>
          <p:cNvSpPr/>
          <p:nvPr/>
        </p:nvSpPr>
        <p:spPr>
          <a:xfrm>
            <a:off x="8375904" y="1965960"/>
            <a:ext cx="1207008" cy="0"/>
          </a:xfrm>
          <a:prstGeom prst="line">
            <a:avLst/>
          </a:prstGeom>
          <a:noFill/>
          <a:ln w="25400">
            <a:solidFill>
              <a:schemeClr val="accent5"/>
            </a:solidFill>
            <a:prstDash val="dash"/>
            <a:tailEnd type="triangle"/>
          </a:ln>
        </p:spPr>
      </p:sp>
      <p:sp>
        <p:nvSpPr>
          <p:cNvPr id="17" name="Shape 12"/>
          <p:cNvSpPr/>
          <p:nvPr/>
        </p:nvSpPr>
        <p:spPr>
          <a:xfrm>
            <a:off x="7324344" y="1508760"/>
            <a:ext cx="914400" cy="914400"/>
          </a:xfrm>
          <a:prstGeom prst="ellipse">
            <a:avLst/>
          </a:prstGeom>
          <a:solidFill>
            <a:schemeClr val="tx2"/>
          </a:solidFill>
          <a:ln w="12700">
            <a:solidFill>
              <a:schemeClr val="tx2"/>
            </a:solidFill>
            <a:prstDash val="solid"/>
          </a:ln>
        </p:spPr>
      </p:sp>
      <p:pic>
        <p:nvPicPr>
          <p:cNvPr id="18" name="Image 3" descr="preencoded.png">    </p:cNvPr>
          <p:cNvPicPr>
            <a:picLocks noChangeAspect="1"/>
          </p:cNvPicPr>
          <p:nvPr/>
        </p:nvPicPr>
        <p:blipFill>
          <a:blip r:embed="rId4"/>
          <a:stretch>
            <a:fillRect/>
          </a:stretch>
        </p:blipFill>
        <p:spPr>
          <a:xfrm>
            <a:off x="7525512" y="1709928"/>
            <a:ext cx="512064" cy="512064"/>
          </a:xfrm>
          <a:prstGeom prst="rect">
            <a:avLst/>
          </a:prstGeom>
        </p:spPr>
      </p:pic>
      <p:sp>
        <p:nvSpPr>
          <p:cNvPr id="19" name="Text 13"/>
          <p:cNvSpPr txBox="1"/>
          <p:nvPr/>
        </p:nvSpPr>
        <p:spPr>
          <a:xfrm>
            <a:off x="7324344" y="2560320"/>
            <a:ext cx="1984248" cy="640080"/>
          </a:xfrm>
          <a:prstGeom prst="rect">
            <a:avLst/>
          </a:prstGeom>
          <a:noFill/>
          <a:ln/>
        </p:spPr>
        <p:txBody>
          <a:bodyPr wrap="square" lIns="0" tIns="0" rIns="0" bIns="0" rtlCol="0" anchor="t"/>
          <a:lstStyle/>
          <a:p>
            <a:pPr indent="0" marL="0">
              <a:buNone/>
            </a:pPr>
            <a:r>
              <a:rPr lang="en-US" sz="1600" b="1" dirty="0">
                <a:solidFill>
                  <a:schemeClr val="tx2"/>
                </a:solidFill>
              </a:rPr>
              <a:t>Usa loncheras y semáforo</a:t>
            </a:r>
            <a:endParaRPr lang="en-US" sz="1600" dirty="0"/>
          </a:p>
        </p:txBody>
      </p:sp>
      <p:sp>
        <p:nvSpPr>
          <p:cNvPr id="20" name="Shape 14"/>
          <p:cNvSpPr/>
          <p:nvPr/>
        </p:nvSpPr>
        <p:spPr>
          <a:xfrm>
            <a:off x="9582912" y="1508760"/>
            <a:ext cx="914400" cy="914400"/>
          </a:xfrm>
          <a:prstGeom prst="ellipse">
            <a:avLst/>
          </a:prstGeom>
          <a:solidFill>
            <a:schemeClr val="tx2"/>
          </a:solidFill>
          <a:ln w="12700">
            <a:solidFill>
              <a:schemeClr val="tx2"/>
            </a:solidFill>
            <a:prstDash val="solid"/>
          </a:ln>
        </p:spPr>
      </p:sp>
      <p:pic>
        <p:nvPicPr>
          <p:cNvPr id="21" name="Image 4" descr="preencoded.png">    </p:cNvPr>
          <p:cNvPicPr>
            <a:picLocks noChangeAspect="1"/>
          </p:cNvPicPr>
          <p:nvPr/>
        </p:nvPicPr>
        <p:blipFill>
          <a:blip r:embed="rId5"/>
          <a:stretch>
            <a:fillRect/>
          </a:stretch>
        </p:blipFill>
        <p:spPr>
          <a:xfrm>
            <a:off x="9784080" y="1709928"/>
            <a:ext cx="512064" cy="512064"/>
          </a:xfrm>
          <a:prstGeom prst="rect">
            <a:avLst/>
          </a:prstGeom>
        </p:spPr>
      </p:pic>
      <p:sp>
        <p:nvSpPr>
          <p:cNvPr id="22" name="Text 15"/>
          <p:cNvSpPr txBox="1"/>
          <p:nvPr/>
        </p:nvSpPr>
        <p:spPr>
          <a:xfrm>
            <a:off x="9582912" y="2560320"/>
            <a:ext cx="1984248" cy="640080"/>
          </a:xfrm>
          <a:prstGeom prst="rect">
            <a:avLst/>
          </a:prstGeom>
          <a:noFill/>
          <a:ln/>
        </p:spPr>
        <p:txBody>
          <a:bodyPr wrap="square" lIns="0" tIns="0" rIns="0" bIns="0" rtlCol="0" anchor="t"/>
          <a:lstStyle/>
          <a:p>
            <a:pPr indent="0" marL="0">
              <a:buNone/>
            </a:pPr>
            <a:r>
              <a:rPr lang="en-US" sz="1600" b="1" dirty="0">
                <a:solidFill>
                  <a:schemeClr val="tx2"/>
                </a:solidFill>
              </a:rPr>
              <a:t>Aviso y recompra</a:t>
            </a:r>
            <a:endParaRPr lang="en-US" sz="1600" dirty="0"/>
          </a:p>
        </p:txBody>
      </p:sp>
      <p:sp>
        <p:nvSpPr>
          <p:cNvPr id="23" name="Shape 16"/>
          <p:cNvSpPr/>
          <p:nvPr/>
        </p:nvSpPr>
        <p:spPr>
          <a:xfrm>
            <a:off x="548640" y="3429000"/>
            <a:ext cx="2615184" cy="1234440"/>
          </a:xfrm>
          <a:prstGeom prst="roundRect">
            <a:avLst>
              <a:gd name="adj" fmla="val 8889"/>
            </a:avLst>
          </a:prstGeom>
          <a:solidFill>
            <a:schemeClr val="accent1"/>
          </a:solidFill>
          <a:ln w="12700">
            <a:solidFill>
              <a:schemeClr val="accent1"/>
            </a:solidFill>
            <a:prstDash val="solid"/>
          </a:ln>
          <a:effectLst>
            <a:outerShdw sx="100000" sy="100000" kx="0" ky="0" algn="bl" rotWithShape="0" blurRad="101600" dist="25400" dir="5400000">
              <a:srgbClr val="7A4A30">
                <a:alpha val="14000"/>
              </a:srgbClr>
            </a:outerShdw>
          </a:effectLst>
        </p:spPr>
      </p:sp>
      <p:sp>
        <p:nvSpPr>
          <p:cNvPr id="24" name="Text 17"/>
          <p:cNvSpPr txBox="1"/>
          <p:nvPr/>
        </p:nvSpPr>
        <p:spPr>
          <a:xfrm>
            <a:off x="777240" y="3429000"/>
            <a:ext cx="2249424" cy="1234440"/>
          </a:xfrm>
          <a:prstGeom prst="rect">
            <a:avLst/>
          </a:prstGeom>
          <a:noFill/>
          <a:ln/>
        </p:spPr>
        <p:txBody>
          <a:bodyPr wrap="square" lIns="0" tIns="0" rIns="0" bIns="0" rtlCol="0" anchor="ctr"/>
          <a:lstStyle/>
          <a:p>
            <a:pPr indent="0" marL="0">
              <a:buNone/>
            </a:pPr>
            <a:r>
              <a:rPr lang="en-US" sz="2800" b="1" dirty="0">
                <a:solidFill>
                  <a:schemeClr val="bg1"/>
                </a:solidFill>
              </a:rPr>
              <a:t>S/2,000</a:t>
            </a:r>
            <a:endParaRPr lang="en-US" sz="1400" dirty="0"/>
          </a:p>
          <a:p>
            <a:pPr indent="0" marL="0">
              <a:buNone/>
            </a:pPr>
            <a:r>
              <a:rPr lang="en-US" sz="1300" dirty="0">
                <a:solidFill>
                  <a:schemeClr val="bg1"/>
                </a:solidFill>
              </a:rPr>
              <a:t>para terminar y publicar: el prototipo ya funciona</a:t>
            </a:r>
            <a:endParaRPr lang="en-US" sz="1400" dirty="0"/>
          </a:p>
        </p:txBody>
      </p:sp>
      <p:sp>
        <p:nvSpPr>
          <p:cNvPr id="25" name="Shape 18"/>
          <p:cNvSpPr/>
          <p:nvPr/>
        </p:nvSpPr>
        <p:spPr>
          <a:xfrm>
            <a:off x="3374136" y="3429000"/>
            <a:ext cx="2615184" cy="1234440"/>
          </a:xfrm>
          <a:prstGeom prst="roundRect">
            <a:avLst>
              <a:gd name="adj" fmla="val 888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6" name="Text 19"/>
          <p:cNvSpPr txBox="1"/>
          <p:nvPr/>
        </p:nvSpPr>
        <p:spPr>
          <a:xfrm>
            <a:off x="3602736" y="3429000"/>
            <a:ext cx="2249424" cy="1234440"/>
          </a:xfrm>
          <a:prstGeom prst="rect">
            <a:avLst/>
          </a:prstGeom>
          <a:noFill/>
          <a:ln/>
        </p:spPr>
        <p:txBody>
          <a:bodyPr wrap="square" lIns="0" tIns="0" rIns="0" bIns="0" rtlCol="0" anchor="ctr"/>
          <a:lstStyle/>
          <a:p>
            <a:pPr indent="0" marL="0">
              <a:buNone/>
            </a:pPr>
            <a:r>
              <a:rPr lang="en-US" sz="2800" b="1" dirty="0">
                <a:solidFill>
                  <a:schemeClr val="accent1"/>
                </a:solidFill>
              </a:rPr>
              <a:t>S/250</a:t>
            </a:r>
            <a:endParaRPr lang="en-US" sz="1400" dirty="0"/>
          </a:p>
          <a:p>
            <a:pPr indent="0" marL="0">
              <a:buNone/>
            </a:pPr>
            <a:r>
              <a:rPr lang="en-US" sz="1300" dirty="0">
                <a:solidFill>
                  <a:schemeClr val="accent2"/>
                </a:solidFill>
              </a:rPr>
              <a:t>al mes: servidor, IA y mantenimiento</a:t>
            </a:r>
            <a:endParaRPr lang="en-US" sz="1400" dirty="0"/>
          </a:p>
        </p:txBody>
      </p:sp>
      <p:sp>
        <p:nvSpPr>
          <p:cNvPr id="27" name="Shape 20"/>
          <p:cNvSpPr/>
          <p:nvPr/>
        </p:nvSpPr>
        <p:spPr>
          <a:xfrm>
            <a:off x="6199632" y="3429000"/>
            <a:ext cx="2615184" cy="1234440"/>
          </a:xfrm>
          <a:prstGeom prst="roundRect">
            <a:avLst>
              <a:gd name="adj" fmla="val 888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8" name="Text 21"/>
          <p:cNvSpPr txBox="1"/>
          <p:nvPr/>
        </p:nvSpPr>
        <p:spPr>
          <a:xfrm>
            <a:off x="6428232" y="3429000"/>
            <a:ext cx="2249424" cy="1234440"/>
          </a:xfrm>
          <a:prstGeom prst="rect">
            <a:avLst/>
          </a:prstGeom>
          <a:noFill/>
          <a:ln/>
        </p:spPr>
        <p:txBody>
          <a:bodyPr wrap="square" lIns="0" tIns="0" rIns="0" bIns="0" rtlCol="0" anchor="ctr"/>
          <a:lstStyle/>
          <a:p>
            <a:pPr indent="0" marL="0">
              <a:buNone/>
            </a:pPr>
            <a:r>
              <a:rPr lang="en-US" sz="2800" b="1" dirty="0">
                <a:solidFill>
                  <a:schemeClr val="accent1"/>
                </a:solidFill>
              </a:rPr>
              <a:t>S/0.04</a:t>
            </a:r>
            <a:endParaRPr lang="en-US" sz="1400" dirty="0"/>
          </a:p>
          <a:p>
            <a:pPr indent="0" marL="0">
              <a:buNone/>
            </a:pPr>
            <a:r>
              <a:rPr lang="en-US" sz="1300" dirty="0">
                <a:solidFill>
                  <a:schemeClr val="accent2"/>
                </a:solidFill>
              </a:rPr>
              <a:t>por código único impreso</a:t>
            </a:r>
            <a:endParaRPr lang="en-US" sz="1400" dirty="0"/>
          </a:p>
        </p:txBody>
      </p:sp>
      <p:sp>
        <p:nvSpPr>
          <p:cNvPr id="29" name="Shape 22"/>
          <p:cNvSpPr/>
          <p:nvPr/>
        </p:nvSpPr>
        <p:spPr>
          <a:xfrm>
            <a:off x="9025128" y="3429000"/>
            <a:ext cx="2615184" cy="1234440"/>
          </a:xfrm>
          <a:prstGeom prst="roundRect">
            <a:avLst>
              <a:gd name="adj" fmla="val 8889"/>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30" name="Text 23"/>
          <p:cNvSpPr txBox="1"/>
          <p:nvPr/>
        </p:nvSpPr>
        <p:spPr>
          <a:xfrm>
            <a:off x="9253728" y="3429000"/>
            <a:ext cx="2249424" cy="1234440"/>
          </a:xfrm>
          <a:prstGeom prst="rect">
            <a:avLst/>
          </a:prstGeom>
          <a:noFill/>
          <a:ln/>
        </p:spPr>
        <p:txBody>
          <a:bodyPr wrap="square" lIns="0" tIns="0" rIns="0" bIns="0" rtlCol="0" anchor="ctr"/>
          <a:lstStyle/>
          <a:p>
            <a:pPr indent="0" marL="0">
              <a:buNone/>
            </a:pPr>
            <a:r>
              <a:rPr lang="en-US" sz="2800" b="1" dirty="0">
                <a:solidFill>
                  <a:schemeClr val="accent1"/>
                </a:solidFill>
              </a:rPr>
              <a:t>S/375</a:t>
            </a:r>
            <a:endParaRPr lang="en-US" sz="1400" dirty="0"/>
          </a:p>
          <a:p>
            <a:pPr indent="0" marL="0">
              <a:buNone/>
            </a:pPr>
            <a:r>
              <a:rPr lang="en-US" sz="1300" dirty="0">
                <a:solidFill>
                  <a:schemeClr val="accent2"/>
                </a:solidFill>
              </a:rPr>
              <a:t>por análisis de hierro (cada 2 meses desde julio)</a:t>
            </a:r>
            <a:endParaRPr lang="en-US" sz="1400" dirty="0"/>
          </a:p>
        </p:txBody>
      </p:sp>
      <p:sp>
        <p:nvSpPr>
          <p:cNvPr id="31" name="Shape 24"/>
          <p:cNvSpPr/>
          <p:nvPr/>
        </p:nvSpPr>
        <p:spPr>
          <a:xfrm>
            <a:off x="548640" y="4846320"/>
            <a:ext cx="6766560" cy="1325880"/>
          </a:xfrm>
          <a:prstGeom prst="roundRect">
            <a:avLst>
              <a:gd name="adj" fmla="val 8276"/>
            </a:avLst>
          </a:prstGeom>
          <a:solidFill>
            <a:schemeClr val="bg2"/>
          </a:solidFill>
          <a:ln w="12700">
            <a:solidFill>
              <a:schemeClr val="bg2"/>
            </a:solidFill>
            <a:prstDash val="solid"/>
          </a:ln>
        </p:spPr>
      </p:sp>
      <p:sp>
        <p:nvSpPr>
          <p:cNvPr id="32" name="Text 25"/>
          <p:cNvSpPr txBox="1"/>
          <p:nvPr/>
        </p:nvSpPr>
        <p:spPr>
          <a:xfrm>
            <a:off x="777240" y="4846320"/>
            <a:ext cx="6400800" cy="1325880"/>
          </a:xfrm>
          <a:prstGeom prst="rect">
            <a:avLst/>
          </a:prstGeom>
          <a:noFill/>
          <a:ln/>
        </p:spPr>
        <p:txBody>
          <a:bodyPr wrap="square" lIns="0" tIns="0" rIns="0" bIns="0" rtlCol="0" anchor="ctr"/>
          <a:lstStyle/>
          <a:p>
            <a:pPr indent="0" marL="0">
              <a:buNone/>
            </a:pPr>
            <a:r>
              <a:rPr lang="en-US" sz="1500" b="1" dirty="0">
                <a:solidFill>
                  <a:schemeClr val="tx2"/>
                </a:solidFill>
              </a:rPr>
              <a:t>Tecnología</a:t>
            </a:r>
            <a:endParaRPr lang="en-US" sz="1400" dirty="0"/>
          </a:p>
          <a:p>
            <a:pPr indent="0" marL="0">
              <a:buNone/>
            </a:pPr>
            <a:r>
              <a:rPr lang="en-US" sz="1400" dirty="0">
                <a:solidFill>
                  <a:schemeClr val="tx1"/>
                </a:solidFill>
              </a:rPr>
              <a:t>App web: se abre con el QR, sin descargar nada · servidor en Google Cloud · plan de loncheras con IA de Gemini · funciona sin internet</a:t>
            </a:r>
            <a:endParaRPr lang="en-US" sz="1400" dirty="0"/>
          </a:p>
        </p:txBody>
      </p:sp>
      <p:sp>
        <p:nvSpPr>
          <p:cNvPr id="33" name="Shape 26"/>
          <p:cNvSpPr/>
          <p:nvPr/>
        </p:nvSpPr>
        <p:spPr>
          <a:xfrm>
            <a:off x="7498080" y="4846320"/>
            <a:ext cx="4142232" cy="1325880"/>
          </a:xfrm>
          <a:prstGeom prst="roundRect">
            <a:avLst>
              <a:gd name="adj" fmla="val 8276"/>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34" name="Text 27"/>
          <p:cNvSpPr txBox="1"/>
          <p:nvPr/>
        </p:nvSpPr>
        <p:spPr>
          <a:xfrm>
            <a:off x="7726680" y="4846320"/>
            <a:ext cx="3749040" cy="1325880"/>
          </a:xfrm>
          <a:prstGeom prst="rect">
            <a:avLst/>
          </a:prstGeom>
          <a:noFill/>
          <a:ln/>
        </p:spPr>
        <p:txBody>
          <a:bodyPr wrap="square" lIns="0" tIns="0" rIns="0" bIns="0" rtlCol="0" anchor="ctr"/>
          <a:lstStyle/>
          <a:p>
            <a:pPr indent="0" marL="0">
              <a:buNone/>
            </a:pPr>
            <a:r>
              <a:rPr lang="en-US" sz="1700" b="1" dirty="0">
                <a:solidFill>
                  <a:schemeClr val="accent3"/>
                </a:solidFill>
              </a:rPr>
              <a:t>30 % de envases escaneados</a:t>
            </a:r>
            <a:endParaRPr lang="en-US" sz="1400" dirty="0"/>
          </a:p>
          <a:p>
            <a:pPr indent="0" marL="0">
              <a:buNone/>
            </a:pPr>
            <a:r>
              <a:rPr lang="en-US" sz="1300" dirty="0">
                <a:solidFill>
                  <a:schemeClr val="bg1"/>
                </a:solidFill>
              </a:rPr>
              <a:t>Meta del año 1. La mitad de la recompra llega desde el aviso de la app.</a:t>
            </a:r>
            <a:endParaRPr lang="en-US" sz="14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TRABAJO DE CAMPO 8 · FRENTE A LA COMPETENCIA</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Cuesta un poco más que Fika, pero mide su hierro y trae app</a:t>
            </a:r>
            <a:endParaRPr lang="en-US" sz="3400" dirty="0"/>
          </a:p>
        </p:txBody>
      </p:sp>
      <p:graphicFrame>
        <p:nvGraphicFramePr>
          <p:cNvPr id="4" name="Chart 0" descr=""/>
          <p:cNvGraphicFramePr/>
          <p:nvPr/>
        </p:nvGraphicFramePr>
        <p:xfrm>
          <a:off x="365760" y="1463040"/>
          <a:ext cx="6400800" cy="4663440"/>
        </p:xfrm>
        <a:graphic xmlns:a="http://schemas.openxmlformats.org/drawingml/2006/main">
          <a:graphicData uri="http://schemas.openxmlformats.org/drawingml/2006/chart">
            <c:chart xmlns:c="http://schemas.openxmlformats.org/drawingml/2006/chart" r:id="rId1"/>
          </a:graphicData>
        </a:graphic>
      </p:graphicFrame>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7040880" y="1600200"/>
          <a:ext cx="4599432" cy="914400"/>
        </p:xfrm>
        <a:graphic>
          <a:graphicData uri="http://schemas.openxmlformats.org/drawingml/2006/table">
            <a:tbl>
              <a:tblPr/>
              <a:tblGrid>
                <a:gridCol w="1399032"/>
                <a:gridCol w="800100"/>
                <a:gridCol w="800100"/>
                <a:gridCol w="800100"/>
                <a:gridCol w="800100"/>
              </a:tblGrid>
              <a:tr h="411480">
                <a:tc>
                  <a:txBody>
                    <a:bodyPr/>
                    <a:lstStyle/>
                    <a:p>
                      <a:pPr indent="0" marL="0">
                        <a:buNone/>
                      </a:pPr>
                      <a:r>
                        <a:rPr lang="en-US" sz="1200" b="1" dirty="0">
                          <a:solidFill>
                            <a:schemeClr val="bg1"/>
                          </a:solidFill>
                        </a:rPr>
                        <a:t>Atributo</a:t>
                      </a:r>
                      <a:endParaRPr lang="en-US" sz="12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AndiBite</a:t>
                      </a:r>
                      <a:endParaRPr lang="en-US" sz="11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rPr>
                        <a:t>Nutri H</a:t>
                      </a:r>
                      <a:endParaRPr lang="en-US" sz="11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Fika</a:t>
                      </a:r>
                      <a:endParaRPr lang="en-US" sz="11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Mamalama</a:t>
                      </a:r>
                      <a:endParaRPr lang="en-US" sz="11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chemeClr val="tx2"/>
                    </a:solidFill>
                  </a:tcPr>
                </a:tc>
              </a:tr>
              <a:tr h="411480">
                <a:tc>
                  <a:txBody>
                    <a:bodyPr/>
                    <a:lstStyle/>
                    <a:p>
                      <a:pPr indent="0" marL="0">
                        <a:buNone/>
                      </a:pPr>
                      <a:r>
                        <a:rPr lang="en-US" sz="1300" dirty="0">
                          <a:solidFill>
                            <a:schemeClr val="tx1"/>
                          </a:solidFill>
                        </a:rPr>
                        <a:t>Hierro medido</a:t>
                      </a:r>
                      <a:endParaRPr lang="en-US" sz="13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600" b="1" dirty="0">
                          <a:solidFill>
                            <a:schemeClr val="accent1"/>
                          </a:solidFill>
                        </a:rPr>
                        <a:t>✓</a:t>
                      </a:r>
                      <a:endParaRPr lang="en-US" sz="16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6DCD5"/>
                    </a:solidFill>
                  </a:tcPr>
                </a:tc>
                <a:tc>
                  <a:txBody>
                    <a:bodyPr/>
                    <a:lstStyle/>
                    <a:p>
                      <a:pPr algn="ctr" indent="0" marL="0">
                        <a:buNone/>
                      </a:pPr>
                      <a:r>
                        <a:rPr lang="en-US" sz="1600" dirty="0">
                          <a:solidFill>
                            <a:schemeClr val="accent2"/>
                          </a:solidFill>
                        </a:rPr>
                        <a:t>–</a:t>
                      </a:r>
                      <a:endParaRPr lang="en-US" sz="16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accent2"/>
                          </a:solidFill>
                        </a:rPr>
                        <a:t>–</a:t>
                      </a:r>
                      <a:endParaRPr lang="en-US" sz="16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accent2"/>
                          </a:solidFill>
                        </a:rPr>
                        <a:t>–</a:t>
                      </a:r>
                      <a:endParaRPr lang="en-US" sz="16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11480">
                <a:tc>
                  <a:txBody>
                    <a:bodyPr/>
                    <a:lstStyle/>
                    <a:p>
                      <a:pPr indent="0" marL="0">
                        <a:buNone/>
                      </a:pPr>
                      <a:r>
                        <a:rPr lang="en-US" sz="1300" dirty="0">
                          <a:solidFill>
                            <a:schemeClr val="tx1"/>
                          </a:solidFill>
                        </a:rPr>
                        <a:t>App propia</a:t>
                      </a:r>
                      <a:endParaRPr lang="en-US" sz="13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600" b="1" dirty="0">
                          <a:solidFill>
                            <a:schemeClr val="accent1"/>
                          </a:solidFill>
                        </a:rPr>
                        <a:t>✓</a:t>
                      </a:r>
                      <a:endParaRPr lang="en-US" sz="16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6DCD5"/>
                    </a:solidFill>
                  </a:tcPr>
                </a:tc>
                <a:tc>
                  <a:txBody>
                    <a:bodyPr/>
                    <a:lstStyle/>
                    <a:p>
                      <a:pPr algn="ctr" indent="0" marL="0">
                        <a:buNone/>
                      </a:pPr>
                      <a:r>
                        <a:rPr lang="en-US" sz="1600" dirty="0">
                          <a:solidFill>
                            <a:schemeClr val="accent2"/>
                          </a:solidFill>
                        </a:rPr>
                        <a:t>–</a:t>
                      </a:r>
                      <a:endParaRPr lang="en-US" sz="16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accent2"/>
                          </a:solidFill>
                        </a:rPr>
                        <a:t>–</a:t>
                      </a:r>
                      <a:endParaRPr lang="en-US" sz="16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accent2"/>
                          </a:solidFill>
                        </a:rPr>
                        <a:t>–</a:t>
                      </a:r>
                      <a:endParaRPr lang="en-US" sz="16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11480">
                <a:tc>
                  <a:txBody>
                    <a:bodyPr/>
                    <a:lstStyle/>
                    <a:p>
                      <a:pPr indent="0" marL="0">
                        <a:buNone/>
                      </a:pPr>
                      <a:r>
                        <a:rPr lang="en-US" sz="1300" dirty="0">
                          <a:solidFill>
                            <a:schemeClr val="tx1"/>
                          </a:solidFill>
                        </a:rPr>
                        <a:t>Sin octógono</a:t>
                      </a:r>
                      <a:endParaRPr lang="en-US" sz="13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600" b="1" dirty="0">
                          <a:solidFill>
                            <a:schemeClr val="accent1"/>
                          </a:solidFill>
                        </a:rPr>
                        <a:t>✓*</a:t>
                      </a:r>
                      <a:endParaRPr lang="en-US" sz="16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6DCD5"/>
                    </a:solidFill>
                  </a:tcPr>
                </a:tc>
                <a:tc>
                  <a:txBody>
                    <a:bodyPr/>
                    <a:lstStyle/>
                    <a:p>
                      <a:pPr algn="ctr" indent="0" marL="0">
                        <a:buNone/>
                      </a:pPr>
                      <a:r>
                        <a:rPr lang="en-US" sz="1600" dirty="0">
                          <a:solidFill>
                            <a:schemeClr val="accent2"/>
                          </a:solidFill>
                        </a:rPr>
                        <a:t>?</a:t>
                      </a:r>
                      <a:endParaRPr lang="en-US" sz="16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600" b="1" dirty="0">
                          <a:solidFill>
                            <a:schemeClr val="accent4"/>
                          </a:solidFill>
                        </a:rPr>
                        <a:t>✓</a:t>
                      </a:r>
                      <a:endParaRPr lang="en-US" sz="16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accent2"/>
                          </a:solidFill>
                        </a:rPr>
                        <a:t>?</a:t>
                      </a:r>
                      <a:endParaRPr lang="en-US" sz="16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11480">
                <a:tc>
                  <a:txBody>
                    <a:bodyPr/>
                    <a:lstStyle/>
                    <a:p>
                      <a:pPr indent="0" marL="0">
                        <a:buNone/>
                      </a:pPr>
                      <a:r>
                        <a:rPr lang="en-US" sz="1300" dirty="0">
                          <a:solidFill>
                            <a:schemeClr val="tx1"/>
                          </a:solidFill>
                        </a:rPr>
                        <a:t>Varios sabores</a:t>
                      </a:r>
                      <a:endParaRPr lang="en-US" sz="13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600" b="1" dirty="0">
                          <a:solidFill>
                            <a:schemeClr val="accent1"/>
                          </a:solidFill>
                        </a:rPr>
                        <a:t>✓</a:t>
                      </a:r>
                      <a:endParaRPr lang="en-US" sz="16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6DCD5"/>
                    </a:solidFill>
                  </a:tcPr>
                </a:tc>
                <a:tc>
                  <a:txBody>
                    <a:bodyPr/>
                    <a:lstStyle/>
                    <a:p>
                      <a:pPr algn="ctr" indent="0" marL="0">
                        <a:buNone/>
                      </a:pPr>
                      <a:r>
                        <a:rPr lang="en-US" sz="1600" dirty="0">
                          <a:solidFill>
                            <a:schemeClr val="accent2"/>
                          </a:solidFill>
                        </a:rPr>
                        <a:t>?</a:t>
                      </a:r>
                      <a:endParaRPr lang="en-US" sz="16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accent2"/>
                          </a:solidFill>
                        </a:rPr>
                        <a:t>–</a:t>
                      </a:r>
                      <a:endParaRPr lang="en-US" sz="16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accent2"/>
                          </a:solidFill>
                        </a:rPr>
                        <a:t>–</a:t>
                      </a:r>
                      <a:endParaRPr lang="en-US" sz="16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11480">
                <a:tc>
                  <a:txBody>
                    <a:bodyPr/>
                    <a:lstStyle/>
                    <a:p>
                      <a:pPr indent="0" marL="0">
                        <a:buNone/>
                      </a:pPr>
                      <a:r>
                        <a:rPr lang="en-US" sz="1300" dirty="0">
                          <a:solidFill>
                            <a:schemeClr val="tx1"/>
                          </a:solidFill>
                        </a:rPr>
                        <a:t>Delivery</a:t>
                      </a:r>
                      <a:endParaRPr lang="en-US" sz="13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600" b="1" dirty="0">
                          <a:solidFill>
                            <a:schemeClr val="accent1"/>
                          </a:solidFill>
                        </a:rPr>
                        <a:t>✓</a:t>
                      </a:r>
                      <a:endParaRPr lang="en-US" sz="16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6DCD5"/>
                    </a:solidFill>
                  </a:tcPr>
                </a:tc>
                <a:tc>
                  <a:txBody>
                    <a:bodyPr/>
                    <a:lstStyle/>
                    <a:p>
                      <a:pPr algn="ctr" indent="0" marL="0">
                        <a:buNone/>
                      </a:pPr>
                      <a:r>
                        <a:rPr lang="en-US" sz="1600" b="1" dirty="0">
                          <a:solidFill>
                            <a:schemeClr val="accent4"/>
                          </a:solidFill>
                        </a:rPr>
                        <a:t>✓</a:t>
                      </a:r>
                      <a:endParaRPr lang="en-US" sz="16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600" b="1" dirty="0">
                          <a:solidFill>
                            <a:schemeClr val="accent4"/>
                          </a:solidFill>
                        </a:rPr>
                        <a:t>✓</a:t>
                      </a:r>
                      <a:endParaRPr lang="en-US" sz="16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accent2"/>
                          </a:solidFill>
                        </a:rPr>
                        <a:t>–</a:t>
                      </a:r>
                      <a:endParaRPr lang="en-US" sz="16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r h="411480">
                <a:tc>
                  <a:txBody>
                    <a:bodyPr/>
                    <a:lstStyle/>
                    <a:p>
                      <a:pPr indent="0" marL="0">
                        <a:buNone/>
                      </a:pPr>
                      <a:r>
                        <a:rPr lang="en-US" sz="1300" dirty="0">
                          <a:solidFill>
                            <a:schemeClr val="tx1"/>
                          </a:solidFill>
                        </a:rPr>
                        <a:t>Formato postre</a:t>
                      </a:r>
                      <a:endParaRPr lang="en-US" sz="13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600" b="1" dirty="0">
                          <a:solidFill>
                            <a:schemeClr val="accent1"/>
                          </a:solidFill>
                        </a:rPr>
                        <a:t>✓</a:t>
                      </a:r>
                      <a:endParaRPr lang="en-US" sz="16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6DCD5"/>
                    </a:solidFill>
                  </a:tcPr>
                </a:tc>
                <a:tc>
                  <a:txBody>
                    <a:bodyPr/>
                    <a:lstStyle/>
                    <a:p>
                      <a:pPr algn="ctr" indent="0" marL="0">
                        <a:buNone/>
                      </a:pPr>
                      <a:r>
                        <a:rPr lang="en-US" sz="1600" dirty="0">
                          <a:solidFill>
                            <a:schemeClr val="accent2"/>
                          </a:solidFill>
                        </a:rPr>
                        <a:t>–</a:t>
                      </a:r>
                      <a:endParaRPr lang="en-US" sz="16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600" b="1" dirty="0">
                          <a:solidFill>
                            <a:schemeClr val="accent4"/>
                          </a:solidFill>
                        </a:rPr>
                        <a:t>✓</a:t>
                      </a:r>
                      <a:endParaRPr lang="en-US" sz="16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c>
                  <a:txBody>
                    <a:bodyPr/>
                    <a:lstStyle/>
                    <a:p>
                      <a:pPr algn="ctr" indent="0" marL="0">
                        <a:buNone/>
                      </a:pPr>
                      <a:r>
                        <a:rPr lang="en-US" sz="1600" dirty="0">
                          <a:solidFill>
                            <a:schemeClr val="accent2"/>
                          </a:solidFill>
                        </a:rPr>
                        <a:t>–</a:t>
                      </a:r>
                      <a:endParaRPr lang="en-US" sz="1600" dirty="0"/>
                    </a:p>
                  </a:txBody>
                  <a:tcPr marL="45720" marR="45720" marT="45720" marB="45720" anchor="ctr">
                    <a:lnL w="9525" cap="flat" cmpd="sng" algn="ctr">
                      <a:solidFill>
                        <a:srgbClr val="E8D8C4"/>
                      </a:solidFill>
                      <a:prstDash val="solid"/>
                      <a:round/>
                      <a:headEnd type="none" w="med" len="med"/>
                      <a:tailEnd type="none" w="med" len="med"/>
                    </a:lnL>
                    <a:lnR w="9525" cap="flat" cmpd="sng" algn="ctr">
                      <a:solidFill>
                        <a:srgbClr val="E8D8C4"/>
                      </a:solidFill>
                      <a:prstDash val="solid"/>
                      <a:round/>
                      <a:headEnd type="none" w="med" len="med"/>
                      <a:tailEnd type="none" w="med" len="med"/>
                    </a:lnR>
                    <a:lnT w="9525" cap="flat" cmpd="sng" algn="ctr">
                      <a:solidFill>
                        <a:srgbClr val="E8D8C4"/>
                      </a:solidFill>
                      <a:prstDash val="solid"/>
                      <a:round/>
                      <a:headEnd type="none" w="med" len="med"/>
                      <a:tailEnd type="none" w="med" len="med"/>
                    </a:lnT>
                    <a:lnB w="9525" cap="flat" cmpd="sng" algn="ctr">
                      <a:solidFill>
                        <a:srgbClr val="E8D8C4"/>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7040880" y="4526280"/>
            <a:ext cx="4599432" cy="274320"/>
          </a:xfrm>
          <a:prstGeom prst="rect">
            <a:avLst/>
          </a:prstGeom>
          <a:noFill/>
          <a:ln/>
        </p:spPr>
        <p:txBody>
          <a:bodyPr wrap="square" lIns="0" tIns="0" rIns="0" bIns="0" rtlCol="0" anchor="t"/>
          <a:lstStyle/>
          <a:p>
            <a:pPr indent="0" marL="0">
              <a:buNone/>
            </a:pPr>
            <a:r>
              <a:rPr lang="en-US" sz="1100" i="1" dirty="0">
                <a:solidFill>
                  <a:schemeClr val="accent2"/>
                </a:solidFill>
              </a:rPr>
              <a:t>* Meta, se confirma en laboratorio. ? = por completar en el store check.</a:t>
            </a:r>
            <a:endParaRPr lang="en-US" sz="1100" dirty="0"/>
          </a:p>
        </p:txBody>
      </p:sp>
      <p:sp>
        <p:nvSpPr>
          <p:cNvPr id="7" name="Shape 3"/>
          <p:cNvSpPr/>
          <p:nvPr/>
        </p:nvSpPr>
        <p:spPr>
          <a:xfrm>
            <a:off x="7040880" y="4892040"/>
            <a:ext cx="4599432" cy="1234440"/>
          </a:xfrm>
          <a:prstGeom prst="roundRect">
            <a:avLst>
              <a:gd name="adj" fmla="val 8889"/>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8" name="Text 4"/>
          <p:cNvSpPr txBox="1"/>
          <p:nvPr/>
        </p:nvSpPr>
        <p:spPr>
          <a:xfrm>
            <a:off x="7269480" y="4937760"/>
            <a:ext cx="4206240" cy="1143000"/>
          </a:xfrm>
          <a:prstGeom prst="rect">
            <a:avLst/>
          </a:prstGeom>
          <a:noFill/>
          <a:ln/>
        </p:spPr>
        <p:txBody>
          <a:bodyPr wrap="square" lIns="0" tIns="0" rIns="0" bIns="0" rtlCol="0" anchor="ctr"/>
          <a:lstStyle/>
          <a:p>
            <a:pPr indent="0" marL="0">
              <a:buNone/>
            </a:pPr>
            <a:r>
              <a:rPr lang="en-US" sz="2000" b="1" dirty="0">
                <a:solidFill>
                  <a:schemeClr val="accent3"/>
                </a:solidFill>
              </a:rPr>
              <a:t>S/4.48 por brownie</a:t>
            </a:r>
            <a:endParaRPr lang="en-US" sz="1400" dirty="0"/>
          </a:p>
          <a:p>
            <a:pPr indent="0" marL="0">
              <a:buNone/>
            </a:pPr>
            <a:r>
              <a:rPr lang="en-US" sz="1400" dirty="0">
                <a:solidFill>
                  <a:schemeClr val="bg1"/>
                </a:solidFill>
              </a:rPr>
              <a:t>Por WhatsApp; S/4.65 en el stand. 12 % más que Fika, con hierro medido por lote y la app Andi.</a:t>
            </a:r>
            <a:endParaRPr lang="en-US" sz="140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PLAN DE MARKETING · OCTUBRE DE 2026 A DICIEMBRE DE 2027</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Qué hacemos cada mes y cuánto invertimos</a:t>
            </a:r>
            <a:endParaRPr lang="en-US" sz="3400" dirty="0"/>
          </a:p>
        </p:txBody>
      </p:sp>
      <p:sp>
        <p:nvSpPr>
          <p:cNvPr id="4" name="Shape 2"/>
          <p:cNvSpPr/>
          <p:nvPr/>
        </p:nvSpPr>
        <p:spPr>
          <a:xfrm>
            <a:off x="3264408" y="1371600"/>
            <a:ext cx="1642262" cy="274320"/>
          </a:xfrm>
          <a:prstGeom prst="rect">
            <a:avLst/>
          </a:prstGeom>
          <a:solidFill>
            <a:schemeClr val="accent2"/>
          </a:solidFill>
          <a:ln w="12700">
            <a:solidFill>
              <a:schemeClr val="accent2"/>
            </a:solidFill>
            <a:prstDash val="solid"/>
          </a:ln>
        </p:spPr>
      </p:sp>
      <p:sp>
        <p:nvSpPr>
          <p:cNvPr id="5" name="Text 3"/>
          <p:cNvSpPr txBox="1"/>
          <p:nvPr/>
        </p:nvSpPr>
        <p:spPr>
          <a:xfrm>
            <a:off x="3246120" y="1371600"/>
            <a:ext cx="1678838" cy="274320"/>
          </a:xfrm>
          <a:prstGeom prst="rect">
            <a:avLst/>
          </a:prstGeom>
          <a:noFill/>
          <a:ln/>
        </p:spPr>
        <p:txBody>
          <a:bodyPr wrap="square" lIns="0" tIns="0" rIns="0" bIns="0" rtlCol="0" anchor="ctr"/>
          <a:lstStyle/>
          <a:p>
            <a:pPr algn="ctr" indent="0" marL="0">
              <a:buNone/>
            </a:pPr>
            <a:r>
              <a:rPr lang="en-US" sz="900" b="1" spc="50" kern="0" dirty="0">
                <a:solidFill>
                  <a:schemeClr val="bg1"/>
                </a:solidFill>
              </a:rPr>
              <a:t>PRELANZAMIENTO · 2026</a:t>
            </a:r>
            <a:endParaRPr lang="en-US" sz="900" dirty="0"/>
          </a:p>
        </p:txBody>
      </p:sp>
      <p:sp>
        <p:nvSpPr>
          <p:cNvPr id="6" name="Shape 4"/>
          <p:cNvSpPr/>
          <p:nvPr/>
        </p:nvSpPr>
        <p:spPr>
          <a:xfrm>
            <a:off x="4943246" y="1371600"/>
            <a:ext cx="1082650" cy="274320"/>
          </a:xfrm>
          <a:prstGeom prst="rect">
            <a:avLst/>
          </a:prstGeom>
          <a:solidFill>
            <a:schemeClr val="accent1"/>
          </a:solidFill>
          <a:ln w="12700">
            <a:solidFill>
              <a:schemeClr val="accent1"/>
            </a:solidFill>
            <a:prstDash val="solid"/>
          </a:ln>
        </p:spPr>
      </p:sp>
      <p:sp>
        <p:nvSpPr>
          <p:cNvPr id="7" name="Text 5"/>
          <p:cNvSpPr txBox="1"/>
          <p:nvPr/>
        </p:nvSpPr>
        <p:spPr>
          <a:xfrm>
            <a:off x="4924958" y="1371600"/>
            <a:ext cx="1119226" cy="274320"/>
          </a:xfrm>
          <a:prstGeom prst="rect">
            <a:avLst/>
          </a:prstGeom>
          <a:noFill/>
          <a:ln/>
        </p:spPr>
        <p:txBody>
          <a:bodyPr wrap="square" lIns="0" tIns="0" rIns="0" bIns="0" rtlCol="0" anchor="ctr"/>
          <a:lstStyle/>
          <a:p>
            <a:pPr algn="ctr" indent="0" marL="0">
              <a:buNone/>
            </a:pPr>
            <a:r>
              <a:rPr lang="en-US" sz="900" b="1" spc="50" kern="0" dirty="0">
                <a:solidFill>
                  <a:schemeClr val="bg1"/>
                </a:solidFill>
              </a:rPr>
              <a:t>LANZAMIENTO 2027</a:t>
            </a:r>
            <a:endParaRPr lang="en-US" sz="900" dirty="0"/>
          </a:p>
        </p:txBody>
      </p:sp>
      <p:sp>
        <p:nvSpPr>
          <p:cNvPr id="8" name="Shape 6"/>
          <p:cNvSpPr/>
          <p:nvPr/>
        </p:nvSpPr>
        <p:spPr>
          <a:xfrm>
            <a:off x="6062472" y="1371600"/>
            <a:ext cx="2761488" cy="274320"/>
          </a:xfrm>
          <a:prstGeom prst="rect">
            <a:avLst/>
          </a:prstGeom>
          <a:solidFill>
            <a:schemeClr val="accent4"/>
          </a:solidFill>
          <a:ln w="12700">
            <a:solidFill>
              <a:schemeClr val="accent4"/>
            </a:solidFill>
            <a:prstDash val="solid"/>
          </a:ln>
        </p:spPr>
      </p:sp>
      <p:sp>
        <p:nvSpPr>
          <p:cNvPr id="9" name="Text 7"/>
          <p:cNvSpPr txBox="1"/>
          <p:nvPr/>
        </p:nvSpPr>
        <p:spPr>
          <a:xfrm>
            <a:off x="6044184" y="1371600"/>
            <a:ext cx="2798064" cy="274320"/>
          </a:xfrm>
          <a:prstGeom prst="rect">
            <a:avLst/>
          </a:prstGeom>
          <a:noFill/>
          <a:ln/>
        </p:spPr>
        <p:txBody>
          <a:bodyPr wrap="square" lIns="0" tIns="0" rIns="0" bIns="0" rtlCol="0" anchor="ctr"/>
          <a:lstStyle/>
          <a:p>
            <a:pPr algn="ctr" indent="0" marL="0">
              <a:buNone/>
            </a:pPr>
            <a:r>
              <a:rPr lang="en-US" sz="900" b="1" spc="50" kern="0" dirty="0">
                <a:solidFill>
                  <a:schemeClr val="bg1"/>
                </a:solidFill>
              </a:rPr>
              <a:t>CRECER: COLEGIOS Y EMBAJADORAS</a:t>
            </a:r>
            <a:endParaRPr lang="en-US" sz="900" dirty="0"/>
          </a:p>
        </p:txBody>
      </p:sp>
      <p:sp>
        <p:nvSpPr>
          <p:cNvPr id="10" name="Shape 8"/>
          <p:cNvSpPr/>
          <p:nvPr/>
        </p:nvSpPr>
        <p:spPr>
          <a:xfrm>
            <a:off x="8860536" y="1371600"/>
            <a:ext cx="2761488" cy="274320"/>
          </a:xfrm>
          <a:prstGeom prst="rect">
            <a:avLst/>
          </a:prstGeom>
          <a:solidFill>
            <a:schemeClr val="tx2"/>
          </a:solidFill>
          <a:ln w="12700">
            <a:solidFill>
              <a:schemeClr val="tx2"/>
            </a:solidFill>
            <a:prstDash val="solid"/>
          </a:ln>
        </p:spPr>
      </p:sp>
      <p:sp>
        <p:nvSpPr>
          <p:cNvPr id="11" name="Text 9"/>
          <p:cNvSpPr txBox="1"/>
          <p:nvPr/>
        </p:nvSpPr>
        <p:spPr>
          <a:xfrm>
            <a:off x="8842248" y="1371600"/>
            <a:ext cx="2798064" cy="274320"/>
          </a:xfrm>
          <a:prstGeom prst="rect">
            <a:avLst/>
          </a:prstGeom>
          <a:noFill/>
          <a:ln/>
        </p:spPr>
        <p:txBody>
          <a:bodyPr wrap="square" lIns="0" tIns="0" rIns="0" bIns="0" rtlCol="0" anchor="ctr"/>
          <a:lstStyle/>
          <a:p>
            <a:pPr algn="ctr" indent="0" marL="0">
              <a:buNone/>
            </a:pPr>
            <a:r>
              <a:rPr lang="en-US" sz="900" b="1" spc="50" kern="0" dirty="0">
                <a:solidFill>
                  <a:schemeClr val="bg1"/>
                </a:solidFill>
              </a:rPr>
              <a:t>EXPANDIR: 3 PUNTOS</a:t>
            </a:r>
            <a:endParaRPr lang="en-US" sz="900" dirty="0"/>
          </a:p>
        </p:txBody>
      </p:sp>
      <p:sp>
        <p:nvSpPr>
          <p:cNvPr id="12" name="Text 10"/>
          <p:cNvSpPr txBox="1"/>
          <p:nvPr/>
        </p:nvSpPr>
        <p:spPr>
          <a:xfrm>
            <a:off x="3246120" y="1673352"/>
            <a:ext cx="559613" cy="219456"/>
          </a:xfrm>
          <a:prstGeom prst="rect">
            <a:avLst/>
          </a:prstGeom>
          <a:noFill/>
          <a:ln/>
        </p:spPr>
        <p:txBody>
          <a:bodyPr wrap="square" lIns="0" tIns="0" rIns="0" bIns="0" rtlCol="0" anchor="t"/>
          <a:lstStyle/>
          <a:p>
            <a:pPr algn="ctr" indent="0" marL="0">
              <a:buNone/>
            </a:pPr>
            <a:r>
              <a:rPr lang="en-US" sz="1000" b="1" dirty="0">
                <a:solidFill>
                  <a:schemeClr val="accent2"/>
                </a:solidFill>
              </a:rPr>
              <a:t>Oct</a:t>
            </a:r>
            <a:endParaRPr lang="en-US" sz="1000" dirty="0"/>
          </a:p>
        </p:txBody>
      </p:sp>
      <p:sp>
        <p:nvSpPr>
          <p:cNvPr id="13" name="Text 11"/>
          <p:cNvSpPr txBox="1"/>
          <p:nvPr/>
        </p:nvSpPr>
        <p:spPr>
          <a:xfrm>
            <a:off x="3805733" y="1673352"/>
            <a:ext cx="559613" cy="219456"/>
          </a:xfrm>
          <a:prstGeom prst="rect">
            <a:avLst/>
          </a:prstGeom>
          <a:noFill/>
          <a:ln/>
        </p:spPr>
        <p:txBody>
          <a:bodyPr wrap="square" lIns="0" tIns="0" rIns="0" bIns="0" rtlCol="0" anchor="t"/>
          <a:lstStyle/>
          <a:p>
            <a:pPr algn="ctr" indent="0" marL="0">
              <a:buNone/>
            </a:pPr>
            <a:r>
              <a:rPr lang="en-US" sz="1000" b="1" dirty="0">
                <a:solidFill>
                  <a:schemeClr val="accent2"/>
                </a:solidFill>
              </a:rPr>
              <a:t>Nov</a:t>
            </a:r>
            <a:endParaRPr lang="en-US" sz="1000" dirty="0"/>
          </a:p>
        </p:txBody>
      </p:sp>
      <p:sp>
        <p:nvSpPr>
          <p:cNvPr id="14" name="Text 12"/>
          <p:cNvSpPr txBox="1"/>
          <p:nvPr/>
        </p:nvSpPr>
        <p:spPr>
          <a:xfrm>
            <a:off x="4365346" y="1673352"/>
            <a:ext cx="559613" cy="219456"/>
          </a:xfrm>
          <a:prstGeom prst="rect">
            <a:avLst/>
          </a:prstGeom>
          <a:noFill/>
          <a:ln/>
        </p:spPr>
        <p:txBody>
          <a:bodyPr wrap="square" lIns="0" tIns="0" rIns="0" bIns="0" rtlCol="0" anchor="t"/>
          <a:lstStyle/>
          <a:p>
            <a:pPr algn="ctr" indent="0" marL="0">
              <a:buNone/>
            </a:pPr>
            <a:r>
              <a:rPr lang="en-US" sz="1000" b="1" dirty="0">
                <a:solidFill>
                  <a:schemeClr val="accent2"/>
                </a:solidFill>
              </a:rPr>
              <a:t>Dic</a:t>
            </a:r>
            <a:endParaRPr lang="en-US" sz="1000" dirty="0"/>
          </a:p>
        </p:txBody>
      </p:sp>
      <p:sp>
        <p:nvSpPr>
          <p:cNvPr id="15" name="Text 13"/>
          <p:cNvSpPr txBox="1"/>
          <p:nvPr/>
        </p:nvSpPr>
        <p:spPr>
          <a:xfrm>
            <a:off x="4924958" y="1673352"/>
            <a:ext cx="559613" cy="219456"/>
          </a:xfrm>
          <a:prstGeom prst="rect">
            <a:avLst/>
          </a:prstGeom>
          <a:noFill/>
          <a:ln/>
        </p:spPr>
        <p:txBody>
          <a:bodyPr wrap="square" lIns="0" tIns="0" rIns="0" bIns="0" rtlCol="0" anchor="t"/>
          <a:lstStyle/>
          <a:p>
            <a:pPr algn="ctr" indent="0" marL="0">
              <a:buNone/>
            </a:pPr>
            <a:r>
              <a:rPr lang="en-US" sz="1000" b="1" dirty="0">
                <a:solidFill>
                  <a:schemeClr val="tx2"/>
                </a:solidFill>
              </a:rPr>
              <a:t>Ene</a:t>
            </a:r>
            <a:endParaRPr lang="en-US" sz="1000" dirty="0"/>
          </a:p>
        </p:txBody>
      </p:sp>
      <p:sp>
        <p:nvSpPr>
          <p:cNvPr id="16" name="Text 14"/>
          <p:cNvSpPr txBox="1"/>
          <p:nvPr/>
        </p:nvSpPr>
        <p:spPr>
          <a:xfrm>
            <a:off x="5484571" y="1673352"/>
            <a:ext cx="559613" cy="219456"/>
          </a:xfrm>
          <a:prstGeom prst="rect">
            <a:avLst/>
          </a:prstGeom>
          <a:noFill/>
          <a:ln/>
        </p:spPr>
        <p:txBody>
          <a:bodyPr wrap="square" lIns="0" tIns="0" rIns="0" bIns="0" rtlCol="0" anchor="t"/>
          <a:lstStyle/>
          <a:p>
            <a:pPr algn="ctr" indent="0" marL="0">
              <a:buNone/>
            </a:pPr>
            <a:r>
              <a:rPr lang="en-US" sz="1000" b="1" dirty="0">
                <a:solidFill>
                  <a:schemeClr val="tx2"/>
                </a:solidFill>
              </a:rPr>
              <a:t>Feb</a:t>
            </a:r>
            <a:endParaRPr lang="en-US" sz="1000" dirty="0"/>
          </a:p>
        </p:txBody>
      </p:sp>
      <p:sp>
        <p:nvSpPr>
          <p:cNvPr id="17" name="Text 15"/>
          <p:cNvSpPr txBox="1"/>
          <p:nvPr/>
        </p:nvSpPr>
        <p:spPr>
          <a:xfrm>
            <a:off x="6044184" y="1673352"/>
            <a:ext cx="559613" cy="219456"/>
          </a:xfrm>
          <a:prstGeom prst="rect">
            <a:avLst/>
          </a:prstGeom>
          <a:noFill/>
          <a:ln/>
        </p:spPr>
        <p:txBody>
          <a:bodyPr wrap="square" lIns="0" tIns="0" rIns="0" bIns="0" rtlCol="0" anchor="t"/>
          <a:lstStyle/>
          <a:p>
            <a:pPr algn="ctr" indent="0" marL="0">
              <a:buNone/>
            </a:pPr>
            <a:r>
              <a:rPr lang="en-US" sz="1000" b="1" dirty="0">
                <a:solidFill>
                  <a:schemeClr val="tx2"/>
                </a:solidFill>
              </a:rPr>
              <a:t>Mar</a:t>
            </a:r>
            <a:endParaRPr lang="en-US" sz="1000" dirty="0"/>
          </a:p>
        </p:txBody>
      </p:sp>
      <p:sp>
        <p:nvSpPr>
          <p:cNvPr id="18" name="Text 16"/>
          <p:cNvSpPr txBox="1"/>
          <p:nvPr/>
        </p:nvSpPr>
        <p:spPr>
          <a:xfrm>
            <a:off x="6603797" y="1673352"/>
            <a:ext cx="559613" cy="219456"/>
          </a:xfrm>
          <a:prstGeom prst="rect">
            <a:avLst/>
          </a:prstGeom>
          <a:noFill/>
          <a:ln/>
        </p:spPr>
        <p:txBody>
          <a:bodyPr wrap="square" lIns="0" tIns="0" rIns="0" bIns="0" rtlCol="0" anchor="t"/>
          <a:lstStyle/>
          <a:p>
            <a:pPr algn="ctr" indent="0" marL="0">
              <a:buNone/>
            </a:pPr>
            <a:r>
              <a:rPr lang="en-US" sz="1000" b="1" dirty="0">
                <a:solidFill>
                  <a:schemeClr val="tx2"/>
                </a:solidFill>
              </a:rPr>
              <a:t>Abr</a:t>
            </a:r>
            <a:endParaRPr lang="en-US" sz="1000" dirty="0"/>
          </a:p>
        </p:txBody>
      </p:sp>
      <p:sp>
        <p:nvSpPr>
          <p:cNvPr id="19" name="Text 17"/>
          <p:cNvSpPr txBox="1"/>
          <p:nvPr/>
        </p:nvSpPr>
        <p:spPr>
          <a:xfrm>
            <a:off x="7163410" y="1673352"/>
            <a:ext cx="559613" cy="219456"/>
          </a:xfrm>
          <a:prstGeom prst="rect">
            <a:avLst/>
          </a:prstGeom>
          <a:noFill/>
          <a:ln/>
        </p:spPr>
        <p:txBody>
          <a:bodyPr wrap="square" lIns="0" tIns="0" rIns="0" bIns="0" rtlCol="0" anchor="t"/>
          <a:lstStyle/>
          <a:p>
            <a:pPr algn="ctr" indent="0" marL="0">
              <a:buNone/>
            </a:pPr>
            <a:r>
              <a:rPr lang="en-US" sz="1000" b="1" dirty="0">
                <a:solidFill>
                  <a:schemeClr val="tx2"/>
                </a:solidFill>
              </a:rPr>
              <a:t>May</a:t>
            </a:r>
            <a:endParaRPr lang="en-US" sz="1000" dirty="0"/>
          </a:p>
        </p:txBody>
      </p:sp>
      <p:sp>
        <p:nvSpPr>
          <p:cNvPr id="20" name="Text 18"/>
          <p:cNvSpPr txBox="1"/>
          <p:nvPr/>
        </p:nvSpPr>
        <p:spPr>
          <a:xfrm>
            <a:off x="7723022" y="1673352"/>
            <a:ext cx="559613" cy="219456"/>
          </a:xfrm>
          <a:prstGeom prst="rect">
            <a:avLst/>
          </a:prstGeom>
          <a:noFill/>
          <a:ln/>
        </p:spPr>
        <p:txBody>
          <a:bodyPr wrap="square" lIns="0" tIns="0" rIns="0" bIns="0" rtlCol="0" anchor="t"/>
          <a:lstStyle/>
          <a:p>
            <a:pPr algn="ctr" indent="0" marL="0">
              <a:buNone/>
            </a:pPr>
            <a:r>
              <a:rPr lang="en-US" sz="1000" b="1" dirty="0">
                <a:solidFill>
                  <a:schemeClr val="tx2"/>
                </a:solidFill>
              </a:rPr>
              <a:t>Jun</a:t>
            </a:r>
            <a:endParaRPr lang="en-US" sz="1000" dirty="0"/>
          </a:p>
        </p:txBody>
      </p:sp>
      <p:sp>
        <p:nvSpPr>
          <p:cNvPr id="21" name="Text 19"/>
          <p:cNvSpPr txBox="1"/>
          <p:nvPr/>
        </p:nvSpPr>
        <p:spPr>
          <a:xfrm>
            <a:off x="8282635" y="1673352"/>
            <a:ext cx="559613" cy="219456"/>
          </a:xfrm>
          <a:prstGeom prst="rect">
            <a:avLst/>
          </a:prstGeom>
          <a:noFill/>
          <a:ln/>
        </p:spPr>
        <p:txBody>
          <a:bodyPr wrap="square" lIns="0" tIns="0" rIns="0" bIns="0" rtlCol="0" anchor="t"/>
          <a:lstStyle/>
          <a:p>
            <a:pPr algn="ctr" indent="0" marL="0">
              <a:buNone/>
            </a:pPr>
            <a:r>
              <a:rPr lang="en-US" sz="1000" b="1" dirty="0">
                <a:solidFill>
                  <a:schemeClr val="tx2"/>
                </a:solidFill>
              </a:rPr>
              <a:t>Jul</a:t>
            </a:r>
            <a:endParaRPr lang="en-US" sz="1000" dirty="0"/>
          </a:p>
        </p:txBody>
      </p:sp>
      <p:sp>
        <p:nvSpPr>
          <p:cNvPr id="22" name="Text 20"/>
          <p:cNvSpPr txBox="1"/>
          <p:nvPr/>
        </p:nvSpPr>
        <p:spPr>
          <a:xfrm>
            <a:off x="8842248" y="1673352"/>
            <a:ext cx="559613" cy="219456"/>
          </a:xfrm>
          <a:prstGeom prst="rect">
            <a:avLst/>
          </a:prstGeom>
          <a:noFill/>
          <a:ln/>
        </p:spPr>
        <p:txBody>
          <a:bodyPr wrap="square" lIns="0" tIns="0" rIns="0" bIns="0" rtlCol="0" anchor="t"/>
          <a:lstStyle/>
          <a:p>
            <a:pPr algn="ctr" indent="0" marL="0">
              <a:buNone/>
            </a:pPr>
            <a:r>
              <a:rPr lang="en-US" sz="1000" b="1" dirty="0">
                <a:solidFill>
                  <a:schemeClr val="tx2"/>
                </a:solidFill>
              </a:rPr>
              <a:t>Ago</a:t>
            </a:r>
            <a:endParaRPr lang="en-US" sz="1000" dirty="0"/>
          </a:p>
        </p:txBody>
      </p:sp>
      <p:sp>
        <p:nvSpPr>
          <p:cNvPr id="23" name="Text 21"/>
          <p:cNvSpPr txBox="1"/>
          <p:nvPr/>
        </p:nvSpPr>
        <p:spPr>
          <a:xfrm>
            <a:off x="9401861" y="1673352"/>
            <a:ext cx="559613" cy="219456"/>
          </a:xfrm>
          <a:prstGeom prst="rect">
            <a:avLst/>
          </a:prstGeom>
          <a:noFill/>
          <a:ln/>
        </p:spPr>
        <p:txBody>
          <a:bodyPr wrap="square" lIns="0" tIns="0" rIns="0" bIns="0" rtlCol="0" anchor="t"/>
          <a:lstStyle/>
          <a:p>
            <a:pPr algn="ctr" indent="0" marL="0">
              <a:buNone/>
            </a:pPr>
            <a:r>
              <a:rPr lang="en-US" sz="1000" b="1" dirty="0">
                <a:solidFill>
                  <a:schemeClr val="tx2"/>
                </a:solidFill>
              </a:rPr>
              <a:t>Set</a:t>
            </a:r>
            <a:endParaRPr lang="en-US" sz="1000" dirty="0"/>
          </a:p>
        </p:txBody>
      </p:sp>
      <p:sp>
        <p:nvSpPr>
          <p:cNvPr id="24" name="Text 22"/>
          <p:cNvSpPr txBox="1"/>
          <p:nvPr/>
        </p:nvSpPr>
        <p:spPr>
          <a:xfrm>
            <a:off x="9961474" y="1673352"/>
            <a:ext cx="559613" cy="219456"/>
          </a:xfrm>
          <a:prstGeom prst="rect">
            <a:avLst/>
          </a:prstGeom>
          <a:noFill/>
          <a:ln/>
        </p:spPr>
        <p:txBody>
          <a:bodyPr wrap="square" lIns="0" tIns="0" rIns="0" bIns="0" rtlCol="0" anchor="t"/>
          <a:lstStyle/>
          <a:p>
            <a:pPr algn="ctr" indent="0" marL="0">
              <a:buNone/>
            </a:pPr>
            <a:r>
              <a:rPr lang="en-US" sz="1000" b="1" dirty="0">
                <a:solidFill>
                  <a:schemeClr val="tx2"/>
                </a:solidFill>
              </a:rPr>
              <a:t>Oct</a:t>
            </a:r>
            <a:endParaRPr lang="en-US" sz="1000" dirty="0"/>
          </a:p>
        </p:txBody>
      </p:sp>
      <p:sp>
        <p:nvSpPr>
          <p:cNvPr id="25" name="Text 23"/>
          <p:cNvSpPr txBox="1"/>
          <p:nvPr/>
        </p:nvSpPr>
        <p:spPr>
          <a:xfrm>
            <a:off x="10521086" y="1673352"/>
            <a:ext cx="559613" cy="219456"/>
          </a:xfrm>
          <a:prstGeom prst="rect">
            <a:avLst/>
          </a:prstGeom>
          <a:noFill/>
          <a:ln/>
        </p:spPr>
        <p:txBody>
          <a:bodyPr wrap="square" lIns="0" tIns="0" rIns="0" bIns="0" rtlCol="0" anchor="t"/>
          <a:lstStyle/>
          <a:p>
            <a:pPr algn="ctr" indent="0" marL="0">
              <a:buNone/>
            </a:pPr>
            <a:r>
              <a:rPr lang="en-US" sz="1000" b="1" dirty="0">
                <a:solidFill>
                  <a:schemeClr val="tx2"/>
                </a:solidFill>
              </a:rPr>
              <a:t>Nov</a:t>
            </a:r>
            <a:endParaRPr lang="en-US" sz="1000" dirty="0"/>
          </a:p>
        </p:txBody>
      </p:sp>
      <p:sp>
        <p:nvSpPr>
          <p:cNvPr id="26" name="Text 24"/>
          <p:cNvSpPr txBox="1"/>
          <p:nvPr/>
        </p:nvSpPr>
        <p:spPr>
          <a:xfrm>
            <a:off x="11080699" y="1673352"/>
            <a:ext cx="559613" cy="219456"/>
          </a:xfrm>
          <a:prstGeom prst="rect">
            <a:avLst/>
          </a:prstGeom>
          <a:noFill/>
          <a:ln/>
        </p:spPr>
        <p:txBody>
          <a:bodyPr wrap="square" lIns="0" tIns="0" rIns="0" bIns="0" rtlCol="0" anchor="t"/>
          <a:lstStyle/>
          <a:p>
            <a:pPr algn="ctr" indent="0" marL="0">
              <a:buNone/>
            </a:pPr>
            <a:r>
              <a:rPr lang="en-US" sz="1000" b="1" dirty="0">
                <a:solidFill>
                  <a:schemeClr val="tx2"/>
                </a:solidFill>
              </a:rPr>
              <a:t>Dic</a:t>
            </a:r>
            <a:endParaRPr lang="en-US" sz="1000" dirty="0"/>
          </a:p>
        </p:txBody>
      </p:sp>
      <p:sp>
        <p:nvSpPr>
          <p:cNvPr id="27" name="Shape 25"/>
          <p:cNvSpPr/>
          <p:nvPr/>
        </p:nvSpPr>
        <p:spPr>
          <a:xfrm>
            <a:off x="3805733" y="1938528"/>
            <a:ext cx="559613" cy="3570732"/>
          </a:xfrm>
          <a:prstGeom prst="rect">
            <a:avLst/>
          </a:prstGeom>
          <a:solidFill>
            <a:srgbClr val="F4E6D3"/>
          </a:solidFill>
          <a:ln w="12700">
            <a:solidFill>
              <a:srgbClr val="F4E6D3"/>
            </a:solidFill>
            <a:prstDash val="solid"/>
          </a:ln>
        </p:spPr>
      </p:sp>
      <p:sp>
        <p:nvSpPr>
          <p:cNvPr id="28" name="Shape 26"/>
          <p:cNvSpPr/>
          <p:nvPr/>
        </p:nvSpPr>
        <p:spPr>
          <a:xfrm>
            <a:off x="4924958" y="1938528"/>
            <a:ext cx="559613" cy="3570732"/>
          </a:xfrm>
          <a:prstGeom prst="rect">
            <a:avLst/>
          </a:prstGeom>
          <a:solidFill>
            <a:srgbClr val="F4E6D3"/>
          </a:solidFill>
          <a:ln w="12700">
            <a:solidFill>
              <a:srgbClr val="F4E6D3"/>
            </a:solidFill>
            <a:prstDash val="solid"/>
          </a:ln>
        </p:spPr>
      </p:sp>
      <p:sp>
        <p:nvSpPr>
          <p:cNvPr id="29" name="Shape 27"/>
          <p:cNvSpPr/>
          <p:nvPr/>
        </p:nvSpPr>
        <p:spPr>
          <a:xfrm>
            <a:off x="6044184" y="1938528"/>
            <a:ext cx="559613" cy="3570732"/>
          </a:xfrm>
          <a:prstGeom prst="rect">
            <a:avLst/>
          </a:prstGeom>
          <a:solidFill>
            <a:srgbClr val="F4E6D3"/>
          </a:solidFill>
          <a:ln w="12700">
            <a:solidFill>
              <a:srgbClr val="F4E6D3"/>
            </a:solidFill>
            <a:prstDash val="solid"/>
          </a:ln>
        </p:spPr>
      </p:sp>
      <p:sp>
        <p:nvSpPr>
          <p:cNvPr id="30" name="Shape 28"/>
          <p:cNvSpPr/>
          <p:nvPr/>
        </p:nvSpPr>
        <p:spPr>
          <a:xfrm>
            <a:off x="7163410" y="1938528"/>
            <a:ext cx="559613" cy="3570732"/>
          </a:xfrm>
          <a:prstGeom prst="rect">
            <a:avLst/>
          </a:prstGeom>
          <a:solidFill>
            <a:srgbClr val="F4E6D3"/>
          </a:solidFill>
          <a:ln w="12700">
            <a:solidFill>
              <a:srgbClr val="F4E6D3"/>
            </a:solidFill>
            <a:prstDash val="solid"/>
          </a:ln>
        </p:spPr>
      </p:sp>
      <p:sp>
        <p:nvSpPr>
          <p:cNvPr id="31" name="Shape 29"/>
          <p:cNvSpPr/>
          <p:nvPr/>
        </p:nvSpPr>
        <p:spPr>
          <a:xfrm>
            <a:off x="8282635" y="1938528"/>
            <a:ext cx="559613" cy="3570732"/>
          </a:xfrm>
          <a:prstGeom prst="rect">
            <a:avLst/>
          </a:prstGeom>
          <a:solidFill>
            <a:srgbClr val="F4E6D3"/>
          </a:solidFill>
          <a:ln w="12700">
            <a:solidFill>
              <a:srgbClr val="F4E6D3"/>
            </a:solidFill>
            <a:prstDash val="solid"/>
          </a:ln>
        </p:spPr>
      </p:sp>
      <p:sp>
        <p:nvSpPr>
          <p:cNvPr id="32" name="Shape 30"/>
          <p:cNvSpPr/>
          <p:nvPr/>
        </p:nvSpPr>
        <p:spPr>
          <a:xfrm>
            <a:off x="9401861" y="1938528"/>
            <a:ext cx="559613" cy="3570732"/>
          </a:xfrm>
          <a:prstGeom prst="rect">
            <a:avLst/>
          </a:prstGeom>
          <a:solidFill>
            <a:srgbClr val="F4E6D3"/>
          </a:solidFill>
          <a:ln w="12700">
            <a:solidFill>
              <a:srgbClr val="F4E6D3"/>
            </a:solidFill>
            <a:prstDash val="solid"/>
          </a:ln>
        </p:spPr>
      </p:sp>
      <p:sp>
        <p:nvSpPr>
          <p:cNvPr id="33" name="Shape 31"/>
          <p:cNvSpPr/>
          <p:nvPr/>
        </p:nvSpPr>
        <p:spPr>
          <a:xfrm>
            <a:off x="10521086" y="1938528"/>
            <a:ext cx="559613" cy="3570732"/>
          </a:xfrm>
          <a:prstGeom prst="rect">
            <a:avLst/>
          </a:prstGeom>
          <a:solidFill>
            <a:srgbClr val="F4E6D3"/>
          </a:solidFill>
          <a:ln w="12700">
            <a:solidFill>
              <a:srgbClr val="F4E6D3"/>
            </a:solidFill>
            <a:prstDash val="solid"/>
          </a:ln>
        </p:spPr>
      </p:sp>
      <p:sp>
        <p:nvSpPr>
          <p:cNvPr id="34" name="Shape 32"/>
          <p:cNvSpPr/>
          <p:nvPr/>
        </p:nvSpPr>
        <p:spPr>
          <a:xfrm>
            <a:off x="4924958" y="1645920"/>
            <a:ext cx="0" cy="3863340"/>
          </a:xfrm>
          <a:prstGeom prst="line">
            <a:avLst/>
          </a:prstGeom>
          <a:noFill/>
          <a:ln w="15875">
            <a:solidFill>
              <a:schemeClr val="accent1"/>
            </a:solidFill>
            <a:prstDash val="dash"/>
          </a:ln>
        </p:spPr>
      </p:sp>
      <p:sp>
        <p:nvSpPr>
          <p:cNvPr id="35" name="Shape 33"/>
          <p:cNvSpPr/>
          <p:nvPr/>
        </p:nvSpPr>
        <p:spPr>
          <a:xfrm>
            <a:off x="548640" y="2029968"/>
            <a:ext cx="109728" cy="141732"/>
          </a:xfrm>
          <a:prstGeom prst="rect">
            <a:avLst/>
          </a:prstGeom>
          <a:solidFill>
            <a:schemeClr val="accent2"/>
          </a:solidFill>
          <a:ln w="12700">
            <a:solidFill>
              <a:schemeClr val="accent2"/>
            </a:solidFill>
            <a:prstDash val="solid"/>
          </a:ln>
        </p:spPr>
      </p:sp>
      <p:sp>
        <p:nvSpPr>
          <p:cNvPr id="36" name="Text 34"/>
          <p:cNvSpPr txBox="1"/>
          <p:nvPr/>
        </p:nvSpPr>
        <p:spPr>
          <a:xfrm>
            <a:off x="731520" y="1938528"/>
            <a:ext cx="2468880" cy="324612"/>
          </a:xfrm>
          <a:prstGeom prst="rect">
            <a:avLst/>
          </a:prstGeom>
          <a:noFill/>
          <a:ln/>
        </p:spPr>
        <p:txBody>
          <a:bodyPr wrap="square" lIns="0" tIns="0" rIns="0" bIns="0" rtlCol="0" anchor="ctr"/>
          <a:lstStyle/>
          <a:p>
            <a:pPr indent="0" marL="0">
              <a:buNone/>
            </a:pPr>
            <a:r>
              <a:rPr lang="en-US" sz="1050" dirty="0">
                <a:solidFill>
                  <a:schemeClr val="tx1"/>
                </a:solidFill>
              </a:rPr>
              <a:t>Permisos, registro sanitario y etiqueta</a:t>
            </a:r>
            <a:endParaRPr lang="en-US" sz="1050" dirty="0"/>
          </a:p>
        </p:txBody>
      </p:sp>
      <p:sp>
        <p:nvSpPr>
          <p:cNvPr id="37" name="Shape 35"/>
          <p:cNvSpPr/>
          <p:nvPr/>
        </p:nvSpPr>
        <p:spPr>
          <a:xfrm>
            <a:off x="3282696" y="2002536"/>
            <a:ext cx="1605686" cy="196596"/>
          </a:xfrm>
          <a:prstGeom prst="roundRect">
            <a:avLst>
              <a:gd name="adj" fmla="val 46512"/>
            </a:avLst>
          </a:prstGeom>
          <a:solidFill>
            <a:schemeClr val="accent2"/>
          </a:solidFill>
          <a:ln w="12700">
            <a:solidFill>
              <a:schemeClr val="accent2"/>
            </a:solidFill>
            <a:prstDash val="solid"/>
          </a:ln>
        </p:spPr>
      </p:sp>
      <p:sp>
        <p:nvSpPr>
          <p:cNvPr id="38" name="Shape 36"/>
          <p:cNvSpPr/>
          <p:nvPr/>
        </p:nvSpPr>
        <p:spPr>
          <a:xfrm>
            <a:off x="548640" y="2354580"/>
            <a:ext cx="109728" cy="141732"/>
          </a:xfrm>
          <a:prstGeom prst="rect">
            <a:avLst/>
          </a:prstGeom>
          <a:solidFill>
            <a:schemeClr val="accent2"/>
          </a:solidFill>
          <a:ln w="12700">
            <a:solidFill>
              <a:schemeClr val="accent2"/>
            </a:solidFill>
            <a:prstDash val="solid"/>
          </a:ln>
        </p:spPr>
      </p:sp>
      <p:sp>
        <p:nvSpPr>
          <p:cNvPr id="39" name="Text 37"/>
          <p:cNvSpPr txBox="1"/>
          <p:nvPr/>
        </p:nvSpPr>
        <p:spPr>
          <a:xfrm>
            <a:off x="731520" y="2263140"/>
            <a:ext cx="2468880" cy="324612"/>
          </a:xfrm>
          <a:prstGeom prst="rect">
            <a:avLst/>
          </a:prstGeom>
          <a:noFill/>
          <a:ln/>
        </p:spPr>
        <p:txBody>
          <a:bodyPr wrap="square" lIns="0" tIns="0" rIns="0" bIns="0" rtlCol="0" anchor="ctr"/>
          <a:lstStyle/>
          <a:p>
            <a:pPr indent="0" marL="0">
              <a:buNone/>
            </a:pPr>
            <a:r>
              <a:rPr lang="en-US" sz="1050" dirty="0">
                <a:solidFill>
                  <a:schemeClr val="tx1"/>
                </a:solidFill>
              </a:rPr>
              <a:t>Probar la app y la receta con 10 familias</a:t>
            </a:r>
            <a:endParaRPr lang="en-US" sz="1050" dirty="0"/>
          </a:p>
        </p:txBody>
      </p:sp>
      <p:sp>
        <p:nvSpPr>
          <p:cNvPr id="40" name="Shape 38"/>
          <p:cNvSpPr/>
          <p:nvPr/>
        </p:nvSpPr>
        <p:spPr>
          <a:xfrm>
            <a:off x="3842309" y="2327148"/>
            <a:ext cx="486461" cy="196596"/>
          </a:xfrm>
          <a:prstGeom prst="roundRect">
            <a:avLst>
              <a:gd name="adj" fmla="val 46512"/>
            </a:avLst>
          </a:prstGeom>
          <a:solidFill>
            <a:schemeClr val="accent2"/>
          </a:solidFill>
          <a:ln w="12700">
            <a:solidFill>
              <a:schemeClr val="accent2"/>
            </a:solidFill>
            <a:prstDash val="solid"/>
          </a:ln>
        </p:spPr>
      </p:sp>
      <p:sp>
        <p:nvSpPr>
          <p:cNvPr id="41" name="Shape 39"/>
          <p:cNvSpPr/>
          <p:nvPr/>
        </p:nvSpPr>
        <p:spPr>
          <a:xfrm>
            <a:off x="548640" y="2679192"/>
            <a:ext cx="109728" cy="141732"/>
          </a:xfrm>
          <a:prstGeom prst="rect">
            <a:avLst/>
          </a:prstGeom>
          <a:solidFill>
            <a:schemeClr val="accent2"/>
          </a:solidFill>
          <a:ln w="12700">
            <a:solidFill>
              <a:schemeClr val="accent2"/>
            </a:solidFill>
            <a:prstDash val="solid"/>
          </a:ln>
        </p:spPr>
      </p:sp>
      <p:sp>
        <p:nvSpPr>
          <p:cNvPr id="42" name="Text 40"/>
          <p:cNvSpPr txBox="1"/>
          <p:nvPr/>
        </p:nvSpPr>
        <p:spPr>
          <a:xfrm>
            <a:off x="731520" y="2587752"/>
            <a:ext cx="2468880" cy="324612"/>
          </a:xfrm>
          <a:prstGeom prst="rect">
            <a:avLst/>
          </a:prstGeom>
          <a:noFill/>
          <a:ln/>
        </p:spPr>
        <p:txBody>
          <a:bodyPr wrap="square" lIns="0" tIns="0" rIns="0" bIns="0" rtlCol="0" anchor="ctr"/>
          <a:lstStyle/>
          <a:p>
            <a:pPr indent="0" marL="0">
              <a:buNone/>
            </a:pPr>
            <a:r>
              <a:rPr lang="en-US" sz="1050" dirty="0">
                <a:solidFill>
                  <a:schemeClr val="tx1"/>
                </a:solidFill>
              </a:rPr>
              <a:t>Fotos, video y lista de espera en WhatsApp</a:t>
            </a:r>
            <a:endParaRPr lang="en-US" sz="1050" dirty="0"/>
          </a:p>
        </p:txBody>
      </p:sp>
      <p:sp>
        <p:nvSpPr>
          <p:cNvPr id="43" name="Shape 41"/>
          <p:cNvSpPr/>
          <p:nvPr/>
        </p:nvSpPr>
        <p:spPr>
          <a:xfrm>
            <a:off x="3842309" y="2651760"/>
            <a:ext cx="1046074" cy="196596"/>
          </a:xfrm>
          <a:prstGeom prst="roundRect">
            <a:avLst>
              <a:gd name="adj" fmla="val 46512"/>
            </a:avLst>
          </a:prstGeom>
          <a:solidFill>
            <a:schemeClr val="accent2"/>
          </a:solidFill>
          <a:ln w="12700">
            <a:solidFill>
              <a:schemeClr val="accent2"/>
            </a:solidFill>
            <a:prstDash val="solid"/>
          </a:ln>
        </p:spPr>
      </p:sp>
      <p:sp>
        <p:nvSpPr>
          <p:cNvPr id="44" name="Shape 42"/>
          <p:cNvSpPr/>
          <p:nvPr/>
        </p:nvSpPr>
        <p:spPr>
          <a:xfrm>
            <a:off x="548640" y="3003804"/>
            <a:ext cx="109728" cy="141732"/>
          </a:xfrm>
          <a:prstGeom prst="rect">
            <a:avLst/>
          </a:prstGeom>
          <a:solidFill>
            <a:schemeClr val="accent1"/>
          </a:solidFill>
          <a:ln w="12700">
            <a:solidFill>
              <a:schemeClr val="accent1"/>
            </a:solidFill>
            <a:prstDash val="solid"/>
          </a:ln>
        </p:spPr>
      </p:sp>
      <p:sp>
        <p:nvSpPr>
          <p:cNvPr id="45" name="Text 43"/>
          <p:cNvSpPr txBox="1"/>
          <p:nvPr/>
        </p:nvSpPr>
        <p:spPr>
          <a:xfrm>
            <a:off x="731520" y="2912364"/>
            <a:ext cx="2468880" cy="324612"/>
          </a:xfrm>
          <a:prstGeom prst="rect">
            <a:avLst/>
          </a:prstGeom>
          <a:noFill/>
          <a:ln/>
        </p:spPr>
        <p:txBody>
          <a:bodyPr wrap="square" lIns="0" tIns="0" rIns="0" bIns="0" rtlCol="0" anchor="ctr"/>
          <a:lstStyle/>
          <a:p>
            <a:pPr indent="0" marL="0">
              <a:buNone/>
            </a:pPr>
            <a:r>
              <a:rPr lang="en-US" sz="1050" dirty="0">
                <a:solidFill>
                  <a:schemeClr val="tx1"/>
                </a:solidFill>
              </a:rPr>
              <a:t>Influencers y pauta de expectativa</a:t>
            </a:r>
            <a:endParaRPr lang="en-US" sz="1050" dirty="0"/>
          </a:p>
        </p:txBody>
      </p:sp>
      <p:sp>
        <p:nvSpPr>
          <p:cNvPr id="46" name="Shape 44"/>
          <p:cNvSpPr/>
          <p:nvPr/>
        </p:nvSpPr>
        <p:spPr>
          <a:xfrm>
            <a:off x="4401922" y="2976372"/>
            <a:ext cx="1046074" cy="196596"/>
          </a:xfrm>
          <a:prstGeom prst="roundRect">
            <a:avLst>
              <a:gd name="adj" fmla="val 46512"/>
            </a:avLst>
          </a:prstGeom>
          <a:solidFill>
            <a:schemeClr val="accent1"/>
          </a:solidFill>
          <a:ln w="12700">
            <a:solidFill>
              <a:schemeClr val="accent1"/>
            </a:solidFill>
            <a:prstDash val="solid"/>
          </a:ln>
        </p:spPr>
      </p:sp>
      <p:sp>
        <p:nvSpPr>
          <p:cNvPr id="47" name="Shape 45"/>
          <p:cNvSpPr/>
          <p:nvPr/>
        </p:nvSpPr>
        <p:spPr>
          <a:xfrm>
            <a:off x="548640" y="3328416"/>
            <a:ext cx="109728" cy="141732"/>
          </a:xfrm>
          <a:prstGeom prst="rect">
            <a:avLst/>
          </a:prstGeom>
          <a:solidFill>
            <a:schemeClr val="accent1"/>
          </a:solidFill>
          <a:ln w="12700">
            <a:solidFill>
              <a:schemeClr val="accent1"/>
            </a:solidFill>
            <a:prstDash val="solid"/>
          </a:ln>
        </p:spPr>
      </p:sp>
      <p:sp>
        <p:nvSpPr>
          <p:cNvPr id="48" name="Text 46"/>
          <p:cNvSpPr txBox="1"/>
          <p:nvPr/>
        </p:nvSpPr>
        <p:spPr>
          <a:xfrm>
            <a:off x="731520" y="3236976"/>
            <a:ext cx="2468880" cy="324612"/>
          </a:xfrm>
          <a:prstGeom prst="rect">
            <a:avLst/>
          </a:prstGeom>
          <a:noFill/>
          <a:ln/>
        </p:spPr>
        <p:txBody>
          <a:bodyPr wrap="square" lIns="0" tIns="0" rIns="0" bIns="0" rtlCol="0" anchor="ctr"/>
          <a:lstStyle/>
          <a:p>
            <a:pPr indent="0" marL="0">
              <a:buNone/>
            </a:pPr>
            <a:r>
              <a:rPr lang="en-US" sz="1050" dirty="0">
                <a:solidFill>
                  <a:schemeClr val="tx1"/>
                </a:solidFill>
              </a:rPr>
              <a:t>Degustación en stands: 1, 2 y 3 puntos</a:t>
            </a:r>
            <a:endParaRPr lang="en-US" sz="1050" dirty="0"/>
          </a:p>
        </p:txBody>
      </p:sp>
      <p:sp>
        <p:nvSpPr>
          <p:cNvPr id="49" name="Shape 47"/>
          <p:cNvSpPr/>
          <p:nvPr/>
        </p:nvSpPr>
        <p:spPr>
          <a:xfrm>
            <a:off x="4961534" y="3300984"/>
            <a:ext cx="486461" cy="196596"/>
          </a:xfrm>
          <a:prstGeom prst="roundRect">
            <a:avLst>
              <a:gd name="adj" fmla="val 46512"/>
            </a:avLst>
          </a:prstGeom>
          <a:solidFill>
            <a:schemeClr val="accent1"/>
          </a:solidFill>
          <a:ln w="12700">
            <a:solidFill>
              <a:schemeClr val="accent1"/>
            </a:solidFill>
            <a:prstDash val="solid"/>
          </a:ln>
        </p:spPr>
      </p:sp>
      <p:sp>
        <p:nvSpPr>
          <p:cNvPr id="50" name="Text 48"/>
          <p:cNvSpPr txBox="1"/>
          <p:nvPr/>
        </p:nvSpPr>
        <p:spPr>
          <a:xfrm>
            <a:off x="4924958" y="3300984"/>
            <a:ext cx="559613" cy="196596"/>
          </a:xfrm>
          <a:prstGeom prst="rect">
            <a:avLst/>
          </a:prstGeom>
          <a:noFill/>
          <a:ln/>
        </p:spPr>
        <p:txBody>
          <a:bodyPr wrap="square" lIns="0" tIns="0" rIns="0" bIns="0" rtlCol="0" anchor="ctr"/>
          <a:lstStyle/>
          <a:p>
            <a:pPr algn="ctr" indent="0" marL="0">
              <a:buNone/>
            </a:pPr>
            <a:r>
              <a:rPr lang="en-US" sz="900" b="1" dirty="0">
                <a:solidFill>
                  <a:schemeClr val="bg1"/>
                </a:solidFill>
              </a:rPr>
              <a:t>1</a:t>
            </a:r>
            <a:endParaRPr lang="en-US" sz="900" dirty="0"/>
          </a:p>
        </p:txBody>
      </p:sp>
      <p:sp>
        <p:nvSpPr>
          <p:cNvPr id="51" name="Shape 49"/>
          <p:cNvSpPr/>
          <p:nvPr/>
        </p:nvSpPr>
        <p:spPr>
          <a:xfrm>
            <a:off x="5521147" y="3300984"/>
            <a:ext cx="3284525" cy="196596"/>
          </a:xfrm>
          <a:prstGeom prst="roundRect">
            <a:avLst>
              <a:gd name="adj" fmla="val 46512"/>
            </a:avLst>
          </a:prstGeom>
          <a:solidFill>
            <a:schemeClr val="accent1"/>
          </a:solidFill>
          <a:ln w="12700">
            <a:solidFill>
              <a:schemeClr val="accent1"/>
            </a:solidFill>
            <a:prstDash val="solid"/>
          </a:ln>
        </p:spPr>
      </p:sp>
      <p:sp>
        <p:nvSpPr>
          <p:cNvPr id="52" name="Text 50"/>
          <p:cNvSpPr txBox="1"/>
          <p:nvPr/>
        </p:nvSpPr>
        <p:spPr>
          <a:xfrm>
            <a:off x="5484571" y="3300984"/>
            <a:ext cx="3357677" cy="196596"/>
          </a:xfrm>
          <a:prstGeom prst="rect">
            <a:avLst/>
          </a:prstGeom>
          <a:noFill/>
          <a:ln/>
        </p:spPr>
        <p:txBody>
          <a:bodyPr wrap="square" lIns="0" tIns="0" rIns="0" bIns="0" rtlCol="0" anchor="ctr"/>
          <a:lstStyle/>
          <a:p>
            <a:pPr algn="ctr" indent="0" marL="0">
              <a:buNone/>
            </a:pPr>
            <a:r>
              <a:rPr lang="en-US" sz="900" b="1" dirty="0">
                <a:solidFill>
                  <a:schemeClr val="bg1"/>
                </a:solidFill>
              </a:rPr>
              <a:t>2 puntos</a:t>
            </a:r>
            <a:endParaRPr lang="en-US" sz="900" dirty="0"/>
          </a:p>
        </p:txBody>
      </p:sp>
      <p:sp>
        <p:nvSpPr>
          <p:cNvPr id="53" name="Shape 51"/>
          <p:cNvSpPr/>
          <p:nvPr/>
        </p:nvSpPr>
        <p:spPr>
          <a:xfrm>
            <a:off x="8878824" y="3300984"/>
            <a:ext cx="2724912" cy="196596"/>
          </a:xfrm>
          <a:prstGeom prst="roundRect">
            <a:avLst>
              <a:gd name="adj" fmla="val 46512"/>
            </a:avLst>
          </a:prstGeom>
          <a:solidFill>
            <a:schemeClr val="accent1"/>
          </a:solidFill>
          <a:ln w="12700">
            <a:solidFill>
              <a:schemeClr val="accent1"/>
            </a:solidFill>
            <a:prstDash val="solid"/>
          </a:ln>
        </p:spPr>
      </p:sp>
      <p:sp>
        <p:nvSpPr>
          <p:cNvPr id="54" name="Text 52"/>
          <p:cNvSpPr txBox="1"/>
          <p:nvPr/>
        </p:nvSpPr>
        <p:spPr>
          <a:xfrm>
            <a:off x="8842248" y="3300984"/>
            <a:ext cx="2798064" cy="196596"/>
          </a:xfrm>
          <a:prstGeom prst="rect">
            <a:avLst/>
          </a:prstGeom>
          <a:noFill/>
          <a:ln/>
        </p:spPr>
        <p:txBody>
          <a:bodyPr wrap="square" lIns="0" tIns="0" rIns="0" bIns="0" rtlCol="0" anchor="ctr"/>
          <a:lstStyle/>
          <a:p>
            <a:pPr algn="ctr" indent="0" marL="0">
              <a:buNone/>
            </a:pPr>
            <a:r>
              <a:rPr lang="en-US" sz="900" b="1" dirty="0">
                <a:solidFill>
                  <a:schemeClr val="bg1"/>
                </a:solidFill>
              </a:rPr>
              <a:t>3 puntos</a:t>
            </a:r>
            <a:endParaRPr lang="en-US" sz="900" dirty="0"/>
          </a:p>
        </p:txBody>
      </p:sp>
      <p:sp>
        <p:nvSpPr>
          <p:cNvPr id="55" name="Shape 53"/>
          <p:cNvSpPr/>
          <p:nvPr/>
        </p:nvSpPr>
        <p:spPr>
          <a:xfrm>
            <a:off x="548640" y="3653028"/>
            <a:ext cx="109728" cy="141732"/>
          </a:xfrm>
          <a:prstGeom prst="rect">
            <a:avLst/>
          </a:prstGeom>
          <a:solidFill>
            <a:schemeClr val="accent6"/>
          </a:solidFill>
          <a:ln w="12700">
            <a:solidFill>
              <a:schemeClr val="accent6"/>
            </a:solidFill>
            <a:prstDash val="solid"/>
          </a:ln>
        </p:spPr>
      </p:sp>
      <p:sp>
        <p:nvSpPr>
          <p:cNvPr id="56" name="Text 54"/>
          <p:cNvSpPr txBox="1"/>
          <p:nvPr/>
        </p:nvSpPr>
        <p:spPr>
          <a:xfrm>
            <a:off x="731520" y="3561588"/>
            <a:ext cx="2468880" cy="324612"/>
          </a:xfrm>
          <a:prstGeom prst="rect">
            <a:avLst/>
          </a:prstGeom>
          <a:noFill/>
          <a:ln/>
        </p:spPr>
        <p:txBody>
          <a:bodyPr wrap="square" lIns="0" tIns="0" rIns="0" bIns="0" rtlCol="0" anchor="ctr"/>
          <a:lstStyle/>
          <a:p>
            <a:pPr indent="0" marL="0">
              <a:buNone/>
            </a:pPr>
            <a:r>
              <a:rPr lang="en-US" sz="1050" dirty="0">
                <a:solidFill>
                  <a:schemeClr val="tx1"/>
                </a:solidFill>
              </a:rPr>
              <a:t>Ferias pagadas: escolar y Día del Niño</a:t>
            </a:r>
            <a:endParaRPr lang="en-US" sz="1050" dirty="0"/>
          </a:p>
        </p:txBody>
      </p:sp>
      <p:sp>
        <p:nvSpPr>
          <p:cNvPr id="57" name="Shape 55"/>
          <p:cNvSpPr/>
          <p:nvPr/>
        </p:nvSpPr>
        <p:spPr>
          <a:xfrm>
            <a:off x="5521147" y="3625596"/>
            <a:ext cx="486461" cy="196596"/>
          </a:xfrm>
          <a:prstGeom prst="roundRect">
            <a:avLst>
              <a:gd name="adj" fmla="val 46512"/>
            </a:avLst>
          </a:prstGeom>
          <a:solidFill>
            <a:schemeClr val="accent6"/>
          </a:solidFill>
          <a:ln w="12700">
            <a:solidFill>
              <a:schemeClr val="accent6"/>
            </a:solidFill>
            <a:prstDash val="solid"/>
          </a:ln>
        </p:spPr>
      </p:sp>
      <p:sp>
        <p:nvSpPr>
          <p:cNvPr id="58" name="Shape 56"/>
          <p:cNvSpPr/>
          <p:nvPr/>
        </p:nvSpPr>
        <p:spPr>
          <a:xfrm>
            <a:off x="6640373" y="3625596"/>
            <a:ext cx="486461" cy="196596"/>
          </a:xfrm>
          <a:prstGeom prst="roundRect">
            <a:avLst>
              <a:gd name="adj" fmla="val 46512"/>
            </a:avLst>
          </a:prstGeom>
          <a:solidFill>
            <a:schemeClr val="accent6"/>
          </a:solidFill>
          <a:ln w="12700">
            <a:solidFill>
              <a:schemeClr val="accent6"/>
            </a:solidFill>
            <a:prstDash val="solid"/>
          </a:ln>
        </p:spPr>
      </p:sp>
      <p:sp>
        <p:nvSpPr>
          <p:cNvPr id="59" name="Shape 57"/>
          <p:cNvSpPr/>
          <p:nvPr/>
        </p:nvSpPr>
        <p:spPr>
          <a:xfrm>
            <a:off x="548640" y="3977640"/>
            <a:ext cx="109728" cy="141732"/>
          </a:xfrm>
          <a:prstGeom prst="rect">
            <a:avLst/>
          </a:prstGeom>
          <a:solidFill>
            <a:schemeClr val="accent3"/>
          </a:solidFill>
          <a:ln w="12700">
            <a:solidFill>
              <a:schemeClr val="accent3"/>
            </a:solidFill>
            <a:prstDash val="solid"/>
          </a:ln>
        </p:spPr>
      </p:sp>
      <p:sp>
        <p:nvSpPr>
          <p:cNvPr id="60" name="Text 58"/>
          <p:cNvSpPr txBox="1"/>
          <p:nvPr/>
        </p:nvSpPr>
        <p:spPr>
          <a:xfrm>
            <a:off x="731520" y="3886200"/>
            <a:ext cx="2468880" cy="324612"/>
          </a:xfrm>
          <a:prstGeom prst="rect">
            <a:avLst/>
          </a:prstGeom>
          <a:noFill/>
          <a:ln/>
        </p:spPr>
        <p:txBody>
          <a:bodyPr wrap="square" lIns="0" tIns="0" rIns="0" bIns="0" rtlCol="0" anchor="ctr"/>
          <a:lstStyle/>
          <a:p>
            <a:pPr indent="0" marL="0">
              <a:buNone/>
            </a:pPr>
            <a:r>
              <a:rPr lang="en-US" sz="1050" dirty="0">
                <a:solidFill>
                  <a:schemeClr val="tx1"/>
                </a:solidFill>
              </a:rPr>
              <a:t>Kermeses, cumpleaños y ferias saludables</a:t>
            </a:r>
            <a:endParaRPr lang="en-US" sz="1050" dirty="0"/>
          </a:p>
        </p:txBody>
      </p:sp>
      <p:sp>
        <p:nvSpPr>
          <p:cNvPr id="61" name="Shape 59"/>
          <p:cNvSpPr/>
          <p:nvPr/>
        </p:nvSpPr>
        <p:spPr>
          <a:xfrm>
            <a:off x="4961534" y="3950208"/>
            <a:ext cx="6642202" cy="196596"/>
          </a:xfrm>
          <a:prstGeom prst="roundRect">
            <a:avLst>
              <a:gd name="adj" fmla="val 46512"/>
            </a:avLst>
          </a:prstGeom>
          <a:solidFill>
            <a:schemeClr val="accent3"/>
          </a:solidFill>
          <a:ln w="12700">
            <a:solidFill>
              <a:schemeClr val="accent3"/>
            </a:solidFill>
            <a:prstDash val="solid"/>
          </a:ln>
        </p:spPr>
      </p:sp>
      <p:sp>
        <p:nvSpPr>
          <p:cNvPr id="62" name="Shape 60"/>
          <p:cNvSpPr/>
          <p:nvPr/>
        </p:nvSpPr>
        <p:spPr>
          <a:xfrm>
            <a:off x="548640" y="4302252"/>
            <a:ext cx="109728" cy="141732"/>
          </a:xfrm>
          <a:prstGeom prst="rect">
            <a:avLst/>
          </a:prstGeom>
          <a:solidFill>
            <a:schemeClr val="accent5"/>
          </a:solidFill>
          <a:ln w="12700">
            <a:solidFill>
              <a:schemeClr val="accent5"/>
            </a:solidFill>
            <a:prstDash val="solid"/>
          </a:ln>
        </p:spPr>
      </p:sp>
      <p:sp>
        <p:nvSpPr>
          <p:cNvPr id="63" name="Text 61"/>
          <p:cNvSpPr txBox="1"/>
          <p:nvPr/>
        </p:nvSpPr>
        <p:spPr>
          <a:xfrm>
            <a:off x="731520" y="4210812"/>
            <a:ext cx="2468880" cy="324612"/>
          </a:xfrm>
          <a:prstGeom prst="rect">
            <a:avLst/>
          </a:prstGeom>
          <a:noFill/>
          <a:ln/>
        </p:spPr>
        <p:txBody>
          <a:bodyPr wrap="square" lIns="0" tIns="0" rIns="0" bIns="0" rtlCol="0" anchor="ctr"/>
          <a:lstStyle/>
          <a:p>
            <a:pPr indent="0" marL="0">
              <a:buNone/>
            </a:pPr>
            <a:r>
              <a:rPr lang="en-US" sz="1050" dirty="0">
                <a:solidFill>
                  <a:schemeClr val="tx1"/>
                </a:solidFill>
              </a:rPr>
              <a:t>Pauta digital (fuerte en feb., abr. y dic.)</a:t>
            </a:r>
            <a:endParaRPr lang="en-US" sz="1050" dirty="0"/>
          </a:p>
        </p:txBody>
      </p:sp>
      <p:sp>
        <p:nvSpPr>
          <p:cNvPr id="64" name="Shape 62"/>
          <p:cNvSpPr/>
          <p:nvPr/>
        </p:nvSpPr>
        <p:spPr>
          <a:xfrm>
            <a:off x="4961534" y="4274820"/>
            <a:ext cx="6642202" cy="196596"/>
          </a:xfrm>
          <a:prstGeom prst="roundRect">
            <a:avLst>
              <a:gd name="adj" fmla="val 46512"/>
            </a:avLst>
          </a:prstGeom>
          <a:solidFill>
            <a:schemeClr val="accent5"/>
          </a:solidFill>
          <a:ln w="12700">
            <a:solidFill>
              <a:schemeClr val="accent5"/>
            </a:solidFill>
            <a:prstDash val="solid"/>
          </a:ln>
        </p:spPr>
      </p:sp>
      <p:sp>
        <p:nvSpPr>
          <p:cNvPr id="65" name="Shape 63"/>
          <p:cNvSpPr/>
          <p:nvPr/>
        </p:nvSpPr>
        <p:spPr>
          <a:xfrm>
            <a:off x="5521147" y="4274820"/>
            <a:ext cx="486461" cy="196596"/>
          </a:xfrm>
          <a:prstGeom prst="roundRect">
            <a:avLst>
              <a:gd name="adj" fmla="val 46512"/>
            </a:avLst>
          </a:prstGeom>
          <a:solidFill>
            <a:schemeClr val="accent1"/>
          </a:solidFill>
          <a:ln w="12700">
            <a:solidFill>
              <a:schemeClr val="accent1"/>
            </a:solidFill>
            <a:prstDash val="solid"/>
          </a:ln>
        </p:spPr>
      </p:sp>
      <p:sp>
        <p:nvSpPr>
          <p:cNvPr id="66" name="Shape 64"/>
          <p:cNvSpPr/>
          <p:nvPr/>
        </p:nvSpPr>
        <p:spPr>
          <a:xfrm>
            <a:off x="6640373" y="4274820"/>
            <a:ext cx="486461" cy="196596"/>
          </a:xfrm>
          <a:prstGeom prst="roundRect">
            <a:avLst>
              <a:gd name="adj" fmla="val 46512"/>
            </a:avLst>
          </a:prstGeom>
          <a:solidFill>
            <a:schemeClr val="accent1"/>
          </a:solidFill>
          <a:ln w="12700">
            <a:solidFill>
              <a:schemeClr val="accent1"/>
            </a:solidFill>
            <a:prstDash val="solid"/>
          </a:ln>
        </p:spPr>
      </p:sp>
      <p:sp>
        <p:nvSpPr>
          <p:cNvPr id="67" name="Shape 65"/>
          <p:cNvSpPr/>
          <p:nvPr/>
        </p:nvSpPr>
        <p:spPr>
          <a:xfrm>
            <a:off x="11117275" y="4274820"/>
            <a:ext cx="486461" cy="196596"/>
          </a:xfrm>
          <a:prstGeom prst="roundRect">
            <a:avLst>
              <a:gd name="adj" fmla="val 46512"/>
            </a:avLst>
          </a:prstGeom>
          <a:solidFill>
            <a:schemeClr val="accent1"/>
          </a:solidFill>
          <a:ln w="12700">
            <a:solidFill>
              <a:schemeClr val="accent1"/>
            </a:solidFill>
            <a:prstDash val="solid"/>
          </a:ln>
        </p:spPr>
      </p:sp>
      <p:sp>
        <p:nvSpPr>
          <p:cNvPr id="68" name="Shape 66"/>
          <p:cNvSpPr/>
          <p:nvPr/>
        </p:nvSpPr>
        <p:spPr>
          <a:xfrm>
            <a:off x="548640" y="4626864"/>
            <a:ext cx="109728" cy="141732"/>
          </a:xfrm>
          <a:prstGeom prst="rect">
            <a:avLst/>
          </a:prstGeom>
          <a:solidFill>
            <a:schemeClr val="accent4"/>
          </a:solidFill>
          <a:ln w="12700">
            <a:solidFill>
              <a:schemeClr val="accent4"/>
            </a:solidFill>
            <a:prstDash val="solid"/>
          </a:ln>
        </p:spPr>
      </p:sp>
      <p:sp>
        <p:nvSpPr>
          <p:cNvPr id="69" name="Text 67"/>
          <p:cNvSpPr txBox="1"/>
          <p:nvPr/>
        </p:nvSpPr>
        <p:spPr>
          <a:xfrm>
            <a:off x="731520" y="4535424"/>
            <a:ext cx="2468880" cy="324612"/>
          </a:xfrm>
          <a:prstGeom prst="rect">
            <a:avLst/>
          </a:prstGeom>
          <a:noFill/>
          <a:ln/>
        </p:spPr>
        <p:txBody>
          <a:bodyPr wrap="square" lIns="0" tIns="0" rIns="0" bIns="0" rtlCol="0" anchor="ctr"/>
          <a:lstStyle/>
          <a:p>
            <a:pPr indent="0" marL="0">
              <a:buNone/>
            </a:pPr>
            <a:r>
              <a:rPr lang="en-US" sz="1050" dirty="0">
                <a:solidFill>
                  <a:schemeClr val="tx1"/>
                </a:solidFill>
              </a:rPr>
              <a:t>Mamás embajadoras por salón</a:t>
            </a:r>
            <a:endParaRPr lang="en-US" sz="1050" dirty="0"/>
          </a:p>
        </p:txBody>
      </p:sp>
      <p:sp>
        <p:nvSpPr>
          <p:cNvPr id="70" name="Shape 68"/>
          <p:cNvSpPr/>
          <p:nvPr/>
        </p:nvSpPr>
        <p:spPr>
          <a:xfrm>
            <a:off x="4961534" y="4599432"/>
            <a:ext cx="6642202" cy="196596"/>
          </a:xfrm>
          <a:prstGeom prst="roundRect">
            <a:avLst>
              <a:gd name="adj" fmla="val 46512"/>
            </a:avLst>
          </a:prstGeom>
          <a:solidFill>
            <a:schemeClr val="accent4"/>
          </a:solidFill>
          <a:ln w="12700">
            <a:solidFill>
              <a:schemeClr val="accent4"/>
            </a:solidFill>
            <a:prstDash val="solid"/>
          </a:ln>
        </p:spPr>
      </p:sp>
      <p:sp>
        <p:nvSpPr>
          <p:cNvPr id="71" name="Shape 69"/>
          <p:cNvSpPr/>
          <p:nvPr/>
        </p:nvSpPr>
        <p:spPr>
          <a:xfrm>
            <a:off x="548640" y="4951476"/>
            <a:ext cx="109728" cy="141732"/>
          </a:xfrm>
          <a:prstGeom prst="rect">
            <a:avLst/>
          </a:prstGeom>
          <a:solidFill>
            <a:schemeClr val="accent4"/>
          </a:solidFill>
          <a:ln w="12700">
            <a:solidFill>
              <a:schemeClr val="accent4"/>
            </a:solidFill>
            <a:prstDash val="solid"/>
          </a:ln>
        </p:spPr>
      </p:sp>
      <p:sp>
        <p:nvSpPr>
          <p:cNvPr id="72" name="Text 70"/>
          <p:cNvSpPr txBox="1"/>
          <p:nvPr/>
        </p:nvSpPr>
        <p:spPr>
          <a:xfrm>
            <a:off x="731520" y="4860036"/>
            <a:ext cx="2468880" cy="324612"/>
          </a:xfrm>
          <a:prstGeom prst="rect">
            <a:avLst/>
          </a:prstGeom>
          <a:noFill/>
          <a:ln/>
        </p:spPr>
        <p:txBody>
          <a:bodyPr wrap="square" lIns="0" tIns="0" rIns="0" bIns="0" rtlCol="0" anchor="ctr"/>
          <a:lstStyle/>
          <a:p>
            <a:pPr indent="0" marL="0">
              <a:buNone/>
            </a:pPr>
            <a:r>
              <a:rPr lang="en-US" sz="1050" dirty="0">
                <a:solidFill>
                  <a:schemeClr val="tx1"/>
                </a:solidFill>
              </a:rPr>
              <a:t>App Andi: aviso de recompra y loncheras</a:t>
            </a:r>
            <a:endParaRPr lang="en-US" sz="1050" dirty="0"/>
          </a:p>
        </p:txBody>
      </p:sp>
      <p:sp>
        <p:nvSpPr>
          <p:cNvPr id="73" name="Shape 71"/>
          <p:cNvSpPr/>
          <p:nvPr/>
        </p:nvSpPr>
        <p:spPr>
          <a:xfrm>
            <a:off x="4961534" y="4924044"/>
            <a:ext cx="6642202" cy="196596"/>
          </a:xfrm>
          <a:prstGeom prst="roundRect">
            <a:avLst>
              <a:gd name="adj" fmla="val 46512"/>
            </a:avLst>
          </a:prstGeom>
          <a:solidFill>
            <a:schemeClr val="accent4"/>
          </a:solidFill>
          <a:ln w="12700">
            <a:solidFill>
              <a:schemeClr val="accent4"/>
            </a:solidFill>
            <a:prstDash val="solid"/>
          </a:ln>
        </p:spPr>
      </p:sp>
      <p:sp>
        <p:nvSpPr>
          <p:cNvPr id="74" name="Shape 72"/>
          <p:cNvSpPr/>
          <p:nvPr/>
        </p:nvSpPr>
        <p:spPr>
          <a:xfrm>
            <a:off x="548640" y="5276088"/>
            <a:ext cx="109728" cy="141732"/>
          </a:xfrm>
          <a:prstGeom prst="rect">
            <a:avLst/>
          </a:prstGeom>
          <a:solidFill>
            <a:schemeClr val="accent2"/>
          </a:solidFill>
          <a:ln w="12700">
            <a:solidFill>
              <a:schemeClr val="accent2"/>
            </a:solidFill>
            <a:prstDash val="solid"/>
          </a:ln>
        </p:spPr>
      </p:sp>
      <p:sp>
        <p:nvSpPr>
          <p:cNvPr id="75" name="Text 73"/>
          <p:cNvSpPr txBox="1"/>
          <p:nvPr/>
        </p:nvSpPr>
        <p:spPr>
          <a:xfrm>
            <a:off x="731520" y="5184648"/>
            <a:ext cx="2468880" cy="324612"/>
          </a:xfrm>
          <a:prstGeom prst="rect">
            <a:avLst/>
          </a:prstGeom>
          <a:noFill/>
          <a:ln/>
        </p:spPr>
        <p:txBody>
          <a:bodyPr wrap="square" lIns="0" tIns="0" rIns="0" bIns="0" rtlCol="0" anchor="ctr"/>
          <a:lstStyle/>
          <a:p>
            <a:pPr indent="0" marL="0">
              <a:buNone/>
            </a:pPr>
            <a:r>
              <a:rPr lang="en-US" sz="1050" dirty="0">
                <a:solidFill>
                  <a:schemeClr val="tx1"/>
                </a:solidFill>
              </a:rPr>
              <a:t>Quioscos escolares y tiendas naturistas</a:t>
            </a:r>
            <a:endParaRPr lang="en-US" sz="1050" dirty="0"/>
          </a:p>
        </p:txBody>
      </p:sp>
      <p:sp>
        <p:nvSpPr>
          <p:cNvPr id="76" name="Shape 74"/>
          <p:cNvSpPr/>
          <p:nvPr/>
        </p:nvSpPr>
        <p:spPr>
          <a:xfrm>
            <a:off x="4961534" y="5248656"/>
            <a:ext cx="1046074" cy="196596"/>
          </a:xfrm>
          <a:prstGeom prst="roundRect">
            <a:avLst>
              <a:gd name="adj" fmla="val 46512"/>
            </a:avLst>
          </a:prstGeom>
          <a:solidFill>
            <a:schemeClr val="accent2"/>
          </a:solidFill>
          <a:ln w="12700">
            <a:solidFill>
              <a:schemeClr val="accent2"/>
            </a:solidFill>
            <a:prstDash val="solid"/>
          </a:ln>
        </p:spPr>
      </p:sp>
      <p:sp>
        <p:nvSpPr>
          <p:cNvPr id="77" name="Text 75"/>
          <p:cNvSpPr txBox="1"/>
          <p:nvPr/>
        </p:nvSpPr>
        <p:spPr>
          <a:xfrm>
            <a:off x="4924958" y="5248656"/>
            <a:ext cx="1119226" cy="196596"/>
          </a:xfrm>
          <a:prstGeom prst="rect">
            <a:avLst/>
          </a:prstGeom>
          <a:noFill/>
          <a:ln/>
        </p:spPr>
        <p:txBody>
          <a:bodyPr wrap="square" lIns="0" tIns="0" rIns="0" bIns="0" rtlCol="0" anchor="ctr"/>
          <a:lstStyle/>
          <a:p>
            <a:pPr algn="ctr" indent="0" marL="0">
              <a:buNone/>
            </a:pPr>
            <a:r>
              <a:rPr lang="en-US" sz="900" b="1" dirty="0">
                <a:solidFill>
                  <a:schemeClr val="bg1"/>
                </a:solidFill>
              </a:rPr>
              <a:t>naturistas</a:t>
            </a:r>
            <a:endParaRPr lang="en-US" sz="900" dirty="0"/>
          </a:p>
        </p:txBody>
      </p:sp>
      <p:sp>
        <p:nvSpPr>
          <p:cNvPr id="78" name="Shape 76"/>
          <p:cNvSpPr/>
          <p:nvPr/>
        </p:nvSpPr>
        <p:spPr>
          <a:xfrm>
            <a:off x="6080760" y="5248656"/>
            <a:ext cx="5522976" cy="196596"/>
          </a:xfrm>
          <a:prstGeom prst="roundRect">
            <a:avLst>
              <a:gd name="adj" fmla="val 46512"/>
            </a:avLst>
          </a:prstGeom>
          <a:solidFill>
            <a:schemeClr val="accent2"/>
          </a:solidFill>
          <a:ln w="12700">
            <a:solidFill>
              <a:schemeClr val="accent2"/>
            </a:solidFill>
            <a:prstDash val="solid"/>
          </a:ln>
        </p:spPr>
      </p:sp>
      <p:sp>
        <p:nvSpPr>
          <p:cNvPr id="79" name="Text 77"/>
          <p:cNvSpPr txBox="1"/>
          <p:nvPr/>
        </p:nvSpPr>
        <p:spPr>
          <a:xfrm>
            <a:off x="6044184" y="5248656"/>
            <a:ext cx="5596128" cy="196596"/>
          </a:xfrm>
          <a:prstGeom prst="rect">
            <a:avLst/>
          </a:prstGeom>
          <a:noFill/>
          <a:ln/>
        </p:spPr>
        <p:txBody>
          <a:bodyPr wrap="square" lIns="0" tIns="0" rIns="0" bIns="0" rtlCol="0" anchor="ctr"/>
          <a:lstStyle/>
          <a:p>
            <a:pPr algn="ctr" indent="0" marL="0">
              <a:buNone/>
            </a:pPr>
            <a:r>
              <a:rPr lang="en-US" sz="900" b="1" dirty="0">
                <a:solidFill>
                  <a:schemeClr val="bg1"/>
                </a:solidFill>
              </a:rPr>
              <a:t>+ quioscos</a:t>
            </a:r>
            <a:endParaRPr lang="en-US" sz="900" dirty="0"/>
          </a:p>
        </p:txBody>
      </p:sp>
      <p:sp>
        <p:nvSpPr>
          <p:cNvPr id="80" name="Shape 78"/>
          <p:cNvSpPr/>
          <p:nvPr/>
        </p:nvSpPr>
        <p:spPr>
          <a:xfrm>
            <a:off x="548640" y="5582412"/>
            <a:ext cx="11091672" cy="457200"/>
          </a:xfrm>
          <a:prstGeom prst="roundRect">
            <a:avLst>
              <a:gd name="adj" fmla="val 16000"/>
            </a:avLst>
          </a:prstGeom>
          <a:solidFill>
            <a:schemeClr val="tx2"/>
          </a:solidFill>
          <a:ln w="12700">
            <a:solidFill>
              <a:schemeClr val="tx2"/>
            </a:solidFill>
            <a:prstDash val="solid"/>
          </a:ln>
        </p:spPr>
      </p:sp>
      <p:sp>
        <p:nvSpPr>
          <p:cNvPr id="81" name="Text 79"/>
          <p:cNvSpPr txBox="1"/>
          <p:nvPr/>
        </p:nvSpPr>
        <p:spPr>
          <a:xfrm>
            <a:off x="731520" y="5582412"/>
            <a:ext cx="2468880" cy="457200"/>
          </a:xfrm>
          <a:prstGeom prst="rect">
            <a:avLst/>
          </a:prstGeom>
          <a:noFill/>
          <a:ln/>
        </p:spPr>
        <p:txBody>
          <a:bodyPr wrap="square" lIns="0" tIns="0" rIns="0" bIns="0" rtlCol="0" anchor="ctr"/>
          <a:lstStyle/>
          <a:p>
            <a:pPr indent="0" marL="0">
              <a:buNone/>
            </a:pPr>
            <a:r>
              <a:rPr lang="en-US" sz="1100" b="1" dirty="0">
                <a:solidFill>
                  <a:schemeClr val="bg1"/>
                </a:solidFill>
              </a:rPr>
              <a:t>Inversión del mes (S/)</a:t>
            </a:r>
            <a:endParaRPr lang="en-US" sz="1100" dirty="0"/>
          </a:p>
          <a:p>
            <a:pPr indent="0" marL="0">
              <a:buNone/>
            </a:pPr>
            <a:r>
              <a:rPr lang="en-US" sz="950" dirty="0">
                <a:solidFill>
                  <a:schemeClr val="accent3"/>
                </a:solidFill>
              </a:rPr>
              <a:t>total S/24,544</a:t>
            </a:r>
            <a:endParaRPr lang="en-US" sz="1100" dirty="0"/>
          </a:p>
        </p:txBody>
      </p:sp>
      <p:sp>
        <p:nvSpPr>
          <p:cNvPr id="82" name="Text 80"/>
          <p:cNvSpPr txBox="1"/>
          <p:nvPr/>
        </p:nvSpPr>
        <p:spPr>
          <a:xfrm>
            <a:off x="3246120" y="5582412"/>
            <a:ext cx="559613" cy="457200"/>
          </a:xfrm>
          <a:prstGeom prst="rect">
            <a:avLst/>
          </a:prstGeom>
          <a:noFill/>
          <a:ln/>
        </p:spPr>
        <p:txBody>
          <a:bodyPr wrap="square" lIns="0" tIns="0" rIns="0" bIns="0" rtlCol="0" anchor="ctr"/>
          <a:lstStyle/>
          <a:p>
            <a:pPr algn="ctr" indent="0" marL="0">
              <a:buNone/>
            </a:pPr>
            <a:r>
              <a:rPr lang="en-US" sz="1050" b="1" dirty="0">
                <a:solidFill>
                  <a:schemeClr val="bg1"/>
                </a:solidFill>
              </a:rPr>
              <a:t>–</a:t>
            </a:r>
            <a:endParaRPr lang="en-US" sz="1050" dirty="0"/>
          </a:p>
        </p:txBody>
      </p:sp>
      <p:sp>
        <p:nvSpPr>
          <p:cNvPr id="83" name="Text 81"/>
          <p:cNvSpPr txBox="1"/>
          <p:nvPr/>
        </p:nvSpPr>
        <p:spPr>
          <a:xfrm>
            <a:off x="3805733" y="5582412"/>
            <a:ext cx="559613" cy="457200"/>
          </a:xfrm>
          <a:prstGeom prst="rect">
            <a:avLst/>
          </a:prstGeom>
          <a:noFill/>
          <a:ln/>
        </p:spPr>
        <p:txBody>
          <a:bodyPr wrap="square" lIns="0" tIns="0" rIns="0" bIns="0" rtlCol="0" anchor="ctr"/>
          <a:lstStyle/>
          <a:p>
            <a:pPr algn="ctr" indent="0" marL="0">
              <a:buNone/>
            </a:pPr>
            <a:r>
              <a:rPr lang="en-US" sz="1050" b="1" dirty="0">
                <a:solidFill>
                  <a:schemeClr val="bg1"/>
                </a:solidFill>
              </a:rPr>
              <a:t>300</a:t>
            </a:r>
            <a:endParaRPr lang="en-US" sz="1050" dirty="0"/>
          </a:p>
        </p:txBody>
      </p:sp>
      <p:sp>
        <p:nvSpPr>
          <p:cNvPr id="84" name="Text 82"/>
          <p:cNvSpPr txBox="1"/>
          <p:nvPr/>
        </p:nvSpPr>
        <p:spPr>
          <a:xfrm>
            <a:off x="4365346" y="5582412"/>
            <a:ext cx="559613" cy="457200"/>
          </a:xfrm>
          <a:prstGeom prst="rect">
            <a:avLst/>
          </a:prstGeom>
          <a:noFill/>
          <a:ln/>
        </p:spPr>
        <p:txBody>
          <a:bodyPr wrap="square" lIns="0" tIns="0" rIns="0" bIns="0" rtlCol="0" anchor="ctr"/>
          <a:lstStyle/>
          <a:p>
            <a:pPr algn="ctr" indent="0" marL="0">
              <a:buNone/>
            </a:pPr>
            <a:r>
              <a:rPr lang="en-US" sz="1050" b="1" dirty="0">
                <a:solidFill>
                  <a:schemeClr val="bg1"/>
                </a:solidFill>
              </a:rPr>
              <a:t>1,458</a:t>
            </a:r>
            <a:endParaRPr lang="en-US" sz="1050" dirty="0"/>
          </a:p>
        </p:txBody>
      </p:sp>
      <p:sp>
        <p:nvSpPr>
          <p:cNvPr id="85" name="Text 83"/>
          <p:cNvSpPr txBox="1"/>
          <p:nvPr/>
        </p:nvSpPr>
        <p:spPr>
          <a:xfrm>
            <a:off x="4924958" y="5582412"/>
            <a:ext cx="559613" cy="457200"/>
          </a:xfrm>
          <a:prstGeom prst="rect">
            <a:avLst/>
          </a:prstGeom>
          <a:noFill/>
          <a:ln/>
        </p:spPr>
        <p:txBody>
          <a:bodyPr wrap="square" lIns="0" tIns="0" rIns="0" bIns="0" rtlCol="0" anchor="ctr"/>
          <a:lstStyle/>
          <a:p>
            <a:pPr algn="ctr" indent="0" marL="0">
              <a:buNone/>
            </a:pPr>
            <a:r>
              <a:rPr lang="en-US" sz="1050" b="1" dirty="0">
                <a:solidFill>
                  <a:schemeClr val="bg1"/>
                </a:solidFill>
              </a:rPr>
              <a:t>2,506</a:t>
            </a:r>
            <a:endParaRPr lang="en-US" sz="1050" dirty="0"/>
          </a:p>
        </p:txBody>
      </p:sp>
      <p:sp>
        <p:nvSpPr>
          <p:cNvPr id="86" name="Text 84"/>
          <p:cNvSpPr txBox="1"/>
          <p:nvPr/>
        </p:nvSpPr>
        <p:spPr>
          <a:xfrm>
            <a:off x="5484571" y="5582412"/>
            <a:ext cx="559613" cy="457200"/>
          </a:xfrm>
          <a:prstGeom prst="rect">
            <a:avLst/>
          </a:prstGeom>
          <a:noFill/>
          <a:ln/>
        </p:spPr>
        <p:txBody>
          <a:bodyPr wrap="square" lIns="0" tIns="0" rIns="0" bIns="0" rtlCol="0" anchor="ctr"/>
          <a:lstStyle/>
          <a:p>
            <a:pPr algn="ctr" indent="0" marL="0">
              <a:buNone/>
            </a:pPr>
            <a:r>
              <a:rPr lang="en-US" sz="1050" b="1" dirty="0">
                <a:solidFill>
                  <a:schemeClr val="accent3"/>
                </a:solidFill>
              </a:rPr>
              <a:t>3,290</a:t>
            </a:r>
            <a:endParaRPr lang="en-US" sz="1050" dirty="0"/>
          </a:p>
        </p:txBody>
      </p:sp>
      <p:sp>
        <p:nvSpPr>
          <p:cNvPr id="87" name="Text 85"/>
          <p:cNvSpPr txBox="1"/>
          <p:nvPr/>
        </p:nvSpPr>
        <p:spPr>
          <a:xfrm>
            <a:off x="6044184" y="5582412"/>
            <a:ext cx="559613" cy="457200"/>
          </a:xfrm>
          <a:prstGeom prst="rect">
            <a:avLst/>
          </a:prstGeom>
          <a:noFill/>
          <a:ln/>
        </p:spPr>
        <p:txBody>
          <a:bodyPr wrap="square" lIns="0" tIns="0" rIns="0" bIns="0" rtlCol="0" anchor="ctr"/>
          <a:lstStyle/>
          <a:p>
            <a:pPr algn="ctr" indent="0" marL="0">
              <a:buNone/>
            </a:pPr>
            <a:r>
              <a:rPr lang="en-US" sz="1050" b="1" dirty="0">
                <a:solidFill>
                  <a:schemeClr val="bg1"/>
                </a:solidFill>
              </a:rPr>
              <a:t>1,540</a:t>
            </a:r>
            <a:endParaRPr lang="en-US" sz="1050" dirty="0"/>
          </a:p>
        </p:txBody>
      </p:sp>
      <p:sp>
        <p:nvSpPr>
          <p:cNvPr id="88" name="Text 86"/>
          <p:cNvSpPr txBox="1"/>
          <p:nvPr/>
        </p:nvSpPr>
        <p:spPr>
          <a:xfrm>
            <a:off x="6603797" y="5582412"/>
            <a:ext cx="559613" cy="457200"/>
          </a:xfrm>
          <a:prstGeom prst="rect">
            <a:avLst/>
          </a:prstGeom>
          <a:noFill/>
          <a:ln/>
        </p:spPr>
        <p:txBody>
          <a:bodyPr wrap="square" lIns="0" tIns="0" rIns="0" bIns="0" rtlCol="0" anchor="ctr"/>
          <a:lstStyle/>
          <a:p>
            <a:pPr algn="ctr" indent="0" marL="0">
              <a:buNone/>
            </a:pPr>
            <a:r>
              <a:rPr lang="en-US" sz="1050" b="1" dirty="0">
                <a:solidFill>
                  <a:schemeClr val="accent3"/>
                </a:solidFill>
              </a:rPr>
              <a:t>3,610</a:t>
            </a:r>
            <a:endParaRPr lang="en-US" sz="1050" dirty="0"/>
          </a:p>
        </p:txBody>
      </p:sp>
      <p:sp>
        <p:nvSpPr>
          <p:cNvPr id="89" name="Text 87"/>
          <p:cNvSpPr txBox="1"/>
          <p:nvPr/>
        </p:nvSpPr>
        <p:spPr>
          <a:xfrm>
            <a:off x="7163410" y="5582412"/>
            <a:ext cx="559613" cy="457200"/>
          </a:xfrm>
          <a:prstGeom prst="rect">
            <a:avLst/>
          </a:prstGeom>
          <a:noFill/>
          <a:ln/>
        </p:spPr>
        <p:txBody>
          <a:bodyPr wrap="square" lIns="0" tIns="0" rIns="0" bIns="0" rtlCol="0" anchor="ctr"/>
          <a:lstStyle/>
          <a:p>
            <a:pPr algn="ctr" indent="0" marL="0">
              <a:buNone/>
            </a:pPr>
            <a:r>
              <a:rPr lang="en-US" sz="1050" b="1" dirty="0">
                <a:solidFill>
                  <a:schemeClr val="bg1"/>
                </a:solidFill>
              </a:rPr>
              <a:t>1,700</a:t>
            </a:r>
            <a:endParaRPr lang="en-US" sz="1050" dirty="0"/>
          </a:p>
        </p:txBody>
      </p:sp>
      <p:sp>
        <p:nvSpPr>
          <p:cNvPr id="90" name="Text 88"/>
          <p:cNvSpPr txBox="1"/>
          <p:nvPr/>
        </p:nvSpPr>
        <p:spPr>
          <a:xfrm>
            <a:off x="7723022" y="5582412"/>
            <a:ext cx="559613" cy="457200"/>
          </a:xfrm>
          <a:prstGeom prst="rect">
            <a:avLst/>
          </a:prstGeom>
          <a:noFill/>
          <a:ln/>
        </p:spPr>
        <p:txBody>
          <a:bodyPr wrap="square" lIns="0" tIns="0" rIns="0" bIns="0" rtlCol="0" anchor="ctr"/>
          <a:lstStyle/>
          <a:p>
            <a:pPr algn="ctr" indent="0" marL="0">
              <a:buNone/>
            </a:pPr>
            <a:r>
              <a:rPr lang="en-US" sz="1050" b="1" dirty="0">
                <a:solidFill>
                  <a:schemeClr val="bg1"/>
                </a:solidFill>
              </a:rPr>
              <a:t>1,540</a:t>
            </a:r>
            <a:endParaRPr lang="en-US" sz="1050" dirty="0"/>
          </a:p>
        </p:txBody>
      </p:sp>
      <p:sp>
        <p:nvSpPr>
          <p:cNvPr id="91" name="Text 89"/>
          <p:cNvSpPr txBox="1"/>
          <p:nvPr/>
        </p:nvSpPr>
        <p:spPr>
          <a:xfrm>
            <a:off x="8282635" y="5582412"/>
            <a:ext cx="559613" cy="457200"/>
          </a:xfrm>
          <a:prstGeom prst="rect">
            <a:avLst/>
          </a:prstGeom>
          <a:noFill/>
          <a:ln/>
        </p:spPr>
        <p:txBody>
          <a:bodyPr wrap="square" lIns="0" tIns="0" rIns="0" bIns="0" rtlCol="0" anchor="ctr"/>
          <a:lstStyle/>
          <a:p>
            <a:pPr algn="ctr" indent="0" marL="0">
              <a:buNone/>
            </a:pPr>
            <a:r>
              <a:rPr lang="en-US" sz="1050" b="1" dirty="0">
                <a:solidFill>
                  <a:schemeClr val="bg1"/>
                </a:solidFill>
              </a:rPr>
              <a:t>1,380</a:t>
            </a:r>
            <a:endParaRPr lang="en-US" sz="1050" dirty="0"/>
          </a:p>
        </p:txBody>
      </p:sp>
      <p:sp>
        <p:nvSpPr>
          <p:cNvPr id="92" name="Text 90"/>
          <p:cNvSpPr txBox="1"/>
          <p:nvPr/>
        </p:nvSpPr>
        <p:spPr>
          <a:xfrm>
            <a:off x="8842248" y="5582412"/>
            <a:ext cx="559613" cy="457200"/>
          </a:xfrm>
          <a:prstGeom prst="rect">
            <a:avLst/>
          </a:prstGeom>
          <a:noFill/>
          <a:ln/>
        </p:spPr>
        <p:txBody>
          <a:bodyPr wrap="square" lIns="0" tIns="0" rIns="0" bIns="0" rtlCol="0" anchor="ctr"/>
          <a:lstStyle/>
          <a:p>
            <a:pPr algn="ctr" indent="0" marL="0">
              <a:buNone/>
            </a:pPr>
            <a:r>
              <a:rPr lang="en-US" sz="1050" b="1" dirty="0">
                <a:solidFill>
                  <a:schemeClr val="bg1"/>
                </a:solidFill>
              </a:rPr>
              <a:t>1,540</a:t>
            </a:r>
            <a:endParaRPr lang="en-US" sz="1050" dirty="0"/>
          </a:p>
        </p:txBody>
      </p:sp>
      <p:sp>
        <p:nvSpPr>
          <p:cNvPr id="93" name="Text 91"/>
          <p:cNvSpPr txBox="1"/>
          <p:nvPr/>
        </p:nvSpPr>
        <p:spPr>
          <a:xfrm>
            <a:off x="9401861" y="5582412"/>
            <a:ext cx="559613" cy="457200"/>
          </a:xfrm>
          <a:prstGeom prst="rect">
            <a:avLst/>
          </a:prstGeom>
          <a:noFill/>
          <a:ln/>
        </p:spPr>
        <p:txBody>
          <a:bodyPr wrap="square" lIns="0" tIns="0" rIns="0" bIns="0" rtlCol="0" anchor="ctr"/>
          <a:lstStyle/>
          <a:p>
            <a:pPr algn="ctr" indent="0" marL="0">
              <a:buNone/>
            </a:pPr>
            <a:r>
              <a:rPr lang="en-US" sz="1050" b="1" dirty="0">
                <a:solidFill>
                  <a:schemeClr val="bg1"/>
                </a:solidFill>
              </a:rPr>
              <a:t>1,540</a:t>
            </a:r>
            <a:endParaRPr lang="en-US" sz="1050" dirty="0"/>
          </a:p>
        </p:txBody>
      </p:sp>
      <p:sp>
        <p:nvSpPr>
          <p:cNvPr id="94" name="Text 92"/>
          <p:cNvSpPr txBox="1"/>
          <p:nvPr/>
        </p:nvSpPr>
        <p:spPr>
          <a:xfrm>
            <a:off x="9961474" y="5582412"/>
            <a:ext cx="559613" cy="457200"/>
          </a:xfrm>
          <a:prstGeom prst="rect">
            <a:avLst/>
          </a:prstGeom>
          <a:noFill/>
          <a:ln/>
        </p:spPr>
        <p:txBody>
          <a:bodyPr wrap="square" lIns="0" tIns="0" rIns="0" bIns="0" rtlCol="0" anchor="ctr"/>
          <a:lstStyle/>
          <a:p>
            <a:pPr algn="ctr" indent="0" marL="0">
              <a:buNone/>
            </a:pPr>
            <a:r>
              <a:rPr lang="en-US" sz="1050" b="1" dirty="0">
                <a:solidFill>
                  <a:schemeClr val="bg1"/>
                </a:solidFill>
              </a:rPr>
              <a:t>1,540</a:t>
            </a:r>
            <a:endParaRPr lang="en-US" sz="1050" dirty="0"/>
          </a:p>
        </p:txBody>
      </p:sp>
      <p:sp>
        <p:nvSpPr>
          <p:cNvPr id="95" name="Text 93"/>
          <p:cNvSpPr txBox="1"/>
          <p:nvPr/>
        </p:nvSpPr>
        <p:spPr>
          <a:xfrm>
            <a:off x="10521086" y="5582412"/>
            <a:ext cx="559613" cy="457200"/>
          </a:xfrm>
          <a:prstGeom prst="rect">
            <a:avLst/>
          </a:prstGeom>
          <a:noFill/>
          <a:ln/>
        </p:spPr>
        <p:txBody>
          <a:bodyPr wrap="square" lIns="0" tIns="0" rIns="0" bIns="0" rtlCol="0" anchor="ctr"/>
          <a:lstStyle/>
          <a:p>
            <a:pPr algn="ctr" indent="0" marL="0">
              <a:buNone/>
            </a:pPr>
            <a:r>
              <a:rPr lang="en-US" sz="1050" b="1" dirty="0">
                <a:solidFill>
                  <a:schemeClr val="bg1"/>
                </a:solidFill>
              </a:rPr>
              <a:t>1,380</a:t>
            </a:r>
            <a:endParaRPr lang="en-US" sz="1050" dirty="0"/>
          </a:p>
        </p:txBody>
      </p:sp>
      <p:sp>
        <p:nvSpPr>
          <p:cNvPr id="96" name="Text 94"/>
          <p:cNvSpPr txBox="1"/>
          <p:nvPr/>
        </p:nvSpPr>
        <p:spPr>
          <a:xfrm>
            <a:off x="11080699" y="5582412"/>
            <a:ext cx="559613" cy="457200"/>
          </a:xfrm>
          <a:prstGeom prst="rect">
            <a:avLst/>
          </a:prstGeom>
          <a:noFill/>
          <a:ln/>
        </p:spPr>
        <p:txBody>
          <a:bodyPr wrap="square" lIns="0" tIns="0" rIns="0" bIns="0" rtlCol="0" anchor="ctr"/>
          <a:lstStyle/>
          <a:p>
            <a:pPr algn="ctr" indent="0" marL="0">
              <a:buNone/>
            </a:pPr>
            <a:r>
              <a:rPr lang="en-US" sz="1050" b="1" dirty="0">
                <a:solidFill>
                  <a:schemeClr val="bg1"/>
                </a:solidFill>
              </a:rPr>
              <a:t>1,220</a:t>
            </a:r>
            <a:endParaRPr lang="en-US" sz="1050" dirty="0"/>
          </a:p>
        </p:txBody>
      </p:sp>
      <p:sp>
        <p:nvSpPr>
          <p:cNvPr id="97" name="Text 95"/>
          <p:cNvSpPr txBox="1"/>
          <p:nvPr/>
        </p:nvSpPr>
        <p:spPr>
          <a:xfrm>
            <a:off x="548640" y="6067044"/>
            <a:ext cx="11091672" cy="274320"/>
          </a:xfrm>
          <a:prstGeom prst="rect">
            <a:avLst/>
          </a:prstGeom>
          <a:noFill/>
          <a:ln/>
        </p:spPr>
        <p:txBody>
          <a:bodyPr wrap="square" lIns="0" tIns="0" rIns="0" bIns="0" rtlCol="0" anchor="t"/>
          <a:lstStyle/>
          <a:p>
            <a:pPr indent="0" marL="0">
              <a:buNone/>
            </a:pPr>
            <a:r>
              <a:rPr lang="en-US" sz="950" i="1" dirty="0">
                <a:solidFill>
                  <a:schemeClr val="accent2"/>
                </a:solidFill>
              </a:rPr>
              <a:t>Incluye pauta S/700 y embajadoras S/200 al mes, ferias (S/1,800 + vendedor/a 3 días), eventos (vendedor/a + aporte, S/160) y el lanzamiento (S/3,204, ya en la inversión). El espacio y los vendedores de los stands van aparte.</a:t>
            </a:r>
            <a:endParaRPr lang="en-US" sz="95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lIns="0" tIns="0" rIns="0" bIns="0" rtlCol="0" anchor="t"/>
          <a:lstStyle/>
          <a:p>
            <a:pPr indent="0" marL="0">
              <a:buNone/>
            </a:pPr>
            <a:r>
              <a:rPr lang="en-US" sz="1200" b="1" spc="200" kern="0" dirty="0">
                <a:solidFill>
                  <a:schemeClr val="accent1"/>
                </a:solidFill>
              </a:rPr>
              <a:t>CIERRE · CÓMO SEGUIMOS CRECIENDO</a:t>
            </a:r>
            <a:endParaRPr lang="en-US" sz="1200" dirty="0"/>
          </a:p>
        </p:txBody>
      </p:sp>
      <p:sp>
        <p:nvSpPr>
          <p:cNvPr id="3" name="Text 0"/>
          <p:cNvSpPr/>
          <p:nvPr>
            <p:ph idx="101" type="title" hasCustomPrompt="1"/>
          </p:nvPr>
        </p:nvSpPr>
        <p:spPr>
          <a:xfrm>
            <a:off x="548640" y="566928"/>
            <a:ext cx="11091672" cy="731520"/>
          </a:xfrm>
          <a:prstGeom prst="rect">
            <a:avLst/>
          </a:prstGeom>
          <a:noFill/>
          <a:ln/>
        </p:spPr>
        <p:txBody>
          <a:bodyPr wrap="square" lIns="0" tIns="0" rIns="0" bIns="0" rtlCol="0" anchor="t"/>
          <a:lstStyle/>
          <a:p>
            <a:pPr algn="l" indent="0" marL="0">
              <a:buNone/>
            </a:pPr>
            <a:r>
              <a:rPr lang="en-US" sz="3400" b="1" dirty="0">
                <a:solidFill>
                  <a:schemeClr val="tx2"/>
                </a:solidFill>
              </a:rPr>
              <a:t>Crecemos paso a paso: cada inversión se activa con una meta</a:t>
            </a:r>
            <a:endParaRPr lang="en-US" sz="3400" dirty="0"/>
          </a:p>
        </p:txBody>
      </p:sp>
      <p:sp>
        <p:nvSpPr>
          <p:cNvPr id="4" name="Shape 2"/>
          <p:cNvSpPr/>
          <p:nvPr/>
        </p:nvSpPr>
        <p:spPr>
          <a:xfrm>
            <a:off x="548640" y="1481328"/>
            <a:ext cx="2670048" cy="2057400"/>
          </a:xfrm>
          <a:prstGeom prst="roundRect">
            <a:avLst>
              <a:gd name="adj" fmla="val 5333"/>
            </a:avLst>
          </a:prstGeom>
          <a:solidFill>
            <a:schemeClr val="accent1"/>
          </a:solidFill>
          <a:ln w="12700">
            <a:solidFill>
              <a:schemeClr val="accent1"/>
            </a:solidFill>
            <a:prstDash val="solid"/>
          </a:ln>
          <a:effectLst>
            <a:outerShdw sx="100000" sy="100000" kx="0" ky="0" algn="bl" rotWithShape="0" blurRad="101600" dist="25400" dir="5400000">
              <a:srgbClr val="7A4A30">
                <a:alpha val="14000"/>
              </a:srgbClr>
            </a:outerShdw>
          </a:effectLst>
        </p:spPr>
      </p:sp>
      <p:sp>
        <p:nvSpPr>
          <p:cNvPr id="5" name="Shape 3"/>
          <p:cNvSpPr/>
          <p:nvPr/>
        </p:nvSpPr>
        <p:spPr>
          <a:xfrm>
            <a:off x="749808" y="1682496"/>
            <a:ext cx="566928" cy="566928"/>
          </a:xfrm>
          <a:prstGeom prst="ellipse">
            <a:avLst/>
          </a:prstGeom>
          <a:solidFill>
            <a:schemeClr val="bg1"/>
          </a:solidFill>
          <a:ln w="12700">
            <a:solidFill>
              <a:schemeClr val="bg1"/>
            </a:solidFill>
            <a:prstDash val="solid"/>
          </a:ln>
        </p:spPr>
      </p:sp>
      <p:pic>
        <p:nvPicPr>
          <p:cNvPr id="6" name="Image 0" descr="preencoded.png">    </p:cNvPr>
          <p:cNvPicPr>
            <a:picLocks noChangeAspect="1"/>
          </p:cNvPicPr>
          <p:nvPr/>
        </p:nvPicPr>
        <p:blipFill>
          <a:blip r:embed="rId1"/>
          <a:stretch>
            <a:fillRect/>
          </a:stretch>
        </p:blipFill>
        <p:spPr>
          <a:xfrm>
            <a:off x="874532" y="1807220"/>
            <a:ext cx="317480" cy="317480"/>
          </a:xfrm>
          <a:prstGeom prst="rect">
            <a:avLst/>
          </a:prstGeom>
        </p:spPr>
      </p:pic>
      <p:sp>
        <p:nvSpPr>
          <p:cNvPr id="7" name="Text 4"/>
          <p:cNvSpPr txBox="1"/>
          <p:nvPr/>
        </p:nvSpPr>
        <p:spPr>
          <a:xfrm>
            <a:off x="1444752" y="1755648"/>
            <a:ext cx="1664208" cy="228600"/>
          </a:xfrm>
          <a:prstGeom prst="rect">
            <a:avLst/>
          </a:prstGeom>
          <a:noFill/>
          <a:ln/>
        </p:spPr>
        <p:txBody>
          <a:bodyPr wrap="square" lIns="0" tIns="0" rIns="0" bIns="0" rtlCol="0" anchor="t"/>
          <a:lstStyle/>
          <a:p>
            <a:pPr indent="0" marL="0">
              <a:buNone/>
            </a:pPr>
            <a:r>
              <a:rPr lang="en-US" sz="900" b="1" spc="100" kern="0" dirty="0">
                <a:solidFill>
                  <a:schemeClr val="accent5"/>
                </a:solidFill>
              </a:rPr>
              <a:t>META → ACCIÓN</a:t>
            </a:r>
            <a:endParaRPr lang="en-US" sz="900" dirty="0"/>
          </a:p>
        </p:txBody>
      </p:sp>
      <p:sp>
        <p:nvSpPr>
          <p:cNvPr id="8" name="Text 5"/>
          <p:cNvSpPr txBox="1"/>
          <p:nvPr/>
        </p:nvSpPr>
        <p:spPr>
          <a:xfrm>
            <a:off x="749808" y="2350008"/>
            <a:ext cx="2304288" cy="365760"/>
          </a:xfrm>
          <a:prstGeom prst="rect">
            <a:avLst/>
          </a:prstGeom>
          <a:noFill/>
          <a:ln/>
        </p:spPr>
        <p:txBody>
          <a:bodyPr wrap="square" lIns="0" tIns="0" rIns="0" bIns="0" rtlCol="0" anchor="t"/>
          <a:lstStyle/>
          <a:p>
            <a:pPr indent="0" marL="0">
              <a:buNone/>
            </a:pPr>
            <a:r>
              <a:rPr lang="en-US" sz="1500" b="1" dirty="0">
                <a:solidFill>
                  <a:schemeClr val="bg1"/>
                </a:solidFill>
              </a:rPr>
              <a:t>4.º punto de venta</a:t>
            </a:r>
            <a:endParaRPr lang="en-US" sz="1500" dirty="0"/>
          </a:p>
        </p:txBody>
      </p:sp>
      <p:sp>
        <p:nvSpPr>
          <p:cNvPr id="9" name="Text 6"/>
          <p:cNvSpPr txBox="1"/>
          <p:nvPr/>
        </p:nvSpPr>
        <p:spPr>
          <a:xfrm>
            <a:off x="749808" y="2743200"/>
            <a:ext cx="2304288" cy="731520"/>
          </a:xfrm>
          <a:prstGeom prst="rect">
            <a:avLst/>
          </a:prstGeom>
          <a:noFill/>
          <a:ln/>
        </p:spPr>
        <p:txBody>
          <a:bodyPr wrap="square" lIns="0" tIns="0" rIns="0" bIns="0" rtlCol="0" anchor="t"/>
          <a:lstStyle/>
          <a:p>
            <a:pPr indent="0" marL="0">
              <a:buNone/>
            </a:pPr>
            <a:r>
              <a:rPr lang="en-US" sz="1200" dirty="0">
                <a:solidFill>
                  <a:schemeClr val="bg1"/>
                </a:solidFill>
              </a:rPr>
              <a:t>Si los 3 puntos venden 85 o más brownies por día durante 3 meses seguidos</a:t>
            </a:r>
            <a:endParaRPr lang="en-US" sz="1200" dirty="0"/>
          </a:p>
        </p:txBody>
      </p:sp>
      <p:sp>
        <p:nvSpPr>
          <p:cNvPr id="10" name="Shape 7"/>
          <p:cNvSpPr/>
          <p:nvPr/>
        </p:nvSpPr>
        <p:spPr>
          <a:xfrm>
            <a:off x="3355848" y="1481328"/>
            <a:ext cx="2670048" cy="2057400"/>
          </a:xfrm>
          <a:prstGeom prst="roundRect">
            <a:avLst>
              <a:gd name="adj" fmla="val 533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1" name="Shape 8"/>
          <p:cNvSpPr/>
          <p:nvPr/>
        </p:nvSpPr>
        <p:spPr>
          <a:xfrm>
            <a:off x="3557016" y="1682496"/>
            <a:ext cx="566928" cy="566928"/>
          </a:xfrm>
          <a:prstGeom prst="ellipse">
            <a:avLst/>
          </a:prstGeom>
          <a:solidFill>
            <a:schemeClr val="accent1"/>
          </a:solidFill>
          <a:ln w="12700">
            <a:solidFill>
              <a:schemeClr val="accent1"/>
            </a:solidFill>
            <a:prstDash val="solid"/>
          </a:ln>
        </p:spPr>
      </p:sp>
      <p:pic>
        <p:nvPicPr>
          <p:cNvPr id="12" name="Image 1" descr="preencoded.png">    </p:cNvPr>
          <p:cNvPicPr>
            <a:picLocks noChangeAspect="1"/>
          </p:cNvPicPr>
          <p:nvPr/>
        </p:nvPicPr>
        <p:blipFill>
          <a:blip r:embed="rId2"/>
          <a:stretch>
            <a:fillRect/>
          </a:stretch>
        </p:blipFill>
        <p:spPr>
          <a:xfrm>
            <a:off x="3681740" y="1807220"/>
            <a:ext cx="317480" cy="317480"/>
          </a:xfrm>
          <a:prstGeom prst="rect">
            <a:avLst/>
          </a:prstGeom>
        </p:spPr>
      </p:pic>
      <p:sp>
        <p:nvSpPr>
          <p:cNvPr id="13" name="Text 9"/>
          <p:cNvSpPr txBox="1"/>
          <p:nvPr/>
        </p:nvSpPr>
        <p:spPr>
          <a:xfrm>
            <a:off x="4251960" y="1755648"/>
            <a:ext cx="1664208" cy="228600"/>
          </a:xfrm>
          <a:prstGeom prst="rect">
            <a:avLst/>
          </a:prstGeom>
          <a:noFill/>
          <a:ln/>
        </p:spPr>
        <p:txBody>
          <a:bodyPr wrap="square" lIns="0" tIns="0" rIns="0" bIns="0" rtlCol="0" anchor="t"/>
          <a:lstStyle/>
          <a:p>
            <a:pPr indent="0" marL="0">
              <a:buNone/>
            </a:pPr>
            <a:r>
              <a:rPr lang="en-US" sz="900" b="1" spc="100" kern="0" dirty="0">
                <a:solidFill>
                  <a:schemeClr val="accent2"/>
                </a:solidFill>
              </a:rPr>
              <a:t>META → ACCIÓN</a:t>
            </a:r>
            <a:endParaRPr lang="en-US" sz="900" dirty="0"/>
          </a:p>
        </p:txBody>
      </p:sp>
      <p:sp>
        <p:nvSpPr>
          <p:cNvPr id="14" name="Text 10"/>
          <p:cNvSpPr txBox="1"/>
          <p:nvPr/>
        </p:nvSpPr>
        <p:spPr>
          <a:xfrm>
            <a:off x="3557016" y="2350008"/>
            <a:ext cx="2304288" cy="365760"/>
          </a:xfrm>
          <a:prstGeom prst="rect">
            <a:avLst/>
          </a:prstGeom>
          <a:noFill/>
          <a:ln/>
        </p:spPr>
        <p:txBody>
          <a:bodyPr wrap="square" lIns="0" tIns="0" rIns="0" bIns="0" rtlCol="0" anchor="t"/>
          <a:lstStyle/>
          <a:p>
            <a:pPr indent="0" marL="0">
              <a:buNone/>
            </a:pPr>
            <a:r>
              <a:rPr lang="en-US" sz="1500" b="1" dirty="0">
                <a:solidFill>
                  <a:schemeClr val="tx2"/>
                </a:solidFill>
              </a:rPr>
              <a:t>Fabricación más barata</a:t>
            </a:r>
            <a:endParaRPr lang="en-US" sz="1500" dirty="0"/>
          </a:p>
        </p:txBody>
      </p:sp>
      <p:sp>
        <p:nvSpPr>
          <p:cNvPr id="15" name="Text 11"/>
          <p:cNvSpPr txBox="1"/>
          <p:nvPr/>
        </p:nvSpPr>
        <p:spPr>
          <a:xfrm>
            <a:off x="3557016" y="2743200"/>
            <a:ext cx="2304288" cy="731520"/>
          </a:xfrm>
          <a:prstGeom prst="rect">
            <a:avLst/>
          </a:prstGeom>
          <a:noFill/>
          <a:ln/>
        </p:spPr>
        <p:txBody>
          <a:bodyPr wrap="square" lIns="0" tIns="0" rIns="0" bIns="0" rtlCol="0" anchor="t"/>
          <a:lstStyle/>
          <a:p>
            <a:pPr indent="0" marL="0">
              <a:buNone/>
            </a:pPr>
            <a:r>
              <a:rPr lang="en-US" sz="1200" dirty="0">
                <a:solidFill>
                  <a:schemeClr val="tx1"/>
                </a:solidFill>
              </a:rPr>
              <a:t>Al pasar 5,000 brownies al mes, negociar con la planta S/0.40 en vez de S/0.45</a:t>
            </a:r>
            <a:endParaRPr lang="en-US" sz="1200" dirty="0"/>
          </a:p>
        </p:txBody>
      </p:sp>
      <p:sp>
        <p:nvSpPr>
          <p:cNvPr id="16" name="Shape 12"/>
          <p:cNvSpPr/>
          <p:nvPr/>
        </p:nvSpPr>
        <p:spPr>
          <a:xfrm>
            <a:off x="6163056" y="1481328"/>
            <a:ext cx="2670048" cy="2057400"/>
          </a:xfrm>
          <a:prstGeom prst="roundRect">
            <a:avLst>
              <a:gd name="adj" fmla="val 533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17" name="Shape 13"/>
          <p:cNvSpPr/>
          <p:nvPr/>
        </p:nvSpPr>
        <p:spPr>
          <a:xfrm>
            <a:off x="6364224" y="1682496"/>
            <a:ext cx="566928" cy="566928"/>
          </a:xfrm>
          <a:prstGeom prst="ellipse">
            <a:avLst/>
          </a:prstGeom>
          <a:solidFill>
            <a:schemeClr val="accent1"/>
          </a:solidFill>
          <a:ln w="12700">
            <a:solidFill>
              <a:schemeClr val="accent1"/>
            </a:solidFill>
            <a:prstDash val="solid"/>
          </a:ln>
        </p:spPr>
      </p:sp>
      <p:pic>
        <p:nvPicPr>
          <p:cNvPr id="18" name="Image 2" descr="preencoded.png">    </p:cNvPr>
          <p:cNvPicPr>
            <a:picLocks noChangeAspect="1"/>
          </p:cNvPicPr>
          <p:nvPr/>
        </p:nvPicPr>
        <p:blipFill>
          <a:blip r:embed="rId3"/>
          <a:stretch>
            <a:fillRect/>
          </a:stretch>
        </p:blipFill>
        <p:spPr>
          <a:xfrm>
            <a:off x="6488948" y="1807220"/>
            <a:ext cx="317480" cy="317480"/>
          </a:xfrm>
          <a:prstGeom prst="rect">
            <a:avLst/>
          </a:prstGeom>
        </p:spPr>
      </p:pic>
      <p:sp>
        <p:nvSpPr>
          <p:cNvPr id="19" name="Text 14"/>
          <p:cNvSpPr txBox="1"/>
          <p:nvPr/>
        </p:nvSpPr>
        <p:spPr>
          <a:xfrm>
            <a:off x="7059168" y="1755648"/>
            <a:ext cx="1664208" cy="228600"/>
          </a:xfrm>
          <a:prstGeom prst="rect">
            <a:avLst/>
          </a:prstGeom>
          <a:noFill/>
          <a:ln/>
        </p:spPr>
        <p:txBody>
          <a:bodyPr wrap="square" lIns="0" tIns="0" rIns="0" bIns="0" rtlCol="0" anchor="t"/>
          <a:lstStyle/>
          <a:p>
            <a:pPr indent="0" marL="0">
              <a:buNone/>
            </a:pPr>
            <a:r>
              <a:rPr lang="en-US" sz="900" b="1" spc="100" kern="0" dirty="0">
                <a:solidFill>
                  <a:schemeClr val="accent2"/>
                </a:solidFill>
              </a:rPr>
              <a:t>META → ACCIÓN</a:t>
            </a:r>
            <a:endParaRPr lang="en-US" sz="900" dirty="0"/>
          </a:p>
        </p:txBody>
      </p:sp>
      <p:sp>
        <p:nvSpPr>
          <p:cNvPr id="20" name="Text 15"/>
          <p:cNvSpPr txBox="1"/>
          <p:nvPr/>
        </p:nvSpPr>
        <p:spPr>
          <a:xfrm>
            <a:off x="6364224" y="2350008"/>
            <a:ext cx="2304288" cy="365760"/>
          </a:xfrm>
          <a:prstGeom prst="rect">
            <a:avLst/>
          </a:prstGeom>
          <a:noFill/>
          <a:ln/>
        </p:spPr>
        <p:txBody>
          <a:bodyPr wrap="square" lIns="0" tIns="0" rIns="0" bIns="0" rtlCol="0" anchor="t"/>
          <a:lstStyle/>
          <a:p>
            <a:pPr indent="0" marL="0">
              <a:buNone/>
            </a:pPr>
            <a:r>
              <a:rPr lang="en-US" sz="1500" b="1" dirty="0">
                <a:solidFill>
                  <a:schemeClr val="tx2"/>
                </a:solidFill>
              </a:rPr>
              <a:t>Contrato anual de sangrecita</a:t>
            </a:r>
            <a:endParaRPr lang="en-US" sz="1500" dirty="0"/>
          </a:p>
        </p:txBody>
      </p:sp>
      <p:sp>
        <p:nvSpPr>
          <p:cNvPr id="21" name="Text 16"/>
          <p:cNvSpPr txBox="1"/>
          <p:nvPr/>
        </p:nvSpPr>
        <p:spPr>
          <a:xfrm>
            <a:off x="6364224" y="2743200"/>
            <a:ext cx="2304288" cy="731520"/>
          </a:xfrm>
          <a:prstGeom prst="rect">
            <a:avLst/>
          </a:prstGeom>
          <a:noFill/>
          <a:ln/>
        </p:spPr>
        <p:txBody>
          <a:bodyPr wrap="square" lIns="0" tIns="0" rIns="0" bIns="0" rtlCol="0" anchor="t"/>
          <a:lstStyle/>
          <a:p>
            <a:pPr indent="0" marL="0">
              <a:buNone/>
            </a:pPr>
            <a:r>
              <a:rPr lang="en-US" sz="1200" dirty="0">
                <a:solidFill>
                  <a:schemeClr val="tx1"/>
                </a:solidFill>
              </a:rPr>
              <a:t>Precio fijo por un año al comprar unos 50 kg de polvo al año</a:t>
            </a:r>
            <a:endParaRPr lang="en-US" sz="1200" dirty="0"/>
          </a:p>
        </p:txBody>
      </p:sp>
      <p:sp>
        <p:nvSpPr>
          <p:cNvPr id="22" name="Shape 17"/>
          <p:cNvSpPr/>
          <p:nvPr/>
        </p:nvSpPr>
        <p:spPr>
          <a:xfrm>
            <a:off x="8970264" y="1481328"/>
            <a:ext cx="2670048" cy="2057400"/>
          </a:xfrm>
          <a:prstGeom prst="roundRect">
            <a:avLst>
              <a:gd name="adj" fmla="val 533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3" name="Shape 18"/>
          <p:cNvSpPr/>
          <p:nvPr/>
        </p:nvSpPr>
        <p:spPr>
          <a:xfrm>
            <a:off x="9171432" y="1682496"/>
            <a:ext cx="566928" cy="566928"/>
          </a:xfrm>
          <a:prstGeom prst="ellipse">
            <a:avLst/>
          </a:prstGeom>
          <a:solidFill>
            <a:schemeClr val="accent1"/>
          </a:solidFill>
          <a:ln w="12700">
            <a:solidFill>
              <a:schemeClr val="accent1"/>
            </a:solidFill>
            <a:prstDash val="solid"/>
          </a:ln>
        </p:spPr>
      </p:sp>
      <p:pic>
        <p:nvPicPr>
          <p:cNvPr id="24" name="Image 3" descr="preencoded.png">    </p:cNvPr>
          <p:cNvPicPr>
            <a:picLocks noChangeAspect="1"/>
          </p:cNvPicPr>
          <p:nvPr/>
        </p:nvPicPr>
        <p:blipFill>
          <a:blip r:embed="rId4"/>
          <a:stretch>
            <a:fillRect/>
          </a:stretch>
        </p:blipFill>
        <p:spPr>
          <a:xfrm>
            <a:off x="9296156" y="1807220"/>
            <a:ext cx="317480" cy="317480"/>
          </a:xfrm>
          <a:prstGeom prst="rect">
            <a:avLst/>
          </a:prstGeom>
        </p:spPr>
      </p:pic>
      <p:sp>
        <p:nvSpPr>
          <p:cNvPr id="25" name="Text 19"/>
          <p:cNvSpPr txBox="1"/>
          <p:nvPr/>
        </p:nvSpPr>
        <p:spPr>
          <a:xfrm>
            <a:off x="9866376" y="1755648"/>
            <a:ext cx="1664208" cy="228600"/>
          </a:xfrm>
          <a:prstGeom prst="rect">
            <a:avLst/>
          </a:prstGeom>
          <a:noFill/>
          <a:ln/>
        </p:spPr>
        <p:txBody>
          <a:bodyPr wrap="square" lIns="0" tIns="0" rIns="0" bIns="0" rtlCol="0" anchor="t"/>
          <a:lstStyle/>
          <a:p>
            <a:pPr indent="0" marL="0">
              <a:buNone/>
            </a:pPr>
            <a:r>
              <a:rPr lang="en-US" sz="900" b="1" spc="100" kern="0" dirty="0">
                <a:solidFill>
                  <a:schemeClr val="accent2"/>
                </a:solidFill>
              </a:rPr>
              <a:t>META → ACCIÓN</a:t>
            </a:r>
            <a:endParaRPr lang="en-US" sz="900" dirty="0"/>
          </a:p>
        </p:txBody>
      </p:sp>
      <p:sp>
        <p:nvSpPr>
          <p:cNvPr id="26" name="Text 20"/>
          <p:cNvSpPr txBox="1"/>
          <p:nvPr/>
        </p:nvSpPr>
        <p:spPr>
          <a:xfrm>
            <a:off x="9171432" y="2350008"/>
            <a:ext cx="2304288" cy="365760"/>
          </a:xfrm>
          <a:prstGeom prst="rect">
            <a:avLst/>
          </a:prstGeom>
          <a:noFill/>
          <a:ln/>
        </p:spPr>
        <p:txBody>
          <a:bodyPr wrap="square" lIns="0" tIns="0" rIns="0" bIns="0" rtlCol="0" anchor="t"/>
          <a:lstStyle/>
          <a:p>
            <a:pPr indent="0" marL="0">
              <a:buNone/>
            </a:pPr>
            <a:r>
              <a:rPr lang="en-US" sz="1500" b="1" dirty="0">
                <a:solidFill>
                  <a:schemeClr val="tx2"/>
                </a:solidFill>
              </a:rPr>
              <a:t>Cajas para fiestas</a:t>
            </a:r>
            <a:endParaRPr lang="en-US" sz="1500" dirty="0"/>
          </a:p>
        </p:txBody>
      </p:sp>
      <p:sp>
        <p:nvSpPr>
          <p:cNvPr id="27" name="Text 21"/>
          <p:cNvSpPr txBox="1"/>
          <p:nvPr/>
        </p:nvSpPr>
        <p:spPr>
          <a:xfrm>
            <a:off x="9171432" y="2743200"/>
            <a:ext cx="2304288" cy="731520"/>
          </a:xfrm>
          <a:prstGeom prst="rect">
            <a:avLst/>
          </a:prstGeom>
          <a:noFill/>
          <a:ln/>
        </p:spPr>
        <p:txBody>
          <a:bodyPr wrap="square" lIns="0" tIns="0" rIns="0" bIns="0" rtlCol="0" anchor="t"/>
          <a:lstStyle/>
          <a:p>
            <a:pPr indent="0" marL="0">
              <a:buNone/>
            </a:pPr>
            <a:r>
              <a:rPr lang="en-US" sz="1200" dirty="0">
                <a:solidFill>
                  <a:schemeClr val="tx1"/>
                </a:solidFill>
              </a:rPr>
              <a:t>Para cumpleaños y empresas: por pedido con 2 semanas de anticipación, sin costo fijo</a:t>
            </a:r>
            <a:endParaRPr lang="en-US" sz="1200" dirty="0"/>
          </a:p>
        </p:txBody>
      </p:sp>
      <p:sp>
        <p:nvSpPr>
          <p:cNvPr id="28" name="Shape 22"/>
          <p:cNvSpPr/>
          <p:nvPr/>
        </p:nvSpPr>
        <p:spPr>
          <a:xfrm>
            <a:off x="548640" y="3703320"/>
            <a:ext cx="2670048" cy="2057400"/>
          </a:xfrm>
          <a:prstGeom prst="roundRect">
            <a:avLst>
              <a:gd name="adj" fmla="val 533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29" name="Shape 23"/>
          <p:cNvSpPr/>
          <p:nvPr/>
        </p:nvSpPr>
        <p:spPr>
          <a:xfrm>
            <a:off x="749808" y="3904488"/>
            <a:ext cx="566928" cy="566928"/>
          </a:xfrm>
          <a:prstGeom prst="ellipse">
            <a:avLst/>
          </a:prstGeom>
          <a:solidFill>
            <a:schemeClr val="accent1"/>
          </a:solidFill>
          <a:ln w="12700">
            <a:solidFill>
              <a:schemeClr val="accent1"/>
            </a:solidFill>
            <a:prstDash val="solid"/>
          </a:ln>
        </p:spPr>
      </p:sp>
      <p:pic>
        <p:nvPicPr>
          <p:cNvPr id="30" name="Image 4" descr="preencoded.png">    </p:cNvPr>
          <p:cNvPicPr>
            <a:picLocks noChangeAspect="1"/>
          </p:cNvPicPr>
          <p:nvPr/>
        </p:nvPicPr>
        <p:blipFill>
          <a:blip r:embed="rId5"/>
          <a:stretch>
            <a:fillRect/>
          </a:stretch>
        </p:blipFill>
        <p:spPr>
          <a:xfrm>
            <a:off x="874532" y="4029212"/>
            <a:ext cx="317480" cy="317480"/>
          </a:xfrm>
          <a:prstGeom prst="rect">
            <a:avLst/>
          </a:prstGeom>
        </p:spPr>
      </p:pic>
      <p:sp>
        <p:nvSpPr>
          <p:cNvPr id="31" name="Text 24"/>
          <p:cNvSpPr txBox="1"/>
          <p:nvPr/>
        </p:nvSpPr>
        <p:spPr>
          <a:xfrm>
            <a:off x="1444752" y="3977640"/>
            <a:ext cx="1664208" cy="228600"/>
          </a:xfrm>
          <a:prstGeom prst="rect">
            <a:avLst/>
          </a:prstGeom>
          <a:noFill/>
          <a:ln/>
        </p:spPr>
        <p:txBody>
          <a:bodyPr wrap="square" lIns="0" tIns="0" rIns="0" bIns="0" rtlCol="0" anchor="t"/>
          <a:lstStyle/>
          <a:p>
            <a:pPr indent="0" marL="0">
              <a:buNone/>
            </a:pPr>
            <a:r>
              <a:rPr lang="en-US" sz="900" b="1" spc="100" kern="0" dirty="0">
                <a:solidFill>
                  <a:schemeClr val="accent2"/>
                </a:solidFill>
              </a:rPr>
              <a:t>META → ACCIÓN</a:t>
            </a:r>
            <a:endParaRPr lang="en-US" sz="900" dirty="0"/>
          </a:p>
        </p:txBody>
      </p:sp>
      <p:sp>
        <p:nvSpPr>
          <p:cNvPr id="32" name="Text 25"/>
          <p:cNvSpPr txBox="1"/>
          <p:nvPr/>
        </p:nvSpPr>
        <p:spPr>
          <a:xfrm>
            <a:off x="749808" y="4572000"/>
            <a:ext cx="2304288" cy="365760"/>
          </a:xfrm>
          <a:prstGeom prst="rect">
            <a:avLst/>
          </a:prstGeom>
          <a:noFill/>
          <a:ln/>
        </p:spPr>
        <p:txBody>
          <a:bodyPr wrap="square" lIns="0" tIns="0" rIns="0" bIns="0" rtlCol="0" anchor="t"/>
          <a:lstStyle/>
          <a:p>
            <a:pPr indent="0" marL="0">
              <a:buNone/>
            </a:pPr>
            <a:r>
              <a:rPr lang="en-US" sz="1500" b="1" dirty="0">
                <a:solidFill>
                  <a:schemeClr val="tx2"/>
                </a:solidFill>
              </a:rPr>
              <a:t>Góndola en Wong o Vivanda</a:t>
            </a:r>
            <a:endParaRPr lang="en-US" sz="1500" dirty="0"/>
          </a:p>
        </p:txBody>
      </p:sp>
      <p:sp>
        <p:nvSpPr>
          <p:cNvPr id="33" name="Text 26"/>
          <p:cNvSpPr txBox="1"/>
          <p:nvPr/>
        </p:nvSpPr>
        <p:spPr>
          <a:xfrm>
            <a:off x="749808" y="4965192"/>
            <a:ext cx="2304288" cy="731520"/>
          </a:xfrm>
          <a:prstGeom prst="rect">
            <a:avLst/>
          </a:prstGeom>
          <a:noFill/>
          <a:ln/>
        </p:spPr>
        <p:txBody>
          <a:bodyPr wrap="square" lIns="0" tIns="0" rIns="0" bIns="0" rtlCol="0" anchor="t"/>
          <a:lstStyle/>
          <a:p>
            <a:pPr indent="0" marL="0">
              <a:buNone/>
            </a:pPr>
            <a:r>
              <a:rPr lang="en-US" sz="1200" dirty="0">
                <a:solidFill>
                  <a:schemeClr val="tx1"/>
                </a:solidFill>
              </a:rPr>
              <a:t>En el año 2, solo si cada punto de venta ya gana dinero por sí solo</a:t>
            </a:r>
            <a:endParaRPr lang="en-US" sz="1200" dirty="0"/>
          </a:p>
        </p:txBody>
      </p:sp>
      <p:sp>
        <p:nvSpPr>
          <p:cNvPr id="34" name="Shape 27"/>
          <p:cNvSpPr/>
          <p:nvPr/>
        </p:nvSpPr>
        <p:spPr>
          <a:xfrm>
            <a:off x="3355848" y="3703320"/>
            <a:ext cx="2670048" cy="2057400"/>
          </a:xfrm>
          <a:prstGeom prst="roundRect">
            <a:avLst>
              <a:gd name="adj" fmla="val 533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35" name="Shape 28"/>
          <p:cNvSpPr/>
          <p:nvPr/>
        </p:nvSpPr>
        <p:spPr>
          <a:xfrm>
            <a:off x="3557016" y="3904488"/>
            <a:ext cx="566928" cy="566928"/>
          </a:xfrm>
          <a:prstGeom prst="ellipse">
            <a:avLst/>
          </a:prstGeom>
          <a:solidFill>
            <a:schemeClr val="accent1"/>
          </a:solidFill>
          <a:ln w="12700">
            <a:solidFill>
              <a:schemeClr val="accent1"/>
            </a:solidFill>
            <a:prstDash val="solid"/>
          </a:ln>
        </p:spPr>
      </p:sp>
      <p:pic>
        <p:nvPicPr>
          <p:cNvPr id="36" name="Image 5" descr="preencoded.png">    </p:cNvPr>
          <p:cNvPicPr>
            <a:picLocks noChangeAspect="1"/>
          </p:cNvPicPr>
          <p:nvPr/>
        </p:nvPicPr>
        <p:blipFill>
          <a:blip r:embed="rId6"/>
          <a:stretch>
            <a:fillRect/>
          </a:stretch>
        </p:blipFill>
        <p:spPr>
          <a:xfrm>
            <a:off x="3681740" y="4029212"/>
            <a:ext cx="317480" cy="317480"/>
          </a:xfrm>
          <a:prstGeom prst="rect">
            <a:avLst/>
          </a:prstGeom>
        </p:spPr>
      </p:pic>
      <p:sp>
        <p:nvSpPr>
          <p:cNvPr id="37" name="Text 29"/>
          <p:cNvSpPr txBox="1"/>
          <p:nvPr/>
        </p:nvSpPr>
        <p:spPr>
          <a:xfrm>
            <a:off x="4251960" y="3977640"/>
            <a:ext cx="1664208" cy="228600"/>
          </a:xfrm>
          <a:prstGeom prst="rect">
            <a:avLst/>
          </a:prstGeom>
          <a:noFill/>
          <a:ln/>
        </p:spPr>
        <p:txBody>
          <a:bodyPr wrap="square" lIns="0" tIns="0" rIns="0" bIns="0" rtlCol="0" anchor="t"/>
          <a:lstStyle/>
          <a:p>
            <a:pPr indent="0" marL="0">
              <a:buNone/>
            </a:pPr>
            <a:r>
              <a:rPr lang="en-US" sz="900" b="1" spc="100" kern="0" dirty="0">
                <a:solidFill>
                  <a:schemeClr val="accent2"/>
                </a:solidFill>
              </a:rPr>
              <a:t>META → ACCIÓN</a:t>
            </a:r>
            <a:endParaRPr lang="en-US" sz="900" dirty="0"/>
          </a:p>
        </p:txBody>
      </p:sp>
      <p:sp>
        <p:nvSpPr>
          <p:cNvPr id="38" name="Text 30"/>
          <p:cNvSpPr txBox="1"/>
          <p:nvPr/>
        </p:nvSpPr>
        <p:spPr>
          <a:xfrm>
            <a:off x="3557016" y="4572000"/>
            <a:ext cx="2304288" cy="365760"/>
          </a:xfrm>
          <a:prstGeom prst="rect">
            <a:avLst/>
          </a:prstGeom>
          <a:noFill/>
          <a:ln/>
        </p:spPr>
        <p:txBody>
          <a:bodyPr wrap="square" lIns="0" tIns="0" rIns="0" bIns="0" rtlCol="0" anchor="t"/>
          <a:lstStyle/>
          <a:p>
            <a:pPr indent="0" marL="0">
              <a:buNone/>
            </a:pPr>
            <a:r>
              <a:rPr lang="en-US" sz="1500" b="1" dirty="0">
                <a:solidFill>
                  <a:schemeClr val="tx2"/>
                </a:solidFill>
              </a:rPr>
              <a:t>Pago variable a vendedores</a:t>
            </a:r>
            <a:endParaRPr lang="en-US" sz="1500" dirty="0"/>
          </a:p>
        </p:txBody>
      </p:sp>
      <p:sp>
        <p:nvSpPr>
          <p:cNvPr id="39" name="Text 31"/>
          <p:cNvSpPr txBox="1"/>
          <p:nvPr/>
        </p:nvSpPr>
        <p:spPr>
          <a:xfrm>
            <a:off x="3557016" y="4965192"/>
            <a:ext cx="2304288" cy="731520"/>
          </a:xfrm>
          <a:prstGeom prst="rect">
            <a:avLst/>
          </a:prstGeom>
          <a:noFill/>
          <a:ln/>
        </p:spPr>
        <p:txBody>
          <a:bodyPr wrap="square" lIns="0" tIns="0" rIns="0" bIns="0" rtlCol="0" anchor="t"/>
          <a:lstStyle/>
          <a:p>
            <a:pPr indent="0" marL="0">
              <a:buNone/>
            </a:pPr>
            <a:r>
              <a:rPr lang="en-US" sz="1200" dirty="0">
                <a:solidFill>
                  <a:schemeClr val="tx1"/>
                </a:solidFill>
              </a:rPr>
              <a:t>S/60 por día + S/0.30 por brownie vendido: gana más quien vende más</a:t>
            </a:r>
            <a:endParaRPr lang="en-US" sz="1200" dirty="0"/>
          </a:p>
        </p:txBody>
      </p:sp>
      <p:sp>
        <p:nvSpPr>
          <p:cNvPr id="40" name="Shape 32"/>
          <p:cNvSpPr/>
          <p:nvPr/>
        </p:nvSpPr>
        <p:spPr>
          <a:xfrm>
            <a:off x="6163056" y="3703320"/>
            <a:ext cx="2670048" cy="2057400"/>
          </a:xfrm>
          <a:prstGeom prst="roundRect">
            <a:avLst>
              <a:gd name="adj" fmla="val 533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41" name="Shape 33"/>
          <p:cNvSpPr/>
          <p:nvPr/>
        </p:nvSpPr>
        <p:spPr>
          <a:xfrm>
            <a:off x="6364224" y="3904488"/>
            <a:ext cx="566928" cy="566928"/>
          </a:xfrm>
          <a:prstGeom prst="ellipse">
            <a:avLst/>
          </a:prstGeom>
          <a:solidFill>
            <a:schemeClr val="accent1"/>
          </a:solidFill>
          <a:ln w="12700">
            <a:solidFill>
              <a:schemeClr val="accent1"/>
            </a:solidFill>
            <a:prstDash val="solid"/>
          </a:ln>
        </p:spPr>
      </p:sp>
      <p:pic>
        <p:nvPicPr>
          <p:cNvPr id="42" name="Image 6" descr="preencoded.png">    </p:cNvPr>
          <p:cNvPicPr>
            <a:picLocks noChangeAspect="1"/>
          </p:cNvPicPr>
          <p:nvPr/>
        </p:nvPicPr>
        <p:blipFill>
          <a:blip r:embed="rId7"/>
          <a:stretch>
            <a:fillRect/>
          </a:stretch>
        </p:blipFill>
        <p:spPr>
          <a:xfrm>
            <a:off x="6488948" y="4029212"/>
            <a:ext cx="317480" cy="317480"/>
          </a:xfrm>
          <a:prstGeom prst="rect">
            <a:avLst/>
          </a:prstGeom>
        </p:spPr>
      </p:pic>
      <p:sp>
        <p:nvSpPr>
          <p:cNvPr id="43" name="Text 34"/>
          <p:cNvSpPr txBox="1"/>
          <p:nvPr/>
        </p:nvSpPr>
        <p:spPr>
          <a:xfrm>
            <a:off x="7059168" y="3977640"/>
            <a:ext cx="1664208" cy="228600"/>
          </a:xfrm>
          <a:prstGeom prst="rect">
            <a:avLst/>
          </a:prstGeom>
          <a:noFill/>
          <a:ln/>
        </p:spPr>
        <p:txBody>
          <a:bodyPr wrap="square" lIns="0" tIns="0" rIns="0" bIns="0" rtlCol="0" anchor="t"/>
          <a:lstStyle/>
          <a:p>
            <a:pPr indent="0" marL="0">
              <a:buNone/>
            </a:pPr>
            <a:r>
              <a:rPr lang="en-US" sz="900" b="1" spc="100" kern="0" dirty="0">
                <a:solidFill>
                  <a:schemeClr val="accent2"/>
                </a:solidFill>
              </a:rPr>
              <a:t>META → ACCIÓN</a:t>
            </a:r>
            <a:endParaRPr lang="en-US" sz="900" dirty="0"/>
          </a:p>
        </p:txBody>
      </p:sp>
      <p:sp>
        <p:nvSpPr>
          <p:cNvPr id="44" name="Text 35"/>
          <p:cNvSpPr txBox="1"/>
          <p:nvPr/>
        </p:nvSpPr>
        <p:spPr>
          <a:xfrm>
            <a:off x="6364224" y="4572000"/>
            <a:ext cx="2304288" cy="365760"/>
          </a:xfrm>
          <a:prstGeom prst="rect">
            <a:avLst/>
          </a:prstGeom>
          <a:noFill/>
          <a:ln/>
        </p:spPr>
        <p:txBody>
          <a:bodyPr wrap="square" lIns="0" tIns="0" rIns="0" bIns="0" rtlCol="0" anchor="t"/>
          <a:lstStyle/>
          <a:p>
            <a:pPr indent="0" marL="0">
              <a:buNone/>
            </a:pPr>
            <a:r>
              <a:rPr lang="en-US" sz="1500" b="1" dirty="0">
                <a:solidFill>
                  <a:schemeClr val="tx2"/>
                </a:solidFill>
              </a:rPr>
              <a:t>Repetir una feria pagada</a:t>
            </a:r>
            <a:endParaRPr lang="en-US" sz="1500" dirty="0"/>
          </a:p>
        </p:txBody>
      </p:sp>
      <p:sp>
        <p:nvSpPr>
          <p:cNvPr id="45" name="Text 36"/>
          <p:cNvSpPr txBox="1"/>
          <p:nvPr/>
        </p:nvSpPr>
        <p:spPr>
          <a:xfrm>
            <a:off x="6364224" y="4965192"/>
            <a:ext cx="2304288" cy="731520"/>
          </a:xfrm>
          <a:prstGeom prst="rect">
            <a:avLst/>
          </a:prstGeom>
          <a:noFill/>
          <a:ln/>
        </p:spPr>
        <p:txBody>
          <a:bodyPr wrap="square" lIns="0" tIns="0" rIns="0" bIns="0" rtlCol="0" anchor="t"/>
          <a:lstStyle/>
          <a:p>
            <a:pPr indent="0" marL="0">
              <a:buNone/>
            </a:pPr>
            <a:r>
              <a:rPr lang="en-US" sz="1200" dirty="0">
                <a:solidFill>
                  <a:schemeClr val="tx1"/>
                </a:solidFill>
              </a:rPr>
              <a:t>Solo si dejó 50 contactos de WhatsApp y cumplió 3 de los 4 criterios</a:t>
            </a:r>
            <a:endParaRPr lang="en-US" sz="1200" dirty="0"/>
          </a:p>
        </p:txBody>
      </p:sp>
      <p:sp>
        <p:nvSpPr>
          <p:cNvPr id="46" name="Shape 37"/>
          <p:cNvSpPr/>
          <p:nvPr/>
        </p:nvSpPr>
        <p:spPr>
          <a:xfrm>
            <a:off x="8970264" y="3703320"/>
            <a:ext cx="2670048" cy="2057400"/>
          </a:xfrm>
          <a:prstGeom prst="roundRect">
            <a:avLst>
              <a:gd name="adj" fmla="val 5333"/>
            </a:avLst>
          </a:prstGeom>
          <a:solidFill>
            <a:schemeClr val="bg1"/>
          </a:solidFill>
          <a:ln w="12700">
            <a:solidFill>
              <a:schemeClr val="bg1"/>
            </a:solidFill>
            <a:prstDash val="solid"/>
          </a:ln>
          <a:effectLst>
            <a:outerShdw sx="100000" sy="100000" kx="0" ky="0" algn="bl" rotWithShape="0" blurRad="101600" dist="25400" dir="5400000">
              <a:srgbClr val="7A4A30">
                <a:alpha val="14000"/>
              </a:srgbClr>
            </a:outerShdw>
          </a:effectLst>
        </p:spPr>
      </p:sp>
      <p:sp>
        <p:nvSpPr>
          <p:cNvPr id="47" name="Shape 38"/>
          <p:cNvSpPr/>
          <p:nvPr/>
        </p:nvSpPr>
        <p:spPr>
          <a:xfrm>
            <a:off x="9171432" y="3904488"/>
            <a:ext cx="566928" cy="566928"/>
          </a:xfrm>
          <a:prstGeom prst="ellipse">
            <a:avLst/>
          </a:prstGeom>
          <a:solidFill>
            <a:schemeClr val="accent1"/>
          </a:solidFill>
          <a:ln w="12700">
            <a:solidFill>
              <a:schemeClr val="accent1"/>
            </a:solidFill>
            <a:prstDash val="solid"/>
          </a:ln>
        </p:spPr>
      </p:sp>
      <p:pic>
        <p:nvPicPr>
          <p:cNvPr id="48" name="Image 7" descr="preencoded.png">    </p:cNvPr>
          <p:cNvPicPr>
            <a:picLocks noChangeAspect="1"/>
          </p:cNvPicPr>
          <p:nvPr/>
        </p:nvPicPr>
        <p:blipFill>
          <a:blip r:embed="rId8"/>
          <a:stretch>
            <a:fillRect/>
          </a:stretch>
        </p:blipFill>
        <p:spPr>
          <a:xfrm>
            <a:off x="9296156" y="4029212"/>
            <a:ext cx="317480" cy="317480"/>
          </a:xfrm>
          <a:prstGeom prst="rect">
            <a:avLst/>
          </a:prstGeom>
        </p:spPr>
      </p:pic>
      <p:sp>
        <p:nvSpPr>
          <p:cNvPr id="49" name="Text 39"/>
          <p:cNvSpPr txBox="1"/>
          <p:nvPr/>
        </p:nvSpPr>
        <p:spPr>
          <a:xfrm>
            <a:off x="9866376" y="3977640"/>
            <a:ext cx="1664208" cy="228600"/>
          </a:xfrm>
          <a:prstGeom prst="rect">
            <a:avLst/>
          </a:prstGeom>
          <a:noFill/>
          <a:ln/>
        </p:spPr>
        <p:txBody>
          <a:bodyPr wrap="square" lIns="0" tIns="0" rIns="0" bIns="0" rtlCol="0" anchor="t"/>
          <a:lstStyle/>
          <a:p>
            <a:pPr indent="0" marL="0">
              <a:buNone/>
            </a:pPr>
            <a:r>
              <a:rPr lang="en-US" sz="900" b="1" spc="100" kern="0" dirty="0">
                <a:solidFill>
                  <a:schemeClr val="accent2"/>
                </a:solidFill>
              </a:rPr>
              <a:t>META → ACCIÓN</a:t>
            </a:r>
            <a:endParaRPr lang="en-US" sz="900" dirty="0"/>
          </a:p>
        </p:txBody>
      </p:sp>
      <p:sp>
        <p:nvSpPr>
          <p:cNvPr id="50" name="Text 40"/>
          <p:cNvSpPr txBox="1"/>
          <p:nvPr/>
        </p:nvSpPr>
        <p:spPr>
          <a:xfrm>
            <a:off x="9171432" y="4572000"/>
            <a:ext cx="2304288" cy="365760"/>
          </a:xfrm>
          <a:prstGeom prst="rect">
            <a:avLst/>
          </a:prstGeom>
          <a:noFill/>
          <a:ln/>
        </p:spPr>
        <p:txBody>
          <a:bodyPr wrap="square" lIns="0" tIns="0" rIns="0" bIns="0" rtlCol="0" anchor="t"/>
          <a:lstStyle/>
          <a:p>
            <a:pPr indent="0" marL="0">
              <a:buNone/>
            </a:pPr>
            <a:r>
              <a:rPr lang="en-US" sz="1500" b="1" dirty="0">
                <a:solidFill>
                  <a:schemeClr val="tx2"/>
                </a:solidFill>
              </a:rPr>
              <a:t>Línea de crédito</a:t>
            </a:r>
            <a:endParaRPr lang="en-US" sz="1500" dirty="0"/>
          </a:p>
        </p:txBody>
      </p:sp>
      <p:sp>
        <p:nvSpPr>
          <p:cNvPr id="51" name="Text 41"/>
          <p:cNvSpPr txBox="1"/>
          <p:nvPr/>
        </p:nvSpPr>
        <p:spPr>
          <a:xfrm>
            <a:off x="9171432" y="4965192"/>
            <a:ext cx="2304288" cy="731520"/>
          </a:xfrm>
          <a:prstGeom prst="rect">
            <a:avLst/>
          </a:prstGeom>
          <a:noFill/>
          <a:ln/>
        </p:spPr>
        <p:txBody>
          <a:bodyPr wrap="square" lIns="0" tIns="0" rIns="0" bIns="0" rtlCol="0" anchor="t"/>
          <a:lstStyle/>
          <a:p>
            <a:pPr indent="0" marL="0">
              <a:buNone/>
            </a:pPr>
            <a:r>
              <a:rPr lang="en-US" sz="1200" dirty="0">
                <a:solidFill>
                  <a:schemeClr val="tx1"/>
                </a:solidFill>
              </a:rPr>
              <a:t>Se usa solo si la caja baja de S/1,000; se devuelve con la venta de los meses fuertes</a:t>
            </a:r>
            <a:endParaRPr lang="en-US" sz="1200" dirty="0"/>
          </a:p>
        </p:txBody>
      </p:sp>
      <p:sp>
        <p:nvSpPr>
          <p:cNvPr id="52" name="Shape 42"/>
          <p:cNvSpPr/>
          <p:nvPr/>
        </p:nvSpPr>
        <p:spPr>
          <a:xfrm>
            <a:off x="548640" y="5870448"/>
            <a:ext cx="11091672" cy="438912"/>
          </a:xfrm>
          <a:prstGeom prst="roundRect">
            <a:avLst>
              <a:gd name="adj" fmla="val 50000"/>
            </a:avLst>
          </a:prstGeom>
          <a:solidFill>
            <a:schemeClr val="tx2"/>
          </a:solidFill>
          <a:ln w="12700">
            <a:solidFill>
              <a:schemeClr val="tx2"/>
            </a:solidFill>
            <a:prstDash val="solid"/>
          </a:ln>
          <a:effectLst>
            <a:outerShdw sx="100000" sy="100000" kx="0" ky="0" algn="bl" rotWithShape="0" blurRad="101600" dist="25400" dir="5400000">
              <a:srgbClr val="7A4A30">
                <a:alpha val="14000"/>
              </a:srgbClr>
            </a:outerShdw>
          </a:effectLst>
        </p:spPr>
      </p:sp>
      <p:sp>
        <p:nvSpPr>
          <p:cNvPr id="53" name="Text 43"/>
          <p:cNvSpPr txBox="1"/>
          <p:nvPr/>
        </p:nvSpPr>
        <p:spPr>
          <a:xfrm>
            <a:off x="777240" y="5870448"/>
            <a:ext cx="10698480" cy="438912"/>
          </a:xfrm>
          <a:prstGeom prst="rect">
            <a:avLst/>
          </a:prstGeom>
          <a:noFill/>
          <a:ln/>
        </p:spPr>
        <p:txBody>
          <a:bodyPr wrap="square" lIns="0" tIns="0" rIns="0" bIns="0" rtlCol="0" anchor="ctr"/>
          <a:lstStyle/>
          <a:p>
            <a:pPr indent="0" marL="0">
              <a:buNone/>
            </a:pPr>
            <a:r>
              <a:rPr lang="en-US" sz="1250" b="1" dirty="0">
                <a:solidFill>
                  <a:schemeClr val="accent3"/>
                </a:solidFill>
              </a:rPr>
              <a:t>Criterios de una feria pagada: </a:t>
            </a:r>
            <a:pPr indent="0" marL="0">
              <a:buNone/>
            </a:pPr>
            <a:r>
              <a:rPr lang="en-US" sz="1250" dirty="0">
                <a:solidFill>
                  <a:schemeClr val="bg1"/>
                </a:solidFill>
              </a:rPr>
              <a:t>padres con hijos de 4 a 11 · buscan comida saludable · temporada escolar · en Lima Top o Moderna</a:t>
            </a:r>
            <a:endParaRPr lang="en-US" sz="1250" dirty="0"/>
          </a:p>
        </p:txBody>
      </p:sp>
      <p:sp>
        <p:nvSpPr>
          <p:cNvPr id="25" name="Slide Number Placeholder 0"/>
          <p:cNvSpPr>
            <a:spLocks noGrp="1"/>
          </p:cNvSpPr>
          <p:nvPr>
            <p:ph type="sldNum" sz="quarter" idx="4294967295"/>
          </p:nvPr>
        </p:nvSpPr>
        <p:spPr>
          <a:xfrm>
            <a:off x="11430000"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3A2A"/>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731520" y="822960"/>
            <a:ext cx="6766560" cy="320040"/>
          </a:xfrm>
          <a:prstGeom prst="rect">
            <a:avLst/>
          </a:prstGeom>
          <a:noFill/>
          <a:ln/>
        </p:spPr>
        <p:txBody>
          <a:bodyPr wrap="square" lIns="0" tIns="0" rIns="0" bIns="0" rtlCol="0" anchor="t"/>
          <a:lstStyle/>
          <a:p>
            <a:pPr indent="0" marL="0">
              <a:buNone/>
            </a:pPr>
            <a:r>
              <a:rPr lang="en-US" sz="1300" b="1" spc="200" kern="0" dirty="0">
                <a:solidFill>
                  <a:schemeClr val="accent3"/>
                </a:solidFill>
              </a:rPr>
              <a:t>PROPUESTA DE VALOR EN UNA FRASE</a:t>
            </a:r>
            <a:endParaRPr lang="en-US" sz="1300" dirty="0"/>
          </a:p>
        </p:txBody>
      </p:sp>
      <p:sp>
        <p:nvSpPr>
          <p:cNvPr id="3" name="Text 0"/>
          <p:cNvSpPr/>
          <p:nvPr>
            <p:ph idx="100" type="title" hasCustomPrompt="1"/>
          </p:nvPr>
        </p:nvSpPr>
        <p:spPr>
          <a:xfrm>
            <a:off x="731520" y="1234440"/>
            <a:ext cx="6766560" cy="1463040"/>
          </a:xfrm>
          <a:prstGeom prst="rect">
            <a:avLst/>
          </a:prstGeom>
          <a:noFill/>
          <a:ln/>
        </p:spPr>
        <p:txBody>
          <a:bodyPr wrap="square" lIns="0" tIns="0" rIns="0" bIns="0" rtlCol="0" anchor="t"/>
          <a:lstStyle/>
          <a:p>
            <a:pPr algn="l" indent="0" marL="0">
              <a:buNone/>
            </a:pPr>
            <a:r>
              <a:rPr lang="en-US" sz="4800" b="1" dirty="0">
                <a:solidFill>
                  <a:schemeClr val="bg2"/>
                </a:solidFill>
              </a:rPr>
              <a:t>Hierro medido. Sabor a brownie.</a:t>
            </a:r>
            <a:endParaRPr lang="en-US" sz="4800" dirty="0"/>
          </a:p>
        </p:txBody>
      </p:sp>
      <p:sp>
        <p:nvSpPr>
          <p:cNvPr id="4" name="Text 2"/>
          <p:cNvSpPr txBox="1"/>
          <p:nvPr/>
        </p:nvSpPr>
        <p:spPr>
          <a:xfrm>
            <a:off x="731520" y="2834640"/>
            <a:ext cx="6766560" cy="457200"/>
          </a:xfrm>
          <a:prstGeom prst="rect">
            <a:avLst/>
          </a:prstGeom>
          <a:noFill/>
          <a:ln/>
        </p:spPr>
        <p:txBody>
          <a:bodyPr wrap="square" lIns="0" tIns="0" rIns="0" bIns="0" rtlCol="0" anchor="t"/>
          <a:lstStyle/>
          <a:p>
            <a:pPr indent="0" marL="0">
              <a:buNone/>
            </a:pPr>
            <a:r>
              <a:rPr lang="en-US" sz="2400" b="1" dirty="0">
                <a:solidFill>
                  <a:schemeClr val="accent5"/>
                </a:solidFill>
              </a:rPr>
              <a:t>El snack de lonchera que tu hijo sí se come</a:t>
            </a:r>
            <a:endParaRPr lang="en-US" sz="2400" dirty="0"/>
          </a:p>
        </p:txBody>
      </p:sp>
      <p:sp>
        <p:nvSpPr>
          <p:cNvPr id="5" name="Text 3"/>
          <p:cNvSpPr txBox="1"/>
          <p:nvPr/>
        </p:nvSpPr>
        <p:spPr>
          <a:xfrm>
            <a:off x="731520" y="3474720"/>
            <a:ext cx="6766560" cy="914400"/>
          </a:xfrm>
          <a:prstGeom prst="rect">
            <a:avLst/>
          </a:prstGeom>
          <a:noFill/>
          <a:ln/>
        </p:spPr>
        <p:txBody>
          <a:bodyPr wrap="square" lIns="0" tIns="0" rIns="0" bIns="0" rtlCol="0" anchor="t"/>
          <a:lstStyle/>
          <a:p>
            <a:pPr indent="0" marL="0">
              <a:buNone/>
            </a:pPr>
            <a:r>
              <a:rPr lang="en-US" sz="1700" dirty="0">
                <a:solidFill>
                  <a:schemeClr val="bg2"/>
                </a:solidFill>
              </a:rPr>
              <a:t>Para padres planificados que leen etiquetas: mini brownie de 20 g con sangrecita, hierro medido por lote y la app Andi, que acompaña a la familia.</a:t>
            </a:r>
            <a:endParaRPr lang="en-US" sz="1700" dirty="0"/>
          </a:p>
        </p:txBody>
      </p:sp>
      <p:sp>
        <p:nvSpPr>
          <p:cNvPr id="6" name="Text 4"/>
          <p:cNvSpPr txBox="1"/>
          <p:nvPr/>
        </p:nvSpPr>
        <p:spPr>
          <a:xfrm>
            <a:off x="731520" y="5074920"/>
            <a:ext cx="676656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PRÓXIMOS PASOS</a:t>
            </a:r>
            <a:endParaRPr lang="en-US" sz="1200" dirty="0"/>
          </a:p>
        </p:txBody>
      </p:sp>
      <p:sp>
        <p:nvSpPr>
          <p:cNvPr id="7" name="Shape 5"/>
          <p:cNvSpPr/>
          <p:nvPr/>
        </p:nvSpPr>
        <p:spPr>
          <a:xfrm>
            <a:off x="731520" y="5440680"/>
            <a:ext cx="2240280" cy="502920"/>
          </a:xfrm>
          <a:prstGeom prst="roundRect">
            <a:avLst>
              <a:gd name="adj" fmla="val 49091"/>
            </a:avLst>
          </a:prstGeom>
          <a:solidFill>
            <a:schemeClr val="accent2"/>
          </a:solidFill>
          <a:ln w="12700">
            <a:solidFill>
              <a:schemeClr val="accent5"/>
            </a:solidFill>
            <a:prstDash val="solid"/>
          </a:ln>
        </p:spPr>
      </p:sp>
      <p:sp>
        <p:nvSpPr>
          <p:cNvPr id="8" name="Text 6"/>
          <p:cNvSpPr txBox="1"/>
          <p:nvPr/>
        </p:nvSpPr>
        <p:spPr>
          <a:xfrm>
            <a:off x="731520" y="5440680"/>
            <a:ext cx="2240280" cy="502920"/>
          </a:xfrm>
          <a:prstGeom prst="rect">
            <a:avLst/>
          </a:prstGeom>
          <a:noFill/>
          <a:ln/>
        </p:spPr>
        <p:txBody>
          <a:bodyPr wrap="square" lIns="0" tIns="0" rIns="0" bIns="0" rtlCol="0" anchor="ctr"/>
          <a:lstStyle/>
          <a:p>
            <a:pPr algn="ctr" indent="0" marL="0">
              <a:buNone/>
            </a:pPr>
            <a:r>
              <a:rPr lang="en-US" sz="1300" b="1" dirty="0">
                <a:solidFill>
                  <a:schemeClr val="bg2"/>
                </a:solidFill>
              </a:rPr>
              <a:t>Cargar el focus 2</a:t>
            </a:r>
            <a:endParaRPr lang="en-US" sz="1300" dirty="0"/>
          </a:p>
        </p:txBody>
      </p:sp>
      <p:sp>
        <p:nvSpPr>
          <p:cNvPr id="9" name="Shape 7"/>
          <p:cNvSpPr/>
          <p:nvPr/>
        </p:nvSpPr>
        <p:spPr>
          <a:xfrm>
            <a:off x="3063240" y="5440680"/>
            <a:ext cx="2240280" cy="502920"/>
          </a:xfrm>
          <a:prstGeom prst="roundRect">
            <a:avLst>
              <a:gd name="adj" fmla="val 49091"/>
            </a:avLst>
          </a:prstGeom>
          <a:solidFill>
            <a:schemeClr val="accent2"/>
          </a:solidFill>
          <a:ln w="12700">
            <a:solidFill>
              <a:schemeClr val="accent5"/>
            </a:solidFill>
            <a:prstDash val="solid"/>
          </a:ln>
        </p:spPr>
      </p:sp>
      <p:sp>
        <p:nvSpPr>
          <p:cNvPr id="10" name="Text 8"/>
          <p:cNvSpPr txBox="1"/>
          <p:nvPr/>
        </p:nvSpPr>
        <p:spPr>
          <a:xfrm>
            <a:off x="3063240" y="5440680"/>
            <a:ext cx="2240280" cy="502920"/>
          </a:xfrm>
          <a:prstGeom prst="rect">
            <a:avLst/>
          </a:prstGeom>
          <a:noFill/>
          <a:ln/>
        </p:spPr>
        <p:txBody>
          <a:bodyPr wrap="square" lIns="0" tIns="0" rIns="0" bIns="0" rtlCol="0" anchor="ctr"/>
          <a:lstStyle/>
          <a:p>
            <a:pPr algn="ctr" indent="0" marL="0">
              <a:buNone/>
            </a:pPr>
            <a:r>
              <a:rPr lang="en-US" sz="1300" b="1" dirty="0">
                <a:solidFill>
                  <a:schemeClr val="bg2"/>
                </a:solidFill>
              </a:rPr>
              <a:t>Cotizar ferias y stands</a:t>
            </a:r>
            <a:endParaRPr lang="en-US" sz="1300" dirty="0"/>
          </a:p>
        </p:txBody>
      </p:sp>
      <p:sp>
        <p:nvSpPr>
          <p:cNvPr id="11" name="Shape 9"/>
          <p:cNvSpPr/>
          <p:nvPr/>
        </p:nvSpPr>
        <p:spPr>
          <a:xfrm>
            <a:off x="5394960" y="5440680"/>
            <a:ext cx="2240280" cy="502920"/>
          </a:xfrm>
          <a:prstGeom prst="roundRect">
            <a:avLst>
              <a:gd name="adj" fmla="val 49091"/>
            </a:avLst>
          </a:prstGeom>
          <a:solidFill>
            <a:schemeClr val="accent2"/>
          </a:solidFill>
          <a:ln w="12700">
            <a:solidFill>
              <a:schemeClr val="accent5"/>
            </a:solidFill>
            <a:prstDash val="solid"/>
          </a:ln>
        </p:spPr>
      </p:sp>
      <p:sp>
        <p:nvSpPr>
          <p:cNvPr id="12" name="Text 10"/>
          <p:cNvSpPr txBox="1"/>
          <p:nvPr/>
        </p:nvSpPr>
        <p:spPr>
          <a:xfrm>
            <a:off x="5394960" y="5440680"/>
            <a:ext cx="2240280" cy="502920"/>
          </a:xfrm>
          <a:prstGeom prst="rect">
            <a:avLst/>
          </a:prstGeom>
          <a:noFill/>
          <a:ln/>
        </p:spPr>
        <p:txBody>
          <a:bodyPr wrap="square" lIns="0" tIns="0" rIns="0" bIns="0" rtlCol="0" anchor="ctr"/>
          <a:lstStyle/>
          <a:p>
            <a:pPr algn="ctr" indent="0" marL="0">
              <a:buNone/>
            </a:pPr>
            <a:r>
              <a:rPr lang="en-US" sz="1300" b="1" dirty="0">
                <a:solidFill>
                  <a:schemeClr val="bg2"/>
                </a:solidFill>
              </a:rPr>
              <a:t>Probar la app con familias</a:t>
            </a:r>
            <a:endParaRPr lang="en-US" sz="1300" dirty="0"/>
          </a:p>
        </p:txBody>
      </p:sp>
      <p:sp>
        <p:nvSpPr>
          <p:cNvPr id="13" name="IMAGEN_4"/>
          <p:cNvSpPr/>
          <p:nvPr/>
        </p:nvSpPr>
        <p:spPr>
          <a:xfrm>
            <a:off x="8001000" y="685800"/>
            <a:ext cx="3611880" cy="5486400"/>
          </a:xfrm>
          <a:prstGeom prst="roundRect">
            <a:avLst>
              <a:gd name="adj" fmla="val 3797"/>
            </a:avLst>
          </a:prstGeom>
          <a:solidFill>
            <a:schemeClr val="accent2"/>
          </a:solidFill>
          <a:ln w="19050">
            <a:solidFill>
              <a:schemeClr val="accent5"/>
            </a:solidFill>
            <a:prstDash val="dash"/>
          </a:ln>
        </p:spPr>
      </p:sp>
      <p:pic>
        <p:nvPicPr>
          <p:cNvPr id="14" name="Image 0" descr="preencoded.png">    </p:cNvPr>
          <p:cNvPicPr>
            <a:picLocks noChangeAspect="1"/>
          </p:cNvPicPr>
          <p:nvPr/>
        </p:nvPicPr>
        <p:blipFill>
          <a:blip r:embed="rId1"/>
          <a:stretch>
            <a:fillRect/>
          </a:stretch>
        </p:blipFill>
        <p:spPr>
          <a:xfrm>
            <a:off x="9441180" y="2514600"/>
            <a:ext cx="731520" cy="731520"/>
          </a:xfrm>
          <a:prstGeom prst="rect">
            <a:avLst/>
          </a:prstGeom>
        </p:spPr>
      </p:pic>
      <p:sp>
        <p:nvSpPr>
          <p:cNvPr id="15" name="Text 12"/>
          <p:cNvSpPr txBox="1"/>
          <p:nvPr/>
        </p:nvSpPr>
        <p:spPr>
          <a:xfrm>
            <a:off x="8183880" y="3429000"/>
            <a:ext cx="3246120" cy="1097280"/>
          </a:xfrm>
          <a:prstGeom prst="rect">
            <a:avLst/>
          </a:prstGeom>
          <a:noFill/>
          <a:ln/>
        </p:spPr>
        <p:txBody>
          <a:bodyPr wrap="square" lIns="0" tIns="0" rIns="0" bIns="0" rtlCol="0" anchor="t"/>
          <a:lstStyle/>
          <a:p>
            <a:pPr algn="ctr" indent="0" marL="0">
              <a:buNone/>
            </a:pPr>
            <a:r>
              <a:rPr lang="en-US" sz="1600" b="1" dirty="0">
                <a:solidFill>
                  <a:schemeClr val="bg2"/>
                </a:solidFill>
              </a:rPr>
              <a:t>IMAGEN 4</a:t>
            </a:r>
            <a:endParaRPr lang="en-US" sz="1400" dirty="0"/>
          </a:p>
          <a:p>
            <a:pPr algn="ctr" indent="0" marL="0">
              <a:buNone/>
            </a:pPr>
            <a:r>
              <a:rPr lang="en-US" sz="1300" dirty="0">
                <a:solidFill>
                  <a:schemeClr val="bg2"/>
                </a:solidFill>
              </a:rPr>
              <a:t>Niño abriendo su lonchera con AndiBite</a:t>
            </a:r>
            <a:endParaRPr lang="en-US" sz="1400" dirty="0"/>
          </a:p>
          <a:p>
            <a:pPr algn="ctr" indent="0" marL="0">
              <a:buNone/>
            </a:pPr>
            <a:r>
              <a:rPr lang="en-US" sz="1100" i="1" dirty="0">
                <a:solidFill>
                  <a:schemeClr val="bg2"/>
                </a:solidFill>
              </a:rPr>
              <a:t>Prompt en las notas del orador</a:t>
            </a:r>
            <a:endParaRPr lang="en-US" sz="1400" dirty="0"/>
          </a:p>
        </p:txBody>
      </p:sp>
    </p:spTree>
  </p:cSld>
  <p:clrMapOvr>
    <a:masterClrMapping/>
  </p:clrMapOvr>
</p:sld>
</file>

<file path=ppt/theme/theme1.xml><?xml version="1.0" encoding="utf-8"?>
<a:theme xmlns:a="http://schemas.openxmlformats.org/drawingml/2006/main" name="AndiBite">
  <a:themeElements>
    <a:clrScheme name="AndiBite">
      <a:dk1>
        <a:srgbClr val="3B1A14"/>
      </a:dk1>
      <a:lt1>
        <a:srgbClr val="FFFFFF"/>
      </a:lt1>
      <a:dk2>
        <a:srgbClr val="4A2018"/>
      </a:dk2>
      <a:lt2>
        <a:srgbClr val="FBF3E8"/>
      </a:lt2>
      <a:accent1>
        <a:srgbClr val="BA4036"/>
      </a:accent1>
      <a:accent2>
        <a:srgbClr val="6B3A2A"/>
      </a:accent2>
      <a:accent3>
        <a:srgbClr val="E3A33B"/>
      </a:accent3>
      <a:accent4>
        <a:srgbClr val="7C8A3A"/>
      </a:accent4>
      <a:accent5>
        <a:srgbClr val="D9B48F"/>
      </a:accent5>
      <a:accent6>
        <a:srgbClr val="8A1C2B"/>
      </a:accent6>
      <a:hlink>
        <a:srgbClr val="BA4036"/>
      </a:hlink>
      <a:folHlink>
        <a:srgbClr val="8A1C2B"/>
      </a:folHlink>
    </a:clrScheme>
    <a:fontScheme name="AndiBit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AndiBite — Trabajos de campo 5 a 8</dc:title>
  <dc:subject>PptxGenJS Presentation</dc:subject>
  <dc:creator>Grupo 2</dc:creator>
  <cp:lastModifiedBy>Grupo 2</cp:lastModifiedBy>
  <cp:revision>1</cp:revision>
  <dcterms:created xsi:type="dcterms:W3CDTF">2026-10-10T19:35:02Z</dcterms:created>
  <dcterms:modified xsi:type="dcterms:W3CDTF">2026-10-10T19:35:02Z</dcterms:modified>
</cp:coreProperties>
</file>