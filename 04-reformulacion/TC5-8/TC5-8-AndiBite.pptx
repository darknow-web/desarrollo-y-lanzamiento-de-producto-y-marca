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1.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charts/chart2.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charts/chart3.xml" ContentType="application/vnd.openxmlformats-officedocument.drawingml.chart+xml"/>
  <Override PartName="/ppt/charts/chart4.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charts/chart5.xml" ContentType="application/vnd.openxmlformats-officedocument.drawingml.chart+xml"/>
  <Override PartName="/ppt/charts/chart6.xml" ContentType="application/vnd.openxmlformats-officedocument.drawingml.chart+xml"/>
  <Override PartName="/ppt/slideMasters/slideMaster23.xml" ContentType="application/vnd.openxmlformats-officedocument.presentationml.slideMaster+xml"/>
  <Override PartName="/ppt/slides/slide23.xml" ContentType="application/vnd.openxmlformats-officedocument.presentationml.slide+xml"/>
  <Override PartName="/ppt/charts/chart7.xml" ContentType="application/vnd.openxmlformats-officedocument.drawingml.chart+xml"/>
  <Override PartName="/ppt/slideMasters/slideMaster24.xml" ContentType="application/vnd.openxmlformats-officedocument.presentationml.slideMaster+xml"/>
  <Override PartName="/ppt/slides/slide24.xml" ContentType="application/vnd.openxmlformats-officedocument.presentationml.slide+xml"/>
  <Override PartName="/ppt/charts/chart8.xml" ContentType="application/vnd.openxmlformats-officedocument.drawingml.chart+xml"/>
  <Override PartName="/ppt/charts/chart9.xml" ContentType="application/vnd.openxmlformats-officedocument.drawingml.chart+xml"/>
  <Override PartName="/ppt/slideMasters/slideMaster25.xml" ContentType="application/vnd.openxmlformats-officedocument.presentationml.slideMaster+xml"/>
  <Override PartName="/ppt/slides/slide25.xml" ContentType="application/vnd.openxmlformats-officedocument.presentationml.slide+xml"/>
  <Override PartName="/ppt/charts/chart10.xml" ContentType="application/vnd.openxmlformats-officedocument.drawingml.chart+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charts/chart11.xml" ContentType="application/vnd.openxmlformats-officedocument.drawingml.chart+xml"/>
  <Override PartName="/ppt/slideMasters/slideMaster31.xml" ContentType="application/vnd.openxmlformats-officedocument.presentationml.slideMaster+xml"/>
  <Override PartName="/ppt/slides/slide3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Lst>
  <p:notesMasterIdLst>
    <p:notesMasterId r:id="rId3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ortada" id="{56d53f48-44a9-2d7c-d955-bdd458da64df}">
          <p14:sldIdLst>
            <p14:sldId id="256"/>
            <p14:sldId id="257"/>
          </p14:sldIdLst>
        </p14:section>
        <p14:section name="TC5 · Cliente, mercado y canal" id="{467ba15c-1258-fca0-63c5-94fa21126b28}">
          <p14:sldIdLst>
            <p14:sldId id="258"/>
            <p14:sldId id="259"/>
            <p14:sldId id="260"/>
            <p14:sldId id="261"/>
            <p14:sldId id="262"/>
            <p14:sldId id="263"/>
            <p14:sldId id="264"/>
            <p14:sldId id="265"/>
            <p14:sldId id="266"/>
            <p14:sldId id="267"/>
          </p14:sldIdLst>
        </p14:section>
        <p14:section name="TC6 · Relación e ingresos" id="{a8e4e0b2-7964-4ba9-4aff-f522ef9d5a5d}">
          <p14:sldIdLst>
            <p14:sldId id="268"/>
            <p14:sldId id="269"/>
            <p14:sldId id="270"/>
            <p14:sldId id="271"/>
            <p14:sldId id="272"/>
          </p14:sldIdLst>
        </p14:section>
        <p14:section name="TC7 · Canvas" id="{8b658756-a103-a5aa-889a-43ea0c71625e}">
          <p14:sldIdLst>
            <p14:sldId id="273"/>
            <p14:sldId id="274"/>
            <p14:sldId id="275"/>
            <p14:sldId id="276"/>
            <p14:sldId id="277"/>
            <p14:sldId id="278"/>
            <p14:sldId id="279"/>
            <p14:sldId id="280"/>
            <p14:sldId id="281"/>
          </p14:sldIdLst>
        </p14:section>
        <p14:section name="TC8 · Propuesta de valor" id="{a259d8b3-4563-e6fb-0689-da0936f60cf1}">
          <p14:sldIdLst>
            <p14:sldId id="282"/>
            <p14:sldId id="283"/>
            <p14:sldId id="284"/>
            <p14:sldId id="285"/>
          </p14:sldIdLst>
        </p14:section>
        <p14:section name="Cierre" id="{dfee8523-33dd-b929-6456-35e158d1c87f}">
          <p14:sldIdLst>
            <p14:sldId id="28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notesMaster" Target="notesMasters/notesMaster1.xml"/><Relationship Id="rId34" Type="http://schemas.openxmlformats.org/officeDocument/2006/relationships/presProps" Target="presProps.xml"/><Relationship Id="rId35" Type="http://schemas.openxmlformats.org/officeDocument/2006/relationships/viewProps" Target="viewProps.xml"/><Relationship Id="rId36" Type="http://schemas.openxmlformats.org/officeDocument/2006/relationships/theme" Target="theme/theme1.xml"/><Relationship Id="rId3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1" i="0" u="none" strike="noStrike">
                <a:solidFill>
                  <a:srgbClr val="4A2018"/>
                </a:solidFill>
                <a:latin typeface="+mn-lt"/>
              </a:defRPr>
            </a:pPr>
            <a:r>
              <a:rPr sz="1500" b="1" i="0" u="none" strike="noStrike">
                <a:solidFill>
                  <a:srgbClr val="4A2018"/>
                </a:solidFill>
                <a:latin typeface="+mn-lt"/>
              </a:rPr>
              <a:t>Unidades del año 1 por canal</a:t>
            </a:r>
          </a:p>
        </c:rich>
      </c:tx>
      <c:layout/>
      <c:overlay val="0"/>
    </c:title>
    <c:autoTitleDeleted val="0"/>
    <c:plotArea>
      <c:layout/>
      <c:doughnutChart>
        <c:varyColors val="1"/>
        <c:ser>
          <c:idx val="0"/>
          <c:order val="0"/>
          <c:tx>
            <c:strRef>
              <c:f>Sheet1!$B$1</c:f>
              <c:strCache>
                <c:ptCount val="1"/>
                <c:pt idx="0">
                  <c:v>Unidades</c:v>
                </c:pt>
              </c:strCache>
            </c:strRef>
          </c:tx>
          <c:spPr>
            <a:solidFill>
              <a:schemeClr val="accent1"/>
            </a:solidFill>
            <a:ln w="9525" cap="flat">
              <a:solidFill>
                <a:srgbClr val="F9F9F9"/>
              </a:solidFill>
              <a:prstDash val="solid"/>
              <a:round/>
            </a:ln>
            <a:effectLst/>
          </c:spPr>
          <c:dPt>
            <c:idx val="0"/>
            <c:bubble3D val="0"/>
            <c:spPr>
              <a:solidFill>
                <a:srgbClr val="BA4036"/>
              </a:solidFill>
              <a:effectLst/>
            </c:spPr>
          </c:dPt>
          <c:dPt>
            <c:idx val="1"/>
            <c:bubble3D val="0"/>
            <c:spPr>
              <a:solidFill>
                <a:srgbClr val="6B3A2A"/>
              </a:solidFill>
              <a:effectLst/>
            </c:spPr>
          </c:dPt>
          <c:dPt>
            <c:idx val="2"/>
            <c:bubble3D val="0"/>
            <c:spPr>
              <a:solidFill>
                <a:srgbClr val="E3A33B"/>
              </a:solidFill>
              <a:effectLst/>
            </c:spPr>
          </c:dPt>
          <c:dPt>
            <c:idx val="3"/>
            <c:bubble3D val="0"/>
            <c:spPr>
              <a:solidFill>
                <a:srgbClr val="7C8A3A"/>
              </a:solidFill>
              <a:effectLst/>
            </c:spPr>
          </c:dPt>
          <c:dPt>
            <c:idx val="4"/>
            <c:bubble3D val="0"/>
            <c:spPr>
              <a:solidFill>
                <a:srgbClr val="D9B48F"/>
              </a:solidFill>
              <a:effectLst/>
            </c:spPr>
          </c:dPt>
          <c:dLbls>
            <c:dLbl>
              <c:idx val="0"/>
              <c:numFmt formatCode="0%" sourceLinked="0"/>
              <c:spPr/>
              <c:txPr>
                <a:bodyPr/>
                <a:lstStyle/>
                <a:p>
                  <a:pPr>
                    <a:defRPr sz="1300" b="1" i="0" u="none" strike="noStrike">
                      <a:solidFill>
                        <a:srgbClr val="FFFFFF"/>
                      </a:solidFill>
                      <a:latin typeface="+mn-lt"/>
                    </a:defRPr>
                  </a:pPr>
                </a:p>
              </c:txPr>
              <c:showLegendKey val="0"/>
              <c:showVal val="0"/>
              <c:showCatName val="0"/>
              <c:showSerName val="0"/>
              <c:showPercent val="1"/>
              <c:showBubbleSize val="0"/>
            </c:dLbl>
            <c:dLbl>
              <c:idx val="1"/>
              <c:numFmt formatCode="0%" sourceLinked="0"/>
              <c:spPr/>
              <c:txPr>
                <a:bodyPr/>
                <a:lstStyle/>
                <a:p>
                  <a:pPr>
                    <a:defRPr sz="1300" b="1" i="0" u="none" strike="noStrike">
                      <a:solidFill>
                        <a:srgbClr val="FFFFFF"/>
                      </a:solidFill>
                      <a:latin typeface="+mn-lt"/>
                    </a:defRPr>
                  </a:pPr>
                </a:p>
              </c:txPr>
              <c:showLegendKey val="0"/>
              <c:showVal val="0"/>
              <c:showCatName val="0"/>
              <c:showSerName val="0"/>
              <c:showPercent val="1"/>
              <c:showBubbleSize val="0"/>
            </c:dLbl>
            <c:dLbl>
              <c:idx val="2"/>
              <c:numFmt formatCode="0%" sourceLinked="0"/>
              <c:spPr/>
              <c:txPr>
                <a:bodyPr/>
                <a:lstStyle/>
                <a:p>
                  <a:pPr>
                    <a:defRPr sz="1300" b="1" i="0" u="none" strike="noStrike">
                      <a:solidFill>
                        <a:srgbClr val="FFFFFF"/>
                      </a:solidFill>
                      <a:latin typeface="+mn-lt"/>
                    </a:defRPr>
                  </a:pPr>
                </a:p>
              </c:txPr>
              <c:showLegendKey val="0"/>
              <c:showVal val="0"/>
              <c:showCatName val="0"/>
              <c:showSerName val="0"/>
              <c:showPercent val="1"/>
              <c:showBubbleSize val="0"/>
            </c:dLbl>
            <c:dLbl>
              <c:idx val="3"/>
              <c:numFmt formatCode="0%" sourceLinked="0"/>
              <c:spPr/>
              <c:txPr>
                <a:bodyPr/>
                <a:lstStyle/>
                <a:p>
                  <a:pPr>
                    <a:defRPr sz="1300" b="1" i="0" u="none" strike="noStrike">
                      <a:solidFill>
                        <a:srgbClr val="FFFFFF"/>
                      </a:solidFill>
                      <a:latin typeface="+mn-lt"/>
                    </a:defRPr>
                  </a:pPr>
                </a:p>
              </c:txPr>
              <c:showLegendKey val="0"/>
              <c:showVal val="0"/>
              <c:showCatName val="0"/>
              <c:showSerName val="0"/>
              <c:showPercent val="1"/>
              <c:showBubbleSize val="0"/>
            </c:dLbl>
            <c:dLbl>
              <c:idx val="4"/>
              <c:numFmt formatCode="0%" sourceLinked="0"/>
              <c:spPr/>
              <c:txPr>
                <a:bodyPr/>
                <a:lstStyle/>
                <a:p>
                  <a:pPr>
                    <a:defRPr sz="1300" b="1" i="0" u="none" strike="noStrike">
                      <a:solidFill>
                        <a:srgbClr val="FFFFFF"/>
                      </a:solidFill>
                      <a:latin typeface="+mn-lt"/>
                    </a:defRPr>
                  </a:pPr>
                </a:p>
              </c:txPr>
              <c:showLegendKey val="0"/>
              <c:showVal val="0"/>
              <c:showCatName val="0"/>
              <c:showSerName val="0"/>
              <c:showPercent val="1"/>
              <c:showBubbleSize val="0"/>
            </c:dLbl>
            <c:numFmt formatCode="0%" sourceLinked="0"/>
            <c:txPr>
              <a:bodyPr/>
              <a:lstStyle/>
              <a:p>
                <a:pPr>
                  <a:defRPr sz="1800" b="1" i="0" u="none" strike="noStrike">
                    <a:solidFill>
                      <a:srgbClr val="000000"/>
                    </a:solidFill>
                    <a:latin typeface="Arial"/>
                  </a:defRPr>
                </a:pPr>
              </a:p>
            </c:txPr>
            <c:showLegendKey val="0"/>
            <c:showVal val="0"/>
            <c:showCatName val="1"/>
            <c:showSerName val="0"/>
            <c:showPercent val="1"/>
            <c:showBubbleSize val="0"/>
            <c:showLeaderLines val="0"/>
          </c:dLbls>
          <c:cat>
            <c:strRef>
              <c:f>Sheet1!$A$2:$A$6</c:f>
              <c:strCache>
                <c:ptCount val="5"/>
                <c:pt idx="0">
                  <c:v>Stands y carritos</c:v>
                </c:pt>
                <c:pt idx="1">
                  <c:v>WhatsApp (recompra)</c:v>
                </c:pt>
                <c:pt idx="2">
                  <c:v>Ferias y eventos</c:v>
                </c:pt>
                <c:pt idx="3">
                  <c:v>Quioscos escolares</c:v>
                </c:pt>
                <c:pt idx="4">
                  <c:v>Tiendas naturistas</c:v>
                </c:pt>
              </c:strCache>
            </c:strRef>
          </c:cat>
          <c:val>
            <c:numRef>
              <c:f>Sheet1!$B$2:$B$6</c:f>
              <c:numCache>
                <c:ptCount val="5"/>
                <c:pt idx="0">
                  <c:v>22625</c:v>
                </c:pt>
                <c:pt idx="1">
                  <c:v>9176</c:v>
                </c:pt>
                <c:pt idx="2">
                  <c:v>8100</c:v>
                </c:pt>
                <c:pt idx="3">
                  <c:v>9165</c:v>
                </c:pt>
                <c:pt idx="4">
                  <c:v>3720</c:v>
                </c:pt>
              </c:numCache>
            </c:numRef>
          </c:val>
        </c:ser>
        <c:firstSliceAng val="0"/>
        <c:holeSize val="55"/>
      </c:doughnutChart>
      <c:spPr>
        <a:noFill/>
        <a:ln>
          <a:noFill/>
        </a:ln>
        <a:effectLst/>
      </c:spPr>
    </c:plotArea>
    <c:legend>
      <c:legendPos val="b"/>
      <c:overlay val="0"/>
      <c:txPr>
        <a:bodyPr/>
        <a:lstStyle/>
        <a:p>
          <a:pPr>
            <a:defRPr sz="1200">
              <a:solidFill>
                <a:srgbClr val="6B3A2A"/>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1" i="0" u="none" strike="noStrike">
                <a:solidFill>
                  <a:srgbClr val="4A2018"/>
                </a:solidFill>
                <a:latin typeface="+mn-lt"/>
              </a:defRPr>
            </a:pPr>
            <a:r>
              <a:rPr sz="1500" b="1" i="0" u="none" strike="noStrike">
                <a:solidFill>
                  <a:srgbClr val="4A2018"/>
                </a:solidFill>
                <a:latin typeface="+mn-lt"/>
              </a:rPr>
              <a:t>Brownies vendidos al mes por canal (enero a diciembre de 2027)</a:t>
            </a:r>
          </a:p>
        </c:rich>
      </c:tx>
      <c:layout/>
      <c:overlay val="0"/>
    </c:title>
    <c:autoTitleDeleted val="0"/>
    <c:plotArea>
      <c:layout/>
      <c:barChart>
        <c:barDir val="col"/>
        <c:grouping val="stacked"/>
        <c:varyColors val="0"/>
        <c:ser>
          <c:idx val="0"/>
          <c:order val="0"/>
          <c:tx>
            <c:strRef>
              <c:f>Sheet1!$B$1</c:f>
              <c:strCache>
                <c:ptCount val="1"/>
                <c:pt idx="0">
                  <c:v>Stands y carritos</c:v>
                </c:pt>
              </c:strCache>
            </c:strRef>
          </c:tx>
          <c:spPr>
            <a:solidFill>
              <a:srgbClr val="BA4036"/>
            </a:solidFill>
            <a:effectLst/>
          </c:spPr>
          <c:invertIfNegative val="0"/>
          <c:dLbls>
            <c:numFmt formatCode="#,##0" sourceLinked="0"/>
            <c:txPr>
              <a:bodyPr/>
              <a:lstStyle/>
              <a:p>
                <a:pPr>
                  <a:defRPr b="0" i="0" strike="noStrike" sz="1200" u="none">
                    <a:solidFill>
                      <a:srgbClr val="3B1A14"/>
                    </a:solidFill>
                    <a:latin typeface="+mn-lt"/>
                  </a:defRPr>
                </a:pPr>
              </a:p>
            </c:txPr>
            <c:showLegendKey val="0"/>
            <c:showVal val="0"/>
            <c:showCatName val="0"/>
            <c:showSerName val="0"/>
            <c:showPercent val="0"/>
            <c:showBubbleSize val="0"/>
            <c:showLeaderLines val="0"/>
          </c:dLbls>
          <c:cat>
            <c:multiLvlStrRef>
              <c:f>Sheet1!$A$2:$A$13</c:f>
              <c:multiLvlStrCache>
                <c:ptCount val="12"/>
                <c:lvl>
                  <c:pt idx="0">
                    <c:v>Ene</c:v>
                  </c:pt>
                  <c:pt idx="1">
                    <c:v>Feb</c:v>
                  </c:pt>
                  <c:pt idx="2">
                    <c:v>Mar</c:v>
                  </c:pt>
                  <c:pt idx="3">
                    <c:v>Abr</c:v>
                  </c:pt>
                  <c:pt idx="4">
                    <c:v>May</c:v>
                  </c:pt>
                  <c:pt idx="5">
                    <c:v>Jun</c:v>
                  </c:pt>
                  <c:pt idx="6">
                    <c:v>Jul</c:v>
                  </c:pt>
                  <c:pt idx="7">
                    <c:v>Ago</c:v>
                  </c:pt>
                  <c:pt idx="8">
                    <c:v>Set</c:v>
                  </c:pt>
                  <c:pt idx="9">
                    <c:v>Oct</c:v>
                  </c:pt>
                  <c:pt idx="10">
                    <c:v>Nov</c:v>
                  </c:pt>
                  <c:pt idx="11">
                    <c:v>Dic</c:v>
                  </c:pt>
                </c:lvl>
              </c:multiLvlStrCache>
            </c:multiLvlStrRef>
          </c:cat>
          <c:val>
            <c:numRef>
              <c:f>Sheet1!$B$2:$B$13</c:f>
              <c:numCache>
                <c:formatCode>General</c:formatCode>
                <c:ptCount val="12"/>
                <c:pt idx="0">
                  <c:v>450</c:v>
                </c:pt>
                <c:pt idx="1">
                  <c:v>1440</c:v>
                </c:pt>
                <c:pt idx="2">
                  <c:v>1800</c:v>
                </c:pt>
                <c:pt idx="3">
                  <c:v>1440</c:v>
                </c:pt>
                <c:pt idx="4">
                  <c:v>1530</c:v>
                </c:pt>
                <c:pt idx="5">
                  <c:v>1440</c:v>
                </c:pt>
                <c:pt idx="6">
                  <c:v>1700</c:v>
                </c:pt>
                <c:pt idx="7">
                  <c:v>2295</c:v>
                </c:pt>
                <c:pt idx="8">
                  <c:v>2430</c:v>
                </c:pt>
                <c:pt idx="9">
                  <c:v>2430</c:v>
                </c:pt>
                <c:pt idx="10">
                  <c:v>2430</c:v>
                </c:pt>
                <c:pt idx="11">
                  <c:v>3240</c:v>
                </c:pt>
              </c:numCache>
            </c:numRef>
          </c:val>
        </c:ser>
        <c:ser>
          <c:idx val="1"/>
          <c:order val="1"/>
          <c:tx>
            <c:strRef>
              <c:f>Sheet1!$C$1</c:f>
              <c:strCache>
                <c:ptCount val="1"/>
                <c:pt idx="0">
                  <c:v>Ferias y eventos</c:v>
                </c:pt>
              </c:strCache>
            </c:strRef>
          </c:tx>
          <c:spPr>
            <a:solidFill>
              <a:srgbClr val="E3A33B"/>
            </a:solidFill>
            <a:effectLst/>
          </c:spPr>
          <c:invertIfNegative val="0"/>
          <c:dLbls>
            <c:numFmt formatCode="#,##0" sourceLinked="0"/>
            <c:txPr>
              <a:bodyPr/>
              <a:lstStyle/>
              <a:p>
                <a:pPr>
                  <a:defRPr b="0" i="0" strike="noStrike" sz="1200" u="none">
                    <a:solidFill>
                      <a:srgbClr val="3B1A14"/>
                    </a:solidFill>
                    <a:latin typeface="+mn-lt"/>
                  </a:defRPr>
                </a:pPr>
              </a:p>
            </c:txPr>
            <c:showLegendKey val="0"/>
            <c:showVal val="0"/>
            <c:showCatName val="0"/>
            <c:showSerName val="0"/>
            <c:showPercent val="0"/>
            <c:showBubbleSize val="0"/>
            <c:showLeaderLines val="0"/>
          </c:dLbls>
          <c:cat>
            <c:multiLvlStrRef>
              <c:f>Sheet1!$A$2:$A$13</c:f>
              <c:multiLvlStrCache>
                <c:ptCount val="12"/>
                <c:lvl>
                  <c:pt idx="0">
                    <c:v>Ene</c:v>
                  </c:pt>
                  <c:pt idx="1">
                    <c:v>Feb</c:v>
                  </c:pt>
                  <c:pt idx="2">
                    <c:v>Mar</c:v>
                  </c:pt>
                  <c:pt idx="3">
                    <c:v>Abr</c:v>
                  </c:pt>
                  <c:pt idx="4">
                    <c:v>May</c:v>
                  </c:pt>
                  <c:pt idx="5">
                    <c:v>Jun</c:v>
                  </c:pt>
                  <c:pt idx="6">
                    <c:v>Jul</c:v>
                  </c:pt>
                  <c:pt idx="7">
                    <c:v>Ago</c:v>
                  </c:pt>
                  <c:pt idx="8">
                    <c:v>Set</c:v>
                  </c:pt>
                  <c:pt idx="9">
                    <c:v>Oct</c:v>
                  </c:pt>
                  <c:pt idx="10">
                    <c:v>Nov</c:v>
                  </c:pt>
                  <c:pt idx="11">
                    <c:v>Dic</c:v>
                  </c:pt>
                </c:lvl>
              </c:multiLvlStrCache>
            </c:multiLvlStrRef>
          </c:cat>
          <c:val>
            <c:numRef>
              <c:f>Sheet1!$C$2:$C$13</c:f>
              <c:numCache>
                <c:formatCode>General</c:formatCode>
                <c:ptCount val="12"/>
                <c:pt idx="0">
                  <c:v>150</c:v>
                </c:pt>
                <c:pt idx="1">
                  <c:v>1000</c:v>
                </c:pt>
                <c:pt idx="2">
                  <c:v>600</c:v>
                </c:pt>
                <c:pt idx="3">
                  <c:v>600</c:v>
                </c:pt>
                <c:pt idx="4">
                  <c:v>750</c:v>
                </c:pt>
                <c:pt idx="5">
                  <c:v>600</c:v>
                </c:pt>
                <c:pt idx="6">
                  <c:v>450</c:v>
                </c:pt>
                <c:pt idx="7">
                  <c:v>600</c:v>
                </c:pt>
                <c:pt idx="8">
                  <c:v>600</c:v>
                </c:pt>
                <c:pt idx="9">
                  <c:v>600</c:v>
                </c:pt>
                <c:pt idx="10">
                  <c:v>450</c:v>
                </c:pt>
                <c:pt idx="11">
                  <c:v>1700</c:v>
                </c:pt>
              </c:numCache>
            </c:numRef>
          </c:val>
        </c:ser>
        <c:ser>
          <c:idx val="2"/>
          <c:order val="2"/>
          <c:tx>
            <c:strRef>
              <c:f>Sheet1!$D$1</c:f>
              <c:strCache>
                <c:ptCount val="1"/>
                <c:pt idx="0">
                  <c:v>WhatsApp</c:v>
                </c:pt>
              </c:strCache>
            </c:strRef>
          </c:tx>
          <c:spPr>
            <a:solidFill>
              <a:srgbClr val="6B3A2A"/>
            </a:solidFill>
            <a:effectLst/>
          </c:spPr>
          <c:invertIfNegative val="0"/>
          <c:dLbls>
            <c:numFmt formatCode="#,##0" sourceLinked="0"/>
            <c:txPr>
              <a:bodyPr/>
              <a:lstStyle/>
              <a:p>
                <a:pPr>
                  <a:defRPr b="0" i="0" strike="noStrike" sz="1200" u="none">
                    <a:solidFill>
                      <a:srgbClr val="3B1A14"/>
                    </a:solidFill>
                    <a:latin typeface="+mn-lt"/>
                  </a:defRPr>
                </a:pPr>
              </a:p>
            </c:txPr>
            <c:showLegendKey val="0"/>
            <c:showVal val="0"/>
            <c:showCatName val="0"/>
            <c:showSerName val="0"/>
            <c:showPercent val="0"/>
            <c:showBubbleSize val="0"/>
            <c:showLeaderLines val="0"/>
          </c:dLbls>
          <c:cat>
            <c:multiLvlStrRef>
              <c:f>Sheet1!$A$2:$A$13</c:f>
              <c:multiLvlStrCache>
                <c:ptCount val="12"/>
                <c:lvl>
                  <c:pt idx="0">
                    <c:v>Ene</c:v>
                  </c:pt>
                  <c:pt idx="1">
                    <c:v>Feb</c:v>
                  </c:pt>
                  <c:pt idx="2">
                    <c:v>Mar</c:v>
                  </c:pt>
                  <c:pt idx="3">
                    <c:v>Abr</c:v>
                  </c:pt>
                  <c:pt idx="4">
                    <c:v>May</c:v>
                  </c:pt>
                  <c:pt idx="5">
                    <c:v>Jun</c:v>
                  </c:pt>
                  <c:pt idx="6">
                    <c:v>Jul</c:v>
                  </c:pt>
                  <c:pt idx="7">
                    <c:v>Ago</c:v>
                  </c:pt>
                  <c:pt idx="8">
                    <c:v>Set</c:v>
                  </c:pt>
                  <c:pt idx="9">
                    <c:v>Oct</c:v>
                  </c:pt>
                  <c:pt idx="10">
                    <c:v>Nov</c:v>
                  </c:pt>
                  <c:pt idx="11">
                    <c:v>Dic</c:v>
                  </c:pt>
                </c:lvl>
              </c:multiLvlStrCache>
            </c:multiLvlStrRef>
          </c:cat>
          <c:val>
            <c:numRef>
              <c:f>Sheet1!$D$2:$D$13</c:f>
              <c:numCache>
                <c:formatCode>General</c:formatCode>
                <c:ptCount val="12"/>
                <c:pt idx="0">
                  <c:v>150</c:v>
                </c:pt>
                <c:pt idx="1">
                  <c:v>210</c:v>
                </c:pt>
                <c:pt idx="2">
                  <c:v>854</c:v>
                </c:pt>
                <c:pt idx="3">
                  <c:v>840</c:v>
                </c:pt>
                <c:pt idx="4">
                  <c:v>714</c:v>
                </c:pt>
                <c:pt idx="5">
                  <c:v>798</c:v>
                </c:pt>
                <c:pt idx="6">
                  <c:v>714</c:v>
                </c:pt>
                <c:pt idx="7">
                  <c:v>753</c:v>
                </c:pt>
                <c:pt idx="8">
                  <c:v>1013</c:v>
                </c:pt>
                <c:pt idx="9">
                  <c:v>1061</c:v>
                </c:pt>
                <c:pt idx="10">
                  <c:v>1061</c:v>
                </c:pt>
                <c:pt idx="11">
                  <c:v>1008</c:v>
                </c:pt>
              </c:numCache>
            </c:numRef>
          </c:val>
        </c:ser>
        <c:ser>
          <c:idx val="3"/>
          <c:order val="3"/>
          <c:tx>
            <c:strRef>
              <c:f>Sheet1!$E$1</c:f>
              <c:strCache>
                <c:ptCount val="1"/>
                <c:pt idx="0">
                  <c:v>Colegios y naturistas</c:v>
                </c:pt>
              </c:strCache>
            </c:strRef>
          </c:tx>
          <c:spPr>
            <a:solidFill>
              <a:srgbClr val="7C8A3A"/>
            </a:solidFill>
            <a:effectLst/>
          </c:spPr>
          <c:invertIfNegative val="0"/>
          <c:dLbls>
            <c:numFmt formatCode="#,##0" sourceLinked="0"/>
            <c:txPr>
              <a:bodyPr/>
              <a:lstStyle/>
              <a:p>
                <a:pPr>
                  <a:defRPr b="0" i="0" strike="noStrike" sz="1200" u="none">
                    <a:solidFill>
                      <a:srgbClr val="3B1A14"/>
                    </a:solidFill>
                    <a:latin typeface="+mn-lt"/>
                  </a:defRPr>
                </a:pPr>
              </a:p>
            </c:txPr>
            <c:showLegendKey val="0"/>
            <c:showVal val="0"/>
            <c:showCatName val="0"/>
            <c:showSerName val="0"/>
            <c:showPercent val="0"/>
            <c:showBubbleSize val="0"/>
            <c:showLeaderLines val="0"/>
          </c:dLbls>
          <c:cat>
            <c:multiLvlStrRef>
              <c:f>Sheet1!$A$2:$A$13</c:f>
              <c:multiLvlStrCache>
                <c:ptCount val="12"/>
                <c:lvl>
                  <c:pt idx="0">
                    <c:v>Ene</c:v>
                  </c:pt>
                  <c:pt idx="1">
                    <c:v>Feb</c:v>
                  </c:pt>
                  <c:pt idx="2">
                    <c:v>Mar</c:v>
                  </c:pt>
                  <c:pt idx="3">
                    <c:v>Abr</c:v>
                  </c:pt>
                  <c:pt idx="4">
                    <c:v>May</c:v>
                  </c:pt>
                  <c:pt idx="5">
                    <c:v>Jun</c:v>
                  </c:pt>
                  <c:pt idx="6">
                    <c:v>Jul</c:v>
                  </c:pt>
                  <c:pt idx="7">
                    <c:v>Ago</c:v>
                  </c:pt>
                  <c:pt idx="8">
                    <c:v>Set</c:v>
                  </c:pt>
                  <c:pt idx="9">
                    <c:v>Oct</c:v>
                  </c:pt>
                  <c:pt idx="10">
                    <c:v>Nov</c:v>
                  </c:pt>
                  <c:pt idx="11">
                    <c:v>Dic</c:v>
                  </c:pt>
                </c:lvl>
              </c:multiLvlStrCache>
            </c:multiLvlStrRef>
          </c:cat>
          <c:val>
            <c:numRef>
              <c:f>Sheet1!$E$2:$E$13</c:f>
              <c:numCache>
                <c:formatCode>General</c:formatCode>
                <c:ptCount val="12"/>
                <c:pt idx="0">
                  <c:v>120</c:v>
                </c:pt>
                <c:pt idx="1">
                  <c:v>180</c:v>
                </c:pt>
                <c:pt idx="2">
                  <c:v>480</c:v>
                </c:pt>
                <c:pt idx="3">
                  <c:v>840</c:v>
                </c:pt>
                <c:pt idx="4">
                  <c:v>1065</c:v>
                </c:pt>
                <c:pt idx="5">
                  <c:v>1200</c:v>
                </c:pt>
                <c:pt idx="6">
                  <c:v>960</c:v>
                </c:pt>
                <c:pt idx="7">
                  <c:v>1560</c:v>
                </c:pt>
                <c:pt idx="8">
                  <c:v>1560</c:v>
                </c:pt>
                <c:pt idx="9">
                  <c:v>1920</c:v>
                </c:pt>
                <c:pt idx="10">
                  <c:v>1920</c:v>
                </c:pt>
                <c:pt idx="11">
                  <c:v>1080</c:v>
                </c:pt>
              </c:numCache>
            </c:numRef>
          </c:val>
        </c:ser>
        <c:dLbls>
          <c:numFmt formatCode="#,##0" sourceLinked="0"/>
          <c:txPr>
            <a:bodyPr/>
            <a:lstStyle/>
            <a:p>
              <a:pPr>
                <a:defRPr b="0" i="0" strike="noStrike" sz="1200" u="none">
                  <a:solidFill>
                    <a:srgbClr val="3B1A14"/>
                  </a:solidFill>
                  <a:latin typeface="+mn-lt"/>
                </a:defRPr>
              </a:pPr>
            </a:p>
          </c:txPr>
          <c:showLegendKey val="0"/>
          <c:showVal val="0"/>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6B3A2A"/>
                </a:solidFill>
                <a:latin typeface="+mn-lt"/>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E8D8C4"/>
              </a:solidFill>
              <a:prstDash val="solid"/>
              <a:round/>
            </a:ln>
          </c:spPr>
        </c:majorGridlines>
        <c:numFmt formatCode="#,##0" sourceLinked="0"/>
        <c:majorTickMark val="out"/>
        <c:minorTickMark val="none"/>
        <c:tickLblPos val="nextTo"/>
        <c:spPr>
          <a:ln w="12700" cap="flat">
            <a:noFill/>
            <a:prstDash val="solid"/>
            <a:round/>
          </a:ln>
        </c:spPr>
        <c:txPr>
          <a:bodyPr/>
          <a:lstStyle/>
          <a:p>
            <a:pPr>
              <a:defRPr sz="1100" b="0" i="0" u="none" strike="noStrike">
                <a:solidFill>
                  <a:srgbClr val="6B3A2A"/>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6B3A2A"/>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1" i="0" u="none" strike="noStrike">
                <a:solidFill>
                  <a:srgbClr val="4A2018"/>
                </a:solidFill>
                <a:latin typeface="+mn-lt"/>
              </a:defRPr>
            </a:pPr>
            <a:r>
              <a:rPr sz="1500" b="1" i="0" u="none" strike="noStrike">
                <a:solidFill>
                  <a:srgbClr val="4A2018"/>
                </a:solidFill>
                <a:latin typeface="+mn-lt"/>
              </a:rPr>
              <a:t>Ingresos por presentación</a:t>
            </a:r>
          </a:p>
        </c:rich>
      </c:tx>
      <c:layout/>
      <c:overlay val="0"/>
    </c:title>
    <c:autoTitleDeleted val="0"/>
    <c:plotArea>
      <c:layout/>
      <c:doughnutChart>
        <c:varyColors val="1"/>
        <c:ser>
          <c:idx val="0"/>
          <c:order val="0"/>
          <c:tx>
            <c:strRef>
              <c:f>Sheet1!$B$1</c:f>
              <c:strCache>
                <c:ptCount val="1"/>
                <c:pt idx="0">
                  <c:v>Ingreso</c:v>
                </c:pt>
              </c:strCache>
            </c:strRef>
          </c:tx>
          <c:spPr>
            <a:solidFill>
              <a:schemeClr val="accent1"/>
            </a:solidFill>
            <a:ln w="9525" cap="flat">
              <a:solidFill>
                <a:srgbClr val="F9F9F9"/>
              </a:solidFill>
              <a:prstDash val="solid"/>
              <a:round/>
            </a:ln>
            <a:effectLst/>
          </c:spPr>
          <c:dPt>
            <c:idx val="0"/>
            <c:bubble3D val="0"/>
            <c:spPr>
              <a:solidFill>
                <a:srgbClr val="BA4036"/>
              </a:solidFill>
              <a:effectLst/>
            </c:spPr>
          </c:dPt>
          <c:dPt>
            <c:idx val="1"/>
            <c:bubble3D val="0"/>
            <c:spPr>
              <a:solidFill>
                <a:srgbClr val="6B3A2A"/>
              </a:solidFill>
              <a:effectLst/>
            </c:spPr>
          </c:dPt>
          <c:dPt>
            <c:idx val="2"/>
            <c:bubble3D val="0"/>
            <c:spPr>
              <a:solidFill>
                <a:srgbClr val="E3A33B"/>
              </a:solidFill>
              <a:effectLst/>
            </c:spPr>
          </c:dPt>
          <c:dLbls>
            <c:dLbl>
              <c:idx val="0"/>
              <c:numFmt formatCode="0%" sourceLinked="0"/>
              <c:spPr/>
              <c:txPr>
                <a:bodyPr/>
                <a:lstStyle/>
                <a:p>
                  <a:pPr>
                    <a:defRPr sz="1300" b="1" i="0" u="none" strike="noStrike">
                      <a:solidFill>
                        <a:srgbClr val="FFFFFF"/>
                      </a:solidFill>
                      <a:latin typeface="+mn-lt"/>
                    </a:defRPr>
                  </a:pPr>
                </a:p>
              </c:txPr>
              <c:showLegendKey val="0"/>
              <c:showVal val="0"/>
              <c:showCatName val="0"/>
              <c:showSerName val="0"/>
              <c:showPercent val="1"/>
              <c:showBubbleSize val="0"/>
            </c:dLbl>
            <c:dLbl>
              <c:idx val="1"/>
              <c:numFmt formatCode="0%" sourceLinked="0"/>
              <c:spPr/>
              <c:txPr>
                <a:bodyPr/>
                <a:lstStyle/>
                <a:p>
                  <a:pPr>
                    <a:defRPr sz="1300" b="1" i="0" u="none" strike="noStrike">
                      <a:solidFill>
                        <a:srgbClr val="FFFFFF"/>
                      </a:solidFill>
                      <a:latin typeface="+mn-lt"/>
                    </a:defRPr>
                  </a:pPr>
                </a:p>
              </c:txPr>
              <c:showLegendKey val="0"/>
              <c:showVal val="0"/>
              <c:showCatName val="0"/>
              <c:showSerName val="0"/>
              <c:showPercent val="1"/>
              <c:showBubbleSize val="0"/>
            </c:dLbl>
            <c:dLbl>
              <c:idx val="2"/>
              <c:numFmt formatCode="0%" sourceLinked="0"/>
              <c:spPr/>
              <c:txPr>
                <a:bodyPr/>
                <a:lstStyle/>
                <a:p>
                  <a:pPr>
                    <a:defRPr sz="1300" b="1" i="0" u="none" strike="noStrike">
                      <a:solidFill>
                        <a:srgbClr val="FFFFFF"/>
                      </a:solidFill>
                      <a:latin typeface="+mn-lt"/>
                    </a:defRPr>
                  </a:pPr>
                </a:p>
              </c:txPr>
              <c:showLegendKey val="0"/>
              <c:showVal val="0"/>
              <c:showCatName val="0"/>
              <c:showSerName val="0"/>
              <c:showPercent val="1"/>
              <c:showBubbleSize val="0"/>
            </c:dLbl>
            <c:numFmt formatCode="0%" sourceLinked="0"/>
            <c:txPr>
              <a:bodyPr/>
              <a:lstStyle/>
              <a:p>
                <a:pPr>
                  <a:defRPr sz="1800" b="1"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Unidad</c:v>
                </c:pt>
                <c:pt idx="1">
                  <c:v>Pack de 6</c:v>
                </c:pt>
                <c:pt idx="2">
                  <c:v>Pack de 12</c:v>
                </c:pt>
              </c:strCache>
            </c:strRef>
          </c:cat>
          <c:val>
            <c:numRef>
              <c:f>Sheet1!$B$2:$B$4</c:f>
              <c:numCache>
                <c:ptCount val="3"/>
                <c:pt idx="0">
                  <c:v>137013</c:v>
                </c:pt>
                <c:pt idx="1">
                  <c:v>78444</c:v>
                </c:pt>
                <c:pt idx="2">
                  <c:v>15284</c:v>
                </c:pt>
              </c:numCache>
            </c:numRef>
          </c:val>
        </c:ser>
        <c:firstSliceAng val="0"/>
        <c:holeSize val="55"/>
      </c:doughnutChart>
      <c:spPr>
        <a:noFill/>
        <a:ln>
          <a:noFill/>
        </a:ln>
        <a:effectLst/>
      </c:spPr>
    </c:plotArea>
    <c:legend>
      <c:legendPos val="b"/>
      <c:overlay val="0"/>
      <c:txPr>
        <a:bodyPr/>
        <a:lstStyle/>
        <a:p>
          <a:pPr>
            <a:defRPr sz="1200">
              <a:solidFill>
                <a:srgbClr val="6B3A2A"/>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1" i="0" u="none" strike="noStrike">
                <a:solidFill>
                  <a:srgbClr val="4A2018"/>
                </a:solidFill>
                <a:latin typeface="+mn-lt"/>
              </a:defRPr>
            </a:pPr>
            <a:r>
              <a:rPr sz="1500" b="1" i="0" u="none" strike="noStrike">
                <a:solidFill>
                  <a:srgbClr val="4A2018"/>
                </a:solidFill>
                <a:latin typeface="+mn-lt"/>
              </a:rPr>
              <a:t>Ventas mensuales con IGV (enero a diciembre de 2027)</a:t>
            </a:r>
          </a:p>
        </c:rich>
      </c:tx>
      <c:layout/>
      <c:overlay val="0"/>
    </c:title>
    <c:autoTitleDeleted val="0"/>
    <c:plotArea>
      <c:layout/>
      <c:barChart>
        <c:barDir val="col"/>
        <c:grouping val="clustered"/>
        <c:varyColors val="0"/>
        <c:ser>
          <c:idx val="0"/>
          <c:order val="0"/>
          <c:tx>
            <c:strRef>
              <c:f>Sheet1!$B$1</c:f>
              <c:strCache>
                <c:ptCount val="1"/>
                <c:pt idx="0">
                  <c:v>Ventas con IGV</c:v>
                </c:pt>
              </c:strCache>
            </c:strRef>
          </c:tx>
          <c:spPr>
            <a:solidFill>
              <a:srgbClr val="6B3A2A"/>
            </a:solidFill>
            <a:effectLst/>
          </c:spPr>
          <c:invertIfNegative val="0"/>
          <c:dLbls>
            <c:numFmt formatCode="0.0,&quot;k&quot;" sourceLinked="0"/>
            <c:txPr>
              <a:bodyPr/>
              <a:lstStyle/>
              <a:p>
                <a:pPr>
                  <a:defRPr b="0" i="0" strike="noStrike" sz="1100" u="none">
                    <a:solidFill>
                      <a:srgbClr val="3B1A14"/>
                    </a:solidFill>
                    <a:latin typeface="+mn-lt"/>
                  </a:defRPr>
                </a:pPr>
              </a:p>
            </c:txPr>
            <c:showLegendKey val="0"/>
            <c:showVal val="1"/>
            <c:showCatName val="0"/>
            <c:showSerName val="0"/>
            <c:showPercent val="0"/>
            <c:showBubbleSize val="0"/>
            <c:showLeaderLines val="0"/>
          </c:dLbls>
          <c:cat>
            <c:multiLvlStrRef>
              <c:f>Sheet1!$A$2:$A$13</c:f>
              <c:multiLvlStrCache>
                <c:ptCount val="12"/>
                <c:lvl>
                  <c:pt idx="0">
                    <c:v>Ene</c:v>
                  </c:pt>
                  <c:pt idx="1">
                    <c:v>Feb</c:v>
                  </c:pt>
                  <c:pt idx="2">
                    <c:v>Mar</c:v>
                  </c:pt>
                  <c:pt idx="3">
                    <c:v>Abr</c:v>
                  </c:pt>
                  <c:pt idx="4">
                    <c:v>May</c:v>
                  </c:pt>
                  <c:pt idx="5">
                    <c:v>Jun</c:v>
                  </c:pt>
                  <c:pt idx="6">
                    <c:v>Jul</c:v>
                  </c:pt>
                  <c:pt idx="7">
                    <c:v>Ago</c:v>
                  </c:pt>
                  <c:pt idx="8">
                    <c:v>Set</c:v>
                  </c:pt>
                  <c:pt idx="9">
                    <c:v>Oct</c:v>
                  </c:pt>
                  <c:pt idx="10">
                    <c:v>Nov</c:v>
                  </c:pt>
                  <c:pt idx="11">
                    <c:v>Dic</c:v>
                  </c:pt>
                </c:lvl>
              </c:multiLvlStrCache>
            </c:multiLvlStrRef>
          </c:cat>
          <c:val>
            <c:numRef>
              <c:f>Sheet1!$B$2:$B$13</c:f>
              <c:numCache>
                <c:formatCode>General</c:formatCode>
                <c:ptCount val="12"/>
                <c:pt idx="0">
                  <c:v>3986</c:v>
                </c:pt>
                <c:pt idx="1">
                  <c:v>13747</c:v>
                </c:pt>
                <c:pt idx="2">
                  <c:v>17010</c:v>
                </c:pt>
                <c:pt idx="3">
                  <c:v>16220</c:v>
                </c:pt>
                <c:pt idx="4">
                  <c:v>17601</c:v>
                </c:pt>
                <c:pt idx="5">
                  <c:v>17123</c:v>
                </c:pt>
                <c:pt idx="6">
                  <c:v>16587</c:v>
                </c:pt>
                <c:pt idx="7">
                  <c:v>22303</c:v>
                </c:pt>
                <c:pt idx="8">
                  <c:v>24036</c:v>
                </c:pt>
                <c:pt idx="9">
                  <c:v>25305</c:v>
                </c:pt>
                <c:pt idx="10">
                  <c:v>24532</c:v>
                </c:pt>
                <c:pt idx="11">
                  <c:v>32291</c:v>
                </c:pt>
              </c:numCache>
            </c:numRef>
          </c:val>
        </c:ser>
        <c:dLbls>
          <c:numFmt formatCode="0.0,&quot;k&quot;" sourceLinked="0"/>
          <c:txPr>
            <a:bodyPr/>
            <a:lstStyle/>
            <a:p>
              <a:pPr>
                <a:defRPr b="0" i="0" strike="noStrike" sz="1100" u="none">
                  <a:solidFill>
                    <a:srgbClr val="3B1A14"/>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6B3A2A"/>
                </a:solidFill>
                <a:latin typeface="+mn-lt"/>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E8D8C4"/>
              </a:solidFill>
              <a:prstDash val="solid"/>
              <a:round/>
            </a:ln>
          </c:spPr>
        </c:majorGridlines>
        <c:numFmt formatCode="#,##0" sourceLinked="0"/>
        <c:majorTickMark val="out"/>
        <c:minorTickMark val="none"/>
        <c:tickLblPos val="nextTo"/>
        <c:spPr>
          <a:ln w="12700" cap="flat">
            <a:noFill/>
            <a:prstDash val="solid"/>
            <a:round/>
          </a:ln>
        </c:spPr>
        <c:txPr>
          <a:bodyPr/>
          <a:lstStyle/>
          <a:p>
            <a:pPr>
              <a:defRPr sz="1100" b="0" i="0" u="none" strike="noStrike">
                <a:solidFill>
                  <a:srgbClr val="6B3A2A"/>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1" i="0" u="none" strike="noStrike">
                <a:solidFill>
                  <a:srgbClr val="4A2018"/>
                </a:solidFill>
                <a:latin typeface="+mn-lt"/>
              </a:defRPr>
            </a:pPr>
            <a:r>
              <a:rPr sz="1500" b="1" i="0" u="none" strike="noStrike">
                <a:solidFill>
                  <a:srgbClr val="4A2018"/>
                </a:solidFill>
                <a:latin typeface="+mn-lt"/>
              </a:rPr>
              <a:t>Costo de producción del pack de 6 (S/ sin IGV)</a:t>
            </a:r>
          </a:p>
        </c:rich>
      </c:tx>
      <c:layout/>
      <c:overlay val="0"/>
    </c:title>
    <c:autoTitleDeleted val="0"/>
    <c:plotArea>
      <c:layout/>
      <c:barChart>
        <c:barDir val="bar"/>
        <c:grouping val="clustered"/>
        <c:varyColors val="0"/>
        <c:ser>
          <c:idx val="0"/>
          <c:order val="0"/>
          <c:tx>
            <c:strRef>
              <c:f>Sheet1!$B$1</c:f>
              <c:strCache>
                <c:ptCount val="1"/>
                <c:pt idx="0">
                  <c:v>S/ por pack</c:v>
                </c:pt>
              </c:strCache>
            </c:strRef>
          </c:tx>
          <c:spPr>
            <a:solidFill>
              <a:srgbClr val="6B3A2A"/>
            </a:solidFill>
            <a:effectLst/>
          </c:spPr>
          <c:invertIfNegative val="0"/>
          <c:dLbls>
            <c:numFmt formatCode="&quot;S/&quot;0.00" sourceLinked="0"/>
            <c:txPr>
              <a:bodyPr/>
              <a:lstStyle/>
              <a:p>
                <a:pPr>
                  <a:defRPr b="0" i="0" strike="noStrike" sz="1300" u="none">
                    <a:solidFill>
                      <a:srgbClr val="3B1A14"/>
                    </a:solidFill>
                    <a:latin typeface="+mn-lt"/>
                  </a:defRPr>
                </a:pPr>
              </a:p>
            </c:txPr>
            <c:showLegendKey val="0"/>
            <c:showVal val="1"/>
            <c:showCatName val="0"/>
            <c:showSerName val="0"/>
            <c:showPercent val="0"/>
            <c:showBubbleSize val="0"/>
            <c:showLeaderLines val="0"/>
          </c:dLbls>
          <c:cat>
            <c:multiLvlStrRef>
              <c:f>Sheet1!$A$2:$A$6</c:f>
              <c:multiLvlStrCache>
                <c:ptCount val="5"/>
                <c:lvl>
                  <c:pt idx="0">
                    <c:v>Merma</c:v>
                  </c:pt>
                  <c:pt idx="1">
                    <c:v>Calidad, transporte y almacén</c:v>
                  </c:pt>
                  <c:pt idx="2">
                    <c:v>Empaque y etiquetas</c:v>
                  </c:pt>
                  <c:pt idx="3">
                    <c:v>Insumos</c:v>
                  </c:pt>
                  <c:pt idx="4">
                    <c:v>Maquila</c:v>
                  </c:pt>
                </c:lvl>
              </c:multiLvlStrCache>
            </c:multiLvlStrRef>
          </c:cat>
          <c:val>
            <c:numRef>
              <c:f>Sheet1!$B$2:$B$6</c:f>
              <c:numCache>
                <c:formatCode>General</c:formatCode>
                <c:ptCount val="5"/>
                <c:pt idx="0">
                  <c:v>0.34</c:v>
                </c:pt>
                <c:pt idx="1">
                  <c:v>1.06</c:v>
                </c:pt>
                <c:pt idx="2">
                  <c:v>1.79</c:v>
                </c:pt>
                <c:pt idx="3">
                  <c:v>2.4</c:v>
                </c:pt>
                <c:pt idx="4">
                  <c:v>2.7</c:v>
                </c:pt>
              </c:numCache>
            </c:numRef>
          </c:val>
        </c:ser>
        <c:dLbls>
          <c:numFmt formatCode="&quot;S/&quot;0.00" sourceLinked="0"/>
          <c:txPr>
            <a:bodyPr/>
            <a:lstStyle/>
            <a:p>
              <a:pPr>
                <a:defRPr b="0" i="0" strike="noStrike" sz="1300" u="none">
                  <a:solidFill>
                    <a:srgbClr val="3B1A14"/>
                  </a:solidFill>
                  <a:latin typeface="+mn-lt"/>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200" b="0" i="0" u="none" strike="noStrike">
                <a:solidFill>
                  <a:srgbClr val="6B3A2A"/>
                </a:solidFill>
                <a:latin typeface="+mn-lt"/>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100" b="0" i="0" u="none" strike="noStrike">
                <a:solidFill>
                  <a:srgbClr val="6B3A2A"/>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1" i="0" u="none" strike="noStrike">
                <a:solidFill>
                  <a:srgbClr val="4A2018"/>
                </a:solidFill>
                <a:latin typeface="+mn-lt"/>
              </a:defRPr>
            </a:pPr>
            <a:r>
              <a:rPr sz="1500" b="1" i="0" u="none" strike="noStrike">
                <a:solidFill>
                  <a:srgbClr val="4A2018"/>
                </a:solidFill>
                <a:latin typeface="+mn-lt"/>
              </a:rPr>
              <a:t>A dónde va el precio</a:t>
            </a:r>
          </a:p>
        </c:rich>
      </c:tx>
      <c:layout/>
      <c:overlay val="0"/>
    </c:title>
    <c:autoTitleDeleted val="0"/>
    <c:plotArea>
      <c:layout/>
      <c:barChart>
        <c:barDir val="col"/>
        <c:grouping val="stacked"/>
        <c:varyColors val="0"/>
        <c:ser>
          <c:idx val="0"/>
          <c:order val="0"/>
          <c:tx>
            <c:strRef>
              <c:f>Sheet1!$B$1</c:f>
              <c:strCache>
                <c:ptCount val="1"/>
                <c:pt idx="0">
                  <c:v>Producción</c:v>
                </c:pt>
              </c:strCache>
            </c:strRef>
          </c:tx>
          <c:spPr>
            <a:solidFill>
              <a:srgbClr val="6B3A2A"/>
            </a:solidFill>
            <a:effectLst/>
          </c:spPr>
          <c:invertIfNegative val="0"/>
          <c:dLbls>
            <c:numFmt formatCode="&quot;S/&quot;0.00" sourceLinked="0"/>
            <c:txPr>
              <a:bodyPr/>
              <a:lstStyle/>
              <a:p>
                <a:pPr>
                  <a:defRPr b="1" i="0" strike="noStrike" sz="1200" u="none">
                    <a:solidFill>
                      <a:srgbClr val="FFFFFF"/>
                    </a:solidFill>
                    <a:latin typeface="+mn-lt"/>
                  </a:defRPr>
                </a:pPr>
              </a:p>
            </c:txPr>
            <c:dLblPos val="ctr"/>
            <c:showLegendKey val="0"/>
            <c:showVal val="1"/>
            <c:showCatName val="0"/>
            <c:showSerName val="0"/>
            <c:showPercent val="0"/>
            <c:showBubbleSize val="0"/>
            <c:showLeaderLines val="0"/>
          </c:dLbls>
          <c:cat>
            <c:multiLvlStrRef>
              <c:f>Sheet1!$A$2:$A$2</c:f>
              <c:multiLvlStrCache>
                <c:ptCount val="1"/>
                <c:lvl>
                  <c:pt idx="0">
                    <c:v>Pack de 6 en stand</c:v>
                  </c:pt>
                </c:lvl>
              </c:multiLvlStrCache>
            </c:multiLvlStrRef>
          </c:cat>
          <c:val>
            <c:numRef>
              <c:f>Sheet1!$B$2:$B$2</c:f>
              <c:numCache>
                <c:formatCode>General</c:formatCode>
                <c:ptCount val="1"/>
                <c:pt idx="0">
                  <c:v>8.29</c:v>
                </c:pt>
              </c:numCache>
            </c:numRef>
          </c:val>
        </c:ser>
        <c:ser>
          <c:idx val="1"/>
          <c:order val="1"/>
          <c:tx>
            <c:strRef>
              <c:f>Sheet1!$C$1</c:f>
              <c:strCache>
                <c:ptCount val="1"/>
                <c:pt idx="0">
                  <c:v>Degustación, pasarela y renta</c:v>
                </c:pt>
              </c:strCache>
            </c:strRef>
          </c:tx>
          <c:spPr>
            <a:solidFill>
              <a:srgbClr val="D9B48F"/>
            </a:solidFill>
            <a:effectLst/>
          </c:spPr>
          <c:invertIfNegative val="0"/>
          <c:dLbls>
            <c:numFmt formatCode="&quot;S/&quot;0.00" sourceLinked="0"/>
            <c:txPr>
              <a:bodyPr/>
              <a:lstStyle/>
              <a:p>
                <a:pPr>
                  <a:defRPr b="1" i="0" strike="noStrike" sz="1200" u="none">
                    <a:solidFill>
                      <a:srgbClr val="FFFFFF"/>
                    </a:solidFill>
                    <a:latin typeface="+mn-lt"/>
                  </a:defRPr>
                </a:pPr>
              </a:p>
            </c:txPr>
            <c:dLblPos val="ctr"/>
            <c:showLegendKey val="0"/>
            <c:showVal val="1"/>
            <c:showCatName val="0"/>
            <c:showSerName val="0"/>
            <c:showPercent val="0"/>
            <c:showBubbleSize val="0"/>
            <c:showLeaderLines val="0"/>
          </c:dLbls>
          <c:cat>
            <c:multiLvlStrRef>
              <c:f>Sheet1!$A$2:$A$2</c:f>
              <c:multiLvlStrCache>
                <c:ptCount val="1"/>
                <c:lvl>
                  <c:pt idx="0">
                    <c:v>Pack de 6 en stand</c:v>
                  </c:pt>
                </c:lvl>
              </c:multiLvlStrCache>
            </c:multiLvlStrRef>
          </c:cat>
          <c:val>
            <c:numRef>
              <c:f>Sheet1!$C$2:$C$2</c:f>
              <c:numCache>
                <c:formatCode>General</c:formatCode>
                <c:ptCount val="1"/>
                <c:pt idx="0">
                  <c:v>2.62</c:v>
                </c:pt>
              </c:numCache>
            </c:numRef>
          </c:val>
        </c:ser>
        <c:ser>
          <c:idx val="2"/>
          <c:order val="2"/>
          <c:tx>
            <c:strRef>
              <c:f>Sheet1!$D$1</c:f>
              <c:strCache>
                <c:ptCount val="1"/>
                <c:pt idx="0">
                  <c:v>Contribución</c:v>
                </c:pt>
              </c:strCache>
            </c:strRef>
          </c:tx>
          <c:spPr>
            <a:solidFill>
              <a:srgbClr val="BA4036"/>
            </a:solidFill>
            <a:effectLst/>
          </c:spPr>
          <c:invertIfNegative val="0"/>
          <c:dLbls>
            <c:numFmt formatCode="&quot;S/&quot;0.00" sourceLinked="0"/>
            <c:txPr>
              <a:bodyPr/>
              <a:lstStyle/>
              <a:p>
                <a:pPr>
                  <a:defRPr b="1" i="0" strike="noStrike" sz="1200" u="none">
                    <a:solidFill>
                      <a:srgbClr val="FFFFFF"/>
                    </a:solidFill>
                    <a:latin typeface="+mn-lt"/>
                  </a:defRPr>
                </a:pPr>
              </a:p>
            </c:txPr>
            <c:dLblPos val="ctr"/>
            <c:showLegendKey val="0"/>
            <c:showVal val="1"/>
            <c:showCatName val="0"/>
            <c:showSerName val="0"/>
            <c:showPercent val="0"/>
            <c:showBubbleSize val="0"/>
            <c:showLeaderLines val="0"/>
          </c:dLbls>
          <c:cat>
            <c:multiLvlStrRef>
              <c:f>Sheet1!$A$2:$A$2</c:f>
              <c:multiLvlStrCache>
                <c:ptCount val="1"/>
                <c:lvl>
                  <c:pt idx="0">
                    <c:v>Pack de 6 en stand</c:v>
                  </c:pt>
                </c:lvl>
              </c:multiLvlStrCache>
            </c:multiLvlStrRef>
          </c:cat>
          <c:val>
            <c:numRef>
              <c:f>Sheet1!$D$2:$D$2</c:f>
              <c:numCache>
                <c:formatCode>General</c:formatCode>
                <c:ptCount val="1"/>
                <c:pt idx="0">
                  <c:v>11.12</c:v>
                </c:pt>
              </c:numCache>
            </c:numRef>
          </c:val>
        </c:ser>
        <c:dLbls>
          <c:numFmt formatCode="&quot;S/&quot;0.00" sourceLinked="0"/>
          <c:txPr>
            <a:bodyPr/>
            <a:lstStyle/>
            <a:p>
              <a:pPr>
                <a:defRPr b="1" i="0" strike="noStrike" sz="1200" u="none">
                  <a:solidFill>
                    <a:srgbClr val="FFFFFF"/>
                  </a:solidFill>
                  <a:latin typeface="+mn-lt"/>
                </a:defRPr>
              </a:pPr>
            </a:p>
          </c:txPr>
          <c:dLblPos val="ctr"/>
          <c:showLegendKey val="0"/>
          <c:showVal val="1"/>
          <c:showCatName val="0"/>
          <c:showSerName val="0"/>
          <c:showPercent val="0"/>
          <c:showBubbleSize val="0"/>
          <c:showLeaderLines val="0"/>
        </c:dLbls>
        <c:gapWidth val="3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6B3A2A"/>
                </a:solidFill>
                <a:latin typeface="+mn-lt"/>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100" b="0" i="0" u="none" strike="noStrike">
                <a:solidFill>
                  <a:srgbClr val="6B3A2A"/>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100">
              <a:solidFill>
                <a:srgbClr val="6B3A2A"/>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1" i="0" u="none" strike="noStrike">
                <a:solidFill>
                  <a:srgbClr val="4A2018"/>
                </a:solidFill>
                <a:latin typeface="+mn-lt"/>
              </a:defRPr>
            </a:pPr>
            <a:r>
              <a:rPr sz="1500" b="1" i="0" u="none" strike="noStrike">
                <a:solidFill>
                  <a:srgbClr val="4A2018"/>
                </a:solidFill>
                <a:latin typeface="+mn-lt"/>
              </a:rPr>
              <a:t>Inversión inicial: S/37,894</a:t>
            </a:r>
          </a:p>
        </c:rich>
      </c:tx>
      <c:layout/>
      <c:overlay val="0"/>
    </c:title>
    <c:autoTitleDeleted val="0"/>
    <c:plotArea>
      <c:layout/>
      <c:doughnutChart>
        <c:varyColors val="1"/>
        <c:ser>
          <c:idx val="0"/>
          <c:order val="0"/>
          <c:tx>
            <c:strRef>
              <c:f>Sheet1!$B$1</c:f>
              <c:strCache>
                <c:ptCount val="1"/>
                <c:pt idx="0">
                  <c:v>Inversión</c:v>
                </c:pt>
              </c:strCache>
            </c:strRef>
          </c:tx>
          <c:spPr>
            <a:solidFill>
              <a:schemeClr val="accent1"/>
            </a:solidFill>
            <a:ln w="9525" cap="flat">
              <a:solidFill>
                <a:srgbClr val="F9F9F9"/>
              </a:solidFill>
              <a:prstDash val="solid"/>
              <a:round/>
            </a:ln>
            <a:effectLst/>
          </c:spPr>
          <c:dPt>
            <c:idx val="0"/>
            <c:bubble3D val="0"/>
            <c:spPr>
              <a:solidFill>
                <a:srgbClr val="6B3A2A"/>
              </a:solidFill>
              <a:effectLst/>
            </c:spPr>
          </c:dPt>
          <c:dPt>
            <c:idx val="1"/>
            <c:bubble3D val="0"/>
            <c:spPr>
              <a:solidFill>
                <a:srgbClr val="E3A33B"/>
              </a:solidFill>
              <a:effectLst/>
            </c:spPr>
          </c:dPt>
          <c:dPt>
            <c:idx val="2"/>
            <c:bubble3D val="0"/>
            <c:spPr>
              <a:solidFill>
                <a:srgbClr val="BA4036"/>
              </a:solidFill>
              <a:effectLst/>
            </c:spPr>
          </c:dPt>
          <c:dPt>
            <c:idx val="3"/>
            <c:bubble3D val="0"/>
            <c:spPr>
              <a:solidFill>
                <a:srgbClr val="7C8A3A"/>
              </a:solidFill>
              <a:effectLst/>
            </c:spPr>
          </c:dPt>
          <c:dPt>
            <c:idx val="4"/>
            <c:bubble3D val="0"/>
            <c:spPr>
              <a:solidFill>
                <a:srgbClr val="D9B48F"/>
              </a:solidFill>
              <a:effectLst/>
            </c:spPr>
          </c:dPt>
          <c:dPt>
            <c:idx val="5"/>
            <c:bubble3D val="0"/>
            <c:spPr>
              <a:solidFill>
                <a:srgbClr val="8A1C2B"/>
              </a:solidFill>
              <a:effectLst/>
            </c:spPr>
          </c:dPt>
          <c:dLbls>
            <c:dLbl>
              <c:idx val="0"/>
              <c:numFmt formatCode="0%" sourceLinked="0"/>
              <c:spPr/>
              <c:txPr>
                <a:bodyPr/>
                <a:lstStyle/>
                <a:p>
                  <a:pPr>
                    <a:defRPr sz="1100" b="1" i="0" u="none" strike="noStrike">
                      <a:solidFill>
                        <a:srgbClr val="FFFFFF"/>
                      </a:solidFill>
                      <a:latin typeface="+mn-lt"/>
                    </a:defRPr>
                  </a:pPr>
                </a:p>
              </c:txPr>
              <c:showLegendKey val="0"/>
              <c:showVal val="0"/>
              <c:showCatName val="0"/>
              <c:showSerName val="0"/>
              <c:showPercent val="1"/>
              <c:showBubbleSize val="0"/>
            </c:dLbl>
            <c:dLbl>
              <c:idx val="1"/>
              <c:numFmt formatCode="0%" sourceLinked="0"/>
              <c:spPr/>
              <c:txPr>
                <a:bodyPr/>
                <a:lstStyle/>
                <a:p>
                  <a:pPr>
                    <a:defRPr sz="1100" b="1" i="0" u="none" strike="noStrike">
                      <a:solidFill>
                        <a:srgbClr val="FFFFFF"/>
                      </a:solidFill>
                      <a:latin typeface="+mn-lt"/>
                    </a:defRPr>
                  </a:pPr>
                </a:p>
              </c:txPr>
              <c:showLegendKey val="0"/>
              <c:showVal val="0"/>
              <c:showCatName val="0"/>
              <c:showSerName val="0"/>
              <c:showPercent val="1"/>
              <c:showBubbleSize val="0"/>
            </c:dLbl>
            <c:dLbl>
              <c:idx val="2"/>
              <c:numFmt formatCode="0%" sourceLinked="0"/>
              <c:spPr/>
              <c:txPr>
                <a:bodyPr/>
                <a:lstStyle/>
                <a:p>
                  <a:pPr>
                    <a:defRPr sz="1100" b="1" i="0" u="none" strike="noStrike">
                      <a:solidFill>
                        <a:srgbClr val="FFFFFF"/>
                      </a:solidFill>
                      <a:latin typeface="+mn-lt"/>
                    </a:defRPr>
                  </a:pPr>
                </a:p>
              </c:txPr>
              <c:showLegendKey val="0"/>
              <c:showVal val="0"/>
              <c:showCatName val="0"/>
              <c:showSerName val="0"/>
              <c:showPercent val="1"/>
              <c:showBubbleSize val="0"/>
            </c:dLbl>
            <c:dLbl>
              <c:idx val="3"/>
              <c:numFmt formatCode="0%" sourceLinked="0"/>
              <c:spPr/>
              <c:txPr>
                <a:bodyPr/>
                <a:lstStyle/>
                <a:p>
                  <a:pPr>
                    <a:defRPr sz="1100" b="1" i="0" u="none" strike="noStrike">
                      <a:solidFill>
                        <a:srgbClr val="FFFFFF"/>
                      </a:solidFill>
                      <a:latin typeface="+mn-lt"/>
                    </a:defRPr>
                  </a:pPr>
                </a:p>
              </c:txPr>
              <c:showLegendKey val="0"/>
              <c:showVal val="0"/>
              <c:showCatName val="0"/>
              <c:showSerName val="0"/>
              <c:showPercent val="1"/>
              <c:showBubbleSize val="0"/>
            </c:dLbl>
            <c:dLbl>
              <c:idx val="4"/>
              <c:numFmt formatCode="0%" sourceLinked="0"/>
              <c:spPr/>
              <c:txPr>
                <a:bodyPr/>
                <a:lstStyle/>
                <a:p>
                  <a:pPr>
                    <a:defRPr sz="1100" b="1" i="0" u="none" strike="noStrike">
                      <a:solidFill>
                        <a:srgbClr val="FFFFFF"/>
                      </a:solidFill>
                      <a:latin typeface="+mn-lt"/>
                    </a:defRPr>
                  </a:pPr>
                </a:p>
              </c:txPr>
              <c:showLegendKey val="0"/>
              <c:showVal val="0"/>
              <c:showCatName val="0"/>
              <c:showSerName val="0"/>
              <c:showPercent val="1"/>
              <c:showBubbleSize val="0"/>
            </c:dLbl>
            <c:dLbl>
              <c:idx val="5"/>
              <c:numFmt formatCode="0%" sourceLinked="0"/>
              <c:spPr/>
              <c:txPr>
                <a:bodyPr/>
                <a:lstStyle/>
                <a:p>
                  <a:pPr>
                    <a:defRPr sz="1100" b="1" i="0" u="none" strike="noStrike">
                      <a:solidFill>
                        <a:srgbClr val="FFFFFF"/>
                      </a:solidFill>
                      <a:latin typeface="+mn-lt"/>
                    </a:defRPr>
                  </a:pPr>
                </a:p>
              </c:txPr>
              <c:showLegendKey val="0"/>
              <c:showVal val="0"/>
              <c:showCatName val="0"/>
              <c:showSerName val="0"/>
              <c:showPercent val="1"/>
              <c:showBubbleSize val="0"/>
            </c:dLbl>
            <c:numFmt formatCode="0%" sourceLinked="0"/>
            <c:txPr>
              <a:bodyPr/>
              <a:lstStyle/>
              <a:p>
                <a:pPr>
                  <a:defRPr sz="1800" b="1" i="0" u="none" strike="noStrike">
                    <a:solidFill>
                      <a:srgbClr val="000000"/>
                    </a:solidFill>
                    <a:latin typeface="Arial"/>
                  </a:defRPr>
                </a:pPr>
              </a:p>
            </c:txPr>
            <c:showLegendKey val="0"/>
            <c:showVal val="0"/>
            <c:showCatName val="1"/>
            <c:showSerName val="0"/>
            <c:showPercent val="1"/>
            <c:showBubbleSize val="0"/>
            <c:showLeaderLines val="0"/>
          </c:dLbls>
          <c:cat>
            <c:strRef>
              <c:f>Sheet1!$A$2:$A$7</c:f>
              <c:strCache>
                <c:ptCount val="6"/>
                <c:pt idx="0">
                  <c:v>Arranque</c:v>
                </c:pt>
                <c:pt idx="1">
                  <c:v>Equipos y 1 carrito</c:v>
                </c:pt>
                <c:pt idx="2">
                  <c:v>Documentos y permisos</c:v>
                </c:pt>
                <c:pt idx="3">
                  <c:v>Desarrollo del producto</c:v>
                </c:pt>
                <c:pt idx="4">
                  <c:v>Imprevistos</c:v>
                </c:pt>
                <c:pt idx="5">
                  <c:v>Marca</c:v>
                </c:pt>
              </c:strCache>
            </c:strRef>
          </c:cat>
          <c:val>
            <c:numRef>
              <c:f>Sheet1!$B$2:$B$7</c:f>
              <c:numCache>
                <c:ptCount val="6"/>
                <c:pt idx="0">
                  <c:v>18369</c:v>
                </c:pt>
                <c:pt idx="1">
                  <c:v>4838</c:v>
                </c:pt>
                <c:pt idx="2">
                  <c:v>6251</c:v>
                </c:pt>
                <c:pt idx="3">
                  <c:v>3741</c:v>
                </c:pt>
                <c:pt idx="4">
                  <c:v>3445</c:v>
                </c:pt>
                <c:pt idx="5">
                  <c:v>1250</c:v>
                </c:pt>
              </c:numCache>
            </c:numRef>
          </c:val>
        </c:ser>
        <c:firstSliceAng val="0"/>
        <c:holeSize val="50"/>
      </c:doughnutChart>
      <c:spPr>
        <a:noFill/>
        <a:ln>
          <a:noFill/>
        </a:ln>
        <a:effectLst/>
      </c:spPr>
    </c:plotArea>
    <c:legend>
      <c:legendPos val="b"/>
      <c:overlay val="0"/>
      <c:txPr>
        <a:bodyPr/>
        <a:lstStyle/>
        <a:p>
          <a:pPr>
            <a:defRPr sz="1000">
              <a:solidFill>
                <a:srgbClr val="6B3A2A"/>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1" i="0" u="none" strike="noStrike">
                <a:solidFill>
                  <a:srgbClr val="4A2018"/>
                </a:solidFill>
                <a:latin typeface="+mn-lt"/>
              </a:defRPr>
            </a:pPr>
            <a:r>
              <a:rPr sz="1500" b="1" i="0" u="none" strike="noStrike">
                <a:solidFill>
                  <a:srgbClr val="4A2018"/>
                </a:solidFill>
                <a:latin typeface="+mn-lt"/>
              </a:rPr>
              <a:t>Costos de operar al mes (promedio): S/6,326</a:t>
            </a:r>
          </a:p>
        </c:rich>
      </c:tx>
      <c:layout/>
      <c:overlay val="0"/>
    </c:title>
    <c:autoTitleDeleted val="0"/>
    <c:plotArea>
      <c:layout/>
      <c:doughnutChart>
        <c:varyColors val="1"/>
        <c:ser>
          <c:idx val="0"/>
          <c:order val="0"/>
          <c:tx>
            <c:strRef>
              <c:f>Sheet1!$B$1</c:f>
              <c:strCache>
                <c:ptCount val="1"/>
                <c:pt idx="0">
                  <c:v>Costos</c:v>
                </c:pt>
              </c:strCache>
            </c:strRef>
          </c:tx>
          <c:spPr>
            <a:solidFill>
              <a:schemeClr val="accent1"/>
            </a:solidFill>
            <a:ln w="9525" cap="flat">
              <a:solidFill>
                <a:srgbClr val="F9F9F9"/>
              </a:solidFill>
              <a:prstDash val="solid"/>
              <a:round/>
            </a:ln>
            <a:effectLst/>
          </c:spPr>
          <c:dPt>
            <c:idx val="0"/>
            <c:bubble3D val="0"/>
            <c:spPr>
              <a:solidFill>
                <a:srgbClr val="BA4036"/>
              </a:solidFill>
              <a:effectLst/>
            </c:spPr>
          </c:dPt>
          <c:dPt>
            <c:idx val="1"/>
            <c:bubble3D val="0"/>
            <c:spPr>
              <a:solidFill>
                <a:srgbClr val="8A1C2B"/>
              </a:solidFill>
              <a:effectLst/>
            </c:spPr>
          </c:dPt>
          <c:dPt>
            <c:idx val="2"/>
            <c:bubble3D val="0"/>
            <c:spPr>
              <a:solidFill>
                <a:srgbClr val="6B3A2A"/>
              </a:solidFill>
              <a:effectLst/>
            </c:spPr>
          </c:dPt>
          <c:dPt>
            <c:idx val="3"/>
            <c:bubble3D val="0"/>
            <c:spPr>
              <a:solidFill>
                <a:srgbClr val="E3A33B"/>
              </a:solidFill>
              <a:effectLst/>
            </c:spPr>
          </c:dPt>
          <c:dPt>
            <c:idx val="4"/>
            <c:bubble3D val="0"/>
            <c:spPr>
              <a:solidFill>
                <a:srgbClr val="D9B48F"/>
              </a:solidFill>
              <a:effectLst/>
            </c:spPr>
          </c:dPt>
          <c:dPt>
            <c:idx val="5"/>
            <c:bubble3D val="0"/>
            <c:spPr>
              <a:solidFill>
                <a:srgbClr val="7C8A3A"/>
              </a:solidFill>
              <a:effectLst/>
            </c:spPr>
          </c:dPt>
          <c:dPt>
            <c:idx val="6"/>
            <c:bubble3D val="0"/>
            <c:spPr>
              <a:solidFill>
                <a:srgbClr val="B9A089"/>
              </a:solidFill>
              <a:effectLst/>
            </c:spPr>
          </c:dPt>
          <c:dLbls>
            <c:dLbl>
              <c:idx val="0"/>
              <c:numFmt formatCode="&quot;S/&quot;#,##0" sourceLinked="0"/>
              <c:spPr/>
              <c:txPr>
                <a:bodyPr/>
                <a:lstStyle/>
                <a:p>
                  <a:pPr>
                    <a:defRPr sz="1000" b="1" i="0" u="none" strike="noStrike">
                      <a:solidFill>
                        <a:srgbClr val="FFFFFF"/>
                      </a:solidFill>
                      <a:latin typeface="+mn-lt"/>
                    </a:defRPr>
                  </a:pPr>
                </a:p>
              </c:txPr>
              <c:showLegendKey val="0"/>
              <c:showVal val="1"/>
              <c:showCatName val="0"/>
              <c:showSerName val="0"/>
              <c:showPercent val="0"/>
              <c:showBubbleSize val="0"/>
            </c:dLbl>
            <c:dLbl>
              <c:idx val="1"/>
              <c:numFmt formatCode="&quot;S/&quot;#,##0" sourceLinked="0"/>
              <c:spPr/>
              <c:txPr>
                <a:bodyPr/>
                <a:lstStyle/>
                <a:p>
                  <a:pPr>
                    <a:defRPr sz="1000" b="1" i="0" u="none" strike="noStrike">
                      <a:solidFill>
                        <a:srgbClr val="FFFFFF"/>
                      </a:solidFill>
                      <a:latin typeface="+mn-lt"/>
                    </a:defRPr>
                  </a:pPr>
                </a:p>
              </c:txPr>
              <c:showLegendKey val="0"/>
              <c:showVal val="1"/>
              <c:showCatName val="0"/>
              <c:showSerName val="0"/>
              <c:showPercent val="0"/>
              <c:showBubbleSize val="0"/>
            </c:dLbl>
            <c:dLbl>
              <c:idx val="2"/>
              <c:numFmt formatCode="&quot;S/&quot;#,##0" sourceLinked="0"/>
              <c:spPr/>
              <c:txPr>
                <a:bodyPr/>
                <a:lstStyle/>
                <a:p>
                  <a:pPr>
                    <a:defRPr sz="1000" b="1" i="0" u="none" strike="noStrike">
                      <a:solidFill>
                        <a:srgbClr val="FFFFFF"/>
                      </a:solidFill>
                      <a:latin typeface="+mn-lt"/>
                    </a:defRPr>
                  </a:pPr>
                </a:p>
              </c:txPr>
              <c:showLegendKey val="0"/>
              <c:showVal val="1"/>
              <c:showCatName val="0"/>
              <c:showSerName val="0"/>
              <c:showPercent val="0"/>
              <c:showBubbleSize val="0"/>
            </c:dLbl>
            <c:dLbl>
              <c:idx val="3"/>
              <c:numFmt formatCode="&quot;S/&quot;#,##0" sourceLinked="0"/>
              <c:spPr/>
              <c:txPr>
                <a:bodyPr/>
                <a:lstStyle/>
                <a:p>
                  <a:pPr>
                    <a:defRPr sz="1000" b="1" i="0" u="none" strike="noStrike">
                      <a:solidFill>
                        <a:srgbClr val="FFFFFF"/>
                      </a:solidFill>
                      <a:latin typeface="+mn-lt"/>
                    </a:defRPr>
                  </a:pPr>
                </a:p>
              </c:txPr>
              <c:showLegendKey val="0"/>
              <c:showVal val="1"/>
              <c:showCatName val="0"/>
              <c:showSerName val="0"/>
              <c:showPercent val="0"/>
              <c:showBubbleSize val="0"/>
            </c:dLbl>
            <c:dLbl>
              <c:idx val="4"/>
              <c:numFmt formatCode="&quot;S/&quot;#,##0" sourceLinked="0"/>
              <c:spPr/>
              <c:txPr>
                <a:bodyPr/>
                <a:lstStyle/>
                <a:p>
                  <a:pPr>
                    <a:defRPr sz="1000" b="1" i="0" u="none" strike="noStrike">
                      <a:solidFill>
                        <a:srgbClr val="FFFFFF"/>
                      </a:solidFill>
                      <a:latin typeface="+mn-lt"/>
                    </a:defRPr>
                  </a:pPr>
                </a:p>
              </c:txPr>
              <c:showLegendKey val="0"/>
              <c:showVal val="1"/>
              <c:showCatName val="0"/>
              <c:showSerName val="0"/>
              <c:showPercent val="0"/>
              <c:showBubbleSize val="0"/>
            </c:dLbl>
            <c:dLbl>
              <c:idx val="5"/>
              <c:numFmt formatCode="&quot;S/&quot;#,##0" sourceLinked="0"/>
              <c:spPr/>
              <c:txPr>
                <a:bodyPr/>
                <a:lstStyle/>
                <a:p>
                  <a:pPr>
                    <a:defRPr sz="1000" b="1" i="0" u="none" strike="noStrike">
                      <a:solidFill>
                        <a:srgbClr val="FFFFFF"/>
                      </a:solidFill>
                      <a:latin typeface="+mn-lt"/>
                    </a:defRPr>
                  </a:pPr>
                </a:p>
              </c:txPr>
              <c:showLegendKey val="0"/>
              <c:showVal val="1"/>
              <c:showCatName val="0"/>
              <c:showSerName val="0"/>
              <c:showPercent val="0"/>
              <c:showBubbleSize val="0"/>
            </c:dLbl>
            <c:dLbl>
              <c:idx val="6"/>
              <c:numFmt formatCode="&quot;S/&quot;#,##0" sourceLinked="0"/>
              <c:spPr/>
              <c:txPr>
                <a:bodyPr/>
                <a:lstStyle/>
                <a:p>
                  <a:pPr>
                    <a:defRPr sz="1000" b="1" i="0" u="none" strike="noStrike">
                      <a:solidFill>
                        <a:srgbClr val="FFFFFF"/>
                      </a:solidFill>
                      <a:latin typeface="+mn-lt"/>
                    </a:defRPr>
                  </a:pPr>
                </a:p>
              </c:txPr>
              <c:showLegendKey val="0"/>
              <c:showVal val="1"/>
              <c:showCatName val="0"/>
              <c:showSerName val="0"/>
              <c:showPercent val="0"/>
              <c:showBubbleSize val="0"/>
            </c:dLbl>
            <c:numFmt formatCode="&quot;S/&quot;#,##0" sourceLinked="0"/>
            <c:txPr>
              <a:bodyPr/>
              <a:lstStyle/>
              <a:p>
                <a:pPr>
                  <a:defRPr sz="1800" b="1" i="0" u="none" strike="noStrike">
                    <a:solidFill>
                      <a:srgbClr val="000000"/>
                    </a:solidFill>
                    <a:latin typeface="Arial"/>
                  </a:defRPr>
                </a:pPr>
              </a:p>
            </c:txPr>
            <c:showLegendKey val="0"/>
            <c:showVal val="0"/>
            <c:showCatName val="1"/>
            <c:showSerName val="0"/>
            <c:showPercent val="1"/>
            <c:showBubbleSize val="0"/>
            <c:showLeaderLines val="0"/>
          </c:dLbls>
          <c:cat>
            <c:strRef>
              <c:f>Sheet1!$A$2:$A$8</c:f>
              <c:strCache>
                <c:ptCount val="7"/>
                <c:pt idx="0">
                  <c:v>Vendedores de stand</c:v>
                </c:pt>
                <c:pt idx="1">
                  <c:v>Espacio de stands</c:v>
                </c:pt>
                <c:pt idx="2">
                  <c:v>Marketing</c:v>
                </c:pt>
                <c:pt idx="3">
                  <c:v>Administración</c:v>
                </c:pt>
                <c:pt idx="4">
                  <c:v>Coordinador</c:v>
                </c:pt>
                <c:pt idx="5">
                  <c:v>Ferias</c:v>
                </c:pt>
                <c:pt idx="6">
                  <c:v>Depreciación</c:v>
                </c:pt>
              </c:strCache>
            </c:strRef>
          </c:cat>
          <c:val>
            <c:numRef>
              <c:f>Sheet1!$B$2:$B$8</c:f>
              <c:numCache>
                <c:ptCount val="7"/>
                <c:pt idx="0">
                  <c:v>1973</c:v>
                </c:pt>
                <c:pt idx="1">
                  <c:v>1400</c:v>
                </c:pt>
                <c:pt idx="2">
                  <c:v>900</c:v>
                </c:pt>
                <c:pt idx="3">
                  <c:v>760</c:v>
                </c:pt>
                <c:pt idx="4">
                  <c:v>709</c:v>
                </c:pt>
                <c:pt idx="5">
                  <c:v>450</c:v>
                </c:pt>
                <c:pt idx="6">
                  <c:v>134</c:v>
                </c:pt>
              </c:numCache>
            </c:numRef>
          </c:val>
        </c:ser>
        <c:firstSliceAng val="0"/>
        <c:holeSize val="50"/>
      </c:doughnutChart>
      <c:spPr>
        <a:noFill/>
        <a:ln>
          <a:noFill/>
        </a:ln>
        <a:effectLst/>
      </c:spPr>
    </c:plotArea>
    <c:legend>
      <c:legendPos val="b"/>
      <c:overlay val="0"/>
      <c:txPr>
        <a:bodyPr/>
        <a:lstStyle/>
        <a:p>
          <a:pPr>
            <a:defRPr sz="1000">
              <a:solidFill>
                <a:srgbClr val="6B3A2A"/>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1" i="0" u="none" strike="noStrike">
                <a:solidFill>
                  <a:srgbClr val="4A2018"/>
                </a:solidFill>
                <a:latin typeface="+mn-lt"/>
              </a:defRPr>
            </a:pPr>
            <a:r>
              <a:rPr sz="1500" b="1" i="0" u="none" strike="noStrike">
                <a:solidFill>
                  <a:srgbClr val="4A2018"/>
                </a:solidFill>
                <a:latin typeface="+mn-lt"/>
              </a:rPr>
              <a:t>Brownies al mes frente al punto de equilibrio (2027)</a:t>
            </a:r>
          </a:p>
        </c:rich>
      </c:tx>
      <c:layout/>
      <c:overlay val="0"/>
    </c:title>
    <c:autoTitleDeleted val="0"/>
    <c:plotArea>
      <c:layout/>
      <c:barChart>
        <c:barDir val="col"/>
        <c:grouping val="clustered"/>
        <c:varyColors val="0"/>
        <c:ser>
          <c:idx val="0"/>
          <c:order val="0"/>
          <c:tx>
            <c:strRef>
              <c:f>Sheet1!$B$1</c:f>
              <c:strCache>
                <c:ptCount val="1"/>
                <c:pt idx="0">
                  <c:v>Brownies vendidos</c:v>
                </c:pt>
              </c:strCache>
            </c:strRef>
          </c:tx>
          <c:spPr>
            <a:solidFill>
              <a:srgbClr val="6B3A2A"/>
            </a:solidFill>
            <a:effectLst/>
          </c:spPr>
          <c:invertIfNegative val="0"/>
          <c:dLbls>
            <c:numFmt formatCode="#,##0" sourceLinked="0"/>
            <c:txPr>
              <a:bodyPr/>
              <a:lstStyle/>
              <a:p>
                <a:pPr>
                  <a:defRPr b="0" i="0" strike="noStrike" sz="1200" u="none">
                    <a:solidFill>
                      <a:srgbClr val="3B1A14"/>
                    </a:solidFill>
                    <a:latin typeface="+mn-lt"/>
                  </a:defRPr>
                </a:pPr>
              </a:p>
            </c:txPr>
            <c:showLegendKey val="0"/>
            <c:showVal val="0"/>
            <c:showCatName val="0"/>
            <c:showSerName val="0"/>
            <c:showPercent val="0"/>
            <c:showBubbleSize val="0"/>
            <c:showLeaderLines val="0"/>
          </c:dLbls>
          <c:cat>
            <c:multiLvlStrRef>
              <c:f>Sheet1!$A$2:$A$13</c:f>
              <c:multiLvlStrCache>
                <c:ptCount val="12"/>
                <c:lvl>
                  <c:pt idx="0">
                    <c:v>Ene</c:v>
                  </c:pt>
                  <c:pt idx="1">
                    <c:v>Feb</c:v>
                  </c:pt>
                  <c:pt idx="2">
                    <c:v>Mar</c:v>
                  </c:pt>
                  <c:pt idx="3">
                    <c:v>Abr</c:v>
                  </c:pt>
                  <c:pt idx="4">
                    <c:v>May</c:v>
                  </c:pt>
                  <c:pt idx="5">
                    <c:v>Jun</c:v>
                  </c:pt>
                  <c:pt idx="6">
                    <c:v>Jul</c:v>
                  </c:pt>
                  <c:pt idx="7">
                    <c:v>Ago</c:v>
                  </c:pt>
                  <c:pt idx="8">
                    <c:v>Set</c:v>
                  </c:pt>
                  <c:pt idx="9">
                    <c:v>Oct</c:v>
                  </c:pt>
                  <c:pt idx="10">
                    <c:v>Nov</c:v>
                  </c:pt>
                  <c:pt idx="11">
                    <c:v>Dic</c:v>
                  </c:pt>
                </c:lvl>
              </c:multiLvlStrCache>
            </c:multiLvlStrRef>
          </c:cat>
          <c:val>
            <c:numRef>
              <c:f>Sheet1!$B$2:$B$13</c:f>
              <c:numCache>
                <c:formatCode>General</c:formatCode>
                <c:ptCount val="12"/>
                <c:pt idx="0">
                  <c:v>870</c:v>
                </c:pt>
                <c:pt idx="1">
                  <c:v>2830</c:v>
                </c:pt>
                <c:pt idx="2">
                  <c:v>3734</c:v>
                </c:pt>
                <c:pt idx="3">
                  <c:v>3720</c:v>
                </c:pt>
                <c:pt idx="4">
                  <c:v>4059</c:v>
                </c:pt>
                <c:pt idx="5">
                  <c:v>4038</c:v>
                </c:pt>
                <c:pt idx="6">
                  <c:v>3824</c:v>
                </c:pt>
                <c:pt idx="7">
                  <c:v>5208</c:v>
                </c:pt>
                <c:pt idx="8">
                  <c:v>5603</c:v>
                </c:pt>
                <c:pt idx="9">
                  <c:v>6011</c:v>
                </c:pt>
                <c:pt idx="10">
                  <c:v>5861</c:v>
                </c:pt>
                <c:pt idx="11">
                  <c:v>7028</c:v>
                </c:pt>
              </c:numCache>
            </c:numRef>
          </c:val>
        </c:ser>
        <c:dLbls>
          <c:numFmt formatCode="#,##0" sourceLinked="0"/>
          <c:txPr>
            <a:bodyPr/>
            <a:lstStyle/>
            <a:p>
              <a:pPr>
                <a:defRPr b="0" i="0" strike="noStrike" sz="1200" u="none">
                  <a:solidFill>
                    <a:srgbClr val="3B1A14"/>
                  </a:solidFill>
                  <a:latin typeface="+mn-lt"/>
                </a:defRPr>
              </a:pPr>
            </a:p>
          </c:txPr>
          <c:showLegendKey val="0"/>
          <c:showVal val="0"/>
          <c:showCatName val="0"/>
          <c:showSerName val="0"/>
          <c:showPercent val="0"/>
          <c:showBubbleSize val="0"/>
          <c:showLeaderLines val="0"/>
        </c:dLbls>
        <c:gapWidth val="45"/>
        <c:overlap val="0"/>
        <c:axId val="2094734554"/>
        <c:axId val="2094734552"/>
        <c:axId val="2094734556"/>
      </c:barChart>
      <c:lineChart>
        <c:varyColors val="0"/>
        <c:ser>
          <c:idx val="1"/>
          <c:order val="1"/>
          <c:tx>
            <c:strRef>
              <c:f>Sheet1!$C$1</c:f>
              <c:strCache>
                <c:ptCount val="1"/>
                <c:pt idx="0">
                  <c:v>Punto de equilibrio (2,592)</c:v>
                </c:pt>
              </c:strCache>
            </c:strRef>
          </c:tx>
          <c:spPr>
            <a:solidFill>
              <a:srgbClr val="BA4036"/>
            </a:solidFill>
            <a:ln w="38100" cap="flat">
              <a:solidFill>
                <a:srgbClr val="BA4036"/>
              </a:solidFill>
              <a:prstDash val="solid"/>
              <a:round/>
            </a:ln>
            <a:effectLst/>
          </c:spPr>
          <c:invertIfNegative val="0"/>
          <c:dLbls>
            <c:numFmt formatCode="#,##0" sourceLinked="0"/>
            <c:txPr>
              <a:bodyPr/>
              <a:lstStyle/>
              <a:p>
                <a:pPr>
                  <a:defRPr b="0" i="0" strike="noStrike" sz="1200" u="none">
                    <a:solidFill>
                      <a:srgbClr val="3B1A14"/>
                    </a:solidFill>
                    <a:latin typeface="+mn-lt"/>
                  </a:defRPr>
                </a:pPr>
              </a:p>
            </c:txPr>
            <c:showLegendKey val="0"/>
            <c:showVal val="0"/>
            <c:showCatName val="0"/>
            <c:showSerName val="0"/>
            <c:showPercent val="0"/>
            <c:showBubbleSize val="0"/>
            <c:showLeaderLines val="0"/>
          </c:dLbls>
          <c:marker>
            <c:symbol val="none"/>
            <c:size val="6"/>
            <c:spPr>
              <a:solidFill>
                <a:srgbClr val="BA4036"/>
              </a:solidFill>
              <a:ln w="9525" cap="flat">
                <a:solidFill>
                  <a:srgbClr val="BA4036"/>
                </a:solidFill>
                <a:prstDash val="solid"/>
                <a:round/>
              </a:ln>
              <a:effectLst/>
            </c:spPr>
          </c:marker>
          <c:cat>
            <c:multiLvlStrRef>
              <c:f>Sheet1!$A$2:$A$13</c:f>
              <c:multiLvlStrCache>
                <c:ptCount val="12"/>
                <c:lvl>
                  <c:pt idx="0">
                    <c:v>Ene</c:v>
                  </c:pt>
                  <c:pt idx="1">
                    <c:v>Feb</c:v>
                  </c:pt>
                  <c:pt idx="2">
                    <c:v>Mar</c:v>
                  </c:pt>
                  <c:pt idx="3">
                    <c:v>Abr</c:v>
                  </c:pt>
                  <c:pt idx="4">
                    <c:v>May</c:v>
                  </c:pt>
                  <c:pt idx="5">
                    <c:v>Jun</c:v>
                  </c:pt>
                  <c:pt idx="6">
                    <c:v>Jul</c:v>
                  </c:pt>
                  <c:pt idx="7">
                    <c:v>Ago</c:v>
                  </c:pt>
                  <c:pt idx="8">
                    <c:v>Set</c:v>
                  </c:pt>
                  <c:pt idx="9">
                    <c:v>Oct</c:v>
                  </c:pt>
                  <c:pt idx="10">
                    <c:v>Nov</c:v>
                  </c:pt>
                  <c:pt idx="11">
                    <c:v>Dic</c:v>
                  </c:pt>
                </c:lvl>
              </c:multiLvlStrCache>
            </c:multiLvlStrRef>
          </c:cat>
          <c:val>
            <c:numRef>
              <c:f>Sheet1!$C$2:$C$13</c:f>
              <c:numCache>
                <c:formatCode>General</c:formatCode>
                <c:ptCount val="12"/>
                <c:pt idx="0">
                  <c:v>2592</c:v>
                </c:pt>
                <c:pt idx="1">
                  <c:v>2592</c:v>
                </c:pt>
                <c:pt idx="2">
                  <c:v>2592</c:v>
                </c:pt>
                <c:pt idx="3">
                  <c:v>2592</c:v>
                </c:pt>
                <c:pt idx="4">
                  <c:v>2592</c:v>
                </c:pt>
                <c:pt idx="5">
                  <c:v>2592</c:v>
                </c:pt>
                <c:pt idx="6">
                  <c:v>2592</c:v>
                </c:pt>
                <c:pt idx="7">
                  <c:v>2592</c:v>
                </c:pt>
                <c:pt idx="8">
                  <c:v>2592</c:v>
                </c:pt>
                <c:pt idx="9">
                  <c:v>2592</c:v>
                </c:pt>
                <c:pt idx="10">
                  <c:v>2592</c:v>
                </c:pt>
                <c:pt idx="11">
                  <c:v>2592</c:v>
                </c:pt>
              </c:numCache>
            </c:numRef>
          </c:val>
          <c:smooth val="0"/>
        </c:ser>
        <c:dLbls>
          <c:numFmt formatCode="#,##0" sourceLinked="0"/>
          <c:txPr>
            <a:bodyPr/>
            <a:lstStyle/>
            <a:p>
              <a:pPr>
                <a:defRPr b="0" i="0" strike="noStrike" sz="1200" u="none">
                  <a:solidFill>
                    <a:srgbClr val="3B1A14"/>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6B3A2A"/>
                </a:solidFill>
                <a:latin typeface="+mn-lt"/>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E8D8C4"/>
              </a:solidFill>
              <a:prstDash val="solid"/>
              <a:round/>
            </a:ln>
          </c:spPr>
        </c:majorGridlines>
        <c:numFmt formatCode="#,##0" sourceLinked="0"/>
        <c:majorTickMark val="out"/>
        <c:minorTickMark val="none"/>
        <c:tickLblPos val="nextTo"/>
        <c:spPr>
          <a:ln w="12700" cap="flat">
            <a:noFill/>
            <a:prstDash val="solid"/>
            <a:round/>
          </a:ln>
        </c:spPr>
        <c:txPr>
          <a:bodyPr/>
          <a:lstStyle/>
          <a:p>
            <a:pPr>
              <a:defRPr sz="1100" b="0" i="0" u="none" strike="noStrike">
                <a:solidFill>
                  <a:srgbClr val="6B3A2A"/>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6B3A2A"/>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1" i="0" u="none" strike="noStrike">
                <a:solidFill>
                  <a:srgbClr val="4A2018"/>
                </a:solidFill>
                <a:latin typeface="+mn-lt"/>
              </a:defRPr>
            </a:pPr>
            <a:r>
              <a:rPr sz="1500" b="1" i="0" u="none" strike="noStrike">
                <a:solidFill>
                  <a:srgbClr val="4A2018"/>
                </a:solidFill>
                <a:latin typeface="+mn-lt"/>
              </a:rPr>
              <a:t>Resultado operativo mensual de 2027 (S/)</a:t>
            </a:r>
          </a:p>
        </c:rich>
      </c:tx>
      <c:layout/>
      <c:overlay val="0"/>
    </c:title>
    <c:autoTitleDeleted val="0"/>
    <c:plotArea>
      <c:layout/>
      <c:barChart>
        <c:barDir val="col"/>
        <c:grouping val="clustered"/>
        <c:varyColors val="0"/>
        <c:ser>
          <c:idx val="0"/>
          <c:order val="0"/>
          <c:tx>
            <c:strRef>
              <c:f>Sheet1!$B$1</c:f>
              <c:strCache>
                <c:ptCount val="1"/>
                <c:pt idx="0">
                  <c:v>Resultado operativo</c:v>
                </c:pt>
              </c:strCache>
            </c:strRef>
          </c:tx>
          <c:spPr>
            <a:solidFill>
              <a:srgbClr val="7C8A3A"/>
            </a:solidFill>
            <a:effectLst/>
          </c:spPr>
          <c:invertIfNegative val="0"/>
          <c:dLbls>
            <c:numFmt formatCode="#,##0" sourceLinked="0"/>
            <c:txPr>
              <a:bodyPr/>
              <a:lstStyle/>
              <a:p>
                <a:pPr>
                  <a:defRPr b="0" i="0" strike="noStrike" sz="1100" u="none">
                    <a:solidFill>
                      <a:srgbClr val="3B1A14"/>
                    </a:solidFill>
                    <a:latin typeface="+mn-lt"/>
                  </a:defRPr>
                </a:pPr>
              </a:p>
            </c:txPr>
            <c:showLegendKey val="0"/>
            <c:showVal val="1"/>
            <c:showCatName val="0"/>
            <c:showSerName val="0"/>
            <c:showPercent val="0"/>
            <c:showBubbleSize val="0"/>
            <c:showLeaderLines val="0"/>
          </c:dLbls>
          <c:dPt>
            <c:idx val="0"/>
            <c:invertIfNegative val="0"/>
            <c:bubble3D val="0"/>
            <c:spPr>
              <a:solidFill>
                <a:srgbClr val="BA4036"/>
              </a:solidFill>
              <a:effectLst/>
            </c:spPr>
          </c:dPt>
          <c:dPt>
            <c:idx val="1"/>
            <c:invertIfNegative val="0"/>
            <c:bubble3D val="0"/>
            <c:spPr>
              <a:solidFill>
                <a:srgbClr val="BA4036"/>
              </a:solidFill>
              <a:effectLst/>
            </c:spPr>
          </c:dPt>
          <c:dPt>
            <c:idx val="2"/>
            <c:invertIfNegative val="0"/>
            <c:bubble3D val="0"/>
            <c:spPr>
              <a:solidFill>
                <a:srgbClr val="7C8A3A"/>
              </a:solidFill>
              <a:effectLst/>
            </c:spPr>
          </c:dPt>
          <c:dPt>
            <c:idx val="3"/>
            <c:invertIfNegative val="0"/>
            <c:bubble3D val="0"/>
            <c:spPr>
              <a:solidFill>
                <a:srgbClr val="7C8A3A"/>
              </a:solidFill>
              <a:effectLst/>
            </c:spPr>
          </c:dPt>
          <c:dPt>
            <c:idx val="4"/>
            <c:invertIfNegative val="0"/>
            <c:bubble3D val="0"/>
            <c:spPr>
              <a:solidFill>
                <a:srgbClr val="7C8A3A"/>
              </a:solidFill>
              <a:effectLst/>
            </c:spPr>
          </c:dPt>
          <c:dPt>
            <c:idx val="5"/>
            <c:invertIfNegative val="0"/>
            <c:bubble3D val="0"/>
            <c:spPr>
              <a:solidFill>
                <a:srgbClr val="7C8A3A"/>
              </a:solidFill>
              <a:effectLst/>
            </c:spPr>
          </c:dPt>
          <c:dPt>
            <c:idx val="6"/>
            <c:invertIfNegative val="0"/>
            <c:bubble3D val="0"/>
            <c:spPr>
              <a:solidFill>
                <a:srgbClr val="7C8A3A"/>
              </a:solidFill>
              <a:effectLst/>
            </c:spPr>
          </c:dPt>
          <c:dPt>
            <c:idx val="7"/>
            <c:invertIfNegative val="0"/>
            <c:bubble3D val="0"/>
            <c:spPr>
              <a:solidFill>
                <a:srgbClr val="7C8A3A"/>
              </a:solidFill>
              <a:effectLst/>
            </c:spPr>
          </c:dPt>
          <c:dPt>
            <c:idx val="8"/>
            <c:invertIfNegative val="0"/>
            <c:bubble3D val="0"/>
            <c:spPr>
              <a:solidFill>
                <a:srgbClr val="7C8A3A"/>
              </a:solidFill>
              <a:effectLst/>
            </c:spPr>
          </c:dPt>
          <c:dPt>
            <c:idx val="9"/>
            <c:invertIfNegative val="0"/>
            <c:bubble3D val="0"/>
            <c:spPr>
              <a:solidFill>
                <a:srgbClr val="7C8A3A"/>
              </a:solidFill>
              <a:effectLst/>
            </c:spPr>
          </c:dPt>
          <c:dPt>
            <c:idx val="10"/>
            <c:invertIfNegative val="0"/>
            <c:bubble3D val="0"/>
            <c:spPr>
              <a:solidFill>
                <a:srgbClr val="7C8A3A"/>
              </a:solidFill>
              <a:effectLst/>
            </c:spPr>
          </c:dPt>
          <c:dPt>
            <c:idx val="11"/>
            <c:invertIfNegative val="0"/>
            <c:bubble3D val="0"/>
            <c:spPr>
              <a:solidFill>
                <a:srgbClr val="7C8A3A"/>
              </a:solidFill>
              <a:effectLst/>
            </c:spPr>
          </c:dPt>
          <c:cat>
            <c:multiLvlStrRef>
              <c:f>Sheet1!$A$2:$A$13</c:f>
              <c:multiLvlStrCache>
                <c:ptCount val="12"/>
                <c:lvl>
                  <c:pt idx="0">
                    <c:v>Ene</c:v>
                  </c:pt>
                  <c:pt idx="1">
                    <c:v>Feb</c:v>
                  </c:pt>
                  <c:pt idx="2">
                    <c:v>Mar</c:v>
                  </c:pt>
                  <c:pt idx="3">
                    <c:v>Abr</c:v>
                  </c:pt>
                  <c:pt idx="4">
                    <c:v>May</c:v>
                  </c:pt>
                  <c:pt idx="5">
                    <c:v>Jun</c:v>
                  </c:pt>
                  <c:pt idx="6">
                    <c:v>Jul</c:v>
                  </c:pt>
                  <c:pt idx="7">
                    <c:v>Ago</c:v>
                  </c:pt>
                  <c:pt idx="8">
                    <c:v>Set</c:v>
                  </c:pt>
                  <c:pt idx="9">
                    <c:v>Oct</c:v>
                  </c:pt>
                  <c:pt idx="10">
                    <c:v>Nov</c:v>
                  </c:pt>
                  <c:pt idx="11">
                    <c:v>Dic</c:v>
                  </c:pt>
                </c:lvl>
              </c:multiLvlStrCache>
            </c:multiLvlStrRef>
          </c:cat>
          <c:val>
            <c:numRef>
              <c:f>Sheet1!$B$2:$B$13</c:f>
              <c:numCache>
                <c:formatCode>General</c:formatCode>
                <c:ptCount val="12"/>
                <c:pt idx="0">
                  <c:v>-2191</c:v>
                </c:pt>
                <c:pt idx="1">
                  <c:v>-807</c:v>
                </c:pt>
                <c:pt idx="2">
                  <c:v>1882</c:v>
                </c:pt>
                <c:pt idx="3">
                  <c:v>1359</c:v>
                </c:pt>
                <c:pt idx="4">
                  <c:v>2021</c:v>
                </c:pt>
                <c:pt idx="5">
                  <c:v>1662</c:v>
                </c:pt>
                <c:pt idx="6">
                  <c:v>1391</c:v>
                </c:pt>
                <c:pt idx="7">
                  <c:v>2592</c:v>
                </c:pt>
                <c:pt idx="8">
                  <c:v>3207</c:v>
                </c:pt>
                <c:pt idx="9">
                  <c:v>3613</c:v>
                </c:pt>
                <c:pt idx="10">
                  <c:v>3240</c:v>
                </c:pt>
                <c:pt idx="11">
                  <c:v>2968</c:v>
                </c:pt>
              </c:numCache>
            </c:numRef>
          </c:val>
        </c:ser>
        <c:dLbls>
          <c:numFmt formatCode="#,##0" sourceLinked="0"/>
          <c:txPr>
            <a:bodyPr/>
            <a:lstStyle/>
            <a:p>
              <a:pPr>
                <a:defRPr b="0" i="0" strike="noStrike" sz="1100" u="none">
                  <a:solidFill>
                    <a:srgbClr val="3B1A14"/>
                  </a:solidFill>
                  <a:latin typeface="+mn-lt"/>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6B3A2A"/>
                </a:solidFill>
                <a:latin typeface="+mn-lt"/>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E8D8C4"/>
              </a:solidFill>
              <a:prstDash val="solid"/>
              <a:round/>
            </a:ln>
          </c:spPr>
        </c:majorGridlines>
        <c:numFmt formatCode="#,##0" sourceLinked="0"/>
        <c:majorTickMark val="out"/>
        <c:minorTickMark val="none"/>
        <c:tickLblPos val="nextTo"/>
        <c:spPr>
          <a:ln w="12700" cap="flat">
            <a:noFill/>
            <a:prstDash val="solid"/>
            <a:round/>
          </a:ln>
        </c:spPr>
        <c:txPr>
          <a:bodyPr/>
          <a:lstStyle/>
          <a:p>
            <a:pPr>
              <a:defRPr sz="1100" b="0" i="0" u="none" strike="noStrike">
                <a:solidFill>
                  <a:srgbClr val="6B3A2A"/>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1" i="0" u="none" strike="noStrike">
                <a:solidFill>
                  <a:srgbClr val="4A2018"/>
                </a:solidFill>
                <a:latin typeface="+mn-lt"/>
              </a:defRPr>
            </a:pPr>
            <a:r>
              <a:rPr sz="1500" b="1" i="0" u="none" strike="noStrike">
                <a:solidFill>
                  <a:srgbClr val="4A2018"/>
                </a:solidFill>
                <a:latin typeface="+mn-lt"/>
              </a:rPr>
              <a:t>Precio por 20 g (S/)</a:t>
            </a:r>
          </a:p>
        </c:rich>
      </c:tx>
      <c:layout/>
      <c:overlay val="0"/>
    </c:title>
    <c:autoTitleDeleted val="0"/>
    <c:plotArea>
      <c:layout/>
      <c:barChart>
        <c:barDir val="bar"/>
        <c:grouping val="stacked"/>
        <c:varyColors val="0"/>
        <c:ser>
          <c:idx val="0"/>
          <c:order val="0"/>
          <c:tx>
            <c:strRef>
              <c:f>Sheet1!$B$1</c:f>
              <c:strCache>
                <c:ptCount val="1"/>
                <c:pt idx="0">
                  <c:v>Competencia</c:v>
                </c:pt>
              </c:strCache>
            </c:strRef>
          </c:tx>
          <c:spPr>
            <a:solidFill>
              <a:srgbClr val="D9B48F"/>
            </a:solidFill>
            <a:effectLst/>
          </c:spPr>
          <c:invertIfNegative val="0"/>
          <c:dLbls>
            <c:numFmt formatCode="&quot;S/&quot;0.00;;;" sourceLinked="0"/>
            <c:txPr>
              <a:bodyPr/>
              <a:lstStyle/>
              <a:p>
                <a:pPr>
                  <a:defRPr b="1" i="0" strike="noStrike" sz="1200" u="none">
                    <a:solidFill>
                      <a:srgbClr val="3B1A14"/>
                    </a:solidFill>
                    <a:latin typeface="+mn-lt"/>
                  </a:defRPr>
                </a:pPr>
              </a:p>
            </c:txPr>
            <c:dLblPos val="inEnd"/>
            <c:showLegendKey val="0"/>
            <c:showVal val="1"/>
            <c:showCatName val="0"/>
            <c:showSerName val="0"/>
            <c:showPercent val="0"/>
            <c:showBubbleSize val="0"/>
            <c:showLeaderLines val="0"/>
          </c:dLbls>
          <c:cat>
            <c:multiLvlStrRef>
              <c:f>Sheet1!$A$2:$A$8</c:f>
              <c:multiLvlStrCache>
                <c:ptCount val="7"/>
                <c:lvl>
                  <c:pt idx="0">
                    <c:v>Bimbo Nutra Bien</c:v>
                  </c:pt>
                  <c:pt idx="1">
                    <c:v>Siete Dragones</c:v>
                  </c:pt>
                  <c:pt idx="2">
                    <c:v>Nutri H</c:v>
                  </c:pt>
                  <c:pt idx="3">
                    <c:v>AndiBite pack de 12</c:v>
                  </c:pt>
                  <c:pt idx="4">
                    <c:v>Fika</c:v>
                  </c:pt>
                  <c:pt idx="5">
                    <c:v>Mamalama</c:v>
                  </c:pt>
                  <c:pt idx="6">
                    <c:v>AndiBite pack de 6</c:v>
                  </c:pt>
                </c:lvl>
              </c:multiLvlStrCache>
            </c:multiLvlStrRef>
          </c:cat>
          <c:val>
            <c:numRef>
              <c:f>Sheet1!$B$2:$B$8</c:f>
              <c:numCache>
                <c:formatCode>General</c:formatCode>
                <c:ptCount val="7"/>
                <c:pt idx="0">
                  <c:v>1.67</c:v>
                </c:pt>
                <c:pt idx="1">
                  <c:v>3.01</c:v>
                </c:pt>
                <c:pt idx="2">
                  <c:v>3.2</c:v>
                </c:pt>
                <c:pt idx="3">
                  <c:v>0</c:v>
                </c:pt>
                <c:pt idx="4">
                  <c:v>4</c:v>
                </c:pt>
                <c:pt idx="5">
                  <c:v>4.1</c:v>
                </c:pt>
                <c:pt idx="6">
                  <c:v>0</c:v>
                </c:pt>
              </c:numCache>
            </c:numRef>
          </c:val>
        </c:ser>
        <c:ser>
          <c:idx val="1"/>
          <c:order val="1"/>
          <c:tx>
            <c:strRef>
              <c:f>Sheet1!$C$1</c:f>
              <c:strCache>
                <c:ptCount val="1"/>
                <c:pt idx="0">
                  <c:v>AndiBite</c:v>
                </c:pt>
              </c:strCache>
            </c:strRef>
          </c:tx>
          <c:spPr>
            <a:solidFill>
              <a:srgbClr val="BA4036"/>
            </a:solidFill>
            <a:effectLst/>
          </c:spPr>
          <c:invertIfNegative val="0"/>
          <c:dLbls>
            <c:numFmt formatCode="&quot;S/&quot;0.00;;;" sourceLinked="0"/>
            <c:txPr>
              <a:bodyPr/>
              <a:lstStyle/>
              <a:p>
                <a:pPr>
                  <a:defRPr b="1" i="0" strike="noStrike" sz="1200" u="none">
                    <a:solidFill>
                      <a:srgbClr val="3B1A14"/>
                    </a:solidFill>
                    <a:latin typeface="+mn-lt"/>
                  </a:defRPr>
                </a:pPr>
              </a:p>
            </c:txPr>
            <c:dLblPos val="inEnd"/>
            <c:showLegendKey val="0"/>
            <c:showVal val="1"/>
            <c:showCatName val="0"/>
            <c:showSerName val="0"/>
            <c:showPercent val="0"/>
            <c:showBubbleSize val="0"/>
            <c:showLeaderLines val="0"/>
          </c:dLbls>
          <c:cat>
            <c:multiLvlStrRef>
              <c:f>Sheet1!$A$2:$A$8</c:f>
              <c:multiLvlStrCache>
                <c:ptCount val="7"/>
                <c:lvl>
                  <c:pt idx="0">
                    <c:v>Bimbo Nutra Bien</c:v>
                  </c:pt>
                  <c:pt idx="1">
                    <c:v>Siete Dragones</c:v>
                  </c:pt>
                  <c:pt idx="2">
                    <c:v>Nutri H</c:v>
                  </c:pt>
                  <c:pt idx="3">
                    <c:v>AndiBite pack de 12</c:v>
                  </c:pt>
                  <c:pt idx="4">
                    <c:v>Fika</c:v>
                  </c:pt>
                  <c:pt idx="5">
                    <c:v>Mamalama</c:v>
                  </c:pt>
                  <c:pt idx="6">
                    <c:v>AndiBite pack de 6</c:v>
                  </c:pt>
                </c:lvl>
              </c:multiLvlStrCache>
            </c:multiLvlStrRef>
          </c:cat>
          <c:val>
            <c:numRef>
              <c:f>Sheet1!$C$2:$C$8</c:f>
              <c:numCache>
                <c:formatCode>General</c:formatCode>
                <c:ptCount val="7"/>
                <c:pt idx="0">
                  <c:v>0</c:v>
                </c:pt>
                <c:pt idx="1">
                  <c:v>0</c:v>
                </c:pt>
                <c:pt idx="2">
                  <c:v>0</c:v>
                </c:pt>
                <c:pt idx="3">
                  <c:v>3.91</c:v>
                </c:pt>
                <c:pt idx="4">
                  <c:v>0</c:v>
                </c:pt>
                <c:pt idx="5">
                  <c:v>0</c:v>
                </c:pt>
                <c:pt idx="6">
                  <c:v>4.15</c:v>
                </c:pt>
              </c:numCache>
            </c:numRef>
          </c:val>
        </c:ser>
        <c:dLbls>
          <c:numFmt formatCode="&quot;S/&quot;0.00;;;" sourceLinked="0"/>
          <c:txPr>
            <a:bodyPr/>
            <a:lstStyle/>
            <a:p>
              <a:pPr>
                <a:defRPr b="1" i="0" strike="noStrike" sz="1200" u="none">
                  <a:solidFill>
                    <a:srgbClr val="3B1A14"/>
                  </a:solidFill>
                  <a:latin typeface="+mn-lt"/>
                </a:defRPr>
              </a:pPr>
            </a:p>
          </c:txPr>
          <c:dLblPos val="inEnd"/>
          <c:showLegendKey val="0"/>
          <c:showVal val="1"/>
          <c:showCatName val="0"/>
          <c:showSerName val="0"/>
          <c:showPercent val="0"/>
          <c:showBubbleSize val="0"/>
          <c:showLeaderLines val="0"/>
        </c:dLbls>
        <c:gapWidth val="35"/>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200" b="0" i="0" u="none" strike="noStrike">
                <a:solidFill>
                  <a:srgbClr val="6B3A2A"/>
                </a:solidFill>
                <a:latin typeface="+mn-lt"/>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100" b="0" i="0" u="none" strike="noStrike">
                <a:solidFill>
                  <a:srgbClr val="6B3A2A"/>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Presentamos los trabajos de campo 5 a 8 de AndiBite, el mini brownie de 20 g con sangrecita. Todo sale de la misma base: el público reformulado (padres conscientes y planificados, NSE A/B), el costeo con maquila y los precios confirmados por el equipo el 9 de octubre de 2026 (pack de 6 a S/24.90).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Los cuatro trabajos se conectan: el cliente (TC5) define cómo nos relacionamos y cobramos (TC6); eso arma el Canvas con socios, recursos, actividades y costos (TC7); y todo se resume en el mapa de propuesta de valor (TC8).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Trabajo de campo 5: arquetipo de cliente, buyer persona, tipos de mercado y selección del canal de distribución.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Sesión 05: el público objetivo orienta (un rango de edad, NSE y distrito) y el arquetipo conecta (una persona con nombre, dolor y hábito). Regla de 3 de la clase: nombre, dolor y hábito. Le vendemos a Claudia, no a "madres de 32 a 45". Datos: APEIM 2025, CPI 2026 y documento 04.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Partes esenciales de un arquetipo según la sesión 05: nombre, edad y ocupación; hábitos, frustraciones y valores; canales y comportamiento de compra. Guardiana del Hierro (la representa Claudia), El Resolutivo (Rodrigo) y El Prescriptor, que valida la marca ante los otros dos. Los porcentajes son el peso esperado de cada arquetipo en el volumen.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Claudia Mendoza Ríos, 38 años, San Borja (zona 7 de APEIM, 71.6 % de hogares A/B). Abogada corporativa, casada con Diego, hijos Matías (7) y Luciana (4); fue madre a los 31 y 34, como el 53.1 % de las madres de Lima que tienen hijos después de los 30. Ingreso familiar S/13,500 (hipótesis entre los promedios B y A de APEIM 2025). Objeciones: ¿no sabe a sangrecita?, ¿cuántos mg de hierro?, ¿tiene registro sanitario? Cómo le vendemos: degustación con el niño delante, hierro en mg y registro sanitario visibles.
IMAGEN 1 — prompt para Nano Banana (proporción 3:4):
Photorealistic editorial portrait of a 38-year-old Peruvian woman, a corporate lawyer from San Borja, Lima. Latin American mestiza features, shoulder-length dark brown hair, natural makeup, warm and confident half-smile. She wears a cream silk blouse under a camel blazer. She stands in a bright modern kitchen early in the morning, holding a child's school lunchbox in both hands. Soft window light from the left, background softly blurred with warm wood and cream tones and small accents of chocolate brown and brick red. Shot on an 85mm lens at f/2, shallow depth of field, natural skin texture, no retouched plastic look. Vertical 3:4 composition, waist-up framing, subject centered with some space above the head. No text, no logos, no watermark.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Rodrigo Salazar, 42 años, La Molina. Gerente de operaciones; su esposa viaja por trabajo y él arma las loncheras. Ingreso familiar S/18,000 (hipótesis, A2). No busca salud, busca resolver: un pack que dure la semana, que aguante la mochila y que pueda pedir por WhatsApp con recordatorio. El pack de 12 a S/46.90 equivale a S/23.45 por cada 6, dentro de lo que pagaría (S/18 a 24).
IMAGEN 2 — prompt para Nano Banana (proporción 3:4):
Photorealistic editorial portrait of a 42-year-old Peruvian man, an operations manager from La Molina, Lima. Short dark hair with a few grey strands, light stubble, friendly and practical expression, slightly hurried morning energy. He wears a navy quarter-zip sweater over a light blue shirt and a smartwatch. Early morning in a modern home kitchen: he holds his phone in one hand (a chat app on screen, not legible) while closing a child's school lunchbox with the other. Warm morning light, cream walls, wooden counter, small accents of chocolate brown and brick red. 85mm lens, f/2, shallow depth of field, natural skin texture. Vertical 3:4 composition, waist-up framing. No text, no logos, no watermark.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Tipos de mercado de la sesión 05: consumo, industrial, servicios, gobierno y global. AndiBite vende en el MERCADO DE CONSUMO: personas que compran para su familia y buscan conveniencia y confianza. Industrial y servicios no aplican. Gobierno (programas contra la anemia) y global (peruanos en el exterior) quedan como opción para el año 3, cuando haya volumen y registro de exportación. Dentro del consumo atacamos un nicho (NSE A/B de Lima Top y Moderna) con dos segmentos: salud verificable y ahorro de tiempo.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Embudo del documento 04 (APEIM 2025, CPI 2026, INEI, Kantar). TAM: todas las loncheras con horneado o snack envasado de niños de 4 a 11 años en Lima y Callao (S/130.9 millones). SAM: niños de NSE A/B en toda Lima a precio premium (S/62.8 millones). Núcleo: NSE A/B de las zonas 6 y 7 de APEIM (S/17.3 millones). SOM del año 1 (enero a diciembre de 2027): 52,786 brownies y S/230,740 con IGV, vendidos sobre todo en stands, carritos y ferias; es apenas el 1.2 % del núcleo. Ajuste de -5 % por el Censo 2025 aplicado en el documento 04.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 cinco fases del canal según Osterwalder. Por indicación de la profesora, la venta física es el mejor escenario: el focus 1 mostró que sin prueba del niño no hay compra, y en el stand el niño prueba delante del padre. La compra se cierra en el stand (fase en rojo) y la recompra llega por WhatsApp con un recordatorio, sin suscripción. Canal directo (sesión 05: sin intermediarios, más esfuerzo y más control) frente a canal indirecto (minoristas que venden por nosotros). Unidades del año 1 (Excel, hoja Mensual): stands y carritos 22,625; WhatsApp 9,176; colegios 9,165; ferias 8,100; naturistas 3,720.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Criterios: margen por brownie (contribución por unidad del Excel antes de alquiler y personal: stand S/2.39, feria S/2.48, WhatsApp S/1.13, quiosco S/0.99, naturista S/0.89), control del mensaje, costo de entrada, alcance del segmento y prueba del niño, que según el focus 1 es la condición para comprar. La góndola del supermercado se queda con 20 a 40 % y paga a 30-90 días: entra en el año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Puntos de venta (documento 08): programas para emprendedores de Jockey Plaza, Larcomar (El Mercadito del Emprendedor) y La Rambla San Borja; carrito en la entrada de Wong o Vivanda; ferias navideñas (Bazar CCL, Navi Fest) y de campaña escolar; kermeses y cumpleaños. Plan: 1 punto en enero, 2 de febrero a julio y 3 de agosto a diciembre de 2027, solo fines de semana. Cada punto lo atiende un(a) vendedor(a) pagado(a) a S/90 por día; el espacio cuesta S/600 por punto al mes y el stand en feria, S/1,800.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Trabajo de campo 6: relaciones con el cliente y los diferentes tipos de ingresos.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Los seis tipos de relación de Osterwalder y cómo los usa AndiBite. Las tres fuertes (asistencia personal por WhatsApp, recordatorio automático de recompra y comunidad de mamás embajadoras) sostienen la recompra; las de apoyo crecen con el volumen. Con los colegios y naturistas la relación es exclusiva: un socio responde por cada cuenta.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Captar: en el stand el niño prueba gratis delante del padre, que compra ahí mismo; la caja de 3 sabores (S/12) se lleva para la semana. Fidelizar: recordatorio por WhatsApp cuando el pack está por acabarse (unos 12 días después de la compra), sin suscripción ni compromiso. Crecer: mamá embajadora por salón y paso al pack de 12. Metas del modelo: 80 brownies por día en cada punto, 35 % de lo vendido en físico vuelve por WhatsApp y 3 puntos de venta desde agosto de 2027.
IMAGEN 3 — prompt para Nano Banana (proporción 9:16 · adjuntar la foto del empaque):
Use the attached AndiBite package image only as a reference for the brand colors and the product. Top-down flat-lay photo of an open children's school lunchbox on a light wooden table: one mini chocolate brownie (about 5 x 3 cm, fudgy, dark cocoa color, crackly top) inside a small clear individual bag, fresh strawberries and banana slices in a small container, a reusable water bottle and a folded cloth napkin. Next to the lunchbox, the AndiBite stand-up pouch from the reference, slightly out of focus, label turned partly away. Soft natural morning light, clean food styling, warm palette of cream and chocolate brown with brick red accents. Vertical 9:16 composition, lunchbox centered, calm empty area at the top. Do not invent or rewrite any text on the package, no extra logos, no watermark.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Tipos de ingreso (Osterwalder): venta de activos en stands y carritos, en ferias y eventos, y por WhatsApp; y venta mayorista B2B. Porcentajes sobre las ventas con IGV del año 1 (S/230,740, enero a diciembre de 2027), hoja Proyeccion del Excel. Mecanismo de precio: fijo por lista, con descuento por volumen. Precios confirmados por el equipo el 9 de octubre de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Datos del Excel (hojas Proyeccion y Mensual). En el stand 6 de cada 10 brownies se venden sueltos a S/5.50, por eso la unidad trae el 59 % de los ingresos. Enero es el mes de arranque (un punto y vacaciones); en febrero entra la campaña escolar, en marzo los colegios, en agosto el tercer punto y diciembre sube con las 2 ferias navideñas.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Trabajo de campo 7: asociaciones, recursos, actividades y costos; presentación del modelo Canvas.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Regla de las 3 C (sesión 07): una alianza es clave si cumple 2 o más: conecta con tu cliente, convierte valor en acción y complementa lo que no tienes. Todos los socios cumplen al menos 2. La planta y los proveedores no conectan con el cliente, pero convierten (producen) y complementan (planta con HACCP que no tenemos). Malls, supermercados y ferias cumplen las 3: tienen el público, permiten vender sin local propio y ponen el espacio.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Test de la sesión 07: un recurso es clave si respondes sí a 2 de 3 preguntas: si falta, ¿la idea no funciona?, ¿te diferencia?, ¿es difícil de copiar? La fórmula, la marca con registro sanitario y la base de clientes de WhatsApp pasan las 3. Tipos: físicos, digitales, humanos, financieros e intangibles. La inversión inicial de S/37,894 está en la hoja Inversion del Excel: S/25,000 de los socios y un préstamo de S/13,000 en 24 cuotas.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Sesión 08: toda actividad genera un costo. Tipos de actividad: producción, resolución de problemas y plataforma. Producir cuesta S/0.40 de insumos (sangrecita fresca) y S/0.45 de maquila por brownie; la calidad, S/250 por análisis de lote; vender en stands, S/600 por punto al mes de espacio y S/90 por día de vendedor; las ferias, S/1,800 cada una; la recompra, S/0.80 de delivery por brownie y el coordinador en planilla (S/709 al mes); el contenido, S/900 al mes de marketing.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Hoja Costeo del Excel, opción B (cada brownie en bolsita, dentro del doypack). Precio en stand S/26.00 con IGV = S/22.03 sin IGV. Producción S/8.29: maquila S/2.70 (S/0.45 por brownie), insumos S/2.40 (S/0.40 por brownie, con sangrecita fresca de pollo que la planta cuece), empaque S/1.79, calidad, transporte y almacén S/1.06 y merma S/0.34. Degustación (1 brownie por cada 10 vendidos), movilidad, pasarela de 3 % y renta de 1 %: S/2.62. Contribución S/11.12 por pack, antes del espacio y del vendedor.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Hoja Inversion del Excel. Los documentos se consideran listos desde el primer día de ventas (enero de 2027, mes 1): su costo se paga una sola vez dentro de la inversión inicial y no limita la proyección. La póliza de responsabilidad civil para stands cuesta S/600 al año; la tasa del registro sanitario es S/0 con el TUPA 2026. El arranque incluye empaque (S/3,030), stock de enero y febrero (S/4,135), marketing de lanzamiento (S/3,204) y capital de trabajo (S/8,000).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Tipos de costo (sesión 08): variables (insumos, maquila, empaque, delivery, pasarela), fijos (administración S/760, coordinador en planilla S/709, marketing S/900 y depreciación S/134: S/2,503 al mes) y de escala (espacio de S/600 y vendedor de S/90 por día por cada punto de venta que se abre). Stands y ferias del año: espacio S/16,800, vendedores S/23,670 y 3 ferias S/5,400. Cada brownie deja S/0.97 después de stands y ferias; el equilibrio es de 2,592 brownies al mes (432 packs de 6). Enero (un punto) y febrero quedan por debajo.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Resultado operativo mensual de la opción B (hoja Mensual del Excel), con vendedores en todos los stands y coordinador en planilla. Enero pierde S/2,191 (un solo punto y vacaciones) y febrero S/807 (feria de campaña escolar); desde marzo todos los meses ganan. Del resultado operativo (S/20,938) a la utilidad neta: más S/1,955 de pagos a cuenta ya restados, menos S/3,222 de intereses del préstamo y menos S/1,967 de impuesto a la renta (RMT, 10 %): S/17,704. La inversión de S/37,894 se recupera en el mes 18 (junio de 2028).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Modelo Canvas con los nueve bloques de Osterwalder y Pigneur, actualizado con la venta física como canal principal, los documentos dentro de la inversión inicial y el costeo con maquila. El detalle de cada bloque está en las diapositivas anteriores y en el documento 04-reformulacion/07.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Trabajo de campo 8: mapa de propuesta de valor (Value Proposition Canvas).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Value Proposition Canvas de Osterwalder. A la derecha, el perfil del cliente: trabajos, dolores y alegrías, con evidencia de las 10 entrevistas, el focus 1 y datos secundarios (Ipsos 2025, Kantar 2025, ENDES). A la izquierda, el mapa de valor: productos y servicios, aliviadores de dolor y creadores de alegrías. El encaje se detalla en la siguiente diapositiva.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Encaje problema-solución. Evidencias: rechazo de la sangrecita visible en las entrevistas ("olía feo", "parecía carbón"); 83 % cambia su compra por los octógonos (Ipsos Perú, 21/02/2025); 42 % desconfía de que un envasado sea saludable (Kantar, 2025); "el jueves ya no sé qué mandar" y la mochila que malogra la comida (entrevistas). El "sin octógono" solo se imprime cuando el laboratorio lo confirme.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Precios por 20 g consultados el 3 de octubre de 2026 (documento 02): Nutri H S/3.20, Fika S/4.00, Mamalama S/4.10, Siete Dragones S/3.01, Bimbo Nutra Bien S/1.67. AndiBite: pack de 6 a S/24.90 (S/4.15 por brownie) y pack de 12 a S/46.90 (S/3.91). Completar con los datos del store check de La Molina.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Cierre con la propuesta de valor en una frase y los tres pasos siguientes: cargar los resultados del focus 2, cotizar los stands (Jockey, Larcomar, La Rambla, Wong, Vivanda) y la maquila, y elegir los dos primeros puntos de venta para enero y febrero de 2027.
IMAGEN 4 — prompt para Nano Banana (proporción 2:3 · adjuntar la foto del empaque):
Use the attached AndiBite package image only as a reference for the pouch and colors. Warm candid lifestyle photo of a 7-year-old Peruvian boy in a private school uniform (white polo shirt and navy sweater) sitting on a bench in a school courtyard at recess. He has just opened his lunchbox and smiles while holding a mini chocolate brownie; the AndiBite pouch is visible in the lunchbox with the label partly turned away. Soft daylight, shallow depth of field, background of blurred green trees and classmates. Warm color grading with chocolate brown, cream and brick red accents. Natural and unposed, eye-level camera, vertical 2:3 composition with the boy on the center-left. No text, no extra logos, no watermark.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image" Target="../media/image-1005-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PORTADA">
    <p:bg>
      <p:bgPr>
        <a:solidFill>
          <a:srgbClr val="4A2018"/>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3246120"/>
            <a:ext cx="6766560" cy="777240"/>
          </a:xfrm>
          <a:prstGeom prst="rect">
            <a:avLst/>
          </a:prstGeom>
          <a:noFill/>
          <a:ln/>
        </p:spPr>
        <p:txBody>
          <a:bodyPr wrap="square" rtlCol="0"/>
          <a:lstStyle>
            <a:lvl1pPr algn="l" indent="0" marL="0">
              <a:buNone/>
              <a:defRPr lang="en-US" sz="4000" b="1" dirty="0">
                <a:solidFill>
                  <a:schemeClr val="bg2"/>
                </a:solidFill>
              </a:defRPr>
            </a:lvl1pPr>
          </a:lstStyle>
          <a:p>
            <a:pPr algn="l" indent="0" marL="0">
              <a:buNone/>
            </a:pPr>
            <a:endParaRPr lang="en-US" sz="4000" dirty="0"/>
          </a:p>
        </p:txBody>
      </p:sp>
      <p:sp>
        <p:nvSpPr>
          <p:cNvPr id="3" name="Text 0"/>
          <p:cNvSpPr/>
          <p:nvPr>
            <p:ph idx="101" type="body" hasCustomPrompt="1"/>
          </p:nvPr>
        </p:nvSpPr>
        <p:spPr>
          <a:xfrm>
            <a:off x="731520" y="4069080"/>
            <a:ext cx="6766560" cy="731520"/>
          </a:xfrm>
          <a:prstGeom prst="rect">
            <a:avLst/>
          </a:prstGeom>
          <a:noFill/>
          <a:ln/>
        </p:spPr>
        <p:txBody>
          <a:bodyPr wrap="square" rtlCol="0"/>
          <a:lstStyle>
            <a:lvl1pPr indent="0" marL="0">
              <a:buNone/>
              <a:defRPr lang="en-US" sz="1800" dirty="0">
                <a:solidFill>
                  <a:schemeClr val="accent5"/>
                </a:solidFill>
              </a:defRPr>
            </a:lvl1pPr>
          </a:lstStyle>
          <a:p>
            <a:pPr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IERRE">
    <p:bg>
      <p:bgPr>
        <a:solidFill>
          <a:srgbClr val="4A2018"/>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1234440"/>
            <a:ext cx="6766560" cy="1463040"/>
          </a:xfrm>
          <a:prstGeom prst="rect">
            <a:avLst/>
          </a:prstGeom>
          <a:noFill/>
          <a:ln/>
        </p:spPr>
        <p:txBody>
          <a:bodyPr wrap="square" rtlCol="0"/>
          <a:lstStyle>
            <a:lvl1pPr algn="l" indent="0" marL="0">
              <a:buNone/>
              <a:defRPr lang="en-US" sz="4800" b="1" dirty="0">
                <a:solidFill>
                  <a:schemeClr val="bg2"/>
                </a:solidFill>
              </a:defRPr>
            </a:lvl1pPr>
          </a:lstStyle>
          <a:p>
            <a:pPr algn="l" indent="0" marL="0">
              <a:buNone/>
            </a:pPr>
            <a:endParaRPr lang="en-US" sz="48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ECCION">
    <p:bg>
      <p:bgPr>
        <a:solidFill>
          <a:srgbClr val="4A2018"/>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514600"/>
            <a:ext cx="6949440" cy="1417320"/>
          </a:xfrm>
          <a:prstGeom prst="rect">
            <a:avLst/>
          </a:prstGeom>
          <a:noFill/>
          <a:ln/>
        </p:spPr>
        <p:txBody>
          <a:bodyPr wrap="square" rtlCol="0"/>
          <a:lstStyle>
            <a:lvl1pPr algn="l" indent="0" marL="0">
              <a:buNone/>
              <a:defRPr lang="en-US" sz="4400" b="1" dirty="0">
                <a:solidFill>
                  <a:schemeClr val="bg2"/>
                </a:solidFill>
              </a:defRPr>
            </a:lvl1pPr>
          </a:lstStyle>
          <a:p>
            <a:pPr algn="l" indent="0" marL="0">
              <a:buNone/>
            </a:pPr>
            <a:endParaRPr lang="en-US" sz="4400" dirty="0"/>
          </a:p>
        </p:txBody>
      </p:sp>
      <p:sp>
        <p:nvSpPr>
          <p:cNvPr id="3" name="Text 0"/>
          <p:cNvSpPr/>
          <p:nvPr>
            <p:ph idx="101" type="body" hasCustomPrompt="1"/>
          </p:nvPr>
        </p:nvSpPr>
        <p:spPr>
          <a:xfrm>
            <a:off x="731520" y="4069080"/>
            <a:ext cx="6949440" cy="1188720"/>
          </a:xfrm>
          <a:prstGeom prst="rect">
            <a:avLst/>
          </a:prstGeom>
          <a:noFill/>
          <a:ln/>
        </p:spPr>
        <p:txBody>
          <a:bodyPr wrap="square" rtlCol="0"/>
          <a:lstStyle>
            <a:lvl1pPr indent="0" marL="0">
              <a:buNone/>
              <a:defRPr lang="en-US" sz="1800" dirty="0">
                <a:solidFill>
                  <a:schemeClr val="accent5"/>
                </a:solidFill>
              </a:defRPr>
            </a:lvl1pPr>
          </a:lstStyle>
          <a:p>
            <a:pPr indent="0" marL="0">
              <a:buNone/>
            </a:pPr>
            <a:endParaRPr lang="en-US" sz="1800" dirty="0"/>
          </a:p>
        </p:txBody>
      </p:sp>
      <p:pic>
        <p:nvPicPr>
          <p:cNvPr id="4" name="Image 0" descr="img/logo_light.png">    </p:cNvPr>
          <p:cNvPicPr>
            <a:picLocks noChangeAspect="1"/>
          </p:cNvPicPr>
          <p:nvPr/>
        </p:nvPicPr>
        <p:blipFill>
          <a:blip r:embed="rId1"/>
          <a:stretch>
            <a:fillRect/>
          </a:stretch>
        </p:blipFill>
        <p:spPr>
          <a:xfrm>
            <a:off x="731520" y="5989320"/>
            <a:ext cx="1325880" cy="457200"/>
          </a:xfrm>
          <a:prstGeom prst="rect">
            <a:avLst/>
          </a:prstGeom>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ONTENIDO">
    <p:bg>
      <p:bgPr>
        <a:solidFill>
          <a:srgbClr val="FBF3E8"/>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rtlCol="0"/>
          <a:lstStyle>
            <a:lvl1pPr indent="0" marL="0">
              <a:buNone/>
              <a:defRPr lang="en-US" sz="1200" b="1" spc="200" kern="0" dirty="0">
                <a:solidFill>
                  <a:schemeClr val="accent1"/>
                </a:solidFill>
              </a:defRPr>
            </a:lvl1pPr>
          </a:lstStyle>
          <a:p>
            <a:pPr indent="0" marL="0">
              <a:buNone/>
            </a:pP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rtlCol="0"/>
          <a:lstStyle>
            <a:lvl1pPr algn="l" indent="0" marL="0">
              <a:buNone/>
              <a:defRPr lang="en-US" sz="3400" b="1" dirty="0">
                <a:solidFill>
                  <a:schemeClr val="tx2"/>
                </a:solidFill>
              </a:defRPr>
            </a:lvl1pPr>
          </a:lstStyle>
          <a:p>
            <a:pPr algn="l" indent="0" marL="0">
              <a:buNone/>
            </a:pPr>
            <a:endParaRPr lang="en-US" sz="3400" dirty="0"/>
          </a:p>
        </p:txBody>
      </p:sp>
      <p:sp>
        <p:nvSpPr>
          <p:cNvPr id="4" name="Text 0"/>
          <p:cNvSpPr/>
          <p:nvPr/>
        </p:nvSpPr>
        <p:spPr>
          <a:xfrm>
            <a:off x="548640" y="6455664"/>
            <a:ext cx="7315200" cy="256032"/>
          </a:xfrm>
          <a:prstGeom prst="rect">
            <a:avLst/>
          </a:prstGeom>
          <a:noFill/>
          <a:ln/>
        </p:spPr>
        <p:txBody>
          <a:bodyPr wrap="square" lIns="0" tIns="0" rIns="0" bIns="0" rtlCol="0" anchor="ctr"/>
          <a:lstStyle/>
          <a:p>
            <a:pPr indent="0" marL="0">
              <a:buNone/>
            </a:pPr>
            <a:r>
              <a:rPr lang="en-US" sz="1000" dirty="0">
                <a:solidFill>
                  <a:schemeClr val="accent2"/>
                </a:solidFill>
              </a:rPr>
              <a:t>AndiBite · Grupo 2 · Desarrollo y lanzamiento de nuevos productos</a:t>
            </a:r>
            <a:endParaRPr lang="en-US" sz="1000" dirty="0"/>
          </a:p>
        </p:txBody>
      </p:sp>
      <p:pic>
        <p:nvPicPr>
          <p:cNvPr id="5" name="Image 0" descr="img/logo_color.png">    </p:cNvPr>
          <p:cNvPicPr>
            <a:picLocks noChangeAspect="1"/>
          </p:cNvPicPr>
          <p:nvPr/>
        </p:nvPicPr>
        <p:blipFill>
          <a:blip r:embed="rId1"/>
          <a:stretch>
            <a:fillRect/>
          </a:stretch>
        </p:blipFill>
        <p:spPr>
          <a:xfrm>
            <a:off x="10469880" y="6391656"/>
            <a:ext cx="868680" cy="297180"/>
          </a:xfrm>
          <a:prstGeom prst="rect">
            <a:avLst/>
          </a:prstGeom>
        </p:spPr>
      </p:pic>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2.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5.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4.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5.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5.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5.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5.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slideLayout" Target="../slideLayouts/slideLayout5.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slideLayout" Target="../slideLayouts/slideLayout5.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5.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5" Type="http://schemas.openxmlformats.org/officeDocument/2006/relationships/chart" Target="/ppt/charts/chart2.xml"/><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6" Type="http://schemas.openxmlformats.org/officeDocument/2006/relationships/slideLayout" Target="../slideLayouts/slideLayout5.xml"/><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4.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image" Target="../media/image-14-6.png"/><Relationship Id="rId7" Type="http://schemas.openxmlformats.org/officeDocument/2006/relationships/slideLayout" Target="../slideLayouts/slideLayout5.xml"/><Relationship Id="rId8"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slideLayout" Target="../slideLayouts/slideLayout5.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slideLayout" Target="../slideLayouts/slideLayout5.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chart" Target="/ppt/charts/chart4.xml"/><Relationship Id="rId3" Type="http://schemas.openxmlformats.org/officeDocument/2006/relationships/slideLayout" Target="../slideLayouts/slideLayout5.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4.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image" Target="../media/image-19-6.png"/><Relationship Id="rId7" Type="http://schemas.openxmlformats.org/officeDocument/2006/relationships/image" Target="../media/image-19-7.png"/><Relationship Id="rId8" Type="http://schemas.openxmlformats.org/officeDocument/2006/relationships/slideLayout" Target="../slideLayouts/slideLayout5.xml"/><Relationship Id="rId9"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image" Target="../media/image-20-6.png"/><Relationship Id="rId7" Type="http://schemas.openxmlformats.org/officeDocument/2006/relationships/slideLayout" Target="../slideLayouts/slideLayout5.xml"/><Relationship Id="rId8"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slideLayout" Target="../slideLayouts/slideLayout5.xml"/><Relationship Id="rId8"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chart" Target="/ppt/charts/chart6.xml"/><Relationship Id="rId3" Type="http://schemas.openxmlformats.org/officeDocument/2006/relationships/slideLayout" Target="../slideLayouts/slideLayout5.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5.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chart" Target="/ppt/charts/chart9.xml"/><Relationship Id="rId3" Type="http://schemas.openxmlformats.org/officeDocument/2006/relationships/slideLayout" Target="../slideLayouts/slideLayout5.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slideLayout" Target="../slideLayouts/slideLayout5.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image" Target="../media/image-26-5.png"/><Relationship Id="rId6" Type="http://schemas.openxmlformats.org/officeDocument/2006/relationships/image" Target="../media/image-26-6.png"/><Relationship Id="rId7" Type="http://schemas.openxmlformats.org/officeDocument/2006/relationships/image" Target="../media/image-26-7.png"/><Relationship Id="rId8" Type="http://schemas.openxmlformats.org/officeDocument/2006/relationships/image" Target="../media/image-26-8.png"/><Relationship Id="rId9" Type="http://schemas.openxmlformats.org/officeDocument/2006/relationships/image" Target="../media/image-26-9.png"/><Relationship Id="rId10" Type="http://schemas.openxmlformats.org/officeDocument/2006/relationships/slideLayout" Target="../slideLayouts/slideLayout5.xml"/><Relationship Id="rId11"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4.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image" Target="../media/image-28-4.png"/><Relationship Id="rId5" Type="http://schemas.openxmlformats.org/officeDocument/2006/relationships/image" Target="../media/image-28-5.png"/><Relationship Id="rId6" Type="http://schemas.openxmlformats.org/officeDocument/2006/relationships/image" Target="../media/image-28-6.png"/><Relationship Id="rId7" Type="http://schemas.openxmlformats.org/officeDocument/2006/relationships/slideLayout" Target="../slideLayouts/slideLayout5.xml"/><Relationship Id="rId8"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image" Target="../media/image-29-4.png"/><Relationship Id="rId5" Type="http://schemas.openxmlformats.org/officeDocument/2006/relationships/image" Target="../media/image-29-5.png"/><Relationship Id="rId6" Type="http://schemas.openxmlformats.org/officeDocument/2006/relationships/image" Target="../media/image-29-6.png"/><Relationship Id="rId7" Type="http://schemas.openxmlformats.org/officeDocument/2006/relationships/image" Target="../media/image-29-7.png"/><Relationship Id="rId8" Type="http://schemas.openxmlformats.org/officeDocument/2006/relationships/image" Target="../media/image-29-8.png"/><Relationship Id="rId9" Type="http://schemas.openxmlformats.org/officeDocument/2006/relationships/image" Target="../media/image-29-9.png"/><Relationship Id="rId10" Type="http://schemas.openxmlformats.org/officeDocument/2006/relationships/image" Target="../media/image-29-10.png"/><Relationship Id="rId11" Type="http://schemas.openxmlformats.org/officeDocument/2006/relationships/slideLayout" Target="../slideLayouts/slideLayout5.xml"/><Relationship Id="rId1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chart" Target="/ppt/charts/chart11.xml"/><Relationship Id="rId2" Type="http://schemas.openxmlformats.org/officeDocument/2006/relationships/slideLayout" Target="../slideLayouts/slideLayout5.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3.xml"/><Relationship Id="rId3" Type="http://schemas.openxmlformats.org/officeDocument/2006/relationships/notesSlide" Target="../notesSlides/notesSlide3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img/logo_light.png">    </p:cNvPr>
          <p:cNvPicPr>
            <a:picLocks noChangeAspect="1"/>
          </p:cNvPicPr>
          <p:nvPr/>
        </p:nvPicPr>
        <p:blipFill>
          <a:blip r:embed="rId1"/>
          <a:stretch>
            <a:fillRect/>
          </a:stretch>
        </p:blipFill>
        <p:spPr>
          <a:xfrm>
            <a:off x="731520" y="1005840"/>
            <a:ext cx="5120640" cy="1755648"/>
          </a:xfrm>
          <a:prstGeom prst="rect">
            <a:avLst/>
          </a:prstGeom>
        </p:spPr>
      </p:pic>
      <p:sp>
        <p:nvSpPr>
          <p:cNvPr id="3" name="Text 0"/>
          <p:cNvSpPr/>
          <p:nvPr>
            <p:ph idx="100" type="title" hasCustomPrompt="1"/>
          </p:nvPr>
        </p:nvSpPr>
        <p:spPr>
          <a:xfrm>
            <a:off x="731520" y="3246120"/>
            <a:ext cx="6766560" cy="777240"/>
          </a:xfrm>
          <a:prstGeom prst="rect">
            <a:avLst/>
          </a:prstGeom>
          <a:noFill/>
          <a:ln/>
        </p:spPr>
        <p:txBody>
          <a:bodyPr wrap="square" lIns="0" tIns="0" rIns="0" bIns="0" rtlCol="0" anchor="t"/>
          <a:lstStyle/>
          <a:p>
            <a:pPr algn="l" indent="0" marL="0">
              <a:buNone/>
            </a:pPr>
            <a:r>
              <a:rPr lang="en-US" sz="4000" b="1" dirty="0">
                <a:solidFill>
                  <a:schemeClr val="bg2"/>
                </a:solidFill>
              </a:rPr>
              <a:t>Trabajos de campo 5 a 8</a:t>
            </a:r>
            <a:endParaRPr lang="en-US" sz="4000" dirty="0"/>
          </a:p>
        </p:txBody>
      </p:sp>
      <p:sp>
        <p:nvSpPr>
          <p:cNvPr id="4" name="Text 0"/>
          <p:cNvSpPr/>
          <p:nvPr>
            <p:ph idx="101" type="body" hasCustomPrompt="1"/>
          </p:nvPr>
        </p:nvSpPr>
        <p:spPr>
          <a:xfrm>
            <a:off x="731520" y="4069080"/>
            <a:ext cx="6766560" cy="731520"/>
          </a:xfrm>
          <a:prstGeom prst="rect">
            <a:avLst/>
          </a:prstGeom>
          <a:noFill/>
          <a:ln/>
        </p:spPr>
        <p:txBody>
          <a:bodyPr wrap="square" lIns="0" tIns="0" rIns="0" bIns="0" rtlCol="0" anchor="t"/>
          <a:lstStyle/>
          <a:p>
            <a:pPr indent="0" marL="0">
              <a:buNone/>
            </a:pPr>
            <a:r>
              <a:rPr lang="en-US" sz="1800" dirty="0">
                <a:solidFill>
                  <a:schemeClr val="accent5"/>
                </a:solidFill>
              </a:rPr>
              <a:t>Cliente, canal, relación, ingresos, Canvas y propuesta de valor</a:t>
            </a:r>
            <a:endParaRPr lang="en-US" sz="1800" dirty="0"/>
          </a:p>
        </p:txBody>
      </p:sp>
      <p:sp>
        <p:nvSpPr>
          <p:cNvPr id="5" name="Text 2"/>
          <p:cNvSpPr txBox="1"/>
          <p:nvPr/>
        </p:nvSpPr>
        <p:spPr>
          <a:xfrm>
            <a:off x="731520" y="5257800"/>
            <a:ext cx="6949440" cy="320040"/>
          </a:xfrm>
          <a:prstGeom prst="rect">
            <a:avLst/>
          </a:prstGeom>
          <a:noFill/>
          <a:ln/>
        </p:spPr>
        <p:txBody>
          <a:bodyPr wrap="square" lIns="0" tIns="0" rIns="0" bIns="0" rtlCol="0" anchor="t"/>
          <a:lstStyle/>
          <a:p>
            <a:pPr indent="0" marL="0">
              <a:buNone/>
            </a:pPr>
            <a:r>
              <a:rPr lang="en-US" sz="1400" dirty="0">
                <a:solidFill>
                  <a:schemeClr val="bg2"/>
                </a:solidFill>
              </a:rPr>
              <a:t>Grupo 2 · Diana Ayoso · Carlos Inga · Angie Blas · Patricia Cárdenas · Adela Robles</a:t>
            </a:r>
            <a:endParaRPr lang="en-US" sz="1400" dirty="0"/>
          </a:p>
        </p:txBody>
      </p:sp>
      <p:sp>
        <p:nvSpPr>
          <p:cNvPr id="6" name="Text 3"/>
          <p:cNvSpPr txBox="1"/>
          <p:nvPr/>
        </p:nvSpPr>
        <p:spPr>
          <a:xfrm>
            <a:off x="731520" y="5623560"/>
            <a:ext cx="6949440" cy="320040"/>
          </a:xfrm>
          <a:prstGeom prst="rect">
            <a:avLst/>
          </a:prstGeom>
          <a:noFill/>
          <a:ln/>
        </p:spPr>
        <p:txBody>
          <a:bodyPr wrap="square" lIns="0" tIns="0" rIns="0" bIns="0" rtlCol="0" anchor="t"/>
          <a:lstStyle/>
          <a:p>
            <a:pPr indent="0" marL="0">
              <a:buNone/>
            </a:pPr>
            <a:r>
              <a:rPr lang="en-US" sz="1200" dirty="0">
                <a:solidFill>
                  <a:schemeClr val="accent5"/>
                </a:solidFill>
              </a:rPr>
              <a:t>Desarrollo y lanzamiento de nuevos productos · Prof. Paola Cevallos · Octubre de 2026</a:t>
            </a:r>
            <a:endParaRPr lang="en-US" sz="1200" dirty="0"/>
          </a:p>
        </p:txBody>
      </p:sp>
      <p:pic>
        <p:nvPicPr>
          <p:cNvPr id="7" name="Image 1" descr="/home/user/Desarrollo-y-lanzamiento-de-producto-y-marca/assets/empaque/B1_frente.png">    </p:cNvPr>
          <p:cNvPicPr>
            <a:picLocks noChangeAspect="1"/>
          </p:cNvPicPr>
          <p:nvPr/>
        </p:nvPicPr>
        <p:blipFill>
          <a:blip r:embed="rId2"/>
          <a:stretch>
            <a:fillRect/>
          </a:stretch>
        </p:blipFill>
        <p:spPr>
          <a:xfrm rot="240000">
            <a:off x="8001000" y="548640"/>
            <a:ext cx="4023360" cy="5596128"/>
          </a:xfrm>
          <a:prstGeom prst="rect">
            <a:avLst/>
          </a:prstGeom>
          <a:effectLst>
            <a:outerShdw sx="100000" sy="100000" kx="0" ky="0" algn="bl" rotWithShape="0" blurRad="152400" dist="50800" dir="5400000">
              <a:srgbClr val="000000">
                <a:alpha val="35000"/>
              </a:srgbClr>
            </a:outerShdw>
          </a:effectLst>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RUTA DEL TRABAJO</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Cuatro trabajos, un solo modelo de negocio</a:t>
            </a:r>
            <a:endParaRPr lang="en-US" sz="3400" dirty="0"/>
          </a:p>
        </p:txBody>
      </p:sp>
      <p:sp>
        <p:nvSpPr>
          <p:cNvPr id="4" name="Shape 2"/>
          <p:cNvSpPr/>
          <p:nvPr/>
        </p:nvSpPr>
        <p:spPr>
          <a:xfrm>
            <a:off x="548640" y="1600200"/>
            <a:ext cx="2569464" cy="3520440"/>
          </a:xfrm>
          <a:prstGeom prst="roundRect">
            <a:avLst>
              <a:gd name="adj" fmla="val 4270"/>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5" name="Text 3"/>
          <p:cNvSpPr txBox="1"/>
          <p:nvPr/>
        </p:nvSpPr>
        <p:spPr>
          <a:xfrm>
            <a:off x="822960" y="1874520"/>
            <a:ext cx="1280160" cy="731520"/>
          </a:xfrm>
          <a:prstGeom prst="rect">
            <a:avLst/>
          </a:prstGeom>
          <a:noFill/>
          <a:ln/>
        </p:spPr>
        <p:txBody>
          <a:bodyPr wrap="square" lIns="0" tIns="0" rIns="0" bIns="0" rtlCol="0" anchor="t"/>
          <a:lstStyle/>
          <a:p>
            <a:pPr indent="0" marL="0">
              <a:buNone/>
            </a:pPr>
            <a:r>
              <a:rPr lang="en-US" sz="4000" b="1" dirty="0">
                <a:solidFill>
                  <a:schemeClr val="accent1"/>
                </a:solidFill>
              </a:rPr>
              <a:t>05</a:t>
            </a:r>
            <a:endParaRPr lang="en-US" sz="4000" dirty="0"/>
          </a:p>
        </p:txBody>
      </p:sp>
      <p:sp>
        <p:nvSpPr>
          <p:cNvPr id="6" name="Shape 4"/>
          <p:cNvSpPr/>
          <p:nvPr/>
        </p:nvSpPr>
        <p:spPr>
          <a:xfrm>
            <a:off x="2157984" y="1874520"/>
            <a:ext cx="685800" cy="685800"/>
          </a:xfrm>
          <a:prstGeom prst="ellipse">
            <a:avLst/>
          </a:prstGeom>
          <a:solidFill>
            <a:schemeClr val="tx2"/>
          </a:solidFill>
          <a:ln w="12700">
            <a:solidFill>
              <a:schemeClr val="tx2"/>
            </a:solidFill>
            <a:prstDash val="solid"/>
          </a:ln>
        </p:spPr>
      </p:sp>
      <p:pic>
        <p:nvPicPr>
          <p:cNvPr id="7" name="Image 0" descr="preencoded.png">    </p:cNvPr>
          <p:cNvPicPr>
            <a:picLocks noChangeAspect="1"/>
          </p:cNvPicPr>
          <p:nvPr/>
        </p:nvPicPr>
        <p:blipFill>
          <a:blip r:embed="rId1"/>
          <a:stretch>
            <a:fillRect/>
          </a:stretch>
        </p:blipFill>
        <p:spPr>
          <a:xfrm>
            <a:off x="2308860" y="2025396"/>
            <a:ext cx="384048" cy="384048"/>
          </a:xfrm>
          <a:prstGeom prst="rect">
            <a:avLst/>
          </a:prstGeom>
        </p:spPr>
      </p:pic>
      <p:sp>
        <p:nvSpPr>
          <p:cNvPr id="8" name="Text 5"/>
          <p:cNvSpPr txBox="1"/>
          <p:nvPr/>
        </p:nvSpPr>
        <p:spPr>
          <a:xfrm>
            <a:off x="822960" y="2834640"/>
            <a:ext cx="2020824" cy="411480"/>
          </a:xfrm>
          <a:prstGeom prst="rect">
            <a:avLst/>
          </a:prstGeom>
          <a:noFill/>
          <a:ln/>
        </p:spPr>
        <p:txBody>
          <a:bodyPr wrap="square" lIns="0" tIns="0" rIns="0" bIns="0" rtlCol="0" anchor="t"/>
          <a:lstStyle/>
          <a:p>
            <a:pPr indent="0" marL="0">
              <a:buNone/>
            </a:pPr>
            <a:r>
              <a:rPr lang="en-US" sz="1900" b="1" dirty="0">
                <a:solidFill>
                  <a:schemeClr val="tx2"/>
                </a:solidFill>
              </a:rPr>
              <a:t>Cliente y canal</a:t>
            </a:r>
            <a:endParaRPr lang="en-US" sz="1900" dirty="0"/>
          </a:p>
        </p:txBody>
      </p:sp>
      <p:sp>
        <p:nvSpPr>
          <p:cNvPr id="9" name="Text 6"/>
          <p:cNvSpPr txBox="1"/>
          <p:nvPr/>
        </p:nvSpPr>
        <p:spPr>
          <a:xfrm>
            <a:off x="822960" y="3337560"/>
            <a:ext cx="2020824" cy="1463040"/>
          </a:xfrm>
          <a:prstGeom prst="rect">
            <a:avLst/>
          </a:prstGeom>
          <a:noFill/>
          <a:ln/>
        </p:spPr>
        <p:txBody>
          <a:bodyPr wrap="square" lIns="0" tIns="0" rIns="0" bIns="0" rtlCol="0" anchor="t"/>
          <a:lstStyle/>
          <a:p>
            <a:pPr indent="0" marL="0">
              <a:buNone/>
            </a:pPr>
            <a:r>
              <a:rPr lang="en-US" sz="1500" dirty="0">
                <a:solidFill>
                  <a:schemeClr val="accent2"/>
                </a:solidFill>
              </a:rPr>
              <a:t>Arquetipos, buyer persona, tipos de mercado y canal</a:t>
            </a:r>
            <a:endParaRPr lang="en-US" sz="1500" dirty="0"/>
          </a:p>
        </p:txBody>
      </p:sp>
      <p:sp>
        <p:nvSpPr>
          <p:cNvPr id="10" name="Shape 7"/>
          <p:cNvSpPr/>
          <p:nvPr/>
        </p:nvSpPr>
        <p:spPr>
          <a:xfrm>
            <a:off x="3392424" y="1600200"/>
            <a:ext cx="2569464" cy="3520440"/>
          </a:xfrm>
          <a:prstGeom prst="roundRect">
            <a:avLst>
              <a:gd name="adj" fmla="val 4270"/>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11" name="Text 8"/>
          <p:cNvSpPr txBox="1"/>
          <p:nvPr/>
        </p:nvSpPr>
        <p:spPr>
          <a:xfrm>
            <a:off x="3666744" y="1874520"/>
            <a:ext cx="1280160" cy="731520"/>
          </a:xfrm>
          <a:prstGeom prst="rect">
            <a:avLst/>
          </a:prstGeom>
          <a:noFill/>
          <a:ln/>
        </p:spPr>
        <p:txBody>
          <a:bodyPr wrap="square" lIns="0" tIns="0" rIns="0" bIns="0" rtlCol="0" anchor="t"/>
          <a:lstStyle/>
          <a:p>
            <a:pPr indent="0" marL="0">
              <a:buNone/>
            </a:pPr>
            <a:r>
              <a:rPr lang="en-US" sz="4000" b="1" dirty="0">
                <a:solidFill>
                  <a:schemeClr val="accent1"/>
                </a:solidFill>
              </a:rPr>
              <a:t>06</a:t>
            </a:r>
            <a:endParaRPr lang="en-US" sz="4000" dirty="0"/>
          </a:p>
        </p:txBody>
      </p:sp>
      <p:sp>
        <p:nvSpPr>
          <p:cNvPr id="12" name="Shape 9"/>
          <p:cNvSpPr/>
          <p:nvPr/>
        </p:nvSpPr>
        <p:spPr>
          <a:xfrm>
            <a:off x="5001768" y="1874520"/>
            <a:ext cx="685800" cy="685800"/>
          </a:xfrm>
          <a:prstGeom prst="ellipse">
            <a:avLst/>
          </a:prstGeom>
          <a:solidFill>
            <a:schemeClr val="tx2"/>
          </a:solidFill>
          <a:ln w="12700">
            <a:solidFill>
              <a:schemeClr val="tx2"/>
            </a:solidFill>
            <a:prstDash val="solid"/>
          </a:ln>
        </p:spPr>
      </p:sp>
      <p:pic>
        <p:nvPicPr>
          <p:cNvPr id="13" name="Image 1" descr="preencoded.png">    </p:cNvPr>
          <p:cNvPicPr>
            <a:picLocks noChangeAspect="1"/>
          </p:cNvPicPr>
          <p:nvPr/>
        </p:nvPicPr>
        <p:blipFill>
          <a:blip r:embed="rId2"/>
          <a:stretch>
            <a:fillRect/>
          </a:stretch>
        </p:blipFill>
        <p:spPr>
          <a:xfrm>
            <a:off x="5152644" y="2025396"/>
            <a:ext cx="384048" cy="384048"/>
          </a:xfrm>
          <a:prstGeom prst="rect">
            <a:avLst/>
          </a:prstGeom>
        </p:spPr>
      </p:pic>
      <p:sp>
        <p:nvSpPr>
          <p:cNvPr id="14" name="Text 10"/>
          <p:cNvSpPr txBox="1"/>
          <p:nvPr/>
        </p:nvSpPr>
        <p:spPr>
          <a:xfrm>
            <a:off x="3666744" y="2834640"/>
            <a:ext cx="2020824" cy="411480"/>
          </a:xfrm>
          <a:prstGeom prst="rect">
            <a:avLst/>
          </a:prstGeom>
          <a:noFill/>
          <a:ln/>
        </p:spPr>
        <p:txBody>
          <a:bodyPr wrap="square" lIns="0" tIns="0" rIns="0" bIns="0" rtlCol="0" anchor="t"/>
          <a:lstStyle/>
          <a:p>
            <a:pPr indent="0" marL="0">
              <a:buNone/>
            </a:pPr>
            <a:r>
              <a:rPr lang="en-US" sz="1900" b="1" dirty="0">
                <a:solidFill>
                  <a:schemeClr val="tx2"/>
                </a:solidFill>
              </a:rPr>
              <a:t>Relación e ingresos</a:t>
            </a:r>
            <a:endParaRPr lang="en-US" sz="1900" dirty="0"/>
          </a:p>
        </p:txBody>
      </p:sp>
      <p:sp>
        <p:nvSpPr>
          <p:cNvPr id="15" name="Text 11"/>
          <p:cNvSpPr txBox="1"/>
          <p:nvPr/>
        </p:nvSpPr>
        <p:spPr>
          <a:xfrm>
            <a:off x="3666744" y="3337560"/>
            <a:ext cx="2020824" cy="1463040"/>
          </a:xfrm>
          <a:prstGeom prst="rect">
            <a:avLst/>
          </a:prstGeom>
          <a:noFill/>
          <a:ln/>
        </p:spPr>
        <p:txBody>
          <a:bodyPr wrap="square" lIns="0" tIns="0" rIns="0" bIns="0" rtlCol="0" anchor="t"/>
          <a:lstStyle/>
          <a:p>
            <a:pPr indent="0" marL="0">
              <a:buNone/>
            </a:pPr>
            <a:r>
              <a:rPr lang="en-US" sz="1500" dirty="0">
                <a:solidFill>
                  <a:schemeClr val="accent2"/>
                </a:solidFill>
              </a:rPr>
              <a:t>Cómo captamos y retenemos, y de dónde viene el dinero</a:t>
            </a:r>
            <a:endParaRPr lang="en-US" sz="1500" dirty="0"/>
          </a:p>
        </p:txBody>
      </p:sp>
      <p:sp>
        <p:nvSpPr>
          <p:cNvPr id="16" name="Shape 12"/>
          <p:cNvSpPr/>
          <p:nvPr/>
        </p:nvSpPr>
        <p:spPr>
          <a:xfrm>
            <a:off x="6236208" y="1600200"/>
            <a:ext cx="2569464" cy="3520440"/>
          </a:xfrm>
          <a:prstGeom prst="roundRect">
            <a:avLst>
              <a:gd name="adj" fmla="val 4270"/>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17" name="Text 13"/>
          <p:cNvSpPr txBox="1"/>
          <p:nvPr/>
        </p:nvSpPr>
        <p:spPr>
          <a:xfrm>
            <a:off x="6510528" y="1874520"/>
            <a:ext cx="1280160" cy="731520"/>
          </a:xfrm>
          <a:prstGeom prst="rect">
            <a:avLst/>
          </a:prstGeom>
          <a:noFill/>
          <a:ln/>
        </p:spPr>
        <p:txBody>
          <a:bodyPr wrap="square" lIns="0" tIns="0" rIns="0" bIns="0" rtlCol="0" anchor="t"/>
          <a:lstStyle/>
          <a:p>
            <a:pPr indent="0" marL="0">
              <a:buNone/>
            </a:pPr>
            <a:r>
              <a:rPr lang="en-US" sz="4000" b="1" dirty="0">
                <a:solidFill>
                  <a:schemeClr val="accent1"/>
                </a:solidFill>
              </a:rPr>
              <a:t>07</a:t>
            </a:r>
            <a:endParaRPr lang="en-US" sz="4000" dirty="0"/>
          </a:p>
        </p:txBody>
      </p:sp>
      <p:sp>
        <p:nvSpPr>
          <p:cNvPr id="18" name="Shape 14"/>
          <p:cNvSpPr/>
          <p:nvPr/>
        </p:nvSpPr>
        <p:spPr>
          <a:xfrm>
            <a:off x="7845552" y="1874520"/>
            <a:ext cx="685800" cy="685800"/>
          </a:xfrm>
          <a:prstGeom prst="ellipse">
            <a:avLst/>
          </a:prstGeom>
          <a:solidFill>
            <a:schemeClr val="tx2"/>
          </a:solidFill>
          <a:ln w="12700">
            <a:solidFill>
              <a:schemeClr val="tx2"/>
            </a:solidFill>
            <a:prstDash val="solid"/>
          </a:ln>
        </p:spPr>
      </p:sp>
      <p:pic>
        <p:nvPicPr>
          <p:cNvPr id="19" name="Image 2" descr="preencoded.png">    </p:cNvPr>
          <p:cNvPicPr>
            <a:picLocks noChangeAspect="1"/>
          </p:cNvPicPr>
          <p:nvPr/>
        </p:nvPicPr>
        <p:blipFill>
          <a:blip r:embed="rId3"/>
          <a:stretch>
            <a:fillRect/>
          </a:stretch>
        </p:blipFill>
        <p:spPr>
          <a:xfrm>
            <a:off x="7996428" y="2025396"/>
            <a:ext cx="384048" cy="384048"/>
          </a:xfrm>
          <a:prstGeom prst="rect">
            <a:avLst/>
          </a:prstGeom>
        </p:spPr>
      </p:pic>
      <p:sp>
        <p:nvSpPr>
          <p:cNvPr id="20" name="Text 15"/>
          <p:cNvSpPr txBox="1"/>
          <p:nvPr/>
        </p:nvSpPr>
        <p:spPr>
          <a:xfrm>
            <a:off x="6510528" y="2834640"/>
            <a:ext cx="2020824" cy="411480"/>
          </a:xfrm>
          <a:prstGeom prst="rect">
            <a:avLst/>
          </a:prstGeom>
          <a:noFill/>
          <a:ln/>
        </p:spPr>
        <p:txBody>
          <a:bodyPr wrap="square" lIns="0" tIns="0" rIns="0" bIns="0" rtlCol="0" anchor="t"/>
          <a:lstStyle/>
          <a:p>
            <a:pPr indent="0" marL="0">
              <a:buNone/>
            </a:pPr>
            <a:r>
              <a:rPr lang="en-US" sz="1900" b="1" dirty="0">
                <a:solidFill>
                  <a:schemeClr val="tx2"/>
                </a:solidFill>
              </a:rPr>
              <a:t>Modelo Canvas</a:t>
            </a:r>
            <a:endParaRPr lang="en-US" sz="1900" dirty="0"/>
          </a:p>
        </p:txBody>
      </p:sp>
      <p:sp>
        <p:nvSpPr>
          <p:cNvPr id="21" name="Text 16"/>
          <p:cNvSpPr txBox="1"/>
          <p:nvPr/>
        </p:nvSpPr>
        <p:spPr>
          <a:xfrm>
            <a:off x="6510528" y="3337560"/>
            <a:ext cx="2020824" cy="1463040"/>
          </a:xfrm>
          <a:prstGeom prst="rect">
            <a:avLst/>
          </a:prstGeom>
          <a:noFill/>
          <a:ln/>
        </p:spPr>
        <p:txBody>
          <a:bodyPr wrap="square" lIns="0" tIns="0" rIns="0" bIns="0" rtlCol="0" anchor="t"/>
          <a:lstStyle/>
          <a:p>
            <a:pPr indent="0" marL="0">
              <a:buNone/>
            </a:pPr>
            <a:r>
              <a:rPr lang="en-US" sz="1500" dirty="0">
                <a:solidFill>
                  <a:schemeClr val="accent2"/>
                </a:solidFill>
              </a:rPr>
              <a:t>Socios, recursos, actividades, costos y los 9 bloques</a:t>
            </a:r>
            <a:endParaRPr lang="en-US" sz="1500" dirty="0"/>
          </a:p>
        </p:txBody>
      </p:sp>
      <p:sp>
        <p:nvSpPr>
          <p:cNvPr id="22" name="Shape 17"/>
          <p:cNvSpPr/>
          <p:nvPr/>
        </p:nvSpPr>
        <p:spPr>
          <a:xfrm>
            <a:off x="9079992" y="1600200"/>
            <a:ext cx="2569464" cy="3520440"/>
          </a:xfrm>
          <a:prstGeom prst="roundRect">
            <a:avLst>
              <a:gd name="adj" fmla="val 4270"/>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23" name="Text 18"/>
          <p:cNvSpPr txBox="1"/>
          <p:nvPr/>
        </p:nvSpPr>
        <p:spPr>
          <a:xfrm>
            <a:off x="9354312" y="1874520"/>
            <a:ext cx="1280160" cy="731520"/>
          </a:xfrm>
          <a:prstGeom prst="rect">
            <a:avLst/>
          </a:prstGeom>
          <a:noFill/>
          <a:ln/>
        </p:spPr>
        <p:txBody>
          <a:bodyPr wrap="square" lIns="0" tIns="0" rIns="0" bIns="0" rtlCol="0" anchor="t"/>
          <a:lstStyle/>
          <a:p>
            <a:pPr indent="0" marL="0">
              <a:buNone/>
            </a:pPr>
            <a:r>
              <a:rPr lang="en-US" sz="4000" b="1" dirty="0">
                <a:solidFill>
                  <a:schemeClr val="accent1"/>
                </a:solidFill>
              </a:rPr>
              <a:t>08</a:t>
            </a:r>
            <a:endParaRPr lang="en-US" sz="4000" dirty="0"/>
          </a:p>
        </p:txBody>
      </p:sp>
      <p:sp>
        <p:nvSpPr>
          <p:cNvPr id="24" name="Shape 19"/>
          <p:cNvSpPr/>
          <p:nvPr/>
        </p:nvSpPr>
        <p:spPr>
          <a:xfrm>
            <a:off x="10689336" y="1874520"/>
            <a:ext cx="685800" cy="685800"/>
          </a:xfrm>
          <a:prstGeom prst="ellipse">
            <a:avLst/>
          </a:prstGeom>
          <a:solidFill>
            <a:schemeClr val="tx2"/>
          </a:solidFill>
          <a:ln w="12700">
            <a:solidFill>
              <a:schemeClr val="tx2"/>
            </a:solidFill>
            <a:prstDash val="solid"/>
          </a:ln>
        </p:spPr>
      </p:sp>
      <p:pic>
        <p:nvPicPr>
          <p:cNvPr id="25" name="Image 3" descr="preencoded.png">    </p:cNvPr>
          <p:cNvPicPr>
            <a:picLocks noChangeAspect="1"/>
          </p:cNvPicPr>
          <p:nvPr/>
        </p:nvPicPr>
        <p:blipFill>
          <a:blip r:embed="rId4"/>
          <a:stretch>
            <a:fillRect/>
          </a:stretch>
        </p:blipFill>
        <p:spPr>
          <a:xfrm>
            <a:off x="10840212" y="2025396"/>
            <a:ext cx="384048" cy="384048"/>
          </a:xfrm>
          <a:prstGeom prst="rect">
            <a:avLst/>
          </a:prstGeom>
        </p:spPr>
      </p:pic>
      <p:sp>
        <p:nvSpPr>
          <p:cNvPr id="26" name="Text 20"/>
          <p:cNvSpPr txBox="1"/>
          <p:nvPr/>
        </p:nvSpPr>
        <p:spPr>
          <a:xfrm>
            <a:off x="9354312" y="2834640"/>
            <a:ext cx="2020824" cy="411480"/>
          </a:xfrm>
          <a:prstGeom prst="rect">
            <a:avLst/>
          </a:prstGeom>
          <a:noFill/>
          <a:ln/>
        </p:spPr>
        <p:txBody>
          <a:bodyPr wrap="square" lIns="0" tIns="0" rIns="0" bIns="0" rtlCol="0" anchor="t"/>
          <a:lstStyle/>
          <a:p>
            <a:pPr indent="0" marL="0">
              <a:buNone/>
            </a:pPr>
            <a:r>
              <a:rPr lang="en-US" sz="1900" b="1" dirty="0">
                <a:solidFill>
                  <a:schemeClr val="tx2"/>
                </a:solidFill>
              </a:rPr>
              <a:t>Propuesta de valor</a:t>
            </a:r>
            <a:endParaRPr lang="en-US" sz="1900" dirty="0"/>
          </a:p>
        </p:txBody>
      </p:sp>
      <p:sp>
        <p:nvSpPr>
          <p:cNvPr id="27" name="Text 21"/>
          <p:cNvSpPr txBox="1"/>
          <p:nvPr/>
        </p:nvSpPr>
        <p:spPr>
          <a:xfrm>
            <a:off x="9354312" y="3337560"/>
            <a:ext cx="2020824" cy="1463040"/>
          </a:xfrm>
          <a:prstGeom prst="rect">
            <a:avLst/>
          </a:prstGeom>
          <a:noFill/>
          <a:ln/>
        </p:spPr>
        <p:txBody>
          <a:bodyPr wrap="square" lIns="0" tIns="0" rIns="0" bIns="0" rtlCol="0" anchor="t"/>
          <a:lstStyle/>
          <a:p>
            <a:pPr indent="0" marL="0">
              <a:buNone/>
            </a:pPr>
            <a:r>
              <a:rPr lang="en-US" sz="1500" dirty="0">
                <a:solidFill>
                  <a:schemeClr val="accent2"/>
                </a:solidFill>
              </a:rPr>
              <a:t>Mapa de valor frente al perfil del cliente</a:t>
            </a:r>
            <a:endParaRPr lang="en-US" sz="1500" dirty="0"/>
          </a:p>
        </p:txBody>
      </p:sp>
      <p:sp>
        <p:nvSpPr>
          <p:cNvPr id="28" name="Shape 22"/>
          <p:cNvSpPr/>
          <p:nvPr/>
        </p:nvSpPr>
        <p:spPr>
          <a:xfrm>
            <a:off x="548640" y="5440680"/>
            <a:ext cx="11091672" cy="685800"/>
          </a:xfrm>
          <a:prstGeom prst="roundRect">
            <a:avLst>
              <a:gd name="adj" fmla="val 49333"/>
            </a:avLst>
          </a:prstGeom>
          <a:solidFill>
            <a:schemeClr val="tx2"/>
          </a:solidFill>
          <a:ln w="12700">
            <a:solidFill>
              <a:schemeClr val="tx2"/>
            </a:solidFill>
            <a:prstDash val="solid"/>
          </a:ln>
        </p:spPr>
      </p:sp>
      <p:sp>
        <p:nvSpPr>
          <p:cNvPr id="29" name="Text 23"/>
          <p:cNvSpPr txBox="1"/>
          <p:nvPr/>
        </p:nvSpPr>
        <p:spPr>
          <a:xfrm>
            <a:off x="868680" y="5440680"/>
            <a:ext cx="10515600" cy="685800"/>
          </a:xfrm>
          <a:prstGeom prst="rect">
            <a:avLst/>
          </a:prstGeom>
          <a:noFill/>
          <a:ln/>
        </p:spPr>
        <p:txBody>
          <a:bodyPr wrap="square" lIns="0" tIns="0" rIns="0" bIns="0" rtlCol="0" anchor="ctr"/>
          <a:lstStyle/>
          <a:p>
            <a:pPr indent="0" marL="0">
              <a:buNone/>
            </a:pPr>
            <a:r>
              <a:rPr lang="en-US" sz="1600" b="1" dirty="0">
                <a:solidFill>
                  <a:schemeClr val="accent3"/>
                </a:solidFill>
              </a:rPr>
              <a:t>El producto: </a:t>
            </a:r>
            <a:pPr indent="0" marL="0">
              <a:buNone/>
            </a:pPr>
            <a:r>
              <a:rPr lang="en-US" sz="1600" dirty="0">
                <a:solidFill>
                  <a:schemeClr val="bg2"/>
                </a:solidFill>
              </a:rPr>
              <a:t>mini brownie de 20 g con sangrecita · 3 sabores · se vende en stands, carritos y ferias, y se recompra por WhatsApp</a:t>
            </a:r>
            <a:endParaRPr lang="en-US" sz="1600" dirty="0"/>
          </a:p>
        </p:txBody>
      </p:sp>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731520" y="777240"/>
            <a:ext cx="3657600" cy="1737360"/>
          </a:xfrm>
          <a:prstGeom prst="rect">
            <a:avLst/>
          </a:prstGeom>
          <a:noFill/>
          <a:ln/>
        </p:spPr>
        <p:txBody>
          <a:bodyPr wrap="square" lIns="0" tIns="0" rIns="0" bIns="0" rtlCol="0" anchor="t"/>
          <a:lstStyle/>
          <a:p>
            <a:pPr indent="0" marL="0">
              <a:buNone/>
            </a:pPr>
            <a:r>
              <a:rPr lang="en-US" sz="12000" b="1" dirty="0">
                <a:solidFill>
                  <a:schemeClr val="accent1"/>
                </a:solidFill>
              </a:rPr>
              <a:t>05</a:t>
            </a:r>
            <a:endParaRPr lang="en-US" sz="12000" dirty="0"/>
          </a:p>
        </p:txBody>
      </p:sp>
      <p:sp>
        <p:nvSpPr>
          <p:cNvPr id="3" name="Text 0"/>
          <p:cNvSpPr/>
          <p:nvPr>
            <p:ph idx="100" type="title" hasCustomPrompt="1"/>
          </p:nvPr>
        </p:nvSpPr>
        <p:spPr>
          <a:xfrm>
            <a:off x="731520" y="2514600"/>
            <a:ext cx="6949440" cy="1417320"/>
          </a:xfrm>
          <a:prstGeom prst="rect">
            <a:avLst/>
          </a:prstGeom>
          <a:noFill/>
          <a:ln/>
        </p:spPr>
        <p:txBody>
          <a:bodyPr wrap="square" lIns="0" tIns="0" rIns="0" bIns="0" rtlCol="0" anchor="b"/>
          <a:lstStyle/>
          <a:p>
            <a:pPr algn="l" indent="0" marL="0">
              <a:buNone/>
            </a:pPr>
            <a:r>
              <a:rPr lang="en-US" sz="4400" b="1" dirty="0">
                <a:solidFill>
                  <a:schemeClr val="bg2"/>
                </a:solidFill>
              </a:rPr>
              <a:t>Cliente, mercado y canal</a:t>
            </a:r>
            <a:endParaRPr lang="en-US" sz="4400" dirty="0"/>
          </a:p>
        </p:txBody>
      </p:sp>
      <p:sp>
        <p:nvSpPr>
          <p:cNvPr id="4" name="Text 0"/>
          <p:cNvSpPr/>
          <p:nvPr>
            <p:ph idx="101" type="body" hasCustomPrompt="1"/>
          </p:nvPr>
        </p:nvSpPr>
        <p:spPr>
          <a:xfrm>
            <a:off x="731520" y="4069080"/>
            <a:ext cx="6949440" cy="1188720"/>
          </a:xfrm>
          <a:prstGeom prst="rect">
            <a:avLst/>
          </a:prstGeom>
          <a:noFill/>
          <a:ln/>
        </p:spPr>
        <p:txBody>
          <a:bodyPr wrap="square" lIns="0" tIns="0" rIns="0" bIns="0" rtlCol="0" anchor="t"/>
          <a:lstStyle/>
          <a:p>
            <a:pPr indent="0" marL="0">
              <a:buNone/>
            </a:pPr>
            <a:r>
              <a:rPr lang="en-US" sz="1800" dirty="0">
                <a:solidFill>
                  <a:schemeClr val="accent5"/>
                </a:solidFill>
              </a:rPr>
              <a:t>Arquetipo · Buyer persona · Tipos de mercado · Tamaño del nicho · Canales y puntos de venta</a:t>
            </a:r>
            <a:endParaRPr lang="en-US" sz="1800" dirty="0"/>
          </a:p>
        </p:txBody>
      </p:sp>
      <p:sp>
        <p:nvSpPr>
          <p:cNvPr id="5" name="Shape 3"/>
          <p:cNvSpPr/>
          <p:nvPr/>
        </p:nvSpPr>
        <p:spPr>
          <a:xfrm>
            <a:off x="8001000" y="1417320"/>
            <a:ext cx="3840480" cy="3840480"/>
          </a:xfrm>
          <a:prstGeom prst="ellipse">
            <a:avLst/>
          </a:prstGeom>
          <a:solidFill>
            <a:schemeClr val="accent2"/>
          </a:solidFill>
          <a:ln w="12700">
            <a:solidFill>
              <a:schemeClr val="accent2"/>
            </a:solidFill>
            <a:prstDash val="solid"/>
          </a:ln>
        </p:spPr>
      </p:sp>
      <p:pic>
        <p:nvPicPr>
          <p:cNvPr id="6" name="Image 0" descr="preencoded.png">    </p:cNvPr>
          <p:cNvPicPr>
            <a:picLocks noChangeAspect="1"/>
          </p:cNvPicPr>
          <p:nvPr/>
        </p:nvPicPr>
        <p:blipFill>
          <a:blip r:embed="rId1"/>
          <a:stretch>
            <a:fillRect/>
          </a:stretch>
        </p:blipFill>
        <p:spPr>
          <a:xfrm>
            <a:off x="9006840" y="2423160"/>
            <a:ext cx="1828800" cy="182880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TRABAJO DE CAMPO 5 · ARQUETIPO DE CLIENTE</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El público nos orienta; el arquetipo nos conecta</a:t>
            </a:r>
            <a:endParaRPr lang="en-US" sz="3400" dirty="0"/>
          </a:p>
        </p:txBody>
      </p:sp>
      <p:sp>
        <p:nvSpPr>
          <p:cNvPr id="4" name="Shape 2"/>
          <p:cNvSpPr/>
          <p:nvPr/>
        </p:nvSpPr>
        <p:spPr>
          <a:xfrm>
            <a:off x="548640" y="1600200"/>
            <a:ext cx="5120640" cy="4480560"/>
          </a:xfrm>
          <a:prstGeom prst="roundRect">
            <a:avLst>
              <a:gd name="adj" fmla="val 2449"/>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5" name="Shape 3"/>
          <p:cNvSpPr/>
          <p:nvPr/>
        </p:nvSpPr>
        <p:spPr>
          <a:xfrm>
            <a:off x="822960" y="1874520"/>
            <a:ext cx="822960" cy="822960"/>
          </a:xfrm>
          <a:prstGeom prst="ellipse">
            <a:avLst/>
          </a:prstGeom>
          <a:solidFill>
            <a:schemeClr val="accent5"/>
          </a:solidFill>
          <a:ln w="12700">
            <a:solidFill>
              <a:schemeClr val="accent5"/>
            </a:solidFill>
            <a:prstDash val="solid"/>
          </a:ln>
        </p:spPr>
      </p:sp>
      <p:pic>
        <p:nvPicPr>
          <p:cNvPr id="6" name="Image 0" descr="preencoded.png">    </p:cNvPr>
          <p:cNvPicPr>
            <a:picLocks noChangeAspect="1"/>
          </p:cNvPicPr>
          <p:nvPr/>
        </p:nvPicPr>
        <p:blipFill>
          <a:blip r:embed="rId1"/>
          <a:stretch>
            <a:fillRect/>
          </a:stretch>
        </p:blipFill>
        <p:spPr>
          <a:xfrm>
            <a:off x="1004011" y="2055571"/>
            <a:ext cx="460858" cy="460858"/>
          </a:xfrm>
          <a:prstGeom prst="rect">
            <a:avLst/>
          </a:prstGeom>
        </p:spPr>
      </p:pic>
      <p:sp>
        <p:nvSpPr>
          <p:cNvPr id="7" name="Text 4"/>
          <p:cNvSpPr txBox="1"/>
          <p:nvPr/>
        </p:nvSpPr>
        <p:spPr>
          <a:xfrm>
            <a:off x="1828800" y="1920240"/>
            <a:ext cx="3657600" cy="320040"/>
          </a:xfrm>
          <a:prstGeom prst="rect">
            <a:avLst/>
          </a:prstGeom>
          <a:noFill/>
          <a:ln/>
        </p:spPr>
        <p:txBody>
          <a:bodyPr wrap="square" lIns="0" tIns="0" rIns="0" bIns="0" rtlCol="0" anchor="t"/>
          <a:lstStyle/>
          <a:p>
            <a:pPr indent="0" marL="0">
              <a:buNone/>
            </a:pPr>
            <a:r>
              <a:rPr lang="en-US" sz="1300" b="1" spc="100" kern="0" dirty="0">
                <a:solidFill>
                  <a:schemeClr val="accent2"/>
                </a:solidFill>
              </a:rPr>
              <a:t>PÚBLICO OBJETIVO</a:t>
            </a:r>
            <a:endParaRPr lang="en-US" sz="1300" dirty="0"/>
          </a:p>
        </p:txBody>
      </p:sp>
      <p:sp>
        <p:nvSpPr>
          <p:cNvPr id="8" name="Text 5"/>
          <p:cNvSpPr txBox="1"/>
          <p:nvPr/>
        </p:nvSpPr>
        <p:spPr>
          <a:xfrm>
            <a:off x="1828800" y="2240280"/>
            <a:ext cx="3657600" cy="411480"/>
          </a:xfrm>
          <a:prstGeom prst="rect">
            <a:avLst/>
          </a:prstGeom>
          <a:noFill/>
          <a:ln/>
        </p:spPr>
        <p:txBody>
          <a:bodyPr wrap="square" lIns="0" tIns="0" rIns="0" bIns="0" rtlCol="0" anchor="t"/>
          <a:lstStyle/>
          <a:p>
            <a:pPr indent="0" marL="0">
              <a:buNone/>
            </a:pPr>
            <a:r>
              <a:rPr lang="en-US" sz="2200" b="1" dirty="0">
                <a:solidFill>
                  <a:schemeClr val="tx2"/>
                </a:solidFill>
              </a:rPr>
              <a:t>Un grupo</a:t>
            </a:r>
            <a:endParaRPr lang="en-US" sz="2200" dirty="0"/>
          </a:p>
        </p:txBody>
      </p:sp>
      <p:sp>
        <p:nvSpPr>
          <p:cNvPr id="9" name="Text 6"/>
          <p:cNvSpPr txBox="1"/>
          <p:nvPr/>
        </p:nvSpPr>
        <p:spPr>
          <a:xfrm>
            <a:off x="868680" y="2971800"/>
            <a:ext cx="4572000" cy="201168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chemeClr val="tx1"/>
                </a:solidFill>
              </a:rPr>
              <a:t>Padres de 32 a 45 años</a:t>
            </a:r>
            <a:endParaRPr lang="en-US" sz="1600" dirty="0"/>
          </a:p>
          <a:p>
            <a:pPr marL="342900" indent="-342900">
              <a:spcAft>
                <a:spcPts val="800"/>
              </a:spcAft>
              <a:buSzPct val="100000"/>
              <a:buChar char="•"/>
            </a:pPr>
            <a:r>
              <a:rPr lang="en-US" sz="1600" dirty="0">
                <a:solidFill>
                  <a:schemeClr val="tx1"/>
                </a:solidFill>
              </a:rPr>
              <a:t>NSE A y B de Lima Top y Lima Moderna</a:t>
            </a:r>
            <a:endParaRPr lang="en-US" sz="1600" dirty="0"/>
          </a:p>
          <a:p>
            <a:pPr marL="342900" indent="-342900">
              <a:spcAft>
                <a:spcPts val="800"/>
              </a:spcAft>
              <a:buSzPct val="100000"/>
              <a:buChar char="•"/>
            </a:pPr>
            <a:r>
              <a:rPr lang="en-US" sz="1600" dirty="0">
                <a:solidFill>
                  <a:schemeClr val="tx1"/>
                </a:solidFill>
              </a:rPr>
              <a:t>Hijos de 4 a 11 en colegio privado</a:t>
            </a:r>
            <a:endParaRPr lang="en-US" sz="1600" dirty="0"/>
          </a:p>
          <a:p>
            <a:pPr marL="342900" indent="-342900">
              <a:spcAft>
                <a:spcPts val="800"/>
              </a:spcAft>
              <a:buSzPct val="100000"/>
              <a:buChar char="•"/>
            </a:pPr>
            <a:r>
              <a:rPr lang="en-US" sz="1600" dirty="0">
                <a:solidFill>
                  <a:schemeClr val="tx1"/>
                </a:solidFill>
              </a:rPr>
              <a:t>46,000 hogares núcleo</a:t>
            </a:r>
            <a:endParaRPr lang="en-US" sz="1600" dirty="0"/>
          </a:p>
        </p:txBody>
      </p:sp>
      <p:sp>
        <p:nvSpPr>
          <p:cNvPr id="10" name="Shape 7"/>
          <p:cNvSpPr/>
          <p:nvPr/>
        </p:nvSpPr>
        <p:spPr>
          <a:xfrm>
            <a:off x="5788152" y="3566160"/>
            <a:ext cx="685800" cy="548640"/>
          </a:xfrm>
          <a:prstGeom prst="rightArrow">
            <a:avLst/>
          </a:prstGeom>
          <a:solidFill>
            <a:schemeClr val="accent3"/>
          </a:solidFill>
          <a:ln w="12700">
            <a:solidFill>
              <a:schemeClr val="accent3"/>
            </a:solidFill>
            <a:prstDash val="solid"/>
          </a:ln>
        </p:spPr>
      </p:sp>
      <p:sp>
        <p:nvSpPr>
          <p:cNvPr id="11" name="Shape 8"/>
          <p:cNvSpPr/>
          <p:nvPr/>
        </p:nvSpPr>
        <p:spPr>
          <a:xfrm>
            <a:off x="6583680" y="1600200"/>
            <a:ext cx="5056632" cy="4480560"/>
          </a:xfrm>
          <a:prstGeom prst="roundRect">
            <a:avLst>
              <a:gd name="adj" fmla="val 2449"/>
            </a:avLst>
          </a:prstGeom>
          <a:solidFill>
            <a:schemeClr val="tx2"/>
          </a:solidFill>
          <a:ln w="12700">
            <a:solidFill>
              <a:schemeClr val="tx2"/>
            </a:solidFill>
            <a:prstDash val="solid"/>
          </a:ln>
          <a:effectLst>
            <a:outerShdw sx="100000" sy="100000" kx="0" ky="0" algn="bl" rotWithShape="0" blurRad="101600" dist="25400" dir="5400000">
              <a:srgbClr val="7A4A30">
                <a:alpha val="14000"/>
              </a:srgbClr>
            </a:outerShdw>
          </a:effectLst>
        </p:spPr>
      </p:sp>
      <p:sp>
        <p:nvSpPr>
          <p:cNvPr id="12" name="Shape 9"/>
          <p:cNvSpPr/>
          <p:nvPr/>
        </p:nvSpPr>
        <p:spPr>
          <a:xfrm>
            <a:off x="6858000" y="1874520"/>
            <a:ext cx="822960" cy="822960"/>
          </a:xfrm>
          <a:prstGeom prst="ellipse">
            <a:avLst/>
          </a:prstGeom>
          <a:solidFill>
            <a:schemeClr val="accent1"/>
          </a:solidFill>
          <a:ln w="12700">
            <a:solidFill>
              <a:schemeClr val="accent1"/>
            </a:solidFill>
            <a:prstDash val="solid"/>
          </a:ln>
        </p:spPr>
      </p:sp>
      <p:pic>
        <p:nvPicPr>
          <p:cNvPr id="13" name="Image 1" descr="preencoded.png">    </p:cNvPr>
          <p:cNvPicPr>
            <a:picLocks noChangeAspect="1"/>
          </p:cNvPicPr>
          <p:nvPr/>
        </p:nvPicPr>
        <p:blipFill>
          <a:blip r:embed="rId2"/>
          <a:stretch>
            <a:fillRect/>
          </a:stretch>
        </p:blipFill>
        <p:spPr>
          <a:xfrm>
            <a:off x="7039051" y="2055571"/>
            <a:ext cx="460858" cy="460858"/>
          </a:xfrm>
          <a:prstGeom prst="rect">
            <a:avLst/>
          </a:prstGeom>
        </p:spPr>
      </p:pic>
      <p:sp>
        <p:nvSpPr>
          <p:cNvPr id="14" name="Text 10"/>
          <p:cNvSpPr txBox="1"/>
          <p:nvPr/>
        </p:nvSpPr>
        <p:spPr>
          <a:xfrm>
            <a:off x="7863840" y="1920240"/>
            <a:ext cx="3657600" cy="320040"/>
          </a:xfrm>
          <a:prstGeom prst="rect">
            <a:avLst/>
          </a:prstGeom>
          <a:noFill/>
          <a:ln/>
        </p:spPr>
        <p:txBody>
          <a:bodyPr wrap="square" lIns="0" tIns="0" rIns="0" bIns="0" rtlCol="0" anchor="t"/>
          <a:lstStyle/>
          <a:p>
            <a:pPr indent="0" marL="0">
              <a:buNone/>
            </a:pPr>
            <a:r>
              <a:rPr lang="en-US" sz="1300" b="1" spc="100" kern="0" dirty="0">
                <a:solidFill>
                  <a:schemeClr val="accent3"/>
                </a:solidFill>
              </a:rPr>
              <a:t>ARQUETIPO</a:t>
            </a:r>
            <a:endParaRPr lang="en-US" sz="1300" dirty="0"/>
          </a:p>
        </p:txBody>
      </p:sp>
      <p:sp>
        <p:nvSpPr>
          <p:cNvPr id="15" name="Text 11"/>
          <p:cNvSpPr txBox="1"/>
          <p:nvPr/>
        </p:nvSpPr>
        <p:spPr>
          <a:xfrm>
            <a:off x="7863840" y="2240280"/>
            <a:ext cx="3657600" cy="411480"/>
          </a:xfrm>
          <a:prstGeom prst="rect">
            <a:avLst/>
          </a:prstGeom>
          <a:noFill/>
          <a:ln/>
        </p:spPr>
        <p:txBody>
          <a:bodyPr wrap="square" lIns="0" tIns="0" rIns="0" bIns="0" rtlCol="0" anchor="t"/>
          <a:lstStyle/>
          <a:p>
            <a:pPr indent="0" marL="0">
              <a:buNone/>
            </a:pPr>
            <a:r>
              <a:rPr lang="en-US" sz="2200" b="1" dirty="0">
                <a:solidFill>
                  <a:schemeClr val="bg1"/>
                </a:solidFill>
              </a:rPr>
              <a:t>Una persona</a:t>
            </a:r>
            <a:endParaRPr lang="en-US" sz="2200" dirty="0"/>
          </a:p>
        </p:txBody>
      </p:sp>
      <p:sp>
        <p:nvSpPr>
          <p:cNvPr id="16" name="Text 12"/>
          <p:cNvSpPr txBox="1"/>
          <p:nvPr/>
        </p:nvSpPr>
        <p:spPr>
          <a:xfrm>
            <a:off x="6903720" y="2926080"/>
            <a:ext cx="4480560" cy="256032"/>
          </a:xfrm>
          <a:prstGeom prst="rect">
            <a:avLst/>
          </a:prstGeom>
          <a:noFill/>
          <a:ln/>
        </p:spPr>
        <p:txBody>
          <a:bodyPr wrap="square" lIns="0" tIns="0" rIns="0" bIns="0" rtlCol="0" anchor="t"/>
          <a:lstStyle/>
          <a:p>
            <a:pPr indent="0" marL="0">
              <a:buNone/>
            </a:pPr>
            <a:r>
              <a:rPr lang="en-US" sz="1100" b="1" spc="100" kern="0" dirty="0">
                <a:solidFill>
                  <a:schemeClr val="accent5"/>
                </a:solidFill>
              </a:rPr>
              <a:t>NOMBRE</a:t>
            </a:r>
            <a:endParaRPr lang="en-US" sz="1100" dirty="0"/>
          </a:p>
        </p:txBody>
      </p:sp>
      <p:sp>
        <p:nvSpPr>
          <p:cNvPr id="17" name="Text 13"/>
          <p:cNvSpPr txBox="1"/>
          <p:nvPr/>
        </p:nvSpPr>
        <p:spPr>
          <a:xfrm>
            <a:off x="6903720" y="3172968"/>
            <a:ext cx="4480560" cy="365760"/>
          </a:xfrm>
          <a:prstGeom prst="rect">
            <a:avLst/>
          </a:prstGeom>
          <a:noFill/>
          <a:ln/>
        </p:spPr>
        <p:txBody>
          <a:bodyPr wrap="square" lIns="0" tIns="0" rIns="0" bIns="0" rtlCol="0" anchor="t"/>
          <a:lstStyle/>
          <a:p>
            <a:pPr indent="0" marL="0">
              <a:buNone/>
            </a:pPr>
            <a:r>
              <a:rPr lang="en-US" sz="1600" b="1" dirty="0">
                <a:solidFill>
                  <a:schemeClr val="bg1"/>
                </a:solidFill>
              </a:rPr>
              <a:t>Claudia, 38, abogada en San Borja</a:t>
            </a:r>
            <a:endParaRPr lang="en-US" sz="1600" dirty="0"/>
          </a:p>
        </p:txBody>
      </p:sp>
      <p:sp>
        <p:nvSpPr>
          <p:cNvPr id="18" name="Text 14"/>
          <p:cNvSpPr txBox="1"/>
          <p:nvPr/>
        </p:nvSpPr>
        <p:spPr>
          <a:xfrm>
            <a:off x="6903720" y="3675888"/>
            <a:ext cx="4480560" cy="256032"/>
          </a:xfrm>
          <a:prstGeom prst="rect">
            <a:avLst/>
          </a:prstGeom>
          <a:noFill/>
          <a:ln/>
        </p:spPr>
        <p:txBody>
          <a:bodyPr wrap="square" lIns="0" tIns="0" rIns="0" bIns="0" rtlCol="0" anchor="t"/>
          <a:lstStyle/>
          <a:p>
            <a:pPr indent="0" marL="0">
              <a:buNone/>
            </a:pPr>
            <a:r>
              <a:rPr lang="en-US" sz="1100" b="1" spc="100" kern="0" dirty="0">
                <a:solidFill>
                  <a:schemeClr val="accent5"/>
                </a:solidFill>
              </a:rPr>
              <a:t>DOLOR</a:t>
            </a:r>
            <a:endParaRPr lang="en-US" sz="1100" dirty="0"/>
          </a:p>
        </p:txBody>
      </p:sp>
      <p:sp>
        <p:nvSpPr>
          <p:cNvPr id="19" name="Text 15"/>
          <p:cNvSpPr txBox="1"/>
          <p:nvPr/>
        </p:nvSpPr>
        <p:spPr>
          <a:xfrm>
            <a:off x="6903720" y="3922776"/>
            <a:ext cx="4480560" cy="365760"/>
          </a:xfrm>
          <a:prstGeom prst="rect">
            <a:avLst/>
          </a:prstGeom>
          <a:noFill/>
          <a:ln/>
        </p:spPr>
        <p:txBody>
          <a:bodyPr wrap="square" lIns="0" tIns="0" rIns="0" bIns="0" rtlCol="0" anchor="t"/>
          <a:lstStyle/>
          <a:p>
            <a:pPr indent="0" marL="0">
              <a:buNone/>
            </a:pPr>
            <a:r>
              <a:rPr lang="en-US" sz="1600" b="1" dirty="0">
                <a:solidFill>
                  <a:schemeClr val="bg1"/>
                </a:solidFill>
              </a:rPr>
              <a:t>Su hijo escupe lo nutritivo</a:t>
            </a:r>
            <a:endParaRPr lang="en-US" sz="1600" dirty="0"/>
          </a:p>
        </p:txBody>
      </p:sp>
      <p:sp>
        <p:nvSpPr>
          <p:cNvPr id="20" name="Text 16"/>
          <p:cNvSpPr txBox="1"/>
          <p:nvPr/>
        </p:nvSpPr>
        <p:spPr>
          <a:xfrm>
            <a:off x="6903720" y="4425696"/>
            <a:ext cx="4480560" cy="256032"/>
          </a:xfrm>
          <a:prstGeom prst="rect">
            <a:avLst/>
          </a:prstGeom>
          <a:noFill/>
          <a:ln/>
        </p:spPr>
        <p:txBody>
          <a:bodyPr wrap="square" lIns="0" tIns="0" rIns="0" bIns="0" rtlCol="0" anchor="t"/>
          <a:lstStyle/>
          <a:p>
            <a:pPr indent="0" marL="0">
              <a:buNone/>
            </a:pPr>
            <a:r>
              <a:rPr lang="en-US" sz="1100" b="1" spc="100" kern="0" dirty="0">
                <a:solidFill>
                  <a:schemeClr val="accent5"/>
                </a:solidFill>
              </a:rPr>
              <a:t>HÁBITO</a:t>
            </a:r>
            <a:endParaRPr lang="en-US" sz="1100" dirty="0"/>
          </a:p>
        </p:txBody>
      </p:sp>
      <p:sp>
        <p:nvSpPr>
          <p:cNvPr id="21" name="Text 17"/>
          <p:cNvSpPr txBox="1"/>
          <p:nvPr/>
        </p:nvSpPr>
        <p:spPr>
          <a:xfrm>
            <a:off x="6903720" y="4672584"/>
            <a:ext cx="4480560" cy="365760"/>
          </a:xfrm>
          <a:prstGeom prst="rect">
            <a:avLst/>
          </a:prstGeom>
          <a:noFill/>
          <a:ln/>
        </p:spPr>
        <p:txBody>
          <a:bodyPr wrap="square" lIns="0" tIns="0" rIns="0" bIns="0" rtlCol="0" anchor="t"/>
          <a:lstStyle/>
          <a:p>
            <a:pPr indent="0" marL="0">
              <a:buNone/>
            </a:pPr>
            <a:r>
              <a:rPr lang="en-US" sz="1600" b="1" dirty="0">
                <a:solidFill>
                  <a:schemeClr val="bg1"/>
                </a:solidFill>
              </a:rPr>
              <a:t>Arma 2 loncheras a las 6 a. m.</a:t>
            </a:r>
            <a:endParaRPr lang="en-US" sz="1600" dirty="0"/>
          </a:p>
        </p:txBody>
      </p:sp>
      <p:sp>
        <p:nvSpPr>
          <p:cNvPr id="22" name="Text 18"/>
          <p:cNvSpPr txBox="1"/>
          <p:nvPr/>
        </p:nvSpPr>
        <p:spPr>
          <a:xfrm>
            <a:off x="6903720" y="5175504"/>
            <a:ext cx="4480560" cy="256032"/>
          </a:xfrm>
          <a:prstGeom prst="rect">
            <a:avLst/>
          </a:prstGeom>
          <a:noFill/>
          <a:ln/>
        </p:spPr>
        <p:txBody>
          <a:bodyPr wrap="square" lIns="0" tIns="0" rIns="0" bIns="0" rtlCol="0" anchor="t"/>
          <a:lstStyle/>
          <a:p>
            <a:pPr indent="0" marL="0">
              <a:buNone/>
            </a:pPr>
            <a:r>
              <a:rPr lang="en-US" sz="1100" b="1" spc="100" kern="0" dirty="0">
                <a:solidFill>
                  <a:schemeClr val="accent5"/>
                </a:solidFill>
              </a:rPr>
              <a:t>COMPRA EN</a:t>
            </a:r>
            <a:endParaRPr lang="en-US" sz="1100" dirty="0"/>
          </a:p>
        </p:txBody>
      </p:sp>
      <p:sp>
        <p:nvSpPr>
          <p:cNvPr id="23" name="Text 19"/>
          <p:cNvSpPr txBox="1"/>
          <p:nvPr/>
        </p:nvSpPr>
        <p:spPr>
          <a:xfrm>
            <a:off x="6903720" y="5422392"/>
            <a:ext cx="4480560" cy="365760"/>
          </a:xfrm>
          <a:prstGeom prst="rect">
            <a:avLst/>
          </a:prstGeom>
          <a:noFill/>
          <a:ln/>
        </p:spPr>
        <p:txBody>
          <a:bodyPr wrap="square" lIns="0" tIns="0" rIns="0" bIns="0" rtlCol="0" anchor="t"/>
          <a:lstStyle/>
          <a:p>
            <a:pPr indent="0" marL="0">
              <a:buNone/>
            </a:pPr>
            <a:r>
              <a:rPr lang="en-US" sz="1600" b="1" dirty="0">
                <a:solidFill>
                  <a:schemeClr val="bg1"/>
                </a:solidFill>
              </a:rPr>
              <a:t>Wong, Flora &amp; Fauna e Instagram</a:t>
            </a:r>
            <a:endParaRPr lang="en-US" sz="1600" dirty="0"/>
          </a:p>
        </p:txBody>
      </p:sp>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TRABAJO DE CAMPO 5 · ARQUETIPOS DE CLIENTE</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Tres arquetipos: nombre, dolor y hábito</a:t>
            </a:r>
            <a:endParaRPr lang="en-US" sz="3400" dirty="0"/>
          </a:p>
        </p:txBody>
      </p:sp>
      <p:sp>
        <p:nvSpPr>
          <p:cNvPr id="4" name="Shape 2"/>
          <p:cNvSpPr/>
          <p:nvPr/>
        </p:nvSpPr>
        <p:spPr>
          <a:xfrm>
            <a:off x="548640" y="1554480"/>
            <a:ext cx="3520440" cy="4572000"/>
          </a:xfrm>
          <a:prstGeom prst="roundRect">
            <a:avLst>
              <a:gd name="adj" fmla="val 3117"/>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5" name="Shape 3"/>
          <p:cNvSpPr/>
          <p:nvPr/>
        </p:nvSpPr>
        <p:spPr>
          <a:xfrm>
            <a:off x="822960" y="1828800"/>
            <a:ext cx="731520" cy="731520"/>
          </a:xfrm>
          <a:prstGeom prst="ellipse">
            <a:avLst/>
          </a:prstGeom>
          <a:solidFill>
            <a:schemeClr val="accent1"/>
          </a:solidFill>
          <a:ln w="12700">
            <a:solidFill>
              <a:schemeClr val="accent1"/>
            </a:solidFill>
            <a:prstDash val="solid"/>
          </a:ln>
        </p:spPr>
      </p:sp>
      <p:pic>
        <p:nvPicPr>
          <p:cNvPr id="6" name="Image 0" descr="preencoded.png">    </p:cNvPr>
          <p:cNvPicPr>
            <a:picLocks noChangeAspect="1"/>
          </p:cNvPicPr>
          <p:nvPr/>
        </p:nvPicPr>
        <p:blipFill>
          <a:blip r:embed="rId1"/>
          <a:stretch>
            <a:fillRect/>
          </a:stretch>
        </p:blipFill>
        <p:spPr>
          <a:xfrm>
            <a:off x="983894" y="1989734"/>
            <a:ext cx="409651" cy="409651"/>
          </a:xfrm>
          <a:prstGeom prst="rect">
            <a:avLst/>
          </a:prstGeom>
        </p:spPr>
      </p:pic>
      <p:sp>
        <p:nvSpPr>
          <p:cNvPr id="7" name="Text 4"/>
          <p:cNvSpPr txBox="1"/>
          <p:nvPr/>
        </p:nvSpPr>
        <p:spPr>
          <a:xfrm>
            <a:off x="1691640" y="1828800"/>
            <a:ext cx="2194560" cy="411480"/>
          </a:xfrm>
          <a:prstGeom prst="rect">
            <a:avLst/>
          </a:prstGeom>
          <a:noFill/>
          <a:ln/>
        </p:spPr>
        <p:txBody>
          <a:bodyPr wrap="square" lIns="0" tIns="0" rIns="0" bIns="0" rtlCol="0" anchor="t"/>
          <a:lstStyle/>
          <a:p>
            <a:pPr indent="0" marL="0">
              <a:buNone/>
            </a:pPr>
            <a:r>
              <a:rPr lang="en-US" sz="1900" b="1" dirty="0">
                <a:solidFill>
                  <a:schemeClr val="tx2"/>
                </a:solidFill>
              </a:rPr>
              <a:t>Guardiana del Hierro</a:t>
            </a:r>
            <a:endParaRPr lang="en-US" sz="1900" dirty="0"/>
          </a:p>
        </p:txBody>
      </p:sp>
      <p:sp>
        <p:nvSpPr>
          <p:cNvPr id="8" name="Text 5"/>
          <p:cNvSpPr txBox="1"/>
          <p:nvPr/>
        </p:nvSpPr>
        <p:spPr>
          <a:xfrm>
            <a:off x="1691640" y="2267712"/>
            <a:ext cx="2194560" cy="320040"/>
          </a:xfrm>
          <a:prstGeom prst="rect">
            <a:avLst/>
          </a:prstGeom>
          <a:noFill/>
          <a:ln/>
        </p:spPr>
        <p:txBody>
          <a:bodyPr wrap="square" lIns="0" tIns="0" rIns="0" bIns="0" rtlCol="0" anchor="t"/>
          <a:lstStyle/>
          <a:p>
            <a:pPr indent="0" marL="0">
              <a:buNone/>
            </a:pPr>
            <a:r>
              <a:rPr lang="en-US" sz="1200" dirty="0">
                <a:solidFill>
                  <a:schemeClr val="accent2"/>
                </a:solidFill>
              </a:rPr>
              <a:t>Mamá de 35 a 42, profesional</a:t>
            </a:r>
            <a:endParaRPr lang="en-US" sz="1200" dirty="0"/>
          </a:p>
        </p:txBody>
      </p:sp>
      <p:sp>
        <p:nvSpPr>
          <p:cNvPr id="9" name="Text 6"/>
          <p:cNvSpPr txBox="1"/>
          <p:nvPr/>
        </p:nvSpPr>
        <p:spPr>
          <a:xfrm>
            <a:off x="822960" y="2834640"/>
            <a:ext cx="2971800" cy="237744"/>
          </a:xfrm>
          <a:prstGeom prst="rect">
            <a:avLst/>
          </a:prstGeom>
          <a:noFill/>
          <a:ln/>
        </p:spPr>
        <p:txBody>
          <a:bodyPr wrap="square" lIns="0" tIns="0" rIns="0" bIns="0" rtlCol="0" anchor="t"/>
          <a:lstStyle/>
          <a:p>
            <a:pPr indent="0" marL="0">
              <a:buNone/>
            </a:pPr>
            <a:r>
              <a:rPr lang="en-US" sz="1100" b="1" spc="100" kern="0" dirty="0">
                <a:solidFill>
                  <a:schemeClr val="accent1"/>
                </a:solidFill>
              </a:rPr>
              <a:t>HÁBITO</a:t>
            </a:r>
            <a:endParaRPr lang="en-US" sz="1100" dirty="0"/>
          </a:p>
        </p:txBody>
      </p:sp>
      <p:sp>
        <p:nvSpPr>
          <p:cNvPr id="10" name="Text 7"/>
          <p:cNvSpPr txBox="1"/>
          <p:nvPr/>
        </p:nvSpPr>
        <p:spPr>
          <a:xfrm>
            <a:off x="822960" y="3063240"/>
            <a:ext cx="2971800" cy="347472"/>
          </a:xfrm>
          <a:prstGeom prst="rect">
            <a:avLst/>
          </a:prstGeom>
          <a:noFill/>
          <a:ln/>
        </p:spPr>
        <p:txBody>
          <a:bodyPr wrap="square" lIns="0" tIns="0" rIns="0" bIns="0" rtlCol="0" anchor="t"/>
          <a:lstStyle/>
          <a:p>
            <a:pPr indent="0" marL="0">
              <a:buNone/>
            </a:pPr>
            <a:r>
              <a:rPr lang="en-US" sz="1500" dirty="0">
                <a:solidFill>
                  <a:schemeClr val="tx1"/>
                </a:solidFill>
              </a:rPr>
              <a:t>Lee etiquetas; pregunta al pediatra</a:t>
            </a:r>
            <a:endParaRPr lang="en-US" sz="1500" dirty="0"/>
          </a:p>
        </p:txBody>
      </p:sp>
      <p:sp>
        <p:nvSpPr>
          <p:cNvPr id="11" name="Text 8"/>
          <p:cNvSpPr txBox="1"/>
          <p:nvPr/>
        </p:nvSpPr>
        <p:spPr>
          <a:xfrm>
            <a:off x="822960" y="3474720"/>
            <a:ext cx="2971800" cy="237744"/>
          </a:xfrm>
          <a:prstGeom prst="rect">
            <a:avLst/>
          </a:prstGeom>
          <a:noFill/>
          <a:ln/>
        </p:spPr>
        <p:txBody>
          <a:bodyPr wrap="square" lIns="0" tIns="0" rIns="0" bIns="0" rtlCol="0" anchor="t"/>
          <a:lstStyle/>
          <a:p>
            <a:pPr indent="0" marL="0">
              <a:buNone/>
            </a:pPr>
            <a:r>
              <a:rPr lang="en-US" sz="1100" b="1" spc="100" kern="0" dirty="0">
                <a:solidFill>
                  <a:schemeClr val="accent1"/>
                </a:solidFill>
              </a:rPr>
              <a:t>DOLOR</a:t>
            </a:r>
            <a:endParaRPr lang="en-US" sz="1100" dirty="0"/>
          </a:p>
        </p:txBody>
      </p:sp>
      <p:sp>
        <p:nvSpPr>
          <p:cNvPr id="12" name="Text 9"/>
          <p:cNvSpPr txBox="1"/>
          <p:nvPr/>
        </p:nvSpPr>
        <p:spPr>
          <a:xfrm>
            <a:off x="822960" y="3703320"/>
            <a:ext cx="2971800" cy="347472"/>
          </a:xfrm>
          <a:prstGeom prst="rect">
            <a:avLst/>
          </a:prstGeom>
          <a:noFill/>
          <a:ln/>
        </p:spPr>
        <p:txBody>
          <a:bodyPr wrap="square" lIns="0" tIns="0" rIns="0" bIns="0" rtlCol="0" anchor="t"/>
          <a:lstStyle/>
          <a:p>
            <a:pPr indent="0" marL="0">
              <a:buNone/>
            </a:pPr>
            <a:r>
              <a:rPr lang="en-US" sz="1500" dirty="0">
                <a:solidFill>
                  <a:schemeClr val="tx1"/>
                </a:solidFill>
              </a:rPr>
              <a:t>Su hijo rechaza lo nutritivo</a:t>
            </a:r>
            <a:endParaRPr lang="en-US" sz="1500" dirty="0"/>
          </a:p>
        </p:txBody>
      </p:sp>
      <p:sp>
        <p:nvSpPr>
          <p:cNvPr id="13" name="Text 10"/>
          <p:cNvSpPr txBox="1"/>
          <p:nvPr/>
        </p:nvSpPr>
        <p:spPr>
          <a:xfrm>
            <a:off x="822960" y="4114800"/>
            <a:ext cx="2971800" cy="237744"/>
          </a:xfrm>
          <a:prstGeom prst="rect">
            <a:avLst/>
          </a:prstGeom>
          <a:noFill/>
          <a:ln/>
        </p:spPr>
        <p:txBody>
          <a:bodyPr wrap="square" lIns="0" tIns="0" rIns="0" bIns="0" rtlCol="0" anchor="t"/>
          <a:lstStyle/>
          <a:p>
            <a:pPr indent="0" marL="0">
              <a:buNone/>
            </a:pPr>
            <a:r>
              <a:rPr lang="en-US" sz="1100" b="1" spc="100" kern="0" dirty="0">
                <a:solidFill>
                  <a:schemeClr val="accent1"/>
                </a:solidFill>
              </a:rPr>
              <a:t>VALORA</a:t>
            </a:r>
            <a:endParaRPr lang="en-US" sz="1100" dirty="0"/>
          </a:p>
        </p:txBody>
      </p:sp>
      <p:sp>
        <p:nvSpPr>
          <p:cNvPr id="14" name="Text 11"/>
          <p:cNvSpPr txBox="1"/>
          <p:nvPr/>
        </p:nvSpPr>
        <p:spPr>
          <a:xfrm>
            <a:off x="822960" y="4343400"/>
            <a:ext cx="2971800" cy="347472"/>
          </a:xfrm>
          <a:prstGeom prst="rect">
            <a:avLst/>
          </a:prstGeom>
          <a:noFill/>
          <a:ln/>
        </p:spPr>
        <p:txBody>
          <a:bodyPr wrap="square" lIns="0" tIns="0" rIns="0" bIns="0" rtlCol="0" anchor="t"/>
          <a:lstStyle/>
          <a:p>
            <a:pPr indent="0" marL="0">
              <a:buNone/>
            </a:pPr>
            <a:r>
              <a:rPr lang="en-US" sz="1500" dirty="0">
                <a:solidFill>
                  <a:schemeClr val="tx1"/>
                </a:solidFill>
              </a:rPr>
              <a:t>Pruebas: hierro en mg</a:t>
            </a:r>
            <a:endParaRPr lang="en-US" sz="1500" dirty="0"/>
          </a:p>
        </p:txBody>
      </p:sp>
      <p:sp>
        <p:nvSpPr>
          <p:cNvPr id="15" name="Text 12"/>
          <p:cNvSpPr txBox="1"/>
          <p:nvPr/>
        </p:nvSpPr>
        <p:spPr>
          <a:xfrm>
            <a:off x="822960" y="4754880"/>
            <a:ext cx="2971800" cy="237744"/>
          </a:xfrm>
          <a:prstGeom prst="rect">
            <a:avLst/>
          </a:prstGeom>
          <a:noFill/>
          <a:ln/>
        </p:spPr>
        <p:txBody>
          <a:bodyPr wrap="square" lIns="0" tIns="0" rIns="0" bIns="0" rtlCol="0" anchor="t"/>
          <a:lstStyle/>
          <a:p>
            <a:pPr indent="0" marL="0">
              <a:buNone/>
            </a:pPr>
            <a:r>
              <a:rPr lang="en-US" sz="1100" b="1" spc="100" kern="0" dirty="0">
                <a:solidFill>
                  <a:schemeClr val="accent1"/>
                </a:solidFill>
              </a:rPr>
              <a:t>COMPRA EN</a:t>
            </a:r>
            <a:endParaRPr lang="en-US" sz="1100" dirty="0"/>
          </a:p>
        </p:txBody>
      </p:sp>
      <p:sp>
        <p:nvSpPr>
          <p:cNvPr id="16" name="Text 13"/>
          <p:cNvSpPr txBox="1"/>
          <p:nvPr/>
        </p:nvSpPr>
        <p:spPr>
          <a:xfrm>
            <a:off x="822960" y="4983480"/>
            <a:ext cx="2971800" cy="347472"/>
          </a:xfrm>
          <a:prstGeom prst="rect">
            <a:avLst/>
          </a:prstGeom>
          <a:noFill/>
          <a:ln/>
        </p:spPr>
        <p:txBody>
          <a:bodyPr wrap="square" lIns="0" tIns="0" rIns="0" bIns="0" rtlCol="0" anchor="t"/>
          <a:lstStyle/>
          <a:p>
            <a:pPr indent="0" marL="0">
              <a:buNone/>
            </a:pPr>
            <a:r>
              <a:rPr lang="en-US" sz="1500" dirty="0">
                <a:solidFill>
                  <a:schemeClr val="tx1"/>
                </a:solidFill>
              </a:rPr>
              <a:t>Wong, Flora &amp; Fauna, Instagram</a:t>
            </a:r>
            <a:endParaRPr lang="en-US" sz="1500" dirty="0"/>
          </a:p>
        </p:txBody>
      </p:sp>
      <p:sp>
        <p:nvSpPr>
          <p:cNvPr id="17" name="Text 14"/>
          <p:cNvSpPr txBox="1"/>
          <p:nvPr/>
        </p:nvSpPr>
        <p:spPr>
          <a:xfrm>
            <a:off x="822960" y="5376672"/>
            <a:ext cx="1554480" cy="685800"/>
          </a:xfrm>
          <a:prstGeom prst="rect">
            <a:avLst/>
          </a:prstGeom>
          <a:noFill/>
          <a:ln/>
        </p:spPr>
        <p:txBody>
          <a:bodyPr wrap="square" lIns="0" tIns="0" rIns="0" bIns="0" rtlCol="0" anchor="t"/>
          <a:lstStyle/>
          <a:p>
            <a:pPr indent="0" marL="0">
              <a:buNone/>
            </a:pPr>
            <a:r>
              <a:rPr lang="en-US" sz="3000" b="1" dirty="0">
                <a:solidFill>
                  <a:schemeClr val="accent1"/>
                </a:solidFill>
              </a:rPr>
              <a:t>30 %</a:t>
            </a:r>
            <a:endParaRPr lang="en-US" sz="1400" dirty="0"/>
          </a:p>
          <a:p>
            <a:pPr indent="0" marL="0">
              <a:buNone/>
            </a:pPr>
            <a:r>
              <a:rPr lang="en-US" sz="1100" dirty="0">
                <a:solidFill>
                  <a:schemeClr val="accent2"/>
                </a:solidFill>
              </a:rPr>
              <a:t>del volumen</a:t>
            </a:r>
            <a:endParaRPr lang="en-US" sz="1400" dirty="0"/>
          </a:p>
        </p:txBody>
      </p:sp>
      <p:sp>
        <p:nvSpPr>
          <p:cNvPr id="18" name="Shape 15"/>
          <p:cNvSpPr/>
          <p:nvPr/>
        </p:nvSpPr>
        <p:spPr>
          <a:xfrm>
            <a:off x="2331720" y="5486400"/>
            <a:ext cx="1463040" cy="384048"/>
          </a:xfrm>
          <a:prstGeom prst="roundRect">
            <a:avLst>
              <a:gd name="adj" fmla="val 50000"/>
            </a:avLst>
          </a:prstGeom>
          <a:solidFill>
            <a:schemeClr val="bg2"/>
          </a:solidFill>
          <a:ln w="12700">
            <a:solidFill>
              <a:schemeClr val="accent5"/>
            </a:solidFill>
            <a:prstDash val="solid"/>
          </a:ln>
        </p:spPr>
      </p:sp>
      <p:sp>
        <p:nvSpPr>
          <p:cNvPr id="19" name="Text 16"/>
          <p:cNvSpPr txBox="1"/>
          <p:nvPr/>
        </p:nvSpPr>
        <p:spPr>
          <a:xfrm>
            <a:off x="2331720" y="5486400"/>
            <a:ext cx="1463040" cy="384048"/>
          </a:xfrm>
          <a:prstGeom prst="rect">
            <a:avLst/>
          </a:prstGeom>
          <a:noFill/>
          <a:ln/>
        </p:spPr>
        <p:txBody>
          <a:bodyPr wrap="square" lIns="0" tIns="0" rIns="0" bIns="0" rtlCol="0" anchor="ctr"/>
          <a:lstStyle/>
          <a:p>
            <a:pPr algn="ctr" indent="0" marL="0">
              <a:buNone/>
            </a:pPr>
            <a:r>
              <a:rPr lang="en-US" sz="1100" b="1" dirty="0">
                <a:solidFill>
                  <a:schemeClr val="tx2"/>
                </a:solidFill>
              </a:rPr>
              <a:t>Buyer persona: Claudia</a:t>
            </a:r>
            <a:endParaRPr lang="en-US" sz="1100" dirty="0"/>
          </a:p>
        </p:txBody>
      </p:sp>
      <p:sp>
        <p:nvSpPr>
          <p:cNvPr id="20" name="Shape 17"/>
          <p:cNvSpPr/>
          <p:nvPr/>
        </p:nvSpPr>
        <p:spPr>
          <a:xfrm>
            <a:off x="4334256" y="1554480"/>
            <a:ext cx="3520440" cy="4572000"/>
          </a:xfrm>
          <a:prstGeom prst="roundRect">
            <a:avLst>
              <a:gd name="adj" fmla="val 3117"/>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21" name="Shape 18"/>
          <p:cNvSpPr/>
          <p:nvPr/>
        </p:nvSpPr>
        <p:spPr>
          <a:xfrm>
            <a:off x="4608576" y="1828800"/>
            <a:ext cx="731520" cy="731520"/>
          </a:xfrm>
          <a:prstGeom prst="ellipse">
            <a:avLst/>
          </a:prstGeom>
          <a:solidFill>
            <a:schemeClr val="accent2"/>
          </a:solidFill>
          <a:ln w="12700">
            <a:solidFill>
              <a:schemeClr val="accent2"/>
            </a:solidFill>
            <a:prstDash val="solid"/>
          </a:ln>
        </p:spPr>
      </p:sp>
      <p:pic>
        <p:nvPicPr>
          <p:cNvPr id="22" name="Image 1" descr="preencoded.png">    </p:cNvPr>
          <p:cNvPicPr>
            <a:picLocks noChangeAspect="1"/>
          </p:cNvPicPr>
          <p:nvPr/>
        </p:nvPicPr>
        <p:blipFill>
          <a:blip r:embed="rId2"/>
          <a:stretch>
            <a:fillRect/>
          </a:stretch>
        </p:blipFill>
        <p:spPr>
          <a:xfrm>
            <a:off x="4769510" y="1989734"/>
            <a:ext cx="409651" cy="409651"/>
          </a:xfrm>
          <a:prstGeom prst="rect">
            <a:avLst/>
          </a:prstGeom>
        </p:spPr>
      </p:pic>
      <p:sp>
        <p:nvSpPr>
          <p:cNvPr id="23" name="Text 19"/>
          <p:cNvSpPr txBox="1"/>
          <p:nvPr/>
        </p:nvSpPr>
        <p:spPr>
          <a:xfrm>
            <a:off x="5477256" y="1828800"/>
            <a:ext cx="2194560" cy="411480"/>
          </a:xfrm>
          <a:prstGeom prst="rect">
            <a:avLst/>
          </a:prstGeom>
          <a:noFill/>
          <a:ln/>
        </p:spPr>
        <p:txBody>
          <a:bodyPr wrap="square" lIns="0" tIns="0" rIns="0" bIns="0" rtlCol="0" anchor="t"/>
          <a:lstStyle/>
          <a:p>
            <a:pPr indent="0" marL="0">
              <a:buNone/>
            </a:pPr>
            <a:r>
              <a:rPr lang="en-US" sz="1900" b="1" dirty="0">
                <a:solidFill>
                  <a:schemeClr val="tx2"/>
                </a:solidFill>
              </a:rPr>
              <a:t>El Resolutivo</a:t>
            </a:r>
            <a:endParaRPr lang="en-US" sz="1900" dirty="0"/>
          </a:p>
        </p:txBody>
      </p:sp>
      <p:sp>
        <p:nvSpPr>
          <p:cNvPr id="24" name="Text 20"/>
          <p:cNvSpPr txBox="1"/>
          <p:nvPr/>
        </p:nvSpPr>
        <p:spPr>
          <a:xfrm>
            <a:off x="5477256" y="2267712"/>
            <a:ext cx="2194560" cy="320040"/>
          </a:xfrm>
          <a:prstGeom prst="rect">
            <a:avLst/>
          </a:prstGeom>
          <a:noFill/>
          <a:ln/>
        </p:spPr>
        <p:txBody>
          <a:bodyPr wrap="square" lIns="0" tIns="0" rIns="0" bIns="0" rtlCol="0" anchor="t"/>
          <a:lstStyle/>
          <a:p>
            <a:pPr indent="0" marL="0">
              <a:buNone/>
            </a:pPr>
            <a:r>
              <a:rPr lang="en-US" sz="1200" dirty="0">
                <a:solidFill>
                  <a:schemeClr val="accent2"/>
                </a:solidFill>
              </a:rPr>
              <a:t>Papá o mamá de 38 a 45, gerente</a:t>
            </a:r>
            <a:endParaRPr lang="en-US" sz="1200" dirty="0"/>
          </a:p>
        </p:txBody>
      </p:sp>
      <p:sp>
        <p:nvSpPr>
          <p:cNvPr id="25" name="Text 21"/>
          <p:cNvSpPr txBox="1"/>
          <p:nvPr/>
        </p:nvSpPr>
        <p:spPr>
          <a:xfrm>
            <a:off x="4608576" y="2834640"/>
            <a:ext cx="2971800" cy="237744"/>
          </a:xfrm>
          <a:prstGeom prst="rect">
            <a:avLst/>
          </a:prstGeom>
          <a:noFill/>
          <a:ln/>
        </p:spPr>
        <p:txBody>
          <a:bodyPr wrap="square" lIns="0" tIns="0" rIns="0" bIns="0" rtlCol="0" anchor="t"/>
          <a:lstStyle/>
          <a:p>
            <a:pPr indent="0" marL="0">
              <a:buNone/>
            </a:pPr>
            <a:r>
              <a:rPr lang="en-US" sz="1100" b="1" spc="100" kern="0" dirty="0">
                <a:solidFill>
                  <a:schemeClr val="accent1"/>
                </a:solidFill>
              </a:rPr>
              <a:t>HÁBITO</a:t>
            </a:r>
            <a:endParaRPr lang="en-US" sz="1100" dirty="0"/>
          </a:p>
        </p:txBody>
      </p:sp>
      <p:sp>
        <p:nvSpPr>
          <p:cNvPr id="26" name="Text 22"/>
          <p:cNvSpPr txBox="1"/>
          <p:nvPr/>
        </p:nvSpPr>
        <p:spPr>
          <a:xfrm>
            <a:off x="4608576" y="3063240"/>
            <a:ext cx="2971800" cy="347472"/>
          </a:xfrm>
          <a:prstGeom prst="rect">
            <a:avLst/>
          </a:prstGeom>
          <a:noFill/>
          <a:ln/>
        </p:spPr>
        <p:txBody>
          <a:bodyPr wrap="square" lIns="0" tIns="0" rIns="0" bIns="0" rtlCol="0" anchor="t"/>
          <a:lstStyle/>
          <a:p>
            <a:pPr indent="0" marL="0">
              <a:buNone/>
            </a:pPr>
            <a:r>
              <a:rPr lang="en-US" sz="1500" dirty="0">
                <a:solidFill>
                  <a:schemeClr val="tx1"/>
                </a:solidFill>
              </a:rPr>
              <a:t>Compra por app y en el súper</a:t>
            </a:r>
            <a:endParaRPr lang="en-US" sz="1500" dirty="0"/>
          </a:p>
        </p:txBody>
      </p:sp>
      <p:sp>
        <p:nvSpPr>
          <p:cNvPr id="27" name="Text 23"/>
          <p:cNvSpPr txBox="1"/>
          <p:nvPr/>
        </p:nvSpPr>
        <p:spPr>
          <a:xfrm>
            <a:off x="4608576" y="3474720"/>
            <a:ext cx="2971800" cy="237744"/>
          </a:xfrm>
          <a:prstGeom prst="rect">
            <a:avLst/>
          </a:prstGeom>
          <a:noFill/>
          <a:ln/>
        </p:spPr>
        <p:txBody>
          <a:bodyPr wrap="square" lIns="0" tIns="0" rIns="0" bIns="0" rtlCol="0" anchor="t"/>
          <a:lstStyle/>
          <a:p>
            <a:pPr indent="0" marL="0">
              <a:buNone/>
            </a:pPr>
            <a:r>
              <a:rPr lang="en-US" sz="1100" b="1" spc="100" kern="0" dirty="0">
                <a:solidFill>
                  <a:schemeClr val="accent1"/>
                </a:solidFill>
              </a:rPr>
              <a:t>DOLOR</a:t>
            </a:r>
            <a:endParaRPr lang="en-US" sz="1100" dirty="0"/>
          </a:p>
        </p:txBody>
      </p:sp>
      <p:sp>
        <p:nvSpPr>
          <p:cNvPr id="28" name="Text 24"/>
          <p:cNvSpPr txBox="1"/>
          <p:nvPr/>
        </p:nvSpPr>
        <p:spPr>
          <a:xfrm>
            <a:off x="4608576" y="3703320"/>
            <a:ext cx="2971800" cy="347472"/>
          </a:xfrm>
          <a:prstGeom prst="rect">
            <a:avLst/>
          </a:prstGeom>
          <a:noFill/>
          <a:ln/>
        </p:spPr>
        <p:txBody>
          <a:bodyPr wrap="square" lIns="0" tIns="0" rIns="0" bIns="0" rtlCol="0" anchor="t"/>
          <a:lstStyle/>
          <a:p>
            <a:pPr indent="0" marL="0">
              <a:buNone/>
            </a:pPr>
            <a:r>
              <a:rPr lang="en-US" sz="1500" dirty="0">
                <a:solidFill>
                  <a:schemeClr val="tx1"/>
                </a:solidFill>
              </a:rPr>
              <a:t>Mañanas contra el reloj</a:t>
            </a:r>
            <a:endParaRPr lang="en-US" sz="1500" dirty="0"/>
          </a:p>
        </p:txBody>
      </p:sp>
      <p:sp>
        <p:nvSpPr>
          <p:cNvPr id="29" name="Text 25"/>
          <p:cNvSpPr txBox="1"/>
          <p:nvPr/>
        </p:nvSpPr>
        <p:spPr>
          <a:xfrm>
            <a:off x="4608576" y="4114800"/>
            <a:ext cx="2971800" cy="237744"/>
          </a:xfrm>
          <a:prstGeom prst="rect">
            <a:avLst/>
          </a:prstGeom>
          <a:noFill/>
          <a:ln/>
        </p:spPr>
        <p:txBody>
          <a:bodyPr wrap="square" lIns="0" tIns="0" rIns="0" bIns="0" rtlCol="0" anchor="t"/>
          <a:lstStyle/>
          <a:p>
            <a:pPr indent="0" marL="0">
              <a:buNone/>
            </a:pPr>
            <a:r>
              <a:rPr lang="en-US" sz="1100" b="1" spc="100" kern="0" dirty="0">
                <a:solidFill>
                  <a:schemeClr val="accent1"/>
                </a:solidFill>
              </a:rPr>
              <a:t>VALORA</a:t>
            </a:r>
            <a:endParaRPr lang="en-US" sz="1100" dirty="0"/>
          </a:p>
        </p:txBody>
      </p:sp>
      <p:sp>
        <p:nvSpPr>
          <p:cNvPr id="30" name="Text 26"/>
          <p:cNvSpPr txBox="1"/>
          <p:nvPr/>
        </p:nvSpPr>
        <p:spPr>
          <a:xfrm>
            <a:off x="4608576" y="4343400"/>
            <a:ext cx="2971800" cy="347472"/>
          </a:xfrm>
          <a:prstGeom prst="rect">
            <a:avLst/>
          </a:prstGeom>
          <a:noFill/>
          <a:ln/>
        </p:spPr>
        <p:txBody>
          <a:bodyPr wrap="square" lIns="0" tIns="0" rIns="0" bIns="0" rtlCol="0" anchor="t"/>
          <a:lstStyle/>
          <a:p>
            <a:pPr indent="0" marL="0">
              <a:buNone/>
            </a:pPr>
            <a:r>
              <a:rPr lang="en-US" sz="1500" dirty="0">
                <a:solidFill>
                  <a:schemeClr val="tx1"/>
                </a:solidFill>
              </a:rPr>
              <a:t>Rapidez y practicidad</a:t>
            </a:r>
            <a:endParaRPr lang="en-US" sz="1500" dirty="0"/>
          </a:p>
        </p:txBody>
      </p:sp>
      <p:sp>
        <p:nvSpPr>
          <p:cNvPr id="31" name="Text 27"/>
          <p:cNvSpPr txBox="1"/>
          <p:nvPr/>
        </p:nvSpPr>
        <p:spPr>
          <a:xfrm>
            <a:off x="4608576" y="4754880"/>
            <a:ext cx="2971800" cy="237744"/>
          </a:xfrm>
          <a:prstGeom prst="rect">
            <a:avLst/>
          </a:prstGeom>
          <a:noFill/>
          <a:ln/>
        </p:spPr>
        <p:txBody>
          <a:bodyPr wrap="square" lIns="0" tIns="0" rIns="0" bIns="0" rtlCol="0" anchor="t"/>
          <a:lstStyle/>
          <a:p>
            <a:pPr indent="0" marL="0">
              <a:buNone/>
            </a:pPr>
            <a:r>
              <a:rPr lang="en-US" sz="1100" b="1" spc="100" kern="0" dirty="0">
                <a:solidFill>
                  <a:schemeClr val="accent1"/>
                </a:solidFill>
              </a:rPr>
              <a:t>COMPRA EN</a:t>
            </a:r>
            <a:endParaRPr lang="en-US" sz="1100" dirty="0"/>
          </a:p>
        </p:txBody>
      </p:sp>
      <p:sp>
        <p:nvSpPr>
          <p:cNvPr id="32" name="Text 28"/>
          <p:cNvSpPr txBox="1"/>
          <p:nvPr/>
        </p:nvSpPr>
        <p:spPr>
          <a:xfrm>
            <a:off x="4608576" y="4983480"/>
            <a:ext cx="2971800" cy="347472"/>
          </a:xfrm>
          <a:prstGeom prst="rect">
            <a:avLst/>
          </a:prstGeom>
          <a:noFill/>
          <a:ln/>
        </p:spPr>
        <p:txBody>
          <a:bodyPr wrap="square" lIns="0" tIns="0" rIns="0" bIns="0" rtlCol="0" anchor="t"/>
          <a:lstStyle/>
          <a:p>
            <a:pPr indent="0" marL="0">
              <a:buNone/>
            </a:pPr>
            <a:r>
              <a:rPr lang="en-US" sz="1500" dirty="0">
                <a:solidFill>
                  <a:schemeClr val="tx1"/>
                </a:solidFill>
              </a:rPr>
              <a:t>Supermercado y WhatsApp</a:t>
            </a:r>
            <a:endParaRPr lang="en-US" sz="1500" dirty="0"/>
          </a:p>
        </p:txBody>
      </p:sp>
      <p:sp>
        <p:nvSpPr>
          <p:cNvPr id="33" name="Text 29"/>
          <p:cNvSpPr txBox="1"/>
          <p:nvPr/>
        </p:nvSpPr>
        <p:spPr>
          <a:xfrm>
            <a:off x="4608576" y="5376672"/>
            <a:ext cx="1554480" cy="685800"/>
          </a:xfrm>
          <a:prstGeom prst="rect">
            <a:avLst/>
          </a:prstGeom>
          <a:noFill/>
          <a:ln/>
        </p:spPr>
        <p:txBody>
          <a:bodyPr wrap="square" lIns="0" tIns="0" rIns="0" bIns="0" rtlCol="0" anchor="t"/>
          <a:lstStyle/>
          <a:p>
            <a:pPr indent="0" marL="0">
              <a:buNone/>
            </a:pPr>
            <a:r>
              <a:rPr lang="en-US" sz="3000" b="1" dirty="0">
                <a:solidFill>
                  <a:schemeClr val="accent2"/>
                </a:solidFill>
              </a:rPr>
              <a:t>45 %</a:t>
            </a:r>
            <a:endParaRPr lang="en-US" sz="1400" dirty="0"/>
          </a:p>
          <a:p>
            <a:pPr indent="0" marL="0">
              <a:buNone/>
            </a:pPr>
            <a:r>
              <a:rPr lang="en-US" sz="1100" dirty="0">
                <a:solidFill>
                  <a:schemeClr val="accent2"/>
                </a:solidFill>
              </a:rPr>
              <a:t>del volumen</a:t>
            </a:r>
            <a:endParaRPr lang="en-US" sz="1400" dirty="0"/>
          </a:p>
        </p:txBody>
      </p:sp>
      <p:sp>
        <p:nvSpPr>
          <p:cNvPr id="34" name="Shape 30"/>
          <p:cNvSpPr/>
          <p:nvPr/>
        </p:nvSpPr>
        <p:spPr>
          <a:xfrm>
            <a:off x="6117336" y="5486400"/>
            <a:ext cx="1463040" cy="384048"/>
          </a:xfrm>
          <a:prstGeom prst="roundRect">
            <a:avLst>
              <a:gd name="adj" fmla="val 50000"/>
            </a:avLst>
          </a:prstGeom>
          <a:solidFill>
            <a:schemeClr val="bg2"/>
          </a:solidFill>
          <a:ln w="12700">
            <a:solidFill>
              <a:schemeClr val="accent5"/>
            </a:solidFill>
            <a:prstDash val="solid"/>
          </a:ln>
        </p:spPr>
      </p:sp>
      <p:sp>
        <p:nvSpPr>
          <p:cNvPr id="35" name="Text 31"/>
          <p:cNvSpPr txBox="1"/>
          <p:nvPr/>
        </p:nvSpPr>
        <p:spPr>
          <a:xfrm>
            <a:off x="6117336" y="5486400"/>
            <a:ext cx="1463040" cy="384048"/>
          </a:xfrm>
          <a:prstGeom prst="rect">
            <a:avLst/>
          </a:prstGeom>
          <a:noFill/>
          <a:ln/>
        </p:spPr>
        <p:txBody>
          <a:bodyPr wrap="square" lIns="0" tIns="0" rIns="0" bIns="0" rtlCol="0" anchor="ctr"/>
          <a:lstStyle/>
          <a:p>
            <a:pPr algn="ctr" indent="0" marL="0">
              <a:buNone/>
            </a:pPr>
            <a:r>
              <a:rPr lang="en-US" sz="1100" b="1" dirty="0">
                <a:solidFill>
                  <a:schemeClr val="tx2"/>
                </a:solidFill>
              </a:rPr>
              <a:t>Buyer persona: Rodrigo</a:t>
            </a:r>
            <a:endParaRPr lang="en-US" sz="1100" dirty="0"/>
          </a:p>
        </p:txBody>
      </p:sp>
      <p:sp>
        <p:nvSpPr>
          <p:cNvPr id="36" name="Shape 32"/>
          <p:cNvSpPr/>
          <p:nvPr/>
        </p:nvSpPr>
        <p:spPr>
          <a:xfrm>
            <a:off x="8119872" y="1554480"/>
            <a:ext cx="3520440" cy="4572000"/>
          </a:xfrm>
          <a:prstGeom prst="roundRect">
            <a:avLst>
              <a:gd name="adj" fmla="val 3117"/>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37" name="Shape 33"/>
          <p:cNvSpPr/>
          <p:nvPr/>
        </p:nvSpPr>
        <p:spPr>
          <a:xfrm>
            <a:off x="8394192" y="1828800"/>
            <a:ext cx="731520" cy="731520"/>
          </a:xfrm>
          <a:prstGeom prst="ellipse">
            <a:avLst/>
          </a:prstGeom>
          <a:solidFill>
            <a:schemeClr val="accent4"/>
          </a:solidFill>
          <a:ln w="12700">
            <a:solidFill>
              <a:schemeClr val="accent4"/>
            </a:solidFill>
            <a:prstDash val="solid"/>
          </a:ln>
        </p:spPr>
      </p:sp>
      <p:pic>
        <p:nvPicPr>
          <p:cNvPr id="38" name="Image 2" descr="preencoded.png">    </p:cNvPr>
          <p:cNvPicPr>
            <a:picLocks noChangeAspect="1"/>
          </p:cNvPicPr>
          <p:nvPr/>
        </p:nvPicPr>
        <p:blipFill>
          <a:blip r:embed="rId3"/>
          <a:stretch>
            <a:fillRect/>
          </a:stretch>
        </p:blipFill>
        <p:spPr>
          <a:xfrm>
            <a:off x="8555126" y="1989734"/>
            <a:ext cx="409651" cy="409651"/>
          </a:xfrm>
          <a:prstGeom prst="rect">
            <a:avLst/>
          </a:prstGeom>
        </p:spPr>
      </p:pic>
      <p:sp>
        <p:nvSpPr>
          <p:cNvPr id="39" name="Text 34"/>
          <p:cNvSpPr txBox="1"/>
          <p:nvPr/>
        </p:nvSpPr>
        <p:spPr>
          <a:xfrm>
            <a:off x="9262872" y="1828800"/>
            <a:ext cx="2194560" cy="411480"/>
          </a:xfrm>
          <a:prstGeom prst="rect">
            <a:avLst/>
          </a:prstGeom>
          <a:noFill/>
          <a:ln/>
        </p:spPr>
        <p:txBody>
          <a:bodyPr wrap="square" lIns="0" tIns="0" rIns="0" bIns="0" rtlCol="0" anchor="t"/>
          <a:lstStyle/>
          <a:p>
            <a:pPr indent="0" marL="0">
              <a:buNone/>
            </a:pPr>
            <a:r>
              <a:rPr lang="en-US" sz="1900" b="1" dirty="0">
                <a:solidFill>
                  <a:schemeClr val="tx2"/>
                </a:solidFill>
              </a:rPr>
              <a:t>El Prescriptor (B2B)</a:t>
            </a:r>
            <a:endParaRPr lang="en-US" sz="1900" dirty="0"/>
          </a:p>
        </p:txBody>
      </p:sp>
      <p:sp>
        <p:nvSpPr>
          <p:cNvPr id="40" name="Text 35"/>
          <p:cNvSpPr txBox="1"/>
          <p:nvPr/>
        </p:nvSpPr>
        <p:spPr>
          <a:xfrm>
            <a:off x="9262872" y="2267712"/>
            <a:ext cx="2194560" cy="320040"/>
          </a:xfrm>
          <a:prstGeom prst="rect">
            <a:avLst/>
          </a:prstGeom>
          <a:noFill/>
          <a:ln/>
        </p:spPr>
        <p:txBody>
          <a:bodyPr wrap="square" lIns="0" tIns="0" rIns="0" bIns="0" rtlCol="0" anchor="t"/>
          <a:lstStyle/>
          <a:p>
            <a:pPr indent="0" marL="0">
              <a:buNone/>
            </a:pPr>
            <a:r>
              <a:rPr lang="en-US" sz="1200" dirty="0">
                <a:solidFill>
                  <a:schemeClr val="accent2"/>
                </a:solidFill>
              </a:rPr>
              <a:t>Quiosco, nutricionista, pediatra</a:t>
            </a:r>
            <a:endParaRPr lang="en-US" sz="1200" dirty="0"/>
          </a:p>
        </p:txBody>
      </p:sp>
      <p:sp>
        <p:nvSpPr>
          <p:cNvPr id="41" name="Text 36"/>
          <p:cNvSpPr txBox="1"/>
          <p:nvPr/>
        </p:nvSpPr>
        <p:spPr>
          <a:xfrm>
            <a:off x="8394192" y="2834640"/>
            <a:ext cx="2971800" cy="237744"/>
          </a:xfrm>
          <a:prstGeom prst="rect">
            <a:avLst/>
          </a:prstGeom>
          <a:noFill/>
          <a:ln/>
        </p:spPr>
        <p:txBody>
          <a:bodyPr wrap="square" lIns="0" tIns="0" rIns="0" bIns="0" rtlCol="0" anchor="t"/>
          <a:lstStyle/>
          <a:p>
            <a:pPr indent="0" marL="0">
              <a:buNone/>
            </a:pPr>
            <a:r>
              <a:rPr lang="en-US" sz="1100" b="1" spc="100" kern="0" dirty="0">
                <a:solidFill>
                  <a:schemeClr val="accent1"/>
                </a:solidFill>
              </a:rPr>
              <a:t>HÁBITO</a:t>
            </a:r>
            <a:endParaRPr lang="en-US" sz="1100" dirty="0"/>
          </a:p>
        </p:txBody>
      </p:sp>
      <p:sp>
        <p:nvSpPr>
          <p:cNvPr id="42" name="Text 37"/>
          <p:cNvSpPr txBox="1"/>
          <p:nvPr/>
        </p:nvSpPr>
        <p:spPr>
          <a:xfrm>
            <a:off x="8394192" y="3063240"/>
            <a:ext cx="2971800" cy="347472"/>
          </a:xfrm>
          <a:prstGeom prst="rect">
            <a:avLst/>
          </a:prstGeom>
          <a:noFill/>
          <a:ln/>
        </p:spPr>
        <p:txBody>
          <a:bodyPr wrap="square" lIns="0" tIns="0" rIns="0" bIns="0" rtlCol="0" anchor="t"/>
          <a:lstStyle/>
          <a:p>
            <a:pPr indent="0" marL="0">
              <a:buNone/>
            </a:pPr>
            <a:r>
              <a:rPr lang="en-US" sz="1500" dirty="0">
                <a:solidFill>
                  <a:schemeClr val="tx1"/>
                </a:solidFill>
              </a:rPr>
              <a:t>Elige qué entra al colegio</a:t>
            </a:r>
            <a:endParaRPr lang="en-US" sz="1500" dirty="0"/>
          </a:p>
        </p:txBody>
      </p:sp>
      <p:sp>
        <p:nvSpPr>
          <p:cNvPr id="43" name="Text 38"/>
          <p:cNvSpPr txBox="1"/>
          <p:nvPr/>
        </p:nvSpPr>
        <p:spPr>
          <a:xfrm>
            <a:off x="8394192" y="3474720"/>
            <a:ext cx="2971800" cy="237744"/>
          </a:xfrm>
          <a:prstGeom prst="rect">
            <a:avLst/>
          </a:prstGeom>
          <a:noFill/>
          <a:ln/>
        </p:spPr>
        <p:txBody>
          <a:bodyPr wrap="square" lIns="0" tIns="0" rIns="0" bIns="0" rtlCol="0" anchor="t"/>
          <a:lstStyle/>
          <a:p>
            <a:pPr indent="0" marL="0">
              <a:buNone/>
            </a:pPr>
            <a:r>
              <a:rPr lang="en-US" sz="1100" b="1" spc="100" kern="0" dirty="0">
                <a:solidFill>
                  <a:schemeClr val="accent1"/>
                </a:solidFill>
              </a:rPr>
              <a:t>DOLOR</a:t>
            </a:r>
            <a:endParaRPr lang="en-US" sz="1100" dirty="0"/>
          </a:p>
        </p:txBody>
      </p:sp>
      <p:sp>
        <p:nvSpPr>
          <p:cNvPr id="44" name="Text 39"/>
          <p:cNvSpPr txBox="1"/>
          <p:nvPr/>
        </p:nvSpPr>
        <p:spPr>
          <a:xfrm>
            <a:off x="8394192" y="3703320"/>
            <a:ext cx="2971800" cy="347472"/>
          </a:xfrm>
          <a:prstGeom prst="rect">
            <a:avLst/>
          </a:prstGeom>
          <a:noFill/>
          <a:ln/>
        </p:spPr>
        <p:txBody>
          <a:bodyPr wrap="square" lIns="0" tIns="0" rIns="0" bIns="0" rtlCol="0" anchor="t"/>
          <a:lstStyle/>
          <a:p>
            <a:pPr indent="0" marL="0">
              <a:buNone/>
            </a:pPr>
            <a:r>
              <a:rPr lang="en-US" sz="1500" dirty="0">
                <a:solidFill>
                  <a:schemeClr val="tx1"/>
                </a:solidFill>
              </a:rPr>
              <a:t>Productos con octógono</a:t>
            </a:r>
            <a:endParaRPr lang="en-US" sz="1500" dirty="0"/>
          </a:p>
        </p:txBody>
      </p:sp>
      <p:sp>
        <p:nvSpPr>
          <p:cNvPr id="45" name="Text 40"/>
          <p:cNvSpPr txBox="1"/>
          <p:nvPr/>
        </p:nvSpPr>
        <p:spPr>
          <a:xfrm>
            <a:off x="8394192" y="4114800"/>
            <a:ext cx="2971800" cy="237744"/>
          </a:xfrm>
          <a:prstGeom prst="rect">
            <a:avLst/>
          </a:prstGeom>
          <a:noFill/>
          <a:ln/>
        </p:spPr>
        <p:txBody>
          <a:bodyPr wrap="square" lIns="0" tIns="0" rIns="0" bIns="0" rtlCol="0" anchor="t"/>
          <a:lstStyle/>
          <a:p>
            <a:pPr indent="0" marL="0">
              <a:buNone/>
            </a:pPr>
            <a:r>
              <a:rPr lang="en-US" sz="1100" b="1" spc="100" kern="0" dirty="0">
                <a:solidFill>
                  <a:schemeClr val="accent1"/>
                </a:solidFill>
              </a:rPr>
              <a:t>VALORA</a:t>
            </a:r>
            <a:endParaRPr lang="en-US" sz="1100" dirty="0"/>
          </a:p>
        </p:txBody>
      </p:sp>
      <p:sp>
        <p:nvSpPr>
          <p:cNvPr id="46" name="Text 41"/>
          <p:cNvSpPr txBox="1"/>
          <p:nvPr/>
        </p:nvSpPr>
        <p:spPr>
          <a:xfrm>
            <a:off x="8394192" y="4343400"/>
            <a:ext cx="2971800" cy="347472"/>
          </a:xfrm>
          <a:prstGeom prst="rect">
            <a:avLst/>
          </a:prstGeom>
          <a:noFill/>
          <a:ln/>
        </p:spPr>
        <p:txBody>
          <a:bodyPr wrap="square" lIns="0" tIns="0" rIns="0" bIns="0" rtlCol="0" anchor="t"/>
          <a:lstStyle/>
          <a:p>
            <a:pPr indent="0" marL="0">
              <a:buNone/>
            </a:pPr>
            <a:r>
              <a:rPr lang="en-US" sz="1500" dirty="0">
                <a:solidFill>
                  <a:schemeClr val="tx1"/>
                </a:solidFill>
              </a:rPr>
              <a:t>Norma y registro sanitario</a:t>
            </a:r>
            <a:endParaRPr lang="en-US" sz="1500" dirty="0"/>
          </a:p>
        </p:txBody>
      </p:sp>
      <p:sp>
        <p:nvSpPr>
          <p:cNvPr id="47" name="Text 42"/>
          <p:cNvSpPr txBox="1"/>
          <p:nvPr/>
        </p:nvSpPr>
        <p:spPr>
          <a:xfrm>
            <a:off x="8394192" y="4754880"/>
            <a:ext cx="2971800" cy="237744"/>
          </a:xfrm>
          <a:prstGeom prst="rect">
            <a:avLst/>
          </a:prstGeom>
          <a:noFill/>
          <a:ln/>
        </p:spPr>
        <p:txBody>
          <a:bodyPr wrap="square" lIns="0" tIns="0" rIns="0" bIns="0" rtlCol="0" anchor="t"/>
          <a:lstStyle/>
          <a:p>
            <a:pPr indent="0" marL="0">
              <a:buNone/>
            </a:pPr>
            <a:r>
              <a:rPr lang="en-US" sz="1100" b="1" spc="100" kern="0" dirty="0">
                <a:solidFill>
                  <a:schemeClr val="accent1"/>
                </a:solidFill>
              </a:rPr>
              <a:t>COMPRA EN</a:t>
            </a:r>
            <a:endParaRPr lang="en-US" sz="1100" dirty="0"/>
          </a:p>
        </p:txBody>
      </p:sp>
      <p:sp>
        <p:nvSpPr>
          <p:cNvPr id="48" name="Text 43"/>
          <p:cNvSpPr txBox="1"/>
          <p:nvPr/>
        </p:nvSpPr>
        <p:spPr>
          <a:xfrm>
            <a:off x="8394192" y="4983480"/>
            <a:ext cx="2971800" cy="347472"/>
          </a:xfrm>
          <a:prstGeom prst="rect">
            <a:avLst/>
          </a:prstGeom>
          <a:noFill/>
          <a:ln/>
        </p:spPr>
        <p:txBody>
          <a:bodyPr wrap="square" lIns="0" tIns="0" rIns="0" bIns="0" rtlCol="0" anchor="t"/>
          <a:lstStyle/>
          <a:p>
            <a:pPr indent="0" marL="0">
              <a:buNone/>
            </a:pPr>
            <a:r>
              <a:rPr lang="en-US" sz="1500" dirty="0">
                <a:solidFill>
                  <a:schemeClr val="tx1"/>
                </a:solidFill>
              </a:rPr>
              <a:t>Directo al productor</a:t>
            </a:r>
            <a:endParaRPr lang="en-US" sz="1500" dirty="0"/>
          </a:p>
        </p:txBody>
      </p:sp>
      <p:sp>
        <p:nvSpPr>
          <p:cNvPr id="49" name="Text 44"/>
          <p:cNvSpPr txBox="1"/>
          <p:nvPr/>
        </p:nvSpPr>
        <p:spPr>
          <a:xfrm>
            <a:off x="8394192" y="5376672"/>
            <a:ext cx="1554480" cy="685800"/>
          </a:xfrm>
          <a:prstGeom prst="rect">
            <a:avLst/>
          </a:prstGeom>
          <a:noFill/>
          <a:ln/>
        </p:spPr>
        <p:txBody>
          <a:bodyPr wrap="square" lIns="0" tIns="0" rIns="0" bIns="0" rtlCol="0" anchor="t"/>
          <a:lstStyle/>
          <a:p>
            <a:pPr indent="0" marL="0">
              <a:buNone/>
            </a:pPr>
            <a:r>
              <a:rPr lang="en-US" sz="3000" b="1" dirty="0">
                <a:solidFill>
                  <a:schemeClr val="accent4"/>
                </a:solidFill>
              </a:rPr>
              <a:t>25 %</a:t>
            </a:r>
            <a:endParaRPr lang="en-US" sz="1400" dirty="0"/>
          </a:p>
          <a:p>
            <a:pPr indent="0" marL="0">
              <a:buNone/>
            </a:pPr>
            <a:r>
              <a:rPr lang="en-US" sz="1100" dirty="0">
                <a:solidFill>
                  <a:schemeClr val="accent2"/>
                </a:solidFill>
              </a:rPr>
              <a:t>del volumen</a:t>
            </a:r>
            <a:endParaRPr lang="en-US" sz="1400" dirty="0"/>
          </a:p>
        </p:txBody>
      </p:sp>
      <p:sp>
        <p:nvSpPr>
          <p:cNvPr id="50" name="Shape 45"/>
          <p:cNvSpPr/>
          <p:nvPr/>
        </p:nvSpPr>
        <p:spPr>
          <a:xfrm>
            <a:off x="9902952" y="5486400"/>
            <a:ext cx="1463040" cy="384048"/>
          </a:xfrm>
          <a:prstGeom prst="roundRect">
            <a:avLst>
              <a:gd name="adj" fmla="val 50000"/>
            </a:avLst>
          </a:prstGeom>
          <a:solidFill>
            <a:schemeClr val="bg2"/>
          </a:solidFill>
          <a:ln w="12700">
            <a:solidFill>
              <a:schemeClr val="accent5"/>
            </a:solidFill>
            <a:prstDash val="solid"/>
          </a:ln>
        </p:spPr>
      </p:sp>
      <p:sp>
        <p:nvSpPr>
          <p:cNvPr id="51" name="Text 46"/>
          <p:cNvSpPr txBox="1"/>
          <p:nvPr/>
        </p:nvSpPr>
        <p:spPr>
          <a:xfrm>
            <a:off x="9902952" y="5486400"/>
            <a:ext cx="1463040" cy="384048"/>
          </a:xfrm>
          <a:prstGeom prst="rect">
            <a:avLst/>
          </a:prstGeom>
          <a:noFill/>
          <a:ln/>
        </p:spPr>
        <p:txBody>
          <a:bodyPr wrap="square" lIns="0" tIns="0" rIns="0" bIns="0" rtlCol="0" anchor="ctr"/>
          <a:lstStyle/>
          <a:p>
            <a:pPr algn="ctr" indent="0" marL="0">
              <a:buNone/>
            </a:pPr>
            <a:r>
              <a:rPr lang="en-US" sz="1100" b="1" dirty="0">
                <a:solidFill>
                  <a:schemeClr val="tx2"/>
                </a:solidFill>
              </a:rPr>
              <a:t>Valida la marca</a:t>
            </a:r>
            <a:endParaRPr lang="en-US" sz="1100" dirty="0"/>
          </a:p>
        </p:txBody>
      </p:sp>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TRABAJO DE CAMPO 5 · BUYER PERSONA PRINCIPAL</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Claudia Mendoza</a:t>
            </a:r>
            <a:endParaRPr lang="en-US" sz="3400" dirty="0"/>
          </a:p>
        </p:txBody>
      </p:sp>
      <p:sp>
        <p:nvSpPr>
          <p:cNvPr id="4" name="IMAGEN_1"/>
          <p:cNvSpPr/>
          <p:nvPr/>
        </p:nvSpPr>
        <p:spPr>
          <a:xfrm>
            <a:off x="548640" y="1463040"/>
            <a:ext cx="3383280" cy="4663440"/>
          </a:xfrm>
          <a:prstGeom prst="roundRect">
            <a:avLst>
              <a:gd name="adj" fmla="val 4054"/>
            </a:avLst>
          </a:prstGeom>
          <a:solidFill>
            <a:srgbClr val="F0E2CF"/>
          </a:solidFill>
          <a:ln w="19050">
            <a:solidFill>
              <a:schemeClr val="accent5"/>
            </a:solidFill>
            <a:prstDash val="dash"/>
          </a:ln>
        </p:spPr>
      </p:sp>
      <p:pic>
        <p:nvPicPr>
          <p:cNvPr id="5" name="Image 0" descr="preencoded.png">    </p:cNvPr>
          <p:cNvPicPr>
            <a:picLocks noChangeAspect="1"/>
          </p:cNvPicPr>
          <p:nvPr/>
        </p:nvPicPr>
        <p:blipFill>
          <a:blip r:embed="rId1"/>
          <a:stretch>
            <a:fillRect/>
          </a:stretch>
        </p:blipFill>
        <p:spPr>
          <a:xfrm>
            <a:off x="1874520" y="2880360"/>
            <a:ext cx="731520" cy="731520"/>
          </a:xfrm>
          <a:prstGeom prst="rect">
            <a:avLst/>
          </a:prstGeom>
        </p:spPr>
      </p:pic>
      <p:sp>
        <p:nvSpPr>
          <p:cNvPr id="6" name="Text 3"/>
          <p:cNvSpPr txBox="1"/>
          <p:nvPr/>
        </p:nvSpPr>
        <p:spPr>
          <a:xfrm>
            <a:off x="731520" y="3794760"/>
            <a:ext cx="3017520" cy="1097280"/>
          </a:xfrm>
          <a:prstGeom prst="rect">
            <a:avLst/>
          </a:prstGeom>
          <a:noFill/>
          <a:ln/>
        </p:spPr>
        <p:txBody>
          <a:bodyPr wrap="square" lIns="0" tIns="0" rIns="0" bIns="0" rtlCol="0" anchor="t"/>
          <a:lstStyle/>
          <a:p>
            <a:pPr algn="ctr" indent="0" marL="0">
              <a:buNone/>
            </a:pPr>
            <a:r>
              <a:rPr lang="en-US" sz="1600" b="1" dirty="0">
                <a:solidFill>
                  <a:schemeClr val="accent2"/>
                </a:solidFill>
              </a:rPr>
              <a:t>IMAGEN 1</a:t>
            </a:r>
            <a:endParaRPr lang="en-US" sz="1400" dirty="0"/>
          </a:p>
          <a:p>
            <a:pPr algn="ctr" indent="0" marL="0">
              <a:buNone/>
            </a:pPr>
            <a:r>
              <a:rPr lang="en-US" sz="1300" dirty="0">
                <a:solidFill>
                  <a:schemeClr val="accent2"/>
                </a:solidFill>
              </a:rPr>
              <a:t>Retrato de Claudia (38, San Borja)</a:t>
            </a:r>
            <a:endParaRPr lang="en-US" sz="1400" dirty="0"/>
          </a:p>
          <a:p>
            <a:pPr algn="ctr" indent="0" marL="0">
              <a:buNone/>
            </a:pPr>
            <a:r>
              <a:rPr lang="en-US" sz="1100" i="1" dirty="0">
                <a:solidFill>
                  <a:schemeClr val="accent2"/>
                </a:solidFill>
              </a:rPr>
              <a:t>Prompt en las notas del orador</a:t>
            </a:r>
            <a:endParaRPr lang="en-US" sz="1400" dirty="0"/>
          </a:p>
        </p:txBody>
      </p:sp>
      <p:sp>
        <p:nvSpPr>
          <p:cNvPr id="7" name="Text 4"/>
          <p:cNvSpPr txBox="1"/>
          <p:nvPr/>
        </p:nvSpPr>
        <p:spPr>
          <a:xfrm>
            <a:off x="4206240" y="1463040"/>
            <a:ext cx="7434072" cy="411480"/>
          </a:xfrm>
          <a:prstGeom prst="rect">
            <a:avLst/>
          </a:prstGeom>
          <a:noFill/>
          <a:ln/>
        </p:spPr>
        <p:txBody>
          <a:bodyPr wrap="square" lIns="0" tIns="0" rIns="0" bIns="0" rtlCol="0" anchor="t"/>
          <a:lstStyle/>
          <a:p>
            <a:pPr indent="0" marL="0">
              <a:buNone/>
            </a:pPr>
            <a:r>
              <a:rPr lang="en-US" sz="2200" b="1" i="1" dirty="0">
                <a:solidFill>
                  <a:schemeClr val="accent1"/>
                </a:solidFill>
              </a:rPr>
              <a:t>La mamá que lee etiquetas</a:t>
            </a:r>
            <a:endParaRPr lang="en-US" sz="2200" dirty="0"/>
          </a:p>
        </p:txBody>
      </p:sp>
      <p:sp>
        <p:nvSpPr>
          <p:cNvPr id="8" name="Shape 5"/>
          <p:cNvSpPr/>
          <p:nvPr/>
        </p:nvSpPr>
        <p:spPr>
          <a:xfrm>
            <a:off x="4206240" y="2057400"/>
            <a:ext cx="2331720" cy="777240"/>
          </a:xfrm>
          <a:prstGeom prst="roundRect">
            <a:avLst>
              <a:gd name="adj" fmla="val 11765"/>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9" name="Text 6"/>
          <p:cNvSpPr txBox="1"/>
          <p:nvPr/>
        </p:nvSpPr>
        <p:spPr>
          <a:xfrm>
            <a:off x="4370832" y="2167128"/>
            <a:ext cx="2057400" cy="228600"/>
          </a:xfrm>
          <a:prstGeom prst="rect">
            <a:avLst/>
          </a:prstGeom>
          <a:noFill/>
          <a:ln/>
        </p:spPr>
        <p:txBody>
          <a:bodyPr wrap="square" lIns="0" tIns="0" rIns="0" bIns="0" rtlCol="0" anchor="t"/>
          <a:lstStyle/>
          <a:p>
            <a:pPr indent="0" marL="0">
              <a:buNone/>
            </a:pPr>
            <a:r>
              <a:rPr lang="en-US" sz="1000" b="1" spc="100" kern="0" dirty="0">
                <a:solidFill>
                  <a:schemeClr val="accent1"/>
                </a:solidFill>
              </a:rPr>
              <a:t>EDAD Y DISTRITO</a:t>
            </a:r>
            <a:endParaRPr lang="en-US" sz="1000" dirty="0"/>
          </a:p>
        </p:txBody>
      </p:sp>
      <p:sp>
        <p:nvSpPr>
          <p:cNvPr id="10" name="Text 7"/>
          <p:cNvSpPr txBox="1"/>
          <p:nvPr/>
        </p:nvSpPr>
        <p:spPr>
          <a:xfrm>
            <a:off x="4370832" y="2404872"/>
            <a:ext cx="2057400" cy="347472"/>
          </a:xfrm>
          <a:prstGeom prst="rect">
            <a:avLst/>
          </a:prstGeom>
          <a:noFill/>
          <a:ln/>
        </p:spPr>
        <p:txBody>
          <a:bodyPr wrap="square" lIns="0" tIns="0" rIns="0" bIns="0" rtlCol="0" anchor="t"/>
          <a:lstStyle/>
          <a:p>
            <a:pPr indent="0" marL="0">
              <a:buNone/>
            </a:pPr>
            <a:r>
              <a:rPr lang="en-US" sz="1500" b="1" dirty="0">
                <a:solidFill>
                  <a:schemeClr val="tx2"/>
                </a:solidFill>
              </a:rPr>
              <a:t>38 años · San Borja</a:t>
            </a:r>
            <a:endParaRPr lang="en-US" sz="1500" dirty="0"/>
          </a:p>
        </p:txBody>
      </p:sp>
      <p:sp>
        <p:nvSpPr>
          <p:cNvPr id="11" name="Shape 8"/>
          <p:cNvSpPr/>
          <p:nvPr/>
        </p:nvSpPr>
        <p:spPr>
          <a:xfrm>
            <a:off x="6757416" y="2057400"/>
            <a:ext cx="2331720" cy="777240"/>
          </a:xfrm>
          <a:prstGeom prst="roundRect">
            <a:avLst>
              <a:gd name="adj" fmla="val 11765"/>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12" name="Text 9"/>
          <p:cNvSpPr txBox="1"/>
          <p:nvPr/>
        </p:nvSpPr>
        <p:spPr>
          <a:xfrm>
            <a:off x="6922008" y="2167128"/>
            <a:ext cx="2057400" cy="228600"/>
          </a:xfrm>
          <a:prstGeom prst="rect">
            <a:avLst/>
          </a:prstGeom>
          <a:noFill/>
          <a:ln/>
        </p:spPr>
        <p:txBody>
          <a:bodyPr wrap="square" lIns="0" tIns="0" rIns="0" bIns="0" rtlCol="0" anchor="t"/>
          <a:lstStyle/>
          <a:p>
            <a:pPr indent="0" marL="0">
              <a:buNone/>
            </a:pPr>
            <a:r>
              <a:rPr lang="en-US" sz="1000" b="1" spc="100" kern="0" dirty="0">
                <a:solidFill>
                  <a:schemeClr val="accent1"/>
                </a:solidFill>
              </a:rPr>
              <a:t>OCUPACIÓN</a:t>
            </a:r>
            <a:endParaRPr lang="en-US" sz="1000" dirty="0"/>
          </a:p>
        </p:txBody>
      </p:sp>
      <p:sp>
        <p:nvSpPr>
          <p:cNvPr id="13" name="Text 10"/>
          <p:cNvSpPr txBox="1"/>
          <p:nvPr/>
        </p:nvSpPr>
        <p:spPr>
          <a:xfrm>
            <a:off x="6922008" y="2404872"/>
            <a:ext cx="2057400" cy="347472"/>
          </a:xfrm>
          <a:prstGeom prst="rect">
            <a:avLst/>
          </a:prstGeom>
          <a:noFill/>
          <a:ln/>
        </p:spPr>
        <p:txBody>
          <a:bodyPr wrap="square" lIns="0" tIns="0" rIns="0" bIns="0" rtlCol="0" anchor="t"/>
          <a:lstStyle/>
          <a:p>
            <a:pPr indent="0" marL="0">
              <a:buNone/>
            </a:pPr>
            <a:r>
              <a:rPr lang="en-US" sz="1500" b="1" dirty="0">
                <a:solidFill>
                  <a:schemeClr val="tx2"/>
                </a:solidFill>
              </a:rPr>
              <a:t>Abogada corporativa</a:t>
            </a:r>
            <a:endParaRPr lang="en-US" sz="1500" dirty="0"/>
          </a:p>
        </p:txBody>
      </p:sp>
      <p:sp>
        <p:nvSpPr>
          <p:cNvPr id="14" name="Shape 11"/>
          <p:cNvSpPr/>
          <p:nvPr/>
        </p:nvSpPr>
        <p:spPr>
          <a:xfrm>
            <a:off x="9308592" y="2057400"/>
            <a:ext cx="2331720" cy="777240"/>
          </a:xfrm>
          <a:prstGeom prst="roundRect">
            <a:avLst>
              <a:gd name="adj" fmla="val 11765"/>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15" name="Text 12"/>
          <p:cNvSpPr txBox="1"/>
          <p:nvPr/>
        </p:nvSpPr>
        <p:spPr>
          <a:xfrm>
            <a:off x="9473184" y="2167128"/>
            <a:ext cx="2057400" cy="228600"/>
          </a:xfrm>
          <a:prstGeom prst="rect">
            <a:avLst/>
          </a:prstGeom>
          <a:noFill/>
          <a:ln/>
        </p:spPr>
        <p:txBody>
          <a:bodyPr wrap="square" lIns="0" tIns="0" rIns="0" bIns="0" rtlCol="0" anchor="t"/>
          <a:lstStyle/>
          <a:p>
            <a:pPr indent="0" marL="0">
              <a:buNone/>
            </a:pPr>
            <a:r>
              <a:rPr lang="en-US" sz="1000" b="1" spc="100" kern="0" dirty="0">
                <a:solidFill>
                  <a:schemeClr val="accent1"/>
                </a:solidFill>
              </a:rPr>
              <a:t>FAMILIA</a:t>
            </a:r>
            <a:endParaRPr lang="en-US" sz="1000" dirty="0"/>
          </a:p>
        </p:txBody>
      </p:sp>
      <p:sp>
        <p:nvSpPr>
          <p:cNvPr id="16" name="Text 13"/>
          <p:cNvSpPr txBox="1"/>
          <p:nvPr/>
        </p:nvSpPr>
        <p:spPr>
          <a:xfrm>
            <a:off x="9473184" y="2404872"/>
            <a:ext cx="2057400" cy="347472"/>
          </a:xfrm>
          <a:prstGeom prst="rect">
            <a:avLst/>
          </a:prstGeom>
          <a:noFill/>
          <a:ln/>
        </p:spPr>
        <p:txBody>
          <a:bodyPr wrap="square" lIns="0" tIns="0" rIns="0" bIns="0" rtlCol="0" anchor="t"/>
          <a:lstStyle/>
          <a:p>
            <a:pPr indent="0" marL="0">
              <a:buNone/>
            </a:pPr>
            <a:r>
              <a:rPr lang="en-US" sz="1500" b="1" dirty="0">
                <a:solidFill>
                  <a:schemeClr val="tx2"/>
                </a:solidFill>
              </a:rPr>
              <a:t>2 hijos (7 y 4)</a:t>
            </a:r>
            <a:endParaRPr lang="en-US" sz="1500" dirty="0"/>
          </a:p>
        </p:txBody>
      </p:sp>
      <p:sp>
        <p:nvSpPr>
          <p:cNvPr id="17" name="Shape 14"/>
          <p:cNvSpPr/>
          <p:nvPr/>
        </p:nvSpPr>
        <p:spPr>
          <a:xfrm>
            <a:off x="4206240" y="2971800"/>
            <a:ext cx="2331720" cy="777240"/>
          </a:xfrm>
          <a:prstGeom prst="roundRect">
            <a:avLst>
              <a:gd name="adj" fmla="val 11765"/>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18" name="Text 15"/>
          <p:cNvSpPr txBox="1"/>
          <p:nvPr/>
        </p:nvSpPr>
        <p:spPr>
          <a:xfrm>
            <a:off x="4370832" y="3081528"/>
            <a:ext cx="2057400" cy="228600"/>
          </a:xfrm>
          <a:prstGeom prst="rect">
            <a:avLst/>
          </a:prstGeom>
          <a:noFill/>
          <a:ln/>
        </p:spPr>
        <p:txBody>
          <a:bodyPr wrap="square" lIns="0" tIns="0" rIns="0" bIns="0" rtlCol="0" anchor="t"/>
          <a:lstStyle/>
          <a:p>
            <a:pPr indent="0" marL="0">
              <a:buNone/>
            </a:pPr>
            <a:r>
              <a:rPr lang="en-US" sz="1000" b="1" spc="100" kern="0" dirty="0">
                <a:solidFill>
                  <a:schemeClr val="accent1"/>
                </a:solidFill>
              </a:rPr>
              <a:t>INGRESO FAMILIAR</a:t>
            </a:r>
            <a:endParaRPr lang="en-US" sz="1000" dirty="0"/>
          </a:p>
        </p:txBody>
      </p:sp>
      <p:sp>
        <p:nvSpPr>
          <p:cNvPr id="19" name="Text 16"/>
          <p:cNvSpPr txBox="1"/>
          <p:nvPr/>
        </p:nvSpPr>
        <p:spPr>
          <a:xfrm>
            <a:off x="4370832" y="3319272"/>
            <a:ext cx="2057400" cy="347472"/>
          </a:xfrm>
          <a:prstGeom prst="rect">
            <a:avLst/>
          </a:prstGeom>
          <a:noFill/>
          <a:ln/>
        </p:spPr>
        <p:txBody>
          <a:bodyPr wrap="square" lIns="0" tIns="0" rIns="0" bIns="0" rtlCol="0" anchor="t"/>
          <a:lstStyle/>
          <a:p>
            <a:pPr indent="0" marL="0">
              <a:buNone/>
            </a:pPr>
            <a:r>
              <a:rPr lang="en-US" sz="1500" b="1" dirty="0">
                <a:solidFill>
                  <a:schemeClr val="tx2"/>
                </a:solidFill>
              </a:rPr>
              <a:t>S/13,500 al mes</a:t>
            </a:r>
            <a:endParaRPr lang="en-US" sz="1500" dirty="0"/>
          </a:p>
        </p:txBody>
      </p:sp>
      <p:sp>
        <p:nvSpPr>
          <p:cNvPr id="20" name="Shape 17"/>
          <p:cNvSpPr/>
          <p:nvPr/>
        </p:nvSpPr>
        <p:spPr>
          <a:xfrm>
            <a:off x="6757416" y="2971800"/>
            <a:ext cx="2331720" cy="777240"/>
          </a:xfrm>
          <a:prstGeom prst="roundRect">
            <a:avLst>
              <a:gd name="adj" fmla="val 11765"/>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21" name="Text 18"/>
          <p:cNvSpPr txBox="1"/>
          <p:nvPr/>
        </p:nvSpPr>
        <p:spPr>
          <a:xfrm>
            <a:off x="6922008" y="3081528"/>
            <a:ext cx="2057400" cy="228600"/>
          </a:xfrm>
          <a:prstGeom prst="rect">
            <a:avLst/>
          </a:prstGeom>
          <a:noFill/>
          <a:ln/>
        </p:spPr>
        <p:txBody>
          <a:bodyPr wrap="square" lIns="0" tIns="0" rIns="0" bIns="0" rtlCol="0" anchor="t"/>
          <a:lstStyle/>
          <a:p>
            <a:pPr indent="0" marL="0">
              <a:buNone/>
            </a:pPr>
            <a:r>
              <a:rPr lang="en-US" sz="1000" b="1" spc="100" kern="0" dirty="0">
                <a:solidFill>
                  <a:schemeClr val="accent1"/>
                </a:solidFill>
              </a:rPr>
              <a:t>SE INFORMA</a:t>
            </a:r>
            <a:endParaRPr lang="en-US" sz="1000" dirty="0"/>
          </a:p>
        </p:txBody>
      </p:sp>
      <p:sp>
        <p:nvSpPr>
          <p:cNvPr id="22" name="Text 19"/>
          <p:cNvSpPr txBox="1"/>
          <p:nvPr/>
        </p:nvSpPr>
        <p:spPr>
          <a:xfrm>
            <a:off x="6922008" y="3319272"/>
            <a:ext cx="2057400" cy="347472"/>
          </a:xfrm>
          <a:prstGeom prst="rect">
            <a:avLst/>
          </a:prstGeom>
          <a:noFill/>
          <a:ln/>
        </p:spPr>
        <p:txBody>
          <a:bodyPr wrap="square" lIns="0" tIns="0" rIns="0" bIns="0" rtlCol="0" anchor="t"/>
          <a:lstStyle/>
          <a:p>
            <a:pPr indent="0" marL="0">
              <a:buNone/>
            </a:pPr>
            <a:r>
              <a:rPr lang="en-US" sz="1500" b="1" dirty="0">
                <a:solidFill>
                  <a:schemeClr val="tx2"/>
                </a:solidFill>
              </a:rPr>
              <a:t>Pediatra e Instagram</a:t>
            </a:r>
            <a:endParaRPr lang="en-US" sz="1500" dirty="0"/>
          </a:p>
        </p:txBody>
      </p:sp>
      <p:sp>
        <p:nvSpPr>
          <p:cNvPr id="23" name="Shape 20"/>
          <p:cNvSpPr/>
          <p:nvPr/>
        </p:nvSpPr>
        <p:spPr>
          <a:xfrm>
            <a:off x="9308592" y="2971800"/>
            <a:ext cx="2331720" cy="777240"/>
          </a:xfrm>
          <a:prstGeom prst="roundRect">
            <a:avLst>
              <a:gd name="adj" fmla="val 11765"/>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24" name="Text 21"/>
          <p:cNvSpPr txBox="1"/>
          <p:nvPr/>
        </p:nvSpPr>
        <p:spPr>
          <a:xfrm>
            <a:off x="9473184" y="3081528"/>
            <a:ext cx="2057400" cy="228600"/>
          </a:xfrm>
          <a:prstGeom prst="rect">
            <a:avLst/>
          </a:prstGeom>
          <a:noFill/>
          <a:ln/>
        </p:spPr>
        <p:txBody>
          <a:bodyPr wrap="square" lIns="0" tIns="0" rIns="0" bIns="0" rtlCol="0" anchor="t"/>
          <a:lstStyle/>
          <a:p>
            <a:pPr indent="0" marL="0">
              <a:buNone/>
            </a:pPr>
            <a:r>
              <a:rPr lang="en-US" sz="1000" b="1" spc="100" kern="0" dirty="0">
                <a:solidFill>
                  <a:schemeClr val="accent1"/>
                </a:solidFill>
              </a:rPr>
              <a:t>PAGARÍA</a:t>
            </a:r>
            <a:endParaRPr lang="en-US" sz="1000" dirty="0"/>
          </a:p>
        </p:txBody>
      </p:sp>
      <p:sp>
        <p:nvSpPr>
          <p:cNvPr id="25" name="Text 22"/>
          <p:cNvSpPr txBox="1"/>
          <p:nvPr/>
        </p:nvSpPr>
        <p:spPr>
          <a:xfrm>
            <a:off x="9473184" y="3319272"/>
            <a:ext cx="2057400" cy="347472"/>
          </a:xfrm>
          <a:prstGeom prst="rect">
            <a:avLst/>
          </a:prstGeom>
          <a:noFill/>
          <a:ln/>
        </p:spPr>
        <p:txBody>
          <a:bodyPr wrap="square" lIns="0" tIns="0" rIns="0" bIns="0" rtlCol="0" anchor="t"/>
          <a:lstStyle/>
          <a:p>
            <a:pPr indent="0" marL="0">
              <a:buNone/>
            </a:pPr>
            <a:r>
              <a:rPr lang="en-US" sz="1500" b="1" dirty="0">
                <a:solidFill>
                  <a:schemeClr val="tx2"/>
                </a:solidFill>
              </a:rPr>
              <a:t>S/24 a 30 el pack</a:t>
            </a:r>
            <a:endParaRPr lang="en-US" sz="1500" dirty="0"/>
          </a:p>
        </p:txBody>
      </p:sp>
      <p:sp>
        <p:nvSpPr>
          <p:cNvPr id="26" name="Shape 23"/>
          <p:cNvSpPr/>
          <p:nvPr/>
        </p:nvSpPr>
        <p:spPr>
          <a:xfrm>
            <a:off x="4206240" y="3977640"/>
            <a:ext cx="3611880" cy="1325880"/>
          </a:xfrm>
          <a:prstGeom prst="roundRect">
            <a:avLst>
              <a:gd name="adj" fmla="val 8276"/>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27" name="Shape 24"/>
          <p:cNvSpPr/>
          <p:nvPr/>
        </p:nvSpPr>
        <p:spPr>
          <a:xfrm>
            <a:off x="4389120" y="4160520"/>
            <a:ext cx="457200" cy="457200"/>
          </a:xfrm>
          <a:prstGeom prst="ellipse">
            <a:avLst/>
          </a:prstGeom>
          <a:solidFill>
            <a:schemeClr val="accent6"/>
          </a:solidFill>
          <a:ln w="12700">
            <a:solidFill>
              <a:schemeClr val="accent6"/>
            </a:solidFill>
            <a:prstDash val="solid"/>
          </a:ln>
        </p:spPr>
      </p:sp>
      <p:pic>
        <p:nvPicPr>
          <p:cNvPr id="28" name="Image 1" descr="preencoded.png">    </p:cNvPr>
          <p:cNvPicPr>
            <a:picLocks noChangeAspect="1"/>
          </p:cNvPicPr>
          <p:nvPr/>
        </p:nvPicPr>
        <p:blipFill>
          <a:blip r:embed="rId2"/>
          <a:stretch>
            <a:fillRect/>
          </a:stretch>
        </p:blipFill>
        <p:spPr>
          <a:xfrm>
            <a:off x="4489704" y="4261104"/>
            <a:ext cx="256032" cy="256032"/>
          </a:xfrm>
          <a:prstGeom prst="rect">
            <a:avLst/>
          </a:prstGeom>
        </p:spPr>
      </p:pic>
      <p:sp>
        <p:nvSpPr>
          <p:cNvPr id="29" name="Text 25"/>
          <p:cNvSpPr txBox="1"/>
          <p:nvPr/>
        </p:nvSpPr>
        <p:spPr>
          <a:xfrm>
            <a:off x="4983480" y="4178808"/>
            <a:ext cx="2697480" cy="411480"/>
          </a:xfrm>
          <a:prstGeom prst="rect">
            <a:avLst/>
          </a:prstGeom>
          <a:noFill/>
          <a:ln/>
        </p:spPr>
        <p:txBody>
          <a:bodyPr wrap="square" lIns="0" tIns="0" rIns="0" bIns="0" rtlCol="0" anchor="ctr"/>
          <a:lstStyle/>
          <a:p>
            <a:pPr indent="0" marL="0">
              <a:buNone/>
            </a:pPr>
            <a:r>
              <a:rPr lang="en-US" sz="1600" b="1" dirty="0">
                <a:solidFill>
                  <a:schemeClr val="tx2"/>
                </a:solidFill>
              </a:rPr>
              <a:t>Su dolor</a:t>
            </a:r>
            <a:endParaRPr lang="en-US" sz="1600" dirty="0"/>
          </a:p>
        </p:txBody>
      </p:sp>
      <p:sp>
        <p:nvSpPr>
          <p:cNvPr id="30" name="Text 26"/>
          <p:cNvSpPr txBox="1"/>
          <p:nvPr/>
        </p:nvSpPr>
        <p:spPr>
          <a:xfrm>
            <a:off x="4434840" y="4690872"/>
            <a:ext cx="3246120" cy="548640"/>
          </a:xfrm>
          <a:prstGeom prst="rect">
            <a:avLst/>
          </a:prstGeom>
          <a:noFill/>
          <a:ln/>
        </p:spPr>
        <p:txBody>
          <a:bodyPr wrap="square" lIns="0" tIns="0" rIns="0" bIns="0" rtlCol="0" anchor="t"/>
          <a:lstStyle/>
          <a:p>
            <a:pPr marL="342900" indent="-342900">
              <a:spcAft>
                <a:spcPts val="200"/>
              </a:spcAft>
              <a:buSzPct val="100000"/>
              <a:buChar char="•"/>
            </a:pPr>
            <a:r>
              <a:rPr lang="en-US" sz="1400" dirty="0">
                <a:solidFill>
                  <a:schemeClr val="tx1"/>
                </a:solidFill>
              </a:rPr>
              <a:t>Hemoglobina baja en el control</a:t>
            </a:r>
            <a:endParaRPr lang="en-US" sz="1400" dirty="0"/>
          </a:p>
          <a:p>
            <a:pPr marL="342900" indent="-342900">
              <a:spcAft>
                <a:spcPts val="200"/>
              </a:spcAft>
              <a:buSzPct val="100000"/>
              <a:buChar char="•"/>
            </a:pPr>
            <a:r>
              <a:rPr lang="en-US" sz="1400" dirty="0">
                <a:solidFill>
                  <a:schemeClr val="tx1"/>
                </a:solidFill>
              </a:rPr>
              <a:t>Lo nutritivo regresa intacto</a:t>
            </a:r>
            <a:endParaRPr lang="en-US" sz="1400" dirty="0"/>
          </a:p>
        </p:txBody>
      </p:sp>
      <p:sp>
        <p:nvSpPr>
          <p:cNvPr id="31" name="Shape 27"/>
          <p:cNvSpPr/>
          <p:nvPr/>
        </p:nvSpPr>
        <p:spPr>
          <a:xfrm>
            <a:off x="8028432" y="3977640"/>
            <a:ext cx="3611880" cy="1325880"/>
          </a:xfrm>
          <a:prstGeom prst="roundRect">
            <a:avLst>
              <a:gd name="adj" fmla="val 8276"/>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32" name="Shape 28"/>
          <p:cNvSpPr/>
          <p:nvPr/>
        </p:nvSpPr>
        <p:spPr>
          <a:xfrm>
            <a:off x="8211312" y="4160520"/>
            <a:ext cx="457200" cy="457200"/>
          </a:xfrm>
          <a:prstGeom prst="ellipse">
            <a:avLst/>
          </a:prstGeom>
          <a:solidFill>
            <a:schemeClr val="accent4"/>
          </a:solidFill>
          <a:ln w="12700">
            <a:solidFill>
              <a:schemeClr val="accent4"/>
            </a:solidFill>
            <a:prstDash val="solid"/>
          </a:ln>
        </p:spPr>
      </p:sp>
      <p:pic>
        <p:nvPicPr>
          <p:cNvPr id="33" name="Image 2" descr="preencoded.png">    </p:cNvPr>
          <p:cNvPicPr>
            <a:picLocks noChangeAspect="1"/>
          </p:cNvPicPr>
          <p:nvPr/>
        </p:nvPicPr>
        <p:blipFill>
          <a:blip r:embed="rId3"/>
          <a:stretch>
            <a:fillRect/>
          </a:stretch>
        </p:blipFill>
        <p:spPr>
          <a:xfrm>
            <a:off x="8311896" y="4261104"/>
            <a:ext cx="256032" cy="256032"/>
          </a:xfrm>
          <a:prstGeom prst="rect">
            <a:avLst/>
          </a:prstGeom>
        </p:spPr>
      </p:pic>
      <p:sp>
        <p:nvSpPr>
          <p:cNvPr id="34" name="Text 29"/>
          <p:cNvSpPr txBox="1"/>
          <p:nvPr/>
        </p:nvSpPr>
        <p:spPr>
          <a:xfrm>
            <a:off x="8805672" y="4178808"/>
            <a:ext cx="2697480" cy="411480"/>
          </a:xfrm>
          <a:prstGeom prst="rect">
            <a:avLst/>
          </a:prstGeom>
          <a:noFill/>
          <a:ln/>
        </p:spPr>
        <p:txBody>
          <a:bodyPr wrap="square" lIns="0" tIns="0" rIns="0" bIns="0" rtlCol="0" anchor="ctr"/>
          <a:lstStyle/>
          <a:p>
            <a:pPr indent="0" marL="0">
              <a:buNone/>
            </a:pPr>
            <a:r>
              <a:rPr lang="en-US" sz="1600" b="1" dirty="0">
                <a:solidFill>
                  <a:schemeClr val="tx2"/>
                </a:solidFill>
              </a:rPr>
              <a:t>Lo que busca</a:t>
            </a:r>
            <a:endParaRPr lang="en-US" sz="1600" dirty="0"/>
          </a:p>
        </p:txBody>
      </p:sp>
      <p:sp>
        <p:nvSpPr>
          <p:cNvPr id="35" name="Text 30"/>
          <p:cNvSpPr txBox="1"/>
          <p:nvPr/>
        </p:nvSpPr>
        <p:spPr>
          <a:xfrm>
            <a:off x="8257032" y="4690872"/>
            <a:ext cx="3246120" cy="548640"/>
          </a:xfrm>
          <a:prstGeom prst="rect">
            <a:avLst/>
          </a:prstGeom>
          <a:noFill/>
          <a:ln/>
        </p:spPr>
        <p:txBody>
          <a:bodyPr wrap="square" lIns="0" tIns="0" rIns="0" bIns="0" rtlCol="0" anchor="t"/>
          <a:lstStyle/>
          <a:p>
            <a:pPr marL="342900" indent="-342900">
              <a:spcAft>
                <a:spcPts val="200"/>
              </a:spcAft>
              <a:buSzPct val="100000"/>
              <a:buChar char="•"/>
            </a:pPr>
            <a:r>
              <a:rPr lang="en-US" sz="1400" dirty="0">
                <a:solidFill>
                  <a:schemeClr val="tx1"/>
                </a:solidFill>
              </a:rPr>
              <a:t>Hierro en mg y cero octógonos</a:t>
            </a:r>
            <a:endParaRPr lang="en-US" sz="1400" dirty="0"/>
          </a:p>
          <a:p>
            <a:pPr marL="342900" indent="-342900">
              <a:spcAft>
                <a:spcPts val="200"/>
              </a:spcAft>
              <a:buSzPct val="100000"/>
              <a:buChar char="•"/>
            </a:pPr>
            <a:r>
              <a:rPr lang="en-US" sz="1400" dirty="0">
                <a:solidFill>
                  <a:schemeClr val="tx1"/>
                </a:solidFill>
              </a:rPr>
              <a:t>Que su hijo lo pida solo</a:t>
            </a:r>
            <a:endParaRPr lang="en-US" sz="1400" dirty="0"/>
          </a:p>
        </p:txBody>
      </p:sp>
      <p:sp>
        <p:nvSpPr>
          <p:cNvPr id="36" name="Shape 31"/>
          <p:cNvSpPr/>
          <p:nvPr/>
        </p:nvSpPr>
        <p:spPr>
          <a:xfrm>
            <a:off x="4206240" y="5486400"/>
            <a:ext cx="7434072" cy="640080"/>
          </a:xfrm>
          <a:prstGeom prst="roundRect">
            <a:avLst>
              <a:gd name="adj" fmla="val 50000"/>
            </a:avLst>
          </a:prstGeom>
          <a:solidFill>
            <a:schemeClr val="tx2"/>
          </a:solidFill>
          <a:ln w="12700">
            <a:solidFill>
              <a:schemeClr val="tx2"/>
            </a:solidFill>
            <a:prstDash val="solid"/>
          </a:ln>
        </p:spPr>
      </p:sp>
      <p:sp>
        <p:nvSpPr>
          <p:cNvPr id="37" name="Text 32"/>
          <p:cNvSpPr txBox="1"/>
          <p:nvPr/>
        </p:nvSpPr>
        <p:spPr>
          <a:xfrm>
            <a:off x="4480560" y="5486400"/>
            <a:ext cx="6885432" cy="640080"/>
          </a:xfrm>
          <a:prstGeom prst="rect">
            <a:avLst/>
          </a:prstGeom>
          <a:noFill/>
          <a:ln/>
        </p:spPr>
        <p:txBody>
          <a:bodyPr wrap="square" lIns="0" tIns="0" rIns="0" bIns="0" rtlCol="0" anchor="ctr"/>
          <a:lstStyle/>
          <a:p>
            <a:pPr indent="0" marL="0">
              <a:buNone/>
            </a:pPr>
            <a:r>
              <a:rPr lang="en-US" sz="1800" b="1" i="1" dirty="0">
                <a:solidFill>
                  <a:schemeClr val="bg2"/>
                </a:solidFill>
              </a:rPr>
              <a:t>"Todo lo que le hace bien, mi hijo lo escupe."</a:t>
            </a:r>
            <a:endParaRPr lang="en-US" sz="1800" dirty="0"/>
          </a:p>
        </p:txBody>
      </p:sp>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TRABAJO DE CAMPO 5 · BUYER PERSONA SECUNDARIO</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Rodrigo Salazar</a:t>
            </a:r>
            <a:endParaRPr lang="en-US" sz="3400" dirty="0"/>
          </a:p>
        </p:txBody>
      </p:sp>
      <p:sp>
        <p:nvSpPr>
          <p:cNvPr id="4" name="IMAGEN_2"/>
          <p:cNvSpPr/>
          <p:nvPr/>
        </p:nvSpPr>
        <p:spPr>
          <a:xfrm>
            <a:off x="8257032" y="1463040"/>
            <a:ext cx="3383280" cy="4663440"/>
          </a:xfrm>
          <a:prstGeom prst="roundRect">
            <a:avLst>
              <a:gd name="adj" fmla="val 4054"/>
            </a:avLst>
          </a:prstGeom>
          <a:solidFill>
            <a:srgbClr val="F0E2CF"/>
          </a:solidFill>
          <a:ln w="19050">
            <a:solidFill>
              <a:schemeClr val="accent5"/>
            </a:solidFill>
            <a:prstDash val="dash"/>
          </a:ln>
        </p:spPr>
      </p:sp>
      <p:pic>
        <p:nvPicPr>
          <p:cNvPr id="5" name="Image 0" descr="preencoded.png">    </p:cNvPr>
          <p:cNvPicPr>
            <a:picLocks noChangeAspect="1"/>
          </p:cNvPicPr>
          <p:nvPr/>
        </p:nvPicPr>
        <p:blipFill>
          <a:blip r:embed="rId1"/>
          <a:stretch>
            <a:fillRect/>
          </a:stretch>
        </p:blipFill>
        <p:spPr>
          <a:xfrm>
            <a:off x="9582912" y="2880360"/>
            <a:ext cx="731520" cy="731520"/>
          </a:xfrm>
          <a:prstGeom prst="rect">
            <a:avLst/>
          </a:prstGeom>
        </p:spPr>
      </p:pic>
      <p:sp>
        <p:nvSpPr>
          <p:cNvPr id="6" name="Text 3"/>
          <p:cNvSpPr txBox="1"/>
          <p:nvPr/>
        </p:nvSpPr>
        <p:spPr>
          <a:xfrm>
            <a:off x="8439912" y="3794760"/>
            <a:ext cx="3017520" cy="1097280"/>
          </a:xfrm>
          <a:prstGeom prst="rect">
            <a:avLst/>
          </a:prstGeom>
          <a:noFill/>
          <a:ln/>
        </p:spPr>
        <p:txBody>
          <a:bodyPr wrap="square" lIns="0" tIns="0" rIns="0" bIns="0" rtlCol="0" anchor="t"/>
          <a:lstStyle/>
          <a:p>
            <a:pPr algn="ctr" indent="0" marL="0">
              <a:buNone/>
            </a:pPr>
            <a:r>
              <a:rPr lang="en-US" sz="1600" b="1" dirty="0">
                <a:solidFill>
                  <a:schemeClr val="accent2"/>
                </a:solidFill>
              </a:rPr>
              <a:t>IMAGEN 2</a:t>
            </a:r>
            <a:endParaRPr lang="en-US" sz="1400" dirty="0"/>
          </a:p>
          <a:p>
            <a:pPr algn="ctr" indent="0" marL="0">
              <a:buNone/>
            </a:pPr>
            <a:r>
              <a:rPr lang="en-US" sz="1300" dirty="0">
                <a:solidFill>
                  <a:schemeClr val="accent2"/>
                </a:solidFill>
              </a:rPr>
              <a:t>Retrato de Rodrigo (42, La Molina)</a:t>
            </a:r>
            <a:endParaRPr lang="en-US" sz="1400" dirty="0"/>
          </a:p>
          <a:p>
            <a:pPr algn="ctr" indent="0" marL="0">
              <a:buNone/>
            </a:pPr>
            <a:r>
              <a:rPr lang="en-US" sz="1100" i="1" dirty="0">
                <a:solidFill>
                  <a:schemeClr val="accent2"/>
                </a:solidFill>
              </a:rPr>
              <a:t>Prompt en las notas del orador</a:t>
            </a:r>
            <a:endParaRPr lang="en-US" sz="1400" dirty="0"/>
          </a:p>
        </p:txBody>
      </p:sp>
      <p:sp>
        <p:nvSpPr>
          <p:cNvPr id="7" name="Text 4"/>
          <p:cNvSpPr txBox="1"/>
          <p:nvPr/>
        </p:nvSpPr>
        <p:spPr>
          <a:xfrm>
            <a:off x="548640" y="1463040"/>
            <a:ext cx="7434072" cy="411480"/>
          </a:xfrm>
          <a:prstGeom prst="rect">
            <a:avLst/>
          </a:prstGeom>
          <a:noFill/>
          <a:ln/>
        </p:spPr>
        <p:txBody>
          <a:bodyPr wrap="square" lIns="0" tIns="0" rIns="0" bIns="0" rtlCol="0" anchor="t"/>
          <a:lstStyle/>
          <a:p>
            <a:pPr indent="0" marL="0">
              <a:buNone/>
            </a:pPr>
            <a:r>
              <a:rPr lang="en-US" sz="2200" b="1" i="1" dirty="0">
                <a:solidFill>
                  <a:schemeClr val="accent1"/>
                </a:solidFill>
              </a:rPr>
              <a:t>El papá que resuelve la mañana</a:t>
            </a:r>
            <a:endParaRPr lang="en-US" sz="2200" dirty="0"/>
          </a:p>
        </p:txBody>
      </p:sp>
      <p:sp>
        <p:nvSpPr>
          <p:cNvPr id="8" name="Shape 5"/>
          <p:cNvSpPr/>
          <p:nvPr/>
        </p:nvSpPr>
        <p:spPr>
          <a:xfrm>
            <a:off x="548640" y="2057400"/>
            <a:ext cx="2331720" cy="777240"/>
          </a:xfrm>
          <a:prstGeom prst="roundRect">
            <a:avLst>
              <a:gd name="adj" fmla="val 11765"/>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9" name="Text 6"/>
          <p:cNvSpPr txBox="1"/>
          <p:nvPr/>
        </p:nvSpPr>
        <p:spPr>
          <a:xfrm>
            <a:off x="713232" y="2167128"/>
            <a:ext cx="2057400" cy="228600"/>
          </a:xfrm>
          <a:prstGeom prst="rect">
            <a:avLst/>
          </a:prstGeom>
          <a:noFill/>
          <a:ln/>
        </p:spPr>
        <p:txBody>
          <a:bodyPr wrap="square" lIns="0" tIns="0" rIns="0" bIns="0" rtlCol="0" anchor="t"/>
          <a:lstStyle/>
          <a:p>
            <a:pPr indent="0" marL="0">
              <a:buNone/>
            </a:pPr>
            <a:r>
              <a:rPr lang="en-US" sz="1000" b="1" spc="100" kern="0" dirty="0">
                <a:solidFill>
                  <a:schemeClr val="accent1"/>
                </a:solidFill>
              </a:rPr>
              <a:t>EDAD Y DISTRITO</a:t>
            </a:r>
            <a:endParaRPr lang="en-US" sz="1000" dirty="0"/>
          </a:p>
        </p:txBody>
      </p:sp>
      <p:sp>
        <p:nvSpPr>
          <p:cNvPr id="10" name="Text 7"/>
          <p:cNvSpPr txBox="1"/>
          <p:nvPr/>
        </p:nvSpPr>
        <p:spPr>
          <a:xfrm>
            <a:off x="713232" y="2404872"/>
            <a:ext cx="2057400" cy="347472"/>
          </a:xfrm>
          <a:prstGeom prst="rect">
            <a:avLst/>
          </a:prstGeom>
          <a:noFill/>
          <a:ln/>
        </p:spPr>
        <p:txBody>
          <a:bodyPr wrap="square" lIns="0" tIns="0" rIns="0" bIns="0" rtlCol="0" anchor="t"/>
          <a:lstStyle/>
          <a:p>
            <a:pPr indent="0" marL="0">
              <a:buNone/>
            </a:pPr>
            <a:r>
              <a:rPr lang="en-US" sz="1500" b="1" dirty="0">
                <a:solidFill>
                  <a:schemeClr val="tx2"/>
                </a:solidFill>
              </a:rPr>
              <a:t>42 años · La Molina</a:t>
            </a:r>
            <a:endParaRPr lang="en-US" sz="1500" dirty="0"/>
          </a:p>
        </p:txBody>
      </p:sp>
      <p:sp>
        <p:nvSpPr>
          <p:cNvPr id="11" name="Shape 8"/>
          <p:cNvSpPr/>
          <p:nvPr/>
        </p:nvSpPr>
        <p:spPr>
          <a:xfrm>
            <a:off x="3099816" y="2057400"/>
            <a:ext cx="2331720" cy="777240"/>
          </a:xfrm>
          <a:prstGeom prst="roundRect">
            <a:avLst>
              <a:gd name="adj" fmla="val 11765"/>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12" name="Text 9"/>
          <p:cNvSpPr txBox="1"/>
          <p:nvPr/>
        </p:nvSpPr>
        <p:spPr>
          <a:xfrm>
            <a:off x="3264408" y="2167128"/>
            <a:ext cx="2057400" cy="228600"/>
          </a:xfrm>
          <a:prstGeom prst="rect">
            <a:avLst/>
          </a:prstGeom>
          <a:noFill/>
          <a:ln/>
        </p:spPr>
        <p:txBody>
          <a:bodyPr wrap="square" lIns="0" tIns="0" rIns="0" bIns="0" rtlCol="0" anchor="t"/>
          <a:lstStyle/>
          <a:p>
            <a:pPr indent="0" marL="0">
              <a:buNone/>
            </a:pPr>
            <a:r>
              <a:rPr lang="en-US" sz="1000" b="1" spc="100" kern="0" dirty="0">
                <a:solidFill>
                  <a:schemeClr val="accent1"/>
                </a:solidFill>
              </a:rPr>
              <a:t>OCUPACIÓN</a:t>
            </a:r>
            <a:endParaRPr lang="en-US" sz="1000" dirty="0"/>
          </a:p>
        </p:txBody>
      </p:sp>
      <p:sp>
        <p:nvSpPr>
          <p:cNvPr id="13" name="Text 10"/>
          <p:cNvSpPr txBox="1"/>
          <p:nvPr/>
        </p:nvSpPr>
        <p:spPr>
          <a:xfrm>
            <a:off x="3264408" y="2404872"/>
            <a:ext cx="2057400" cy="347472"/>
          </a:xfrm>
          <a:prstGeom prst="rect">
            <a:avLst/>
          </a:prstGeom>
          <a:noFill/>
          <a:ln/>
        </p:spPr>
        <p:txBody>
          <a:bodyPr wrap="square" lIns="0" tIns="0" rIns="0" bIns="0" rtlCol="0" anchor="t"/>
          <a:lstStyle/>
          <a:p>
            <a:pPr indent="0" marL="0">
              <a:buNone/>
            </a:pPr>
            <a:r>
              <a:rPr lang="en-US" sz="1500" b="1" dirty="0">
                <a:solidFill>
                  <a:schemeClr val="tx2"/>
                </a:solidFill>
              </a:rPr>
              <a:t>Gerente de operaciones</a:t>
            </a:r>
            <a:endParaRPr lang="en-US" sz="1500" dirty="0"/>
          </a:p>
        </p:txBody>
      </p:sp>
      <p:sp>
        <p:nvSpPr>
          <p:cNvPr id="14" name="Shape 11"/>
          <p:cNvSpPr/>
          <p:nvPr/>
        </p:nvSpPr>
        <p:spPr>
          <a:xfrm>
            <a:off x="5650992" y="2057400"/>
            <a:ext cx="2331720" cy="777240"/>
          </a:xfrm>
          <a:prstGeom prst="roundRect">
            <a:avLst>
              <a:gd name="adj" fmla="val 11765"/>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15" name="Text 12"/>
          <p:cNvSpPr txBox="1"/>
          <p:nvPr/>
        </p:nvSpPr>
        <p:spPr>
          <a:xfrm>
            <a:off x="5815584" y="2167128"/>
            <a:ext cx="2057400" cy="228600"/>
          </a:xfrm>
          <a:prstGeom prst="rect">
            <a:avLst/>
          </a:prstGeom>
          <a:noFill/>
          <a:ln/>
        </p:spPr>
        <p:txBody>
          <a:bodyPr wrap="square" lIns="0" tIns="0" rIns="0" bIns="0" rtlCol="0" anchor="t"/>
          <a:lstStyle/>
          <a:p>
            <a:pPr indent="0" marL="0">
              <a:buNone/>
            </a:pPr>
            <a:r>
              <a:rPr lang="en-US" sz="1000" b="1" spc="100" kern="0" dirty="0">
                <a:solidFill>
                  <a:schemeClr val="accent1"/>
                </a:solidFill>
              </a:rPr>
              <a:t>FAMILIA</a:t>
            </a:r>
            <a:endParaRPr lang="en-US" sz="1000" dirty="0"/>
          </a:p>
        </p:txBody>
      </p:sp>
      <p:sp>
        <p:nvSpPr>
          <p:cNvPr id="16" name="Text 13"/>
          <p:cNvSpPr txBox="1"/>
          <p:nvPr/>
        </p:nvSpPr>
        <p:spPr>
          <a:xfrm>
            <a:off x="5815584" y="2404872"/>
            <a:ext cx="2057400" cy="347472"/>
          </a:xfrm>
          <a:prstGeom prst="rect">
            <a:avLst/>
          </a:prstGeom>
          <a:noFill/>
          <a:ln/>
        </p:spPr>
        <p:txBody>
          <a:bodyPr wrap="square" lIns="0" tIns="0" rIns="0" bIns="0" rtlCol="0" anchor="t"/>
          <a:lstStyle/>
          <a:p>
            <a:pPr indent="0" marL="0">
              <a:buNone/>
            </a:pPr>
            <a:r>
              <a:rPr lang="en-US" sz="1500" b="1" dirty="0">
                <a:solidFill>
                  <a:schemeClr val="tx2"/>
                </a:solidFill>
              </a:rPr>
              <a:t>2 hijos (9 y 6)</a:t>
            </a:r>
            <a:endParaRPr lang="en-US" sz="1500" dirty="0"/>
          </a:p>
        </p:txBody>
      </p:sp>
      <p:sp>
        <p:nvSpPr>
          <p:cNvPr id="17" name="Shape 14"/>
          <p:cNvSpPr/>
          <p:nvPr/>
        </p:nvSpPr>
        <p:spPr>
          <a:xfrm>
            <a:off x="548640" y="2971800"/>
            <a:ext cx="2331720" cy="777240"/>
          </a:xfrm>
          <a:prstGeom prst="roundRect">
            <a:avLst>
              <a:gd name="adj" fmla="val 11765"/>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18" name="Text 15"/>
          <p:cNvSpPr txBox="1"/>
          <p:nvPr/>
        </p:nvSpPr>
        <p:spPr>
          <a:xfrm>
            <a:off x="713232" y="3081528"/>
            <a:ext cx="2057400" cy="228600"/>
          </a:xfrm>
          <a:prstGeom prst="rect">
            <a:avLst/>
          </a:prstGeom>
          <a:noFill/>
          <a:ln/>
        </p:spPr>
        <p:txBody>
          <a:bodyPr wrap="square" lIns="0" tIns="0" rIns="0" bIns="0" rtlCol="0" anchor="t"/>
          <a:lstStyle/>
          <a:p>
            <a:pPr indent="0" marL="0">
              <a:buNone/>
            </a:pPr>
            <a:r>
              <a:rPr lang="en-US" sz="1000" b="1" spc="100" kern="0" dirty="0">
                <a:solidFill>
                  <a:schemeClr val="accent1"/>
                </a:solidFill>
              </a:rPr>
              <a:t>INGRESO FAMILIAR</a:t>
            </a:r>
            <a:endParaRPr lang="en-US" sz="1000" dirty="0"/>
          </a:p>
        </p:txBody>
      </p:sp>
      <p:sp>
        <p:nvSpPr>
          <p:cNvPr id="19" name="Text 16"/>
          <p:cNvSpPr txBox="1"/>
          <p:nvPr/>
        </p:nvSpPr>
        <p:spPr>
          <a:xfrm>
            <a:off x="713232" y="3319272"/>
            <a:ext cx="2057400" cy="347472"/>
          </a:xfrm>
          <a:prstGeom prst="rect">
            <a:avLst/>
          </a:prstGeom>
          <a:noFill/>
          <a:ln/>
        </p:spPr>
        <p:txBody>
          <a:bodyPr wrap="square" lIns="0" tIns="0" rIns="0" bIns="0" rtlCol="0" anchor="t"/>
          <a:lstStyle/>
          <a:p>
            <a:pPr indent="0" marL="0">
              <a:buNone/>
            </a:pPr>
            <a:r>
              <a:rPr lang="en-US" sz="1500" b="1" dirty="0">
                <a:solidFill>
                  <a:schemeClr val="tx2"/>
                </a:solidFill>
              </a:rPr>
              <a:t>S/18,000 al mes</a:t>
            </a:r>
            <a:endParaRPr lang="en-US" sz="1500" dirty="0"/>
          </a:p>
        </p:txBody>
      </p:sp>
      <p:sp>
        <p:nvSpPr>
          <p:cNvPr id="20" name="Shape 17"/>
          <p:cNvSpPr/>
          <p:nvPr/>
        </p:nvSpPr>
        <p:spPr>
          <a:xfrm>
            <a:off x="3099816" y="2971800"/>
            <a:ext cx="2331720" cy="777240"/>
          </a:xfrm>
          <a:prstGeom prst="roundRect">
            <a:avLst>
              <a:gd name="adj" fmla="val 11765"/>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21" name="Text 18"/>
          <p:cNvSpPr txBox="1"/>
          <p:nvPr/>
        </p:nvSpPr>
        <p:spPr>
          <a:xfrm>
            <a:off x="3264408" y="3081528"/>
            <a:ext cx="2057400" cy="228600"/>
          </a:xfrm>
          <a:prstGeom prst="rect">
            <a:avLst/>
          </a:prstGeom>
          <a:noFill/>
          <a:ln/>
        </p:spPr>
        <p:txBody>
          <a:bodyPr wrap="square" lIns="0" tIns="0" rIns="0" bIns="0" rtlCol="0" anchor="t"/>
          <a:lstStyle/>
          <a:p>
            <a:pPr indent="0" marL="0">
              <a:buNone/>
            </a:pPr>
            <a:r>
              <a:rPr lang="en-US" sz="1000" b="1" spc="100" kern="0" dirty="0">
                <a:solidFill>
                  <a:schemeClr val="accent1"/>
                </a:solidFill>
              </a:rPr>
              <a:t>COMPRA</a:t>
            </a:r>
            <a:endParaRPr lang="en-US" sz="1000" dirty="0"/>
          </a:p>
        </p:txBody>
      </p:sp>
      <p:sp>
        <p:nvSpPr>
          <p:cNvPr id="22" name="Text 19"/>
          <p:cNvSpPr txBox="1"/>
          <p:nvPr/>
        </p:nvSpPr>
        <p:spPr>
          <a:xfrm>
            <a:off x="3264408" y="3319272"/>
            <a:ext cx="2057400" cy="347472"/>
          </a:xfrm>
          <a:prstGeom prst="rect">
            <a:avLst/>
          </a:prstGeom>
          <a:noFill/>
          <a:ln/>
        </p:spPr>
        <p:txBody>
          <a:bodyPr wrap="square" lIns="0" tIns="0" rIns="0" bIns="0" rtlCol="0" anchor="t"/>
          <a:lstStyle/>
          <a:p>
            <a:pPr indent="0" marL="0">
              <a:buNone/>
            </a:pPr>
            <a:r>
              <a:rPr lang="en-US" sz="1500" b="1" dirty="0">
                <a:solidFill>
                  <a:schemeClr val="tx2"/>
                </a:solidFill>
              </a:rPr>
              <a:t>Apps, IG y TikTok</a:t>
            </a:r>
            <a:endParaRPr lang="en-US" sz="1500" dirty="0"/>
          </a:p>
        </p:txBody>
      </p:sp>
      <p:sp>
        <p:nvSpPr>
          <p:cNvPr id="23" name="Shape 20"/>
          <p:cNvSpPr/>
          <p:nvPr/>
        </p:nvSpPr>
        <p:spPr>
          <a:xfrm>
            <a:off x="5650992" y="2971800"/>
            <a:ext cx="2331720" cy="777240"/>
          </a:xfrm>
          <a:prstGeom prst="roundRect">
            <a:avLst>
              <a:gd name="adj" fmla="val 11765"/>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24" name="Text 21"/>
          <p:cNvSpPr txBox="1"/>
          <p:nvPr/>
        </p:nvSpPr>
        <p:spPr>
          <a:xfrm>
            <a:off x="5815584" y="3081528"/>
            <a:ext cx="2057400" cy="228600"/>
          </a:xfrm>
          <a:prstGeom prst="rect">
            <a:avLst/>
          </a:prstGeom>
          <a:noFill/>
          <a:ln/>
        </p:spPr>
        <p:txBody>
          <a:bodyPr wrap="square" lIns="0" tIns="0" rIns="0" bIns="0" rtlCol="0" anchor="t"/>
          <a:lstStyle/>
          <a:p>
            <a:pPr indent="0" marL="0">
              <a:buNone/>
            </a:pPr>
            <a:r>
              <a:rPr lang="en-US" sz="1000" b="1" spc="100" kern="0" dirty="0">
                <a:solidFill>
                  <a:schemeClr val="accent1"/>
                </a:solidFill>
              </a:rPr>
              <a:t>PAGARÍA</a:t>
            </a:r>
            <a:endParaRPr lang="en-US" sz="1000" dirty="0"/>
          </a:p>
        </p:txBody>
      </p:sp>
      <p:sp>
        <p:nvSpPr>
          <p:cNvPr id="25" name="Text 22"/>
          <p:cNvSpPr txBox="1"/>
          <p:nvPr/>
        </p:nvSpPr>
        <p:spPr>
          <a:xfrm>
            <a:off x="5815584" y="3319272"/>
            <a:ext cx="2057400" cy="347472"/>
          </a:xfrm>
          <a:prstGeom prst="rect">
            <a:avLst/>
          </a:prstGeom>
          <a:noFill/>
          <a:ln/>
        </p:spPr>
        <p:txBody>
          <a:bodyPr wrap="square" lIns="0" tIns="0" rIns="0" bIns="0" rtlCol="0" anchor="t"/>
          <a:lstStyle/>
          <a:p>
            <a:pPr indent="0" marL="0">
              <a:buNone/>
            </a:pPr>
            <a:r>
              <a:rPr lang="en-US" sz="1500" b="1" dirty="0">
                <a:solidFill>
                  <a:schemeClr val="tx2"/>
                </a:solidFill>
              </a:rPr>
              <a:t>S/18 a 24 por 6 u</a:t>
            </a:r>
            <a:endParaRPr lang="en-US" sz="1500" dirty="0"/>
          </a:p>
        </p:txBody>
      </p:sp>
      <p:sp>
        <p:nvSpPr>
          <p:cNvPr id="26" name="Shape 23"/>
          <p:cNvSpPr/>
          <p:nvPr/>
        </p:nvSpPr>
        <p:spPr>
          <a:xfrm>
            <a:off x="548640" y="3977640"/>
            <a:ext cx="3611880" cy="1325880"/>
          </a:xfrm>
          <a:prstGeom prst="roundRect">
            <a:avLst>
              <a:gd name="adj" fmla="val 8276"/>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27" name="Shape 24"/>
          <p:cNvSpPr/>
          <p:nvPr/>
        </p:nvSpPr>
        <p:spPr>
          <a:xfrm>
            <a:off x="731520" y="4160520"/>
            <a:ext cx="457200" cy="457200"/>
          </a:xfrm>
          <a:prstGeom prst="ellipse">
            <a:avLst/>
          </a:prstGeom>
          <a:solidFill>
            <a:schemeClr val="accent6"/>
          </a:solidFill>
          <a:ln w="12700">
            <a:solidFill>
              <a:schemeClr val="accent6"/>
            </a:solidFill>
            <a:prstDash val="solid"/>
          </a:ln>
        </p:spPr>
      </p:sp>
      <p:pic>
        <p:nvPicPr>
          <p:cNvPr id="28" name="Image 1" descr="preencoded.png">    </p:cNvPr>
          <p:cNvPicPr>
            <a:picLocks noChangeAspect="1"/>
          </p:cNvPicPr>
          <p:nvPr/>
        </p:nvPicPr>
        <p:blipFill>
          <a:blip r:embed="rId2"/>
          <a:stretch>
            <a:fillRect/>
          </a:stretch>
        </p:blipFill>
        <p:spPr>
          <a:xfrm>
            <a:off x="832104" y="4261104"/>
            <a:ext cx="256032" cy="256032"/>
          </a:xfrm>
          <a:prstGeom prst="rect">
            <a:avLst/>
          </a:prstGeom>
        </p:spPr>
      </p:pic>
      <p:sp>
        <p:nvSpPr>
          <p:cNvPr id="29" name="Text 25"/>
          <p:cNvSpPr txBox="1"/>
          <p:nvPr/>
        </p:nvSpPr>
        <p:spPr>
          <a:xfrm>
            <a:off x="1325880" y="4178808"/>
            <a:ext cx="2697480" cy="411480"/>
          </a:xfrm>
          <a:prstGeom prst="rect">
            <a:avLst/>
          </a:prstGeom>
          <a:noFill/>
          <a:ln/>
        </p:spPr>
        <p:txBody>
          <a:bodyPr wrap="square" lIns="0" tIns="0" rIns="0" bIns="0" rtlCol="0" anchor="ctr"/>
          <a:lstStyle/>
          <a:p>
            <a:pPr indent="0" marL="0">
              <a:buNone/>
            </a:pPr>
            <a:r>
              <a:rPr lang="en-US" sz="1600" b="1" dirty="0">
                <a:solidFill>
                  <a:schemeClr val="tx2"/>
                </a:solidFill>
              </a:rPr>
              <a:t>Su dolor</a:t>
            </a:r>
            <a:endParaRPr lang="en-US" sz="1600" dirty="0"/>
          </a:p>
        </p:txBody>
      </p:sp>
      <p:sp>
        <p:nvSpPr>
          <p:cNvPr id="30" name="Text 26"/>
          <p:cNvSpPr txBox="1"/>
          <p:nvPr/>
        </p:nvSpPr>
        <p:spPr>
          <a:xfrm>
            <a:off x="777240" y="4690872"/>
            <a:ext cx="3246120" cy="548640"/>
          </a:xfrm>
          <a:prstGeom prst="rect">
            <a:avLst/>
          </a:prstGeom>
          <a:noFill/>
          <a:ln/>
        </p:spPr>
        <p:txBody>
          <a:bodyPr wrap="square" lIns="0" tIns="0" rIns="0" bIns="0" rtlCol="0" anchor="t"/>
          <a:lstStyle/>
          <a:p>
            <a:pPr marL="342900" indent="-342900">
              <a:spcAft>
                <a:spcPts val="200"/>
              </a:spcAft>
              <a:buSzPct val="100000"/>
              <a:buChar char="•"/>
            </a:pPr>
            <a:r>
              <a:rPr lang="en-US" sz="1400" dirty="0">
                <a:solidFill>
                  <a:schemeClr val="tx1"/>
                </a:solidFill>
              </a:rPr>
              <a:t>Jueves y viernes sin ideas</a:t>
            </a:r>
            <a:endParaRPr lang="en-US" sz="1400" dirty="0"/>
          </a:p>
          <a:p>
            <a:pPr marL="342900" indent="-342900">
              <a:spcAft>
                <a:spcPts val="200"/>
              </a:spcAft>
              <a:buSzPct val="100000"/>
              <a:buChar char="•"/>
            </a:pPr>
            <a:r>
              <a:rPr lang="en-US" sz="1400" dirty="0">
                <a:solidFill>
                  <a:schemeClr val="tx1"/>
                </a:solidFill>
              </a:rPr>
              <a:t>Snacks aplastados en la mochila</a:t>
            </a:r>
            <a:endParaRPr lang="en-US" sz="1400" dirty="0"/>
          </a:p>
        </p:txBody>
      </p:sp>
      <p:sp>
        <p:nvSpPr>
          <p:cNvPr id="31" name="Shape 27"/>
          <p:cNvSpPr/>
          <p:nvPr/>
        </p:nvSpPr>
        <p:spPr>
          <a:xfrm>
            <a:off x="4370832" y="3977640"/>
            <a:ext cx="3611880" cy="1325880"/>
          </a:xfrm>
          <a:prstGeom prst="roundRect">
            <a:avLst>
              <a:gd name="adj" fmla="val 8276"/>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32" name="Shape 28"/>
          <p:cNvSpPr/>
          <p:nvPr/>
        </p:nvSpPr>
        <p:spPr>
          <a:xfrm>
            <a:off x="4553712" y="4160520"/>
            <a:ext cx="457200" cy="457200"/>
          </a:xfrm>
          <a:prstGeom prst="ellipse">
            <a:avLst/>
          </a:prstGeom>
          <a:solidFill>
            <a:schemeClr val="accent4"/>
          </a:solidFill>
          <a:ln w="12700">
            <a:solidFill>
              <a:schemeClr val="accent4"/>
            </a:solidFill>
            <a:prstDash val="solid"/>
          </a:ln>
        </p:spPr>
      </p:sp>
      <p:pic>
        <p:nvPicPr>
          <p:cNvPr id="33" name="Image 2" descr="preencoded.png">    </p:cNvPr>
          <p:cNvPicPr>
            <a:picLocks noChangeAspect="1"/>
          </p:cNvPicPr>
          <p:nvPr/>
        </p:nvPicPr>
        <p:blipFill>
          <a:blip r:embed="rId3"/>
          <a:stretch>
            <a:fillRect/>
          </a:stretch>
        </p:blipFill>
        <p:spPr>
          <a:xfrm>
            <a:off x="4654296" y="4261104"/>
            <a:ext cx="256032" cy="256032"/>
          </a:xfrm>
          <a:prstGeom prst="rect">
            <a:avLst/>
          </a:prstGeom>
        </p:spPr>
      </p:pic>
      <p:sp>
        <p:nvSpPr>
          <p:cNvPr id="34" name="Text 29"/>
          <p:cNvSpPr txBox="1"/>
          <p:nvPr/>
        </p:nvSpPr>
        <p:spPr>
          <a:xfrm>
            <a:off x="5148072" y="4178808"/>
            <a:ext cx="2697480" cy="411480"/>
          </a:xfrm>
          <a:prstGeom prst="rect">
            <a:avLst/>
          </a:prstGeom>
          <a:noFill/>
          <a:ln/>
        </p:spPr>
        <p:txBody>
          <a:bodyPr wrap="square" lIns="0" tIns="0" rIns="0" bIns="0" rtlCol="0" anchor="ctr"/>
          <a:lstStyle/>
          <a:p>
            <a:pPr indent="0" marL="0">
              <a:buNone/>
            </a:pPr>
            <a:r>
              <a:rPr lang="en-US" sz="1600" b="1" dirty="0">
                <a:solidFill>
                  <a:schemeClr val="tx2"/>
                </a:solidFill>
              </a:rPr>
              <a:t>Lo que busca</a:t>
            </a:r>
            <a:endParaRPr lang="en-US" sz="1600" dirty="0"/>
          </a:p>
        </p:txBody>
      </p:sp>
      <p:sp>
        <p:nvSpPr>
          <p:cNvPr id="35" name="Text 30"/>
          <p:cNvSpPr txBox="1"/>
          <p:nvPr/>
        </p:nvSpPr>
        <p:spPr>
          <a:xfrm>
            <a:off x="4599432" y="4690872"/>
            <a:ext cx="3246120" cy="548640"/>
          </a:xfrm>
          <a:prstGeom prst="rect">
            <a:avLst/>
          </a:prstGeom>
          <a:noFill/>
          <a:ln/>
        </p:spPr>
        <p:txBody>
          <a:bodyPr wrap="square" lIns="0" tIns="0" rIns="0" bIns="0" rtlCol="0" anchor="t"/>
          <a:lstStyle/>
          <a:p>
            <a:pPr marL="342900" indent="-342900">
              <a:spcAft>
                <a:spcPts val="200"/>
              </a:spcAft>
              <a:buSzPct val="100000"/>
              <a:buChar char="•"/>
            </a:pPr>
            <a:r>
              <a:rPr lang="en-US" sz="1400" dirty="0">
                <a:solidFill>
                  <a:schemeClr val="tx1"/>
                </a:solidFill>
              </a:rPr>
              <a:t>Que resuelva toda la semana</a:t>
            </a:r>
            <a:endParaRPr lang="en-US" sz="1400" dirty="0"/>
          </a:p>
          <a:p>
            <a:pPr marL="342900" indent="-342900">
              <a:spcAft>
                <a:spcPts val="200"/>
              </a:spcAft>
              <a:buSzPct val="100000"/>
              <a:buChar char="•"/>
            </a:pPr>
            <a:r>
              <a:rPr lang="en-US" sz="1400" dirty="0">
                <a:solidFill>
                  <a:schemeClr val="tx1"/>
                </a:solidFill>
              </a:rPr>
              <a:t>Recordatorio para recomprar</a:t>
            </a:r>
            <a:endParaRPr lang="en-US" sz="1400" dirty="0"/>
          </a:p>
        </p:txBody>
      </p:sp>
      <p:sp>
        <p:nvSpPr>
          <p:cNvPr id="36" name="Shape 31"/>
          <p:cNvSpPr/>
          <p:nvPr/>
        </p:nvSpPr>
        <p:spPr>
          <a:xfrm>
            <a:off x="548640" y="5486400"/>
            <a:ext cx="7434072" cy="640080"/>
          </a:xfrm>
          <a:prstGeom prst="roundRect">
            <a:avLst>
              <a:gd name="adj" fmla="val 50000"/>
            </a:avLst>
          </a:prstGeom>
          <a:solidFill>
            <a:schemeClr val="tx2"/>
          </a:solidFill>
          <a:ln w="12700">
            <a:solidFill>
              <a:schemeClr val="tx2"/>
            </a:solidFill>
            <a:prstDash val="solid"/>
          </a:ln>
        </p:spPr>
      </p:sp>
      <p:sp>
        <p:nvSpPr>
          <p:cNvPr id="37" name="Text 32"/>
          <p:cNvSpPr txBox="1"/>
          <p:nvPr/>
        </p:nvSpPr>
        <p:spPr>
          <a:xfrm>
            <a:off x="822960" y="5486400"/>
            <a:ext cx="6885432" cy="640080"/>
          </a:xfrm>
          <a:prstGeom prst="rect">
            <a:avLst/>
          </a:prstGeom>
          <a:noFill/>
          <a:ln/>
        </p:spPr>
        <p:txBody>
          <a:bodyPr wrap="square" lIns="0" tIns="0" rIns="0" bIns="0" rtlCol="0" anchor="ctr"/>
          <a:lstStyle/>
          <a:p>
            <a:pPr indent="0" marL="0">
              <a:buNone/>
            </a:pPr>
            <a:r>
              <a:rPr lang="en-US" sz="1800" b="1" i="1" dirty="0">
                <a:solidFill>
                  <a:schemeClr val="bg2"/>
                </a:solidFill>
              </a:rPr>
              <a:t>"No me vendas salud, véndeme una mañana menos."</a:t>
            </a:r>
            <a:endParaRPr lang="en-US" sz="1800" dirty="0"/>
          </a:p>
        </p:txBody>
      </p:sp>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TRABAJO DE CAMPO 5 · TIPOS DE MERCADO</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Vendemos en el mercado de consumo, a un nicho A/B</a:t>
            </a:r>
            <a:endParaRPr lang="en-US" sz="3400" dirty="0"/>
          </a:p>
        </p:txBody>
      </p:sp>
      <p:sp>
        <p:nvSpPr>
          <p:cNvPr id="4" name="Shape 2"/>
          <p:cNvSpPr/>
          <p:nvPr/>
        </p:nvSpPr>
        <p:spPr>
          <a:xfrm>
            <a:off x="548640" y="1554480"/>
            <a:ext cx="2035454" cy="3383280"/>
          </a:xfrm>
          <a:prstGeom prst="roundRect">
            <a:avLst>
              <a:gd name="adj" fmla="val 5391"/>
            </a:avLst>
          </a:prstGeom>
          <a:solidFill>
            <a:schemeClr val="accent1"/>
          </a:solidFill>
          <a:ln w="12700">
            <a:solidFill>
              <a:schemeClr val="accent1"/>
            </a:solidFill>
            <a:prstDash val="solid"/>
          </a:ln>
          <a:effectLst>
            <a:outerShdw sx="100000" sy="100000" kx="0" ky="0" algn="bl" rotWithShape="0" blurRad="101600" dist="25400" dir="5400000">
              <a:srgbClr val="7A4A30">
                <a:alpha val="14000"/>
              </a:srgbClr>
            </a:outerShdw>
          </a:effectLst>
        </p:spPr>
      </p:sp>
      <p:sp>
        <p:nvSpPr>
          <p:cNvPr id="5" name="Shape 3"/>
          <p:cNvSpPr/>
          <p:nvPr/>
        </p:nvSpPr>
        <p:spPr>
          <a:xfrm>
            <a:off x="777240" y="1783080"/>
            <a:ext cx="640080" cy="640080"/>
          </a:xfrm>
          <a:prstGeom prst="ellipse">
            <a:avLst/>
          </a:prstGeom>
          <a:solidFill>
            <a:schemeClr val="bg1"/>
          </a:solidFill>
          <a:ln w="12700">
            <a:solidFill>
              <a:schemeClr val="bg1"/>
            </a:solidFill>
            <a:prstDash val="solid"/>
          </a:ln>
        </p:spPr>
      </p:sp>
      <p:pic>
        <p:nvPicPr>
          <p:cNvPr id="6" name="Image 0" descr="preencoded.png">    </p:cNvPr>
          <p:cNvPicPr>
            <a:picLocks noChangeAspect="1"/>
          </p:cNvPicPr>
          <p:nvPr/>
        </p:nvPicPr>
        <p:blipFill>
          <a:blip r:embed="rId1"/>
          <a:stretch>
            <a:fillRect/>
          </a:stretch>
        </p:blipFill>
        <p:spPr>
          <a:xfrm>
            <a:off x="918058" y="1923898"/>
            <a:ext cx="358445" cy="358445"/>
          </a:xfrm>
          <a:prstGeom prst="rect">
            <a:avLst/>
          </a:prstGeom>
        </p:spPr>
      </p:pic>
      <p:sp>
        <p:nvSpPr>
          <p:cNvPr id="7" name="Text 4"/>
          <p:cNvSpPr txBox="1"/>
          <p:nvPr/>
        </p:nvSpPr>
        <p:spPr>
          <a:xfrm>
            <a:off x="777240" y="2542032"/>
            <a:ext cx="1669694" cy="384048"/>
          </a:xfrm>
          <a:prstGeom prst="rect">
            <a:avLst/>
          </a:prstGeom>
          <a:noFill/>
          <a:ln/>
        </p:spPr>
        <p:txBody>
          <a:bodyPr wrap="square" lIns="0" tIns="0" rIns="0" bIns="0" rtlCol="0" anchor="t"/>
          <a:lstStyle/>
          <a:p>
            <a:pPr indent="0" marL="0">
              <a:buNone/>
            </a:pPr>
            <a:r>
              <a:rPr lang="en-US" sz="1800" b="1" dirty="0">
                <a:solidFill>
                  <a:schemeClr val="bg1"/>
                </a:solidFill>
              </a:rPr>
              <a:t>Consumo</a:t>
            </a:r>
            <a:endParaRPr lang="en-US" sz="1800" dirty="0"/>
          </a:p>
        </p:txBody>
      </p:sp>
      <p:sp>
        <p:nvSpPr>
          <p:cNvPr id="8" name="Text 5"/>
          <p:cNvSpPr txBox="1"/>
          <p:nvPr/>
        </p:nvSpPr>
        <p:spPr>
          <a:xfrm>
            <a:off x="777240" y="2926080"/>
            <a:ext cx="1669694" cy="548640"/>
          </a:xfrm>
          <a:prstGeom prst="rect">
            <a:avLst/>
          </a:prstGeom>
          <a:noFill/>
          <a:ln/>
        </p:spPr>
        <p:txBody>
          <a:bodyPr wrap="square" lIns="0" tIns="0" rIns="0" bIns="0" rtlCol="0" anchor="t"/>
          <a:lstStyle/>
          <a:p>
            <a:pPr indent="0" marL="0">
              <a:buNone/>
            </a:pPr>
            <a:r>
              <a:rPr lang="en-US" sz="1200" dirty="0">
                <a:solidFill>
                  <a:schemeClr val="bg2"/>
                </a:solidFill>
              </a:rPr>
              <a:t>Personas que compran para su familia</a:t>
            </a:r>
            <a:endParaRPr lang="en-US" sz="1200" dirty="0"/>
          </a:p>
        </p:txBody>
      </p:sp>
      <p:sp>
        <p:nvSpPr>
          <p:cNvPr id="9" name="Shape 6"/>
          <p:cNvSpPr/>
          <p:nvPr/>
        </p:nvSpPr>
        <p:spPr>
          <a:xfrm>
            <a:off x="777240" y="3520440"/>
            <a:ext cx="1188720" cy="292608"/>
          </a:xfrm>
          <a:prstGeom prst="roundRect">
            <a:avLst>
              <a:gd name="adj" fmla="val 50000"/>
            </a:avLst>
          </a:prstGeom>
          <a:solidFill>
            <a:schemeClr val="bg1"/>
          </a:solidFill>
          <a:ln w="12700">
            <a:solidFill>
              <a:schemeClr val="bg1"/>
            </a:solidFill>
            <a:prstDash val="solid"/>
          </a:ln>
        </p:spPr>
      </p:sp>
      <p:sp>
        <p:nvSpPr>
          <p:cNvPr id="10" name="Text 7"/>
          <p:cNvSpPr txBox="1"/>
          <p:nvPr/>
        </p:nvSpPr>
        <p:spPr>
          <a:xfrm>
            <a:off x="777240" y="3520440"/>
            <a:ext cx="1188720" cy="292608"/>
          </a:xfrm>
          <a:prstGeom prst="rect">
            <a:avLst/>
          </a:prstGeom>
          <a:noFill/>
          <a:ln/>
        </p:spPr>
        <p:txBody>
          <a:bodyPr wrap="square" lIns="0" tIns="0" rIns="0" bIns="0" rtlCol="0" anchor="ctr"/>
          <a:lstStyle/>
          <a:p>
            <a:pPr algn="ctr" indent="0" marL="0">
              <a:buNone/>
            </a:pPr>
            <a:r>
              <a:rPr lang="en-US" sz="1000" b="1" spc="100" kern="0" dirty="0">
                <a:solidFill>
                  <a:schemeClr val="accent1"/>
                </a:solidFill>
              </a:rPr>
              <a:t>ELEGIDO</a:t>
            </a:r>
            <a:endParaRPr lang="en-US" sz="1000" dirty="0"/>
          </a:p>
        </p:txBody>
      </p:sp>
      <p:sp>
        <p:nvSpPr>
          <p:cNvPr id="11" name="Text 8"/>
          <p:cNvSpPr txBox="1"/>
          <p:nvPr/>
        </p:nvSpPr>
        <p:spPr>
          <a:xfrm>
            <a:off x="777240" y="3931920"/>
            <a:ext cx="1669694" cy="914400"/>
          </a:xfrm>
          <a:prstGeom prst="rect">
            <a:avLst/>
          </a:prstGeom>
          <a:noFill/>
          <a:ln/>
        </p:spPr>
        <p:txBody>
          <a:bodyPr wrap="square" lIns="0" tIns="0" rIns="0" bIns="0" rtlCol="0" anchor="t"/>
          <a:lstStyle/>
          <a:p>
            <a:pPr indent="0" marL="0">
              <a:buNone/>
            </a:pPr>
            <a:r>
              <a:rPr lang="en-US" sz="1400" dirty="0">
                <a:solidFill>
                  <a:schemeClr val="bg1"/>
                </a:solidFill>
              </a:rPr>
              <a:t>Padres A/B que compran la lonchera</a:t>
            </a:r>
            <a:endParaRPr lang="en-US" sz="1400" dirty="0"/>
          </a:p>
        </p:txBody>
      </p:sp>
      <p:sp>
        <p:nvSpPr>
          <p:cNvPr id="12" name="Shape 9"/>
          <p:cNvSpPr/>
          <p:nvPr/>
        </p:nvSpPr>
        <p:spPr>
          <a:xfrm>
            <a:off x="2812694" y="1554480"/>
            <a:ext cx="2035454" cy="3383280"/>
          </a:xfrm>
          <a:prstGeom prst="roundRect">
            <a:avLst>
              <a:gd name="adj" fmla="val 5391"/>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13" name="Shape 10"/>
          <p:cNvSpPr/>
          <p:nvPr/>
        </p:nvSpPr>
        <p:spPr>
          <a:xfrm>
            <a:off x="3041294" y="1783080"/>
            <a:ext cx="640080" cy="640080"/>
          </a:xfrm>
          <a:prstGeom prst="ellipse">
            <a:avLst/>
          </a:prstGeom>
          <a:solidFill>
            <a:schemeClr val="bg2"/>
          </a:solidFill>
          <a:ln w="12700">
            <a:solidFill>
              <a:schemeClr val="bg2"/>
            </a:solidFill>
            <a:prstDash val="solid"/>
          </a:ln>
        </p:spPr>
      </p:sp>
      <p:pic>
        <p:nvPicPr>
          <p:cNvPr id="14" name="Image 1" descr="preencoded.png">    </p:cNvPr>
          <p:cNvPicPr>
            <a:picLocks noChangeAspect="1"/>
          </p:cNvPicPr>
          <p:nvPr/>
        </p:nvPicPr>
        <p:blipFill>
          <a:blip r:embed="rId2"/>
          <a:stretch>
            <a:fillRect/>
          </a:stretch>
        </p:blipFill>
        <p:spPr>
          <a:xfrm>
            <a:off x="3182112" y="1923898"/>
            <a:ext cx="358445" cy="358445"/>
          </a:xfrm>
          <a:prstGeom prst="rect">
            <a:avLst/>
          </a:prstGeom>
        </p:spPr>
      </p:pic>
      <p:sp>
        <p:nvSpPr>
          <p:cNvPr id="15" name="Text 11"/>
          <p:cNvSpPr txBox="1"/>
          <p:nvPr/>
        </p:nvSpPr>
        <p:spPr>
          <a:xfrm>
            <a:off x="3041294" y="2542032"/>
            <a:ext cx="1669694" cy="384048"/>
          </a:xfrm>
          <a:prstGeom prst="rect">
            <a:avLst/>
          </a:prstGeom>
          <a:noFill/>
          <a:ln/>
        </p:spPr>
        <p:txBody>
          <a:bodyPr wrap="square" lIns="0" tIns="0" rIns="0" bIns="0" rtlCol="0" anchor="t"/>
          <a:lstStyle/>
          <a:p>
            <a:pPr indent="0" marL="0">
              <a:buNone/>
            </a:pPr>
            <a:r>
              <a:rPr lang="en-US" sz="1800" b="1" dirty="0">
                <a:solidFill>
                  <a:schemeClr val="tx2"/>
                </a:solidFill>
              </a:rPr>
              <a:t>Industrial</a:t>
            </a:r>
            <a:endParaRPr lang="en-US" sz="1800" dirty="0"/>
          </a:p>
        </p:txBody>
      </p:sp>
      <p:sp>
        <p:nvSpPr>
          <p:cNvPr id="16" name="Text 12"/>
          <p:cNvSpPr txBox="1"/>
          <p:nvPr/>
        </p:nvSpPr>
        <p:spPr>
          <a:xfrm>
            <a:off x="3041294" y="2926080"/>
            <a:ext cx="1669694" cy="548640"/>
          </a:xfrm>
          <a:prstGeom prst="rect">
            <a:avLst/>
          </a:prstGeom>
          <a:noFill/>
          <a:ln/>
        </p:spPr>
        <p:txBody>
          <a:bodyPr wrap="square" lIns="0" tIns="0" rIns="0" bIns="0" rtlCol="0" anchor="t"/>
          <a:lstStyle/>
          <a:p>
            <a:pPr indent="0" marL="0">
              <a:buNone/>
            </a:pPr>
            <a:r>
              <a:rPr lang="en-US" sz="1200" dirty="0">
                <a:solidFill>
                  <a:schemeClr val="accent2"/>
                </a:solidFill>
              </a:rPr>
              <a:t>Empresas que compran para producir</a:t>
            </a:r>
            <a:endParaRPr lang="en-US" sz="1200" dirty="0"/>
          </a:p>
        </p:txBody>
      </p:sp>
      <p:sp>
        <p:nvSpPr>
          <p:cNvPr id="17" name="Shape 13"/>
          <p:cNvSpPr/>
          <p:nvPr/>
        </p:nvSpPr>
        <p:spPr>
          <a:xfrm>
            <a:off x="3041294" y="3520440"/>
            <a:ext cx="1188720" cy="292608"/>
          </a:xfrm>
          <a:prstGeom prst="roundRect">
            <a:avLst>
              <a:gd name="adj" fmla="val 50000"/>
            </a:avLst>
          </a:prstGeom>
          <a:solidFill>
            <a:schemeClr val="bg2"/>
          </a:solidFill>
          <a:ln w="12700">
            <a:solidFill>
              <a:schemeClr val="bg2"/>
            </a:solidFill>
            <a:prstDash val="solid"/>
          </a:ln>
        </p:spPr>
      </p:sp>
      <p:sp>
        <p:nvSpPr>
          <p:cNvPr id="18" name="Text 14"/>
          <p:cNvSpPr txBox="1"/>
          <p:nvPr/>
        </p:nvSpPr>
        <p:spPr>
          <a:xfrm>
            <a:off x="3041294" y="3520440"/>
            <a:ext cx="1188720" cy="292608"/>
          </a:xfrm>
          <a:prstGeom prst="rect">
            <a:avLst/>
          </a:prstGeom>
          <a:noFill/>
          <a:ln/>
        </p:spPr>
        <p:txBody>
          <a:bodyPr wrap="square" lIns="0" tIns="0" rIns="0" bIns="0" rtlCol="0" anchor="ctr"/>
          <a:lstStyle/>
          <a:p>
            <a:pPr algn="ctr" indent="0" marL="0">
              <a:buNone/>
            </a:pPr>
            <a:r>
              <a:rPr lang="en-US" sz="1000" b="1" spc="100" kern="0" dirty="0">
                <a:solidFill>
                  <a:schemeClr val="tx2"/>
                </a:solidFill>
              </a:rPr>
              <a:t>NO APLICA</a:t>
            </a:r>
            <a:endParaRPr lang="en-US" sz="1000" dirty="0"/>
          </a:p>
        </p:txBody>
      </p:sp>
      <p:sp>
        <p:nvSpPr>
          <p:cNvPr id="19" name="Text 15"/>
          <p:cNvSpPr txBox="1"/>
          <p:nvPr/>
        </p:nvSpPr>
        <p:spPr>
          <a:xfrm>
            <a:off x="3041294" y="3931920"/>
            <a:ext cx="1669694" cy="914400"/>
          </a:xfrm>
          <a:prstGeom prst="rect">
            <a:avLst/>
          </a:prstGeom>
          <a:noFill/>
          <a:ln/>
        </p:spPr>
        <p:txBody>
          <a:bodyPr wrap="square" lIns="0" tIns="0" rIns="0" bIns="0" rtlCol="0" anchor="t"/>
          <a:lstStyle/>
          <a:p>
            <a:pPr indent="0" marL="0">
              <a:buNone/>
            </a:pPr>
            <a:r>
              <a:rPr lang="en-US" sz="1400" dirty="0">
                <a:solidFill>
                  <a:schemeClr val="tx1"/>
                </a:solidFill>
              </a:rPr>
              <a:t>No vendemos insumos a otras empresas</a:t>
            </a:r>
            <a:endParaRPr lang="en-US" sz="1400" dirty="0"/>
          </a:p>
        </p:txBody>
      </p:sp>
      <p:sp>
        <p:nvSpPr>
          <p:cNvPr id="20" name="Shape 16"/>
          <p:cNvSpPr/>
          <p:nvPr/>
        </p:nvSpPr>
        <p:spPr>
          <a:xfrm>
            <a:off x="5076749" y="1554480"/>
            <a:ext cx="2035454" cy="3383280"/>
          </a:xfrm>
          <a:prstGeom prst="roundRect">
            <a:avLst>
              <a:gd name="adj" fmla="val 5391"/>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21" name="Shape 17"/>
          <p:cNvSpPr/>
          <p:nvPr/>
        </p:nvSpPr>
        <p:spPr>
          <a:xfrm>
            <a:off x="5305349" y="1783080"/>
            <a:ext cx="640080" cy="640080"/>
          </a:xfrm>
          <a:prstGeom prst="ellipse">
            <a:avLst/>
          </a:prstGeom>
          <a:solidFill>
            <a:schemeClr val="bg2"/>
          </a:solidFill>
          <a:ln w="12700">
            <a:solidFill>
              <a:schemeClr val="bg2"/>
            </a:solidFill>
            <a:prstDash val="solid"/>
          </a:ln>
        </p:spPr>
      </p:sp>
      <p:pic>
        <p:nvPicPr>
          <p:cNvPr id="22" name="Image 2" descr="preencoded.png">    </p:cNvPr>
          <p:cNvPicPr>
            <a:picLocks noChangeAspect="1"/>
          </p:cNvPicPr>
          <p:nvPr/>
        </p:nvPicPr>
        <p:blipFill>
          <a:blip r:embed="rId3"/>
          <a:stretch>
            <a:fillRect/>
          </a:stretch>
        </p:blipFill>
        <p:spPr>
          <a:xfrm>
            <a:off x="5446166" y="1923898"/>
            <a:ext cx="358445" cy="358445"/>
          </a:xfrm>
          <a:prstGeom prst="rect">
            <a:avLst/>
          </a:prstGeom>
        </p:spPr>
      </p:pic>
      <p:sp>
        <p:nvSpPr>
          <p:cNvPr id="23" name="Text 18"/>
          <p:cNvSpPr txBox="1"/>
          <p:nvPr/>
        </p:nvSpPr>
        <p:spPr>
          <a:xfrm>
            <a:off x="5305349" y="2542032"/>
            <a:ext cx="1669694" cy="384048"/>
          </a:xfrm>
          <a:prstGeom prst="rect">
            <a:avLst/>
          </a:prstGeom>
          <a:noFill/>
          <a:ln/>
        </p:spPr>
        <p:txBody>
          <a:bodyPr wrap="square" lIns="0" tIns="0" rIns="0" bIns="0" rtlCol="0" anchor="t"/>
          <a:lstStyle/>
          <a:p>
            <a:pPr indent="0" marL="0">
              <a:buNone/>
            </a:pPr>
            <a:r>
              <a:rPr lang="en-US" sz="1800" b="1" dirty="0">
                <a:solidFill>
                  <a:schemeClr val="tx2"/>
                </a:solidFill>
              </a:rPr>
              <a:t>Servicios</a:t>
            </a:r>
            <a:endParaRPr lang="en-US" sz="1800" dirty="0"/>
          </a:p>
        </p:txBody>
      </p:sp>
      <p:sp>
        <p:nvSpPr>
          <p:cNvPr id="24" name="Text 19"/>
          <p:cNvSpPr txBox="1"/>
          <p:nvPr/>
        </p:nvSpPr>
        <p:spPr>
          <a:xfrm>
            <a:off x="5305349" y="2926080"/>
            <a:ext cx="1669694" cy="548640"/>
          </a:xfrm>
          <a:prstGeom prst="rect">
            <a:avLst/>
          </a:prstGeom>
          <a:noFill/>
          <a:ln/>
        </p:spPr>
        <p:txBody>
          <a:bodyPr wrap="square" lIns="0" tIns="0" rIns="0" bIns="0" rtlCol="0" anchor="t"/>
          <a:lstStyle/>
          <a:p>
            <a:pPr indent="0" marL="0">
              <a:buNone/>
            </a:pPr>
            <a:r>
              <a:rPr lang="en-US" sz="1200" dirty="0">
                <a:solidFill>
                  <a:schemeClr val="accent2"/>
                </a:solidFill>
              </a:rPr>
              <a:t>Compras de algo que no se toca</a:t>
            </a:r>
            <a:endParaRPr lang="en-US" sz="1200" dirty="0"/>
          </a:p>
        </p:txBody>
      </p:sp>
      <p:sp>
        <p:nvSpPr>
          <p:cNvPr id="25" name="Shape 20"/>
          <p:cNvSpPr/>
          <p:nvPr/>
        </p:nvSpPr>
        <p:spPr>
          <a:xfrm>
            <a:off x="5305349" y="3520440"/>
            <a:ext cx="1188720" cy="292608"/>
          </a:xfrm>
          <a:prstGeom prst="roundRect">
            <a:avLst>
              <a:gd name="adj" fmla="val 50000"/>
            </a:avLst>
          </a:prstGeom>
          <a:solidFill>
            <a:schemeClr val="bg2"/>
          </a:solidFill>
          <a:ln w="12700">
            <a:solidFill>
              <a:schemeClr val="bg2"/>
            </a:solidFill>
            <a:prstDash val="solid"/>
          </a:ln>
        </p:spPr>
      </p:sp>
      <p:sp>
        <p:nvSpPr>
          <p:cNvPr id="26" name="Text 21"/>
          <p:cNvSpPr txBox="1"/>
          <p:nvPr/>
        </p:nvSpPr>
        <p:spPr>
          <a:xfrm>
            <a:off x="5305349" y="3520440"/>
            <a:ext cx="1188720" cy="292608"/>
          </a:xfrm>
          <a:prstGeom prst="rect">
            <a:avLst/>
          </a:prstGeom>
          <a:noFill/>
          <a:ln/>
        </p:spPr>
        <p:txBody>
          <a:bodyPr wrap="square" lIns="0" tIns="0" rIns="0" bIns="0" rtlCol="0" anchor="ctr"/>
          <a:lstStyle/>
          <a:p>
            <a:pPr algn="ctr" indent="0" marL="0">
              <a:buNone/>
            </a:pPr>
            <a:r>
              <a:rPr lang="en-US" sz="1000" b="1" spc="100" kern="0" dirty="0">
                <a:solidFill>
                  <a:schemeClr val="tx2"/>
                </a:solidFill>
              </a:rPr>
              <a:t>NO APLICA</a:t>
            </a:r>
            <a:endParaRPr lang="en-US" sz="1000" dirty="0"/>
          </a:p>
        </p:txBody>
      </p:sp>
      <p:sp>
        <p:nvSpPr>
          <p:cNvPr id="27" name="Text 22"/>
          <p:cNvSpPr txBox="1"/>
          <p:nvPr/>
        </p:nvSpPr>
        <p:spPr>
          <a:xfrm>
            <a:off x="5305349" y="3931920"/>
            <a:ext cx="1669694" cy="914400"/>
          </a:xfrm>
          <a:prstGeom prst="rect">
            <a:avLst/>
          </a:prstGeom>
          <a:noFill/>
          <a:ln/>
        </p:spPr>
        <p:txBody>
          <a:bodyPr wrap="square" lIns="0" tIns="0" rIns="0" bIns="0" rtlCol="0" anchor="t"/>
          <a:lstStyle/>
          <a:p>
            <a:pPr indent="0" marL="0">
              <a:buNone/>
            </a:pPr>
            <a:r>
              <a:rPr lang="en-US" sz="1400" dirty="0">
                <a:solidFill>
                  <a:schemeClr val="tx1"/>
                </a:solidFill>
              </a:rPr>
              <a:t>Vendemos un producto, no un servicio</a:t>
            </a:r>
            <a:endParaRPr lang="en-US" sz="1400" dirty="0"/>
          </a:p>
        </p:txBody>
      </p:sp>
      <p:sp>
        <p:nvSpPr>
          <p:cNvPr id="28" name="Shape 23"/>
          <p:cNvSpPr/>
          <p:nvPr/>
        </p:nvSpPr>
        <p:spPr>
          <a:xfrm>
            <a:off x="7340803" y="1554480"/>
            <a:ext cx="2035454" cy="3383280"/>
          </a:xfrm>
          <a:prstGeom prst="roundRect">
            <a:avLst>
              <a:gd name="adj" fmla="val 5391"/>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29" name="Shape 24"/>
          <p:cNvSpPr/>
          <p:nvPr/>
        </p:nvSpPr>
        <p:spPr>
          <a:xfrm>
            <a:off x="7569403" y="1783080"/>
            <a:ext cx="640080" cy="640080"/>
          </a:xfrm>
          <a:prstGeom prst="ellipse">
            <a:avLst/>
          </a:prstGeom>
          <a:solidFill>
            <a:schemeClr val="bg2"/>
          </a:solidFill>
          <a:ln w="12700">
            <a:solidFill>
              <a:schemeClr val="bg2"/>
            </a:solidFill>
            <a:prstDash val="solid"/>
          </a:ln>
        </p:spPr>
      </p:sp>
      <p:pic>
        <p:nvPicPr>
          <p:cNvPr id="30" name="Image 3" descr="preencoded.png">    </p:cNvPr>
          <p:cNvPicPr>
            <a:picLocks noChangeAspect="1"/>
          </p:cNvPicPr>
          <p:nvPr/>
        </p:nvPicPr>
        <p:blipFill>
          <a:blip r:embed="rId4"/>
          <a:stretch>
            <a:fillRect/>
          </a:stretch>
        </p:blipFill>
        <p:spPr>
          <a:xfrm>
            <a:off x="7710221" y="1923898"/>
            <a:ext cx="358445" cy="358445"/>
          </a:xfrm>
          <a:prstGeom prst="rect">
            <a:avLst/>
          </a:prstGeom>
        </p:spPr>
      </p:pic>
      <p:sp>
        <p:nvSpPr>
          <p:cNvPr id="31" name="Text 25"/>
          <p:cNvSpPr txBox="1"/>
          <p:nvPr/>
        </p:nvSpPr>
        <p:spPr>
          <a:xfrm>
            <a:off x="7569403" y="2542032"/>
            <a:ext cx="1669694" cy="384048"/>
          </a:xfrm>
          <a:prstGeom prst="rect">
            <a:avLst/>
          </a:prstGeom>
          <a:noFill/>
          <a:ln/>
        </p:spPr>
        <p:txBody>
          <a:bodyPr wrap="square" lIns="0" tIns="0" rIns="0" bIns="0" rtlCol="0" anchor="t"/>
          <a:lstStyle/>
          <a:p>
            <a:pPr indent="0" marL="0">
              <a:buNone/>
            </a:pPr>
            <a:r>
              <a:rPr lang="en-US" sz="1800" b="1" dirty="0">
                <a:solidFill>
                  <a:schemeClr val="tx2"/>
                </a:solidFill>
              </a:rPr>
              <a:t>Gobierno</a:t>
            </a:r>
            <a:endParaRPr lang="en-US" sz="1800" dirty="0"/>
          </a:p>
        </p:txBody>
      </p:sp>
      <p:sp>
        <p:nvSpPr>
          <p:cNvPr id="32" name="Text 26"/>
          <p:cNvSpPr txBox="1"/>
          <p:nvPr/>
        </p:nvSpPr>
        <p:spPr>
          <a:xfrm>
            <a:off x="7569403" y="2926080"/>
            <a:ext cx="1669694" cy="548640"/>
          </a:xfrm>
          <a:prstGeom prst="rect">
            <a:avLst/>
          </a:prstGeom>
          <a:noFill/>
          <a:ln/>
        </p:spPr>
        <p:txBody>
          <a:bodyPr wrap="square" lIns="0" tIns="0" rIns="0" bIns="0" rtlCol="0" anchor="t"/>
          <a:lstStyle/>
          <a:p>
            <a:pPr indent="0" marL="0">
              <a:buNone/>
            </a:pPr>
            <a:r>
              <a:rPr lang="en-US" sz="1200" dirty="0">
                <a:solidFill>
                  <a:schemeClr val="accent2"/>
                </a:solidFill>
              </a:rPr>
              <a:t>El Estado como cliente</a:t>
            </a:r>
            <a:endParaRPr lang="en-US" sz="1200" dirty="0"/>
          </a:p>
        </p:txBody>
      </p:sp>
      <p:sp>
        <p:nvSpPr>
          <p:cNvPr id="33" name="Shape 27"/>
          <p:cNvSpPr/>
          <p:nvPr/>
        </p:nvSpPr>
        <p:spPr>
          <a:xfrm>
            <a:off x="7569403" y="3520440"/>
            <a:ext cx="1188720" cy="292608"/>
          </a:xfrm>
          <a:prstGeom prst="roundRect">
            <a:avLst>
              <a:gd name="adj" fmla="val 50000"/>
            </a:avLst>
          </a:prstGeom>
          <a:solidFill>
            <a:schemeClr val="accent3"/>
          </a:solidFill>
          <a:ln w="12700">
            <a:solidFill>
              <a:schemeClr val="accent3"/>
            </a:solidFill>
            <a:prstDash val="solid"/>
          </a:ln>
        </p:spPr>
      </p:sp>
      <p:sp>
        <p:nvSpPr>
          <p:cNvPr id="34" name="Text 28"/>
          <p:cNvSpPr txBox="1"/>
          <p:nvPr/>
        </p:nvSpPr>
        <p:spPr>
          <a:xfrm>
            <a:off x="7569403" y="3520440"/>
            <a:ext cx="1188720" cy="292608"/>
          </a:xfrm>
          <a:prstGeom prst="rect">
            <a:avLst/>
          </a:prstGeom>
          <a:noFill/>
          <a:ln/>
        </p:spPr>
        <p:txBody>
          <a:bodyPr wrap="square" lIns="0" tIns="0" rIns="0" bIns="0" rtlCol="0" anchor="ctr"/>
          <a:lstStyle/>
          <a:p>
            <a:pPr algn="ctr" indent="0" marL="0">
              <a:buNone/>
            </a:pPr>
            <a:r>
              <a:rPr lang="en-US" sz="1000" b="1" spc="100" kern="0" dirty="0">
                <a:solidFill>
                  <a:schemeClr val="tx2"/>
                </a:solidFill>
              </a:rPr>
              <a:t>AÑO 3</a:t>
            </a:r>
            <a:endParaRPr lang="en-US" sz="1000" dirty="0"/>
          </a:p>
        </p:txBody>
      </p:sp>
      <p:sp>
        <p:nvSpPr>
          <p:cNvPr id="35" name="Text 29"/>
          <p:cNvSpPr txBox="1"/>
          <p:nvPr/>
        </p:nvSpPr>
        <p:spPr>
          <a:xfrm>
            <a:off x="7569403" y="3931920"/>
            <a:ext cx="1669694" cy="914400"/>
          </a:xfrm>
          <a:prstGeom prst="rect">
            <a:avLst/>
          </a:prstGeom>
          <a:noFill/>
          <a:ln/>
        </p:spPr>
        <p:txBody>
          <a:bodyPr wrap="square" lIns="0" tIns="0" rIns="0" bIns="0" rtlCol="0" anchor="t"/>
          <a:lstStyle/>
          <a:p>
            <a:pPr indent="0" marL="0">
              <a:buNone/>
            </a:pPr>
            <a:r>
              <a:rPr lang="en-US" sz="1400" dirty="0">
                <a:solidFill>
                  <a:schemeClr val="tx1"/>
                </a:solidFill>
              </a:rPr>
              <a:t>Programas contra la anemia, con licitación</a:t>
            </a:r>
            <a:endParaRPr lang="en-US" sz="1400" dirty="0"/>
          </a:p>
        </p:txBody>
      </p:sp>
      <p:sp>
        <p:nvSpPr>
          <p:cNvPr id="36" name="Shape 30"/>
          <p:cNvSpPr/>
          <p:nvPr/>
        </p:nvSpPr>
        <p:spPr>
          <a:xfrm>
            <a:off x="9604858" y="1554480"/>
            <a:ext cx="2035454" cy="3383280"/>
          </a:xfrm>
          <a:prstGeom prst="roundRect">
            <a:avLst>
              <a:gd name="adj" fmla="val 5391"/>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37" name="Shape 31"/>
          <p:cNvSpPr/>
          <p:nvPr/>
        </p:nvSpPr>
        <p:spPr>
          <a:xfrm>
            <a:off x="9833458" y="1783080"/>
            <a:ext cx="640080" cy="640080"/>
          </a:xfrm>
          <a:prstGeom prst="ellipse">
            <a:avLst/>
          </a:prstGeom>
          <a:solidFill>
            <a:schemeClr val="bg2"/>
          </a:solidFill>
          <a:ln w="12700">
            <a:solidFill>
              <a:schemeClr val="bg2"/>
            </a:solidFill>
            <a:prstDash val="solid"/>
          </a:ln>
        </p:spPr>
      </p:sp>
      <p:pic>
        <p:nvPicPr>
          <p:cNvPr id="38" name="Image 4" descr="preencoded.png">    </p:cNvPr>
          <p:cNvPicPr>
            <a:picLocks noChangeAspect="1"/>
          </p:cNvPicPr>
          <p:nvPr/>
        </p:nvPicPr>
        <p:blipFill>
          <a:blip r:embed="rId5"/>
          <a:stretch>
            <a:fillRect/>
          </a:stretch>
        </p:blipFill>
        <p:spPr>
          <a:xfrm>
            <a:off x="9974275" y="1923898"/>
            <a:ext cx="358445" cy="358445"/>
          </a:xfrm>
          <a:prstGeom prst="rect">
            <a:avLst/>
          </a:prstGeom>
        </p:spPr>
      </p:pic>
      <p:sp>
        <p:nvSpPr>
          <p:cNvPr id="39" name="Text 32"/>
          <p:cNvSpPr txBox="1"/>
          <p:nvPr/>
        </p:nvSpPr>
        <p:spPr>
          <a:xfrm>
            <a:off x="9833458" y="2542032"/>
            <a:ext cx="1669694" cy="384048"/>
          </a:xfrm>
          <a:prstGeom prst="rect">
            <a:avLst/>
          </a:prstGeom>
          <a:noFill/>
          <a:ln/>
        </p:spPr>
        <p:txBody>
          <a:bodyPr wrap="square" lIns="0" tIns="0" rIns="0" bIns="0" rtlCol="0" anchor="t"/>
          <a:lstStyle/>
          <a:p>
            <a:pPr indent="0" marL="0">
              <a:buNone/>
            </a:pPr>
            <a:r>
              <a:rPr lang="en-US" sz="1800" b="1" dirty="0">
                <a:solidFill>
                  <a:schemeClr val="tx2"/>
                </a:solidFill>
              </a:rPr>
              <a:t>Global</a:t>
            </a:r>
            <a:endParaRPr lang="en-US" sz="1800" dirty="0"/>
          </a:p>
        </p:txBody>
      </p:sp>
      <p:sp>
        <p:nvSpPr>
          <p:cNvPr id="40" name="Text 33"/>
          <p:cNvSpPr txBox="1"/>
          <p:nvPr/>
        </p:nvSpPr>
        <p:spPr>
          <a:xfrm>
            <a:off x="9833458" y="2926080"/>
            <a:ext cx="1669694" cy="548640"/>
          </a:xfrm>
          <a:prstGeom prst="rect">
            <a:avLst/>
          </a:prstGeom>
          <a:noFill/>
          <a:ln/>
        </p:spPr>
        <p:txBody>
          <a:bodyPr wrap="square" lIns="0" tIns="0" rIns="0" bIns="0" rtlCol="0" anchor="t"/>
          <a:lstStyle/>
          <a:p>
            <a:pPr indent="0" marL="0">
              <a:buNone/>
            </a:pPr>
            <a:r>
              <a:rPr lang="en-US" sz="1200" dirty="0">
                <a:solidFill>
                  <a:schemeClr val="accent2"/>
                </a:solidFill>
              </a:rPr>
              <a:t>Clientes fuera del país</a:t>
            </a:r>
            <a:endParaRPr lang="en-US" sz="1200" dirty="0"/>
          </a:p>
        </p:txBody>
      </p:sp>
      <p:sp>
        <p:nvSpPr>
          <p:cNvPr id="41" name="Shape 34"/>
          <p:cNvSpPr/>
          <p:nvPr/>
        </p:nvSpPr>
        <p:spPr>
          <a:xfrm>
            <a:off x="9833458" y="3520440"/>
            <a:ext cx="1188720" cy="292608"/>
          </a:xfrm>
          <a:prstGeom prst="roundRect">
            <a:avLst>
              <a:gd name="adj" fmla="val 50000"/>
            </a:avLst>
          </a:prstGeom>
          <a:solidFill>
            <a:schemeClr val="accent3"/>
          </a:solidFill>
          <a:ln w="12700">
            <a:solidFill>
              <a:schemeClr val="accent3"/>
            </a:solidFill>
            <a:prstDash val="solid"/>
          </a:ln>
        </p:spPr>
      </p:sp>
      <p:sp>
        <p:nvSpPr>
          <p:cNvPr id="42" name="Text 35"/>
          <p:cNvSpPr txBox="1"/>
          <p:nvPr/>
        </p:nvSpPr>
        <p:spPr>
          <a:xfrm>
            <a:off x="9833458" y="3520440"/>
            <a:ext cx="1188720" cy="292608"/>
          </a:xfrm>
          <a:prstGeom prst="rect">
            <a:avLst/>
          </a:prstGeom>
          <a:noFill/>
          <a:ln/>
        </p:spPr>
        <p:txBody>
          <a:bodyPr wrap="square" lIns="0" tIns="0" rIns="0" bIns="0" rtlCol="0" anchor="ctr"/>
          <a:lstStyle/>
          <a:p>
            <a:pPr algn="ctr" indent="0" marL="0">
              <a:buNone/>
            </a:pPr>
            <a:r>
              <a:rPr lang="en-US" sz="1000" b="1" spc="100" kern="0" dirty="0">
                <a:solidFill>
                  <a:schemeClr val="tx2"/>
                </a:solidFill>
              </a:rPr>
              <a:t>AÑO 3</a:t>
            </a:r>
            <a:endParaRPr lang="en-US" sz="1000" dirty="0"/>
          </a:p>
        </p:txBody>
      </p:sp>
      <p:sp>
        <p:nvSpPr>
          <p:cNvPr id="43" name="Text 36"/>
          <p:cNvSpPr txBox="1"/>
          <p:nvPr/>
        </p:nvSpPr>
        <p:spPr>
          <a:xfrm>
            <a:off x="9833458" y="3931920"/>
            <a:ext cx="1669694" cy="914400"/>
          </a:xfrm>
          <a:prstGeom prst="rect">
            <a:avLst/>
          </a:prstGeom>
          <a:noFill/>
          <a:ln/>
        </p:spPr>
        <p:txBody>
          <a:bodyPr wrap="square" lIns="0" tIns="0" rIns="0" bIns="0" rtlCol="0" anchor="t"/>
          <a:lstStyle/>
          <a:p>
            <a:pPr indent="0" marL="0">
              <a:buNone/>
            </a:pPr>
            <a:r>
              <a:rPr lang="en-US" sz="1400" dirty="0">
                <a:solidFill>
                  <a:schemeClr val="tx1"/>
                </a:solidFill>
              </a:rPr>
              <a:t>Peruanos en Chile y EE. UU.</a:t>
            </a:r>
            <a:endParaRPr lang="en-US" sz="1400" dirty="0"/>
          </a:p>
        </p:txBody>
      </p:sp>
      <p:sp>
        <p:nvSpPr>
          <p:cNvPr id="44" name="Text 37"/>
          <p:cNvSpPr txBox="1"/>
          <p:nvPr/>
        </p:nvSpPr>
        <p:spPr>
          <a:xfrm>
            <a:off x="548640" y="5138928"/>
            <a:ext cx="5486400" cy="292608"/>
          </a:xfrm>
          <a:prstGeom prst="rect">
            <a:avLst/>
          </a:prstGeom>
          <a:noFill/>
          <a:ln/>
        </p:spPr>
        <p:txBody>
          <a:bodyPr wrap="square" lIns="0" tIns="0" rIns="0" bIns="0" rtlCol="0" anchor="t"/>
          <a:lstStyle/>
          <a:p>
            <a:pPr indent="0" marL="0">
              <a:buNone/>
            </a:pPr>
            <a:r>
              <a:rPr lang="en-US" sz="1400" b="1" dirty="0">
                <a:solidFill>
                  <a:schemeClr val="tx2"/>
                </a:solidFill>
              </a:rPr>
              <a:t>Dentro del mercado de consumo</a:t>
            </a:r>
            <a:endParaRPr lang="en-US" sz="1400" dirty="0"/>
          </a:p>
        </p:txBody>
      </p:sp>
      <p:sp>
        <p:nvSpPr>
          <p:cNvPr id="45" name="Shape 38"/>
          <p:cNvSpPr/>
          <p:nvPr/>
        </p:nvSpPr>
        <p:spPr>
          <a:xfrm>
            <a:off x="548640" y="5486400"/>
            <a:ext cx="11091672" cy="566928"/>
          </a:xfrm>
          <a:prstGeom prst="roundRect">
            <a:avLst>
              <a:gd name="adj" fmla="val 16129"/>
            </a:avLst>
          </a:prstGeom>
          <a:solidFill>
            <a:schemeClr val="tx2"/>
          </a:solidFill>
          <a:ln w="12700">
            <a:solidFill>
              <a:schemeClr val="tx2"/>
            </a:solidFill>
            <a:prstDash val="solid"/>
          </a:ln>
        </p:spPr>
      </p:sp>
      <p:sp>
        <p:nvSpPr>
          <p:cNvPr id="46" name="Text 39"/>
          <p:cNvSpPr txBox="1"/>
          <p:nvPr/>
        </p:nvSpPr>
        <p:spPr>
          <a:xfrm>
            <a:off x="777240" y="5486400"/>
            <a:ext cx="10698480" cy="566928"/>
          </a:xfrm>
          <a:prstGeom prst="rect">
            <a:avLst/>
          </a:prstGeom>
          <a:noFill/>
          <a:ln/>
        </p:spPr>
        <p:txBody>
          <a:bodyPr wrap="square" lIns="0" tIns="0" rIns="0" bIns="0" rtlCol="0" anchor="ctr"/>
          <a:lstStyle/>
          <a:p>
            <a:pPr indent="0" marL="0">
              <a:buNone/>
            </a:pPr>
            <a:r>
              <a:rPr lang="en-US" sz="1500" b="1" dirty="0">
                <a:solidFill>
                  <a:schemeClr val="bg1"/>
                </a:solidFill>
              </a:rPr>
              <a:t>Nicho: 46,000 hogares A/B con hijos de 4 a 11 · dos segmentos: salud (Claudia) y tiempo (Rodrigo)</a:t>
            </a:r>
            <a:endParaRPr lang="en-US" sz="1500" dirty="0"/>
          </a:p>
        </p:txBody>
      </p:sp>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TRABAJO DE CAMPO 5 · TAMAÑO DEL MERCADO</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Un nicho chico, pero con billetera</a:t>
            </a:r>
            <a:endParaRPr lang="en-US" sz="3400" dirty="0"/>
          </a:p>
        </p:txBody>
      </p:sp>
      <p:sp>
        <p:nvSpPr>
          <p:cNvPr id="4" name="Shape 2"/>
          <p:cNvSpPr/>
          <p:nvPr/>
        </p:nvSpPr>
        <p:spPr>
          <a:xfrm>
            <a:off x="594360" y="1554480"/>
            <a:ext cx="6035040" cy="914400"/>
          </a:xfrm>
          <a:prstGeom prst="roundRect">
            <a:avLst>
              <a:gd name="adj" fmla="val 12000"/>
            </a:avLst>
          </a:prstGeom>
          <a:solidFill>
            <a:schemeClr val="accent5"/>
          </a:solidFill>
          <a:ln w="12700">
            <a:solidFill>
              <a:schemeClr val="accent5"/>
            </a:solidFill>
            <a:prstDash val="solid"/>
          </a:ln>
        </p:spPr>
      </p:sp>
      <p:sp>
        <p:nvSpPr>
          <p:cNvPr id="5" name="Text 3"/>
          <p:cNvSpPr txBox="1"/>
          <p:nvPr/>
        </p:nvSpPr>
        <p:spPr>
          <a:xfrm>
            <a:off x="731520" y="1554480"/>
            <a:ext cx="5760720" cy="914400"/>
          </a:xfrm>
          <a:prstGeom prst="rect">
            <a:avLst/>
          </a:prstGeom>
          <a:noFill/>
          <a:ln/>
        </p:spPr>
        <p:txBody>
          <a:bodyPr wrap="square" lIns="0" tIns="0" rIns="0" bIns="0" rtlCol="0" anchor="ctr"/>
          <a:lstStyle/>
          <a:p>
            <a:pPr algn="ctr" indent="0" marL="0">
              <a:buNone/>
            </a:pPr>
            <a:r>
              <a:rPr lang="en-US" sz="1800" b="1" dirty="0">
                <a:solidFill>
                  <a:schemeClr val="tx1"/>
                </a:solidFill>
              </a:rPr>
              <a:t>TAM · S/130.9 millones</a:t>
            </a:r>
            <a:endParaRPr lang="en-US" sz="1400" dirty="0"/>
          </a:p>
          <a:p>
            <a:pPr algn="ctr" indent="0" marL="0">
              <a:buNone/>
            </a:pPr>
            <a:r>
              <a:rPr lang="en-US" sz="1200" dirty="0">
                <a:solidFill>
                  <a:schemeClr val="tx1"/>
                </a:solidFill>
              </a:rPr>
              <a:t>932 mil hogares · todas las loncheras de Lima</a:t>
            </a:r>
            <a:endParaRPr lang="en-US" sz="1400" dirty="0"/>
          </a:p>
        </p:txBody>
      </p:sp>
      <p:sp>
        <p:nvSpPr>
          <p:cNvPr id="6" name="Shape 4"/>
          <p:cNvSpPr/>
          <p:nvPr/>
        </p:nvSpPr>
        <p:spPr>
          <a:xfrm>
            <a:off x="1143000" y="2633472"/>
            <a:ext cx="4937760" cy="914400"/>
          </a:xfrm>
          <a:prstGeom prst="roundRect">
            <a:avLst>
              <a:gd name="adj" fmla="val 12000"/>
            </a:avLst>
          </a:prstGeom>
          <a:solidFill>
            <a:schemeClr val="accent2"/>
          </a:solidFill>
          <a:ln w="12700">
            <a:solidFill>
              <a:schemeClr val="accent2"/>
            </a:solidFill>
            <a:prstDash val="solid"/>
          </a:ln>
        </p:spPr>
      </p:sp>
      <p:sp>
        <p:nvSpPr>
          <p:cNvPr id="7" name="Text 5"/>
          <p:cNvSpPr txBox="1"/>
          <p:nvPr/>
        </p:nvSpPr>
        <p:spPr>
          <a:xfrm>
            <a:off x="1280160" y="2633472"/>
            <a:ext cx="4663440" cy="914400"/>
          </a:xfrm>
          <a:prstGeom prst="rect">
            <a:avLst/>
          </a:prstGeom>
          <a:noFill/>
          <a:ln/>
        </p:spPr>
        <p:txBody>
          <a:bodyPr wrap="square" lIns="0" tIns="0" rIns="0" bIns="0" rtlCol="0" anchor="ctr"/>
          <a:lstStyle/>
          <a:p>
            <a:pPr algn="ctr" indent="0" marL="0">
              <a:buNone/>
            </a:pPr>
            <a:r>
              <a:rPr lang="en-US" sz="1800" b="1" dirty="0">
                <a:solidFill>
                  <a:schemeClr val="bg1"/>
                </a:solidFill>
              </a:rPr>
              <a:t>SAM · S/62.8 millones</a:t>
            </a:r>
            <a:endParaRPr lang="en-US" sz="1400" dirty="0"/>
          </a:p>
          <a:p>
            <a:pPr algn="ctr" indent="0" marL="0">
              <a:buNone/>
            </a:pPr>
            <a:r>
              <a:rPr lang="en-US" sz="1200" dirty="0">
                <a:solidFill>
                  <a:schemeClr val="bg1"/>
                </a:solidFill>
              </a:rPr>
              <a:t>168 mil hogares A/B con niños de 4 a 11</a:t>
            </a:r>
            <a:endParaRPr lang="en-US" sz="1400" dirty="0"/>
          </a:p>
        </p:txBody>
      </p:sp>
      <p:sp>
        <p:nvSpPr>
          <p:cNvPr id="8" name="Shape 6"/>
          <p:cNvSpPr/>
          <p:nvPr/>
        </p:nvSpPr>
        <p:spPr>
          <a:xfrm>
            <a:off x="1691640" y="3712464"/>
            <a:ext cx="3840480" cy="914400"/>
          </a:xfrm>
          <a:prstGeom prst="roundRect">
            <a:avLst>
              <a:gd name="adj" fmla="val 12000"/>
            </a:avLst>
          </a:prstGeom>
          <a:solidFill>
            <a:schemeClr val="accent1"/>
          </a:solidFill>
          <a:ln w="12700">
            <a:solidFill>
              <a:schemeClr val="accent1"/>
            </a:solidFill>
            <a:prstDash val="solid"/>
          </a:ln>
        </p:spPr>
      </p:sp>
      <p:sp>
        <p:nvSpPr>
          <p:cNvPr id="9" name="Text 7"/>
          <p:cNvSpPr txBox="1"/>
          <p:nvPr/>
        </p:nvSpPr>
        <p:spPr>
          <a:xfrm>
            <a:off x="1828800" y="3712464"/>
            <a:ext cx="3566160" cy="914400"/>
          </a:xfrm>
          <a:prstGeom prst="rect">
            <a:avLst/>
          </a:prstGeom>
          <a:noFill/>
          <a:ln/>
        </p:spPr>
        <p:txBody>
          <a:bodyPr wrap="square" lIns="0" tIns="0" rIns="0" bIns="0" rtlCol="0" anchor="ctr"/>
          <a:lstStyle/>
          <a:p>
            <a:pPr algn="ctr" indent="0" marL="0">
              <a:buNone/>
            </a:pPr>
            <a:r>
              <a:rPr lang="en-US" sz="1800" b="1" dirty="0">
                <a:solidFill>
                  <a:schemeClr val="bg1"/>
                </a:solidFill>
              </a:rPr>
              <a:t>Núcleo · S/17.3 millones</a:t>
            </a:r>
            <a:endParaRPr lang="en-US" sz="1400" dirty="0"/>
          </a:p>
          <a:p>
            <a:pPr algn="ctr" indent="0" marL="0">
              <a:buNone/>
            </a:pPr>
            <a:r>
              <a:rPr lang="en-US" sz="1200" dirty="0">
                <a:solidFill>
                  <a:schemeClr val="bg1"/>
                </a:solidFill>
              </a:rPr>
              <a:t>46 mil hogares en Lima Top y Moderna</a:t>
            </a:r>
            <a:endParaRPr lang="en-US" sz="1400" dirty="0"/>
          </a:p>
        </p:txBody>
      </p:sp>
      <p:sp>
        <p:nvSpPr>
          <p:cNvPr id="10" name="Shape 8"/>
          <p:cNvSpPr/>
          <p:nvPr/>
        </p:nvSpPr>
        <p:spPr>
          <a:xfrm>
            <a:off x="2240280" y="4791456"/>
            <a:ext cx="2743200" cy="914400"/>
          </a:xfrm>
          <a:prstGeom prst="roundRect">
            <a:avLst>
              <a:gd name="adj" fmla="val 12000"/>
            </a:avLst>
          </a:prstGeom>
          <a:solidFill>
            <a:schemeClr val="tx2"/>
          </a:solidFill>
          <a:ln w="12700">
            <a:solidFill>
              <a:schemeClr val="tx2"/>
            </a:solidFill>
            <a:prstDash val="solid"/>
          </a:ln>
        </p:spPr>
      </p:sp>
      <p:sp>
        <p:nvSpPr>
          <p:cNvPr id="11" name="Text 9"/>
          <p:cNvSpPr txBox="1"/>
          <p:nvPr/>
        </p:nvSpPr>
        <p:spPr>
          <a:xfrm>
            <a:off x="2377440" y="4791456"/>
            <a:ext cx="2468880" cy="914400"/>
          </a:xfrm>
          <a:prstGeom prst="rect">
            <a:avLst/>
          </a:prstGeom>
          <a:noFill/>
          <a:ln/>
        </p:spPr>
        <p:txBody>
          <a:bodyPr wrap="square" lIns="0" tIns="0" rIns="0" bIns="0" rtlCol="0" anchor="ctr"/>
          <a:lstStyle/>
          <a:p>
            <a:pPr algn="ctr" indent="0" marL="0">
              <a:buNone/>
            </a:pPr>
            <a:r>
              <a:rPr lang="en-US" sz="1800" b="1" dirty="0">
                <a:solidFill>
                  <a:schemeClr val="bg1"/>
                </a:solidFill>
              </a:rPr>
              <a:t>SOM año 1 · S/0.23 M</a:t>
            </a:r>
            <a:endParaRPr lang="en-US" sz="1400" dirty="0"/>
          </a:p>
          <a:p>
            <a:pPr algn="ctr" indent="0" marL="0">
              <a:buNone/>
            </a:pPr>
            <a:r>
              <a:rPr lang="en-US" sz="1200" dirty="0">
                <a:solidFill>
                  <a:schemeClr val="bg1"/>
                </a:solidFill>
              </a:rPr>
              <a:t>52,786 brownies · 1 a 3 puntos</a:t>
            </a:r>
            <a:endParaRPr lang="en-US" sz="1400" dirty="0"/>
          </a:p>
        </p:txBody>
      </p:sp>
      <p:sp>
        <p:nvSpPr>
          <p:cNvPr id="12" name="Shape 10"/>
          <p:cNvSpPr/>
          <p:nvPr/>
        </p:nvSpPr>
        <p:spPr>
          <a:xfrm>
            <a:off x="7086600" y="1554480"/>
            <a:ext cx="4553712" cy="1298448"/>
          </a:xfrm>
          <a:prstGeom prst="roundRect">
            <a:avLst>
              <a:gd name="adj" fmla="val 8451"/>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13" name="Text 11"/>
          <p:cNvSpPr txBox="1"/>
          <p:nvPr/>
        </p:nvSpPr>
        <p:spPr>
          <a:xfrm>
            <a:off x="7315200" y="1554480"/>
            <a:ext cx="1783080" cy="1298448"/>
          </a:xfrm>
          <a:prstGeom prst="rect">
            <a:avLst/>
          </a:prstGeom>
          <a:noFill/>
          <a:ln/>
        </p:spPr>
        <p:txBody>
          <a:bodyPr wrap="square" lIns="0" tIns="0" rIns="0" bIns="0" rtlCol="0" anchor="ctr"/>
          <a:lstStyle/>
          <a:p>
            <a:pPr indent="0" marL="0">
              <a:buNone/>
            </a:pPr>
            <a:r>
              <a:rPr lang="en-US" sz="3200" b="1" dirty="0">
                <a:solidFill>
                  <a:schemeClr val="accent1"/>
                </a:solidFill>
              </a:rPr>
              <a:t>53.1 %</a:t>
            </a:r>
            <a:endParaRPr lang="en-US" sz="3200" dirty="0"/>
          </a:p>
        </p:txBody>
      </p:sp>
      <p:sp>
        <p:nvSpPr>
          <p:cNvPr id="14" name="Text 12"/>
          <p:cNvSpPr txBox="1"/>
          <p:nvPr/>
        </p:nvSpPr>
        <p:spPr>
          <a:xfrm>
            <a:off x="9144000" y="1691640"/>
            <a:ext cx="2313432" cy="1024128"/>
          </a:xfrm>
          <a:prstGeom prst="rect">
            <a:avLst/>
          </a:prstGeom>
          <a:noFill/>
          <a:ln/>
        </p:spPr>
        <p:txBody>
          <a:bodyPr wrap="square" lIns="0" tIns="0" rIns="0" bIns="0" rtlCol="0" anchor="ctr"/>
          <a:lstStyle/>
          <a:p>
            <a:pPr indent="0" marL="0">
              <a:buNone/>
            </a:pPr>
            <a:r>
              <a:rPr lang="en-US" sz="1400" dirty="0">
                <a:solidFill>
                  <a:schemeClr val="tx1"/>
                </a:solidFill>
              </a:rPr>
              <a:t>de los nacimientos de Lima son de madres de 30 años o más</a:t>
            </a:r>
            <a:endParaRPr lang="en-US" sz="1400" dirty="0"/>
          </a:p>
          <a:p>
            <a:pPr indent="0" marL="0">
              <a:buNone/>
            </a:pPr>
            <a:r>
              <a:rPr lang="en-US" sz="1100" i="1" dirty="0">
                <a:solidFill>
                  <a:schemeClr val="accent2"/>
                </a:solidFill>
              </a:rPr>
              <a:t>INEI 2022</a:t>
            </a:r>
            <a:endParaRPr lang="en-US" sz="1400" dirty="0"/>
          </a:p>
        </p:txBody>
      </p:sp>
      <p:sp>
        <p:nvSpPr>
          <p:cNvPr id="15" name="Shape 13"/>
          <p:cNvSpPr/>
          <p:nvPr/>
        </p:nvSpPr>
        <p:spPr>
          <a:xfrm>
            <a:off x="7086600" y="3035808"/>
            <a:ext cx="4553712" cy="1298448"/>
          </a:xfrm>
          <a:prstGeom prst="roundRect">
            <a:avLst>
              <a:gd name="adj" fmla="val 8451"/>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16" name="Text 14"/>
          <p:cNvSpPr txBox="1"/>
          <p:nvPr/>
        </p:nvSpPr>
        <p:spPr>
          <a:xfrm>
            <a:off x="7315200" y="3035808"/>
            <a:ext cx="1783080" cy="1298448"/>
          </a:xfrm>
          <a:prstGeom prst="rect">
            <a:avLst/>
          </a:prstGeom>
          <a:noFill/>
          <a:ln/>
        </p:spPr>
        <p:txBody>
          <a:bodyPr wrap="square" lIns="0" tIns="0" rIns="0" bIns="0" rtlCol="0" anchor="ctr"/>
          <a:lstStyle/>
          <a:p>
            <a:pPr indent="0" marL="0">
              <a:buNone/>
            </a:pPr>
            <a:r>
              <a:rPr lang="en-US" sz="3200" b="1" dirty="0">
                <a:solidFill>
                  <a:schemeClr val="accent1"/>
                </a:solidFill>
              </a:rPr>
              <a:t>83 %</a:t>
            </a:r>
            <a:endParaRPr lang="en-US" sz="3200" dirty="0"/>
          </a:p>
        </p:txBody>
      </p:sp>
      <p:sp>
        <p:nvSpPr>
          <p:cNvPr id="17" name="Text 15"/>
          <p:cNvSpPr txBox="1"/>
          <p:nvPr/>
        </p:nvSpPr>
        <p:spPr>
          <a:xfrm>
            <a:off x="9144000" y="3172968"/>
            <a:ext cx="2313432" cy="1024128"/>
          </a:xfrm>
          <a:prstGeom prst="rect">
            <a:avLst/>
          </a:prstGeom>
          <a:noFill/>
          <a:ln/>
        </p:spPr>
        <p:txBody>
          <a:bodyPr wrap="square" lIns="0" tIns="0" rIns="0" bIns="0" rtlCol="0" anchor="ctr"/>
          <a:lstStyle/>
          <a:p>
            <a:pPr indent="0" marL="0">
              <a:buNone/>
            </a:pPr>
            <a:r>
              <a:rPr lang="en-US" sz="1400" dirty="0">
                <a:solidFill>
                  <a:schemeClr val="tx1"/>
                </a:solidFill>
              </a:rPr>
              <a:t>cambia su compra por los octógonos; 70 % teme el "Alto en azúcar"</a:t>
            </a:r>
            <a:endParaRPr lang="en-US" sz="1400" dirty="0"/>
          </a:p>
          <a:p>
            <a:pPr indent="0" marL="0">
              <a:buNone/>
            </a:pPr>
            <a:r>
              <a:rPr lang="en-US" sz="1100" i="1" dirty="0">
                <a:solidFill>
                  <a:schemeClr val="accent2"/>
                </a:solidFill>
              </a:rPr>
              <a:t>Ipsos 2025</a:t>
            </a:r>
            <a:endParaRPr lang="en-US" sz="1400" dirty="0"/>
          </a:p>
        </p:txBody>
      </p:sp>
      <p:sp>
        <p:nvSpPr>
          <p:cNvPr id="18" name="Shape 16"/>
          <p:cNvSpPr/>
          <p:nvPr/>
        </p:nvSpPr>
        <p:spPr>
          <a:xfrm>
            <a:off x="7086600" y="4517136"/>
            <a:ext cx="4553712" cy="1298448"/>
          </a:xfrm>
          <a:prstGeom prst="roundRect">
            <a:avLst>
              <a:gd name="adj" fmla="val 8451"/>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19" name="Text 17"/>
          <p:cNvSpPr txBox="1"/>
          <p:nvPr/>
        </p:nvSpPr>
        <p:spPr>
          <a:xfrm>
            <a:off x="7315200" y="4517136"/>
            <a:ext cx="1783080" cy="1298448"/>
          </a:xfrm>
          <a:prstGeom prst="rect">
            <a:avLst/>
          </a:prstGeom>
          <a:noFill/>
          <a:ln/>
        </p:spPr>
        <p:txBody>
          <a:bodyPr wrap="square" lIns="0" tIns="0" rIns="0" bIns="0" rtlCol="0" anchor="ctr"/>
          <a:lstStyle/>
          <a:p>
            <a:pPr indent="0" marL="0">
              <a:buNone/>
            </a:pPr>
            <a:r>
              <a:rPr lang="en-US" sz="3200" b="1" dirty="0">
                <a:solidFill>
                  <a:schemeClr val="accent1"/>
                </a:solidFill>
              </a:rPr>
              <a:t>S/1,709</a:t>
            </a:r>
            <a:endParaRPr lang="en-US" sz="3200" dirty="0"/>
          </a:p>
        </p:txBody>
      </p:sp>
      <p:sp>
        <p:nvSpPr>
          <p:cNvPr id="20" name="Text 18"/>
          <p:cNvSpPr txBox="1"/>
          <p:nvPr/>
        </p:nvSpPr>
        <p:spPr>
          <a:xfrm>
            <a:off x="9144000" y="4654296"/>
            <a:ext cx="2313432" cy="1024128"/>
          </a:xfrm>
          <a:prstGeom prst="rect">
            <a:avLst/>
          </a:prstGeom>
          <a:noFill/>
          <a:ln/>
        </p:spPr>
        <p:txBody>
          <a:bodyPr wrap="square" lIns="0" tIns="0" rIns="0" bIns="0" rtlCol="0" anchor="ctr"/>
          <a:lstStyle/>
          <a:p>
            <a:pPr indent="0" marL="0">
              <a:buNone/>
            </a:pPr>
            <a:r>
              <a:rPr lang="en-US" sz="1400" dirty="0">
                <a:solidFill>
                  <a:schemeClr val="tx1"/>
                </a:solidFill>
              </a:rPr>
              <a:t>gasta al mes un hogar A en educación y salud</a:t>
            </a:r>
            <a:endParaRPr lang="en-US" sz="1400" dirty="0"/>
          </a:p>
          <a:p>
            <a:pPr indent="0" marL="0">
              <a:buNone/>
            </a:pPr>
            <a:r>
              <a:rPr lang="en-US" sz="1100" i="1" dirty="0">
                <a:solidFill>
                  <a:schemeClr val="accent2"/>
                </a:solidFill>
              </a:rPr>
              <a:t>APEIM 2025</a:t>
            </a:r>
            <a:endParaRPr lang="en-US" sz="1400" dirty="0"/>
          </a:p>
        </p:txBody>
      </p:sp>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TRABAJO DE CAMPO 5 · CANAL DE DISTRIBUCIÓN</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El niño prueba en el stand y el padre compra ahí</a:t>
            </a:r>
            <a:endParaRPr lang="en-US" sz="3400" dirty="0"/>
          </a:p>
        </p:txBody>
      </p:sp>
      <p:sp>
        <p:nvSpPr>
          <p:cNvPr id="4" name="Shape 2"/>
          <p:cNvSpPr/>
          <p:nvPr/>
        </p:nvSpPr>
        <p:spPr>
          <a:xfrm>
            <a:off x="1600200" y="2057400"/>
            <a:ext cx="1207008" cy="0"/>
          </a:xfrm>
          <a:prstGeom prst="line">
            <a:avLst/>
          </a:prstGeom>
          <a:noFill/>
          <a:ln w="25400">
            <a:solidFill>
              <a:schemeClr val="accent5"/>
            </a:solidFill>
            <a:prstDash val="dash"/>
            <a:tailEnd type="triangle"/>
          </a:ln>
        </p:spPr>
      </p:sp>
      <p:sp>
        <p:nvSpPr>
          <p:cNvPr id="5" name="Shape 3"/>
          <p:cNvSpPr/>
          <p:nvPr/>
        </p:nvSpPr>
        <p:spPr>
          <a:xfrm>
            <a:off x="548640" y="1600200"/>
            <a:ext cx="914400" cy="914400"/>
          </a:xfrm>
          <a:prstGeom prst="ellipse">
            <a:avLst/>
          </a:prstGeom>
          <a:solidFill>
            <a:schemeClr val="tx2"/>
          </a:solidFill>
          <a:ln w="12700">
            <a:solidFill>
              <a:schemeClr val="tx2"/>
            </a:solidFill>
            <a:prstDash val="solid"/>
          </a:ln>
        </p:spPr>
      </p:sp>
      <p:pic>
        <p:nvPicPr>
          <p:cNvPr id="6" name="Image 0" descr="preencoded.png">    </p:cNvPr>
          <p:cNvPicPr>
            <a:picLocks noChangeAspect="1"/>
          </p:cNvPicPr>
          <p:nvPr/>
        </p:nvPicPr>
        <p:blipFill>
          <a:blip r:embed="rId1"/>
          <a:stretch>
            <a:fillRect/>
          </a:stretch>
        </p:blipFill>
        <p:spPr>
          <a:xfrm>
            <a:off x="749808" y="1801368"/>
            <a:ext cx="512064" cy="512064"/>
          </a:xfrm>
          <a:prstGeom prst="rect">
            <a:avLst/>
          </a:prstGeom>
        </p:spPr>
      </p:pic>
      <p:sp>
        <p:nvSpPr>
          <p:cNvPr id="7" name="Text 4"/>
          <p:cNvSpPr txBox="1"/>
          <p:nvPr/>
        </p:nvSpPr>
        <p:spPr>
          <a:xfrm>
            <a:off x="548640" y="2697480"/>
            <a:ext cx="2075688" cy="365760"/>
          </a:xfrm>
          <a:prstGeom prst="rect">
            <a:avLst/>
          </a:prstGeom>
          <a:noFill/>
          <a:ln/>
        </p:spPr>
        <p:txBody>
          <a:bodyPr wrap="square" lIns="0" tIns="0" rIns="0" bIns="0" rtlCol="0" anchor="t"/>
          <a:lstStyle/>
          <a:p>
            <a:pPr indent="0" marL="0">
              <a:buNone/>
            </a:pPr>
            <a:r>
              <a:rPr lang="en-US" sz="1700" b="1" dirty="0">
                <a:solidFill>
                  <a:schemeClr val="tx2"/>
                </a:solidFill>
              </a:rPr>
              <a:t>1 · Información</a:t>
            </a:r>
            <a:endParaRPr lang="en-US" sz="1700" dirty="0"/>
          </a:p>
        </p:txBody>
      </p:sp>
      <p:sp>
        <p:nvSpPr>
          <p:cNvPr id="8" name="Text 5"/>
          <p:cNvSpPr txBox="1"/>
          <p:nvPr/>
        </p:nvSpPr>
        <p:spPr>
          <a:xfrm>
            <a:off x="548640" y="3108960"/>
            <a:ext cx="1984248" cy="1097280"/>
          </a:xfrm>
          <a:prstGeom prst="rect">
            <a:avLst/>
          </a:prstGeom>
          <a:noFill/>
          <a:ln/>
        </p:spPr>
        <p:txBody>
          <a:bodyPr wrap="square" lIns="0" tIns="0" rIns="0" bIns="0" rtlCol="0" anchor="t"/>
          <a:lstStyle/>
          <a:p>
            <a:pPr indent="0" marL="0">
              <a:buNone/>
            </a:pPr>
            <a:r>
              <a:rPr lang="en-US" sz="1400" dirty="0">
                <a:solidFill>
                  <a:schemeClr val="tx1"/>
                </a:solidFill>
              </a:rPr>
              <a:t>Stand en mall o súper, Instagram y chat del salón</a:t>
            </a:r>
            <a:endParaRPr lang="en-US" sz="1400" dirty="0"/>
          </a:p>
        </p:txBody>
      </p:sp>
      <p:sp>
        <p:nvSpPr>
          <p:cNvPr id="9" name="Shape 6"/>
          <p:cNvSpPr/>
          <p:nvPr/>
        </p:nvSpPr>
        <p:spPr>
          <a:xfrm>
            <a:off x="3858768" y="2057400"/>
            <a:ext cx="1207008" cy="0"/>
          </a:xfrm>
          <a:prstGeom prst="line">
            <a:avLst/>
          </a:prstGeom>
          <a:noFill/>
          <a:ln w="25400">
            <a:solidFill>
              <a:schemeClr val="accent5"/>
            </a:solidFill>
            <a:prstDash val="dash"/>
            <a:tailEnd type="triangle"/>
          </a:ln>
        </p:spPr>
      </p:sp>
      <p:sp>
        <p:nvSpPr>
          <p:cNvPr id="10" name="Shape 7"/>
          <p:cNvSpPr/>
          <p:nvPr/>
        </p:nvSpPr>
        <p:spPr>
          <a:xfrm>
            <a:off x="2807208" y="1600200"/>
            <a:ext cx="914400" cy="914400"/>
          </a:xfrm>
          <a:prstGeom prst="ellipse">
            <a:avLst/>
          </a:prstGeom>
          <a:solidFill>
            <a:schemeClr val="tx2"/>
          </a:solidFill>
          <a:ln w="12700">
            <a:solidFill>
              <a:schemeClr val="tx2"/>
            </a:solidFill>
            <a:prstDash val="solid"/>
          </a:ln>
        </p:spPr>
      </p:sp>
      <p:pic>
        <p:nvPicPr>
          <p:cNvPr id="11" name="Image 1" descr="preencoded.png">    </p:cNvPr>
          <p:cNvPicPr>
            <a:picLocks noChangeAspect="1"/>
          </p:cNvPicPr>
          <p:nvPr/>
        </p:nvPicPr>
        <p:blipFill>
          <a:blip r:embed="rId2"/>
          <a:stretch>
            <a:fillRect/>
          </a:stretch>
        </p:blipFill>
        <p:spPr>
          <a:xfrm>
            <a:off x="3008376" y="1801368"/>
            <a:ext cx="512064" cy="512064"/>
          </a:xfrm>
          <a:prstGeom prst="rect">
            <a:avLst/>
          </a:prstGeom>
        </p:spPr>
      </p:pic>
      <p:sp>
        <p:nvSpPr>
          <p:cNvPr id="12" name="Text 8"/>
          <p:cNvSpPr txBox="1"/>
          <p:nvPr/>
        </p:nvSpPr>
        <p:spPr>
          <a:xfrm>
            <a:off x="2807208" y="2697480"/>
            <a:ext cx="2075688" cy="365760"/>
          </a:xfrm>
          <a:prstGeom prst="rect">
            <a:avLst/>
          </a:prstGeom>
          <a:noFill/>
          <a:ln/>
        </p:spPr>
        <p:txBody>
          <a:bodyPr wrap="square" lIns="0" tIns="0" rIns="0" bIns="0" rtlCol="0" anchor="t"/>
          <a:lstStyle/>
          <a:p>
            <a:pPr indent="0" marL="0">
              <a:buNone/>
            </a:pPr>
            <a:r>
              <a:rPr lang="en-US" sz="1700" b="1" dirty="0">
                <a:solidFill>
                  <a:schemeClr val="tx2"/>
                </a:solidFill>
              </a:rPr>
              <a:t>2 · Evaluación</a:t>
            </a:r>
            <a:endParaRPr lang="en-US" sz="1700" dirty="0"/>
          </a:p>
        </p:txBody>
      </p:sp>
      <p:sp>
        <p:nvSpPr>
          <p:cNvPr id="13" name="Text 9"/>
          <p:cNvSpPr txBox="1"/>
          <p:nvPr/>
        </p:nvSpPr>
        <p:spPr>
          <a:xfrm>
            <a:off x="2807208" y="3108960"/>
            <a:ext cx="1984248" cy="1097280"/>
          </a:xfrm>
          <a:prstGeom prst="rect">
            <a:avLst/>
          </a:prstGeom>
          <a:noFill/>
          <a:ln/>
        </p:spPr>
        <p:txBody>
          <a:bodyPr wrap="square" lIns="0" tIns="0" rIns="0" bIns="0" rtlCol="0" anchor="t"/>
          <a:lstStyle/>
          <a:p>
            <a:pPr indent="0" marL="0">
              <a:buNone/>
            </a:pPr>
            <a:r>
              <a:rPr lang="en-US" sz="1400" dirty="0">
                <a:solidFill>
                  <a:schemeClr val="tx1"/>
                </a:solidFill>
              </a:rPr>
              <a:t>Degustación gratis: el niño prueba delante del padre</a:t>
            </a:r>
            <a:endParaRPr lang="en-US" sz="1400" dirty="0"/>
          </a:p>
        </p:txBody>
      </p:sp>
      <p:sp>
        <p:nvSpPr>
          <p:cNvPr id="14" name="Shape 10"/>
          <p:cNvSpPr/>
          <p:nvPr/>
        </p:nvSpPr>
        <p:spPr>
          <a:xfrm>
            <a:off x="6117336" y="2057400"/>
            <a:ext cx="1207008" cy="0"/>
          </a:xfrm>
          <a:prstGeom prst="line">
            <a:avLst/>
          </a:prstGeom>
          <a:noFill/>
          <a:ln w="25400">
            <a:solidFill>
              <a:schemeClr val="accent5"/>
            </a:solidFill>
            <a:prstDash val="dash"/>
            <a:tailEnd type="triangle"/>
          </a:ln>
        </p:spPr>
      </p:sp>
      <p:sp>
        <p:nvSpPr>
          <p:cNvPr id="15" name="Shape 11"/>
          <p:cNvSpPr/>
          <p:nvPr/>
        </p:nvSpPr>
        <p:spPr>
          <a:xfrm>
            <a:off x="5065776" y="1600200"/>
            <a:ext cx="914400" cy="914400"/>
          </a:xfrm>
          <a:prstGeom prst="ellipse">
            <a:avLst/>
          </a:prstGeom>
          <a:solidFill>
            <a:schemeClr val="accent1"/>
          </a:solidFill>
          <a:ln w="12700">
            <a:solidFill>
              <a:schemeClr val="accent1"/>
            </a:solidFill>
            <a:prstDash val="solid"/>
          </a:ln>
        </p:spPr>
      </p:sp>
      <p:pic>
        <p:nvPicPr>
          <p:cNvPr id="16" name="Image 2" descr="preencoded.png">    </p:cNvPr>
          <p:cNvPicPr>
            <a:picLocks noChangeAspect="1"/>
          </p:cNvPicPr>
          <p:nvPr/>
        </p:nvPicPr>
        <p:blipFill>
          <a:blip r:embed="rId3"/>
          <a:stretch>
            <a:fillRect/>
          </a:stretch>
        </p:blipFill>
        <p:spPr>
          <a:xfrm>
            <a:off x="5266944" y="1801368"/>
            <a:ext cx="512064" cy="512064"/>
          </a:xfrm>
          <a:prstGeom prst="rect">
            <a:avLst/>
          </a:prstGeom>
        </p:spPr>
      </p:pic>
      <p:sp>
        <p:nvSpPr>
          <p:cNvPr id="17" name="Text 12"/>
          <p:cNvSpPr txBox="1"/>
          <p:nvPr/>
        </p:nvSpPr>
        <p:spPr>
          <a:xfrm>
            <a:off x="5065776" y="2697480"/>
            <a:ext cx="2075688" cy="365760"/>
          </a:xfrm>
          <a:prstGeom prst="rect">
            <a:avLst/>
          </a:prstGeom>
          <a:noFill/>
          <a:ln/>
        </p:spPr>
        <p:txBody>
          <a:bodyPr wrap="square" lIns="0" tIns="0" rIns="0" bIns="0" rtlCol="0" anchor="t"/>
          <a:lstStyle/>
          <a:p>
            <a:pPr indent="0" marL="0">
              <a:buNone/>
            </a:pPr>
            <a:r>
              <a:rPr lang="en-US" sz="1700" b="1" dirty="0">
                <a:solidFill>
                  <a:schemeClr val="tx2"/>
                </a:solidFill>
              </a:rPr>
              <a:t>3 · Compra</a:t>
            </a:r>
            <a:endParaRPr lang="en-US" sz="1700" dirty="0"/>
          </a:p>
        </p:txBody>
      </p:sp>
      <p:sp>
        <p:nvSpPr>
          <p:cNvPr id="18" name="Text 13"/>
          <p:cNvSpPr txBox="1"/>
          <p:nvPr/>
        </p:nvSpPr>
        <p:spPr>
          <a:xfrm>
            <a:off x="5065776" y="3108960"/>
            <a:ext cx="1984248" cy="1097280"/>
          </a:xfrm>
          <a:prstGeom prst="rect">
            <a:avLst/>
          </a:prstGeom>
          <a:noFill/>
          <a:ln/>
        </p:spPr>
        <p:txBody>
          <a:bodyPr wrap="square" lIns="0" tIns="0" rIns="0" bIns="0" rtlCol="0" anchor="t"/>
          <a:lstStyle/>
          <a:p>
            <a:pPr indent="0" marL="0">
              <a:buNone/>
            </a:pPr>
            <a:r>
              <a:rPr lang="en-US" sz="1400" dirty="0">
                <a:solidFill>
                  <a:schemeClr val="tx1"/>
                </a:solidFill>
              </a:rPr>
              <a:t>Unidad a S/5.50 o pack a S/26, con Yape o tarjeta</a:t>
            </a:r>
            <a:endParaRPr lang="en-US" sz="1400" dirty="0"/>
          </a:p>
        </p:txBody>
      </p:sp>
      <p:sp>
        <p:nvSpPr>
          <p:cNvPr id="19" name="Shape 14"/>
          <p:cNvSpPr/>
          <p:nvPr/>
        </p:nvSpPr>
        <p:spPr>
          <a:xfrm>
            <a:off x="8375904" y="2057400"/>
            <a:ext cx="1207008" cy="0"/>
          </a:xfrm>
          <a:prstGeom prst="line">
            <a:avLst/>
          </a:prstGeom>
          <a:noFill/>
          <a:ln w="25400">
            <a:solidFill>
              <a:schemeClr val="accent5"/>
            </a:solidFill>
            <a:prstDash val="dash"/>
            <a:tailEnd type="triangle"/>
          </a:ln>
        </p:spPr>
      </p:sp>
      <p:sp>
        <p:nvSpPr>
          <p:cNvPr id="20" name="Shape 15"/>
          <p:cNvSpPr/>
          <p:nvPr/>
        </p:nvSpPr>
        <p:spPr>
          <a:xfrm>
            <a:off x="7324344" y="1600200"/>
            <a:ext cx="914400" cy="914400"/>
          </a:xfrm>
          <a:prstGeom prst="ellipse">
            <a:avLst/>
          </a:prstGeom>
          <a:solidFill>
            <a:schemeClr val="tx2"/>
          </a:solidFill>
          <a:ln w="12700">
            <a:solidFill>
              <a:schemeClr val="tx2"/>
            </a:solidFill>
            <a:prstDash val="solid"/>
          </a:ln>
        </p:spPr>
      </p:sp>
      <p:pic>
        <p:nvPicPr>
          <p:cNvPr id="21" name="Image 3" descr="preencoded.png">    </p:cNvPr>
          <p:cNvPicPr>
            <a:picLocks noChangeAspect="1"/>
          </p:cNvPicPr>
          <p:nvPr/>
        </p:nvPicPr>
        <p:blipFill>
          <a:blip r:embed="rId4"/>
          <a:stretch>
            <a:fillRect/>
          </a:stretch>
        </p:blipFill>
        <p:spPr>
          <a:xfrm>
            <a:off x="7525512" y="1801368"/>
            <a:ext cx="512064" cy="512064"/>
          </a:xfrm>
          <a:prstGeom prst="rect">
            <a:avLst/>
          </a:prstGeom>
        </p:spPr>
      </p:pic>
      <p:sp>
        <p:nvSpPr>
          <p:cNvPr id="22" name="Text 16"/>
          <p:cNvSpPr txBox="1"/>
          <p:nvPr/>
        </p:nvSpPr>
        <p:spPr>
          <a:xfrm>
            <a:off x="7324344" y="2697480"/>
            <a:ext cx="2075688" cy="365760"/>
          </a:xfrm>
          <a:prstGeom prst="rect">
            <a:avLst/>
          </a:prstGeom>
          <a:noFill/>
          <a:ln/>
        </p:spPr>
        <p:txBody>
          <a:bodyPr wrap="square" lIns="0" tIns="0" rIns="0" bIns="0" rtlCol="0" anchor="t"/>
          <a:lstStyle/>
          <a:p>
            <a:pPr indent="0" marL="0">
              <a:buNone/>
            </a:pPr>
            <a:r>
              <a:rPr lang="en-US" sz="1700" b="1" dirty="0">
                <a:solidFill>
                  <a:schemeClr val="tx2"/>
                </a:solidFill>
              </a:rPr>
              <a:t>4 · Entrega</a:t>
            </a:r>
            <a:endParaRPr lang="en-US" sz="1700" dirty="0"/>
          </a:p>
        </p:txBody>
      </p:sp>
      <p:sp>
        <p:nvSpPr>
          <p:cNvPr id="23" name="Text 17"/>
          <p:cNvSpPr txBox="1"/>
          <p:nvPr/>
        </p:nvSpPr>
        <p:spPr>
          <a:xfrm>
            <a:off x="7324344" y="3108960"/>
            <a:ext cx="1984248" cy="1097280"/>
          </a:xfrm>
          <a:prstGeom prst="rect">
            <a:avLst/>
          </a:prstGeom>
          <a:noFill/>
          <a:ln/>
        </p:spPr>
        <p:txBody>
          <a:bodyPr wrap="square" lIns="0" tIns="0" rIns="0" bIns="0" rtlCol="0" anchor="t"/>
          <a:lstStyle/>
          <a:p>
            <a:pPr indent="0" marL="0">
              <a:buNone/>
            </a:pPr>
            <a:r>
              <a:rPr lang="en-US" sz="1400" dirty="0">
                <a:solidFill>
                  <a:schemeClr val="tx1"/>
                </a:solidFill>
              </a:rPr>
              <a:t>En el momento; por WhatsApp, delivery gratis desde 2 packs</a:t>
            </a:r>
            <a:endParaRPr lang="en-US" sz="1400" dirty="0"/>
          </a:p>
        </p:txBody>
      </p:sp>
      <p:sp>
        <p:nvSpPr>
          <p:cNvPr id="24" name="Shape 18"/>
          <p:cNvSpPr/>
          <p:nvPr/>
        </p:nvSpPr>
        <p:spPr>
          <a:xfrm>
            <a:off x="9582912" y="1600200"/>
            <a:ext cx="914400" cy="914400"/>
          </a:xfrm>
          <a:prstGeom prst="ellipse">
            <a:avLst/>
          </a:prstGeom>
          <a:solidFill>
            <a:schemeClr val="tx2"/>
          </a:solidFill>
          <a:ln w="12700">
            <a:solidFill>
              <a:schemeClr val="tx2"/>
            </a:solidFill>
            <a:prstDash val="solid"/>
          </a:ln>
        </p:spPr>
      </p:sp>
      <p:pic>
        <p:nvPicPr>
          <p:cNvPr id="25" name="Image 4" descr="preencoded.png">    </p:cNvPr>
          <p:cNvPicPr>
            <a:picLocks noChangeAspect="1"/>
          </p:cNvPicPr>
          <p:nvPr/>
        </p:nvPicPr>
        <p:blipFill>
          <a:blip r:embed="rId5"/>
          <a:stretch>
            <a:fillRect/>
          </a:stretch>
        </p:blipFill>
        <p:spPr>
          <a:xfrm>
            <a:off x="9784080" y="1801368"/>
            <a:ext cx="512064" cy="512064"/>
          </a:xfrm>
          <a:prstGeom prst="rect">
            <a:avLst/>
          </a:prstGeom>
        </p:spPr>
      </p:pic>
      <p:sp>
        <p:nvSpPr>
          <p:cNvPr id="26" name="Text 19"/>
          <p:cNvSpPr txBox="1"/>
          <p:nvPr/>
        </p:nvSpPr>
        <p:spPr>
          <a:xfrm>
            <a:off x="9582912" y="2697480"/>
            <a:ext cx="2075688" cy="365760"/>
          </a:xfrm>
          <a:prstGeom prst="rect">
            <a:avLst/>
          </a:prstGeom>
          <a:noFill/>
          <a:ln/>
        </p:spPr>
        <p:txBody>
          <a:bodyPr wrap="square" lIns="0" tIns="0" rIns="0" bIns="0" rtlCol="0" anchor="t"/>
          <a:lstStyle/>
          <a:p>
            <a:pPr indent="0" marL="0">
              <a:buNone/>
            </a:pPr>
            <a:r>
              <a:rPr lang="en-US" sz="1700" b="1" dirty="0">
                <a:solidFill>
                  <a:schemeClr val="tx2"/>
                </a:solidFill>
              </a:rPr>
              <a:t>5 · Posventa</a:t>
            </a:r>
            <a:endParaRPr lang="en-US" sz="1700" dirty="0"/>
          </a:p>
        </p:txBody>
      </p:sp>
      <p:sp>
        <p:nvSpPr>
          <p:cNvPr id="27" name="Text 20"/>
          <p:cNvSpPr txBox="1"/>
          <p:nvPr/>
        </p:nvSpPr>
        <p:spPr>
          <a:xfrm>
            <a:off x="9582912" y="3108960"/>
            <a:ext cx="1984248" cy="1097280"/>
          </a:xfrm>
          <a:prstGeom prst="rect">
            <a:avLst/>
          </a:prstGeom>
          <a:noFill/>
          <a:ln/>
        </p:spPr>
        <p:txBody>
          <a:bodyPr wrap="square" lIns="0" tIns="0" rIns="0" bIns="0" rtlCol="0" anchor="t"/>
          <a:lstStyle/>
          <a:p>
            <a:pPr indent="0" marL="0">
              <a:buNone/>
            </a:pPr>
            <a:r>
              <a:rPr lang="en-US" sz="1400" dirty="0">
                <a:solidFill>
                  <a:schemeClr val="tx1"/>
                </a:solidFill>
              </a:rPr>
              <a:t>Recordatorio de recompra por WhatsApp y QR del lote</a:t>
            </a:r>
            <a:endParaRPr lang="en-US" sz="1400" dirty="0"/>
          </a:p>
        </p:txBody>
      </p:sp>
      <p:sp>
        <p:nvSpPr>
          <p:cNvPr id="28" name="Shape 21"/>
          <p:cNvSpPr/>
          <p:nvPr/>
        </p:nvSpPr>
        <p:spPr>
          <a:xfrm>
            <a:off x="548640" y="3931920"/>
            <a:ext cx="6949440" cy="1508760"/>
          </a:xfrm>
          <a:prstGeom prst="roundRect">
            <a:avLst>
              <a:gd name="adj" fmla="val 7273"/>
            </a:avLst>
          </a:prstGeom>
          <a:solidFill>
            <a:schemeClr val="tx2"/>
          </a:solidFill>
          <a:ln w="12700">
            <a:solidFill>
              <a:schemeClr val="tx2"/>
            </a:solidFill>
            <a:prstDash val="solid"/>
          </a:ln>
        </p:spPr>
      </p:sp>
      <p:sp>
        <p:nvSpPr>
          <p:cNvPr id="29" name="Text 22"/>
          <p:cNvSpPr txBox="1"/>
          <p:nvPr/>
        </p:nvSpPr>
        <p:spPr>
          <a:xfrm>
            <a:off x="868680" y="4069080"/>
            <a:ext cx="6400800" cy="1280160"/>
          </a:xfrm>
          <a:prstGeom prst="rect">
            <a:avLst/>
          </a:prstGeom>
          <a:noFill/>
          <a:ln/>
        </p:spPr>
        <p:txBody>
          <a:bodyPr wrap="square" lIns="0" tIns="0" rIns="0" bIns="0" rtlCol="0" anchor="ctr"/>
          <a:lstStyle/>
          <a:p>
            <a:pPr indent="0" marL="0">
              <a:buNone/>
            </a:pPr>
            <a:r>
              <a:rPr lang="en-US" sz="2000" b="1" dirty="0">
                <a:solidFill>
                  <a:schemeClr val="accent3"/>
                </a:solidFill>
              </a:rPr>
              <a:t>Canal directo · 75.6 %</a:t>
            </a:r>
            <a:endParaRPr lang="en-US" sz="1400" dirty="0"/>
          </a:p>
          <a:p>
            <a:pPr indent="0" marL="0">
              <a:buNone/>
            </a:pPr>
            <a:r>
              <a:rPr lang="en-US" sz="1500" dirty="0">
                <a:solidFill>
                  <a:schemeClr val="bg1"/>
                </a:solidFill>
              </a:rPr>
              <a:t>Stands, carrito, ferias y WhatsApp: más esfuerzo, más control. El niño prueba y el padre decide.</a:t>
            </a:r>
            <a:endParaRPr lang="en-US" sz="1400" dirty="0"/>
          </a:p>
        </p:txBody>
      </p:sp>
      <p:sp>
        <p:nvSpPr>
          <p:cNvPr id="30" name="Shape 23"/>
          <p:cNvSpPr/>
          <p:nvPr/>
        </p:nvSpPr>
        <p:spPr>
          <a:xfrm>
            <a:off x="7726680" y="3931920"/>
            <a:ext cx="3913632" cy="1508760"/>
          </a:xfrm>
          <a:prstGeom prst="roundRect">
            <a:avLst>
              <a:gd name="adj" fmla="val 7273"/>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31" name="Text 24"/>
          <p:cNvSpPr txBox="1"/>
          <p:nvPr/>
        </p:nvSpPr>
        <p:spPr>
          <a:xfrm>
            <a:off x="7955280" y="4069080"/>
            <a:ext cx="3520440" cy="1280160"/>
          </a:xfrm>
          <a:prstGeom prst="rect">
            <a:avLst/>
          </a:prstGeom>
          <a:noFill/>
          <a:ln/>
        </p:spPr>
        <p:txBody>
          <a:bodyPr wrap="square" lIns="0" tIns="0" rIns="0" bIns="0" rtlCol="0" anchor="ctr"/>
          <a:lstStyle/>
          <a:p>
            <a:pPr indent="0" marL="0">
              <a:buNone/>
            </a:pPr>
            <a:r>
              <a:rPr lang="en-US" sz="2000" b="1" dirty="0">
                <a:solidFill>
                  <a:schemeClr val="tx2"/>
                </a:solidFill>
              </a:rPr>
              <a:t>Canal indirecto · 24.4 %</a:t>
            </a:r>
            <a:endParaRPr lang="en-US" sz="1400" dirty="0"/>
          </a:p>
          <a:p>
            <a:pPr indent="0" marL="0">
              <a:buNone/>
            </a:pPr>
            <a:r>
              <a:rPr lang="en-US" sz="1500" dirty="0">
                <a:solidFill>
                  <a:schemeClr val="tx1"/>
                </a:solidFill>
              </a:rPr>
              <a:t>Minoristas: quioscos escolares y naturistas, con comisión de 25 a 40 %</a:t>
            </a:r>
            <a:endParaRPr lang="en-US" sz="1400" dirty="0"/>
          </a:p>
        </p:txBody>
      </p:sp>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TRABAJO DE CAMPO 5 · SELECCIÓN DEL CANAL</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Elegimos la venta física en stands y carritos</a:t>
            </a:r>
            <a:endParaRPr lang="en-US" sz="3400" dirty="0"/>
          </a:p>
        </p:txBody>
      </p:sp>
      <p:graphicFrame>
        <p:nvGraphicFramePr>
          <p:cNvPr id="4" name="Chart 0" descr=""/>
          <p:cNvGraphicFramePr/>
          <p:nvPr/>
        </p:nvGraphicFramePr>
        <p:xfrm>
          <a:off x="365760" y="1463040"/>
          <a:ext cx="4846320" cy="4663440"/>
        </p:xfrm>
        <a:graphic xmlns:a="http://schemas.openxmlformats.org/drawingml/2006/main">
          <a:graphicData uri="http://schemas.openxmlformats.org/drawingml/2006/chart">
            <c:chart xmlns:c="http://schemas.openxmlformats.org/drawingml/2006/chart" r:id="rId1"/>
          </a:graphicData>
        </a:graphic>
      </p:graphicFrame>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0" y="1554480"/>
          <a:ext cx="6153912" cy="914400"/>
        </p:xfrm>
        <a:graphic>
          <a:graphicData uri="http://schemas.openxmlformats.org/drawingml/2006/table">
            <a:tbl>
              <a:tblPr/>
              <a:tblGrid>
                <a:gridCol w="2039112"/>
                <a:gridCol w="685800"/>
                <a:gridCol w="685800"/>
                <a:gridCol w="685800"/>
                <a:gridCol w="685800"/>
                <a:gridCol w="685800"/>
                <a:gridCol w="685800"/>
              </a:tblGrid>
              <a:tr h="411480">
                <a:tc>
                  <a:txBody>
                    <a:bodyPr/>
                    <a:lstStyle/>
                    <a:p>
                      <a:pPr indent="0" marL="0">
                        <a:buNone/>
                      </a:pPr>
                      <a:r>
                        <a:rPr lang="en-US" sz="1200" b="1" dirty="0">
                          <a:solidFill>
                            <a:schemeClr val="bg1"/>
                          </a:solidFill>
                        </a:rPr>
                        <a:t>Canal</a:t>
                      </a:r>
                      <a:endParaRPr lang="en-US" sz="12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chemeClr val="tx2"/>
                    </a:solidFill>
                  </a:tcPr>
                </a:tc>
                <a:tc>
                  <a:txBody>
                    <a:bodyPr/>
                    <a:lstStyle/>
                    <a:p>
                      <a:pPr algn="ctr" indent="0" marL="0">
                        <a:buNone/>
                      </a:pPr>
                      <a:r>
                        <a:rPr lang="en-US" sz="1200" b="1" dirty="0">
                          <a:solidFill>
                            <a:schemeClr val="bg1"/>
                          </a:solidFill>
                        </a:rPr>
                        <a:t>Margen</a:t>
                      </a:r>
                      <a:endParaRPr lang="en-US" sz="12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chemeClr val="tx2"/>
                    </a:solidFill>
                  </a:tcPr>
                </a:tc>
                <a:tc>
                  <a:txBody>
                    <a:bodyPr/>
                    <a:lstStyle/>
                    <a:p>
                      <a:pPr algn="ctr" indent="0" marL="0">
                        <a:buNone/>
                      </a:pPr>
                      <a:r>
                        <a:rPr lang="en-US" sz="1200" b="1" dirty="0">
                          <a:solidFill>
                            <a:schemeClr val="bg1"/>
                          </a:solidFill>
                        </a:rPr>
                        <a:t>Control</a:t>
                      </a:r>
                      <a:endParaRPr lang="en-US" sz="12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chemeClr val="tx2"/>
                    </a:solidFill>
                  </a:tcPr>
                </a:tc>
                <a:tc>
                  <a:txBody>
                    <a:bodyPr/>
                    <a:lstStyle/>
                    <a:p>
                      <a:pPr algn="ctr" indent="0" marL="0">
                        <a:buNone/>
                      </a:pPr>
                      <a:r>
                        <a:rPr lang="en-US" sz="1200" b="1" dirty="0">
                          <a:solidFill>
                            <a:schemeClr val="bg1"/>
                          </a:solidFill>
                        </a:rPr>
                        <a:t>Entrada</a:t>
                      </a:r>
                      <a:endParaRPr lang="en-US" sz="12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chemeClr val="tx2"/>
                    </a:solidFill>
                  </a:tcPr>
                </a:tc>
                <a:tc>
                  <a:txBody>
                    <a:bodyPr/>
                    <a:lstStyle/>
                    <a:p>
                      <a:pPr algn="ctr" indent="0" marL="0">
                        <a:buNone/>
                      </a:pPr>
                      <a:r>
                        <a:rPr lang="en-US" sz="1200" b="1" dirty="0">
                          <a:solidFill>
                            <a:schemeClr val="bg1"/>
                          </a:solidFill>
                        </a:rPr>
                        <a:t>Alcance</a:t>
                      </a:r>
                      <a:endParaRPr lang="en-US" sz="12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chemeClr val="tx2"/>
                    </a:solidFill>
                  </a:tcPr>
                </a:tc>
                <a:tc>
                  <a:txBody>
                    <a:bodyPr/>
                    <a:lstStyle/>
                    <a:p>
                      <a:pPr algn="ctr" indent="0" marL="0">
                        <a:buNone/>
                      </a:pPr>
                      <a:r>
                        <a:rPr lang="en-US" sz="1200" b="1" dirty="0">
                          <a:solidFill>
                            <a:schemeClr val="bg1"/>
                          </a:solidFill>
                        </a:rPr>
                        <a:t>Prueba</a:t>
                      </a:r>
                      <a:endParaRPr lang="en-US" sz="12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chemeClr val="tx2"/>
                    </a:solidFill>
                  </a:tcPr>
                </a:tc>
                <a:tc>
                  <a:txBody>
                    <a:bodyPr/>
                    <a:lstStyle/>
                    <a:p>
                      <a:pPr algn="ctr" indent="0" marL="0">
                        <a:buNone/>
                      </a:pPr>
                      <a:r>
                        <a:rPr lang="en-US" sz="1200" b="1" dirty="0">
                          <a:solidFill>
                            <a:schemeClr val="bg1"/>
                          </a:solidFill>
                        </a:rPr>
                        <a:t>Total</a:t>
                      </a:r>
                      <a:endParaRPr lang="en-US" sz="12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chemeClr val="tx2"/>
                    </a:solidFill>
                  </a:tcPr>
                </a:tc>
              </a:tr>
              <a:tr h="411480">
                <a:tc>
                  <a:txBody>
                    <a:bodyPr/>
                    <a:lstStyle/>
                    <a:p>
                      <a:pPr indent="0" marL="0">
                        <a:buNone/>
                      </a:pPr>
                      <a:r>
                        <a:rPr lang="en-US" sz="1300" b="1" dirty="0">
                          <a:solidFill>
                            <a:schemeClr val="tx1"/>
                          </a:solidFill>
                        </a:rPr>
                        <a:t>Stands y carritos</a:t>
                      </a:r>
                      <a:endParaRPr lang="en-US" sz="13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6DCD5"/>
                    </a:solidFill>
                  </a:tcPr>
                </a:tc>
                <a:tc>
                  <a:txBody>
                    <a:bodyPr/>
                    <a:lstStyle/>
                    <a:p>
                      <a:pPr algn="ctr" indent="0" marL="0">
                        <a:buNone/>
                      </a:pPr>
                      <a:r>
                        <a:rPr lang="en-US" sz="1400" dirty="0">
                          <a:solidFill>
                            <a:schemeClr val="tx1"/>
                          </a:solidFill>
                        </a:rPr>
                        <a:t>5</a:t>
                      </a:r>
                      <a:endParaRPr lang="en-US" sz="14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6DCD5"/>
                    </a:solidFill>
                  </a:tcPr>
                </a:tc>
                <a:tc>
                  <a:txBody>
                    <a:bodyPr/>
                    <a:lstStyle/>
                    <a:p>
                      <a:pPr algn="ctr" indent="0" marL="0">
                        <a:buNone/>
                      </a:pPr>
                      <a:r>
                        <a:rPr lang="en-US" sz="1400" dirty="0">
                          <a:solidFill>
                            <a:schemeClr val="tx1"/>
                          </a:solidFill>
                        </a:rPr>
                        <a:t>5</a:t>
                      </a:r>
                      <a:endParaRPr lang="en-US" sz="14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6DCD5"/>
                    </a:solidFill>
                  </a:tcPr>
                </a:tc>
                <a:tc>
                  <a:txBody>
                    <a:bodyPr/>
                    <a:lstStyle/>
                    <a:p>
                      <a:pPr algn="ctr" indent="0" marL="0">
                        <a:buNone/>
                      </a:pPr>
                      <a:r>
                        <a:rPr lang="en-US" sz="1400" dirty="0">
                          <a:solidFill>
                            <a:schemeClr val="tx1"/>
                          </a:solidFill>
                        </a:rPr>
                        <a:t>3</a:t>
                      </a:r>
                      <a:endParaRPr lang="en-US" sz="14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6DCD5"/>
                    </a:solidFill>
                  </a:tcPr>
                </a:tc>
                <a:tc>
                  <a:txBody>
                    <a:bodyPr/>
                    <a:lstStyle/>
                    <a:p>
                      <a:pPr algn="ctr" indent="0" marL="0">
                        <a:buNone/>
                      </a:pPr>
                      <a:r>
                        <a:rPr lang="en-US" sz="1400" dirty="0">
                          <a:solidFill>
                            <a:schemeClr val="tx1"/>
                          </a:solidFill>
                        </a:rPr>
                        <a:t>5</a:t>
                      </a:r>
                      <a:endParaRPr lang="en-US" sz="14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6DCD5"/>
                    </a:solidFill>
                  </a:tcPr>
                </a:tc>
                <a:tc>
                  <a:txBody>
                    <a:bodyPr/>
                    <a:lstStyle/>
                    <a:p>
                      <a:pPr algn="ctr" indent="0" marL="0">
                        <a:buNone/>
                      </a:pPr>
                      <a:r>
                        <a:rPr lang="en-US" sz="1400" dirty="0">
                          <a:solidFill>
                            <a:schemeClr val="tx1"/>
                          </a:solidFill>
                        </a:rPr>
                        <a:t>5</a:t>
                      </a:r>
                      <a:endParaRPr lang="en-US" sz="14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6DCD5"/>
                    </a:solidFill>
                  </a:tcPr>
                </a:tc>
                <a:tc>
                  <a:txBody>
                    <a:bodyPr/>
                    <a:lstStyle/>
                    <a:p>
                      <a:pPr algn="ctr" indent="0" marL="0">
                        <a:buNone/>
                      </a:pPr>
                      <a:r>
                        <a:rPr lang="en-US" sz="1500" b="1" dirty="0">
                          <a:solidFill>
                            <a:schemeClr val="accent1"/>
                          </a:solidFill>
                        </a:rPr>
                        <a:t>23</a:t>
                      </a:r>
                      <a:endParaRPr lang="en-US" sz="15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6DCD5"/>
                    </a:solidFill>
                  </a:tcPr>
                </a:tc>
              </a:tr>
              <a:tr h="411480">
                <a:tc>
                  <a:txBody>
                    <a:bodyPr/>
                    <a:lstStyle/>
                    <a:p>
                      <a:pPr indent="0" marL="0">
                        <a:buNone/>
                      </a:pPr>
                      <a:r>
                        <a:rPr lang="en-US" sz="1300" dirty="0">
                          <a:solidFill>
                            <a:schemeClr val="tx1"/>
                          </a:solidFill>
                        </a:rPr>
                        <a:t>Ferias y eventos</a:t>
                      </a:r>
                      <a:endParaRPr lang="en-US" sz="13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400" dirty="0">
                          <a:solidFill>
                            <a:schemeClr val="tx1"/>
                          </a:solidFill>
                        </a:rPr>
                        <a:t>5</a:t>
                      </a:r>
                      <a:endParaRPr lang="en-US" sz="14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400" dirty="0">
                          <a:solidFill>
                            <a:schemeClr val="tx1"/>
                          </a:solidFill>
                        </a:rPr>
                        <a:t>4</a:t>
                      </a:r>
                      <a:endParaRPr lang="en-US" sz="14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400" dirty="0">
                          <a:solidFill>
                            <a:schemeClr val="tx1"/>
                          </a:solidFill>
                        </a:rPr>
                        <a:t>3</a:t>
                      </a:r>
                      <a:endParaRPr lang="en-US" sz="14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400" dirty="0">
                          <a:solidFill>
                            <a:schemeClr val="tx1"/>
                          </a:solidFill>
                        </a:rPr>
                        <a:t>4</a:t>
                      </a:r>
                      <a:endParaRPr lang="en-US" sz="14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400" dirty="0">
                          <a:solidFill>
                            <a:schemeClr val="tx1"/>
                          </a:solidFill>
                        </a:rPr>
                        <a:t>5</a:t>
                      </a:r>
                      <a:endParaRPr lang="en-US" sz="14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500" b="1" dirty="0">
                          <a:solidFill>
                            <a:schemeClr val="tx1"/>
                          </a:solidFill>
                        </a:rPr>
                        <a:t>21</a:t>
                      </a:r>
                      <a:endParaRPr lang="en-US" sz="15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r>
              <a:tr h="411480">
                <a:tc>
                  <a:txBody>
                    <a:bodyPr/>
                    <a:lstStyle/>
                    <a:p>
                      <a:pPr indent="0" marL="0">
                        <a:buNone/>
                      </a:pPr>
                      <a:r>
                        <a:rPr lang="en-US" sz="1300" dirty="0">
                          <a:solidFill>
                            <a:schemeClr val="tx1"/>
                          </a:solidFill>
                        </a:rPr>
                        <a:t>WhatsApp (recompra)</a:t>
                      </a:r>
                      <a:endParaRPr lang="en-US" sz="13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400" dirty="0">
                          <a:solidFill>
                            <a:schemeClr val="tx1"/>
                          </a:solidFill>
                        </a:rPr>
                        <a:t>3</a:t>
                      </a:r>
                      <a:endParaRPr lang="en-US" sz="14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400" dirty="0">
                          <a:solidFill>
                            <a:schemeClr val="tx1"/>
                          </a:solidFill>
                        </a:rPr>
                        <a:t>5</a:t>
                      </a:r>
                      <a:endParaRPr lang="en-US" sz="14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400" dirty="0">
                          <a:solidFill>
                            <a:schemeClr val="tx1"/>
                          </a:solidFill>
                        </a:rPr>
                        <a:t>5</a:t>
                      </a:r>
                      <a:endParaRPr lang="en-US" sz="14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400" dirty="0">
                          <a:solidFill>
                            <a:schemeClr val="tx1"/>
                          </a:solidFill>
                        </a:rPr>
                        <a:t>3</a:t>
                      </a:r>
                      <a:endParaRPr lang="en-US" sz="14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400" dirty="0">
                          <a:solidFill>
                            <a:schemeClr val="tx1"/>
                          </a:solidFill>
                        </a:rPr>
                        <a:t>1</a:t>
                      </a:r>
                      <a:endParaRPr lang="en-US" sz="14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500" b="1" dirty="0">
                          <a:solidFill>
                            <a:schemeClr val="tx1"/>
                          </a:solidFill>
                        </a:rPr>
                        <a:t>17</a:t>
                      </a:r>
                      <a:endParaRPr lang="en-US" sz="15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r>
              <a:tr h="411480">
                <a:tc>
                  <a:txBody>
                    <a:bodyPr/>
                    <a:lstStyle/>
                    <a:p>
                      <a:pPr indent="0" marL="0">
                        <a:buNone/>
                      </a:pPr>
                      <a:r>
                        <a:rPr lang="en-US" sz="1300" dirty="0">
                          <a:solidFill>
                            <a:schemeClr val="tx1"/>
                          </a:solidFill>
                        </a:rPr>
                        <a:t>Quioscos escolares</a:t>
                      </a:r>
                      <a:endParaRPr lang="en-US" sz="13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400" dirty="0">
                          <a:solidFill>
                            <a:schemeClr val="tx1"/>
                          </a:solidFill>
                        </a:rPr>
                        <a:t>3</a:t>
                      </a:r>
                      <a:endParaRPr lang="en-US" sz="14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400" dirty="0">
                          <a:solidFill>
                            <a:schemeClr val="tx1"/>
                          </a:solidFill>
                        </a:rPr>
                        <a:t>3</a:t>
                      </a:r>
                      <a:endParaRPr lang="en-US" sz="14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400" dirty="0">
                          <a:solidFill>
                            <a:schemeClr val="tx1"/>
                          </a:solidFill>
                        </a:rPr>
                        <a:t>4</a:t>
                      </a:r>
                      <a:endParaRPr lang="en-US" sz="14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400" dirty="0">
                          <a:solidFill>
                            <a:schemeClr val="tx1"/>
                          </a:solidFill>
                        </a:rPr>
                        <a:t>4</a:t>
                      </a:r>
                      <a:endParaRPr lang="en-US" sz="14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400" dirty="0">
                          <a:solidFill>
                            <a:schemeClr val="tx1"/>
                          </a:solidFill>
                        </a:rPr>
                        <a:t>3</a:t>
                      </a:r>
                      <a:endParaRPr lang="en-US" sz="14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500" b="1" dirty="0">
                          <a:solidFill>
                            <a:schemeClr val="tx1"/>
                          </a:solidFill>
                        </a:rPr>
                        <a:t>17</a:t>
                      </a:r>
                      <a:endParaRPr lang="en-US" sz="15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r>
              <a:tr h="411480">
                <a:tc>
                  <a:txBody>
                    <a:bodyPr/>
                    <a:lstStyle/>
                    <a:p>
                      <a:pPr indent="0" marL="0">
                        <a:buNone/>
                      </a:pPr>
                      <a:r>
                        <a:rPr lang="en-US" sz="1300" dirty="0">
                          <a:solidFill>
                            <a:schemeClr val="tx1"/>
                          </a:solidFill>
                        </a:rPr>
                        <a:t>Tiendas naturistas</a:t>
                      </a:r>
                      <a:endParaRPr lang="en-US" sz="13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400" dirty="0">
                          <a:solidFill>
                            <a:schemeClr val="tx1"/>
                          </a:solidFill>
                        </a:rPr>
                        <a:t>2</a:t>
                      </a:r>
                      <a:endParaRPr lang="en-US" sz="14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400" dirty="0">
                          <a:solidFill>
                            <a:schemeClr val="tx1"/>
                          </a:solidFill>
                        </a:rPr>
                        <a:t>2</a:t>
                      </a:r>
                      <a:endParaRPr lang="en-US" sz="14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400" dirty="0">
                          <a:solidFill>
                            <a:schemeClr val="tx1"/>
                          </a:solidFill>
                        </a:rPr>
                        <a:t>4</a:t>
                      </a:r>
                      <a:endParaRPr lang="en-US" sz="14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400" dirty="0">
                          <a:solidFill>
                            <a:schemeClr val="tx1"/>
                          </a:solidFill>
                        </a:rPr>
                        <a:t>3</a:t>
                      </a:r>
                      <a:endParaRPr lang="en-US" sz="14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400" dirty="0">
                          <a:solidFill>
                            <a:schemeClr val="tx1"/>
                          </a:solidFill>
                        </a:rPr>
                        <a:t>2</a:t>
                      </a:r>
                      <a:endParaRPr lang="en-US" sz="14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500" b="1" dirty="0">
                          <a:solidFill>
                            <a:schemeClr val="tx1"/>
                          </a:solidFill>
                        </a:rPr>
                        <a:t>13</a:t>
                      </a:r>
                      <a:endParaRPr lang="en-US" sz="15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r>
              <a:tr h="411480">
                <a:tc>
                  <a:txBody>
                    <a:bodyPr/>
                    <a:lstStyle/>
                    <a:p>
                      <a:pPr indent="0" marL="0">
                        <a:buNone/>
                      </a:pPr>
                      <a:r>
                        <a:rPr lang="en-US" sz="1300" dirty="0">
                          <a:solidFill>
                            <a:schemeClr val="tx1"/>
                          </a:solidFill>
                        </a:rPr>
                        <a:t>Góndola de súper (año 2)</a:t>
                      </a:r>
                      <a:endParaRPr lang="en-US" sz="13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400" dirty="0">
                          <a:solidFill>
                            <a:schemeClr val="tx1"/>
                          </a:solidFill>
                        </a:rPr>
                        <a:t>1</a:t>
                      </a:r>
                      <a:endParaRPr lang="en-US" sz="14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400" dirty="0">
                          <a:solidFill>
                            <a:schemeClr val="tx1"/>
                          </a:solidFill>
                        </a:rPr>
                        <a:t>1</a:t>
                      </a:r>
                      <a:endParaRPr lang="en-US" sz="14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400" dirty="0">
                          <a:solidFill>
                            <a:schemeClr val="tx1"/>
                          </a:solidFill>
                        </a:rPr>
                        <a:t>1</a:t>
                      </a:r>
                      <a:endParaRPr lang="en-US" sz="14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400" dirty="0">
                          <a:solidFill>
                            <a:schemeClr val="tx1"/>
                          </a:solidFill>
                        </a:rPr>
                        <a:t>4</a:t>
                      </a:r>
                      <a:endParaRPr lang="en-US" sz="14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400" dirty="0">
                          <a:solidFill>
                            <a:schemeClr val="tx1"/>
                          </a:solidFill>
                        </a:rPr>
                        <a:t>1</a:t>
                      </a:r>
                      <a:endParaRPr lang="en-US" sz="14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500" b="1" dirty="0">
                          <a:solidFill>
                            <a:schemeClr val="tx1"/>
                          </a:solidFill>
                        </a:rPr>
                        <a:t>8</a:t>
                      </a:r>
                      <a:endParaRPr lang="en-US" sz="15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r>
            </a:tbl>
          </a:graphicData>
        </a:graphic>
      </p:graphicFrame>
      <p:sp>
        <p:nvSpPr>
          <p:cNvPr id="6" name="Text 2"/>
          <p:cNvSpPr txBox="1"/>
          <p:nvPr/>
        </p:nvSpPr>
        <p:spPr>
          <a:xfrm>
            <a:off x="5486400" y="4498848"/>
            <a:ext cx="6153912" cy="274320"/>
          </a:xfrm>
          <a:prstGeom prst="rect">
            <a:avLst/>
          </a:prstGeom>
          <a:noFill/>
          <a:ln/>
        </p:spPr>
        <p:txBody>
          <a:bodyPr wrap="square" lIns="0" tIns="0" rIns="0" bIns="0" rtlCol="0" anchor="t"/>
          <a:lstStyle/>
          <a:p>
            <a:pPr indent="0" marL="0">
              <a:buNone/>
            </a:pPr>
            <a:r>
              <a:rPr lang="en-US" sz="1100" i="1" dirty="0">
                <a:solidFill>
                  <a:schemeClr val="accent2"/>
                </a:solidFill>
              </a:rPr>
              <a:t>Puntaje del equipo, de 1 a 5. Prueba = el niño prueba delante del padre.</a:t>
            </a:r>
            <a:endParaRPr lang="en-US" sz="1100" dirty="0"/>
          </a:p>
        </p:txBody>
      </p:sp>
      <p:sp>
        <p:nvSpPr>
          <p:cNvPr id="7" name="Shape 3"/>
          <p:cNvSpPr/>
          <p:nvPr/>
        </p:nvSpPr>
        <p:spPr>
          <a:xfrm>
            <a:off x="5486400" y="4846320"/>
            <a:ext cx="6153912" cy="1280160"/>
          </a:xfrm>
          <a:prstGeom prst="roundRect">
            <a:avLst>
              <a:gd name="adj" fmla="val 8571"/>
            </a:avLst>
          </a:prstGeom>
          <a:solidFill>
            <a:schemeClr val="accent1"/>
          </a:solidFill>
          <a:ln w="12700">
            <a:solidFill>
              <a:schemeClr val="accent1"/>
            </a:solidFill>
            <a:prstDash val="solid"/>
          </a:ln>
          <a:effectLst>
            <a:outerShdw sx="100000" sy="100000" kx="0" ky="0" algn="bl" rotWithShape="0" blurRad="101600" dist="25400" dir="5400000">
              <a:srgbClr val="7A4A30">
                <a:alpha val="14000"/>
              </a:srgbClr>
            </a:outerShdw>
          </a:effectLst>
        </p:spPr>
      </p:sp>
      <p:sp>
        <p:nvSpPr>
          <p:cNvPr id="8" name="Text 4"/>
          <p:cNvSpPr txBox="1"/>
          <p:nvPr/>
        </p:nvSpPr>
        <p:spPr>
          <a:xfrm>
            <a:off x="5760720" y="4919472"/>
            <a:ext cx="5669280" cy="1143000"/>
          </a:xfrm>
          <a:prstGeom prst="rect">
            <a:avLst/>
          </a:prstGeom>
          <a:noFill/>
          <a:ln/>
        </p:spPr>
        <p:txBody>
          <a:bodyPr wrap="square" lIns="0" tIns="0" rIns="0" bIns="0" rtlCol="0" anchor="ctr"/>
          <a:lstStyle/>
          <a:p>
            <a:pPr indent="0" marL="0">
              <a:buNone/>
            </a:pPr>
            <a:r>
              <a:rPr lang="en-US" sz="2000" b="1" dirty="0">
                <a:solidFill>
                  <a:schemeClr val="bg1"/>
                </a:solidFill>
              </a:rPr>
              <a:t>23 de 25 puntos</a:t>
            </a:r>
            <a:endParaRPr lang="en-US" sz="1400" dirty="0"/>
          </a:p>
          <a:p>
            <a:pPr indent="0" marL="0">
              <a:buNone/>
            </a:pPr>
            <a:r>
              <a:rPr lang="en-US" sz="1400" dirty="0">
                <a:solidFill>
                  <a:schemeClr val="bg1"/>
                </a:solidFill>
              </a:rPr>
              <a:t>Stands para que el niño pruebe y el padre compre; ferias en Navidad y campaña escolar; WhatsApp para volver a comprar.</a:t>
            </a:r>
            <a:endParaRPr lang="en-US" sz="1400" dirty="0"/>
          </a:p>
        </p:txBody>
      </p:sp>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TRABAJO DE CAMPO 5 · PUNTOS DE VENTA</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Vendemos donde está la familia: malls, súper y ferias</a:t>
            </a:r>
            <a:endParaRPr lang="en-US" sz="3400" dirty="0"/>
          </a:p>
        </p:txBody>
      </p:sp>
      <p:sp>
        <p:nvSpPr>
          <p:cNvPr id="4" name="Shape 2"/>
          <p:cNvSpPr/>
          <p:nvPr/>
        </p:nvSpPr>
        <p:spPr>
          <a:xfrm>
            <a:off x="548640" y="1554480"/>
            <a:ext cx="4480560" cy="1005840"/>
          </a:xfrm>
          <a:prstGeom prst="roundRect">
            <a:avLst>
              <a:gd name="adj" fmla="val 10909"/>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5" name="Shape 3"/>
          <p:cNvSpPr/>
          <p:nvPr/>
        </p:nvSpPr>
        <p:spPr>
          <a:xfrm>
            <a:off x="731520" y="1737360"/>
            <a:ext cx="640080" cy="640080"/>
          </a:xfrm>
          <a:prstGeom prst="ellipse">
            <a:avLst/>
          </a:prstGeom>
          <a:solidFill>
            <a:schemeClr val="accent1"/>
          </a:solidFill>
          <a:ln w="12700">
            <a:solidFill>
              <a:schemeClr val="accent1"/>
            </a:solidFill>
            <a:prstDash val="solid"/>
          </a:ln>
        </p:spPr>
      </p:sp>
      <p:pic>
        <p:nvPicPr>
          <p:cNvPr id="6" name="Image 0" descr="preencoded.png">    </p:cNvPr>
          <p:cNvPicPr>
            <a:picLocks noChangeAspect="1"/>
          </p:cNvPicPr>
          <p:nvPr/>
        </p:nvPicPr>
        <p:blipFill>
          <a:blip r:embed="rId1"/>
          <a:stretch>
            <a:fillRect/>
          </a:stretch>
        </p:blipFill>
        <p:spPr>
          <a:xfrm>
            <a:off x="872338" y="1878178"/>
            <a:ext cx="358445" cy="358445"/>
          </a:xfrm>
          <a:prstGeom prst="rect">
            <a:avLst/>
          </a:prstGeom>
        </p:spPr>
      </p:pic>
      <p:sp>
        <p:nvSpPr>
          <p:cNvPr id="7" name="Text 4"/>
          <p:cNvSpPr txBox="1"/>
          <p:nvPr/>
        </p:nvSpPr>
        <p:spPr>
          <a:xfrm>
            <a:off x="1554480" y="1554480"/>
            <a:ext cx="3337560" cy="1005840"/>
          </a:xfrm>
          <a:prstGeom prst="rect">
            <a:avLst/>
          </a:prstGeom>
          <a:noFill/>
          <a:ln/>
        </p:spPr>
        <p:txBody>
          <a:bodyPr wrap="square" lIns="0" tIns="0" rIns="0" bIns="0" rtlCol="0" anchor="ctr"/>
          <a:lstStyle/>
          <a:p>
            <a:pPr indent="0" marL="0">
              <a:buNone/>
            </a:pPr>
            <a:r>
              <a:rPr lang="en-US" sz="1600" b="1" dirty="0">
                <a:solidFill>
                  <a:schemeClr val="tx2"/>
                </a:solidFill>
              </a:rPr>
              <a:t>Malls de Lima Top</a:t>
            </a:r>
            <a:endParaRPr lang="en-US" sz="1400" dirty="0"/>
          </a:p>
          <a:p>
            <a:pPr indent="0" marL="0">
              <a:buNone/>
            </a:pPr>
            <a:r>
              <a:rPr lang="en-US" sz="1300" dirty="0">
                <a:solidFill>
                  <a:schemeClr val="accent2"/>
                </a:solidFill>
              </a:rPr>
              <a:t>Jockey Plaza, Larcomar y La Rambla: programas para emprendedores</a:t>
            </a:r>
            <a:endParaRPr lang="en-US" sz="1400" dirty="0"/>
          </a:p>
        </p:txBody>
      </p:sp>
      <p:sp>
        <p:nvSpPr>
          <p:cNvPr id="8" name="Shape 5"/>
          <p:cNvSpPr/>
          <p:nvPr/>
        </p:nvSpPr>
        <p:spPr>
          <a:xfrm>
            <a:off x="548640" y="2697480"/>
            <a:ext cx="4480560" cy="1005840"/>
          </a:xfrm>
          <a:prstGeom prst="roundRect">
            <a:avLst>
              <a:gd name="adj" fmla="val 10909"/>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9" name="Shape 6"/>
          <p:cNvSpPr/>
          <p:nvPr/>
        </p:nvSpPr>
        <p:spPr>
          <a:xfrm>
            <a:off x="731520" y="2880360"/>
            <a:ext cx="640080" cy="640080"/>
          </a:xfrm>
          <a:prstGeom prst="ellipse">
            <a:avLst/>
          </a:prstGeom>
          <a:solidFill>
            <a:schemeClr val="accent1"/>
          </a:solidFill>
          <a:ln w="12700">
            <a:solidFill>
              <a:schemeClr val="accent1"/>
            </a:solidFill>
            <a:prstDash val="solid"/>
          </a:ln>
        </p:spPr>
      </p:sp>
      <p:pic>
        <p:nvPicPr>
          <p:cNvPr id="10" name="Image 1" descr="preencoded.png">    </p:cNvPr>
          <p:cNvPicPr>
            <a:picLocks noChangeAspect="1"/>
          </p:cNvPicPr>
          <p:nvPr/>
        </p:nvPicPr>
        <p:blipFill>
          <a:blip r:embed="rId2"/>
          <a:stretch>
            <a:fillRect/>
          </a:stretch>
        </p:blipFill>
        <p:spPr>
          <a:xfrm>
            <a:off x="872338" y="3021178"/>
            <a:ext cx="358445" cy="358445"/>
          </a:xfrm>
          <a:prstGeom prst="rect">
            <a:avLst/>
          </a:prstGeom>
        </p:spPr>
      </p:pic>
      <p:sp>
        <p:nvSpPr>
          <p:cNvPr id="11" name="Text 7"/>
          <p:cNvSpPr txBox="1"/>
          <p:nvPr/>
        </p:nvSpPr>
        <p:spPr>
          <a:xfrm>
            <a:off x="1554480" y="2697480"/>
            <a:ext cx="3337560" cy="1005840"/>
          </a:xfrm>
          <a:prstGeom prst="rect">
            <a:avLst/>
          </a:prstGeom>
          <a:noFill/>
          <a:ln/>
        </p:spPr>
        <p:txBody>
          <a:bodyPr wrap="square" lIns="0" tIns="0" rIns="0" bIns="0" rtlCol="0" anchor="ctr"/>
          <a:lstStyle/>
          <a:p>
            <a:pPr indent="0" marL="0">
              <a:buNone/>
            </a:pPr>
            <a:r>
              <a:rPr lang="en-US" sz="1600" b="1" dirty="0">
                <a:solidFill>
                  <a:schemeClr val="tx2"/>
                </a:solidFill>
              </a:rPr>
              <a:t>Supermercados</a:t>
            </a:r>
            <a:endParaRPr lang="en-US" sz="1400" dirty="0"/>
          </a:p>
          <a:p>
            <a:pPr indent="0" marL="0">
              <a:buNone/>
            </a:pPr>
            <a:r>
              <a:rPr lang="en-US" sz="1300" dirty="0">
                <a:solidFill>
                  <a:schemeClr val="accent2"/>
                </a:solidFill>
              </a:rPr>
              <a:t>Carrito en la entrada de Wong o Vivanda, los fines de semana</a:t>
            </a:r>
            <a:endParaRPr lang="en-US" sz="1400" dirty="0"/>
          </a:p>
        </p:txBody>
      </p:sp>
      <p:sp>
        <p:nvSpPr>
          <p:cNvPr id="12" name="Shape 8"/>
          <p:cNvSpPr/>
          <p:nvPr/>
        </p:nvSpPr>
        <p:spPr>
          <a:xfrm>
            <a:off x="548640" y="3840480"/>
            <a:ext cx="4480560" cy="1005840"/>
          </a:xfrm>
          <a:prstGeom prst="roundRect">
            <a:avLst>
              <a:gd name="adj" fmla="val 10909"/>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13" name="Shape 9"/>
          <p:cNvSpPr/>
          <p:nvPr/>
        </p:nvSpPr>
        <p:spPr>
          <a:xfrm>
            <a:off x="731520" y="4023360"/>
            <a:ext cx="640080" cy="640080"/>
          </a:xfrm>
          <a:prstGeom prst="ellipse">
            <a:avLst/>
          </a:prstGeom>
          <a:solidFill>
            <a:schemeClr val="tx2"/>
          </a:solidFill>
          <a:ln w="12700">
            <a:solidFill>
              <a:schemeClr val="tx2"/>
            </a:solidFill>
            <a:prstDash val="solid"/>
          </a:ln>
        </p:spPr>
      </p:sp>
      <p:pic>
        <p:nvPicPr>
          <p:cNvPr id="14" name="Image 2" descr="preencoded.png">    </p:cNvPr>
          <p:cNvPicPr>
            <a:picLocks noChangeAspect="1"/>
          </p:cNvPicPr>
          <p:nvPr/>
        </p:nvPicPr>
        <p:blipFill>
          <a:blip r:embed="rId3"/>
          <a:stretch>
            <a:fillRect/>
          </a:stretch>
        </p:blipFill>
        <p:spPr>
          <a:xfrm>
            <a:off x="872338" y="4164178"/>
            <a:ext cx="358445" cy="358445"/>
          </a:xfrm>
          <a:prstGeom prst="rect">
            <a:avLst/>
          </a:prstGeom>
        </p:spPr>
      </p:pic>
      <p:sp>
        <p:nvSpPr>
          <p:cNvPr id="15" name="Text 10"/>
          <p:cNvSpPr txBox="1"/>
          <p:nvPr/>
        </p:nvSpPr>
        <p:spPr>
          <a:xfrm>
            <a:off x="1554480" y="3840480"/>
            <a:ext cx="3337560" cy="1005840"/>
          </a:xfrm>
          <a:prstGeom prst="rect">
            <a:avLst/>
          </a:prstGeom>
          <a:noFill/>
          <a:ln/>
        </p:spPr>
        <p:txBody>
          <a:bodyPr wrap="square" lIns="0" tIns="0" rIns="0" bIns="0" rtlCol="0" anchor="ctr"/>
          <a:lstStyle/>
          <a:p>
            <a:pPr indent="0" marL="0">
              <a:buNone/>
            </a:pPr>
            <a:r>
              <a:rPr lang="en-US" sz="1600" b="1" dirty="0">
                <a:solidFill>
                  <a:schemeClr val="tx2"/>
                </a:solidFill>
              </a:rPr>
              <a:t>Ferias de temporada</a:t>
            </a:r>
            <a:endParaRPr lang="en-US" sz="1400" dirty="0"/>
          </a:p>
          <a:p>
            <a:pPr indent="0" marL="0">
              <a:buNone/>
            </a:pPr>
            <a:r>
              <a:rPr lang="en-US" sz="1300" dirty="0">
                <a:solidFill>
                  <a:schemeClr val="accent2"/>
                </a:solidFill>
              </a:rPr>
              <a:t>Navidad (Bazar CCL, Navi Fest) y campaña escolar</a:t>
            </a:r>
            <a:endParaRPr lang="en-US" sz="1400" dirty="0"/>
          </a:p>
        </p:txBody>
      </p:sp>
      <p:sp>
        <p:nvSpPr>
          <p:cNvPr id="16" name="Shape 11"/>
          <p:cNvSpPr/>
          <p:nvPr/>
        </p:nvSpPr>
        <p:spPr>
          <a:xfrm>
            <a:off x="548640" y="4983480"/>
            <a:ext cx="4480560" cy="1005840"/>
          </a:xfrm>
          <a:prstGeom prst="roundRect">
            <a:avLst>
              <a:gd name="adj" fmla="val 10909"/>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17" name="Shape 12"/>
          <p:cNvSpPr/>
          <p:nvPr/>
        </p:nvSpPr>
        <p:spPr>
          <a:xfrm>
            <a:off x="731520" y="5166360"/>
            <a:ext cx="640080" cy="640080"/>
          </a:xfrm>
          <a:prstGeom prst="ellipse">
            <a:avLst/>
          </a:prstGeom>
          <a:solidFill>
            <a:schemeClr val="tx2"/>
          </a:solidFill>
          <a:ln w="12700">
            <a:solidFill>
              <a:schemeClr val="tx2"/>
            </a:solidFill>
            <a:prstDash val="solid"/>
          </a:ln>
        </p:spPr>
      </p:sp>
      <p:pic>
        <p:nvPicPr>
          <p:cNvPr id="18" name="Image 3" descr="preencoded.png">    </p:cNvPr>
          <p:cNvPicPr>
            <a:picLocks noChangeAspect="1"/>
          </p:cNvPicPr>
          <p:nvPr/>
        </p:nvPicPr>
        <p:blipFill>
          <a:blip r:embed="rId4"/>
          <a:stretch>
            <a:fillRect/>
          </a:stretch>
        </p:blipFill>
        <p:spPr>
          <a:xfrm>
            <a:off x="872338" y="5307178"/>
            <a:ext cx="358445" cy="358445"/>
          </a:xfrm>
          <a:prstGeom prst="rect">
            <a:avLst/>
          </a:prstGeom>
        </p:spPr>
      </p:pic>
      <p:sp>
        <p:nvSpPr>
          <p:cNvPr id="19" name="Text 13"/>
          <p:cNvSpPr txBox="1"/>
          <p:nvPr/>
        </p:nvSpPr>
        <p:spPr>
          <a:xfrm>
            <a:off x="1554480" y="4983480"/>
            <a:ext cx="3337560" cy="1005840"/>
          </a:xfrm>
          <a:prstGeom prst="rect">
            <a:avLst/>
          </a:prstGeom>
          <a:noFill/>
          <a:ln/>
        </p:spPr>
        <p:txBody>
          <a:bodyPr wrap="square" lIns="0" tIns="0" rIns="0" bIns="0" rtlCol="0" anchor="ctr"/>
          <a:lstStyle/>
          <a:p>
            <a:pPr indent="0" marL="0">
              <a:buNone/>
            </a:pPr>
            <a:r>
              <a:rPr lang="en-US" sz="1600" b="1" dirty="0">
                <a:solidFill>
                  <a:schemeClr val="tx2"/>
                </a:solidFill>
              </a:rPr>
              <a:t>Colegios y comunidad</a:t>
            </a:r>
            <a:endParaRPr lang="en-US" sz="1400" dirty="0"/>
          </a:p>
          <a:p>
            <a:pPr indent="0" marL="0">
              <a:buNone/>
            </a:pPr>
            <a:r>
              <a:rPr lang="en-US" sz="1300" dirty="0">
                <a:solidFill>
                  <a:schemeClr val="accent2"/>
                </a:solidFill>
              </a:rPr>
              <a:t>Kermeses, cumpleaños y quioscos sin octógono</a:t>
            </a:r>
            <a:endParaRPr lang="en-US" sz="1400" dirty="0"/>
          </a:p>
        </p:txBody>
      </p:sp>
      <p:graphicFrame>
        <p:nvGraphicFramePr>
          <p:cNvPr id="20" name="Chart 0" descr=""/>
          <p:cNvGraphicFramePr/>
          <p:nvPr/>
        </p:nvGraphicFramePr>
        <p:xfrm>
          <a:off x="5212080" y="1463040"/>
          <a:ext cx="6583680" cy="4663440"/>
        </p:xfrm>
        <a:graphic xmlns:a="http://schemas.openxmlformats.org/drawingml/2006/main">
          <a:graphicData uri="http://schemas.openxmlformats.org/drawingml/2006/chart">
            <c:chart xmlns:c="http://schemas.openxmlformats.org/drawingml/2006/chart" r:id="rId5"/>
          </a:graphicData>
        </a:graphic>
      </p:graphicFrame>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731520" y="777240"/>
            <a:ext cx="3657600" cy="1737360"/>
          </a:xfrm>
          <a:prstGeom prst="rect">
            <a:avLst/>
          </a:prstGeom>
          <a:noFill/>
          <a:ln/>
        </p:spPr>
        <p:txBody>
          <a:bodyPr wrap="square" lIns="0" tIns="0" rIns="0" bIns="0" rtlCol="0" anchor="t"/>
          <a:lstStyle/>
          <a:p>
            <a:pPr indent="0" marL="0">
              <a:buNone/>
            </a:pPr>
            <a:r>
              <a:rPr lang="en-US" sz="12000" b="1" dirty="0">
                <a:solidFill>
                  <a:schemeClr val="accent1"/>
                </a:solidFill>
              </a:rPr>
              <a:t>06</a:t>
            </a:r>
            <a:endParaRPr lang="en-US" sz="12000" dirty="0"/>
          </a:p>
        </p:txBody>
      </p:sp>
      <p:sp>
        <p:nvSpPr>
          <p:cNvPr id="3" name="Text 0"/>
          <p:cNvSpPr/>
          <p:nvPr>
            <p:ph idx="100" type="title" hasCustomPrompt="1"/>
          </p:nvPr>
        </p:nvSpPr>
        <p:spPr>
          <a:xfrm>
            <a:off x="731520" y="2514600"/>
            <a:ext cx="6949440" cy="1417320"/>
          </a:xfrm>
          <a:prstGeom prst="rect">
            <a:avLst/>
          </a:prstGeom>
          <a:noFill/>
          <a:ln/>
        </p:spPr>
        <p:txBody>
          <a:bodyPr wrap="square" lIns="0" tIns="0" rIns="0" bIns="0" rtlCol="0" anchor="b"/>
          <a:lstStyle/>
          <a:p>
            <a:pPr algn="l" indent="0" marL="0">
              <a:buNone/>
            </a:pPr>
            <a:r>
              <a:rPr lang="en-US" sz="4400" b="1" dirty="0">
                <a:solidFill>
                  <a:schemeClr val="bg2"/>
                </a:solidFill>
              </a:rPr>
              <a:t>Relación con el cliente e ingresos</a:t>
            </a:r>
            <a:endParaRPr lang="en-US" sz="4400" dirty="0"/>
          </a:p>
        </p:txBody>
      </p:sp>
      <p:sp>
        <p:nvSpPr>
          <p:cNvPr id="4" name="Text 0"/>
          <p:cNvSpPr/>
          <p:nvPr>
            <p:ph idx="101" type="body" hasCustomPrompt="1"/>
          </p:nvPr>
        </p:nvSpPr>
        <p:spPr>
          <a:xfrm>
            <a:off x="731520" y="4069080"/>
            <a:ext cx="6949440" cy="1188720"/>
          </a:xfrm>
          <a:prstGeom prst="rect">
            <a:avLst/>
          </a:prstGeom>
          <a:noFill/>
          <a:ln/>
        </p:spPr>
        <p:txBody>
          <a:bodyPr wrap="square" lIns="0" tIns="0" rIns="0" bIns="0" rtlCol="0" anchor="t"/>
          <a:lstStyle/>
          <a:p>
            <a:pPr indent="0" marL="0">
              <a:buNone/>
            </a:pPr>
            <a:r>
              <a:rPr lang="en-US" sz="1800" dirty="0">
                <a:solidFill>
                  <a:schemeClr val="accent5"/>
                </a:solidFill>
              </a:rPr>
              <a:t>Tipos de relación · Captar, fidelizar y crecer · Fuentes de ingreso · Ventas del año 1</a:t>
            </a:r>
            <a:endParaRPr lang="en-US" sz="1800" dirty="0"/>
          </a:p>
        </p:txBody>
      </p:sp>
      <p:sp>
        <p:nvSpPr>
          <p:cNvPr id="5" name="Shape 3"/>
          <p:cNvSpPr/>
          <p:nvPr/>
        </p:nvSpPr>
        <p:spPr>
          <a:xfrm>
            <a:off x="8001000" y="1417320"/>
            <a:ext cx="3840480" cy="3840480"/>
          </a:xfrm>
          <a:prstGeom prst="ellipse">
            <a:avLst/>
          </a:prstGeom>
          <a:solidFill>
            <a:schemeClr val="accent2"/>
          </a:solidFill>
          <a:ln w="12700">
            <a:solidFill>
              <a:schemeClr val="accent2"/>
            </a:solidFill>
            <a:prstDash val="solid"/>
          </a:ln>
        </p:spPr>
      </p:sp>
      <p:pic>
        <p:nvPicPr>
          <p:cNvPr id="6" name="Image 0" descr="preencoded.png">    </p:cNvPr>
          <p:cNvPicPr>
            <a:picLocks noChangeAspect="1"/>
          </p:cNvPicPr>
          <p:nvPr/>
        </p:nvPicPr>
        <p:blipFill>
          <a:blip r:embed="rId1"/>
          <a:stretch>
            <a:fillRect/>
          </a:stretch>
        </p:blipFill>
        <p:spPr>
          <a:xfrm>
            <a:off x="9006840" y="2423160"/>
            <a:ext cx="1828800" cy="182880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TRABAJO DE CAMPO 6 · RELACIÓN CON EL CLIENTE</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Cara a cara en el stand, automática al recomprar</a:t>
            </a:r>
            <a:endParaRPr lang="en-US" sz="3400" dirty="0"/>
          </a:p>
        </p:txBody>
      </p:sp>
      <p:sp>
        <p:nvSpPr>
          <p:cNvPr id="4" name="Shape 2"/>
          <p:cNvSpPr/>
          <p:nvPr/>
        </p:nvSpPr>
        <p:spPr>
          <a:xfrm>
            <a:off x="548640" y="1554480"/>
            <a:ext cx="3566160" cy="2194560"/>
          </a:xfrm>
          <a:prstGeom prst="roundRect">
            <a:avLst>
              <a:gd name="adj" fmla="val 5000"/>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5" name="Shape 3"/>
          <p:cNvSpPr/>
          <p:nvPr/>
        </p:nvSpPr>
        <p:spPr>
          <a:xfrm>
            <a:off x="822960" y="1828800"/>
            <a:ext cx="685800" cy="685800"/>
          </a:xfrm>
          <a:prstGeom prst="ellipse">
            <a:avLst/>
          </a:prstGeom>
          <a:solidFill>
            <a:schemeClr val="accent1"/>
          </a:solidFill>
          <a:ln w="12700">
            <a:solidFill>
              <a:schemeClr val="accent1"/>
            </a:solidFill>
            <a:prstDash val="solid"/>
          </a:ln>
        </p:spPr>
      </p:sp>
      <p:pic>
        <p:nvPicPr>
          <p:cNvPr id="6" name="Image 0" descr="preencoded.png">    </p:cNvPr>
          <p:cNvPicPr>
            <a:picLocks noChangeAspect="1"/>
          </p:cNvPicPr>
          <p:nvPr/>
        </p:nvPicPr>
        <p:blipFill>
          <a:blip r:embed="rId1"/>
          <a:stretch>
            <a:fillRect/>
          </a:stretch>
        </p:blipFill>
        <p:spPr>
          <a:xfrm>
            <a:off x="973836" y="1979676"/>
            <a:ext cx="384048" cy="384048"/>
          </a:xfrm>
          <a:prstGeom prst="rect">
            <a:avLst/>
          </a:prstGeom>
        </p:spPr>
      </p:pic>
      <p:sp>
        <p:nvSpPr>
          <p:cNvPr id="7" name="Text 4"/>
          <p:cNvSpPr txBox="1"/>
          <p:nvPr/>
        </p:nvSpPr>
        <p:spPr>
          <a:xfrm>
            <a:off x="1645920" y="1828800"/>
            <a:ext cx="2331720" cy="384048"/>
          </a:xfrm>
          <a:prstGeom prst="rect">
            <a:avLst/>
          </a:prstGeom>
          <a:noFill/>
          <a:ln/>
        </p:spPr>
        <p:txBody>
          <a:bodyPr wrap="square" lIns="0" tIns="0" rIns="0" bIns="0" rtlCol="0" anchor="t"/>
          <a:lstStyle/>
          <a:p>
            <a:pPr indent="0" marL="0">
              <a:buNone/>
            </a:pPr>
            <a:r>
              <a:rPr lang="en-US" sz="1700" b="1" dirty="0">
                <a:solidFill>
                  <a:schemeClr val="tx2"/>
                </a:solidFill>
              </a:rPr>
              <a:t>Asistencia personal</a:t>
            </a:r>
            <a:endParaRPr lang="en-US" sz="1700" dirty="0"/>
          </a:p>
        </p:txBody>
      </p:sp>
      <p:sp>
        <p:nvSpPr>
          <p:cNvPr id="8" name="Shape 5"/>
          <p:cNvSpPr/>
          <p:nvPr/>
        </p:nvSpPr>
        <p:spPr>
          <a:xfrm>
            <a:off x="1645920" y="2249424"/>
            <a:ext cx="868680" cy="256032"/>
          </a:xfrm>
          <a:prstGeom prst="roundRect">
            <a:avLst>
              <a:gd name="adj" fmla="val 50000"/>
            </a:avLst>
          </a:prstGeom>
          <a:solidFill>
            <a:schemeClr val="accent1"/>
          </a:solidFill>
          <a:ln w="9525">
            <a:solidFill>
              <a:schemeClr val="accent1"/>
            </a:solidFill>
            <a:prstDash val="solid"/>
          </a:ln>
        </p:spPr>
      </p:sp>
      <p:sp>
        <p:nvSpPr>
          <p:cNvPr id="9" name="Text 6"/>
          <p:cNvSpPr txBox="1"/>
          <p:nvPr/>
        </p:nvSpPr>
        <p:spPr>
          <a:xfrm>
            <a:off x="1645920" y="2249424"/>
            <a:ext cx="868680" cy="256032"/>
          </a:xfrm>
          <a:prstGeom prst="rect">
            <a:avLst/>
          </a:prstGeom>
          <a:noFill/>
          <a:ln/>
        </p:spPr>
        <p:txBody>
          <a:bodyPr wrap="square" lIns="0" tIns="0" rIns="0" bIns="0" rtlCol="0" anchor="ctr"/>
          <a:lstStyle/>
          <a:p>
            <a:pPr algn="ctr" indent="0" marL="0">
              <a:buNone/>
            </a:pPr>
            <a:r>
              <a:rPr lang="en-US" sz="1000" b="1" dirty="0">
                <a:solidFill>
                  <a:schemeClr val="bg1"/>
                </a:solidFill>
              </a:rPr>
              <a:t>FUERTE</a:t>
            </a:r>
            <a:endParaRPr lang="en-US" sz="1000" dirty="0"/>
          </a:p>
        </p:txBody>
      </p:sp>
      <p:sp>
        <p:nvSpPr>
          <p:cNvPr id="10" name="Text 7"/>
          <p:cNvSpPr txBox="1"/>
          <p:nvPr/>
        </p:nvSpPr>
        <p:spPr>
          <a:xfrm>
            <a:off x="822960" y="2743200"/>
            <a:ext cx="3017520" cy="868680"/>
          </a:xfrm>
          <a:prstGeom prst="rect">
            <a:avLst/>
          </a:prstGeom>
          <a:noFill/>
          <a:ln/>
        </p:spPr>
        <p:txBody>
          <a:bodyPr wrap="square" lIns="0" tIns="0" rIns="0" bIns="0" rtlCol="0" anchor="t"/>
          <a:lstStyle/>
          <a:p>
            <a:pPr indent="0" marL="0">
              <a:buNone/>
            </a:pPr>
            <a:r>
              <a:rPr lang="en-US" sz="1500" dirty="0">
                <a:solidFill>
                  <a:schemeClr val="tx1"/>
                </a:solidFill>
              </a:rPr>
              <a:t>En el stand: degustación y consejo de sabores; luego por WhatsApp</a:t>
            </a:r>
            <a:endParaRPr lang="en-US" sz="1500" dirty="0"/>
          </a:p>
        </p:txBody>
      </p:sp>
      <p:sp>
        <p:nvSpPr>
          <p:cNvPr id="11" name="Shape 8"/>
          <p:cNvSpPr/>
          <p:nvPr/>
        </p:nvSpPr>
        <p:spPr>
          <a:xfrm>
            <a:off x="4311396" y="1554480"/>
            <a:ext cx="3566160" cy="2194560"/>
          </a:xfrm>
          <a:prstGeom prst="roundRect">
            <a:avLst>
              <a:gd name="adj" fmla="val 5000"/>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12" name="Shape 9"/>
          <p:cNvSpPr/>
          <p:nvPr/>
        </p:nvSpPr>
        <p:spPr>
          <a:xfrm>
            <a:off x="4585716" y="1828800"/>
            <a:ext cx="685800" cy="685800"/>
          </a:xfrm>
          <a:prstGeom prst="ellipse">
            <a:avLst/>
          </a:prstGeom>
          <a:solidFill>
            <a:schemeClr val="accent5"/>
          </a:solidFill>
          <a:ln w="12700">
            <a:solidFill>
              <a:schemeClr val="accent5"/>
            </a:solidFill>
            <a:prstDash val="solid"/>
          </a:ln>
        </p:spPr>
      </p:sp>
      <p:pic>
        <p:nvPicPr>
          <p:cNvPr id="13" name="Image 1" descr="preencoded.png">    </p:cNvPr>
          <p:cNvPicPr>
            <a:picLocks noChangeAspect="1"/>
          </p:cNvPicPr>
          <p:nvPr/>
        </p:nvPicPr>
        <p:blipFill>
          <a:blip r:embed="rId2"/>
          <a:stretch>
            <a:fillRect/>
          </a:stretch>
        </p:blipFill>
        <p:spPr>
          <a:xfrm>
            <a:off x="4736592" y="1979676"/>
            <a:ext cx="384048" cy="384048"/>
          </a:xfrm>
          <a:prstGeom prst="rect">
            <a:avLst/>
          </a:prstGeom>
        </p:spPr>
      </p:pic>
      <p:sp>
        <p:nvSpPr>
          <p:cNvPr id="14" name="Text 10"/>
          <p:cNvSpPr txBox="1"/>
          <p:nvPr/>
        </p:nvSpPr>
        <p:spPr>
          <a:xfrm>
            <a:off x="5408676" y="1828800"/>
            <a:ext cx="2331720" cy="384048"/>
          </a:xfrm>
          <a:prstGeom prst="rect">
            <a:avLst/>
          </a:prstGeom>
          <a:noFill/>
          <a:ln/>
        </p:spPr>
        <p:txBody>
          <a:bodyPr wrap="square" lIns="0" tIns="0" rIns="0" bIns="0" rtlCol="0" anchor="t"/>
          <a:lstStyle/>
          <a:p>
            <a:pPr indent="0" marL="0">
              <a:buNone/>
            </a:pPr>
            <a:r>
              <a:rPr lang="en-US" sz="1700" b="1" dirty="0">
                <a:solidFill>
                  <a:schemeClr val="tx2"/>
                </a:solidFill>
              </a:rPr>
              <a:t>Asistencia exclusiva</a:t>
            </a:r>
            <a:endParaRPr lang="en-US" sz="1700" dirty="0"/>
          </a:p>
        </p:txBody>
      </p:sp>
      <p:sp>
        <p:nvSpPr>
          <p:cNvPr id="15" name="Shape 11"/>
          <p:cNvSpPr/>
          <p:nvPr/>
        </p:nvSpPr>
        <p:spPr>
          <a:xfrm>
            <a:off x="5408676" y="2249424"/>
            <a:ext cx="868680" cy="256032"/>
          </a:xfrm>
          <a:prstGeom prst="roundRect">
            <a:avLst>
              <a:gd name="adj" fmla="val 50000"/>
            </a:avLst>
          </a:prstGeom>
          <a:solidFill>
            <a:schemeClr val="bg2"/>
          </a:solidFill>
          <a:ln w="9525">
            <a:solidFill>
              <a:schemeClr val="accent5"/>
            </a:solidFill>
            <a:prstDash val="solid"/>
          </a:ln>
        </p:spPr>
      </p:sp>
      <p:sp>
        <p:nvSpPr>
          <p:cNvPr id="16" name="Text 12"/>
          <p:cNvSpPr txBox="1"/>
          <p:nvPr/>
        </p:nvSpPr>
        <p:spPr>
          <a:xfrm>
            <a:off x="5408676" y="2249424"/>
            <a:ext cx="868680" cy="256032"/>
          </a:xfrm>
          <a:prstGeom prst="rect">
            <a:avLst/>
          </a:prstGeom>
          <a:noFill/>
          <a:ln/>
        </p:spPr>
        <p:txBody>
          <a:bodyPr wrap="square" lIns="0" tIns="0" rIns="0" bIns="0" rtlCol="0" anchor="ctr"/>
          <a:lstStyle/>
          <a:p>
            <a:pPr algn="ctr" indent="0" marL="0">
              <a:buNone/>
            </a:pPr>
            <a:r>
              <a:rPr lang="en-US" sz="1000" b="1" dirty="0">
                <a:solidFill>
                  <a:schemeClr val="accent2"/>
                </a:solidFill>
              </a:rPr>
              <a:t>APOYO</a:t>
            </a:r>
            <a:endParaRPr lang="en-US" sz="1000" dirty="0"/>
          </a:p>
        </p:txBody>
      </p:sp>
      <p:sp>
        <p:nvSpPr>
          <p:cNvPr id="17" name="Text 13"/>
          <p:cNvSpPr txBox="1"/>
          <p:nvPr/>
        </p:nvSpPr>
        <p:spPr>
          <a:xfrm>
            <a:off x="4585716" y="2743200"/>
            <a:ext cx="3017520" cy="868680"/>
          </a:xfrm>
          <a:prstGeom prst="rect">
            <a:avLst/>
          </a:prstGeom>
          <a:noFill/>
          <a:ln/>
        </p:spPr>
        <p:txBody>
          <a:bodyPr wrap="square" lIns="0" tIns="0" rIns="0" bIns="0" rtlCol="0" anchor="t"/>
          <a:lstStyle/>
          <a:p>
            <a:pPr indent="0" marL="0">
              <a:buNone/>
            </a:pPr>
            <a:r>
              <a:rPr lang="en-US" sz="1500" dirty="0">
                <a:solidFill>
                  <a:schemeClr val="tx1"/>
                </a:solidFill>
              </a:rPr>
              <a:t>Un socio a cargo de cada colegio y de cada naturista</a:t>
            </a:r>
            <a:endParaRPr lang="en-US" sz="1500" dirty="0"/>
          </a:p>
        </p:txBody>
      </p:sp>
      <p:sp>
        <p:nvSpPr>
          <p:cNvPr id="18" name="Shape 14"/>
          <p:cNvSpPr/>
          <p:nvPr/>
        </p:nvSpPr>
        <p:spPr>
          <a:xfrm>
            <a:off x="8074152" y="1554480"/>
            <a:ext cx="3566160" cy="2194560"/>
          </a:xfrm>
          <a:prstGeom prst="roundRect">
            <a:avLst>
              <a:gd name="adj" fmla="val 5000"/>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19" name="Shape 15"/>
          <p:cNvSpPr/>
          <p:nvPr/>
        </p:nvSpPr>
        <p:spPr>
          <a:xfrm>
            <a:off x="8348472" y="1828800"/>
            <a:ext cx="685800" cy="685800"/>
          </a:xfrm>
          <a:prstGeom prst="ellipse">
            <a:avLst/>
          </a:prstGeom>
          <a:solidFill>
            <a:schemeClr val="accent5"/>
          </a:solidFill>
          <a:ln w="12700">
            <a:solidFill>
              <a:schemeClr val="accent5"/>
            </a:solidFill>
            <a:prstDash val="solid"/>
          </a:ln>
        </p:spPr>
      </p:sp>
      <p:pic>
        <p:nvPicPr>
          <p:cNvPr id="20" name="Image 2" descr="preencoded.png">    </p:cNvPr>
          <p:cNvPicPr>
            <a:picLocks noChangeAspect="1"/>
          </p:cNvPicPr>
          <p:nvPr/>
        </p:nvPicPr>
        <p:blipFill>
          <a:blip r:embed="rId3"/>
          <a:stretch>
            <a:fillRect/>
          </a:stretch>
        </p:blipFill>
        <p:spPr>
          <a:xfrm>
            <a:off x="8499348" y="1979676"/>
            <a:ext cx="384048" cy="384048"/>
          </a:xfrm>
          <a:prstGeom prst="rect">
            <a:avLst/>
          </a:prstGeom>
        </p:spPr>
      </p:pic>
      <p:sp>
        <p:nvSpPr>
          <p:cNvPr id="21" name="Text 16"/>
          <p:cNvSpPr txBox="1"/>
          <p:nvPr/>
        </p:nvSpPr>
        <p:spPr>
          <a:xfrm>
            <a:off x="9171432" y="1828800"/>
            <a:ext cx="2331720" cy="384048"/>
          </a:xfrm>
          <a:prstGeom prst="rect">
            <a:avLst/>
          </a:prstGeom>
          <a:noFill/>
          <a:ln/>
        </p:spPr>
        <p:txBody>
          <a:bodyPr wrap="square" lIns="0" tIns="0" rIns="0" bIns="0" rtlCol="0" anchor="t"/>
          <a:lstStyle/>
          <a:p>
            <a:pPr indent="0" marL="0">
              <a:buNone/>
            </a:pPr>
            <a:r>
              <a:rPr lang="en-US" sz="1700" b="1" dirty="0">
                <a:solidFill>
                  <a:schemeClr val="tx2"/>
                </a:solidFill>
              </a:rPr>
              <a:t>Autoservicio</a:t>
            </a:r>
            <a:endParaRPr lang="en-US" sz="1700" dirty="0"/>
          </a:p>
        </p:txBody>
      </p:sp>
      <p:sp>
        <p:nvSpPr>
          <p:cNvPr id="22" name="Shape 17"/>
          <p:cNvSpPr/>
          <p:nvPr/>
        </p:nvSpPr>
        <p:spPr>
          <a:xfrm>
            <a:off x="9171432" y="2249424"/>
            <a:ext cx="868680" cy="256032"/>
          </a:xfrm>
          <a:prstGeom prst="roundRect">
            <a:avLst>
              <a:gd name="adj" fmla="val 50000"/>
            </a:avLst>
          </a:prstGeom>
          <a:solidFill>
            <a:schemeClr val="bg2"/>
          </a:solidFill>
          <a:ln w="9525">
            <a:solidFill>
              <a:schemeClr val="accent5"/>
            </a:solidFill>
            <a:prstDash val="solid"/>
          </a:ln>
        </p:spPr>
      </p:sp>
      <p:sp>
        <p:nvSpPr>
          <p:cNvPr id="23" name="Text 18"/>
          <p:cNvSpPr txBox="1"/>
          <p:nvPr/>
        </p:nvSpPr>
        <p:spPr>
          <a:xfrm>
            <a:off x="9171432" y="2249424"/>
            <a:ext cx="868680" cy="256032"/>
          </a:xfrm>
          <a:prstGeom prst="rect">
            <a:avLst/>
          </a:prstGeom>
          <a:noFill/>
          <a:ln/>
        </p:spPr>
        <p:txBody>
          <a:bodyPr wrap="square" lIns="0" tIns="0" rIns="0" bIns="0" rtlCol="0" anchor="ctr"/>
          <a:lstStyle/>
          <a:p>
            <a:pPr algn="ctr" indent="0" marL="0">
              <a:buNone/>
            </a:pPr>
            <a:r>
              <a:rPr lang="en-US" sz="1000" b="1" dirty="0">
                <a:solidFill>
                  <a:schemeClr val="accent2"/>
                </a:solidFill>
              </a:rPr>
              <a:t>APOYO</a:t>
            </a:r>
            <a:endParaRPr lang="en-US" sz="1000" dirty="0"/>
          </a:p>
        </p:txBody>
      </p:sp>
      <p:sp>
        <p:nvSpPr>
          <p:cNvPr id="24" name="Text 19"/>
          <p:cNvSpPr txBox="1"/>
          <p:nvPr/>
        </p:nvSpPr>
        <p:spPr>
          <a:xfrm>
            <a:off x="8348472" y="2743200"/>
            <a:ext cx="3017520" cy="868680"/>
          </a:xfrm>
          <a:prstGeom prst="rect">
            <a:avLst/>
          </a:prstGeom>
          <a:noFill/>
          <a:ln/>
        </p:spPr>
        <p:txBody>
          <a:bodyPr wrap="square" lIns="0" tIns="0" rIns="0" bIns="0" rtlCol="0" anchor="t"/>
          <a:lstStyle/>
          <a:p>
            <a:pPr indent="0" marL="0">
              <a:buNone/>
            </a:pPr>
            <a:r>
              <a:rPr lang="en-US" sz="1500" dirty="0">
                <a:solidFill>
                  <a:schemeClr val="tx1"/>
                </a:solidFill>
              </a:rPr>
              <a:t>Catálogo de WhatsApp y link de pago, sin esperar respuesta</a:t>
            </a:r>
            <a:endParaRPr lang="en-US" sz="1500" dirty="0"/>
          </a:p>
        </p:txBody>
      </p:sp>
      <p:sp>
        <p:nvSpPr>
          <p:cNvPr id="25" name="Shape 20"/>
          <p:cNvSpPr/>
          <p:nvPr/>
        </p:nvSpPr>
        <p:spPr>
          <a:xfrm>
            <a:off x="548640" y="3950208"/>
            <a:ext cx="3566160" cy="2194560"/>
          </a:xfrm>
          <a:prstGeom prst="roundRect">
            <a:avLst>
              <a:gd name="adj" fmla="val 5000"/>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26" name="Shape 21"/>
          <p:cNvSpPr/>
          <p:nvPr/>
        </p:nvSpPr>
        <p:spPr>
          <a:xfrm>
            <a:off x="822960" y="4224528"/>
            <a:ext cx="685800" cy="685800"/>
          </a:xfrm>
          <a:prstGeom prst="ellipse">
            <a:avLst/>
          </a:prstGeom>
          <a:solidFill>
            <a:schemeClr val="accent1"/>
          </a:solidFill>
          <a:ln w="12700">
            <a:solidFill>
              <a:schemeClr val="accent1"/>
            </a:solidFill>
            <a:prstDash val="solid"/>
          </a:ln>
        </p:spPr>
      </p:sp>
      <p:pic>
        <p:nvPicPr>
          <p:cNvPr id="27" name="Image 3" descr="preencoded.png">    </p:cNvPr>
          <p:cNvPicPr>
            <a:picLocks noChangeAspect="1"/>
          </p:cNvPicPr>
          <p:nvPr/>
        </p:nvPicPr>
        <p:blipFill>
          <a:blip r:embed="rId4"/>
          <a:stretch>
            <a:fillRect/>
          </a:stretch>
        </p:blipFill>
        <p:spPr>
          <a:xfrm>
            <a:off x="973836" y="4375404"/>
            <a:ext cx="384048" cy="384048"/>
          </a:xfrm>
          <a:prstGeom prst="rect">
            <a:avLst/>
          </a:prstGeom>
        </p:spPr>
      </p:pic>
      <p:sp>
        <p:nvSpPr>
          <p:cNvPr id="28" name="Text 22"/>
          <p:cNvSpPr txBox="1"/>
          <p:nvPr/>
        </p:nvSpPr>
        <p:spPr>
          <a:xfrm>
            <a:off x="1645920" y="4224528"/>
            <a:ext cx="2331720" cy="384048"/>
          </a:xfrm>
          <a:prstGeom prst="rect">
            <a:avLst/>
          </a:prstGeom>
          <a:noFill/>
          <a:ln/>
        </p:spPr>
        <p:txBody>
          <a:bodyPr wrap="square" lIns="0" tIns="0" rIns="0" bIns="0" rtlCol="0" anchor="t"/>
          <a:lstStyle/>
          <a:p>
            <a:pPr indent="0" marL="0">
              <a:buNone/>
            </a:pPr>
            <a:r>
              <a:rPr lang="en-US" sz="1700" b="1" dirty="0">
                <a:solidFill>
                  <a:schemeClr val="tx2"/>
                </a:solidFill>
              </a:rPr>
              <a:t>Servicio automático</a:t>
            </a:r>
            <a:endParaRPr lang="en-US" sz="1700" dirty="0"/>
          </a:p>
        </p:txBody>
      </p:sp>
      <p:sp>
        <p:nvSpPr>
          <p:cNvPr id="29" name="Shape 23"/>
          <p:cNvSpPr/>
          <p:nvPr/>
        </p:nvSpPr>
        <p:spPr>
          <a:xfrm>
            <a:off x="1645920" y="4645152"/>
            <a:ext cx="868680" cy="256032"/>
          </a:xfrm>
          <a:prstGeom prst="roundRect">
            <a:avLst>
              <a:gd name="adj" fmla="val 50000"/>
            </a:avLst>
          </a:prstGeom>
          <a:solidFill>
            <a:schemeClr val="accent1"/>
          </a:solidFill>
          <a:ln w="9525">
            <a:solidFill>
              <a:schemeClr val="accent1"/>
            </a:solidFill>
            <a:prstDash val="solid"/>
          </a:ln>
        </p:spPr>
      </p:sp>
      <p:sp>
        <p:nvSpPr>
          <p:cNvPr id="30" name="Text 24"/>
          <p:cNvSpPr txBox="1"/>
          <p:nvPr/>
        </p:nvSpPr>
        <p:spPr>
          <a:xfrm>
            <a:off x="1645920" y="4645152"/>
            <a:ext cx="868680" cy="256032"/>
          </a:xfrm>
          <a:prstGeom prst="rect">
            <a:avLst/>
          </a:prstGeom>
          <a:noFill/>
          <a:ln/>
        </p:spPr>
        <p:txBody>
          <a:bodyPr wrap="square" lIns="0" tIns="0" rIns="0" bIns="0" rtlCol="0" anchor="ctr"/>
          <a:lstStyle/>
          <a:p>
            <a:pPr algn="ctr" indent="0" marL="0">
              <a:buNone/>
            </a:pPr>
            <a:r>
              <a:rPr lang="en-US" sz="1000" b="1" dirty="0">
                <a:solidFill>
                  <a:schemeClr val="bg1"/>
                </a:solidFill>
              </a:rPr>
              <a:t>FUERTE</a:t>
            </a:r>
            <a:endParaRPr lang="en-US" sz="1000" dirty="0"/>
          </a:p>
        </p:txBody>
      </p:sp>
      <p:sp>
        <p:nvSpPr>
          <p:cNvPr id="31" name="Text 25"/>
          <p:cNvSpPr txBox="1"/>
          <p:nvPr/>
        </p:nvSpPr>
        <p:spPr>
          <a:xfrm>
            <a:off x="822960" y="5138928"/>
            <a:ext cx="3017520" cy="868680"/>
          </a:xfrm>
          <a:prstGeom prst="rect">
            <a:avLst/>
          </a:prstGeom>
          <a:noFill/>
          <a:ln/>
        </p:spPr>
        <p:txBody>
          <a:bodyPr wrap="square" lIns="0" tIns="0" rIns="0" bIns="0" rtlCol="0" anchor="t"/>
          <a:lstStyle/>
          <a:p>
            <a:pPr indent="0" marL="0">
              <a:buNone/>
            </a:pPr>
            <a:r>
              <a:rPr lang="en-US" sz="1500" dirty="0">
                <a:solidFill>
                  <a:schemeClr val="tx1"/>
                </a:solidFill>
              </a:rPr>
              <a:t>Recordatorio de recompra por WhatsApp a los 12 días</a:t>
            </a:r>
            <a:endParaRPr lang="en-US" sz="1500" dirty="0"/>
          </a:p>
        </p:txBody>
      </p:sp>
      <p:sp>
        <p:nvSpPr>
          <p:cNvPr id="32" name="Shape 26"/>
          <p:cNvSpPr/>
          <p:nvPr/>
        </p:nvSpPr>
        <p:spPr>
          <a:xfrm>
            <a:off x="4311396" y="3950208"/>
            <a:ext cx="3566160" cy="2194560"/>
          </a:xfrm>
          <a:prstGeom prst="roundRect">
            <a:avLst>
              <a:gd name="adj" fmla="val 5000"/>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33" name="Shape 27"/>
          <p:cNvSpPr/>
          <p:nvPr/>
        </p:nvSpPr>
        <p:spPr>
          <a:xfrm>
            <a:off x="4585716" y="4224528"/>
            <a:ext cx="685800" cy="685800"/>
          </a:xfrm>
          <a:prstGeom prst="ellipse">
            <a:avLst/>
          </a:prstGeom>
          <a:solidFill>
            <a:schemeClr val="accent1"/>
          </a:solidFill>
          <a:ln w="12700">
            <a:solidFill>
              <a:schemeClr val="accent1"/>
            </a:solidFill>
            <a:prstDash val="solid"/>
          </a:ln>
        </p:spPr>
      </p:sp>
      <p:pic>
        <p:nvPicPr>
          <p:cNvPr id="34" name="Image 4" descr="preencoded.png">    </p:cNvPr>
          <p:cNvPicPr>
            <a:picLocks noChangeAspect="1"/>
          </p:cNvPicPr>
          <p:nvPr/>
        </p:nvPicPr>
        <p:blipFill>
          <a:blip r:embed="rId5"/>
          <a:stretch>
            <a:fillRect/>
          </a:stretch>
        </p:blipFill>
        <p:spPr>
          <a:xfrm>
            <a:off x="4736592" y="4375404"/>
            <a:ext cx="384048" cy="384048"/>
          </a:xfrm>
          <a:prstGeom prst="rect">
            <a:avLst/>
          </a:prstGeom>
        </p:spPr>
      </p:pic>
      <p:sp>
        <p:nvSpPr>
          <p:cNvPr id="35" name="Text 28"/>
          <p:cNvSpPr txBox="1"/>
          <p:nvPr/>
        </p:nvSpPr>
        <p:spPr>
          <a:xfrm>
            <a:off x="5408676" y="4224528"/>
            <a:ext cx="2331720" cy="384048"/>
          </a:xfrm>
          <a:prstGeom prst="rect">
            <a:avLst/>
          </a:prstGeom>
          <a:noFill/>
          <a:ln/>
        </p:spPr>
        <p:txBody>
          <a:bodyPr wrap="square" lIns="0" tIns="0" rIns="0" bIns="0" rtlCol="0" anchor="t"/>
          <a:lstStyle/>
          <a:p>
            <a:pPr indent="0" marL="0">
              <a:buNone/>
            </a:pPr>
            <a:r>
              <a:rPr lang="en-US" sz="1700" b="1" dirty="0">
                <a:solidFill>
                  <a:schemeClr val="tx2"/>
                </a:solidFill>
              </a:rPr>
              <a:t>Comunidades</a:t>
            </a:r>
            <a:endParaRPr lang="en-US" sz="1700" dirty="0"/>
          </a:p>
        </p:txBody>
      </p:sp>
      <p:sp>
        <p:nvSpPr>
          <p:cNvPr id="36" name="Shape 29"/>
          <p:cNvSpPr/>
          <p:nvPr/>
        </p:nvSpPr>
        <p:spPr>
          <a:xfrm>
            <a:off x="5408676" y="4645152"/>
            <a:ext cx="868680" cy="256032"/>
          </a:xfrm>
          <a:prstGeom prst="roundRect">
            <a:avLst>
              <a:gd name="adj" fmla="val 50000"/>
            </a:avLst>
          </a:prstGeom>
          <a:solidFill>
            <a:schemeClr val="accent1"/>
          </a:solidFill>
          <a:ln w="9525">
            <a:solidFill>
              <a:schemeClr val="accent1"/>
            </a:solidFill>
            <a:prstDash val="solid"/>
          </a:ln>
        </p:spPr>
      </p:sp>
      <p:sp>
        <p:nvSpPr>
          <p:cNvPr id="37" name="Text 30"/>
          <p:cNvSpPr txBox="1"/>
          <p:nvPr/>
        </p:nvSpPr>
        <p:spPr>
          <a:xfrm>
            <a:off x="5408676" y="4645152"/>
            <a:ext cx="868680" cy="256032"/>
          </a:xfrm>
          <a:prstGeom prst="rect">
            <a:avLst/>
          </a:prstGeom>
          <a:noFill/>
          <a:ln/>
        </p:spPr>
        <p:txBody>
          <a:bodyPr wrap="square" lIns="0" tIns="0" rIns="0" bIns="0" rtlCol="0" anchor="ctr"/>
          <a:lstStyle/>
          <a:p>
            <a:pPr algn="ctr" indent="0" marL="0">
              <a:buNone/>
            </a:pPr>
            <a:r>
              <a:rPr lang="en-US" sz="1000" b="1" dirty="0">
                <a:solidFill>
                  <a:schemeClr val="bg1"/>
                </a:solidFill>
              </a:rPr>
              <a:t>FUERTE</a:t>
            </a:r>
            <a:endParaRPr lang="en-US" sz="1000" dirty="0"/>
          </a:p>
        </p:txBody>
      </p:sp>
      <p:sp>
        <p:nvSpPr>
          <p:cNvPr id="38" name="Text 31"/>
          <p:cNvSpPr txBox="1"/>
          <p:nvPr/>
        </p:nvSpPr>
        <p:spPr>
          <a:xfrm>
            <a:off x="4585716" y="5138928"/>
            <a:ext cx="3017520" cy="868680"/>
          </a:xfrm>
          <a:prstGeom prst="rect">
            <a:avLst/>
          </a:prstGeom>
          <a:noFill/>
          <a:ln/>
        </p:spPr>
        <p:txBody>
          <a:bodyPr wrap="square" lIns="0" tIns="0" rIns="0" bIns="0" rtlCol="0" anchor="t"/>
          <a:lstStyle/>
          <a:p>
            <a:pPr indent="0" marL="0">
              <a:buNone/>
            </a:pPr>
            <a:r>
              <a:rPr lang="en-US" sz="1500" dirty="0">
                <a:solidFill>
                  <a:schemeClr val="tx1"/>
                </a:solidFill>
              </a:rPr>
              <a:t>Mamá embajadora por salón y comunidad en Instagram</a:t>
            </a:r>
            <a:endParaRPr lang="en-US" sz="1500" dirty="0"/>
          </a:p>
        </p:txBody>
      </p:sp>
      <p:sp>
        <p:nvSpPr>
          <p:cNvPr id="39" name="Shape 32"/>
          <p:cNvSpPr/>
          <p:nvPr/>
        </p:nvSpPr>
        <p:spPr>
          <a:xfrm>
            <a:off x="8074152" y="3950208"/>
            <a:ext cx="3566160" cy="2194560"/>
          </a:xfrm>
          <a:prstGeom prst="roundRect">
            <a:avLst>
              <a:gd name="adj" fmla="val 5000"/>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40" name="Shape 33"/>
          <p:cNvSpPr/>
          <p:nvPr/>
        </p:nvSpPr>
        <p:spPr>
          <a:xfrm>
            <a:off x="8348472" y="4224528"/>
            <a:ext cx="685800" cy="685800"/>
          </a:xfrm>
          <a:prstGeom prst="ellipse">
            <a:avLst/>
          </a:prstGeom>
          <a:solidFill>
            <a:schemeClr val="accent5"/>
          </a:solidFill>
          <a:ln w="12700">
            <a:solidFill>
              <a:schemeClr val="accent5"/>
            </a:solidFill>
            <a:prstDash val="solid"/>
          </a:ln>
        </p:spPr>
      </p:sp>
      <p:pic>
        <p:nvPicPr>
          <p:cNvPr id="41" name="Image 5" descr="preencoded.png">    </p:cNvPr>
          <p:cNvPicPr>
            <a:picLocks noChangeAspect="1"/>
          </p:cNvPicPr>
          <p:nvPr/>
        </p:nvPicPr>
        <p:blipFill>
          <a:blip r:embed="rId6"/>
          <a:stretch>
            <a:fillRect/>
          </a:stretch>
        </p:blipFill>
        <p:spPr>
          <a:xfrm>
            <a:off x="8499348" y="4375404"/>
            <a:ext cx="384048" cy="384048"/>
          </a:xfrm>
          <a:prstGeom prst="rect">
            <a:avLst/>
          </a:prstGeom>
        </p:spPr>
      </p:pic>
      <p:sp>
        <p:nvSpPr>
          <p:cNvPr id="42" name="Text 34"/>
          <p:cNvSpPr txBox="1"/>
          <p:nvPr/>
        </p:nvSpPr>
        <p:spPr>
          <a:xfrm>
            <a:off x="9171432" y="4224528"/>
            <a:ext cx="2331720" cy="384048"/>
          </a:xfrm>
          <a:prstGeom prst="rect">
            <a:avLst/>
          </a:prstGeom>
          <a:noFill/>
          <a:ln/>
        </p:spPr>
        <p:txBody>
          <a:bodyPr wrap="square" lIns="0" tIns="0" rIns="0" bIns="0" rtlCol="0" anchor="t"/>
          <a:lstStyle/>
          <a:p>
            <a:pPr indent="0" marL="0">
              <a:buNone/>
            </a:pPr>
            <a:r>
              <a:rPr lang="en-US" sz="1700" b="1" dirty="0">
                <a:solidFill>
                  <a:schemeClr val="tx2"/>
                </a:solidFill>
              </a:rPr>
              <a:t>Creación colectiva</a:t>
            </a:r>
            <a:endParaRPr lang="en-US" sz="1700" dirty="0"/>
          </a:p>
        </p:txBody>
      </p:sp>
      <p:sp>
        <p:nvSpPr>
          <p:cNvPr id="43" name="Shape 35"/>
          <p:cNvSpPr/>
          <p:nvPr/>
        </p:nvSpPr>
        <p:spPr>
          <a:xfrm>
            <a:off x="9171432" y="4645152"/>
            <a:ext cx="868680" cy="256032"/>
          </a:xfrm>
          <a:prstGeom prst="roundRect">
            <a:avLst>
              <a:gd name="adj" fmla="val 50000"/>
            </a:avLst>
          </a:prstGeom>
          <a:solidFill>
            <a:schemeClr val="bg2"/>
          </a:solidFill>
          <a:ln w="9525">
            <a:solidFill>
              <a:schemeClr val="accent5"/>
            </a:solidFill>
            <a:prstDash val="solid"/>
          </a:ln>
        </p:spPr>
      </p:sp>
      <p:sp>
        <p:nvSpPr>
          <p:cNvPr id="44" name="Text 36"/>
          <p:cNvSpPr txBox="1"/>
          <p:nvPr/>
        </p:nvSpPr>
        <p:spPr>
          <a:xfrm>
            <a:off x="9171432" y="4645152"/>
            <a:ext cx="868680" cy="256032"/>
          </a:xfrm>
          <a:prstGeom prst="rect">
            <a:avLst/>
          </a:prstGeom>
          <a:noFill/>
          <a:ln/>
        </p:spPr>
        <p:txBody>
          <a:bodyPr wrap="square" lIns="0" tIns="0" rIns="0" bIns="0" rtlCol="0" anchor="ctr"/>
          <a:lstStyle/>
          <a:p>
            <a:pPr algn="ctr" indent="0" marL="0">
              <a:buNone/>
            </a:pPr>
            <a:r>
              <a:rPr lang="en-US" sz="1000" b="1" dirty="0">
                <a:solidFill>
                  <a:schemeClr val="accent2"/>
                </a:solidFill>
              </a:rPr>
              <a:t>APOYO</a:t>
            </a:r>
            <a:endParaRPr lang="en-US" sz="1000" dirty="0"/>
          </a:p>
        </p:txBody>
      </p:sp>
      <p:sp>
        <p:nvSpPr>
          <p:cNvPr id="45" name="Text 37"/>
          <p:cNvSpPr txBox="1"/>
          <p:nvPr/>
        </p:nvSpPr>
        <p:spPr>
          <a:xfrm>
            <a:off x="8348472" y="5138928"/>
            <a:ext cx="3017520" cy="868680"/>
          </a:xfrm>
          <a:prstGeom prst="rect">
            <a:avLst/>
          </a:prstGeom>
          <a:noFill/>
          <a:ln/>
        </p:spPr>
        <p:txBody>
          <a:bodyPr wrap="square" lIns="0" tIns="0" rIns="0" bIns="0" rtlCol="0" anchor="t"/>
          <a:lstStyle/>
          <a:p>
            <a:pPr indent="0" marL="0">
              <a:buNone/>
            </a:pPr>
            <a:r>
              <a:rPr lang="en-US" sz="1500" dirty="0">
                <a:solidFill>
                  <a:schemeClr val="tx1"/>
                </a:solidFill>
              </a:rPr>
              <a:t>Los niños votan el sabor del mes en el stand</a:t>
            </a:r>
            <a:endParaRPr lang="en-US" sz="1500" dirty="0"/>
          </a:p>
        </p:txBody>
      </p:sp>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TRABAJO DE CAMPO 6 · CICLO DE RELACIÓN</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Captar, fidelizar y crecer con cada familia</a:t>
            </a:r>
            <a:endParaRPr lang="en-US" sz="3400" dirty="0"/>
          </a:p>
        </p:txBody>
      </p:sp>
      <p:sp>
        <p:nvSpPr>
          <p:cNvPr id="4" name="Shape 2"/>
          <p:cNvSpPr/>
          <p:nvPr/>
        </p:nvSpPr>
        <p:spPr>
          <a:xfrm>
            <a:off x="548640" y="1554480"/>
            <a:ext cx="2697480" cy="4572000"/>
          </a:xfrm>
          <a:prstGeom prst="roundRect">
            <a:avLst>
              <a:gd name="adj" fmla="val 4068"/>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5" name="Text 3"/>
          <p:cNvSpPr txBox="1"/>
          <p:nvPr/>
        </p:nvSpPr>
        <p:spPr>
          <a:xfrm>
            <a:off x="822960" y="1828800"/>
            <a:ext cx="2148840" cy="274320"/>
          </a:xfrm>
          <a:prstGeom prst="rect">
            <a:avLst/>
          </a:prstGeom>
          <a:noFill/>
          <a:ln/>
        </p:spPr>
        <p:txBody>
          <a:bodyPr wrap="square" lIns="0" tIns="0" rIns="0" bIns="0" rtlCol="0" anchor="t"/>
          <a:lstStyle/>
          <a:p>
            <a:pPr indent="0" marL="0">
              <a:buNone/>
            </a:pPr>
            <a:r>
              <a:rPr lang="en-US" sz="1200" b="1" spc="100" kern="0" dirty="0">
                <a:solidFill>
                  <a:schemeClr val="accent1"/>
                </a:solidFill>
              </a:rPr>
              <a:t>1 · CAPTAR</a:t>
            </a:r>
            <a:endParaRPr lang="en-US" sz="1200" dirty="0"/>
          </a:p>
        </p:txBody>
      </p:sp>
      <p:sp>
        <p:nvSpPr>
          <p:cNvPr id="6" name="Text 4"/>
          <p:cNvSpPr txBox="1"/>
          <p:nvPr/>
        </p:nvSpPr>
        <p:spPr>
          <a:xfrm>
            <a:off x="822960" y="2148840"/>
            <a:ext cx="2148840" cy="731520"/>
          </a:xfrm>
          <a:prstGeom prst="rect">
            <a:avLst/>
          </a:prstGeom>
          <a:noFill/>
          <a:ln/>
        </p:spPr>
        <p:txBody>
          <a:bodyPr wrap="square" lIns="0" tIns="0" rIns="0" bIns="0" rtlCol="0" anchor="t"/>
          <a:lstStyle/>
          <a:p>
            <a:pPr indent="0" marL="0">
              <a:buNone/>
            </a:pPr>
            <a:r>
              <a:rPr lang="en-US" sz="2100" b="1" dirty="0">
                <a:solidFill>
                  <a:schemeClr val="tx2"/>
                </a:solidFill>
              </a:rPr>
              <a:t>Que lo prueben</a:t>
            </a:r>
            <a:endParaRPr lang="en-US" sz="2100" dirty="0"/>
          </a:p>
        </p:txBody>
      </p:sp>
      <p:sp>
        <p:nvSpPr>
          <p:cNvPr id="7" name="Text 5"/>
          <p:cNvSpPr txBox="1"/>
          <p:nvPr/>
        </p:nvSpPr>
        <p:spPr>
          <a:xfrm>
            <a:off x="822960" y="2926080"/>
            <a:ext cx="2148840" cy="1371600"/>
          </a:xfrm>
          <a:prstGeom prst="rect">
            <a:avLst/>
          </a:prstGeom>
          <a:noFill/>
          <a:ln/>
        </p:spPr>
        <p:txBody>
          <a:bodyPr wrap="square" lIns="0" tIns="0" rIns="0" bIns="0" rtlCol="0" anchor="t"/>
          <a:lstStyle/>
          <a:p>
            <a:pPr indent="0" marL="0">
              <a:buNone/>
            </a:pPr>
            <a:r>
              <a:rPr lang="en-US" sz="1500" dirty="0">
                <a:solidFill>
                  <a:schemeClr val="tx1"/>
                </a:solidFill>
              </a:rPr>
              <a:t>Degustación gratis en el stand y caja de 3 a S/12 para llevar</a:t>
            </a:r>
            <a:endParaRPr lang="en-US" sz="1500" dirty="0"/>
          </a:p>
        </p:txBody>
      </p:sp>
      <p:sp>
        <p:nvSpPr>
          <p:cNvPr id="8" name="Shape 6"/>
          <p:cNvSpPr/>
          <p:nvPr/>
        </p:nvSpPr>
        <p:spPr>
          <a:xfrm>
            <a:off x="731520" y="4480560"/>
            <a:ext cx="2331720" cy="1463040"/>
          </a:xfrm>
          <a:prstGeom prst="roundRect">
            <a:avLst>
              <a:gd name="adj" fmla="val 6250"/>
            </a:avLst>
          </a:prstGeom>
          <a:solidFill>
            <a:schemeClr val="bg2"/>
          </a:solidFill>
          <a:ln w="12700">
            <a:solidFill>
              <a:schemeClr val="bg2"/>
            </a:solidFill>
            <a:prstDash val="solid"/>
          </a:ln>
        </p:spPr>
      </p:sp>
      <p:sp>
        <p:nvSpPr>
          <p:cNvPr id="9" name="Text 7"/>
          <p:cNvSpPr txBox="1"/>
          <p:nvPr/>
        </p:nvSpPr>
        <p:spPr>
          <a:xfrm>
            <a:off x="914400" y="4572000"/>
            <a:ext cx="1965960" cy="1280160"/>
          </a:xfrm>
          <a:prstGeom prst="rect">
            <a:avLst/>
          </a:prstGeom>
          <a:noFill/>
          <a:ln/>
        </p:spPr>
        <p:txBody>
          <a:bodyPr wrap="square" lIns="0" tIns="0" rIns="0" bIns="0" rtlCol="0" anchor="ctr"/>
          <a:lstStyle/>
          <a:p>
            <a:pPr indent="0" marL="0">
              <a:buNone/>
            </a:pPr>
            <a:r>
              <a:rPr lang="en-US" sz="3400" b="1" dirty="0">
                <a:solidFill>
                  <a:schemeClr val="accent1"/>
                </a:solidFill>
              </a:rPr>
              <a:t>80</a:t>
            </a:r>
            <a:endParaRPr lang="en-US" sz="1400" dirty="0"/>
          </a:p>
          <a:p>
            <a:pPr indent="0" marL="0">
              <a:buNone/>
            </a:pPr>
            <a:r>
              <a:rPr lang="en-US" sz="1300" dirty="0">
                <a:solidFill>
                  <a:schemeClr val="accent2"/>
                </a:solidFill>
              </a:rPr>
              <a:t>brownies por día en cada punto de venta</a:t>
            </a:r>
            <a:endParaRPr lang="en-US" sz="1400" dirty="0"/>
          </a:p>
        </p:txBody>
      </p:sp>
      <p:sp>
        <p:nvSpPr>
          <p:cNvPr id="10" name="Shape 8"/>
          <p:cNvSpPr/>
          <p:nvPr/>
        </p:nvSpPr>
        <p:spPr>
          <a:xfrm>
            <a:off x="3200400" y="3566160"/>
            <a:ext cx="411480" cy="411480"/>
          </a:xfrm>
          <a:prstGeom prst="ellipse">
            <a:avLst/>
          </a:prstGeom>
          <a:solidFill>
            <a:schemeClr val="accent3"/>
          </a:solidFill>
          <a:ln w="12700">
            <a:solidFill>
              <a:schemeClr val="accent3"/>
            </a:solidFill>
            <a:prstDash val="solid"/>
          </a:ln>
        </p:spPr>
      </p:sp>
      <p:pic>
        <p:nvPicPr>
          <p:cNvPr id="11" name="Image 0" descr="preencoded.png">    </p:cNvPr>
          <p:cNvPicPr>
            <a:picLocks noChangeAspect="1"/>
          </p:cNvPicPr>
          <p:nvPr/>
        </p:nvPicPr>
        <p:blipFill>
          <a:blip r:embed="rId1"/>
          <a:stretch>
            <a:fillRect/>
          </a:stretch>
        </p:blipFill>
        <p:spPr>
          <a:xfrm>
            <a:off x="3290926" y="3656686"/>
            <a:ext cx="230429" cy="230429"/>
          </a:xfrm>
          <a:prstGeom prst="rect">
            <a:avLst/>
          </a:prstGeom>
        </p:spPr>
      </p:pic>
      <p:sp>
        <p:nvSpPr>
          <p:cNvPr id="12" name="Shape 9"/>
          <p:cNvSpPr/>
          <p:nvPr/>
        </p:nvSpPr>
        <p:spPr>
          <a:xfrm>
            <a:off x="3566160" y="1554480"/>
            <a:ext cx="2697480" cy="4572000"/>
          </a:xfrm>
          <a:prstGeom prst="roundRect">
            <a:avLst>
              <a:gd name="adj" fmla="val 4068"/>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13" name="Text 10"/>
          <p:cNvSpPr txBox="1"/>
          <p:nvPr/>
        </p:nvSpPr>
        <p:spPr>
          <a:xfrm>
            <a:off x="3840480" y="1828800"/>
            <a:ext cx="2148840" cy="274320"/>
          </a:xfrm>
          <a:prstGeom prst="rect">
            <a:avLst/>
          </a:prstGeom>
          <a:noFill/>
          <a:ln/>
        </p:spPr>
        <p:txBody>
          <a:bodyPr wrap="square" lIns="0" tIns="0" rIns="0" bIns="0" rtlCol="0" anchor="t"/>
          <a:lstStyle/>
          <a:p>
            <a:pPr indent="0" marL="0">
              <a:buNone/>
            </a:pPr>
            <a:r>
              <a:rPr lang="en-US" sz="1200" b="1" spc="100" kern="0" dirty="0">
                <a:solidFill>
                  <a:schemeClr val="accent1"/>
                </a:solidFill>
              </a:rPr>
              <a:t>2 · FIDELIZAR</a:t>
            </a:r>
            <a:endParaRPr lang="en-US" sz="1200" dirty="0"/>
          </a:p>
        </p:txBody>
      </p:sp>
      <p:sp>
        <p:nvSpPr>
          <p:cNvPr id="14" name="Text 11"/>
          <p:cNvSpPr txBox="1"/>
          <p:nvPr/>
        </p:nvSpPr>
        <p:spPr>
          <a:xfrm>
            <a:off x="3840480" y="2148840"/>
            <a:ext cx="2148840" cy="731520"/>
          </a:xfrm>
          <a:prstGeom prst="rect">
            <a:avLst/>
          </a:prstGeom>
          <a:noFill/>
          <a:ln/>
        </p:spPr>
        <p:txBody>
          <a:bodyPr wrap="square" lIns="0" tIns="0" rIns="0" bIns="0" rtlCol="0" anchor="t"/>
          <a:lstStyle/>
          <a:p>
            <a:pPr indent="0" marL="0">
              <a:buNone/>
            </a:pPr>
            <a:r>
              <a:rPr lang="en-US" sz="2100" b="1" dirty="0">
                <a:solidFill>
                  <a:schemeClr val="tx2"/>
                </a:solidFill>
              </a:rPr>
              <a:t>Que vuelvan</a:t>
            </a:r>
            <a:endParaRPr lang="en-US" sz="2100" dirty="0"/>
          </a:p>
        </p:txBody>
      </p:sp>
      <p:sp>
        <p:nvSpPr>
          <p:cNvPr id="15" name="Text 12"/>
          <p:cNvSpPr txBox="1"/>
          <p:nvPr/>
        </p:nvSpPr>
        <p:spPr>
          <a:xfrm>
            <a:off x="3840480" y="2926080"/>
            <a:ext cx="2148840" cy="1371600"/>
          </a:xfrm>
          <a:prstGeom prst="rect">
            <a:avLst/>
          </a:prstGeom>
          <a:noFill/>
          <a:ln/>
        </p:spPr>
        <p:txBody>
          <a:bodyPr wrap="square" lIns="0" tIns="0" rIns="0" bIns="0" rtlCol="0" anchor="t"/>
          <a:lstStyle/>
          <a:p>
            <a:pPr indent="0" marL="0">
              <a:buNone/>
            </a:pPr>
            <a:r>
              <a:rPr lang="en-US" sz="1500" dirty="0">
                <a:solidFill>
                  <a:schemeClr val="tx1"/>
                </a:solidFill>
              </a:rPr>
              <a:t>Recordatorio de recompra por WhatsApp y cambio de sabores en cada pedido</a:t>
            </a:r>
            <a:endParaRPr lang="en-US" sz="1500" dirty="0"/>
          </a:p>
        </p:txBody>
      </p:sp>
      <p:sp>
        <p:nvSpPr>
          <p:cNvPr id="16" name="Shape 13"/>
          <p:cNvSpPr/>
          <p:nvPr/>
        </p:nvSpPr>
        <p:spPr>
          <a:xfrm>
            <a:off x="3749040" y="4480560"/>
            <a:ext cx="2331720" cy="1463040"/>
          </a:xfrm>
          <a:prstGeom prst="roundRect">
            <a:avLst>
              <a:gd name="adj" fmla="val 6250"/>
            </a:avLst>
          </a:prstGeom>
          <a:solidFill>
            <a:schemeClr val="bg2"/>
          </a:solidFill>
          <a:ln w="12700">
            <a:solidFill>
              <a:schemeClr val="bg2"/>
            </a:solidFill>
            <a:prstDash val="solid"/>
          </a:ln>
        </p:spPr>
      </p:sp>
      <p:sp>
        <p:nvSpPr>
          <p:cNvPr id="17" name="Text 14"/>
          <p:cNvSpPr txBox="1"/>
          <p:nvPr/>
        </p:nvSpPr>
        <p:spPr>
          <a:xfrm>
            <a:off x="3931920" y="4572000"/>
            <a:ext cx="1965960" cy="1280160"/>
          </a:xfrm>
          <a:prstGeom prst="rect">
            <a:avLst/>
          </a:prstGeom>
          <a:noFill/>
          <a:ln/>
        </p:spPr>
        <p:txBody>
          <a:bodyPr wrap="square" lIns="0" tIns="0" rIns="0" bIns="0" rtlCol="0" anchor="ctr"/>
          <a:lstStyle/>
          <a:p>
            <a:pPr indent="0" marL="0">
              <a:buNone/>
            </a:pPr>
            <a:r>
              <a:rPr lang="en-US" sz="3400" b="1" dirty="0">
                <a:solidFill>
                  <a:schemeClr val="accent1"/>
                </a:solidFill>
              </a:rPr>
              <a:t>35 %</a:t>
            </a:r>
            <a:endParaRPr lang="en-US" sz="1400" dirty="0"/>
          </a:p>
          <a:p>
            <a:pPr indent="0" marL="0">
              <a:buNone/>
            </a:pPr>
            <a:r>
              <a:rPr lang="en-US" sz="1300" dirty="0">
                <a:solidFill>
                  <a:schemeClr val="accent2"/>
                </a:solidFill>
              </a:rPr>
              <a:t>de lo vendido en físico vuelve por WhatsApp</a:t>
            </a:r>
            <a:endParaRPr lang="en-US" sz="1400" dirty="0"/>
          </a:p>
        </p:txBody>
      </p:sp>
      <p:sp>
        <p:nvSpPr>
          <p:cNvPr id="18" name="Shape 15"/>
          <p:cNvSpPr/>
          <p:nvPr/>
        </p:nvSpPr>
        <p:spPr>
          <a:xfrm>
            <a:off x="6217920" y="3566160"/>
            <a:ext cx="411480" cy="411480"/>
          </a:xfrm>
          <a:prstGeom prst="ellipse">
            <a:avLst/>
          </a:prstGeom>
          <a:solidFill>
            <a:schemeClr val="accent3"/>
          </a:solidFill>
          <a:ln w="12700">
            <a:solidFill>
              <a:schemeClr val="accent3"/>
            </a:solidFill>
            <a:prstDash val="solid"/>
          </a:ln>
        </p:spPr>
      </p:sp>
      <p:pic>
        <p:nvPicPr>
          <p:cNvPr id="19" name="Image 1" descr="preencoded.png">    </p:cNvPr>
          <p:cNvPicPr>
            <a:picLocks noChangeAspect="1"/>
          </p:cNvPicPr>
          <p:nvPr/>
        </p:nvPicPr>
        <p:blipFill>
          <a:blip r:embed="rId2"/>
          <a:stretch>
            <a:fillRect/>
          </a:stretch>
        </p:blipFill>
        <p:spPr>
          <a:xfrm>
            <a:off x="6308446" y="3656686"/>
            <a:ext cx="230429" cy="230429"/>
          </a:xfrm>
          <a:prstGeom prst="rect">
            <a:avLst/>
          </a:prstGeom>
        </p:spPr>
      </p:pic>
      <p:sp>
        <p:nvSpPr>
          <p:cNvPr id="20" name="Shape 16"/>
          <p:cNvSpPr/>
          <p:nvPr/>
        </p:nvSpPr>
        <p:spPr>
          <a:xfrm>
            <a:off x="6583680" y="1554480"/>
            <a:ext cx="2697480" cy="4572000"/>
          </a:xfrm>
          <a:prstGeom prst="roundRect">
            <a:avLst>
              <a:gd name="adj" fmla="val 4068"/>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21" name="Text 17"/>
          <p:cNvSpPr txBox="1"/>
          <p:nvPr/>
        </p:nvSpPr>
        <p:spPr>
          <a:xfrm>
            <a:off x="6858000" y="1828800"/>
            <a:ext cx="2148840" cy="274320"/>
          </a:xfrm>
          <a:prstGeom prst="rect">
            <a:avLst/>
          </a:prstGeom>
          <a:noFill/>
          <a:ln/>
        </p:spPr>
        <p:txBody>
          <a:bodyPr wrap="square" lIns="0" tIns="0" rIns="0" bIns="0" rtlCol="0" anchor="t"/>
          <a:lstStyle/>
          <a:p>
            <a:pPr indent="0" marL="0">
              <a:buNone/>
            </a:pPr>
            <a:r>
              <a:rPr lang="en-US" sz="1200" b="1" spc="100" kern="0" dirty="0">
                <a:solidFill>
                  <a:schemeClr val="accent1"/>
                </a:solidFill>
              </a:rPr>
              <a:t>3 · CRECER</a:t>
            </a:r>
            <a:endParaRPr lang="en-US" sz="1200" dirty="0"/>
          </a:p>
        </p:txBody>
      </p:sp>
      <p:sp>
        <p:nvSpPr>
          <p:cNvPr id="22" name="Text 18"/>
          <p:cNvSpPr txBox="1"/>
          <p:nvPr/>
        </p:nvSpPr>
        <p:spPr>
          <a:xfrm>
            <a:off x="6858000" y="2148840"/>
            <a:ext cx="2148840" cy="731520"/>
          </a:xfrm>
          <a:prstGeom prst="rect">
            <a:avLst/>
          </a:prstGeom>
          <a:noFill/>
          <a:ln/>
        </p:spPr>
        <p:txBody>
          <a:bodyPr wrap="square" lIns="0" tIns="0" rIns="0" bIns="0" rtlCol="0" anchor="t"/>
          <a:lstStyle/>
          <a:p>
            <a:pPr indent="0" marL="0">
              <a:buNone/>
            </a:pPr>
            <a:r>
              <a:rPr lang="en-US" sz="2100" b="1" dirty="0">
                <a:solidFill>
                  <a:schemeClr val="tx2"/>
                </a:solidFill>
              </a:rPr>
              <a:t>Que nos recomienden</a:t>
            </a:r>
            <a:endParaRPr lang="en-US" sz="2100" dirty="0"/>
          </a:p>
        </p:txBody>
      </p:sp>
      <p:sp>
        <p:nvSpPr>
          <p:cNvPr id="23" name="Text 19"/>
          <p:cNvSpPr txBox="1"/>
          <p:nvPr/>
        </p:nvSpPr>
        <p:spPr>
          <a:xfrm>
            <a:off x="6858000" y="2926080"/>
            <a:ext cx="2148840" cy="1371600"/>
          </a:xfrm>
          <a:prstGeom prst="rect">
            <a:avLst/>
          </a:prstGeom>
          <a:noFill/>
          <a:ln/>
        </p:spPr>
        <p:txBody>
          <a:bodyPr wrap="square" lIns="0" tIns="0" rIns="0" bIns="0" rtlCol="0" anchor="t"/>
          <a:lstStyle/>
          <a:p>
            <a:pPr indent="0" marL="0">
              <a:buNone/>
            </a:pPr>
            <a:r>
              <a:rPr lang="en-US" sz="1500" dirty="0">
                <a:solidFill>
                  <a:schemeClr val="tx1"/>
                </a:solidFill>
              </a:rPr>
              <a:t>Mamá embajadora por salón y nuevos puntos de venta</a:t>
            </a:r>
            <a:endParaRPr lang="en-US" sz="1500" dirty="0"/>
          </a:p>
        </p:txBody>
      </p:sp>
      <p:sp>
        <p:nvSpPr>
          <p:cNvPr id="24" name="Shape 20"/>
          <p:cNvSpPr/>
          <p:nvPr/>
        </p:nvSpPr>
        <p:spPr>
          <a:xfrm>
            <a:off x="6766560" y="4480560"/>
            <a:ext cx="2331720" cy="1463040"/>
          </a:xfrm>
          <a:prstGeom prst="roundRect">
            <a:avLst>
              <a:gd name="adj" fmla="val 6250"/>
            </a:avLst>
          </a:prstGeom>
          <a:solidFill>
            <a:schemeClr val="bg2"/>
          </a:solidFill>
          <a:ln w="12700">
            <a:solidFill>
              <a:schemeClr val="bg2"/>
            </a:solidFill>
            <a:prstDash val="solid"/>
          </a:ln>
        </p:spPr>
      </p:sp>
      <p:sp>
        <p:nvSpPr>
          <p:cNvPr id="25" name="Text 21"/>
          <p:cNvSpPr txBox="1"/>
          <p:nvPr/>
        </p:nvSpPr>
        <p:spPr>
          <a:xfrm>
            <a:off x="6949440" y="4572000"/>
            <a:ext cx="1965960" cy="1280160"/>
          </a:xfrm>
          <a:prstGeom prst="rect">
            <a:avLst/>
          </a:prstGeom>
          <a:noFill/>
          <a:ln/>
        </p:spPr>
        <p:txBody>
          <a:bodyPr wrap="square" lIns="0" tIns="0" rIns="0" bIns="0" rtlCol="0" anchor="ctr"/>
          <a:lstStyle/>
          <a:p>
            <a:pPr indent="0" marL="0">
              <a:buNone/>
            </a:pPr>
            <a:r>
              <a:rPr lang="en-US" sz="3400" b="1" dirty="0">
                <a:solidFill>
                  <a:schemeClr val="accent1"/>
                </a:solidFill>
              </a:rPr>
              <a:t>3</a:t>
            </a:r>
            <a:endParaRPr lang="en-US" sz="1400" dirty="0"/>
          </a:p>
          <a:p>
            <a:pPr indent="0" marL="0">
              <a:buNone/>
            </a:pPr>
            <a:r>
              <a:rPr lang="en-US" sz="1300" dirty="0">
                <a:solidFill>
                  <a:schemeClr val="accent2"/>
                </a:solidFill>
              </a:rPr>
              <a:t>puntos de venta desde agosto de 2027</a:t>
            </a:r>
            <a:endParaRPr lang="en-US" sz="1400" dirty="0"/>
          </a:p>
        </p:txBody>
      </p:sp>
      <p:sp>
        <p:nvSpPr>
          <p:cNvPr id="26" name="IMAGEN_3"/>
          <p:cNvSpPr/>
          <p:nvPr/>
        </p:nvSpPr>
        <p:spPr>
          <a:xfrm>
            <a:off x="9555480" y="1554480"/>
            <a:ext cx="2084832" cy="4572000"/>
          </a:xfrm>
          <a:prstGeom prst="roundRect">
            <a:avLst>
              <a:gd name="adj" fmla="val 6579"/>
            </a:avLst>
          </a:prstGeom>
          <a:solidFill>
            <a:srgbClr val="F0E2CF"/>
          </a:solidFill>
          <a:ln w="19050">
            <a:solidFill>
              <a:schemeClr val="accent5"/>
            </a:solidFill>
            <a:prstDash val="dash"/>
          </a:ln>
        </p:spPr>
      </p:sp>
      <p:pic>
        <p:nvPicPr>
          <p:cNvPr id="27" name="Image 2" descr="preencoded.png">    </p:cNvPr>
          <p:cNvPicPr>
            <a:picLocks noChangeAspect="1"/>
          </p:cNvPicPr>
          <p:nvPr/>
        </p:nvPicPr>
        <p:blipFill>
          <a:blip r:embed="rId3"/>
          <a:stretch>
            <a:fillRect/>
          </a:stretch>
        </p:blipFill>
        <p:spPr>
          <a:xfrm>
            <a:off x="10232136" y="2926080"/>
            <a:ext cx="731520" cy="731520"/>
          </a:xfrm>
          <a:prstGeom prst="rect">
            <a:avLst/>
          </a:prstGeom>
        </p:spPr>
      </p:pic>
      <p:sp>
        <p:nvSpPr>
          <p:cNvPr id="28" name="Text 23"/>
          <p:cNvSpPr txBox="1"/>
          <p:nvPr/>
        </p:nvSpPr>
        <p:spPr>
          <a:xfrm>
            <a:off x="9738360" y="3840480"/>
            <a:ext cx="1719072" cy="1097280"/>
          </a:xfrm>
          <a:prstGeom prst="rect">
            <a:avLst/>
          </a:prstGeom>
          <a:noFill/>
          <a:ln/>
        </p:spPr>
        <p:txBody>
          <a:bodyPr wrap="square" lIns="0" tIns="0" rIns="0" bIns="0" rtlCol="0" anchor="t"/>
          <a:lstStyle/>
          <a:p>
            <a:pPr algn="ctr" indent="0" marL="0">
              <a:buNone/>
            </a:pPr>
            <a:r>
              <a:rPr lang="en-US" sz="1600" b="1" dirty="0">
                <a:solidFill>
                  <a:schemeClr val="accent2"/>
                </a:solidFill>
              </a:rPr>
              <a:t>IMAGEN 3</a:t>
            </a:r>
            <a:endParaRPr lang="en-US" sz="1400" dirty="0"/>
          </a:p>
          <a:p>
            <a:pPr algn="ctr" indent="0" marL="0">
              <a:buNone/>
            </a:pPr>
            <a:r>
              <a:rPr lang="en-US" sz="1300" dirty="0">
                <a:solidFill>
                  <a:schemeClr val="accent2"/>
                </a:solidFill>
              </a:rPr>
              <a:t>Lonchera con AndiBite y fruta</a:t>
            </a:r>
            <a:endParaRPr lang="en-US" sz="1400" dirty="0"/>
          </a:p>
          <a:p>
            <a:pPr algn="ctr" indent="0" marL="0">
              <a:buNone/>
            </a:pPr>
            <a:r>
              <a:rPr lang="en-US" sz="1100" i="1" dirty="0">
                <a:solidFill>
                  <a:schemeClr val="accent2"/>
                </a:solidFill>
              </a:rPr>
              <a:t>Prompt en las notas del orador</a:t>
            </a:r>
            <a:endParaRPr lang="en-US" sz="1400" dirty="0"/>
          </a:p>
        </p:txBody>
      </p:sp>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TRABAJO DE CAMPO 6 · FUENTES DE INGRESO</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Cuatro fuentes de ingreso, una sola línea de producto</a:t>
            </a:r>
            <a:endParaRPr lang="en-US" sz="3400" dirty="0"/>
          </a:p>
        </p:txBody>
      </p:sp>
      <p:sp>
        <p:nvSpPr>
          <p:cNvPr id="4" name="Shape 2"/>
          <p:cNvSpPr/>
          <p:nvPr/>
        </p:nvSpPr>
        <p:spPr>
          <a:xfrm>
            <a:off x="548640" y="1554480"/>
            <a:ext cx="5760720" cy="987552"/>
          </a:xfrm>
          <a:prstGeom prst="roundRect">
            <a:avLst>
              <a:gd name="adj" fmla="val 11111"/>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5" name="Shape 3"/>
          <p:cNvSpPr/>
          <p:nvPr/>
        </p:nvSpPr>
        <p:spPr>
          <a:xfrm>
            <a:off x="731520" y="1728216"/>
            <a:ext cx="640080" cy="640080"/>
          </a:xfrm>
          <a:prstGeom prst="ellipse">
            <a:avLst/>
          </a:prstGeom>
          <a:solidFill>
            <a:schemeClr val="accent1"/>
          </a:solidFill>
          <a:ln w="12700">
            <a:solidFill>
              <a:schemeClr val="accent1"/>
            </a:solidFill>
            <a:prstDash val="solid"/>
          </a:ln>
        </p:spPr>
      </p:sp>
      <p:pic>
        <p:nvPicPr>
          <p:cNvPr id="6" name="Image 0" descr="preencoded.png">    </p:cNvPr>
          <p:cNvPicPr>
            <a:picLocks noChangeAspect="1"/>
          </p:cNvPicPr>
          <p:nvPr/>
        </p:nvPicPr>
        <p:blipFill>
          <a:blip r:embed="rId1"/>
          <a:stretch>
            <a:fillRect/>
          </a:stretch>
        </p:blipFill>
        <p:spPr>
          <a:xfrm>
            <a:off x="872338" y="1869034"/>
            <a:ext cx="358445" cy="358445"/>
          </a:xfrm>
          <a:prstGeom prst="rect">
            <a:avLst/>
          </a:prstGeom>
        </p:spPr>
      </p:pic>
      <p:sp>
        <p:nvSpPr>
          <p:cNvPr id="7" name="Text 4"/>
          <p:cNvSpPr txBox="1"/>
          <p:nvPr/>
        </p:nvSpPr>
        <p:spPr>
          <a:xfrm>
            <a:off x="1554480" y="1554480"/>
            <a:ext cx="3520440" cy="987552"/>
          </a:xfrm>
          <a:prstGeom prst="rect">
            <a:avLst/>
          </a:prstGeom>
          <a:noFill/>
          <a:ln/>
        </p:spPr>
        <p:txBody>
          <a:bodyPr wrap="square" lIns="0" tIns="0" rIns="0" bIns="0" rtlCol="0" anchor="ctr"/>
          <a:lstStyle/>
          <a:p>
            <a:pPr indent="0" marL="0">
              <a:buNone/>
            </a:pPr>
            <a:r>
              <a:rPr lang="en-US" sz="1600" b="1" dirty="0">
                <a:solidFill>
                  <a:schemeClr val="tx2"/>
                </a:solidFill>
              </a:rPr>
              <a:t>Venta en stands y carritos</a:t>
            </a:r>
            <a:endParaRPr lang="en-US" sz="1400" dirty="0"/>
          </a:p>
          <a:p>
            <a:pPr indent="0" marL="0">
              <a:buNone/>
            </a:pPr>
            <a:r>
              <a:rPr lang="en-US" sz="1300" dirty="0">
                <a:solidFill>
                  <a:schemeClr val="accent2"/>
                </a:solidFill>
              </a:rPr>
              <a:t>Unidades y packs en malls y supermercados</a:t>
            </a:r>
            <a:endParaRPr lang="en-US" sz="1400" dirty="0"/>
          </a:p>
        </p:txBody>
      </p:sp>
      <p:sp>
        <p:nvSpPr>
          <p:cNvPr id="8" name="Text 5"/>
          <p:cNvSpPr txBox="1"/>
          <p:nvPr/>
        </p:nvSpPr>
        <p:spPr>
          <a:xfrm>
            <a:off x="5120640" y="1554480"/>
            <a:ext cx="1097280" cy="987552"/>
          </a:xfrm>
          <a:prstGeom prst="rect">
            <a:avLst/>
          </a:prstGeom>
          <a:noFill/>
          <a:ln/>
        </p:spPr>
        <p:txBody>
          <a:bodyPr wrap="square" lIns="0" tIns="0" rIns="0" bIns="0" rtlCol="0" anchor="ctr"/>
          <a:lstStyle/>
          <a:p>
            <a:pPr algn="r" indent="0" marL="0">
              <a:buNone/>
            </a:pPr>
            <a:r>
              <a:rPr lang="en-US" sz="2400" b="1" dirty="0">
                <a:solidFill>
                  <a:schemeClr val="accent1"/>
                </a:solidFill>
              </a:rPr>
              <a:t>49.2 %</a:t>
            </a:r>
            <a:endParaRPr lang="en-US" sz="1400" dirty="0"/>
          </a:p>
          <a:p>
            <a:pPr algn="r" indent="0" marL="0">
              <a:buNone/>
            </a:pPr>
            <a:r>
              <a:rPr lang="en-US" sz="1000" dirty="0">
                <a:solidFill>
                  <a:schemeClr val="accent2"/>
                </a:solidFill>
              </a:rPr>
              <a:t>de los ingresos</a:t>
            </a:r>
            <a:endParaRPr lang="en-US" sz="1400" dirty="0"/>
          </a:p>
        </p:txBody>
      </p:sp>
      <p:sp>
        <p:nvSpPr>
          <p:cNvPr id="9" name="Shape 6"/>
          <p:cNvSpPr/>
          <p:nvPr/>
        </p:nvSpPr>
        <p:spPr>
          <a:xfrm>
            <a:off x="548640" y="2679192"/>
            <a:ext cx="5760720" cy="987552"/>
          </a:xfrm>
          <a:prstGeom prst="roundRect">
            <a:avLst>
              <a:gd name="adj" fmla="val 11111"/>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10" name="Shape 7"/>
          <p:cNvSpPr/>
          <p:nvPr/>
        </p:nvSpPr>
        <p:spPr>
          <a:xfrm>
            <a:off x="731520" y="2852928"/>
            <a:ext cx="640080" cy="640080"/>
          </a:xfrm>
          <a:prstGeom prst="ellipse">
            <a:avLst/>
          </a:prstGeom>
          <a:solidFill>
            <a:schemeClr val="tx2"/>
          </a:solidFill>
          <a:ln w="12700">
            <a:solidFill>
              <a:schemeClr val="tx2"/>
            </a:solidFill>
            <a:prstDash val="solid"/>
          </a:ln>
        </p:spPr>
      </p:sp>
      <p:pic>
        <p:nvPicPr>
          <p:cNvPr id="11" name="Image 1" descr="preencoded.png">    </p:cNvPr>
          <p:cNvPicPr>
            <a:picLocks noChangeAspect="1"/>
          </p:cNvPicPr>
          <p:nvPr/>
        </p:nvPicPr>
        <p:blipFill>
          <a:blip r:embed="rId2"/>
          <a:stretch>
            <a:fillRect/>
          </a:stretch>
        </p:blipFill>
        <p:spPr>
          <a:xfrm>
            <a:off x="872338" y="2993746"/>
            <a:ext cx="358445" cy="358445"/>
          </a:xfrm>
          <a:prstGeom prst="rect">
            <a:avLst/>
          </a:prstGeom>
        </p:spPr>
      </p:pic>
      <p:sp>
        <p:nvSpPr>
          <p:cNvPr id="12" name="Text 8"/>
          <p:cNvSpPr txBox="1"/>
          <p:nvPr/>
        </p:nvSpPr>
        <p:spPr>
          <a:xfrm>
            <a:off x="1554480" y="2679192"/>
            <a:ext cx="3520440" cy="987552"/>
          </a:xfrm>
          <a:prstGeom prst="rect">
            <a:avLst/>
          </a:prstGeom>
          <a:noFill/>
          <a:ln/>
        </p:spPr>
        <p:txBody>
          <a:bodyPr wrap="square" lIns="0" tIns="0" rIns="0" bIns="0" rtlCol="0" anchor="ctr"/>
          <a:lstStyle/>
          <a:p>
            <a:pPr indent="0" marL="0">
              <a:buNone/>
            </a:pPr>
            <a:r>
              <a:rPr lang="en-US" sz="1600" b="1" dirty="0">
                <a:solidFill>
                  <a:schemeClr val="tx2"/>
                </a:solidFill>
              </a:rPr>
              <a:t>Ferias y eventos</a:t>
            </a:r>
            <a:endParaRPr lang="en-US" sz="1400" dirty="0"/>
          </a:p>
          <a:p>
            <a:pPr indent="0" marL="0">
              <a:buNone/>
            </a:pPr>
            <a:r>
              <a:rPr lang="en-US" sz="1300" dirty="0">
                <a:solidFill>
                  <a:schemeClr val="accent2"/>
                </a:solidFill>
              </a:rPr>
              <a:t>Navidad, campaña escolar, kermeses y cumpleaños</a:t>
            </a:r>
            <a:endParaRPr lang="en-US" sz="1400" dirty="0"/>
          </a:p>
        </p:txBody>
      </p:sp>
      <p:sp>
        <p:nvSpPr>
          <p:cNvPr id="13" name="Text 9"/>
          <p:cNvSpPr txBox="1"/>
          <p:nvPr/>
        </p:nvSpPr>
        <p:spPr>
          <a:xfrm>
            <a:off x="5120640" y="2679192"/>
            <a:ext cx="1097280" cy="987552"/>
          </a:xfrm>
          <a:prstGeom prst="rect">
            <a:avLst/>
          </a:prstGeom>
          <a:noFill/>
          <a:ln/>
        </p:spPr>
        <p:txBody>
          <a:bodyPr wrap="square" lIns="0" tIns="0" rIns="0" bIns="0" rtlCol="0" anchor="ctr"/>
          <a:lstStyle/>
          <a:p>
            <a:pPr algn="r" indent="0" marL="0">
              <a:buNone/>
            </a:pPr>
            <a:r>
              <a:rPr lang="en-US" sz="2400" b="1" dirty="0">
                <a:solidFill>
                  <a:schemeClr val="accent1"/>
                </a:solidFill>
              </a:rPr>
              <a:t>18.1 %</a:t>
            </a:r>
            <a:endParaRPr lang="en-US" sz="1400" dirty="0"/>
          </a:p>
          <a:p>
            <a:pPr algn="r" indent="0" marL="0">
              <a:buNone/>
            </a:pPr>
            <a:r>
              <a:rPr lang="en-US" sz="1000" dirty="0">
                <a:solidFill>
                  <a:schemeClr val="accent2"/>
                </a:solidFill>
              </a:rPr>
              <a:t>de los ingresos</a:t>
            </a:r>
            <a:endParaRPr lang="en-US" sz="1400" dirty="0"/>
          </a:p>
        </p:txBody>
      </p:sp>
      <p:sp>
        <p:nvSpPr>
          <p:cNvPr id="14" name="Shape 10"/>
          <p:cNvSpPr/>
          <p:nvPr/>
        </p:nvSpPr>
        <p:spPr>
          <a:xfrm>
            <a:off x="548640" y="3803904"/>
            <a:ext cx="5760720" cy="987552"/>
          </a:xfrm>
          <a:prstGeom prst="roundRect">
            <a:avLst>
              <a:gd name="adj" fmla="val 11111"/>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15" name="Shape 11"/>
          <p:cNvSpPr/>
          <p:nvPr/>
        </p:nvSpPr>
        <p:spPr>
          <a:xfrm>
            <a:off x="731520" y="3977640"/>
            <a:ext cx="640080" cy="640080"/>
          </a:xfrm>
          <a:prstGeom prst="ellipse">
            <a:avLst/>
          </a:prstGeom>
          <a:solidFill>
            <a:schemeClr val="tx2"/>
          </a:solidFill>
          <a:ln w="12700">
            <a:solidFill>
              <a:schemeClr val="tx2"/>
            </a:solidFill>
            <a:prstDash val="solid"/>
          </a:ln>
        </p:spPr>
      </p:sp>
      <p:pic>
        <p:nvPicPr>
          <p:cNvPr id="16" name="Image 2" descr="preencoded.png">    </p:cNvPr>
          <p:cNvPicPr>
            <a:picLocks noChangeAspect="1"/>
          </p:cNvPicPr>
          <p:nvPr/>
        </p:nvPicPr>
        <p:blipFill>
          <a:blip r:embed="rId3"/>
          <a:stretch>
            <a:fillRect/>
          </a:stretch>
        </p:blipFill>
        <p:spPr>
          <a:xfrm>
            <a:off x="872338" y="4118458"/>
            <a:ext cx="358445" cy="358445"/>
          </a:xfrm>
          <a:prstGeom prst="rect">
            <a:avLst/>
          </a:prstGeom>
        </p:spPr>
      </p:pic>
      <p:sp>
        <p:nvSpPr>
          <p:cNvPr id="17" name="Text 12"/>
          <p:cNvSpPr txBox="1"/>
          <p:nvPr/>
        </p:nvSpPr>
        <p:spPr>
          <a:xfrm>
            <a:off x="1554480" y="3803904"/>
            <a:ext cx="3520440" cy="987552"/>
          </a:xfrm>
          <a:prstGeom prst="rect">
            <a:avLst/>
          </a:prstGeom>
          <a:noFill/>
          <a:ln/>
        </p:spPr>
        <p:txBody>
          <a:bodyPr wrap="square" lIns="0" tIns="0" rIns="0" bIns="0" rtlCol="0" anchor="ctr"/>
          <a:lstStyle/>
          <a:p>
            <a:pPr indent="0" marL="0">
              <a:buNone/>
            </a:pPr>
            <a:r>
              <a:rPr lang="en-US" sz="1600" b="1" dirty="0">
                <a:solidFill>
                  <a:schemeClr val="tx2"/>
                </a:solidFill>
              </a:rPr>
              <a:t>Recompra por WhatsApp</a:t>
            </a:r>
            <a:endParaRPr lang="en-US" sz="1400" dirty="0"/>
          </a:p>
          <a:p>
            <a:pPr indent="0" marL="0">
              <a:buNone/>
            </a:pPr>
            <a:r>
              <a:rPr lang="en-US" sz="1300" dirty="0">
                <a:solidFill>
                  <a:schemeClr val="accent2"/>
                </a:solidFill>
              </a:rPr>
              <a:t>Packs de 6 y de 12 con delivery</a:t>
            </a:r>
            <a:endParaRPr lang="en-US" sz="1400" dirty="0"/>
          </a:p>
        </p:txBody>
      </p:sp>
      <p:sp>
        <p:nvSpPr>
          <p:cNvPr id="18" name="Text 13"/>
          <p:cNvSpPr txBox="1"/>
          <p:nvPr/>
        </p:nvSpPr>
        <p:spPr>
          <a:xfrm>
            <a:off x="5120640" y="3803904"/>
            <a:ext cx="1097280" cy="987552"/>
          </a:xfrm>
          <a:prstGeom prst="rect">
            <a:avLst/>
          </a:prstGeom>
          <a:noFill/>
          <a:ln/>
        </p:spPr>
        <p:txBody>
          <a:bodyPr wrap="square" lIns="0" tIns="0" rIns="0" bIns="0" rtlCol="0" anchor="ctr"/>
          <a:lstStyle/>
          <a:p>
            <a:pPr algn="r" indent="0" marL="0">
              <a:buNone/>
            </a:pPr>
            <a:r>
              <a:rPr lang="en-US" sz="2400" b="1" dirty="0">
                <a:solidFill>
                  <a:schemeClr val="accent1"/>
                </a:solidFill>
              </a:rPr>
              <a:t>16.2 %</a:t>
            </a:r>
            <a:endParaRPr lang="en-US" sz="1400" dirty="0"/>
          </a:p>
          <a:p>
            <a:pPr algn="r" indent="0" marL="0">
              <a:buNone/>
            </a:pPr>
            <a:r>
              <a:rPr lang="en-US" sz="1000" dirty="0">
                <a:solidFill>
                  <a:schemeClr val="accent2"/>
                </a:solidFill>
              </a:rPr>
              <a:t>de los ingresos</a:t>
            </a:r>
            <a:endParaRPr lang="en-US" sz="1400" dirty="0"/>
          </a:p>
        </p:txBody>
      </p:sp>
      <p:sp>
        <p:nvSpPr>
          <p:cNvPr id="19" name="Shape 14"/>
          <p:cNvSpPr/>
          <p:nvPr/>
        </p:nvSpPr>
        <p:spPr>
          <a:xfrm>
            <a:off x="548640" y="4928616"/>
            <a:ext cx="5760720" cy="987552"/>
          </a:xfrm>
          <a:prstGeom prst="roundRect">
            <a:avLst>
              <a:gd name="adj" fmla="val 11111"/>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20" name="Shape 15"/>
          <p:cNvSpPr/>
          <p:nvPr/>
        </p:nvSpPr>
        <p:spPr>
          <a:xfrm>
            <a:off x="731520" y="5102352"/>
            <a:ext cx="640080" cy="640080"/>
          </a:xfrm>
          <a:prstGeom prst="ellipse">
            <a:avLst/>
          </a:prstGeom>
          <a:solidFill>
            <a:schemeClr val="tx2"/>
          </a:solidFill>
          <a:ln w="12700">
            <a:solidFill>
              <a:schemeClr val="tx2"/>
            </a:solidFill>
            <a:prstDash val="solid"/>
          </a:ln>
        </p:spPr>
      </p:sp>
      <p:pic>
        <p:nvPicPr>
          <p:cNvPr id="21" name="Image 3" descr="preencoded.png">    </p:cNvPr>
          <p:cNvPicPr>
            <a:picLocks noChangeAspect="1"/>
          </p:cNvPicPr>
          <p:nvPr/>
        </p:nvPicPr>
        <p:blipFill>
          <a:blip r:embed="rId4"/>
          <a:stretch>
            <a:fillRect/>
          </a:stretch>
        </p:blipFill>
        <p:spPr>
          <a:xfrm>
            <a:off x="872338" y="5243170"/>
            <a:ext cx="358445" cy="358445"/>
          </a:xfrm>
          <a:prstGeom prst="rect">
            <a:avLst/>
          </a:prstGeom>
        </p:spPr>
      </p:pic>
      <p:sp>
        <p:nvSpPr>
          <p:cNvPr id="22" name="Text 16"/>
          <p:cNvSpPr txBox="1"/>
          <p:nvPr/>
        </p:nvSpPr>
        <p:spPr>
          <a:xfrm>
            <a:off x="1554480" y="4928616"/>
            <a:ext cx="3520440" cy="987552"/>
          </a:xfrm>
          <a:prstGeom prst="rect">
            <a:avLst/>
          </a:prstGeom>
          <a:noFill/>
          <a:ln/>
        </p:spPr>
        <p:txBody>
          <a:bodyPr wrap="square" lIns="0" tIns="0" rIns="0" bIns="0" rtlCol="0" anchor="ctr"/>
          <a:lstStyle/>
          <a:p>
            <a:pPr indent="0" marL="0">
              <a:buNone/>
            </a:pPr>
            <a:r>
              <a:rPr lang="en-US" sz="1600" b="1" dirty="0">
                <a:solidFill>
                  <a:schemeClr val="tx2"/>
                </a:solidFill>
              </a:rPr>
              <a:t>Venta mayorista (B2B)</a:t>
            </a:r>
            <a:endParaRPr lang="en-US" sz="1400" dirty="0"/>
          </a:p>
          <a:p>
            <a:pPr indent="0" marL="0">
              <a:buNone/>
            </a:pPr>
            <a:r>
              <a:rPr lang="en-US" sz="1300" dirty="0">
                <a:solidFill>
                  <a:schemeClr val="accent2"/>
                </a:solidFill>
              </a:rPr>
              <a:t>Quioscos escolares y tiendas naturistas, con factura</a:t>
            </a:r>
            <a:endParaRPr lang="en-US" sz="1400" dirty="0"/>
          </a:p>
        </p:txBody>
      </p:sp>
      <p:sp>
        <p:nvSpPr>
          <p:cNvPr id="23" name="Text 17"/>
          <p:cNvSpPr txBox="1"/>
          <p:nvPr/>
        </p:nvSpPr>
        <p:spPr>
          <a:xfrm>
            <a:off x="5120640" y="4928616"/>
            <a:ext cx="1097280" cy="987552"/>
          </a:xfrm>
          <a:prstGeom prst="rect">
            <a:avLst/>
          </a:prstGeom>
          <a:noFill/>
          <a:ln/>
        </p:spPr>
        <p:txBody>
          <a:bodyPr wrap="square" lIns="0" tIns="0" rIns="0" bIns="0" rtlCol="0" anchor="ctr"/>
          <a:lstStyle/>
          <a:p>
            <a:pPr algn="r" indent="0" marL="0">
              <a:buNone/>
            </a:pPr>
            <a:r>
              <a:rPr lang="en-US" sz="2400" b="1" dirty="0">
                <a:solidFill>
                  <a:schemeClr val="accent1"/>
                </a:solidFill>
              </a:rPr>
              <a:t>16.6 %</a:t>
            </a:r>
            <a:endParaRPr lang="en-US" sz="1400" dirty="0"/>
          </a:p>
          <a:p>
            <a:pPr algn="r" indent="0" marL="0">
              <a:buNone/>
            </a:pPr>
            <a:r>
              <a:rPr lang="en-US" sz="1000" dirty="0">
                <a:solidFill>
                  <a:schemeClr val="accent2"/>
                </a:solidFill>
              </a:rPr>
              <a:t>de los ingresos</a:t>
            </a:r>
            <a:endParaRPr lang="en-US" sz="14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6583680" y="1554480"/>
          <a:ext cx="5056632" cy="914400"/>
        </p:xfrm>
        <a:graphic>
          <a:graphicData uri="http://schemas.openxmlformats.org/drawingml/2006/table">
            <a:tbl>
              <a:tblPr/>
              <a:tblGrid>
                <a:gridCol w="1764792"/>
                <a:gridCol w="1005840"/>
                <a:gridCol w="1143000"/>
                <a:gridCol w="1143000"/>
              </a:tblGrid>
              <a:tr h="502920">
                <a:tc>
                  <a:txBody>
                    <a:bodyPr/>
                    <a:lstStyle/>
                    <a:p>
                      <a:pPr indent="0" marL="0">
                        <a:buNone/>
                      </a:pPr>
                      <a:r>
                        <a:rPr lang="en-US" sz="1300" b="1" dirty="0">
                          <a:solidFill>
                            <a:schemeClr val="bg1"/>
                          </a:solidFill>
                        </a:rPr>
                        <a:t>Precio con IGV</a:t>
                      </a:r>
                      <a:endParaRPr lang="en-US" sz="13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chemeClr val="tx2"/>
                    </a:solidFill>
                  </a:tcPr>
                </a:tc>
                <a:tc>
                  <a:txBody>
                    <a:bodyPr/>
                    <a:lstStyle/>
                    <a:p>
                      <a:pPr algn="ctr" indent="0" marL="0">
                        <a:buNone/>
                      </a:pPr>
                      <a:r>
                        <a:rPr lang="en-US" sz="1300" b="1" dirty="0">
                          <a:solidFill>
                            <a:schemeClr val="bg1"/>
                          </a:solidFill>
                        </a:rPr>
                        <a:t>Unidad</a:t>
                      </a:r>
                      <a:endParaRPr lang="en-US" sz="13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chemeClr val="tx2"/>
                    </a:solidFill>
                  </a:tcPr>
                </a:tc>
                <a:tc>
                  <a:txBody>
                    <a:bodyPr/>
                    <a:lstStyle/>
                    <a:p>
                      <a:pPr algn="ctr" indent="0" marL="0">
                        <a:buNone/>
                      </a:pPr>
                      <a:r>
                        <a:rPr lang="en-US" sz="1300" b="1" dirty="0">
                          <a:solidFill>
                            <a:schemeClr val="bg1"/>
                          </a:solidFill>
                        </a:rPr>
                        <a:t>Pack de 6</a:t>
                      </a:r>
                      <a:endParaRPr lang="en-US" sz="13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chemeClr val="tx2"/>
                    </a:solidFill>
                  </a:tcPr>
                </a:tc>
                <a:tc>
                  <a:txBody>
                    <a:bodyPr/>
                    <a:lstStyle/>
                    <a:p>
                      <a:pPr algn="ctr" indent="0" marL="0">
                        <a:buNone/>
                      </a:pPr>
                      <a:r>
                        <a:rPr lang="en-US" sz="1300" b="1" dirty="0">
                          <a:solidFill>
                            <a:schemeClr val="bg1"/>
                          </a:solidFill>
                        </a:rPr>
                        <a:t>Pack de 12</a:t>
                      </a:r>
                      <a:endParaRPr lang="en-US" sz="13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chemeClr val="tx2"/>
                    </a:solidFill>
                  </a:tcPr>
                </a:tc>
              </a:tr>
              <a:tr h="502920">
                <a:tc>
                  <a:txBody>
                    <a:bodyPr/>
                    <a:lstStyle/>
                    <a:p>
                      <a:pPr indent="0" marL="0">
                        <a:buNone/>
                      </a:pPr>
                      <a:r>
                        <a:rPr lang="en-US" sz="1400" b="1" dirty="0">
                          <a:solidFill>
                            <a:schemeClr val="tx1"/>
                          </a:solidFill>
                        </a:rPr>
                        <a:t>Stand y ferias</a:t>
                      </a:r>
                      <a:endParaRPr lang="en-US" sz="14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6DCD5"/>
                    </a:solidFill>
                  </a:tcPr>
                </a:tc>
                <a:tc>
                  <a:txBody>
                    <a:bodyPr/>
                    <a:lstStyle/>
                    <a:p>
                      <a:pPr algn="ctr" indent="0" marL="0">
                        <a:buNone/>
                      </a:pPr>
                      <a:r>
                        <a:rPr lang="en-US" sz="1400" b="1" dirty="0">
                          <a:solidFill>
                            <a:schemeClr val="tx1"/>
                          </a:solidFill>
                        </a:rPr>
                        <a:t>S/5.50</a:t>
                      </a:r>
                      <a:endParaRPr lang="en-US" sz="14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6DCD5"/>
                    </a:solidFill>
                  </a:tcPr>
                </a:tc>
                <a:tc>
                  <a:txBody>
                    <a:bodyPr/>
                    <a:lstStyle/>
                    <a:p>
                      <a:pPr algn="ctr" indent="0" marL="0">
                        <a:buNone/>
                      </a:pPr>
                      <a:r>
                        <a:rPr lang="en-US" sz="1400" b="1" dirty="0">
                          <a:solidFill>
                            <a:schemeClr val="tx1"/>
                          </a:solidFill>
                        </a:rPr>
                        <a:t>S/26.00</a:t>
                      </a:r>
                      <a:endParaRPr lang="en-US" sz="14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6DCD5"/>
                    </a:solidFill>
                  </a:tcPr>
                </a:tc>
                <a:tc>
                  <a:txBody>
                    <a:bodyPr/>
                    <a:lstStyle/>
                    <a:p>
                      <a:pPr algn="ctr" indent="0" marL="0">
                        <a:buNone/>
                      </a:pPr>
                      <a:r>
                        <a:rPr lang="en-US" sz="1400" b="1" dirty="0">
                          <a:solidFill>
                            <a:schemeClr val="tx1"/>
                          </a:solidFill>
                        </a:rPr>
                        <a:t>S/48.00</a:t>
                      </a:r>
                      <a:endParaRPr lang="en-US" sz="14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6DCD5"/>
                    </a:solidFill>
                  </a:tcPr>
                </a:tc>
              </a:tr>
              <a:tr h="502920">
                <a:tc>
                  <a:txBody>
                    <a:bodyPr/>
                    <a:lstStyle/>
                    <a:p>
                      <a:pPr indent="0" marL="0">
                        <a:buNone/>
                      </a:pPr>
                      <a:r>
                        <a:rPr lang="en-US" sz="1400" b="1" dirty="0">
                          <a:solidFill>
                            <a:schemeClr val="tx1"/>
                          </a:solidFill>
                        </a:rPr>
                        <a:t>WhatsApp</a:t>
                      </a:r>
                      <a:endParaRPr lang="en-US" sz="14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400" dirty="0">
                          <a:solidFill>
                            <a:schemeClr val="tx1"/>
                          </a:solidFill>
                        </a:rPr>
                        <a:t>S/4.00</a:t>
                      </a:r>
                      <a:endParaRPr lang="en-US" sz="14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400" dirty="0">
                          <a:solidFill>
                            <a:schemeClr val="tx1"/>
                          </a:solidFill>
                        </a:rPr>
                        <a:t>S/24.90</a:t>
                      </a:r>
                      <a:endParaRPr lang="en-US" sz="14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400" dirty="0">
                          <a:solidFill>
                            <a:schemeClr val="tx1"/>
                          </a:solidFill>
                        </a:rPr>
                        <a:t>S/46.90</a:t>
                      </a:r>
                      <a:endParaRPr lang="en-US" sz="14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r>
              <a:tr h="502920">
                <a:tc>
                  <a:txBody>
                    <a:bodyPr/>
                    <a:lstStyle/>
                    <a:p>
                      <a:pPr indent="0" marL="0">
                        <a:buNone/>
                      </a:pPr>
                      <a:r>
                        <a:rPr lang="en-US" sz="1400" b="1" dirty="0">
                          <a:solidFill>
                            <a:schemeClr val="tx1"/>
                          </a:solidFill>
                        </a:rPr>
                        <a:t>Quiosco escolar</a:t>
                      </a:r>
                      <a:endParaRPr lang="en-US" sz="14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400" dirty="0">
                          <a:solidFill>
                            <a:schemeClr val="tx1"/>
                          </a:solidFill>
                        </a:rPr>
                        <a:t>S/4.00*</a:t>
                      </a:r>
                      <a:endParaRPr lang="en-US" sz="14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400" dirty="0">
                          <a:solidFill>
                            <a:schemeClr val="tx1"/>
                          </a:solidFill>
                        </a:rPr>
                        <a:t>–</a:t>
                      </a:r>
                      <a:endParaRPr lang="en-US" sz="14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400" dirty="0">
                          <a:solidFill>
                            <a:schemeClr val="tx1"/>
                          </a:solidFill>
                        </a:rPr>
                        <a:t>–</a:t>
                      </a:r>
                      <a:endParaRPr lang="en-US" sz="14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r>
              <a:tr h="502920">
                <a:tc>
                  <a:txBody>
                    <a:bodyPr/>
                    <a:lstStyle/>
                    <a:p>
                      <a:pPr indent="0" marL="0">
                        <a:buNone/>
                      </a:pPr>
                      <a:r>
                        <a:rPr lang="en-US" sz="1400" b="1" dirty="0">
                          <a:solidFill>
                            <a:schemeClr val="tx1"/>
                          </a:solidFill>
                        </a:rPr>
                        <a:t>Tienda naturista</a:t>
                      </a:r>
                      <a:endParaRPr lang="en-US" sz="14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400" dirty="0">
                          <a:solidFill>
                            <a:schemeClr val="tx1"/>
                          </a:solidFill>
                        </a:rPr>
                        <a:t>–</a:t>
                      </a:r>
                      <a:endParaRPr lang="en-US" sz="14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400" dirty="0">
                          <a:solidFill>
                            <a:schemeClr val="tx1"/>
                          </a:solidFill>
                        </a:rPr>
                        <a:t>S/28.90*</a:t>
                      </a:r>
                      <a:endParaRPr lang="en-US" sz="14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400" dirty="0">
                          <a:solidFill>
                            <a:schemeClr val="tx1"/>
                          </a:solidFill>
                        </a:rPr>
                        <a:t>–</a:t>
                      </a:r>
                      <a:endParaRPr lang="en-US" sz="14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r>
            </a:tbl>
          </a:graphicData>
        </a:graphic>
      </p:graphicFrame>
      <p:sp>
        <p:nvSpPr>
          <p:cNvPr id="25" name="Shape 18"/>
          <p:cNvSpPr/>
          <p:nvPr/>
        </p:nvSpPr>
        <p:spPr>
          <a:xfrm>
            <a:off x="6583680" y="4343400"/>
            <a:ext cx="5056632" cy="1783080"/>
          </a:xfrm>
          <a:prstGeom prst="roundRect">
            <a:avLst>
              <a:gd name="adj" fmla="val 6154"/>
            </a:avLst>
          </a:prstGeom>
          <a:solidFill>
            <a:schemeClr val="bg2"/>
          </a:solidFill>
          <a:ln w="12700">
            <a:solidFill>
              <a:schemeClr val="bg2"/>
            </a:solidFill>
            <a:prstDash val="solid"/>
          </a:ln>
        </p:spPr>
      </p:sp>
      <p:sp>
        <p:nvSpPr>
          <p:cNvPr id="26" name="Text 19"/>
          <p:cNvSpPr txBox="1"/>
          <p:nvPr/>
        </p:nvSpPr>
        <p:spPr>
          <a:xfrm>
            <a:off x="6812280" y="4434840"/>
            <a:ext cx="4617720" cy="1600200"/>
          </a:xfrm>
          <a:prstGeom prst="rect">
            <a:avLst/>
          </a:prstGeom>
          <a:noFill/>
          <a:ln/>
        </p:spPr>
        <p:txBody>
          <a:bodyPr wrap="square" lIns="0" tIns="0" rIns="0" bIns="0" rtlCol="0" anchor="ctr"/>
          <a:lstStyle/>
          <a:p>
            <a:pPr indent="0" marL="0">
              <a:spcAft>
                <a:spcPts val="400"/>
              </a:spcAft>
              <a:buNone/>
            </a:pPr>
            <a:r>
              <a:rPr lang="en-US" sz="1500" b="1" dirty="0">
                <a:solidFill>
                  <a:schemeClr val="tx2"/>
                </a:solidFill>
              </a:rPr>
              <a:t>Precio fijo por lista</a:t>
            </a:r>
            <a:endParaRPr lang="en-US" sz="1400" dirty="0"/>
          </a:p>
          <a:p>
            <a:pPr indent="0" marL="0">
              <a:spcAft>
                <a:spcPts val="400"/>
              </a:spcAft>
              <a:buNone/>
            </a:pPr>
            <a:r>
              <a:rPr lang="en-US" sz="1400" dirty="0">
                <a:solidFill>
                  <a:schemeClr val="tx1"/>
                </a:solidFill>
              </a:rPr>
              <a:t>En el stand se cobra algo más porque hay alquiler y personal. El pack de 12 premia la compra grande.</a:t>
            </a:r>
            <a:endParaRPr lang="en-US" sz="1400" dirty="0"/>
          </a:p>
          <a:p>
            <a:pPr indent="0" marL="0">
              <a:spcAft>
                <a:spcPts val="400"/>
              </a:spcAft>
              <a:buNone/>
            </a:pPr>
            <a:r>
              <a:rPr lang="en-US" sz="1100" i="1" dirty="0">
                <a:solidFill>
                  <a:schemeClr val="accent2"/>
                </a:solidFill>
              </a:rPr>
              <a:t>* Precio al público. AndiBite recibe S/3.00 en el quiosco y S/17.34 en la naturista.</a:t>
            </a:r>
            <a:endParaRPr lang="en-US" sz="1400" dirty="0"/>
          </a:p>
        </p:txBody>
      </p:sp>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TRABAJO DE CAMPO 6 · VENTAS DEL AÑO 1</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S/230,700 en el primer año de ventas</a:t>
            </a:r>
            <a:endParaRPr lang="en-US" sz="3400" dirty="0"/>
          </a:p>
        </p:txBody>
      </p:sp>
      <p:graphicFrame>
        <p:nvGraphicFramePr>
          <p:cNvPr id="4" name="Chart 0" descr=""/>
          <p:cNvGraphicFramePr/>
          <p:nvPr/>
        </p:nvGraphicFramePr>
        <p:xfrm>
          <a:off x="365760" y="1463040"/>
          <a:ext cx="4023360" cy="4069080"/>
        </p:xfrm>
        <a:graphic xmlns:a="http://schemas.openxmlformats.org/drawingml/2006/main">
          <a:graphicData uri="http://schemas.openxmlformats.org/drawingml/2006/chart">
            <c:chart xmlns:c="http://schemas.openxmlformats.org/drawingml/2006/chart" r:id="rId1"/>
          </a:graphicData>
        </a:graphic>
      </p:graphicFrame>
      <p:graphicFrame>
        <p:nvGraphicFramePr>
          <p:cNvPr id="5" name="Chart 1" descr=""/>
          <p:cNvGraphicFramePr/>
          <p:nvPr/>
        </p:nvGraphicFramePr>
        <p:xfrm>
          <a:off x="4572000" y="1463040"/>
          <a:ext cx="7223760" cy="4069080"/>
        </p:xfrm>
        <a:graphic xmlns:a="http://schemas.openxmlformats.org/drawingml/2006/main">
          <a:graphicData uri="http://schemas.openxmlformats.org/drawingml/2006/chart">
            <c:chart xmlns:c="http://schemas.openxmlformats.org/drawingml/2006/chart" r:id="rId2"/>
          </a:graphicData>
        </a:graphic>
      </p:graphicFrame>
      <p:sp>
        <p:nvSpPr>
          <p:cNvPr id="6" name="Shape 2"/>
          <p:cNvSpPr/>
          <p:nvPr/>
        </p:nvSpPr>
        <p:spPr>
          <a:xfrm>
            <a:off x="548640" y="5596128"/>
            <a:ext cx="3566160" cy="658368"/>
          </a:xfrm>
          <a:prstGeom prst="roundRect">
            <a:avLst>
              <a:gd name="adj" fmla="val 13889"/>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7" name="Text 3"/>
          <p:cNvSpPr txBox="1"/>
          <p:nvPr/>
        </p:nvSpPr>
        <p:spPr>
          <a:xfrm>
            <a:off x="777240" y="5596128"/>
            <a:ext cx="3200400" cy="658368"/>
          </a:xfrm>
          <a:prstGeom prst="rect">
            <a:avLst/>
          </a:prstGeom>
          <a:noFill/>
          <a:ln/>
        </p:spPr>
        <p:txBody>
          <a:bodyPr wrap="square" lIns="0" tIns="0" rIns="0" bIns="0" rtlCol="0" anchor="ctr"/>
          <a:lstStyle/>
          <a:p>
            <a:pPr indent="0" marL="0">
              <a:buNone/>
            </a:pPr>
            <a:r>
              <a:rPr lang="en-US" sz="2000" b="1" dirty="0">
                <a:solidFill>
                  <a:schemeClr val="accent1"/>
                </a:solidFill>
              </a:rPr>
              <a:t>52,786  </a:t>
            </a:r>
            <a:pPr indent="0" marL="0">
              <a:buNone/>
            </a:pPr>
            <a:r>
              <a:rPr lang="en-US" sz="1300" dirty="0">
                <a:solidFill>
                  <a:schemeClr val="accent2"/>
                </a:solidFill>
              </a:rPr>
              <a:t>brownies vendidos</a:t>
            </a:r>
            <a:endParaRPr lang="en-US" sz="1400" dirty="0"/>
          </a:p>
        </p:txBody>
      </p:sp>
      <p:sp>
        <p:nvSpPr>
          <p:cNvPr id="8" name="Shape 4"/>
          <p:cNvSpPr/>
          <p:nvPr/>
        </p:nvSpPr>
        <p:spPr>
          <a:xfrm>
            <a:off x="4311396" y="5596128"/>
            <a:ext cx="3566160" cy="658368"/>
          </a:xfrm>
          <a:prstGeom prst="roundRect">
            <a:avLst>
              <a:gd name="adj" fmla="val 13889"/>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9" name="Text 5"/>
          <p:cNvSpPr txBox="1"/>
          <p:nvPr/>
        </p:nvSpPr>
        <p:spPr>
          <a:xfrm>
            <a:off x="4539996" y="5596128"/>
            <a:ext cx="3200400" cy="658368"/>
          </a:xfrm>
          <a:prstGeom prst="rect">
            <a:avLst/>
          </a:prstGeom>
          <a:noFill/>
          <a:ln/>
        </p:spPr>
        <p:txBody>
          <a:bodyPr wrap="square" lIns="0" tIns="0" rIns="0" bIns="0" rtlCol="0" anchor="ctr"/>
          <a:lstStyle/>
          <a:p>
            <a:pPr indent="0" marL="0">
              <a:buNone/>
            </a:pPr>
            <a:r>
              <a:rPr lang="en-US" sz="2000" b="1" dirty="0">
                <a:solidFill>
                  <a:schemeClr val="accent1"/>
                </a:solidFill>
              </a:rPr>
              <a:t>3,262 + 324  </a:t>
            </a:r>
            <a:pPr indent="0" marL="0">
              <a:buNone/>
            </a:pPr>
            <a:r>
              <a:rPr lang="en-US" sz="1300" dirty="0">
                <a:solidFill>
                  <a:schemeClr val="accent2"/>
                </a:solidFill>
              </a:rPr>
              <a:t>packs de 6 y de 12</a:t>
            </a:r>
            <a:endParaRPr lang="en-US" sz="1400" dirty="0"/>
          </a:p>
        </p:txBody>
      </p:sp>
      <p:sp>
        <p:nvSpPr>
          <p:cNvPr id="10" name="Shape 6"/>
          <p:cNvSpPr/>
          <p:nvPr/>
        </p:nvSpPr>
        <p:spPr>
          <a:xfrm>
            <a:off x="8074152" y="5596128"/>
            <a:ext cx="3566160" cy="658368"/>
          </a:xfrm>
          <a:prstGeom prst="roundRect">
            <a:avLst>
              <a:gd name="adj" fmla="val 13889"/>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11" name="Text 7"/>
          <p:cNvSpPr txBox="1"/>
          <p:nvPr/>
        </p:nvSpPr>
        <p:spPr>
          <a:xfrm>
            <a:off x="8302752" y="5596128"/>
            <a:ext cx="3200400" cy="658368"/>
          </a:xfrm>
          <a:prstGeom prst="rect">
            <a:avLst/>
          </a:prstGeom>
          <a:noFill/>
          <a:ln/>
        </p:spPr>
        <p:txBody>
          <a:bodyPr wrap="square" lIns="0" tIns="0" rIns="0" bIns="0" rtlCol="0" anchor="ctr"/>
          <a:lstStyle/>
          <a:p>
            <a:pPr indent="0" marL="0">
              <a:buNone/>
            </a:pPr>
            <a:r>
              <a:rPr lang="en-US" sz="2000" b="1" dirty="0">
                <a:solidFill>
                  <a:schemeClr val="accent1"/>
                </a:solidFill>
              </a:rPr>
              <a:t>S/4.37  </a:t>
            </a:r>
            <a:pPr indent="0" marL="0">
              <a:buNone/>
            </a:pPr>
            <a:r>
              <a:rPr lang="en-US" sz="1300" dirty="0">
                <a:solidFill>
                  <a:schemeClr val="accent2"/>
                </a:solidFill>
              </a:rPr>
              <a:t>de ingreso promedio por brownie</a:t>
            </a:r>
            <a:endParaRPr lang="en-US" sz="1400" dirty="0"/>
          </a:p>
        </p:txBody>
      </p:sp>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731520" y="777240"/>
            <a:ext cx="3657600" cy="1737360"/>
          </a:xfrm>
          <a:prstGeom prst="rect">
            <a:avLst/>
          </a:prstGeom>
          <a:noFill/>
          <a:ln/>
        </p:spPr>
        <p:txBody>
          <a:bodyPr wrap="square" lIns="0" tIns="0" rIns="0" bIns="0" rtlCol="0" anchor="t"/>
          <a:lstStyle/>
          <a:p>
            <a:pPr indent="0" marL="0">
              <a:buNone/>
            </a:pPr>
            <a:r>
              <a:rPr lang="en-US" sz="12000" b="1" dirty="0">
                <a:solidFill>
                  <a:schemeClr val="accent1"/>
                </a:solidFill>
              </a:rPr>
              <a:t>07</a:t>
            </a:r>
            <a:endParaRPr lang="en-US" sz="12000" dirty="0"/>
          </a:p>
        </p:txBody>
      </p:sp>
      <p:sp>
        <p:nvSpPr>
          <p:cNvPr id="3" name="Text 0"/>
          <p:cNvSpPr/>
          <p:nvPr>
            <p:ph idx="100" type="title" hasCustomPrompt="1"/>
          </p:nvPr>
        </p:nvSpPr>
        <p:spPr>
          <a:xfrm>
            <a:off x="731520" y="2514600"/>
            <a:ext cx="6949440" cy="1417320"/>
          </a:xfrm>
          <a:prstGeom prst="rect">
            <a:avLst/>
          </a:prstGeom>
          <a:noFill/>
          <a:ln/>
        </p:spPr>
        <p:txBody>
          <a:bodyPr wrap="square" lIns="0" tIns="0" rIns="0" bIns="0" rtlCol="0" anchor="b"/>
          <a:lstStyle/>
          <a:p>
            <a:pPr algn="l" indent="0" marL="0">
              <a:buNone/>
            </a:pPr>
            <a:r>
              <a:rPr lang="en-US" sz="4400" b="1" dirty="0">
                <a:solidFill>
                  <a:schemeClr val="bg2"/>
                </a:solidFill>
              </a:rPr>
              <a:t>Socios, recursos, actividades y costos</a:t>
            </a:r>
            <a:endParaRPr lang="en-US" sz="4400" dirty="0"/>
          </a:p>
        </p:txBody>
      </p:sp>
      <p:sp>
        <p:nvSpPr>
          <p:cNvPr id="4" name="Text 0"/>
          <p:cNvSpPr/>
          <p:nvPr>
            <p:ph idx="101" type="body" hasCustomPrompt="1"/>
          </p:nvPr>
        </p:nvSpPr>
        <p:spPr>
          <a:xfrm>
            <a:off x="731520" y="4069080"/>
            <a:ext cx="6949440" cy="1188720"/>
          </a:xfrm>
          <a:prstGeom prst="rect">
            <a:avLst/>
          </a:prstGeom>
          <a:noFill/>
          <a:ln/>
        </p:spPr>
        <p:txBody>
          <a:bodyPr wrap="square" lIns="0" tIns="0" rIns="0" bIns="0" rtlCol="0" anchor="t"/>
          <a:lstStyle/>
          <a:p>
            <a:pPr indent="0" marL="0">
              <a:buNone/>
            </a:pPr>
            <a:r>
              <a:rPr lang="en-US" sz="1800" dirty="0">
                <a:solidFill>
                  <a:schemeClr val="accent5"/>
                </a:solidFill>
              </a:rPr>
              <a:t>Socios clave · Recursos clave · Actividades y costos · Punto de equilibrio · Modelo Canvas</a:t>
            </a:r>
            <a:endParaRPr lang="en-US" sz="1800" dirty="0"/>
          </a:p>
        </p:txBody>
      </p:sp>
      <p:sp>
        <p:nvSpPr>
          <p:cNvPr id="5" name="Shape 3"/>
          <p:cNvSpPr/>
          <p:nvPr/>
        </p:nvSpPr>
        <p:spPr>
          <a:xfrm>
            <a:off x="8001000" y="1417320"/>
            <a:ext cx="3840480" cy="3840480"/>
          </a:xfrm>
          <a:prstGeom prst="ellipse">
            <a:avLst/>
          </a:prstGeom>
          <a:solidFill>
            <a:schemeClr val="accent2"/>
          </a:solidFill>
          <a:ln w="12700">
            <a:solidFill>
              <a:schemeClr val="accent2"/>
            </a:solidFill>
            <a:prstDash val="solid"/>
          </a:ln>
        </p:spPr>
      </p:sp>
      <p:pic>
        <p:nvPicPr>
          <p:cNvPr id="6" name="Image 0" descr="preencoded.png">    </p:cNvPr>
          <p:cNvPicPr>
            <a:picLocks noChangeAspect="1"/>
          </p:cNvPicPr>
          <p:nvPr/>
        </p:nvPicPr>
        <p:blipFill>
          <a:blip r:embed="rId1"/>
          <a:stretch>
            <a:fillRect/>
          </a:stretch>
        </p:blipFill>
        <p:spPr>
          <a:xfrm>
            <a:off x="9006840" y="2423160"/>
            <a:ext cx="1828800" cy="1828800"/>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TRABAJO DE CAMPO 7 · SOCIOS CLAVE</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Seis socios que pasan la regla de las 3 C</a:t>
            </a:r>
            <a:endParaRPr lang="en-US" sz="3400" dirty="0"/>
          </a:p>
        </p:txBody>
      </p:sp>
      <p:sp>
        <p:nvSpPr>
          <p:cNvPr id="4" name="Shape 2"/>
          <p:cNvSpPr/>
          <p:nvPr/>
        </p:nvSpPr>
        <p:spPr>
          <a:xfrm>
            <a:off x="4956048" y="2697480"/>
            <a:ext cx="2286000" cy="2286000"/>
          </a:xfrm>
          <a:prstGeom prst="ellipse">
            <a:avLst/>
          </a:prstGeom>
          <a:solidFill>
            <a:schemeClr val="tx2"/>
          </a:solidFill>
          <a:ln w="38100">
            <a:solidFill>
              <a:schemeClr val="accent5"/>
            </a:solidFill>
            <a:prstDash val="solid"/>
          </a:ln>
        </p:spPr>
      </p:sp>
      <p:pic>
        <p:nvPicPr>
          <p:cNvPr id="5" name="Image 0" descr="img/logo_light.png">    </p:cNvPr>
          <p:cNvPicPr>
            <a:picLocks noChangeAspect="1"/>
          </p:cNvPicPr>
          <p:nvPr/>
        </p:nvPicPr>
        <p:blipFill>
          <a:blip r:embed="rId1"/>
          <a:stretch>
            <a:fillRect/>
          </a:stretch>
        </p:blipFill>
        <p:spPr>
          <a:xfrm>
            <a:off x="5276088" y="3310128"/>
            <a:ext cx="1645920" cy="566928"/>
          </a:xfrm>
          <a:prstGeom prst="rect">
            <a:avLst/>
          </a:prstGeom>
        </p:spPr>
      </p:pic>
      <p:sp>
        <p:nvSpPr>
          <p:cNvPr id="6" name="Text 3"/>
          <p:cNvSpPr txBox="1"/>
          <p:nvPr/>
        </p:nvSpPr>
        <p:spPr>
          <a:xfrm>
            <a:off x="4956048" y="4023360"/>
            <a:ext cx="2286000" cy="320040"/>
          </a:xfrm>
          <a:prstGeom prst="rect">
            <a:avLst/>
          </a:prstGeom>
          <a:noFill/>
          <a:ln/>
        </p:spPr>
        <p:txBody>
          <a:bodyPr wrap="square" lIns="0" tIns="0" rIns="0" bIns="0" rtlCol="0" anchor="t"/>
          <a:lstStyle/>
          <a:p>
            <a:pPr algn="ctr" indent="0" marL="0">
              <a:buNone/>
            </a:pPr>
            <a:r>
              <a:rPr lang="en-US" sz="1300" b="1" dirty="0">
                <a:solidFill>
                  <a:schemeClr val="accent5"/>
                </a:solidFill>
              </a:rPr>
              <a:t>AndiBite S.A.C.</a:t>
            </a:r>
            <a:endParaRPr lang="en-US" sz="1300" dirty="0"/>
          </a:p>
        </p:txBody>
      </p:sp>
      <p:sp>
        <p:nvSpPr>
          <p:cNvPr id="7" name="Shape 4"/>
          <p:cNvSpPr/>
          <p:nvPr/>
        </p:nvSpPr>
        <p:spPr>
          <a:xfrm>
            <a:off x="4480560" y="2217420"/>
            <a:ext cx="795528" cy="1623060"/>
          </a:xfrm>
          <a:prstGeom prst="line">
            <a:avLst/>
          </a:prstGeom>
          <a:noFill/>
          <a:ln w="19050">
            <a:solidFill>
              <a:schemeClr val="accent5"/>
            </a:solidFill>
            <a:prstDash val="dash"/>
          </a:ln>
        </p:spPr>
      </p:sp>
      <p:sp>
        <p:nvSpPr>
          <p:cNvPr id="8" name="Shape 5"/>
          <p:cNvSpPr/>
          <p:nvPr/>
        </p:nvSpPr>
        <p:spPr>
          <a:xfrm>
            <a:off x="548640" y="1554480"/>
            <a:ext cx="3931920" cy="1325880"/>
          </a:xfrm>
          <a:prstGeom prst="roundRect">
            <a:avLst>
              <a:gd name="adj" fmla="val 8276"/>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9" name="Shape 6"/>
          <p:cNvSpPr/>
          <p:nvPr/>
        </p:nvSpPr>
        <p:spPr>
          <a:xfrm>
            <a:off x="731520" y="1783080"/>
            <a:ext cx="594360" cy="594360"/>
          </a:xfrm>
          <a:prstGeom prst="ellipse">
            <a:avLst/>
          </a:prstGeom>
          <a:solidFill>
            <a:schemeClr val="accent1"/>
          </a:solidFill>
          <a:ln w="12700">
            <a:solidFill>
              <a:schemeClr val="accent1"/>
            </a:solidFill>
            <a:prstDash val="solid"/>
          </a:ln>
        </p:spPr>
      </p:sp>
      <p:pic>
        <p:nvPicPr>
          <p:cNvPr id="10" name="Image 1" descr="preencoded.png">    </p:cNvPr>
          <p:cNvPicPr>
            <a:picLocks noChangeAspect="1"/>
          </p:cNvPicPr>
          <p:nvPr/>
        </p:nvPicPr>
        <p:blipFill>
          <a:blip r:embed="rId2"/>
          <a:stretch>
            <a:fillRect/>
          </a:stretch>
        </p:blipFill>
        <p:spPr>
          <a:xfrm>
            <a:off x="862279" y="1913839"/>
            <a:ext cx="332842" cy="332842"/>
          </a:xfrm>
          <a:prstGeom prst="rect">
            <a:avLst/>
          </a:prstGeom>
        </p:spPr>
      </p:pic>
      <p:sp>
        <p:nvSpPr>
          <p:cNvPr id="11" name="Text 7"/>
          <p:cNvSpPr txBox="1"/>
          <p:nvPr/>
        </p:nvSpPr>
        <p:spPr>
          <a:xfrm>
            <a:off x="1508760" y="1691640"/>
            <a:ext cx="2834640" cy="329184"/>
          </a:xfrm>
          <a:prstGeom prst="rect">
            <a:avLst/>
          </a:prstGeom>
          <a:noFill/>
          <a:ln/>
        </p:spPr>
        <p:txBody>
          <a:bodyPr wrap="square" lIns="0" tIns="0" rIns="0" bIns="0" rtlCol="0" anchor="t"/>
          <a:lstStyle/>
          <a:p>
            <a:pPr indent="0" marL="0">
              <a:buNone/>
            </a:pPr>
            <a:r>
              <a:rPr lang="en-US" sz="1600" b="1" dirty="0">
                <a:solidFill>
                  <a:schemeClr val="tx2"/>
                </a:solidFill>
              </a:rPr>
              <a:t>Planta maquiladora</a:t>
            </a:r>
            <a:endParaRPr lang="en-US" sz="1600" dirty="0"/>
          </a:p>
        </p:txBody>
      </p:sp>
      <p:sp>
        <p:nvSpPr>
          <p:cNvPr id="12" name="Text 8"/>
          <p:cNvSpPr txBox="1"/>
          <p:nvPr/>
        </p:nvSpPr>
        <p:spPr>
          <a:xfrm>
            <a:off x="1508760" y="2011680"/>
            <a:ext cx="2834640" cy="329184"/>
          </a:xfrm>
          <a:prstGeom prst="rect">
            <a:avLst/>
          </a:prstGeom>
          <a:noFill/>
          <a:ln/>
        </p:spPr>
        <p:txBody>
          <a:bodyPr wrap="square" lIns="0" tIns="0" rIns="0" bIns="0" rtlCol="0" anchor="t"/>
          <a:lstStyle/>
          <a:p>
            <a:pPr indent="0" marL="0">
              <a:buNone/>
            </a:pPr>
            <a:r>
              <a:rPr lang="en-US" sz="1200" dirty="0">
                <a:solidFill>
                  <a:schemeClr val="tx1"/>
                </a:solidFill>
              </a:rPr>
              <a:t>MAKING, Panificadora Unión, INDDA</a:t>
            </a:r>
            <a:endParaRPr lang="en-US" sz="1200" dirty="0"/>
          </a:p>
        </p:txBody>
      </p:sp>
      <p:sp>
        <p:nvSpPr>
          <p:cNvPr id="13" name="Shape 9"/>
          <p:cNvSpPr/>
          <p:nvPr/>
        </p:nvSpPr>
        <p:spPr>
          <a:xfrm>
            <a:off x="1508760" y="2441448"/>
            <a:ext cx="914400" cy="274320"/>
          </a:xfrm>
          <a:prstGeom prst="roundRect">
            <a:avLst>
              <a:gd name="adj" fmla="val 50000"/>
            </a:avLst>
          </a:prstGeom>
          <a:solidFill>
            <a:schemeClr val="bg2"/>
          </a:solidFill>
          <a:ln w="9525">
            <a:solidFill>
              <a:schemeClr val="accent5"/>
            </a:solidFill>
            <a:prstDash val="solid"/>
          </a:ln>
        </p:spPr>
      </p:sp>
      <p:sp>
        <p:nvSpPr>
          <p:cNvPr id="14" name="Text 10"/>
          <p:cNvSpPr txBox="1"/>
          <p:nvPr/>
        </p:nvSpPr>
        <p:spPr>
          <a:xfrm>
            <a:off x="1508760" y="2441448"/>
            <a:ext cx="914400" cy="274320"/>
          </a:xfrm>
          <a:prstGeom prst="rect">
            <a:avLst/>
          </a:prstGeom>
          <a:noFill/>
          <a:ln/>
        </p:spPr>
        <p:txBody>
          <a:bodyPr wrap="square" lIns="0" tIns="0" rIns="0" bIns="0" rtlCol="0" anchor="ctr"/>
          <a:lstStyle/>
          <a:p>
            <a:pPr algn="ctr" indent="0" marL="0">
              <a:buNone/>
            </a:pPr>
            <a:r>
              <a:rPr lang="en-US" sz="900" b="1" dirty="0">
                <a:solidFill>
                  <a:schemeClr val="accent2"/>
                </a:solidFill>
              </a:rPr>
              <a:t>– Conecta</a:t>
            </a:r>
            <a:endParaRPr lang="en-US" sz="900" dirty="0"/>
          </a:p>
        </p:txBody>
      </p:sp>
      <p:sp>
        <p:nvSpPr>
          <p:cNvPr id="15" name="Shape 11"/>
          <p:cNvSpPr/>
          <p:nvPr/>
        </p:nvSpPr>
        <p:spPr>
          <a:xfrm>
            <a:off x="2478024" y="2441448"/>
            <a:ext cx="914400" cy="274320"/>
          </a:xfrm>
          <a:prstGeom prst="roundRect">
            <a:avLst>
              <a:gd name="adj" fmla="val 50000"/>
            </a:avLst>
          </a:prstGeom>
          <a:solidFill>
            <a:schemeClr val="accent4"/>
          </a:solidFill>
          <a:ln w="9525">
            <a:solidFill>
              <a:schemeClr val="accent4"/>
            </a:solidFill>
            <a:prstDash val="solid"/>
          </a:ln>
        </p:spPr>
      </p:sp>
      <p:sp>
        <p:nvSpPr>
          <p:cNvPr id="16" name="Text 12"/>
          <p:cNvSpPr txBox="1"/>
          <p:nvPr/>
        </p:nvSpPr>
        <p:spPr>
          <a:xfrm>
            <a:off x="2478024" y="2441448"/>
            <a:ext cx="914400" cy="274320"/>
          </a:xfrm>
          <a:prstGeom prst="rect">
            <a:avLst/>
          </a:prstGeom>
          <a:noFill/>
          <a:ln/>
        </p:spPr>
        <p:txBody>
          <a:bodyPr wrap="square" lIns="0" tIns="0" rIns="0" bIns="0" rtlCol="0" anchor="ctr"/>
          <a:lstStyle/>
          <a:p>
            <a:pPr algn="ctr" indent="0" marL="0">
              <a:buNone/>
            </a:pPr>
            <a:r>
              <a:rPr lang="en-US" sz="900" b="1" dirty="0">
                <a:solidFill>
                  <a:schemeClr val="bg1"/>
                </a:solidFill>
              </a:rPr>
              <a:t>✓ Convierte</a:t>
            </a:r>
            <a:endParaRPr lang="en-US" sz="900" dirty="0"/>
          </a:p>
        </p:txBody>
      </p:sp>
      <p:sp>
        <p:nvSpPr>
          <p:cNvPr id="17" name="Shape 13"/>
          <p:cNvSpPr/>
          <p:nvPr/>
        </p:nvSpPr>
        <p:spPr>
          <a:xfrm>
            <a:off x="3447288" y="2441448"/>
            <a:ext cx="914400" cy="274320"/>
          </a:xfrm>
          <a:prstGeom prst="roundRect">
            <a:avLst>
              <a:gd name="adj" fmla="val 50000"/>
            </a:avLst>
          </a:prstGeom>
          <a:solidFill>
            <a:schemeClr val="accent4"/>
          </a:solidFill>
          <a:ln w="9525">
            <a:solidFill>
              <a:schemeClr val="accent4"/>
            </a:solidFill>
            <a:prstDash val="solid"/>
          </a:ln>
        </p:spPr>
      </p:sp>
      <p:sp>
        <p:nvSpPr>
          <p:cNvPr id="18" name="Text 14"/>
          <p:cNvSpPr txBox="1"/>
          <p:nvPr/>
        </p:nvSpPr>
        <p:spPr>
          <a:xfrm>
            <a:off x="3447288" y="2441448"/>
            <a:ext cx="914400" cy="274320"/>
          </a:xfrm>
          <a:prstGeom prst="rect">
            <a:avLst/>
          </a:prstGeom>
          <a:noFill/>
          <a:ln/>
        </p:spPr>
        <p:txBody>
          <a:bodyPr wrap="square" lIns="0" tIns="0" rIns="0" bIns="0" rtlCol="0" anchor="ctr"/>
          <a:lstStyle/>
          <a:p>
            <a:pPr algn="ctr" indent="0" marL="0">
              <a:buNone/>
            </a:pPr>
            <a:r>
              <a:rPr lang="en-US" sz="900" b="1" dirty="0">
                <a:solidFill>
                  <a:schemeClr val="bg1"/>
                </a:solidFill>
              </a:rPr>
              <a:t>✓ Complementa</a:t>
            </a:r>
            <a:endParaRPr lang="en-US" sz="900" dirty="0"/>
          </a:p>
        </p:txBody>
      </p:sp>
      <p:sp>
        <p:nvSpPr>
          <p:cNvPr id="19" name="Shape 15"/>
          <p:cNvSpPr/>
          <p:nvPr/>
        </p:nvSpPr>
        <p:spPr>
          <a:xfrm>
            <a:off x="4480560" y="3753612"/>
            <a:ext cx="795528" cy="86868"/>
          </a:xfrm>
          <a:prstGeom prst="line">
            <a:avLst/>
          </a:prstGeom>
          <a:noFill/>
          <a:ln w="19050">
            <a:solidFill>
              <a:schemeClr val="accent5"/>
            </a:solidFill>
            <a:prstDash val="dash"/>
          </a:ln>
        </p:spPr>
      </p:sp>
      <p:sp>
        <p:nvSpPr>
          <p:cNvPr id="20" name="Shape 16"/>
          <p:cNvSpPr/>
          <p:nvPr/>
        </p:nvSpPr>
        <p:spPr>
          <a:xfrm>
            <a:off x="548640" y="3090672"/>
            <a:ext cx="3931920" cy="1325880"/>
          </a:xfrm>
          <a:prstGeom prst="roundRect">
            <a:avLst>
              <a:gd name="adj" fmla="val 8276"/>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21" name="Shape 17"/>
          <p:cNvSpPr/>
          <p:nvPr/>
        </p:nvSpPr>
        <p:spPr>
          <a:xfrm>
            <a:off x="731520" y="3319272"/>
            <a:ext cx="594360" cy="594360"/>
          </a:xfrm>
          <a:prstGeom prst="ellipse">
            <a:avLst/>
          </a:prstGeom>
          <a:solidFill>
            <a:schemeClr val="accent1"/>
          </a:solidFill>
          <a:ln w="12700">
            <a:solidFill>
              <a:schemeClr val="accent1"/>
            </a:solidFill>
            <a:prstDash val="solid"/>
          </a:ln>
        </p:spPr>
      </p:sp>
      <p:pic>
        <p:nvPicPr>
          <p:cNvPr id="22" name="Image 2" descr="preencoded.png">    </p:cNvPr>
          <p:cNvPicPr>
            <a:picLocks noChangeAspect="1"/>
          </p:cNvPicPr>
          <p:nvPr/>
        </p:nvPicPr>
        <p:blipFill>
          <a:blip r:embed="rId3"/>
          <a:stretch>
            <a:fillRect/>
          </a:stretch>
        </p:blipFill>
        <p:spPr>
          <a:xfrm>
            <a:off x="862279" y="3450031"/>
            <a:ext cx="332842" cy="332842"/>
          </a:xfrm>
          <a:prstGeom prst="rect">
            <a:avLst/>
          </a:prstGeom>
        </p:spPr>
      </p:pic>
      <p:sp>
        <p:nvSpPr>
          <p:cNvPr id="23" name="Text 18"/>
          <p:cNvSpPr txBox="1"/>
          <p:nvPr/>
        </p:nvSpPr>
        <p:spPr>
          <a:xfrm>
            <a:off x="1508760" y="3227832"/>
            <a:ext cx="2834640" cy="329184"/>
          </a:xfrm>
          <a:prstGeom prst="rect">
            <a:avLst/>
          </a:prstGeom>
          <a:noFill/>
          <a:ln/>
        </p:spPr>
        <p:txBody>
          <a:bodyPr wrap="square" lIns="0" tIns="0" rIns="0" bIns="0" rtlCol="0" anchor="t"/>
          <a:lstStyle/>
          <a:p>
            <a:pPr indent="0" marL="0">
              <a:buNone/>
            </a:pPr>
            <a:r>
              <a:rPr lang="en-US" sz="1600" b="1" dirty="0">
                <a:solidFill>
                  <a:schemeClr val="tx2"/>
                </a:solidFill>
              </a:rPr>
              <a:t>Laboratorio INACAL</a:t>
            </a:r>
            <a:endParaRPr lang="en-US" sz="1600" dirty="0"/>
          </a:p>
        </p:txBody>
      </p:sp>
      <p:sp>
        <p:nvSpPr>
          <p:cNvPr id="24" name="Text 19"/>
          <p:cNvSpPr txBox="1"/>
          <p:nvPr/>
        </p:nvSpPr>
        <p:spPr>
          <a:xfrm>
            <a:off x="1508760" y="3547872"/>
            <a:ext cx="2834640" cy="329184"/>
          </a:xfrm>
          <a:prstGeom prst="rect">
            <a:avLst/>
          </a:prstGeom>
          <a:noFill/>
          <a:ln/>
        </p:spPr>
        <p:txBody>
          <a:bodyPr wrap="square" lIns="0" tIns="0" rIns="0" bIns="0" rtlCol="0" anchor="t"/>
          <a:lstStyle/>
          <a:p>
            <a:pPr indent="0" marL="0">
              <a:buNone/>
            </a:pPr>
            <a:r>
              <a:rPr lang="en-US" sz="1200" dirty="0">
                <a:solidFill>
                  <a:schemeClr val="tx1"/>
                </a:solidFill>
              </a:rPr>
              <a:t>SAT Perú y La Molina Calidad Total</a:t>
            </a:r>
            <a:endParaRPr lang="en-US" sz="1200" dirty="0"/>
          </a:p>
        </p:txBody>
      </p:sp>
      <p:sp>
        <p:nvSpPr>
          <p:cNvPr id="25" name="Shape 20"/>
          <p:cNvSpPr/>
          <p:nvPr/>
        </p:nvSpPr>
        <p:spPr>
          <a:xfrm>
            <a:off x="1508760" y="3977640"/>
            <a:ext cx="914400" cy="274320"/>
          </a:xfrm>
          <a:prstGeom prst="roundRect">
            <a:avLst>
              <a:gd name="adj" fmla="val 50000"/>
            </a:avLst>
          </a:prstGeom>
          <a:solidFill>
            <a:schemeClr val="accent4"/>
          </a:solidFill>
          <a:ln w="9525">
            <a:solidFill>
              <a:schemeClr val="accent4"/>
            </a:solidFill>
            <a:prstDash val="solid"/>
          </a:ln>
        </p:spPr>
      </p:sp>
      <p:sp>
        <p:nvSpPr>
          <p:cNvPr id="26" name="Text 21"/>
          <p:cNvSpPr txBox="1"/>
          <p:nvPr/>
        </p:nvSpPr>
        <p:spPr>
          <a:xfrm>
            <a:off x="1508760" y="3977640"/>
            <a:ext cx="914400" cy="274320"/>
          </a:xfrm>
          <a:prstGeom prst="rect">
            <a:avLst/>
          </a:prstGeom>
          <a:noFill/>
          <a:ln/>
        </p:spPr>
        <p:txBody>
          <a:bodyPr wrap="square" lIns="0" tIns="0" rIns="0" bIns="0" rtlCol="0" anchor="ctr"/>
          <a:lstStyle/>
          <a:p>
            <a:pPr algn="ctr" indent="0" marL="0">
              <a:buNone/>
            </a:pPr>
            <a:r>
              <a:rPr lang="en-US" sz="900" b="1" dirty="0">
                <a:solidFill>
                  <a:schemeClr val="bg1"/>
                </a:solidFill>
              </a:rPr>
              <a:t>✓ Conecta</a:t>
            </a:r>
            <a:endParaRPr lang="en-US" sz="900" dirty="0"/>
          </a:p>
        </p:txBody>
      </p:sp>
      <p:sp>
        <p:nvSpPr>
          <p:cNvPr id="27" name="Shape 22"/>
          <p:cNvSpPr/>
          <p:nvPr/>
        </p:nvSpPr>
        <p:spPr>
          <a:xfrm>
            <a:off x="2478024" y="3977640"/>
            <a:ext cx="914400" cy="274320"/>
          </a:xfrm>
          <a:prstGeom prst="roundRect">
            <a:avLst>
              <a:gd name="adj" fmla="val 50000"/>
            </a:avLst>
          </a:prstGeom>
          <a:solidFill>
            <a:schemeClr val="accent4"/>
          </a:solidFill>
          <a:ln w="9525">
            <a:solidFill>
              <a:schemeClr val="accent4"/>
            </a:solidFill>
            <a:prstDash val="solid"/>
          </a:ln>
        </p:spPr>
      </p:sp>
      <p:sp>
        <p:nvSpPr>
          <p:cNvPr id="28" name="Text 23"/>
          <p:cNvSpPr txBox="1"/>
          <p:nvPr/>
        </p:nvSpPr>
        <p:spPr>
          <a:xfrm>
            <a:off x="2478024" y="3977640"/>
            <a:ext cx="914400" cy="274320"/>
          </a:xfrm>
          <a:prstGeom prst="rect">
            <a:avLst/>
          </a:prstGeom>
          <a:noFill/>
          <a:ln/>
        </p:spPr>
        <p:txBody>
          <a:bodyPr wrap="square" lIns="0" tIns="0" rIns="0" bIns="0" rtlCol="0" anchor="ctr"/>
          <a:lstStyle/>
          <a:p>
            <a:pPr algn="ctr" indent="0" marL="0">
              <a:buNone/>
            </a:pPr>
            <a:r>
              <a:rPr lang="en-US" sz="900" b="1" dirty="0">
                <a:solidFill>
                  <a:schemeClr val="bg1"/>
                </a:solidFill>
              </a:rPr>
              <a:t>✓ Convierte</a:t>
            </a:r>
            <a:endParaRPr lang="en-US" sz="900" dirty="0"/>
          </a:p>
        </p:txBody>
      </p:sp>
      <p:sp>
        <p:nvSpPr>
          <p:cNvPr id="29" name="Shape 24"/>
          <p:cNvSpPr/>
          <p:nvPr/>
        </p:nvSpPr>
        <p:spPr>
          <a:xfrm>
            <a:off x="3447288" y="3977640"/>
            <a:ext cx="914400" cy="274320"/>
          </a:xfrm>
          <a:prstGeom prst="roundRect">
            <a:avLst>
              <a:gd name="adj" fmla="val 50000"/>
            </a:avLst>
          </a:prstGeom>
          <a:solidFill>
            <a:schemeClr val="accent4"/>
          </a:solidFill>
          <a:ln w="9525">
            <a:solidFill>
              <a:schemeClr val="accent4"/>
            </a:solidFill>
            <a:prstDash val="solid"/>
          </a:ln>
        </p:spPr>
      </p:sp>
      <p:sp>
        <p:nvSpPr>
          <p:cNvPr id="30" name="Text 25"/>
          <p:cNvSpPr txBox="1"/>
          <p:nvPr/>
        </p:nvSpPr>
        <p:spPr>
          <a:xfrm>
            <a:off x="3447288" y="3977640"/>
            <a:ext cx="914400" cy="274320"/>
          </a:xfrm>
          <a:prstGeom prst="rect">
            <a:avLst/>
          </a:prstGeom>
          <a:noFill/>
          <a:ln/>
        </p:spPr>
        <p:txBody>
          <a:bodyPr wrap="square" lIns="0" tIns="0" rIns="0" bIns="0" rtlCol="0" anchor="ctr"/>
          <a:lstStyle/>
          <a:p>
            <a:pPr algn="ctr" indent="0" marL="0">
              <a:buNone/>
            </a:pPr>
            <a:r>
              <a:rPr lang="en-US" sz="900" b="1" dirty="0">
                <a:solidFill>
                  <a:schemeClr val="bg1"/>
                </a:solidFill>
              </a:rPr>
              <a:t>✓ Complementa</a:t>
            </a:r>
            <a:endParaRPr lang="en-US" sz="900" dirty="0"/>
          </a:p>
        </p:txBody>
      </p:sp>
      <p:sp>
        <p:nvSpPr>
          <p:cNvPr id="31" name="Shape 26"/>
          <p:cNvSpPr/>
          <p:nvPr/>
        </p:nvSpPr>
        <p:spPr>
          <a:xfrm>
            <a:off x="4480560" y="5289804"/>
            <a:ext cx="795528" cy="-1449324"/>
          </a:xfrm>
          <a:prstGeom prst="line">
            <a:avLst/>
          </a:prstGeom>
          <a:noFill/>
          <a:ln w="19050">
            <a:solidFill>
              <a:schemeClr val="accent5"/>
            </a:solidFill>
            <a:prstDash val="dash"/>
          </a:ln>
        </p:spPr>
      </p:sp>
      <p:sp>
        <p:nvSpPr>
          <p:cNvPr id="32" name="Shape 27"/>
          <p:cNvSpPr/>
          <p:nvPr/>
        </p:nvSpPr>
        <p:spPr>
          <a:xfrm>
            <a:off x="548640" y="4626864"/>
            <a:ext cx="3931920" cy="1325880"/>
          </a:xfrm>
          <a:prstGeom prst="roundRect">
            <a:avLst>
              <a:gd name="adj" fmla="val 8276"/>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33" name="Shape 28"/>
          <p:cNvSpPr/>
          <p:nvPr/>
        </p:nvSpPr>
        <p:spPr>
          <a:xfrm>
            <a:off x="731520" y="4855464"/>
            <a:ext cx="594360" cy="594360"/>
          </a:xfrm>
          <a:prstGeom prst="ellipse">
            <a:avLst/>
          </a:prstGeom>
          <a:solidFill>
            <a:schemeClr val="accent1"/>
          </a:solidFill>
          <a:ln w="12700">
            <a:solidFill>
              <a:schemeClr val="accent1"/>
            </a:solidFill>
            <a:prstDash val="solid"/>
          </a:ln>
        </p:spPr>
      </p:sp>
      <p:pic>
        <p:nvPicPr>
          <p:cNvPr id="34" name="Image 3" descr="preencoded.png">    </p:cNvPr>
          <p:cNvPicPr>
            <a:picLocks noChangeAspect="1"/>
          </p:cNvPicPr>
          <p:nvPr/>
        </p:nvPicPr>
        <p:blipFill>
          <a:blip r:embed="rId4"/>
          <a:stretch>
            <a:fillRect/>
          </a:stretch>
        </p:blipFill>
        <p:spPr>
          <a:xfrm>
            <a:off x="862279" y="4986223"/>
            <a:ext cx="332842" cy="332842"/>
          </a:xfrm>
          <a:prstGeom prst="rect">
            <a:avLst/>
          </a:prstGeom>
        </p:spPr>
      </p:pic>
      <p:sp>
        <p:nvSpPr>
          <p:cNvPr id="35" name="Text 29"/>
          <p:cNvSpPr txBox="1"/>
          <p:nvPr/>
        </p:nvSpPr>
        <p:spPr>
          <a:xfrm>
            <a:off x="1508760" y="4764024"/>
            <a:ext cx="2834640" cy="329184"/>
          </a:xfrm>
          <a:prstGeom prst="rect">
            <a:avLst/>
          </a:prstGeom>
          <a:noFill/>
          <a:ln/>
        </p:spPr>
        <p:txBody>
          <a:bodyPr wrap="square" lIns="0" tIns="0" rIns="0" bIns="0" rtlCol="0" anchor="t"/>
          <a:lstStyle/>
          <a:p>
            <a:pPr indent="0" marL="0">
              <a:buNone/>
            </a:pPr>
            <a:r>
              <a:rPr lang="en-US" sz="1600" b="1" dirty="0">
                <a:solidFill>
                  <a:schemeClr val="tx2"/>
                </a:solidFill>
              </a:rPr>
              <a:t>Proveedores</a:t>
            </a:r>
            <a:endParaRPr lang="en-US" sz="1600" dirty="0"/>
          </a:p>
        </p:txBody>
      </p:sp>
      <p:sp>
        <p:nvSpPr>
          <p:cNvPr id="36" name="Text 30"/>
          <p:cNvSpPr txBox="1"/>
          <p:nvPr/>
        </p:nvSpPr>
        <p:spPr>
          <a:xfrm>
            <a:off x="1508760" y="5084064"/>
            <a:ext cx="2834640" cy="329184"/>
          </a:xfrm>
          <a:prstGeom prst="rect">
            <a:avLst/>
          </a:prstGeom>
          <a:noFill/>
          <a:ln/>
        </p:spPr>
        <p:txBody>
          <a:bodyPr wrap="square" lIns="0" tIns="0" rIns="0" bIns="0" rtlCol="0" anchor="t"/>
          <a:lstStyle/>
          <a:p>
            <a:pPr indent="0" marL="0">
              <a:buNone/>
            </a:pPr>
            <a:r>
              <a:rPr lang="en-US" sz="1200" dirty="0">
                <a:solidFill>
                  <a:schemeClr val="tx1"/>
                </a:solidFill>
              </a:rPr>
              <a:t>Redondos (sangrecita), Makro, empaques</a:t>
            </a:r>
            <a:endParaRPr lang="en-US" sz="1200" dirty="0"/>
          </a:p>
        </p:txBody>
      </p:sp>
      <p:sp>
        <p:nvSpPr>
          <p:cNvPr id="37" name="Shape 31"/>
          <p:cNvSpPr/>
          <p:nvPr/>
        </p:nvSpPr>
        <p:spPr>
          <a:xfrm>
            <a:off x="1508760" y="5513832"/>
            <a:ext cx="914400" cy="274320"/>
          </a:xfrm>
          <a:prstGeom prst="roundRect">
            <a:avLst>
              <a:gd name="adj" fmla="val 50000"/>
            </a:avLst>
          </a:prstGeom>
          <a:solidFill>
            <a:schemeClr val="bg2"/>
          </a:solidFill>
          <a:ln w="9525">
            <a:solidFill>
              <a:schemeClr val="accent5"/>
            </a:solidFill>
            <a:prstDash val="solid"/>
          </a:ln>
        </p:spPr>
      </p:sp>
      <p:sp>
        <p:nvSpPr>
          <p:cNvPr id="38" name="Text 32"/>
          <p:cNvSpPr txBox="1"/>
          <p:nvPr/>
        </p:nvSpPr>
        <p:spPr>
          <a:xfrm>
            <a:off x="1508760" y="5513832"/>
            <a:ext cx="914400" cy="274320"/>
          </a:xfrm>
          <a:prstGeom prst="rect">
            <a:avLst/>
          </a:prstGeom>
          <a:noFill/>
          <a:ln/>
        </p:spPr>
        <p:txBody>
          <a:bodyPr wrap="square" lIns="0" tIns="0" rIns="0" bIns="0" rtlCol="0" anchor="ctr"/>
          <a:lstStyle/>
          <a:p>
            <a:pPr algn="ctr" indent="0" marL="0">
              <a:buNone/>
            </a:pPr>
            <a:r>
              <a:rPr lang="en-US" sz="900" b="1" dirty="0">
                <a:solidFill>
                  <a:schemeClr val="accent2"/>
                </a:solidFill>
              </a:rPr>
              <a:t>– Conecta</a:t>
            </a:r>
            <a:endParaRPr lang="en-US" sz="900" dirty="0"/>
          </a:p>
        </p:txBody>
      </p:sp>
      <p:sp>
        <p:nvSpPr>
          <p:cNvPr id="39" name="Shape 33"/>
          <p:cNvSpPr/>
          <p:nvPr/>
        </p:nvSpPr>
        <p:spPr>
          <a:xfrm>
            <a:off x="2478024" y="5513832"/>
            <a:ext cx="914400" cy="274320"/>
          </a:xfrm>
          <a:prstGeom prst="roundRect">
            <a:avLst>
              <a:gd name="adj" fmla="val 50000"/>
            </a:avLst>
          </a:prstGeom>
          <a:solidFill>
            <a:schemeClr val="accent4"/>
          </a:solidFill>
          <a:ln w="9525">
            <a:solidFill>
              <a:schemeClr val="accent4"/>
            </a:solidFill>
            <a:prstDash val="solid"/>
          </a:ln>
        </p:spPr>
      </p:sp>
      <p:sp>
        <p:nvSpPr>
          <p:cNvPr id="40" name="Text 34"/>
          <p:cNvSpPr txBox="1"/>
          <p:nvPr/>
        </p:nvSpPr>
        <p:spPr>
          <a:xfrm>
            <a:off x="2478024" y="5513832"/>
            <a:ext cx="914400" cy="274320"/>
          </a:xfrm>
          <a:prstGeom prst="rect">
            <a:avLst/>
          </a:prstGeom>
          <a:noFill/>
          <a:ln/>
        </p:spPr>
        <p:txBody>
          <a:bodyPr wrap="square" lIns="0" tIns="0" rIns="0" bIns="0" rtlCol="0" anchor="ctr"/>
          <a:lstStyle/>
          <a:p>
            <a:pPr algn="ctr" indent="0" marL="0">
              <a:buNone/>
            </a:pPr>
            <a:r>
              <a:rPr lang="en-US" sz="900" b="1" dirty="0">
                <a:solidFill>
                  <a:schemeClr val="bg1"/>
                </a:solidFill>
              </a:rPr>
              <a:t>✓ Convierte</a:t>
            </a:r>
            <a:endParaRPr lang="en-US" sz="900" dirty="0"/>
          </a:p>
        </p:txBody>
      </p:sp>
      <p:sp>
        <p:nvSpPr>
          <p:cNvPr id="41" name="Shape 35"/>
          <p:cNvSpPr/>
          <p:nvPr/>
        </p:nvSpPr>
        <p:spPr>
          <a:xfrm>
            <a:off x="3447288" y="5513832"/>
            <a:ext cx="914400" cy="274320"/>
          </a:xfrm>
          <a:prstGeom prst="roundRect">
            <a:avLst>
              <a:gd name="adj" fmla="val 50000"/>
            </a:avLst>
          </a:prstGeom>
          <a:solidFill>
            <a:schemeClr val="accent4"/>
          </a:solidFill>
          <a:ln w="9525">
            <a:solidFill>
              <a:schemeClr val="accent4"/>
            </a:solidFill>
            <a:prstDash val="solid"/>
          </a:ln>
        </p:spPr>
      </p:sp>
      <p:sp>
        <p:nvSpPr>
          <p:cNvPr id="42" name="Text 36"/>
          <p:cNvSpPr txBox="1"/>
          <p:nvPr/>
        </p:nvSpPr>
        <p:spPr>
          <a:xfrm>
            <a:off x="3447288" y="5513832"/>
            <a:ext cx="914400" cy="274320"/>
          </a:xfrm>
          <a:prstGeom prst="rect">
            <a:avLst/>
          </a:prstGeom>
          <a:noFill/>
          <a:ln/>
        </p:spPr>
        <p:txBody>
          <a:bodyPr wrap="square" lIns="0" tIns="0" rIns="0" bIns="0" rtlCol="0" anchor="ctr"/>
          <a:lstStyle/>
          <a:p>
            <a:pPr algn="ctr" indent="0" marL="0">
              <a:buNone/>
            </a:pPr>
            <a:r>
              <a:rPr lang="en-US" sz="900" b="1" dirty="0">
                <a:solidFill>
                  <a:schemeClr val="bg1"/>
                </a:solidFill>
              </a:rPr>
              <a:t>✓ Complementa</a:t>
            </a:r>
            <a:endParaRPr lang="en-US" sz="900" dirty="0"/>
          </a:p>
        </p:txBody>
      </p:sp>
      <p:sp>
        <p:nvSpPr>
          <p:cNvPr id="43" name="Shape 37"/>
          <p:cNvSpPr/>
          <p:nvPr/>
        </p:nvSpPr>
        <p:spPr>
          <a:xfrm flipV="1">
            <a:off x="6922008" y="2217420"/>
            <a:ext cx="786384" cy="1623060"/>
          </a:xfrm>
          <a:prstGeom prst="line">
            <a:avLst/>
          </a:prstGeom>
          <a:noFill/>
          <a:ln w="19050">
            <a:solidFill>
              <a:schemeClr val="accent5"/>
            </a:solidFill>
            <a:prstDash val="dash"/>
          </a:ln>
        </p:spPr>
      </p:sp>
      <p:sp>
        <p:nvSpPr>
          <p:cNvPr id="44" name="Shape 38"/>
          <p:cNvSpPr/>
          <p:nvPr/>
        </p:nvSpPr>
        <p:spPr>
          <a:xfrm>
            <a:off x="7708392" y="1554480"/>
            <a:ext cx="3931920" cy="1325880"/>
          </a:xfrm>
          <a:prstGeom prst="roundRect">
            <a:avLst>
              <a:gd name="adj" fmla="val 8276"/>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45" name="Shape 39"/>
          <p:cNvSpPr/>
          <p:nvPr/>
        </p:nvSpPr>
        <p:spPr>
          <a:xfrm>
            <a:off x="7891272" y="1783080"/>
            <a:ext cx="594360" cy="594360"/>
          </a:xfrm>
          <a:prstGeom prst="ellipse">
            <a:avLst/>
          </a:prstGeom>
          <a:solidFill>
            <a:schemeClr val="accent1"/>
          </a:solidFill>
          <a:ln w="12700">
            <a:solidFill>
              <a:schemeClr val="accent1"/>
            </a:solidFill>
            <a:prstDash val="solid"/>
          </a:ln>
        </p:spPr>
      </p:sp>
      <p:pic>
        <p:nvPicPr>
          <p:cNvPr id="46" name="Image 4" descr="preencoded.png">    </p:cNvPr>
          <p:cNvPicPr>
            <a:picLocks noChangeAspect="1"/>
          </p:cNvPicPr>
          <p:nvPr/>
        </p:nvPicPr>
        <p:blipFill>
          <a:blip r:embed="rId5"/>
          <a:stretch>
            <a:fillRect/>
          </a:stretch>
        </p:blipFill>
        <p:spPr>
          <a:xfrm>
            <a:off x="8022031" y="1913839"/>
            <a:ext cx="332842" cy="332842"/>
          </a:xfrm>
          <a:prstGeom prst="rect">
            <a:avLst/>
          </a:prstGeom>
        </p:spPr>
      </p:pic>
      <p:sp>
        <p:nvSpPr>
          <p:cNvPr id="47" name="Text 40"/>
          <p:cNvSpPr txBox="1"/>
          <p:nvPr/>
        </p:nvSpPr>
        <p:spPr>
          <a:xfrm>
            <a:off x="8668512" y="1691640"/>
            <a:ext cx="2834640" cy="329184"/>
          </a:xfrm>
          <a:prstGeom prst="rect">
            <a:avLst/>
          </a:prstGeom>
          <a:noFill/>
          <a:ln/>
        </p:spPr>
        <p:txBody>
          <a:bodyPr wrap="square" lIns="0" tIns="0" rIns="0" bIns="0" rtlCol="0" anchor="t"/>
          <a:lstStyle/>
          <a:p>
            <a:pPr indent="0" marL="0">
              <a:buNone/>
            </a:pPr>
            <a:r>
              <a:rPr lang="en-US" sz="1600" b="1" dirty="0">
                <a:solidFill>
                  <a:schemeClr val="tx2"/>
                </a:solidFill>
              </a:rPr>
              <a:t>Malls y supermercados</a:t>
            </a:r>
            <a:endParaRPr lang="en-US" sz="1600" dirty="0"/>
          </a:p>
        </p:txBody>
      </p:sp>
      <p:sp>
        <p:nvSpPr>
          <p:cNvPr id="48" name="Text 41"/>
          <p:cNvSpPr txBox="1"/>
          <p:nvPr/>
        </p:nvSpPr>
        <p:spPr>
          <a:xfrm>
            <a:off x="8668512" y="2011680"/>
            <a:ext cx="2834640" cy="329184"/>
          </a:xfrm>
          <a:prstGeom prst="rect">
            <a:avLst/>
          </a:prstGeom>
          <a:noFill/>
          <a:ln/>
        </p:spPr>
        <p:txBody>
          <a:bodyPr wrap="square" lIns="0" tIns="0" rIns="0" bIns="0" rtlCol="0" anchor="t"/>
          <a:lstStyle/>
          <a:p>
            <a:pPr indent="0" marL="0">
              <a:buNone/>
            </a:pPr>
            <a:r>
              <a:rPr lang="en-US" sz="1200" dirty="0">
                <a:solidFill>
                  <a:schemeClr val="tx1"/>
                </a:solidFill>
              </a:rPr>
              <a:t>Jockey, Larcomar, La Rambla, Wong, Vivanda</a:t>
            </a:r>
            <a:endParaRPr lang="en-US" sz="1200" dirty="0"/>
          </a:p>
        </p:txBody>
      </p:sp>
      <p:sp>
        <p:nvSpPr>
          <p:cNvPr id="49" name="Shape 42"/>
          <p:cNvSpPr/>
          <p:nvPr/>
        </p:nvSpPr>
        <p:spPr>
          <a:xfrm>
            <a:off x="8668512" y="2441448"/>
            <a:ext cx="914400" cy="274320"/>
          </a:xfrm>
          <a:prstGeom prst="roundRect">
            <a:avLst>
              <a:gd name="adj" fmla="val 50000"/>
            </a:avLst>
          </a:prstGeom>
          <a:solidFill>
            <a:schemeClr val="accent4"/>
          </a:solidFill>
          <a:ln w="9525">
            <a:solidFill>
              <a:schemeClr val="accent4"/>
            </a:solidFill>
            <a:prstDash val="solid"/>
          </a:ln>
        </p:spPr>
      </p:sp>
      <p:sp>
        <p:nvSpPr>
          <p:cNvPr id="50" name="Text 43"/>
          <p:cNvSpPr txBox="1"/>
          <p:nvPr/>
        </p:nvSpPr>
        <p:spPr>
          <a:xfrm>
            <a:off x="8668512" y="2441448"/>
            <a:ext cx="914400" cy="274320"/>
          </a:xfrm>
          <a:prstGeom prst="rect">
            <a:avLst/>
          </a:prstGeom>
          <a:noFill/>
          <a:ln/>
        </p:spPr>
        <p:txBody>
          <a:bodyPr wrap="square" lIns="0" tIns="0" rIns="0" bIns="0" rtlCol="0" anchor="ctr"/>
          <a:lstStyle/>
          <a:p>
            <a:pPr algn="ctr" indent="0" marL="0">
              <a:buNone/>
            </a:pPr>
            <a:r>
              <a:rPr lang="en-US" sz="900" b="1" dirty="0">
                <a:solidFill>
                  <a:schemeClr val="bg1"/>
                </a:solidFill>
              </a:rPr>
              <a:t>✓ Conecta</a:t>
            </a:r>
            <a:endParaRPr lang="en-US" sz="900" dirty="0"/>
          </a:p>
        </p:txBody>
      </p:sp>
      <p:sp>
        <p:nvSpPr>
          <p:cNvPr id="51" name="Shape 44"/>
          <p:cNvSpPr/>
          <p:nvPr/>
        </p:nvSpPr>
        <p:spPr>
          <a:xfrm>
            <a:off x="9637776" y="2441448"/>
            <a:ext cx="914400" cy="274320"/>
          </a:xfrm>
          <a:prstGeom prst="roundRect">
            <a:avLst>
              <a:gd name="adj" fmla="val 50000"/>
            </a:avLst>
          </a:prstGeom>
          <a:solidFill>
            <a:schemeClr val="accent4"/>
          </a:solidFill>
          <a:ln w="9525">
            <a:solidFill>
              <a:schemeClr val="accent4"/>
            </a:solidFill>
            <a:prstDash val="solid"/>
          </a:ln>
        </p:spPr>
      </p:sp>
      <p:sp>
        <p:nvSpPr>
          <p:cNvPr id="52" name="Text 45"/>
          <p:cNvSpPr txBox="1"/>
          <p:nvPr/>
        </p:nvSpPr>
        <p:spPr>
          <a:xfrm>
            <a:off x="9637776" y="2441448"/>
            <a:ext cx="914400" cy="274320"/>
          </a:xfrm>
          <a:prstGeom prst="rect">
            <a:avLst/>
          </a:prstGeom>
          <a:noFill/>
          <a:ln/>
        </p:spPr>
        <p:txBody>
          <a:bodyPr wrap="square" lIns="0" tIns="0" rIns="0" bIns="0" rtlCol="0" anchor="ctr"/>
          <a:lstStyle/>
          <a:p>
            <a:pPr algn="ctr" indent="0" marL="0">
              <a:buNone/>
            </a:pPr>
            <a:r>
              <a:rPr lang="en-US" sz="900" b="1" dirty="0">
                <a:solidFill>
                  <a:schemeClr val="bg1"/>
                </a:solidFill>
              </a:rPr>
              <a:t>✓ Convierte</a:t>
            </a:r>
            <a:endParaRPr lang="en-US" sz="900" dirty="0"/>
          </a:p>
        </p:txBody>
      </p:sp>
      <p:sp>
        <p:nvSpPr>
          <p:cNvPr id="53" name="Shape 46"/>
          <p:cNvSpPr/>
          <p:nvPr/>
        </p:nvSpPr>
        <p:spPr>
          <a:xfrm>
            <a:off x="10607040" y="2441448"/>
            <a:ext cx="914400" cy="274320"/>
          </a:xfrm>
          <a:prstGeom prst="roundRect">
            <a:avLst>
              <a:gd name="adj" fmla="val 50000"/>
            </a:avLst>
          </a:prstGeom>
          <a:solidFill>
            <a:schemeClr val="accent4"/>
          </a:solidFill>
          <a:ln w="9525">
            <a:solidFill>
              <a:schemeClr val="accent4"/>
            </a:solidFill>
            <a:prstDash val="solid"/>
          </a:ln>
        </p:spPr>
      </p:sp>
      <p:sp>
        <p:nvSpPr>
          <p:cNvPr id="54" name="Text 47"/>
          <p:cNvSpPr txBox="1"/>
          <p:nvPr/>
        </p:nvSpPr>
        <p:spPr>
          <a:xfrm>
            <a:off x="10607040" y="2441448"/>
            <a:ext cx="914400" cy="274320"/>
          </a:xfrm>
          <a:prstGeom prst="rect">
            <a:avLst/>
          </a:prstGeom>
          <a:noFill/>
          <a:ln/>
        </p:spPr>
        <p:txBody>
          <a:bodyPr wrap="square" lIns="0" tIns="0" rIns="0" bIns="0" rtlCol="0" anchor="ctr"/>
          <a:lstStyle/>
          <a:p>
            <a:pPr algn="ctr" indent="0" marL="0">
              <a:buNone/>
            </a:pPr>
            <a:r>
              <a:rPr lang="en-US" sz="900" b="1" dirty="0">
                <a:solidFill>
                  <a:schemeClr val="bg1"/>
                </a:solidFill>
              </a:rPr>
              <a:t>✓ Complementa</a:t>
            </a:r>
            <a:endParaRPr lang="en-US" sz="900" dirty="0"/>
          </a:p>
        </p:txBody>
      </p:sp>
      <p:sp>
        <p:nvSpPr>
          <p:cNvPr id="55" name="Shape 48"/>
          <p:cNvSpPr/>
          <p:nvPr/>
        </p:nvSpPr>
        <p:spPr>
          <a:xfrm flipV="1">
            <a:off x="6922008" y="3753612"/>
            <a:ext cx="786384" cy="86868"/>
          </a:xfrm>
          <a:prstGeom prst="line">
            <a:avLst/>
          </a:prstGeom>
          <a:noFill/>
          <a:ln w="19050">
            <a:solidFill>
              <a:schemeClr val="accent5"/>
            </a:solidFill>
            <a:prstDash val="dash"/>
          </a:ln>
        </p:spPr>
      </p:sp>
      <p:sp>
        <p:nvSpPr>
          <p:cNvPr id="56" name="Shape 49"/>
          <p:cNvSpPr/>
          <p:nvPr/>
        </p:nvSpPr>
        <p:spPr>
          <a:xfrm>
            <a:off x="7708392" y="3090672"/>
            <a:ext cx="3931920" cy="1325880"/>
          </a:xfrm>
          <a:prstGeom prst="roundRect">
            <a:avLst>
              <a:gd name="adj" fmla="val 8276"/>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57" name="Shape 50"/>
          <p:cNvSpPr/>
          <p:nvPr/>
        </p:nvSpPr>
        <p:spPr>
          <a:xfrm>
            <a:off x="7891272" y="3319272"/>
            <a:ext cx="594360" cy="594360"/>
          </a:xfrm>
          <a:prstGeom prst="ellipse">
            <a:avLst/>
          </a:prstGeom>
          <a:solidFill>
            <a:schemeClr val="accent1"/>
          </a:solidFill>
          <a:ln w="12700">
            <a:solidFill>
              <a:schemeClr val="accent1"/>
            </a:solidFill>
            <a:prstDash val="solid"/>
          </a:ln>
        </p:spPr>
      </p:sp>
      <p:pic>
        <p:nvPicPr>
          <p:cNvPr id="58" name="Image 5" descr="preencoded.png">    </p:cNvPr>
          <p:cNvPicPr>
            <a:picLocks noChangeAspect="1"/>
          </p:cNvPicPr>
          <p:nvPr/>
        </p:nvPicPr>
        <p:blipFill>
          <a:blip r:embed="rId6"/>
          <a:stretch>
            <a:fillRect/>
          </a:stretch>
        </p:blipFill>
        <p:spPr>
          <a:xfrm>
            <a:off x="8022031" y="3450031"/>
            <a:ext cx="332842" cy="332842"/>
          </a:xfrm>
          <a:prstGeom prst="rect">
            <a:avLst/>
          </a:prstGeom>
        </p:spPr>
      </p:pic>
      <p:sp>
        <p:nvSpPr>
          <p:cNvPr id="59" name="Text 51"/>
          <p:cNvSpPr txBox="1"/>
          <p:nvPr/>
        </p:nvSpPr>
        <p:spPr>
          <a:xfrm>
            <a:off x="8668512" y="3227832"/>
            <a:ext cx="2834640" cy="329184"/>
          </a:xfrm>
          <a:prstGeom prst="rect">
            <a:avLst/>
          </a:prstGeom>
          <a:noFill/>
          <a:ln/>
        </p:spPr>
        <p:txBody>
          <a:bodyPr wrap="square" lIns="0" tIns="0" rIns="0" bIns="0" rtlCol="0" anchor="t"/>
          <a:lstStyle/>
          <a:p>
            <a:pPr indent="0" marL="0">
              <a:buNone/>
            </a:pPr>
            <a:r>
              <a:rPr lang="en-US" sz="1600" b="1" dirty="0">
                <a:solidFill>
                  <a:schemeClr val="tx2"/>
                </a:solidFill>
              </a:rPr>
              <a:t>Ferias, colegios y naturistas</a:t>
            </a:r>
            <a:endParaRPr lang="en-US" sz="1600" dirty="0"/>
          </a:p>
        </p:txBody>
      </p:sp>
      <p:sp>
        <p:nvSpPr>
          <p:cNvPr id="60" name="Text 52"/>
          <p:cNvSpPr txBox="1"/>
          <p:nvPr/>
        </p:nvSpPr>
        <p:spPr>
          <a:xfrm>
            <a:off x="8668512" y="3547872"/>
            <a:ext cx="2834640" cy="329184"/>
          </a:xfrm>
          <a:prstGeom prst="rect">
            <a:avLst/>
          </a:prstGeom>
          <a:noFill/>
          <a:ln/>
        </p:spPr>
        <p:txBody>
          <a:bodyPr wrap="square" lIns="0" tIns="0" rIns="0" bIns="0" rtlCol="0" anchor="t"/>
          <a:lstStyle/>
          <a:p>
            <a:pPr indent="0" marL="0">
              <a:buNone/>
            </a:pPr>
            <a:r>
              <a:rPr lang="en-US" sz="1200" dirty="0">
                <a:solidFill>
                  <a:schemeClr val="tx1"/>
                </a:solidFill>
              </a:rPr>
              <a:t>Organizadores, concesionarios y tiendas</a:t>
            </a:r>
            <a:endParaRPr lang="en-US" sz="1200" dirty="0"/>
          </a:p>
        </p:txBody>
      </p:sp>
      <p:sp>
        <p:nvSpPr>
          <p:cNvPr id="61" name="Shape 53"/>
          <p:cNvSpPr/>
          <p:nvPr/>
        </p:nvSpPr>
        <p:spPr>
          <a:xfrm>
            <a:off x="8668512" y="3977640"/>
            <a:ext cx="914400" cy="274320"/>
          </a:xfrm>
          <a:prstGeom prst="roundRect">
            <a:avLst>
              <a:gd name="adj" fmla="val 50000"/>
            </a:avLst>
          </a:prstGeom>
          <a:solidFill>
            <a:schemeClr val="accent4"/>
          </a:solidFill>
          <a:ln w="9525">
            <a:solidFill>
              <a:schemeClr val="accent4"/>
            </a:solidFill>
            <a:prstDash val="solid"/>
          </a:ln>
        </p:spPr>
      </p:sp>
      <p:sp>
        <p:nvSpPr>
          <p:cNvPr id="62" name="Text 54"/>
          <p:cNvSpPr txBox="1"/>
          <p:nvPr/>
        </p:nvSpPr>
        <p:spPr>
          <a:xfrm>
            <a:off x="8668512" y="3977640"/>
            <a:ext cx="914400" cy="274320"/>
          </a:xfrm>
          <a:prstGeom prst="rect">
            <a:avLst/>
          </a:prstGeom>
          <a:noFill/>
          <a:ln/>
        </p:spPr>
        <p:txBody>
          <a:bodyPr wrap="square" lIns="0" tIns="0" rIns="0" bIns="0" rtlCol="0" anchor="ctr"/>
          <a:lstStyle/>
          <a:p>
            <a:pPr algn="ctr" indent="0" marL="0">
              <a:buNone/>
            </a:pPr>
            <a:r>
              <a:rPr lang="en-US" sz="900" b="1" dirty="0">
                <a:solidFill>
                  <a:schemeClr val="bg1"/>
                </a:solidFill>
              </a:rPr>
              <a:t>✓ Conecta</a:t>
            </a:r>
            <a:endParaRPr lang="en-US" sz="900" dirty="0"/>
          </a:p>
        </p:txBody>
      </p:sp>
      <p:sp>
        <p:nvSpPr>
          <p:cNvPr id="63" name="Shape 55"/>
          <p:cNvSpPr/>
          <p:nvPr/>
        </p:nvSpPr>
        <p:spPr>
          <a:xfrm>
            <a:off x="9637776" y="3977640"/>
            <a:ext cx="914400" cy="274320"/>
          </a:xfrm>
          <a:prstGeom prst="roundRect">
            <a:avLst>
              <a:gd name="adj" fmla="val 50000"/>
            </a:avLst>
          </a:prstGeom>
          <a:solidFill>
            <a:schemeClr val="accent4"/>
          </a:solidFill>
          <a:ln w="9525">
            <a:solidFill>
              <a:schemeClr val="accent4"/>
            </a:solidFill>
            <a:prstDash val="solid"/>
          </a:ln>
        </p:spPr>
      </p:sp>
      <p:sp>
        <p:nvSpPr>
          <p:cNvPr id="64" name="Text 56"/>
          <p:cNvSpPr txBox="1"/>
          <p:nvPr/>
        </p:nvSpPr>
        <p:spPr>
          <a:xfrm>
            <a:off x="9637776" y="3977640"/>
            <a:ext cx="914400" cy="274320"/>
          </a:xfrm>
          <a:prstGeom prst="rect">
            <a:avLst/>
          </a:prstGeom>
          <a:noFill/>
          <a:ln/>
        </p:spPr>
        <p:txBody>
          <a:bodyPr wrap="square" lIns="0" tIns="0" rIns="0" bIns="0" rtlCol="0" anchor="ctr"/>
          <a:lstStyle/>
          <a:p>
            <a:pPr algn="ctr" indent="0" marL="0">
              <a:buNone/>
            </a:pPr>
            <a:r>
              <a:rPr lang="en-US" sz="900" b="1" dirty="0">
                <a:solidFill>
                  <a:schemeClr val="bg1"/>
                </a:solidFill>
              </a:rPr>
              <a:t>✓ Convierte</a:t>
            </a:r>
            <a:endParaRPr lang="en-US" sz="900" dirty="0"/>
          </a:p>
        </p:txBody>
      </p:sp>
      <p:sp>
        <p:nvSpPr>
          <p:cNvPr id="65" name="Shape 57"/>
          <p:cNvSpPr/>
          <p:nvPr/>
        </p:nvSpPr>
        <p:spPr>
          <a:xfrm>
            <a:off x="10607040" y="3977640"/>
            <a:ext cx="914400" cy="274320"/>
          </a:xfrm>
          <a:prstGeom prst="roundRect">
            <a:avLst>
              <a:gd name="adj" fmla="val 50000"/>
            </a:avLst>
          </a:prstGeom>
          <a:solidFill>
            <a:schemeClr val="accent4"/>
          </a:solidFill>
          <a:ln w="9525">
            <a:solidFill>
              <a:schemeClr val="accent4"/>
            </a:solidFill>
            <a:prstDash val="solid"/>
          </a:ln>
        </p:spPr>
      </p:sp>
      <p:sp>
        <p:nvSpPr>
          <p:cNvPr id="66" name="Text 58"/>
          <p:cNvSpPr txBox="1"/>
          <p:nvPr/>
        </p:nvSpPr>
        <p:spPr>
          <a:xfrm>
            <a:off x="10607040" y="3977640"/>
            <a:ext cx="914400" cy="274320"/>
          </a:xfrm>
          <a:prstGeom prst="rect">
            <a:avLst/>
          </a:prstGeom>
          <a:noFill/>
          <a:ln/>
        </p:spPr>
        <p:txBody>
          <a:bodyPr wrap="square" lIns="0" tIns="0" rIns="0" bIns="0" rtlCol="0" anchor="ctr"/>
          <a:lstStyle/>
          <a:p>
            <a:pPr algn="ctr" indent="0" marL="0">
              <a:buNone/>
            </a:pPr>
            <a:r>
              <a:rPr lang="en-US" sz="900" b="1" dirty="0">
                <a:solidFill>
                  <a:schemeClr val="bg1"/>
                </a:solidFill>
              </a:rPr>
              <a:t>✓ Complementa</a:t>
            </a:r>
            <a:endParaRPr lang="en-US" sz="900" dirty="0"/>
          </a:p>
        </p:txBody>
      </p:sp>
      <p:sp>
        <p:nvSpPr>
          <p:cNvPr id="67" name="Shape 59"/>
          <p:cNvSpPr/>
          <p:nvPr/>
        </p:nvSpPr>
        <p:spPr>
          <a:xfrm>
            <a:off x="6922008" y="3840480"/>
            <a:ext cx="786384" cy="1449324"/>
          </a:xfrm>
          <a:prstGeom prst="line">
            <a:avLst/>
          </a:prstGeom>
          <a:noFill/>
          <a:ln w="19050">
            <a:solidFill>
              <a:schemeClr val="accent5"/>
            </a:solidFill>
            <a:prstDash val="dash"/>
          </a:ln>
        </p:spPr>
      </p:sp>
      <p:sp>
        <p:nvSpPr>
          <p:cNvPr id="68" name="Shape 60"/>
          <p:cNvSpPr/>
          <p:nvPr/>
        </p:nvSpPr>
        <p:spPr>
          <a:xfrm>
            <a:off x="7708392" y="4626864"/>
            <a:ext cx="3931920" cy="1325880"/>
          </a:xfrm>
          <a:prstGeom prst="roundRect">
            <a:avLst>
              <a:gd name="adj" fmla="val 8276"/>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69" name="Shape 61"/>
          <p:cNvSpPr/>
          <p:nvPr/>
        </p:nvSpPr>
        <p:spPr>
          <a:xfrm>
            <a:off x="7891272" y="4855464"/>
            <a:ext cx="594360" cy="594360"/>
          </a:xfrm>
          <a:prstGeom prst="ellipse">
            <a:avLst/>
          </a:prstGeom>
          <a:solidFill>
            <a:schemeClr val="accent1"/>
          </a:solidFill>
          <a:ln w="12700">
            <a:solidFill>
              <a:schemeClr val="accent1"/>
            </a:solidFill>
            <a:prstDash val="solid"/>
          </a:ln>
        </p:spPr>
      </p:sp>
      <p:pic>
        <p:nvPicPr>
          <p:cNvPr id="70" name="Image 6" descr="preencoded.png">    </p:cNvPr>
          <p:cNvPicPr>
            <a:picLocks noChangeAspect="1"/>
          </p:cNvPicPr>
          <p:nvPr/>
        </p:nvPicPr>
        <p:blipFill>
          <a:blip r:embed="rId7"/>
          <a:stretch>
            <a:fillRect/>
          </a:stretch>
        </p:blipFill>
        <p:spPr>
          <a:xfrm>
            <a:off x="8022031" y="4986223"/>
            <a:ext cx="332842" cy="332842"/>
          </a:xfrm>
          <a:prstGeom prst="rect">
            <a:avLst/>
          </a:prstGeom>
        </p:spPr>
      </p:pic>
      <p:sp>
        <p:nvSpPr>
          <p:cNvPr id="71" name="Text 62"/>
          <p:cNvSpPr txBox="1"/>
          <p:nvPr/>
        </p:nvSpPr>
        <p:spPr>
          <a:xfrm>
            <a:off x="8668512" y="4764024"/>
            <a:ext cx="2834640" cy="329184"/>
          </a:xfrm>
          <a:prstGeom prst="rect">
            <a:avLst/>
          </a:prstGeom>
          <a:noFill/>
          <a:ln/>
        </p:spPr>
        <p:txBody>
          <a:bodyPr wrap="square" lIns="0" tIns="0" rIns="0" bIns="0" rtlCol="0" anchor="t"/>
          <a:lstStyle/>
          <a:p>
            <a:pPr indent="0" marL="0">
              <a:buNone/>
            </a:pPr>
            <a:r>
              <a:rPr lang="en-US" sz="1600" b="1" dirty="0">
                <a:solidFill>
                  <a:schemeClr val="tx2"/>
                </a:solidFill>
              </a:rPr>
              <a:t>Prescriptores</a:t>
            </a:r>
            <a:endParaRPr lang="en-US" sz="1600" dirty="0"/>
          </a:p>
        </p:txBody>
      </p:sp>
      <p:sp>
        <p:nvSpPr>
          <p:cNvPr id="72" name="Text 63"/>
          <p:cNvSpPr txBox="1"/>
          <p:nvPr/>
        </p:nvSpPr>
        <p:spPr>
          <a:xfrm>
            <a:off x="8668512" y="5084064"/>
            <a:ext cx="2834640" cy="329184"/>
          </a:xfrm>
          <a:prstGeom prst="rect">
            <a:avLst/>
          </a:prstGeom>
          <a:noFill/>
          <a:ln/>
        </p:spPr>
        <p:txBody>
          <a:bodyPr wrap="square" lIns="0" tIns="0" rIns="0" bIns="0" rtlCol="0" anchor="t"/>
          <a:lstStyle/>
          <a:p>
            <a:pPr indent="0" marL="0">
              <a:buNone/>
            </a:pPr>
            <a:r>
              <a:rPr lang="en-US" sz="1200" dirty="0">
                <a:solidFill>
                  <a:schemeClr val="tx1"/>
                </a:solidFill>
              </a:rPr>
              <a:t>Nutricionista colegiada y 20 pediatras</a:t>
            </a:r>
            <a:endParaRPr lang="en-US" sz="1200" dirty="0"/>
          </a:p>
        </p:txBody>
      </p:sp>
      <p:sp>
        <p:nvSpPr>
          <p:cNvPr id="73" name="Shape 64"/>
          <p:cNvSpPr/>
          <p:nvPr/>
        </p:nvSpPr>
        <p:spPr>
          <a:xfrm>
            <a:off x="8668512" y="5513832"/>
            <a:ext cx="914400" cy="274320"/>
          </a:xfrm>
          <a:prstGeom prst="roundRect">
            <a:avLst>
              <a:gd name="adj" fmla="val 50000"/>
            </a:avLst>
          </a:prstGeom>
          <a:solidFill>
            <a:schemeClr val="accent4"/>
          </a:solidFill>
          <a:ln w="9525">
            <a:solidFill>
              <a:schemeClr val="accent4"/>
            </a:solidFill>
            <a:prstDash val="solid"/>
          </a:ln>
        </p:spPr>
      </p:sp>
      <p:sp>
        <p:nvSpPr>
          <p:cNvPr id="74" name="Text 65"/>
          <p:cNvSpPr txBox="1"/>
          <p:nvPr/>
        </p:nvSpPr>
        <p:spPr>
          <a:xfrm>
            <a:off x="8668512" y="5513832"/>
            <a:ext cx="914400" cy="274320"/>
          </a:xfrm>
          <a:prstGeom prst="rect">
            <a:avLst/>
          </a:prstGeom>
          <a:noFill/>
          <a:ln/>
        </p:spPr>
        <p:txBody>
          <a:bodyPr wrap="square" lIns="0" tIns="0" rIns="0" bIns="0" rtlCol="0" anchor="ctr"/>
          <a:lstStyle/>
          <a:p>
            <a:pPr algn="ctr" indent="0" marL="0">
              <a:buNone/>
            </a:pPr>
            <a:r>
              <a:rPr lang="en-US" sz="900" b="1" dirty="0">
                <a:solidFill>
                  <a:schemeClr val="bg1"/>
                </a:solidFill>
              </a:rPr>
              <a:t>✓ Conecta</a:t>
            </a:r>
            <a:endParaRPr lang="en-US" sz="900" dirty="0"/>
          </a:p>
        </p:txBody>
      </p:sp>
      <p:sp>
        <p:nvSpPr>
          <p:cNvPr id="75" name="Shape 66"/>
          <p:cNvSpPr/>
          <p:nvPr/>
        </p:nvSpPr>
        <p:spPr>
          <a:xfrm>
            <a:off x="9637776" y="5513832"/>
            <a:ext cx="914400" cy="274320"/>
          </a:xfrm>
          <a:prstGeom prst="roundRect">
            <a:avLst>
              <a:gd name="adj" fmla="val 50000"/>
            </a:avLst>
          </a:prstGeom>
          <a:solidFill>
            <a:schemeClr val="accent4"/>
          </a:solidFill>
          <a:ln w="9525">
            <a:solidFill>
              <a:schemeClr val="accent4"/>
            </a:solidFill>
            <a:prstDash val="solid"/>
          </a:ln>
        </p:spPr>
      </p:sp>
      <p:sp>
        <p:nvSpPr>
          <p:cNvPr id="76" name="Text 67"/>
          <p:cNvSpPr txBox="1"/>
          <p:nvPr/>
        </p:nvSpPr>
        <p:spPr>
          <a:xfrm>
            <a:off x="9637776" y="5513832"/>
            <a:ext cx="914400" cy="274320"/>
          </a:xfrm>
          <a:prstGeom prst="rect">
            <a:avLst/>
          </a:prstGeom>
          <a:noFill/>
          <a:ln/>
        </p:spPr>
        <p:txBody>
          <a:bodyPr wrap="square" lIns="0" tIns="0" rIns="0" bIns="0" rtlCol="0" anchor="ctr"/>
          <a:lstStyle/>
          <a:p>
            <a:pPr algn="ctr" indent="0" marL="0">
              <a:buNone/>
            </a:pPr>
            <a:r>
              <a:rPr lang="en-US" sz="900" b="1" dirty="0">
                <a:solidFill>
                  <a:schemeClr val="bg1"/>
                </a:solidFill>
              </a:rPr>
              <a:t>✓ Convierte</a:t>
            </a:r>
            <a:endParaRPr lang="en-US" sz="900" dirty="0"/>
          </a:p>
        </p:txBody>
      </p:sp>
      <p:sp>
        <p:nvSpPr>
          <p:cNvPr id="77" name="Shape 68"/>
          <p:cNvSpPr/>
          <p:nvPr/>
        </p:nvSpPr>
        <p:spPr>
          <a:xfrm>
            <a:off x="10607040" y="5513832"/>
            <a:ext cx="914400" cy="274320"/>
          </a:xfrm>
          <a:prstGeom prst="roundRect">
            <a:avLst>
              <a:gd name="adj" fmla="val 50000"/>
            </a:avLst>
          </a:prstGeom>
          <a:solidFill>
            <a:schemeClr val="accent4"/>
          </a:solidFill>
          <a:ln w="9525">
            <a:solidFill>
              <a:schemeClr val="accent4"/>
            </a:solidFill>
            <a:prstDash val="solid"/>
          </a:ln>
        </p:spPr>
      </p:sp>
      <p:sp>
        <p:nvSpPr>
          <p:cNvPr id="78" name="Text 69"/>
          <p:cNvSpPr txBox="1"/>
          <p:nvPr/>
        </p:nvSpPr>
        <p:spPr>
          <a:xfrm>
            <a:off x="10607040" y="5513832"/>
            <a:ext cx="914400" cy="274320"/>
          </a:xfrm>
          <a:prstGeom prst="rect">
            <a:avLst/>
          </a:prstGeom>
          <a:noFill/>
          <a:ln/>
        </p:spPr>
        <p:txBody>
          <a:bodyPr wrap="square" lIns="0" tIns="0" rIns="0" bIns="0" rtlCol="0" anchor="ctr"/>
          <a:lstStyle/>
          <a:p>
            <a:pPr algn="ctr" indent="0" marL="0">
              <a:buNone/>
            </a:pPr>
            <a:r>
              <a:rPr lang="en-US" sz="900" b="1" dirty="0">
                <a:solidFill>
                  <a:schemeClr val="bg1"/>
                </a:solidFill>
              </a:rPr>
              <a:t>✓ Complementa</a:t>
            </a:r>
            <a:endParaRPr lang="en-US" sz="900" dirty="0"/>
          </a:p>
        </p:txBody>
      </p:sp>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TRABAJO DE CAMPO 7 · RECURSOS CLAVE</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Seis recursos sin los que AndiBite no funciona</a:t>
            </a:r>
            <a:endParaRPr lang="en-US" sz="3400" dirty="0"/>
          </a:p>
        </p:txBody>
      </p:sp>
      <p:sp>
        <p:nvSpPr>
          <p:cNvPr id="4" name="Text 2"/>
          <p:cNvSpPr txBox="1"/>
          <p:nvPr/>
        </p:nvSpPr>
        <p:spPr>
          <a:xfrm>
            <a:off x="7269480" y="1417320"/>
            <a:ext cx="4370832" cy="274320"/>
          </a:xfrm>
          <a:prstGeom prst="rect">
            <a:avLst/>
          </a:prstGeom>
          <a:noFill/>
          <a:ln/>
        </p:spPr>
        <p:txBody>
          <a:bodyPr wrap="square" lIns="0" tIns="0" rIns="0" bIns="0" rtlCol="0" anchor="t"/>
          <a:lstStyle/>
          <a:p>
            <a:pPr indent="0" marL="0">
              <a:buNone/>
            </a:pPr>
            <a:r>
              <a:rPr lang="en-US" sz="1200" b="1" dirty="0">
                <a:solidFill>
                  <a:schemeClr val="accent2"/>
                </a:solidFill>
              </a:rPr>
              <a:t>Test rápido de la sesión 07</a:t>
            </a:r>
            <a:endParaRPr lang="en-US" sz="1200" dirty="0"/>
          </a:p>
        </p:txBody>
      </p:sp>
      <p:sp>
        <p:nvSpPr>
          <p:cNvPr id="5" name="Text 3"/>
          <p:cNvSpPr txBox="1"/>
          <p:nvPr/>
        </p:nvSpPr>
        <p:spPr>
          <a:xfrm>
            <a:off x="7269480" y="1691640"/>
            <a:ext cx="1417320" cy="411480"/>
          </a:xfrm>
          <a:prstGeom prst="rect">
            <a:avLst/>
          </a:prstGeom>
          <a:noFill/>
          <a:ln/>
        </p:spPr>
        <p:txBody>
          <a:bodyPr wrap="square" lIns="0" tIns="0" rIns="0" bIns="0" rtlCol="0" anchor="t"/>
          <a:lstStyle/>
          <a:p>
            <a:pPr algn="ctr" indent="0" marL="0">
              <a:buNone/>
            </a:pPr>
            <a:r>
              <a:rPr lang="en-US" sz="1100" b="1" dirty="0">
                <a:solidFill>
                  <a:schemeClr val="tx2"/>
                </a:solidFill>
              </a:rPr>
              <a:t>Si falta, no funciona</a:t>
            </a:r>
            <a:endParaRPr lang="en-US" sz="1100" dirty="0"/>
          </a:p>
        </p:txBody>
      </p:sp>
      <p:sp>
        <p:nvSpPr>
          <p:cNvPr id="6" name="Text 4"/>
          <p:cNvSpPr txBox="1"/>
          <p:nvPr/>
        </p:nvSpPr>
        <p:spPr>
          <a:xfrm>
            <a:off x="8732520" y="1691640"/>
            <a:ext cx="1417320" cy="411480"/>
          </a:xfrm>
          <a:prstGeom prst="rect">
            <a:avLst/>
          </a:prstGeom>
          <a:noFill/>
          <a:ln/>
        </p:spPr>
        <p:txBody>
          <a:bodyPr wrap="square" lIns="0" tIns="0" rIns="0" bIns="0" rtlCol="0" anchor="t"/>
          <a:lstStyle/>
          <a:p>
            <a:pPr algn="ctr" indent="0" marL="0">
              <a:buNone/>
            </a:pPr>
            <a:r>
              <a:rPr lang="en-US" sz="1100" b="1" dirty="0">
                <a:solidFill>
                  <a:schemeClr val="tx2"/>
                </a:solidFill>
              </a:rPr>
              <a:t>Nos diferencia</a:t>
            </a:r>
            <a:endParaRPr lang="en-US" sz="1100" dirty="0"/>
          </a:p>
        </p:txBody>
      </p:sp>
      <p:sp>
        <p:nvSpPr>
          <p:cNvPr id="7" name="Text 5"/>
          <p:cNvSpPr txBox="1"/>
          <p:nvPr/>
        </p:nvSpPr>
        <p:spPr>
          <a:xfrm>
            <a:off x="10195560" y="1691640"/>
            <a:ext cx="1417320" cy="411480"/>
          </a:xfrm>
          <a:prstGeom prst="rect">
            <a:avLst/>
          </a:prstGeom>
          <a:noFill/>
          <a:ln/>
        </p:spPr>
        <p:txBody>
          <a:bodyPr wrap="square" lIns="0" tIns="0" rIns="0" bIns="0" rtlCol="0" anchor="t"/>
          <a:lstStyle/>
          <a:p>
            <a:pPr algn="ctr" indent="0" marL="0">
              <a:buNone/>
            </a:pPr>
            <a:r>
              <a:rPr lang="en-US" sz="1100" b="1" dirty="0">
                <a:solidFill>
                  <a:schemeClr val="tx2"/>
                </a:solidFill>
              </a:rPr>
              <a:t>Difícil de copiar</a:t>
            </a:r>
            <a:endParaRPr lang="en-US" sz="1100" dirty="0"/>
          </a:p>
        </p:txBody>
      </p:sp>
      <p:sp>
        <p:nvSpPr>
          <p:cNvPr id="8" name="Shape 6"/>
          <p:cNvSpPr/>
          <p:nvPr/>
        </p:nvSpPr>
        <p:spPr>
          <a:xfrm>
            <a:off x="548640" y="2148840"/>
            <a:ext cx="11091672" cy="576072"/>
          </a:xfrm>
          <a:prstGeom prst="roundRect">
            <a:avLst>
              <a:gd name="adj" fmla="val 15873"/>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9" name="Shape 7"/>
          <p:cNvSpPr/>
          <p:nvPr/>
        </p:nvSpPr>
        <p:spPr>
          <a:xfrm>
            <a:off x="685800" y="2221992"/>
            <a:ext cx="429768" cy="429768"/>
          </a:xfrm>
          <a:prstGeom prst="ellipse">
            <a:avLst/>
          </a:prstGeom>
          <a:solidFill>
            <a:schemeClr val="accent1"/>
          </a:solidFill>
          <a:ln w="12700">
            <a:solidFill>
              <a:schemeClr val="accent1"/>
            </a:solidFill>
            <a:prstDash val="solid"/>
          </a:ln>
        </p:spPr>
      </p:sp>
      <p:pic>
        <p:nvPicPr>
          <p:cNvPr id="10" name="Image 0" descr="preencoded.png">    </p:cNvPr>
          <p:cNvPicPr>
            <a:picLocks noChangeAspect="1"/>
          </p:cNvPicPr>
          <p:nvPr/>
        </p:nvPicPr>
        <p:blipFill>
          <a:blip r:embed="rId1"/>
          <a:stretch>
            <a:fillRect/>
          </a:stretch>
        </p:blipFill>
        <p:spPr>
          <a:xfrm>
            <a:off x="780349" y="2316541"/>
            <a:ext cx="240670" cy="240670"/>
          </a:xfrm>
          <a:prstGeom prst="rect">
            <a:avLst/>
          </a:prstGeom>
        </p:spPr>
      </p:pic>
      <p:sp>
        <p:nvSpPr>
          <p:cNvPr id="11" name="Text 8"/>
          <p:cNvSpPr txBox="1"/>
          <p:nvPr/>
        </p:nvSpPr>
        <p:spPr>
          <a:xfrm>
            <a:off x="1280160" y="2148840"/>
            <a:ext cx="1463040" cy="576072"/>
          </a:xfrm>
          <a:prstGeom prst="rect">
            <a:avLst/>
          </a:prstGeom>
          <a:noFill/>
          <a:ln/>
        </p:spPr>
        <p:txBody>
          <a:bodyPr wrap="square" lIns="0" tIns="0" rIns="0" bIns="0" rtlCol="0" anchor="ctr"/>
          <a:lstStyle/>
          <a:p>
            <a:pPr indent="0" marL="0">
              <a:buNone/>
            </a:pPr>
            <a:r>
              <a:rPr lang="en-US" sz="1100" b="1" spc="100" kern="0" dirty="0">
                <a:solidFill>
                  <a:schemeClr val="accent1"/>
                </a:solidFill>
              </a:rPr>
              <a:t>INTANGIBLE</a:t>
            </a:r>
            <a:endParaRPr lang="en-US" sz="1100" dirty="0"/>
          </a:p>
        </p:txBody>
      </p:sp>
      <p:sp>
        <p:nvSpPr>
          <p:cNvPr id="12" name="Text 9"/>
          <p:cNvSpPr txBox="1"/>
          <p:nvPr/>
        </p:nvSpPr>
        <p:spPr>
          <a:xfrm>
            <a:off x="2743200" y="2148840"/>
            <a:ext cx="4434840" cy="576072"/>
          </a:xfrm>
          <a:prstGeom prst="rect">
            <a:avLst/>
          </a:prstGeom>
          <a:noFill/>
          <a:ln/>
        </p:spPr>
        <p:txBody>
          <a:bodyPr wrap="square" lIns="0" tIns="0" rIns="0" bIns="0" rtlCol="0" anchor="ctr"/>
          <a:lstStyle/>
          <a:p>
            <a:pPr indent="0" marL="0">
              <a:buNone/>
            </a:pPr>
            <a:r>
              <a:rPr lang="en-US" sz="1500" dirty="0">
                <a:solidFill>
                  <a:schemeClr val="tx1"/>
                </a:solidFill>
              </a:rPr>
              <a:t>Fórmula de 3 sabores con sangrecita</a:t>
            </a:r>
            <a:endParaRPr lang="en-US" sz="1500" dirty="0"/>
          </a:p>
        </p:txBody>
      </p:sp>
      <p:sp>
        <p:nvSpPr>
          <p:cNvPr id="13" name="Shape 10"/>
          <p:cNvSpPr/>
          <p:nvPr/>
        </p:nvSpPr>
        <p:spPr>
          <a:xfrm>
            <a:off x="7772400" y="2267712"/>
            <a:ext cx="347472" cy="347472"/>
          </a:xfrm>
          <a:prstGeom prst="ellipse">
            <a:avLst/>
          </a:prstGeom>
          <a:solidFill>
            <a:schemeClr val="accent4"/>
          </a:solidFill>
          <a:ln w="9525">
            <a:solidFill>
              <a:schemeClr val="accent4"/>
            </a:solidFill>
            <a:prstDash val="solid"/>
          </a:ln>
        </p:spPr>
      </p:sp>
      <p:sp>
        <p:nvSpPr>
          <p:cNvPr id="14" name="Text 11"/>
          <p:cNvSpPr txBox="1"/>
          <p:nvPr/>
        </p:nvSpPr>
        <p:spPr>
          <a:xfrm>
            <a:off x="7772400" y="2267712"/>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a:t>
            </a:r>
            <a:endParaRPr lang="en-US" sz="1300" dirty="0"/>
          </a:p>
        </p:txBody>
      </p:sp>
      <p:sp>
        <p:nvSpPr>
          <p:cNvPr id="15" name="Shape 12"/>
          <p:cNvSpPr/>
          <p:nvPr/>
        </p:nvSpPr>
        <p:spPr>
          <a:xfrm>
            <a:off x="9235440" y="2267712"/>
            <a:ext cx="347472" cy="347472"/>
          </a:xfrm>
          <a:prstGeom prst="ellipse">
            <a:avLst/>
          </a:prstGeom>
          <a:solidFill>
            <a:schemeClr val="accent4"/>
          </a:solidFill>
          <a:ln w="9525">
            <a:solidFill>
              <a:schemeClr val="accent4"/>
            </a:solidFill>
            <a:prstDash val="solid"/>
          </a:ln>
        </p:spPr>
      </p:sp>
      <p:sp>
        <p:nvSpPr>
          <p:cNvPr id="16" name="Text 13"/>
          <p:cNvSpPr txBox="1"/>
          <p:nvPr/>
        </p:nvSpPr>
        <p:spPr>
          <a:xfrm>
            <a:off x="9235440" y="2267712"/>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a:t>
            </a:r>
            <a:endParaRPr lang="en-US" sz="1300" dirty="0"/>
          </a:p>
        </p:txBody>
      </p:sp>
      <p:sp>
        <p:nvSpPr>
          <p:cNvPr id="17" name="Shape 14"/>
          <p:cNvSpPr/>
          <p:nvPr/>
        </p:nvSpPr>
        <p:spPr>
          <a:xfrm>
            <a:off x="10698480" y="2267712"/>
            <a:ext cx="347472" cy="347472"/>
          </a:xfrm>
          <a:prstGeom prst="ellipse">
            <a:avLst/>
          </a:prstGeom>
          <a:solidFill>
            <a:schemeClr val="accent4"/>
          </a:solidFill>
          <a:ln w="9525">
            <a:solidFill>
              <a:schemeClr val="accent4"/>
            </a:solidFill>
            <a:prstDash val="solid"/>
          </a:ln>
        </p:spPr>
      </p:sp>
      <p:sp>
        <p:nvSpPr>
          <p:cNvPr id="18" name="Text 15"/>
          <p:cNvSpPr txBox="1"/>
          <p:nvPr/>
        </p:nvSpPr>
        <p:spPr>
          <a:xfrm>
            <a:off x="10698480" y="2267712"/>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a:t>
            </a:r>
            <a:endParaRPr lang="en-US" sz="1300" dirty="0"/>
          </a:p>
        </p:txBody>
      </p:sp>
      <p:sp>
        <p:nvSpPr>
          <p:cNvPr id="19" name="Shape 16"/>
          <p:cNvSpPr/>
          <p:nvPr/>
        </p:nvSpPr>
        <p:spPr>
          <a:xfrm>
            <a:off x="548640" y="2816352"/>
            <a:ext cx="11091672" cy="576072"/>
          </a:xfrm>
          <a:prstGeom prst="roundRect">
            <a:avLst>
              <a:gd name="adj" fmla="val 15873"/>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20" name="Shape 17"/>
          <p:cNvSpPr/>
          <p:nvPr/>
        </p:nvSpPr>
        <p:spPr>
          <a:xfrm>
            <a:off x="685800" y="2889504"/>
            <a:ext cx="429768" cy="429768"/>
          </a:xfrm>
          <a:prstGeom prst="ellipse">
            <a:avLst/>
          </a:prstGeom>
          <a:solidFill>
            <a:schemeClr val="accent1"/>
          </a:solidFill>
          <a:ln w="12700">
            <a:solidFill>
              <a:schemeClr val="accent1"/>
            </a:solidFill>
            <a:prstDash val="solid"/>
          </a:ln>
        </p:spPr>
      </p:sp>
      <p:pic>
        <p:nvPicPr>
          <p:cNvPr id="21" name="Image 1" descr="preencoded.png">    </p:cNvPr>
          <p:cNvPicPr>
            <a:picLocks noChangeAspect="1"/>
          </p:cNvPicPr>
          <p:nvPr/>
        </p:nvPicPr>
        <p:blipFill>
          <a:blip r:embed="rId2"/>
          <a:stretch>
            <a:fillRect/>
          </a:stretch>
        </p:blipFill>
        <p:spPr>
          <a:xfrm>
            <a:off x="780349" y="2984053"/>
            <a:ext cx="240670" cy="240670"/>
          </a:xfrm>
          <a:prstGeom prst="rect">
            <a:avLst/>
          </a:prstGeom>
        </p:spPr>
      </p:pic>
      <p:sp>
        <p:nvSpPr>
          <p:cNvPr id="22" name="Text 18"/>
          <p:cNvSpPr txBox="1"/>
          <p:nvPr/>
        </p:nvSpPr>
        <p:spPr>
          <a:xfrm>
            <a:off x="1280160" y="2816352"/>
            <a:ext cx="1463040" cy="576072"/>
          </a:xfrm>
          <a:prstGeom prst="rect">
            <a:avLst/>
          </a:prstGeom>
          <a:noFill/>
          <a:ln/>
        </p:spPr>
        <p:txBody>
          <a:bodyPr wrap="square" lIns="0" tIns="0" rIns="0" bIns="0" rtlCol="0" anchor="ctr"/>
          <a:lstStyle/>
          <a:p>
            <a:pPr indent="0" marL="0">
              <a:buNone/>
            </a:pPr>
            <a:r>
              <a:rPr lang="en-US" sz="1100" b="1" spc="100" kern="0" dirty="0">
                <a:solidFill>
                  <a:schemeClr val="accent1"/>
                </a:solidFill>
              </a:rPr>
              <a:t>INTANGIBLE</a:t>
            </a:r>
            <a:endParaRPr lang="en-US" sz="1100" dirty="0"/>
          </a:p>
        </p:txBody>
      </p:sp>
      <p:sp>
        <p:nvSpPr>
          <p:cNvPr id="23" name="Text 19"/>
          <p:cNvSpPr txBox="1"/>
          <p:nvPr/>
        </p:nvSpPr>
        <p:spPr>
          <a:xfrm>
            <a:off x="2743200" y="2816352"/>
            <a:ext cx="4434840" cy="576072"/>
          </a:xfrm>
          <a:prstGeom prst="rect">
            <a:avLst/>
          </a:prstGeom>
          <a:noFill/>
          <a:ln/>
        </p:spPr>
        <p:txBody>
          <a:bodyPr wrap="square" lIns="0" tIns="0" rIns="0" bIns="0" rtlCol="0" anchor="ctr"/>
          <a:lstStyle/>
          <a:p>
            <a:pPr indent="0" marL="0">
              <a:buNone/>
            </a:pPr>
            <a:r>
              <a:rPr lang="en-US" sz="1500" dirty="0">
                <a:solidFill>
                  <a:schemeClr val="tx1"/>
                </a:solidFill>
              </a:rPr>
              <a:t>Marca AndiBite y registro sanitario</a:t>
            </a:r>
            <a:endParaRPr lang="en-US" sz="1500" dirty="0"/>
          </a:p>
        </p:txBody>
      </p:sp>
      <p:sp>
        <p:nvSpPr>
          <p:cNvPr id="24" name="Shape 20"/>
          <p:cNvSpPr/>
          <p:nvPr/>
        </p:nvSpPr>
        <p:spPr>
          <a:xfrm>
            <a:off x="7772400" y="2935224"/>
            <a:ext cx="347472" cy="347472"/>
          </a:xfrm>
          <a:prstGeom prst="ellipse">
            <a:avLst/>
          </a:prstGeom>
          <a:solidFill>
            <a:schemeClr val="accent4"/>
          </a:solidFill>
          <a:ln w="9525">
            <a:solidFill>
              <a:schemeClr val="accent4"/>
            </a:solidFill>
            <a:prstDash val="solid"/>
          </a:ln>
        </p:spPr>
      </p:sp>
      <p:sp>
        <p:nvSpPr>
          <p:cNvPr id="25" name="Text 21"/>
          <p:cNvSpPr txBox="1"/>
          <p:nvPr/>
        </p:nvSpPr>
        <p:spPr>
          <a:xfrm>
            <a:off x="7772400" y="2935224"/>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a:t>
            </a:r>
            <a:endParaRPr lang="en-US" sz="1300" dirty="0"/>
          </a:p>
        </p:txBody>
      </p:sp>
      <p:sp>
        <p:nvSpPr>
          <p:cNvPr id="26" name="Shape 22"/>
          <p:cNvSpPr/>
          <p:nvPr/>
        </p:nvSpPr>
        <p:spPr>
          <a:xfrm>
            <a:off x="9235440" y="2935224"/>
            <a:ext cx="347472" cy="347472"/>
          </a:xfrm>
          <a:prstGeom prst="ellipse">
            <a:avLst/>
          </a:prstGeom>
          <a:solidFill>
            <a:schemeClr val="accent4"/>
          </a:solidFill>
          <a:ln w="9525">
            <a:solidFill>
              <a:schemeClr val="accent4"/>
            </a:solidFill>
            <a:prstDash val="solid"/>
          </a:ln>
        </p:spPr>
      </p:sp>
      <p:sp>
        <p:nvSpPr>
          <p:cNvPr id="27" name="Text 23"/>
          <p:cNvSpPr txBox="1"/>
          <p:nvPr/>
        </p:nvSpPr>
        <p:spPr>
          <a:xfrm>
            <a:off x="9235440" y="2935224"/>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a:t>
            </a:r>
            <a:endParaRPr lang="en-US" sz="1300" dirty="0"/>
          </a:p>
        </p:txBody>
      </p:sp>
      <p:sp>
        <p:nvSpPr>
          <p:cNvPr id="28" name="Shape 24"/>
          <p:cNvSpPr/>
          <p:nvPr/>
        </p:nvSpPr>
        <p:spPr>
          <a:xfrm>
            <a:off x="10698480" y="2935224"/>
            <a:ext cx="347472" cy="347472"/>
          </a:xfrm>
          <a:prstGeom prst="ellipse">
            <a:avLst/>
          </a:prstGeom>
          <a:solidFill>
            <a:schemeClr val="accent4"/>
          </a:solidFill>
          <a:ln w="9525">
            <a:solidFill>
              <a:schemeClr val="accent4"/>
            </a:solidFill>
            <a:prstDash val="solid"/>
          </a:ln>
        </p:spPr>
      </p:sp>
      <p:sp>
        <p:nvSpPr>
          <p:cNvPr id="29" name="Text 25"/>
          <p:cNvSpPr txBox="1"/>
          <p:nvPr/>
        </p:nvSpPr>
        <p:spPr>
          <a:xfrm>
            <a:off x="10698480" y="2935224"/>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a:t>
            </a:r>
            <a:endParaRPr lang="en-US" sz="1300" dirty="0"/>
          </a:p>
        </p:txBody>
      </p:sp>
      <p:sp>
        <p:nvSpPr>
          <p:cNvPr id="30" name="Shape 26"/>
          <p:cNvSpPr/>
          <p:nvPr/>
        </p:nvSpPr>
        <p:spPr>
          <a:xfrm>
            <a:off x="548640" y="3483864"/>
            <a:ext cx="11091672" cy="576072"/>
          </a:xfrm>
          <a:prstGeom prst="roundRect">
            <a:avLst>
              <a:gd name="adj" fmla="val 15873"/>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31" name="Shape 27"/>
          <p:cNvSpPr/>
          <p:nvPr/>
        </p:nvSpPr>
        <p:spPr>
          <a:xfrm>
            <a:off x="685800" y="3557016"/>
            <a:ext cx="429768" cy="429768"/>
          </a:xfrm>
          <a:prstGeom prst="ellipse">
            <a:avLst/>
          </a:prstGeom>
          <a:solidFill>
            <a:schemeClr val="tx2"/>
          </a:solidFill>
          <a:ln w="12700">
            <a:solidFill>
              <a:schemeClr val="tx2"/>
            </a:solidFill>
            <a:prstDash val="solid"/>
          </a:ln>
        </p:spPr>
      </p:sp>
      <p:pic>
        <p:nvPicPr>
          <p:cNvPr id="32" name="Image 2" descr="preencoded.png">    </p:cNvPr>
          <p:cNvPicPr>
            <a:picLocks noChangeAspect="1"/>
          </p:cNvPicPr>
          <p:nvPr/>
        </p:nvPicPr>
        <p:blipFill>
          <a:blip r:embed="rId3"/>
          <a:stretch>
            <a:fillRect/>
          </a:stretch>
        </p:blipFill>
        <p:spPr>
          <a:xfrm>
            <a:off x="780349" y="3651565"/>
            <a:ext cx="240670" cy="240670"/>
          </a:xfrm>
          <a:prstGeom prst="rect">
            <a:avLst/>
          </a:prstGeom>
        </p:spPr>
      </p:pic>
      <p:sp>
        <p:nvSpPr>
          <p:cNvPr id="33" name="Text 28"/>
          <p:cNvSpPr txBox="1"/>
          <p:nvPr/>
        </p:nvSpPr>
        <p:spPr>
          <a:xfrm>
            <a:off x="1280160" y="3483864"/>
            <a:ext cx="1463040" cy="576072"/>
          </a:xfrm>
          <a:prstGeom prst="rect">
            <a:avLst/>
          </a:prstGeom>
          <a:noFill/>
          <a:ln/>
        </p:spPr>
        <p:txBody>
          <a:bodyPr wrap="square" lIns="0" tIns="0" rIns="0" bIns="0" rtlCol="0" anchor="ctr"/>
          <a:lstStyle/>
          <a:p>
            <a:pPr indent="0" marL="0">
              <a:buNone/>
            </a:pPr>
            <a:r>
              <a:rPr lang="en-US" sz="1100" b="1" spc="100" kern="0" dirty="0">
                <a:solidFill>
                  <a:schemeClr val="accent1"/>
                </a:solidFill>
              </a:rPr>
              <a:t>HUMANO</a:t>
            </a:r>
            <a:endParaRPr lang="en-US" sz="1100" dirty="0"/>
          </a:p>
        </p:txBody>
      </p:sp>
      <p:sp>
        <p:nvSpPr>
          <p:cNvPr id="34" name="Text 29"/>
          <p:cNvSpPr txBox="1"/>
          <p:nvPr/>
        </p:nvSpPr>
        <p:spPr>
          <a:xfrm>
            <a:off x="2743200" y="3483864"/>
            <a:ext cx="4434840" cy="576072"/>
          </a:xfrm>
          <a:prstGeom prst="rect">
            <a:avLst/>
          </a:prstGeom>
          <a:noFill/>
          <a:ln/>
        </p:spPr>
        <p:txBody>
          <a:bodyPr wrap="square" lIns="0" tIns="0" rIns="0" bIns="0" rtlCol="0" anchor="ctr"/>
          <a:lstStyle/>
          <a:p>
            <a:pPr indent="0" marL="0">
              <a:buNone/>
            </a:pPr>
            <a:r>
              <a:rPr lang="en-US" sz="1500" dirty="0">
                <a:solidFill>
                  <a:schemeClr val="tx1"/>
                </a:solidFill>
              </a:rPr>
              <a:t>Vendedores de stand, coordinador y 5 socios</a:t>
            </a:r>
            <a:endParaRPr lang="en-US" sz="1500" dirty="0"/>
          </a:p>
        </p:txBody>
      </p:sp>
      <p:sp>
        <p:nvSpPr>
          <p:cNvPr id="35" name="Shape 30"/>
          <p:cNvSpPr/>
          <p:nvPr/>
        </p:nvSpPr>
        <p:spPr>
          <a:xfrm>
            <a:off x="7772400" y="3602736"/>
            <a:ext cx="347472" cy="347472"/>
          </a:xfrm>
          <a:prstGeom prst="ellipse">
            <a:avLst/>
          </a:prstGeom>
          <a:solidFill>
            <a:schemeClr val="accent4"/>
          </a:solidFill>
          <a:ln w="9525">
            <a:solidFill>
              <a:schemeClr val="accent4"/>
            </a:solidFill>
            <a:prstDash val="solid"/>
          </a:ln>
        </p:spPr>
      </p:sp>
      <p:sp>
        <p:nvSpPr>
          <p:cNvPr id="36" name="Text 31"/>
          <p:cNvSpPr txBox="1"/>
          <p:nvPr/>
        </p:nvSpPr>
        <p:spPr>
          <a:xfrm>
            <a:off x="7772400" y="3602736"/>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a:t>
            </a:r>
            <a:endParaRPr lang="en-US" sz="1300" dirty="0"/>
          </a:p>
        </p:txBody>
      </p:sp>
      <p:sp>
        <p:nvSpPr>
          <p:cNvPr id="37" name="Shape 32"/>
          <p:cNvSpPr/>
          <p:nvPr/>
        </p:nvSpPr>
        <p:spPr>
          <a:xfrm>
            <a:off x="9235440" y="3602736"/>
            <a:ext cx="347472" cy="347472"/>
          </a:xfrm>
          <a:prstGeom prst="ellipse">
            <a:avLst/>
          </a:prstGeom>
          <a:solidFill>
            <a:schemeClr val="accent4"/>
          </a:solidFill>
          <a:ln w="9525">
            <a:solidFill>
              <a:schemeClr val="accent4"/>
            </a:solidFill>
            <a:prstDash val="solid"/>
          </a:ln>
        </p:spPr>
      </p:sp>
      <p:sp>
        <p:nvSpPr>
          <p:cNvPr id="38" name="Text 33"/>
          <p:cNvSpPr txBox="1"/>
          <p:nvPr/>
        </p:nvSpPr>
        <p:spPr>
          <a:xfrm>
            <a:off x="9235440" y="3602736"/>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a:t>
            </a:r>
            <a:endParaRPr lang="en-US" sz="1300" dirty="0"/>
          </a:p>
        </p:txBody>
      </p:sp>
      <p:sp>
        <p:nvSpPr>
          <p:cNvPr id="39" name="Shape 34"/>
          <p:cNvSpPr/>
          <p:nvPr/>
        </p:nvSpPr>
        <p:spPr>
          <a:xfrm>
            <a:off x="10698480" y="3602736"/>
            <a:ext cx="347472" cy="347472"/>
          </a:xfrm>
          <a:prstGeom prst="ellipse">
            <a:avLst/>
          </a:prstGeom>
          <a:solidFill>
            <a:schemeClr val="bg2"/>
          </a:solidFill>
          <a:ln w="9525">
            <a:solidFill>
              <a:schemeClr val="accent5"/>
            </a:solidFill>
            <a:prstDash val="solid"/>
          </a:ln>
        </p:spPr>
      </p:sp>
      <p:sp>
        <p:nvSpPr>
          <p:cNvPr id="40" name="Text 35"/>
          <p:cNvSpPr txBox="1"/>
          <p:nvPr/>
        </p:nvSpPr>
        <p:spPr>
          <a:xfrm>
            <a:off x="10698480" y="3602736"/>
            <a:ext cx="347472" cy="347472"/>
          </a:xfrm>
          <a:prstGeom prst="rect">
            <a:avLst/>
          </a:prstGeom>
          <a:noFill/>
          <a:ln/>
        </p:spPr>
        <p:txBody>
          <a:bodyPr wrap="square" lIns="0" tIns="0" rIns="0" bIns="0" rtlCol="0" anchor="ctr"/>
          <a:lstStyle/>
          <a:p>
            <a:pPr algn="ctr" indent="0" marL="0">
              <a:buNone/>
            </a:pPr>
            <a:r>
              <a:rPr lang="en-US" sz="1300" b="1" dirty="0">
                <a:solidFill>
                  <a:schemeClr val="accent2"/>
                </a:solidFill>
              </a:rPr>
              <a:t>–</a:t>
            </a:r>
            <a:endParaRPr lang="en-US" sz="1300" dirty="0"/>
          </a:p>
        </p:txBody>
      </p:sp>
      <p:sp>
        <p:nvSpPr>
          <p:cNvPr id="41" name="Shape 36"/>
          <p:cNvSpPr/>
          <p:nvPr/>
        </p:nvSpPr>
        <p:spPr>
          <a:xfrm>
            <a:off x="548640" y="4151376"/>
            <a:ext cx="11091672" cy="576072"/>
          </a:xfrm>
          <a:prstGeom prst="roundRect">
            <a:avLst>
              <a:gd name="adj" fmla="val 15873"/>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42" name="Shape 37"/>
          <p:cNvSpPr/>
          <p:nvPr/>
        </p:nvSpPr>
        <p:spPr>
          <a:xfrm>
            <a:off x="685800" y="4224528"/>
            <a:ext cx="429768" cy="429768"/>
          </a:xfrm>
          <a:prstGeom prst="ellipse">
            <a:avLst/>
          </a:prstGeom>
          <a:solidFill>
            <a:schemeClr val="tx2"/>
          </a:solidFill>
          <a:ln w="12700">
            <a:solidFill>
              <a:schemeClr val="tx2"/>
            </a:solidFill>
            <a:prstDash val="solid"/>
          </a:ln>
        </p:spPr>
      </p:sp>
      <p:pic>
        <p:nvPicPr>
          <p:cNvPr id="43" name="Image 3" descr="preencoded.png">    </p:cNvPr>
          <p:cNvPicPr>
            <a:picLocks noChangeAspect="1"/>
          </p:cNvPicPr>
          <p:nvPr/>
        </p:nvPicPr>
        <p:blipFill>
          <a:blip r:embed="rId4"/>
          <a:stretch>
            <a:fillRect/>
          </a:stretch>
        </p:blipFill>
        <p:spPr>
          <a:xfrm>
            <a:off x="780349" y="4319077"/>
            <a:ext cx="240670" cy="240670"/>
          </a:xfrm>
          <a:prstGeom prst="rect">
            <a:avLst/>
          </a:prstGeom>
        </p:spPr>
      </p:pic>
      <p:sp>
        <p:nvSpPr>
          <p:cNvPr id="44" name="Text 38"/>
          <p:cNvSpPr txBox="1"/>
          <p:nvPr/>
        </p:nvSpPr>
        <p:spPr>
          <a:xfrm>
            <a:off x="1280160" y="4151376"/>
            <a:ext cx="1463040" cy="576072"/>
          </a:xfrm>
          <a:prstGeom prst="rect">
            <a:avLst/>
          </a:prstGeom>
          <a:noFill/>
          <a:ln/>
        </p:spPr>
        <p:txBody>
          <a:bodyPr wrap="square" lIns="0" tIns="0" rIns="0" bIns="0" rtlCol="0" anchor="ctr"/>
          <a:lstStyle/>
          <a:p>
            <a:pPr indent="0" marL="0">
              <a:buNone/>
            </a:pPr>
            <a:r>
              <a:rPr lang="en-US" sz="1100" b="1" spc="100" kern="0" dirty="0">
                <a:solidFill>
                  <a:schemeClr val="accent1"/>
                </a:solidFill>
              </a:rPr>
              <a:t>FÍSICO</a:t>
            </a:r>
            <a:endParaRPr lang="en-US" sz="1100" dirty="0"/>
          </a:p>
        </p:txBody>
      </p:sp>
      <p:sp>
        <p:nvSpPr>
          <p:cNvPr id="45" name="Text 39"/>
          <p:cNvSpPr txBox="1"/>
          <p:nvPr/>
        </p:nvSpPr>
        <p:spPr>
          <a:xfrm>
            <a:off x="2743200" y="4151376"/>
            <a:ext cx="4434840" cy="576072"/>
          </a:xfrm>
          <a:prstGeom prst="rect">
            <a:avLst/>
          </a:prstGeom>
          <a:noFill/>
          <a:ln/>
        </p:spPr>
        <p:txBody>
          <a:bodyPr wrap="square" lIns="0" tIns="0" rIns="0" bIns="0" rtlCol="0" anchor="ctr"/>
          <a:lstStyle/>
          <a:p>
            <a:pPr indent="0" marL="0">
              <a:buNone/>
            </a:pPr>
            <a:r>
              <a:rPr lang="en-US" sz="1500" dirty="0">
                <a:solidFill>
                  <a:schemeClr val="tx1"/>
                </a:solidFill>
              </a:rPr>
              <a:t>Carrito, kit de feria y stock en la planta</a:t>
            </a:r>
            <a:endParaRPr lang="en-US" sz="1500" dirty="0"/>
          </a:p>
        </p:txBody>
      </p:sp>
      <p:sp>
        <p:nvSpPr>
          <p:cNvPr id="46" name="Shape 40"/>
          <p:cNvSpPr/>
          <p:nvPr/>
        </p:nvSpPr>
        <p:spPr>
          <a:xfrm>
            <a:off x="7772400" y="4270248"/>
            <a:ext cx="347472" cy="347472"/>
          </a:xfrm>
          <a:prstGeom prst="ellipse">
            <a:avLst/>
          </a:prstGeom>
          <a:solidFill>
            <a:schemeClr val="accent4"/>
          </a:solidFill>
          <a:ln w="9525">
            <a:solidFill>
              <a:schemeClr val="accent4"/>
            </a:solidFill>
            <a:prstDash val="solid"/>
          </a:ln>
        </p:spPr>
      </p:sp>
      <p:sp>
        <p:nvSpPr>
          <p:cNvPr id="47" name="Text 41"/>
          <p:cNvSpPr txBox="1"/>
          <p:nvPr/>
        </p:nvSpPr>
        <p:spPr>
          <a:xfrm>
            <a:off x="7772400" y="4270248"/>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a:t>
            </a:r>
            <a:endParaRPr lang="en-US" sz="1300" dirty="0"/>
          </a:p>
        </p:txBody>
      </p:sp>
      <p:sp>
        <p:nvSpPr>
          <p:cNvPr id="48" name="Shape 42"/>
          <p:cNvSpPr/>
          <p:nvPr/>
        </p:nvSpPr>
        <p:spPr>
          <a:xfrm>
            <a:off x="9235440" y="4270248"/>
            <a:ext cx="347472" cy="347472"/>
          </a:xfrm>
          <a:prstGeom prst="ellipse">
            <a:avLst/>
          </a:prstGeom>
          <a:solidFill>
            <a:schemeClr val="bg2"/>
          </a:solidFill>
          <a:ln w="9525">
            <a:solidFill>
              <a:schemeClr val="accent5"/>
            </a:solidFill>
            <a:prstDash val="solid"/>
          </a:ln>
        </p:spPr>
      </p:sp>
      <p:sp>
        <p:nvSpPr>
          <p:cNvPr id="49" name="Text 43"/>
          <p:cNvSpPr txBox="1"/>
          <p:nvPr/>
        </p:nvSpPr>
        <p:spPr>
          <a:xfrm>
            <a:off x="9235440" y="4270248"/>
            <a:ext cx="347472" cy="347472"/>
          </a:xfrm>
          <a:prstGeom prst="rect">
            <a:avLst/>
          </a:prstGeom>
          <a:noFill/>
          <a:ln/>
        </p:spPr>
        <p:txBody>
          <a:bodyPr wrap="square" lIns="0" tIns="0" rIns="0" bIns="0" rtlCol="0" anchor="ctr"/>
          <a:lstStyle/>
          <a:p>
            <a:pPr algn="ctr" indent="0" marL="0">
              <a:buNone/>
            </a:pPr>
            <a:r>
              <a:rPr lang="en-US" sz="1300" b="1" dirty="0">
                <a:solidFill>
                  <a:schemeClr val="accent2"/>
                </a:solidFill>
              </a:rPr>
              <a:t>–</a:t>
            </a:r>
            <a:endParaRPr lang="en-US" sz="1300" dirty="0"/>
          </a:p>
        </p:txBody>
      </p:sp>
      <p:sp>
        <p:nvSpPr>
          <p:cNvPr id="50" name="Shape 44"/>
          <p:cNvSpPr/>
          <p:nvPr/>
        </p:nvSpPr>
        <p:spPr>
          <a:xfrm>
            <a:off x="10698480" y="4270248"/>
            <a:ext cx="347472" cy="347472"/>
          </a:xfrm>
          <a:prstGeom prst="ellipse">
            <a:avLst/>
          </a:prstGeom>
          <a:solidFill>
            <a:schemeClr val="bg2"/>
          </a:solidFill>
          <a:ln w="9525">
            <a:solidFill>
              <a:schemeClr val="accent5"/>
            </a:solidFill>
            <a:prstDash val="solid"/>
          </a:ln>
        </p:spPr>
      </p:sp>
      <p:sp>
        <p:nvSpPr>
          <p:cNvPr id="51" name="Text 45"/>
          <p:cNvSpPr txBox="1"/>
          <p:nvPr/>
        </p:nvSpPr>
        <p:spPr>
          <a:xfrm>
            <a:off x="10698480" y="4270248"/>
            <a:ext cx="347472" cy="347472"/>
          </a:xfrm>
          <a:prstGeom prst="rect">
            <a:avLst/>
          </a:prstGeom>
          <a:noFill/>
          <a:ln/>
        </p:spPr>
        <p:txBody>
          <a:bodyPr wrap="square" lIns="0" tIns="0" rIns="0" bIns="0" rtlCol="0" anchor="ctr"/>
          <a:lstStyle/>
          <a:p>
            <a:pPr algn="ctr" indent="0" marL="0">
              <a:buNone/>
            </a:pPr>
            <a:r>
              <a:rPr lang="en-US" sz="1300" b="1" dirty="0">
                <a:solidFill>
                  <a:schemeClr val="accent2"/>
                </a:solidFill>
              </a:rPr>
              <a:t>–</a:t>
            </a:r>
            <a:endParaRPr lang="en-US" sz="1300" dirty="0"/>
          </a:p>
        </p:txBody>
      </p:sp>
      <p:sp>
        <p:nvSpPr>
          <p:cNvPr id="52" name="Shape 46"/>
          <p:cNvSpPr/>
          <p:nvPr/>
        </p:nvSpPr>
        <p:spPr>
          <a:xfrm>
            <a:off x="548640" y="4818888"/>
            <a:ext cx="11091672" cy="576072"/>
          </a:xfrm>
          <a:prstGeom prst="roundRect">
            <a:avLst>
              <a:gd name="adj" fmla="val 15873"/>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53" name="Shape 47"/>
          <p:cNvSpPr/>
          <p:nvPr/>
        </p:nvSpPr>
        <p:spPr>
          <a:xfrm>
            <a:off x="685800" y="4892040"/>
            <a:ext cx="429768" cy="429768"/>
          </a:xfrm>
          <a:prstGeom prst="ellipse">
            <a:avLst/>
          </a:prstGeom>
          <a:solidFill>
            <a:schemeClr val="tx2"/>
          </a:solidFill>
          <a:ln w="12700">
            <a:solidFill>
              <a:schemeClr val="tx2"/>
            </a:solidFill>
            <a:prstDash val="solid"/>
          </a:ln>
        </p:spPr>
      </p:sp>
      <p:pic>
        <p:nvPicPr>
          <p:cNvPr id="54" name="Image 4" descr="preencoded.png">    </p:cNvPr>
          <p:cNvPicPr>
            <a:picLocks noChangeAspect="1"/>
          </p:cNvPicPr>
          <p:nvPr/>
        </p:nvPicPr>
        <p:blipFill>
          <a:blip r:embed="rId5"/>
          <a:stretch>
            <a:fillRect/>
          </a:stretch>
        </p:blipFill>
        <p:spPr>
          <a:xfrm>
            <a:off x="780349" y="4986589"/>
            <a:ext cx="240670" cy="240670"/>
          </a:xfrm>
          <a:prstGeom prst="rect">
            <a:avLst/>
          </a:prstGeom>
        </p:spPr>
      </p:pic>
      <p:sp>
        <p:nvSpPr>
          <p:cNvPr id="55" name="Text 48"/>
          <p:cNvSpPr txBox="1"/>
          <p:nvPr/>
        </p:nvSpPr>
        <p:spPr>
          <a:xfrm>
            <a:off x="1280160" y="4818888"/>
            <a:ext cx="1463040" cy="576072"/>
          </a:xfrm>
          <a:prstGeom prst="rect">
            <a:avLst/>
          </a:prstGeom>
          <a:noFill/>
          <a:ln/>
        </p:spPr>
        <p:txBody>
          <a:bodyPr wrap="square" lIns="0" tIns="0" rIns="0" bIns="0" rtlCol="0" anchor="ctr"/>
          <a:lstStyle/>
          <a:p>
            <a:pPr indent="0" marL="0">
              <a:buNone/>
            </a:pPr>
            <a:r>
              <a:rPr lang="en-US" sz="1100" b="1" spc="100" kern="0" dirty="0">
                <a:solidFill>
                  <a:schemeClr val="accent1"/>
                </a:solidFill>
              </a:rPr>
              <a:t>DIGITAL</a:t>
            </a:r>
            <a:endParaRPr lang="en-US" sz="1100" dirty="0"/>
          </a:p>
        </p:txBody>
      </p:sp>
      <p:sp>
        <p:nvSpPr>
          <p:cNvPr id="56" name="Text 49"/>
          <p:cNvSpPr txBox="1"/>
          <p:nvPr/>
        </p:nvSpPr>
        <p:spPr>
          <a:xfrm>
            <a:off x="2743200" y="4818888"/>
            <a:ext cx="4434840" cy="576072"/>
          </a:xfrm>
          <a:prstGeom prst="rect">
            <a:avLst/>
          </a:prstGeom>
          <a:noFill/>
          <a:ln/>
        </p:spPr>
        <p:txBody>
          <a:bodyPr wrap="square" lIns="0" tIns="0" rIns="0" bIns="0" rtlCol="0" anchor="ctr"/>
          <a:lstStyle/>
          <a:p>
            <a:pPr indent="0" marL="0">
              <a:buNone/>
            </a:pPr>
            <a:r>
              <a:rPr lang="en-US" sz="1500" dirty="0">
                <a:solidFill>
                  <a:schemeClr val="tx1"/>
                </a:solidFill>
              </a:rPr>
              <a:t>Base de clientes para la recompra por WhatsApp</a:t>
            </a:r>
            <a:endParaRPr lang="en-US" sz="1500" dirty="0"/>
          </a:p>
        </p:txBody>
      </p:sp>
      <p:sp>
        <p:nvSpPr>
          <p:cNvPr id="57" name="Shape 50"/>
          <p:cNvSpPr/>
          <p:nvPr/>
        </p:nvSpPr>
        <p:spPr>
          <a:xfrm>
            <a:off x="7772400" y="4937760"/>
            <a:ext cx="347472" cy="347472"/>
          </a:xfrm>
          <a:prstGeom prst="ellipse">
            <a:avLst/>
          </a:prstGeom>
          <a:solidFill>
            <a:schemeClr val="accent4"/>
          </a:solidFill>
          <a:ln w="9525">
            <a:solidFill>
              <a:schemeClr val="accent4"/>
            </a:solidFill>
            <a:prstDash val="solid"/>
          </a:ln>
        </p:spPr>
      </p:sp>
      <p:sp>
        <p:nvSpPr>
          <p:cNvPr id="58" name="Text 51"/>
          <p:cNvSpPr txBox="1"/>
          <p:nvPr/>
        </p:nvSpPr>
        <p:spPr>
          <a:xfrm>
            <a:off x="7772400" y="4937760"/>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a:t>
            </a:r>
            <a:endParaRPr lang="en-US" sz="1300" dirty="0"/>
          </a:p>
        </p:txBody>
      </p:sp>
      <p:sp>
        <p:nvSpPr>
          <p:cNvPr id="59" name="Shape 52"/>
          <p:cNvSpPr/>
          <p:nvPr/>
        </p:nvSpPr>
        <p:spPr>
          <a:xfrm>
            <a:off x="9235440" y="4937760"/>
            <a:ext cx="347472" cy="347472"/>
          </a:xfrm>
          <a:prstGeom prst="ellipse">
            <a:avLst/>
          </a:prstGeom>
          <a:solidFill>
            <a:schemeClr val="accent4"/>
          </a:solidFill>
          <a:ln w="9525">
            <a:solidFill>
              <a:schemeClr val="accent4"/>
            </a:solidFill>
            <a:prstDash val="solid"/>
          </a:ln>
        </p:spPr>
      </p:sp>
      <p:sp>
        <p:nvSpPr>
          <p:cNvPr id="60" name="Text 53"/>
          <p:cNvSpPr txBox="1"/>
          <p:nvPr/>
        </p:nvSpPr>
        <p:spPr>
          <a:xfrm>
            <a:off x="9235440" y="4937760"/>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a:t>
            </a:r>
            <a:endParaRPr lang="en-US" sz="1300" dirty="0"/>
          </a:p>
        </p:txBody>
      </p:sp>
      <p:sp>
        <p:nvSpPr>
          <p:cNvPr id="61" name="Shape 54"/>
          <p:cNvSpPr/>
          <p:nvPr/>
        </p:nvSpPr>
        <p:spPr>
          <a:xfrm>
            <a:off x="10698480" y="4937760"/>
            <a:ext cx="347472" cy="347472"/>
          </a:xfrm>
          <a:prstGeom prst="ellipse">
            <a:avLst/>
          </a:prstGeom>
          <a:solidFill>
            <a:schemeClr val="accent4"/>
          </a:solidFill>
          <a:ln w="9525">
            <a:solidFill>
              <a:schemeClr val="accent4"/>
            </a:solidFill>
            <a:prstDash val="solid"/>
          </a:ln>
        </p:spPr>
      </p:sp>
      <p:sp>
        <p:nvSpPr>
          <p:cNvPr id="62" name="Text 55"/>
          <p:cNvSpPr txBox="1"/>
          <p:nvPr/>
        </p:nvSpPr>
        <p:spPr>
          <a:xfrm>
            <a:off x="10698480" y="4937760"/>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a:t>
            </a:r>
            <a:endParaRPr lang="en-US" sz="1300" dirty="0"/>
          </a:p>
        </p:txBody>
      </p:sp>
      <p:sp>
        <p:nvSpPr>
          <p:cNvPr id="63" name="Shape 56"/>
          <p:cNvSpPr/>
          <p:nvPr/>
        </p:nvSpPr>
        <p:spPr>
          <a:xfrm>
            <a:off x="548640" y="5486400"/>
            <a:ext cx="11091672" cy="576072"/>
          </a:xfrm>
          <a:prstGeom prst="roundRect">
            <a:avLst>
              <a:gd name="adj" fmla="val 15873"/>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64" name="Shape 57"/>
          <p:cNvSpPr/>
          <p:nvPr/>
        </p:nvSpPr>
        <p:spPr>
          <a:xfrm>
            <a:off x="685800" y="5559552"/>
            <a:ext cx="429768" cy="429768"/>
          </a:xfrm>
          <a:prstGeom prst="ellipse">
            <a:avLst/>
          </a:prstGeom>
          <a:solidFill>
            <a:schemeClr val="tx2"/>
          </a:solidFill>
          <a:ln w="12700">
            <a:solidFill>
              <a:schemeClr val="tx2"/>
            </a:solidFill>
            <a:prstDash val="solid"/>
          </a:ln>
        </p:spPr>
      </p:sp>
      <p:pic>
        <p:nvPicPr>
          <p:cNvPr id="65" name="Image 5" descr="preencoded.png">    </p:cNvPr>
          <p:cNvPicPr>
            <a:picLocks noChangeAspect="1"/>
          </p:cNvPicPr>
          <p:nvPr/>
        </p:nvPicPr>
        <p:blipFill>
          <a:blip r:embed="rId6"/>
          <a:stretch>
            <a:fillRect/>
          </a:stretch>
        </p:blipFill>
        <p:spPr>
          <a:xfrm>
            <a:off x="780349" y="5654101"/>
            <a:ext cx="240670" cy="240670"/>
          </a:xfrm>
          <a:prstGeom prst="rect">
            <a:avLst/>
          </a:prstGeom>
        </p:spPr>
      </p:pic>
      <p:sp>
        <p:nvSpPr>
          <p:cNvPr id="66" name="Text 58"/>
          <p:cNvSpPr txBox="1"/>
          <p:nvPr/>
        </p:nvSpPr>
        <p:spPr>
          <a:xfrm>
            <a:off x="1280160" y="5486400"/>
            <a:ext cx="1463040" cy="576072"/>
          </a:xfrm>
          <a:prstGeom prst="rect">
            <a:avLst/>
          </a:prstGeom>
          <a:noFill/>
          <a:ln/>
        </p:spPr>
        <p:txBody>
          <a:bodyPr wrap="square" lIns="0" tIns="0" rIns="0" bIns="0" rtlCol="0" anchor="ctr"/>
          <a:lstStyle/>
          <a:p>
            <a:pPr indent="0" marL="0">
              <a:buNone/>
            </a:pPr>
            <a:r>
              <a:rPr lang="en-US" sz="1100" b="1" spc="100" kern="0" dirty="0">
                <a:solidFill>
                  <a:schemeClr val="accent1"/>
                </a:solidFill>
              </a:rPr>
              <a:t>FINANCIERO</a:t>
            </a:r>
            <a:endParaRPr lang="en-US" sz="1100" dirty="0"/>
          </a:p>
        </p:txBody>
      </p:sp>
      <p:sp>
        <p:nvSpPr>
          <p:cNvPr id="67" name="Text 59"/>
          <p:cNvSpPr txBox="1"/>
          <p:nvPr/>
        </p:nvSpPr>
        <p:spPr>
          <a:xfrm>
            <a:off x="2743200" y="5486400"/>
            <a:ext cx="4434840" cy="576072"/>
          </a:xfrm>
          <a:prstGeom prst="rect">
            <a:avLst/>
          </a:prstGeom>
          <a:noFill/>
          <a:ln/>
        </p:spPr>
        <p:txBody>
          <a:bodyPr wrap="square" lIns="0" tIns="0" rIns="0" bIns="0" rtlCol="0" anchor="ctr"/>
          <a:lstStyle/>
          <a:p>
            <a:pPr indent="0" marL="0">
              <a:buNone/>
            </a:pPr>
            <a:r>
              <a:rPr lang="en-US" sz="1500" dirty="0">
                <a:solidFill>
                  <a:schemeClr val="tx1"/>
                </a:solidFill>
              </a:rPr>
              <a:t>S/37,894 de inversión: socios y préstamo</a:t>
            </a:r>
            <a:endParaRPr lang="en-US" sz="1500" dirty="0"/>
          </a:p>
        </p:txBody>
      </p:sp>
      <p:sp>
        <p:nvSpPr>
          <p:cNvPr id="68" name="Shape 60"/>
          <p:cNvSpPr/>
          <p:nvPr/>
        </p:nvSpPr>
        <p:spPr>
          <a:xfrm>
            <a:off x="7772400" y="5605272"/>
            <a:ext cx="347472" cy="347472"/>
          </a:xfrm>
          <a:prstGeom prst="ellipse">
            <a:avLst/>
          </a:prstGeom>
          <a:solidFill>
            <a:schemeClr val="accent4"/>
          </a:solidFill>
          <a:ln w="9525">
            <a:solidFill>
              <a:schemeClr val="accent4"/>
            </a:solidFill>
            <a:prstDash val="solid"/>
          </a:ln>
        </p:spPr>
      </p:sp>
      <p:sp>
        <p:nvSpPr>
          <p:cNvPr id="69" name="Text 61"/>
          <p:cNvSpPr txBox="1"/>
          <p:nvPr/>
        </p:nvSpPr>
        <p:spPr>
          <a:xfrm>
            <a:off x="7772400" y="5605272"/>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a:t>
            </a:r>
            <a:endParaRPr lang="en-US" sz="1300" dirty="0"/>
          </a:p>
        </p:txBody>
      </p:sp>
      <p:sp>
        <p:nvSpPr>
          <p:cNvPr id="70" name="Shape 62"/>
          <p:cNvSpPr/>
          <p:nvPr/>
        </p:nvSpPr>
        <p:spPr>
          <a:xfrm>
            <a:off x="9235440" y="5605272"/>
            <a:ext cx="347472" cy="347472"/>
          </a:xfrm>
          <a:prstGeom prst="ellipse">
            <a:avLst/>
          </a:prstGeom>
          <a:solidFill>
            <a:schemeClr val="bg2"/>
          </a:solidFill>
          <a:ln w="9525">
            <a:solidFill>
              <a:schemeClr val="accent5"/>
            </a:solidFill>
            <a:prstDash val="solid"/>
          </a:ln>
        </p:spPr>
      </p:sp>
      <p:sp>
        <p:nvSpPr>
          <p:cNvPr id="71" name="Text 63"/>
          <p:cNvSpPr txBox="1"/>
          <p:nvPr/>
        </p:nvSpPr>
        <p:spPr>
          <a:xfrm>
            <a:off x="9235440" y="5605272"/>
            <a:ext cx="347472" cy="347472"/>
          </a:xfrm>
          <a:prstGeom prst="rect">
            <a:avLst/>
          </a:prstGeom>
          <a:noFill/>
          <a:ln/>
        </p:spPr>
        <p:txBody>
          <a:bodyPr wrap="square" lIns="0" tIns="0" rIns="0" bIns="0" rtlCol="0" anchor="ctr"/>
          <a:lstStyle/>
          <a:p>
            <a:pPr algn="ctr" indent="0" marL="0">
              <a:buNone/>
            </a:pPr>
            <a:r>
              <a:rPr lang="en-US" sz="1300" b="1" dirty="0">
                <a:solidFill>
                  <a:schemeClr val="accent2"/>
                </a:solidFill>
              </a:rPr>
              <a:t>–</a:t>
            </a:r>
            <a:endParaRPr lang="en-US" sz="1300" dirty="0"/>
          </a:p>
        </p:txBody>
      </p:sp>
      <p:sp>
        <p:nvSpPr>
          <p:cNvPr id="72" name="Shape 64"/>
          <p:cNvSpPr/>
          <p:nvPr/>
        </p:nvSpPr>
        <p:spPr>
          <a:xfrm>
            <a:off x="10698480" y="5605272"/>
            <a:ext cx="347472" cy="347472"/>
          </a:xfrm>
          <a:prstGeom prst="ellipse">
            <a:avLst/>
          </a:prstGeom>
          <a:solidFill>
            <a:schemeClr val="bg2"/>
          </a:solidFill>
          <a:ln w="9525">
            <a:solidFill>
              <a:schemeClr val="accent5"/>
            </a:solidFill>
            <a:prstDash val="solid"/>
          </a:ln>
        </p:spPr>
      </p:sp>
      <p:sp>
        <p:nvSpPr>
          <p:cNvPr id="73" name="Text 65"/>
          <p:cNvSpPr txBox="1"/>
          <p:nvPr/>
        </p:nvSpPr>
        <p:spPr>
          <a:xfrm>
            <a:off x="10698480" y="5605272"/>
            <a:ext cx="347472" cy="347472"/>
          </a:xfrm>
          <a:prstGeom prst="rect">
            <a:avLst/>
          </a:prstGeom>
          <a:noFill/>
          <a:ln/>
        </p:spPr>
        <p:txBody>
          <a:bodyPr wrap="square" lIns="0" tIns="0" rIns="0" bIns="0" rtlCol="0" anchor="ctr"/>
          <a:lstStyle/>
          <a:p>
            <a:pPr algn="ctr" indent="0" marL="0">
              <a:buNone/>
            </a:pPr>
            <a:r>
              <a:rPr lang="en-US" sz="1300" b="1" dirty="0">
                <a:solidFill>
                  <a:schemeClr val="accent2"/>
                </a:solidFill>
              </a:rPr>
              <a:t>–</a:t>
            </a:r>
            <a:endParaRPr lang="en-US" sz="1300" dirty="0"/>
          </a:p>
        </p:txBody>
      </p:sp>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TRABAJO DE CAMPO 7 · ACTIVIDADES CLAVE</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Cada actividad clave tiene su costo</a:t>
            </a:r>
            <a:endParaRPr lang="en-US" sz="34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1280160" y="1554480"/>
          <a:ext cx="10360152" cy="914400"/>
        </p:xfrm>
        <a:graphic>
          <a:graphicData uri="http://schemas.openxmlformats.org/drawingml/2006/table">
            <a:tbl>
              <a:tblPr/>
              <a:tblGrid>
                <a:gridCol w="3200400"/>
                <a:gridCol w="1737360"/>
                <a:gridCol w="3566160"/>
                <a:gridCol w="1856232"/>
              </a:tblGrid>
              <a:tr h="548640">
                <a:tc>
                  <a:txBody>
                    <a:bodyPr/>
                    <a:lstStyle/>
                    <a:p>
                      <a:pPr indent="0" marL="0">
                        <a:buNone/>
                      </a:pPr>
                      <a:r>
                        <a:rPr lang="en-US" sz="1300" b="1" dirty="0">
                          <a:solidFill>
                            <a:schemeClr val="bg1"/>
                          </a:solidFill>
                        </a:rPr>
                        <a:t>Actividad clave</a:t>
                      </a:r>
                      <a:endParaRPr lang="en-US" sz="1300" dirty="0"/>
                    </a:p>
                  </a:txBody>
                  <a:tcPr marL="73152" marR="73152" marT="73152" marB="73152"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Tipo</a:t>
                      </a:r>
                      <a:endParaRPr lang="en-US" sz="1300" dirty="0"/>
                    </a:p>
                  </a:txBody>
                  <a:tcPr marL="73152" marR="73152" marT="73152" marB="73152"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Lo que cuesta</a:t>
                      </a:r>
                      <a:endParaRPr lang="en-US" sz="1300" dirty="0"/>
                    </a:p>
                  </a:txBody>
                  <a:tcPr marL="73152" marR="73152" marT="73152" marB="73152"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Tipo de costo</a:t>
                      </a:r>
                      <a:endParaRPr lang="en-US" sz="1300" dirty="0"/>
                    </a:p>
                  </a:txBody>
                  <a:tcPr marL="73152" marR="73152" marT="73152" marB="73152"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chemeClr val="tx2"/>
                    </a:solidFill>
                  </a:tcPr>
                </a:tc>
              </a:tr>
              <a:tr h="548640">
                <a:tc>
                  <a:txBody>
                    <a:bodyPr/>
                    <a:lstStyle/>
                    <a:p>
                      <a:pPr indent="0" marL="0">
                        <a:buNone/>
                      </a:pPr>
                      <a:r>
                        <a:rPr lang="en-US" sz="1400" b="1" dirty="0">
                          <a:solidFill>
                            <a:schemeClr val="tx1"/>
                          </a:solidFill>
                        </a:rPr>
                        <a:t>Producir con la planta</a:t>
                      </a:r>
                      <a:endParaRPr lang="en-US" sz="1400" dirty="0"/>
                    </a:p>
                  </a:txBody>
                  <a:tcPr marL="73152" marR="73152" marT="73152" marB="73152"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indent="0" marL="0">
                        <a:buNone/>
                      </a:pPr>
                      <a:r>
                        <a:rPr lang="en-US" sz="1300" b="1" dirty="0">
                          <a:solidFill>
                            <a:schemeClr val="accent1"/>
                          </a:solidFill>
                        </a:rPr>
                        <a:t>Producción</a:t>
                      </a:r>
                      <a:endParaRPr lang="en-US" sz="1300" dirty="0"/>
                    </a:p>
                  </a:txBody>
                  <a:tcPr marL="73152" marR="73152" marT="73152" marB="73152"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indent="0" marL="0">
                        <a:buNone/>
                      </a:pPr>
                      <a:r>
                        <a:rPr lang="en-US" sz="1400" dirty="0">
                          <a:solidFill>
                            <a:schemeClr val="tx1"/>
                          </a:solidFill>
                        </a:rPr>
                        <a:t>S/0.85 por brownie</a:t>
                      </a:r>
                      <a:endParaRPr lang="en-US" sz="1400" dirty="0"/>
                    </a:p>
                  </a:txBody>
                  <a:tcPr marL="73152" marR="73152" marT="73152" marB="73152"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indent="0" marL="0">
                        <a:buNone/>
                      </a:pPr>
                      <a:r>
                        <a:rPr lang="en-US" sz="1300" dirty="0">
                          <a:solidFill>
                            <a:schemeClr val="accent2"/>
                          </a:solidFill>
                        </a:rPr>
                        <a:t>Variable</a:t>
                      </a:r>
                      <a:endParaRPr lang="en-US" sz="1300" dirty="0"/>
                    </a:p>
                  </a:txBody>
                  <a:tcPr marL="73152" marR="73152" marT="73152" marB="73152"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BF3E8"/>
                    </a:solidFill>
                  </a:tcPr>
                </a:tc>
              </a:tr>
              <a:tr h="548640">
                <a:tc>
                  <a:txBody>
                    <a:bodyPr/>
                    <a:lstStyle/>
                    <a:p>
                      <a:pPr indent="0" marL="0">
                        <a:buNone/>
                      </a:pPr>
                      <a:r>
                        <a:rPr lang="en-US" sz="1400" b="1" dirty="0">
                          <a:solidFill>
                            <a:schemeClr val="tx1"/>
                          </a:solidFill>
                        </a:rPr>
                        <a:t>Calidad y documentos</a:t>
                      </a:r>
                      <a:endParaRPr lang="en-US" sz="1400" dirty="0"/>
                    </a:p>
                  </a:txBody>
                  <a:tcPr marL="73152" marR="73152" marT="73152" marB="73152"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indent="0" marL="0">
                        <a:buNone/>
                      </a:pPr>
                      <a:r>
                        <a:rPr lang="en-US" sz="1300" b="1" dirty="0">
                          <a:solidFill>
                            <a:schemeClr val="accent1"/>
                          </a:solidFill>
                        </a:rPr>
                        <a:t>Producción</a:t>
                      </a:r>
                      <a:endParaRPr lang="en-US" sz="1300" dirty="0"/>
                    </a:p>
                  </a:txBody>
                  <a:tcPr marL="73152" marR="73152" marT="73152" marB="73152"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indent="0" marL="0">
                        <a:buNone/>
                      </a:pPr>
                      <a:r>
                        <a:rPr lang="en-US" sz="1400" dirty="0">
                          <a:solidFill>
                            <a:schemeClr val="tx1"/>
                          </a:solidFill>
                        </a:rPr>
                        <a:t>S/250 por lote</a:t>
                      </a:r>
                      <a:endParaRPr lang="en-US" sz="1400" dirty="0"/>
                    </a:p>
                  </a:txBody>
                  <a:tcPr marL="73152" marR="73152" marT="73152" marB="73152"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indent="0" marL="0">
                        <a:buNone/>
                      </a:pPr>
                      <a:r>
                        <a:rPr lang="en-US" sz="1300" dirty="0">
                          <a:solidFill>
                            <a:schemeClr val="accent2"/>
                          </a:solidFill>
                        </a:rPr>
                        <a:t>Variable</a:t>
                      </a:r>
                      <a:endParaRPr lang="en-US" sz="1300" dirty="0"/>
                    </a:p>
                  </a:txBody>
                  <a:tcPr marL="73152" marR="73152" marT="73152" marB="73152"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r>
              <a:tr h="548640">
                <a:tc>
                  <a:txBody>
                    <a:bodyPr/>
                    <a:lstStyle/>
                    <a:p>
                      <a:pPr indent="0" marL="0">
                        <a:buNone/>
                      </a:pPr>
                      <a:r>
                        <a:rPr lang="en-US" sz="1400" b="1" dirty="0">
                          <a:solidFill>
                            <a:schemeClr val="tx1"/>
                          </a:solidFill>
                        </a:rPr>
                        <a:t>Vender en stands y carrito</a:t>
                      </a:r>
                      <a:endParaRPr lang="en-US" sz="1400" dirty="0"/>
                    </a:p>
                  </a:txBody>
                  <a:tcPr marL="73152" marR="73152" marT="73152" marB="73152"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indent="0" marL="0">
                        <a:buNone/>
                      </a:pPr>
                      <a:r>
                        <a:rPr lang="en-US" sz="1300" b="1" dirty="0">
                          <a:solidFill>
                            <a:schemeClr val="accent1"/>
                          </a:solidFill>
                        </a:rPr>
                        <a:t>Resolución</a:t>
                      </a:r>
                      <a:endParaRPr lang="en-US" sz="1300" dirty="0"/>
                    </a:p>
                  </a:txBody>
                  <a:tcPr marL="73152" marR="73152" marT="73152" marB="73152"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indent="0" marL="0">
                        <a:buNone/>
                      </a:pPr>
                      <a:r>
                        <a:rPr lang="en-US" sz="1400" dirty="0">
                          <a:solidFill>
                            <a:schemeClr val="tx1"/>
                          </a:solidFill>
                        </a:rPr>
                        <a:t>S/600 por punto + S/90 por día</a:t>
                      </a:r>
                      <a:endParaRPr lang="en-US" sz="1400" dirty="0"/>
                    </a:p>
                  </a:txBody>
                  <a:tcPr marL="73152" marR="73152" marT="73152" marB="73152"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indent="0" marL="0">
                        <a:buNone/>
                      </a:pPr>
                      <a:r>
                        <a:rPr lang="en-US" sz="1300" dirty="0">
                          <a:solidFill>
                            <a:schemeClr val="accent2"/>
                          </a:solidFill>
                        </a:rPr>
                        <a:t>Escala</a:t>
                      </a:r>
                      <a:endParaRPr lang="en-US" sz="1300" dirty="0"/>
                    </a:p>
                  </a:txBody>
                  <a:tcPr marL="73152" marR="73152" marT="73152" marB="73152"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BF3E8"/>
                    </a:solidFill>
                  </a:tcPr>
                </a:tc>
              </a:tr>
              <a:tr h="548640">
                <a:tc>
                  <a:txBody>
                    <a:bodyPr/>
                    <a:lstStyle/>
                    <a:p>
                      <a:pPr indent="0" marL="0">
                        <a:buNone/>
                      </a:pPr>
                      <a:r>
                        <a:rPr lang="en-US" sz="1400" b="1" dirty="0">
                          <a:solidFill>
                            <a:schemeClr val="tx1"/>
                          </a:solidFill>
                        </a:rPr>
                        <a:t>Ferias de temporada</a:t>
                      </a:r>
                      <a:endParaRPr lang="en-US" sz="1400" dirty="0"/>
                    </a:p>
                  </a:txBody>
                  <a:tcPr marL="73152" marR="73152" marT="73152" marB="73152"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indent="0" marL="0">
                        <a:buNone/>
                      </a:pPr>
                      <a:r>
                        <a:rPr lang="en-US" sz="1300" b="1" dirty="0">
                          <a:solidFill>
                            <a:schemeClr val="accent1"/>
                          </a:solidFill>
                        </a:rPr>
                        <a:t>Resolución</a:t>
                      </a:r>
                      <a:endParaRPr lang="en-US" sz="1300" dirty="0"/>
                    </a:p>
                  </a:txBody>
                  <a:tcPr marL="73152" marR="73152" marT="73152" marB="73152"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indent="0" marL="0">
                        <a:buNone/>
                      </a:pPr>
                      <a:r>
                        <a:rPr lang="en-US" sz="1400" dirty="0">
                          <a:solidFill>
                            <a:schemeClr val="tx1"/>
                          </a:solidFill>
                        </a:rPr>
                        <a:t>S/1,800 por feria</a:t>
                      </a:r>
                      <a:endParaRPr lang="en-US" sz="1400" dirty="0"/>
                    </a:p>
                  </a:txBody>
                  <a:tcPr marL="73152" marR="73152" marT="73152" marB="73152"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indent="0" marL="0">
                        <a:buNone/>
                      </a:pPr>
                      <a:r>
                        <a:rPr lang="en-US" sz="1300" dirty="0">
                          <a:solidFill>
                            <a:schemeClr val="accent2"/>
                          </a:solidFill>
                        </a:rPr>
                        <a:t>Por evento</a:t>
                      </a:r>
                      <a:endParaRPr lang="en-US" sz="1300" dirty="0"/>
                    </a:p>
                  </a:txBody>
                  <a:tcPr marL="73152" marR="73152" marT="73152" marB="73152"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r>
              <a:tr h="548640">
                <a:tc>
                  <a:txBody>
                    <a:bodyPr/>
                    <a:lstStyle/>
                    <a:p>
                      <a:pPr indent="0" marL="0">
                        <a:buNone/>
                      </a:pPr>
                      <a:r>
                        <a:rPr lang="en-US" sz="1400" b="1" dirty="0">
                          <a:solidFill>
                            <a:schemeClr val="tx1"/>
                          </a:solidFill>
                        </a:rPr>
                        <a:t>Recompra y delivery</a:t>
                      </a:r>
                      <a:endParaRPr lang="en-US" sz="1400" dirty="0"/>
                    </a:p>
                  </a:txBody>
                  <a:tcPr marL="73152" marR="73152" marT="73152" marB="73152"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indent="0" marL="0">
                        <a:buNone/>
                      </a:pPr>
                      <a:r>
                        <a:rPr lang="en-US" sz="1300" b="1" dirty="0">
                          <a:solidFill>
                            <a:schemeClr val="accent1"/>
                          </a:solidFill>
                        </a:rPr>
                        <a:t>Plataforma</a:t>
                      </a:r>
                      <a:endParaRPr lang="en-US" sz="1300" dirty="0"/>
                    </a:p>
                  </a:txBody>
                  <a:tcPr marL="73152" marR="73152" marT="73152" marB="73152"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indent="0" marL="0">
                        <a:buNone/>
                      </a:pPr>
                      <a:r>
                        <a:rPr lang="en-US" sz="1400" dirty="0">
                          <a:solidFill>
                            <a:schemeClr val="tx1"/>
                          </a:solidFill>
                        </a:rPr>
                        <a:t>S/0.80 por brownie + S/709 al mes</a:t>
                      </a:r>
                      <a:endParaRPr lang="en-US" sz="1400" dirty="0"/>
                    </a:p>
                  </a:txBody>
                  <a:tcPr marL="73152" marR="73152" marT="73152" marB="73152"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indent="0" marL="0">
                        <a:buNone/>
                      </a:pPr>
                      <a:r>
                        <a:rPr lang="en-US" sz="1300" dirty="0">
                          <a:solidFill>
                            <a:schemeClr val="accent2"/>
                          </a:solidFill>
                        </a:rPr>
                        <a:t>Variable y fijo</a:t>
                      </a:r>
                      <a:endParaRPr lang="en-US" sz="1300" dirty="0"/>
                    </a:p>
                  </a:txBody>
                  <a:tcPr marL="73152" marR="73152" marT="73152" marB="73152"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BF3E8"/>
                    </a:solidFill>
                  </a:tcPr>
                </a:tc>
              </a:tr>
              <a:tr h="548640">
                <a:tc>
                  <a:txBody>
                    <a:bodyPr/>
                    <a:lstStyle/>
                    <a:p>
                      <a:pPr indent="0" marL="0">
                        <a:buNone/>
                      </a:pPr>
                      <a:r>
                        <a:rPr lang="en-US" sz="1400" b="1" dirty="0">
                          <a:solidFill>
                            <a:schemeClr val="tx1"/>
                          </a:solidFill>
                        </a:rPr>
                        <a:t>Contenido y comunidad</a:t>
                      </a:r>
                      <a:endParaRPr lang="en-US" sz="1400" dirty="0"/>
                    </a:p>
                  </a:txBody>
                  <a:tcPr marL="73152" marR="73152" marT="73152" marB="73152"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indent="0" marL="0">
                        <a:buNone/>
                      </a:pPr>
                      <a:r>
                        <a:rPr lang="en-US" sz="1300" b="1" dirty="0">
                          <a:solidFill>
                            <a:schemeClr val="accent1"/>
                          </a:solidFill>
                        </a:rPr>
                        <a:t>Plataforma</a:t>
                      </a:r>
                      <a:endParaRPr lang="en-US" sz="1300" dirty="0"/>
                    </a:p>
                  </a:txBody>
                  <a:tcPr marL="73152" marR="73152" marT="73152" marB="73152"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indent="0" marL="0">
                        <a:buNone/>
                      </a:pPr>
                      <a:r>
                        <a:rPr lang="en-US" sz="1400" dirty="0">
                          <a:solidFill>
                            <a:schemeClr val="tx1"/>
                          </a:solidFill>
                        </a:rPr>
                        <a:t>S/900 al mes</a:t>
                      </a:r>
                      <a:endParaRPr lang="en-US" sz="1400" dirty="0"/>
                    </a:p>
                  </a:txBody>
                  <a:tcPr marL="73152" marR="73152" marT="73152" marB="73152"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indent="0" marL="0">
                        <a:buNone/>
                      </a:pPr>
                      <a:r>
                        <a:rPr lang="en-US" sz="1300" dirty="0">
                          <a:solidFill>
                            <a:schemeClr val="accent2"/>
                          </a:solidFill>
                        </a:rPr>
                        <a:t>Fijo</a:t>
                      </a:r>
                      <a:endParaRPr lang="en-US" sz="1300" dirty="0"/>
                    </a:p>
                  </a:txBody>
                  <a:tcPr marL="73152" marR="73152" marT="73152" marB="73152"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2167128"/>
            <a:ext cx="438912" cy="438912"/>
          </a:xfrm>
          <a:prstGeom prst="ellipse">
            <a:avLst/>
          </a:prstGeom>
          <a:solidFill>
            <a:schemeClr val="accent1"/>
          </a:solidFill>
          <a:ln w="12700">
            <a:solidFill>
              <a:schemeClr val="accent1"/>
            </a:solidFill>
            <a:prstDash val="solid"/>
          </a:ln>
        </p:spPr>
      </p:sp>
      <p:pic>
        <p:nvPicPr>
          <p:cNvPr id="6" name="Image 0" descr="preencoded.png">    </p:cNvPr>
          <p:cNvPicPr>
            <a:picLocks noChangeAspect="1"/>
          </p:cNvPicPr>
          <p:nvPr/>
        </p:nvPicPr>
        <p:blipFill>
          <a:blip r:embed="rId1"/>
          <a:stretch>
            <a:fillRect/>
          </a:stretch>
        </p:blipFill>
        <p:spPr>
          <a:xfrm>
            <a:off x="736641" y="2263689"/>
            <a:ext cx="245791" cy="245791"/>
          </a:xfrm>
          <a:prstGeom prst="rect">
            <a:avLst/>
          </a:prstGeom>
        </p:spPr>
      </p:pic>
      <p:sp>
        <p:nvSpPr>
          <p:cNvPr id="7" name="Shape 3"/>
          <p:cNvSpPr/>
          <p:nvPr/>
        </p:nvSpPr>
        <p:spPr>
          <a:xfrm>
            <a:off x="640080" y="2715768"/>
            <a:ext cx="438912" cy="438912"/>
          </a:xfrm>
          <a:prstGeom prst="ellipse">
            <a:avLst/>
          </a:prstGeom>
          <a:solidFill>
            <a:schemeClr val="accent1"/>
          </a:solidFill>
          <a:ln w="12700">
            <a:solidFill>
              <a:schemeClr val="accent1"/>
            </a:solidFill>
            <a:prstDash val="solid"/>
          </a:ln>
        </p:spPr>
      </p:sp>
      <p:pic>
        <p:nvPicPr>
          <p:cNvPr id="8" name="Image 1" descr="preencoded.png">    </p:cNvPr>
          <p:cNvPicPr>
            <a:picLocks noChangeAspect="1"/>
          </p:cNvPicPr>
          <p:nvPr/>
        </p:nvPicPr>
        <p:blipFill>
          <a:blip r:embed="rId2"/>
          <a:stretch>
            <a:fillRect/>
          </a:stretch>
        </p:blipFill>
        <p:spPr>
          <a:xfrm>
            <a:off x="736641" y="2812329"/>
            <a:ext cx="245791" cy="245791"/>
          </a:xfrm>
          <a:prstGeom prst="rect">
            <a:avLst/>
          </a:prstGeom>
        </p:spPr>
      </p:pic>
      <p:sp>
        <p:nvSpPr>
          <p:cNvPr id="9" name="Shape 4"/>
          <p:cNvSpPr/>
          <p:nvPr/>
        </p:nvSpPr>
        <p:spPr>
          <a:xfrm>
            <a:off x="640080" y="3264408"/>
            <a:ext cx="438912" cy="438912"/>
          </a:xfrm>
          <a:prstGeom prst="ellipse">
            <a:avLst/>
          </a:prstGeom>
          <a:solidFill>
            <a:schemeClr val="accent1"/>
          </a:solidFill>
          <a:ln w="12700">
            <a:solidFill>
              <a:schemeClr val="accent1"/>
            </a:solidFill>
            <a:prstDash val="solid"/>
          </a:ln>
        </p:spPr>
      </p:sp>
      <p:pic>
        <p:nvPicPr>
          <p:cNvPr id="10" name="Image 2" descr="preencoded.png">    </p:cNvPr>
          <p:cNvPicPr>
            <a:picLocks noChangeAspect="1"/>
          </p:cNvPicPr>
          <p:nvPr/>
        </p:nvPicPr>
        <p:blipFill>
          <a:blip r:embed="rId3"/>
          <a:stretch>
            <a:fillRect/>
          </a:stretch>
        </p:blipFill>
        <p:spPr>
          <a:xfrm>
            <a:off x="736641" y="3360969"/>
            <a:ext cx="245791" cy="245791"/>
          </a:xfrm>
          <a:prstGeom prst="rect">
            <a:avLst/>
          </a:prstGeom>
        </p:spPr>
      </p:pic>
      <p:sp>
        <p:nvSpPr>
          <p:cNvPr id="11" name="Shape 5"/>
          <p:cNvSpPr/>
          <p:nvPr/>
        </p:nvSpPr>
        <p:spPr>
          <a:xfrm>
            <a:off x="640080" y="3813048"/>
            <a:ext cx="438912" cy="438912"/>
          </a:xfrm>
          <a:prstGeom prst="ellipse">
            <a:avLst/>
          </a:prstGeom>
          <a:solidFill>
            <a:schemeClr val="accent1"/>
          </a:solidFill>
          <a:ln w="12700">
            <a:solidFill>
              <a:schemeClr val="accent1"/>
            </a:solidFill>
            <a:prstDash val="solid"/>
          </a:ln>
        </p:spPr>
      </p:sp>
      <p:pic>
        <p:nvPicPr>
          <p:cNvPr id="12" name="Image 3" descr="preencoded.png">    </p:cNvPr>
          <p:cNvPicPr>
            <a:picLocks noChangeAspect="1"/>
          </p:cNvPicPr>
          <p:nvPr/>
        </p:nvPicPr>
        <p:blipFill>
          <a:blip r:embed="rId4"/>
          <a:stretch>
            <a:fillRect/>
          </a:stretch>
        </p:blipFill>
        <p:spPr>
          <a:xfrm>
            <a:off x="736641" y="3909609"/>
            <a:ext cx="245791" cy="245791"/>
          </a:xfrm>
          <a:prstGeom prst="rect">
            <a:avLst/>
          </a:prstGeom>
        </p:spPr>
      </p:pic>
      <p:sp>
        <p:nvSpPr>
          <p:cNvPr id="13" name="Shape 6"/>
          <p:cNvSpPr/>
          <p:nvPr/>
        </p:nvSpPr>
        <p:spPr>
          <a:xfrm>
            <a:off x="640080" y="4361688"/>
            <a:ext cx="438912" cy="438912"/>
          </a:xfrm>
          <a:prstGeom prst="ellipse">
            <a:avLst/>
          </a:prstGeom>
          <a:solidFill>
            <a:schemeClr val="accent1"/>
          </a:solidFill>
          <a:ln w="12700">
            <a:solidFill>
              <a:schemeClr val="accent1"/>
            </a:solidFill>
            <a:prstDash val="solid"/>
          </a:ln>
        </p:spPr>
      </p:sp>
      <p:pic>
        <p:nvPicPr>
          <p:cNvPr id="14" name="Image 4" descr="preencoded.png">    </p:cNvPr>
          <p:cNvPicPr>
            <a:picLocks noChangeAspect="1"/>
          </p:cNvPicPr>
          <p:nvPr/>
        </p:nvPicPr>
        <p:blipFill>
          <a:blip r:embed="rId5"/>
          <a:stretch>
            <a:fillRect/>
          </a:stretch>
        </p:blipFill>
        <p:spPr>
          <a:xfrm>
            <a:off x="736641" y="4458249"/>
            <a:ext cx="245791" cy="245791"/>
          </a:xfrm>
          <a:prstGeom prst="rect">
            <a:avLst/>
          </a:prstGeom>
        </p:spPr>
      </p:pic>
      <p:sp>
        <p:nvSpPr>
          <p:cNvPr id="15" name="Shape 7"/>
          <p:cNvSpPr/>
          <p:nvPr/>
        </p:nvSpPr>
        <p:spPr>
          <a:xfrm>
            <a:off x="640080" y="4910328"/>
            <a:ext cx="438912" cy="438912"/>
          </a:xfrm>
          <a:prstGeom prst="ellipse">
            <a:avLst/>
          </a:prstGeom>
          <a:solidFill>
            <a:schemeClr val="accent1"/>
          </a:solidFill>
          <a:ln w="12700">
            <a:solidFill>
              <a:schemeClr val="accent1"/>
            </a:solidFill>
            <a:prstDash val="solid"/>
          </a:ln>
        </p:spPr>
      </p:sp>
      <p:pic>
        <p:nvPicPr>
          <p:cNvPr id="16" name="Image 5" descr="preencoded.png">    </p:cNvPr>
          <p:cNvPicPr>
            <a:picLocks noChangeAspect="1"/>
          </p:cNvPicPr>
          <p:nvPr/>
        </p:nvPicPr>
        <p:blipFill>
          <a:blip r:embed="rId6"/>
          <a:stretch>
            <a:fillRect/>
          </a:stretch>
        </p:blipFill>
        <p:spPr>
          <a:xfrm>
            <a:off x="736641" y="5006889"/>
            <a:ext cx="245791" cy="245791"/>
          </a:xfrm>
          <a:prstGeom prst="rect">
            <a:avLst/>
          </a:prstGeom>
        </p:spPr>
      </p:pic>
      <p:sp>
        <p:nvSpPr>
          <p:cNvPr id="17" name="Shape 8"/>
          <p:cNvSpPr/>
          <p:nvPr/>
        </p:nvSpPr>
        <p:spPr>
          <a:xfrm>
            <a:off x="548640" y="5623560"/>
            <a:ext cx="11091672" cy="548640"/>
          </a:xfrm>
          <a:prstGeom prst="roundRect">
            <a:avLst>
              <a:gd name="adj" fmla="val 50000"/>
            </a:avLst>
          </a:prstGeom>
          <a:solidFill>
            <a:schemeClr val="tx2"/>
          </a:solidFill>
          <a:ln w="12700">
            <a:solidFill>
              <a:schemeClr val="tx2"/>
            </a:solidFill>
            <a:prstDash val="solid"/>
          </a:ln>
          <a:effectLst>
            <a:outerShdw sx="100000" sy="100000" kx="0" ky="0" algn="bl" rotWithShape="0" blurRad="101600" dist="25400" dir="5400000">
              <a:srgbClr val="7A4A30">
                <a:alpha val="14000"/>
              </a:srgbClr>
            </a:outerShdw>
          </a:effectLst>
        </p:spPr>
      </p:sp>
      <p:sp>
        <p:nvSpPr>
          <p:cNvPr id="18" name="Text 9"/>
          <p:cNvSpPr txBox="1"/>
          <p:nvPr/>
        </p:nvSpPr>
        <p:spPr>
          <a:xfrm>
            <a:off x="822960" y="5623560"/>
            <a:ext cx="10607040" cy="548640"/>
          </a:xfrm>
          <a:prstGeom prst="rect">
            <a:avLst/>
          </a:prstGeom>
          <a:noFill/>
          <a:ln/>
        </p:spPr>
        <p:txBody>
          <a:bodyPr wrap="square" lIns="0" tIns="0" rIns="0" bIns="0" rtlCol="0" anchor="ctr"/>
          <a:lstStyle/>
          <a:p>
            <a:pPr indent="0" marL="0">
              <a:buNone/>
            </a:pPr>
            <a:r>
              <a:rPr lang="en-US" sz="1400" i="1" dirty="0">
                <a:solidFill>
                  <a:schemeClr val="bg2"/>
                </a:solidFill>
              </a:rPr>
              <a:t>"Si una actividad parece gratis, estás ignorando un recurso oculto": por eso los stands y los pedidos tienen personal pagado.</a:t>
            </a:r>
            <a:endParaRPr lang="en-US" sz="1400" dirty="0"/>
          </a:p>
        </p:txBody>
      </p:sp>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TRABAJO DE CAMPO 7 · ESTRUCTURA DE COSTOS</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El pack de 6 cuesta S/8.29 y en el stand deja S/11.12</a:t>
            </a:r>
            <a:endParaRPr lang="en-US" sz="3400" dirty="0"/>
          </a:p>
        </p:txBody>
      </p:sp>
      <p:graphicFrame>
        <p:nvGraphicFramePr>
          <p:cNvPr id="4" name="Chart 0" descr=""/>
          <p:cNvGraphicFramePr/>
          <p:nvPr/>
        </p:nvGraphicFramePr>
        <p:xfrm>
          <a:off x="365760" y="1463040"/>
          <a:ext cx="5760720" cy="4663440"/>
        </p:xfrm>
        <a:graphic xmlns:a="http://schemas.openxmlformats.org/drawingml/2006/main">
          <a:graphicData uri="http://schemas.openxmlformats.org/drawingml/2006/chart">
            <c:chart xmlns:c="http://schemas.openxmlformats.org/drawingml/2006/chart" r:id="rId1"/>
          </a:graphicData>
        </a:graphic>
      </p:graphicFrame>
      <p:graphicFrame>
        <p:nvGraphicFramePr>
          <p:cNvPr id="5" name="Chart 1" descr=""/>
          <p:cNvGraphicFramePr/>
          <p:nvPr/>
        </p:nvGraphicFramePr>
        <p:xfrm>
          <a:off x="6309360" y="1463040"/>
          <a:ext cx="3017520" cy="4663440"/>
        </p:xfrm>
        <a:graphic xmlns:a="http://schemas.openxmlformats.org/drawingml/2006/main">
          <a:graphicData uri="http://schemas.openxmlformats.org/drawingml/2006/chart">
            <c:chart xmlns:c="http://schemas.openxmlformats.org/drawingml/2006/chart" r:id="rId2"/>
          </a:graphicData>
        </a:graphic>
      </p:graphicFrame>
      <p:sp>
        <p:nvSpPr>
          <p:cNvPr id="6" name="Shape 2"/>
          <p:cNvSpPr/>
          <p:nvPr/>
        </p:nvSpPr>
        <p:spPr>
          <a:xfrm>
            <a:off x="9509760" y="1554480"/>
            <a:ext cx="2130552" cy="1371600"/>
          </a:xfrm>
          <a:prstGeom prst="roundRect">
            <a:avLst>
              <a:gd name="adj" fmla="val 8000"/>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7" name="Text 3"/>
          <p:cNvSpPr txBox="1"/>
          <p:nvPr/>
        </p:nvSpPr>
        <p:spPr>
          <a:xfrm>
            <a:off x="9692640" y="1645920"/>
            <a:ext cx="1810512" cy="1188720"/>
          </a:xfrm>
          <a:prstGeom prst="rect">
            <a:avLst/>
          </a:prstGeom>
          <a:noFill/>
          <a:ln/>
        </p:spPr>
        <p:txBody>
          <a:bodyPr wrap="square" lIns="0" tIns="0" rIns="0" bIns="0" rtlCol="0" anchor="ctr"/>
          <a:lstStyle/>
          <a:p>
            <a:pPr indent="0" marL="0">
              <a:buNone/>
            </a:pPr>
            <a:r>
              <a:rPr lang="en-US" sz="2800" b="1" dirty="0">
                <a:solidFill>
                  <a:schemeClr val="accent1"/>
                </a:solidFill>
              </a:rPr>
              <a:t>62 %</a:t>
            </a:r>
            <a:endParaRPr lang="en-US" sz="1400" dirty="0"/>
          </a:p>
          <a:p>
            <a:pPr indent="0" marL="0">
              <a:buNone/>
            </a:pPr>
            <a:r>
              <a:rPr lang="en-US" sz="1200" dirty="0">
                <a:solidFill>
                  <a:schemeClr val="tx1"/>
                </a:solidFill>
              </a:rPr>
              <a:t>margen bruto del pack en el stand</a:t>
            </a:r>
            <a:endParaRPr lang="en-US" sz="1400" dirty="0"/>
          </a:p>
        </p:txBody>
      </p:sp>
      <p:sp>
        <p:nvSpPr>
          <p:cNvPr id="8" name="Shape 4"/>
          <p:cNvSpPr/>
          <p:nvPr/>
        </p:nvSpPr>
        <p:spPr>
          <a:xfrm>
            <a:off x="9509760" y="3108960"/>
            <a:ext cx="2130552" cy="1371600"/>
          </a:xfrm>
          <a:prstGeom prst="roundRect">
            <a:avLst>
              <a:gd name="adj" fmla="val 8000"/>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9" name="Text 5"/>
          <p:cNvSpPr txBox="1"/>
          <p:nvPr/>
        </p:nvSpPr>
        <p:spPr>
          <a:xfrm>
            <a:off x="9692640" y="3200400"/>
            <a:ext cx="1810512" cy="1188720"/>
          </a:xfrm>
          <a:prstGeom prst="rect">
            <a:avLst/>
          </a:prstGeom>
          <a:noFill/>
          <a:ln/>
        </p:spPr>
        <p:txBody>
          <a:bodyPr wrap="square" lIns="0" tIns="0" rIns="0" bIns="0" rtlCol="0" anchor="ctr"/>
          <a:lstStyle/>
          <a:p>
            <a:pPr indent="0" marL="0">
              <a:buNone/>
            </a:pPr>
            <a:r>
              <a:rPr lang="en-US" sz="2800" b="1" dirty="0">
                <a:solidFill>
                  <a:schemeClr val="accent1"/>
                </a:solidFill>
              </a:rPr>
              <a:t>S/1.38</a:t>
            </a:r>
            <a:endParaRPr lang="en-US" sz="1400" dirty="0"/>
          </a:p>
          <a:p>
            <a:pPr indent="0" marL="0">
              <a:buNone/>
            </a:pPr>
            <a:r>
              <a:rPr lang="en-US" sz="1200" dirty="0">
                <a:solidFill>
                  <a:schemeClr val="tx1"/>
                </a:solidFill>
              </a:rPr>
              <a:t>cuesta producir cada brownie</a:t>
            </a:r>
            <a:endParaRPr lang="en-US" sz="1400" dirty="0"/>
          </a:p>
        </p:txBody>
      </p:sp>
      <p:sp>
        <p:nvSpPr>
          <p:cNvPr id="10" name="Shape 6"/>
          <p:cNvSpPr/>
          <p:nvPr/>
        </p:nvSpPr>
        <p:spPr>
          <a:xfrm>
            <a:off x="9509760" y="4663440"/>
            <a:ext cx="2130552" cy="1371600"/>
          </a:xfrm>
          <a:prstGeom prst="roundRect">
            <a:avLst>
              <a:gd name="adj" fmla="val 8000"/>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11" name="Text 7"/>
          <p:cNvSpPr txBox="1"/>
          <p:nvPr/>
        </p:nvSpPr>
        <p:spPr>
          <a:xfrm>
            <a:off x="9692640" y="4754880"/>
            <a:ext cx="1810512" cy="1188720"/>
          </a:xfrm>
          <a:prstGeom prst="rect">
            <a:avLst/>
          </a:prstGeom>
          <a:noFill/>
          <a:ln/>
        </p:spPr>
        <p:txBody>
          <a:bodyPr wrap="square" lIns="0" tIns="0" rIns="0" bIns="0" rtlCol="0" anchor="ctr"/>
          <a:lstStyle/>
          <a:p>
            <a:pPr indent="0" marL="0">
              <a:buNone/>
            </a:pPr>
            <a:r>
              <a:rPr lang="en-US" sz="2800" b="1" dirty="0">
                <a:solidFill>
                  <a:schemeClr val="accent1"/>
                </a:solidFill>
              </a:rPr>
              <a:t>0</a:t>
            </a:r>
            <a:endParaRPr lang="en-US" sz="1400" dirty="0"/>
          </a:p>
          <a:p>
            <a:pPr indent="0" marL="0">
              <a:buNone/>
            </a:pPr>
            <a:r>
              <a:rPr lang="en-US" sz="1200" dirty="0">
                <a:solidFill>
                  <a:schemeClr val="tx1"/>
                </a:solidFill>
              </a:rPr>
              <a:t>plantas propias: pagamos por unidad hecha</a:t>
            </a:r>
            <a:endParaRPr lang="en-US" sz="1400" dirty="0"/>
          </a:p>
        </p:txBody>
      </p:sp>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TRABAJO DE CAMPO 7 · INVERSIÓN INICIAL</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Todos los documentos para vender, pagados desde el inicio</a:t>
            </a:r>
            <a:endParaRPr lang="en-US" sz="34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5852160" cy="914400"/>
        </p:xfrm>
        <a:graphic>
          <a:graphicData uri="http://schemas.openxmlformats.org/drawingml/2006/table">
            <a:tbl>
              <a:tblPr/>
              <a:tblGrid>
                <a:gridCol w="4754880"/>
                <a:gridCol w="1097280"/>
              </a:tblGrid>
              <a:tr h="365760">
                <a:tc>
                  <a:txBody>
                    <a:bodyPr/>
                    <a:lstStyle/>
                    <a:p>
                      <a:pPr algn="l" indent="0" marL="0">
                        <a:buNone/>
                      </a:pPr>
                      <a:r>
                        <a:rPr lang="en-US" sz="1300" b="1" dirty="0">
                          <a:solidFill>
                            <a:schemeClr val="bg1"/>
                          </a:solidFill>
                        </a:rPr>
                        <a:t>Documento o permiso</a:t>
                      </a:r>
                      <a:endParaRPr lang="en-US" sz="13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chemeClr val="tx2"/>
                    </a:solidFill>
                  </a:tcPr>
                </a:tc>
                <a:tc>
                  <a:txBody>
                    <a:bodyPr/>
                    <a:lstStyle/>
                    <a:p>
                      <a:pPr algn="r" indent="0" marL="0">
                        <a:buNone/>
                      </a:pPr>
                      <a:r>
                        <a:rPr lang="en-US" sz="1300" b="1" dirty="0">
                          <a:solidFill>
                            <a:schemeClr val="bg1"/>
                          </a:solidFill>
                        </a:rPr>
                        <a:t>Costo</a:t>
                      </a:r>
                      <a:endParaRPr lang="en-US" sz="13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chemeClr val="tx2"/>
                    </a:solidFill>
                  </a:tcPr>
                </a:tc>
              </a:tr>
              <a:tr h="365760">
                <a:tc>
                  <a:txBody>
                    <a:bodyPr/>
                    <a:lstStyle/>
                    <a:p>
                      <a:pPr indent="0" marL="0">
                        <a:buNone/>
                      </a:pPr>
                      <a:r>
                        <a:rPr lang="en-US" sz="1300" dirty="0">
                          <a:solidFill>
                            <a:schemeClr val="tx1"/>
                          </a:solidFill>
                        </a:rPr>
                        <a:t>Constitución de la S.A.C. (notaría del CDE)</a:t>
                      </a:r>
                      <a:endParaRPr lang="en-US" sz="13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r" indent="0" marL="0">
                        <a:buNone/>
                      </a:pPr>
                      <a:r>
                        <a:rPr lang="en-US" sz="1300" dirty="0">
                          <a:solidFill>
                            <a:schemeClr val="tx1"/>
                          </a:solidFill>
                        </a:rPr>
                        <a:t>S/150</a:t>
                      </a:r>
                      <a:endParaRPr lang="en-US" sz="13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r>
              <a:tr h="365760">
                <a:tc>
                  <a:txBody>
                    <a:bodyPr/>
                    <a:lstStyle/>
                    <a:p>
                      <a:pPr indent="0" marL="0">
                        <a:buNone/>
                      </a:pPr>
                      <a:r>
                        <a:rPr lang="en-US" sz="1300" dirty="0">
                          <a:solidFill>
                            <a:schemeClr val="tx1"/>
                          </a:solidFill>
                        </a:rPr>
                        <a:t>RUC, REMYPE y libro de reclamaciones</a:t>
                      </a:r>
                      <a:endParaRPr lang="en-US" sz="13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r" indent="0" marL="0">
                        <a:buNone/>
                      </a:pPr>
                      <a:r>
                        <a:rPr lang="en-US" sz="1300" dirty="0">
                          <a:solidFill>
                            <a:schemeClr val="tx1"/>
                          </a:solidFill>
                        </a:rPr>
                        <a:t>S/0</a:t>
                      </a:r>
                      <a:endParaRPr lang="en-US" sz="13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r>
              <a:tr h="365760">
                <a:tc>
                  <a:txBody>
                    <a:bodyPr/>
                    <a:lstStyle/>
                    <a:p>
                      <a:pPr indent="0" marL="0">
                        <a:buNone/>
                      </a:pPr>
                      <a:r>
                        <a:rPr lang="en-US" sz="1300" dirty="0">
                          <a:solidFill>
                            <a:schemeClr val="tx1"/>
                          </a:solidFill>
                        </a:rPr>
                        <a:t>Marca en INDECOPI, clase 30</a:t>
                      </a:r>
                      <a:endParaRPr lang="en-US" sz="13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r" indent="0" marL="0">
                        <a:buNone/>
                      </a:pPr>
                      <a:r>
                        <a:rPr lang="en-US" sz="1300" dirty="0">
                          <a:solidFill>
                            <a:schemeClr val="tx1"/>
                          </a:solidFill>
                        </a:rPr>
                        <a:t>S/401</a:t>
                      </a:r>
                      <a:endParaRPr lang="en-US" sz="13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r>
              <a:tr h="365760">
                <a:tc>
                  <a:txBody>
                    <a:bodyPr/>
                    <a:lstStyle/>
                    <a:p>
                      <a:pPr indent="0" marL="0">
                        <a:buNone/>
                      </a:pPr>
                      <a:r>
                        <a:rPr lang="en-US" sz="1300" dirty="0">
                          <a:solidFill>
                            <a:schemeClr val="tx1"/>
                          </a:solidFill>
                        </a:rPr>
                        <a:t>Revisión legal del contrato de maquila</a:t>
                      </a:r>
                      <a:endParaRPr lang="en-US" sz="13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r" indent="0" marL="0">
                        <a:buNone/>
                      </a:pPr>
                      <a:r>
                        <a:rPr lang="en-US" sz="1300" dirty="0">
                          <a:solidFill>
                            <a:schemeClr val="tx1"/>
                          </a:solidFill>
                        </a:rPr>
                        <a:t>S/400</a:t>
                      </a:r>
                      <a:endParaRPr lang="en-US" sz="13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r>
              <a:tr h="365760">
                <a:tc>
                  <a:txBody>
                    <a:bodyPr/>
                    <a:lstStyle/>
                    <a:p>
                      <a:pPr indent="0" marL="0">
                        <a:buNone/>
                      </a:pPr>
                      <a:r>
                        <a:rPr lang="en-US" sz="1300" dirty="0">
                          <a:solidFill>
                            <a:schemeClr val="tx1"/>
                          </a:solidFill>
                        </a:rPr>
                        <a:t>Análisis para el registro sanitario (3 sabores)</a:t>
                      </a:r>
                      <a:endParaRPr lang="en-US" sz="13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r" indent="0" marL="0">
                        <a:buNone/>
                      </a:pPr>
                      <a:r>
                        <a:rPr lang="en-US" sz="1300" dirty="0">
                          <a:solidFill>
                            <a:schemeClr val="tx1"/>
                          </a:solidFill>
                        </a:rPr>
                        <a:t>S/1,800</a:t>
                      </a:r>
                      <a:endParaRPr lang="en-US" sz="13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r>
              <a:tr h="365760">
                <a:tc>
                  <a:txBody>
                    <a:bodyPr/>
                    <a:lstStyle/>
                    <a:p>
                      <a:pPr indent="0" marL="0">
                        <a:buNone/>
                      </a:pPr>
                      <a:r>
                        <a:rPr lang="en-US" sz="1300" dirty="0">
                          <a:solidFill>
                            <a:schemeClr val="tx1"/>
                          </a:solidFill>
                        </a:rPr>
                        <a:t>Perfil nutricional y hierro</a:t>
                      </a:r>
                      <a:endParaRPr lang="en-US" sz="13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r" indent="0" marL="0">
                        <a:buNone/>
                      </a:pPr>
                      <a:r>
                        <a:rPr lang="en-US" sz="1300" dirty="0">
                          <a:solidFill>
                            <a:schemeClr val="tx1"/>
                          </a:solidFill>
                        </a:rPr>
                        <a:t>S/1,125</a:t>
                      </a:r>
                      <a:endParaRPr lang="en-US" sz="13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r>
              <a:tr h="365760">
                <a:tc>
                  <a:txBody>
                    <a:bodyPr/>
                    <a:lstStyle/>
                    <a:p>
                      <a:pPr indent="0" marL="0">
                        <a:buNone/>
                      </a:pPr>
                      <a:r>
                        <a:rPr lang="en-US" sz="1300" dirty="0">
                          <a:solidFill>
                            <a:schemeClr val="tx1"/>
                          </a:solidFill>
                        </a:rPr>
                        <a:t>Estudio de vida útil</a:t>
                      </a:r>
                      <a:endParaRPr lang="en-US" sz="13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r" indent="0" marL="0">
                        <a:buNone/>
                      </a:pPr>
                      <a:r>
                        <a:rPr lang="en-US" sz="1300" dirty="0">
                          <a:solidFill>
                            <a:schemeClr val="tx1"/>
                          </a:solidFill>
                        </a:rPr>
                        <a:t>S/1,050</a:t>
                      </a:r>
                      <a:endParaRPr lang="en-US" sz="13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r>
              <a:tr h="365760">
                <a:tc>
                  <a:txBody>
                    <a:bodyPr/>
                    <a:lstStyle/>
                    <a:p>
                      <a:pPr indent="0" marL="0">
                        <a:buNone/>
                      </a:pPr>
                      <a:r>
                        <a:rPr lang="en-US" sz="1300" dirty="0">
                          <a:solidFill>
                            <a:schemeClr val="tx1"/>
                          </a:solidFill>
                        </a:rPr>
                        <a:t>Etiqueta (rotulado y Ley 30021)</a:t>
                      </a:r>
                      <a:endParaRPr lang="en-US" sz="13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r" indent="0" marL="0">
                        <a:buNone/>
                      </a:pPr>
                      <a:r>
                        <a:rPr lang="en-US" sz="1300" dirty="0">
                          <a:solidFill>
                            <a:schemeClr val="tx1"/>
                          </a:solidFill>
                        </a:rPr>
                        <a:t>S/650</a:t>
                      </a:r>
                      <a:endParaRPr lang="en-US" sz="13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r>
              <a:tr h="365760">
                <a:tc>
                  <a:txBody>
                    <a:bodyPr/>
                    <a:lstStyle/>
                    <a:p>
                      <a:pPr indent="0" marL="0">
                        <a:buNone/>
                      </a:pPr>
                      <a:r>
                        <a:rPr lang="en-US" sz="1300" dirty="0">
                          <a:solidFill>
                            <a:schemeClr val="tx1"/>
                          </a:solidFill>
                        </a:rPr>
                        <a:t>Registro sanitario DIGESA (tasa)</a:t>
                      </a:r>
                      <a:endParaRPr lang="en-US" sz="13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r" indent="0" marL="0">
                        <a:buNone/>
                      </a:pPr>
                      <a:r>
                        <a:rPr lang="en-US" sz="1300" dirty="0">
                          <a:solidFill>
                            <a:schemeClr val="tx1"/>
                          </a:solidFill>
                        </a:rPr>
                        <a:t>S/0</a:t>
                      </a:r>
                      <a:endParaRPr lang="en-US" sz="13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r>
              <a:tr h="365760">
                <a:tc>
                  <a:txBody>
                    <a:bodyPr/>
                    <a:lstStyle/>
                    <a:p>
                      <a:pPr indent="0" marL="0">
                        <a:buNone/>
                      </a:pPr>
                      <a:r>
                        <a:rPr lang="en-US" sz="1300" dirty="0">
                          <a:solidFill>
                            <a:schemeClr val="tx1"/>
                          </a:solidFill>
                        </a:rPr>
                        <a:t>Carnés de sanidad y póliza para stands</a:t>
                      </a:r>
                      <a:endParaRPr lang="en-US" sz="13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r" indent="0" marL="0">
                        <a:buNone/>
                      </a:pPr>
                      <a:r>
                        <a:rPr lang="en-US" sz="1300" dirty="0">
                          <a:solidFill>
                            <a:schemeClr val="tx1"/>
                          </a:solidFill>
                        </a:rPr>
                        <a:t>S/675</a:t>
                      </a:r>
                      <a:endParaRPr lang="en-US" sz="13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r>
              <a:tr h="365760">
                <a:tc>
                  <a:txBody>
                    <a:bodyPr/>
                    <a:lstStyle/>
                    <a:p>
                      <a:pPr indent="0" marL="0">
                        <a:buNone/>
                      </a:pPr>
                      <a:r>
                        <a:rPr lang="en-US" sz="1400" b="1" dirty="0">
                          <a:solidFill>
                            <a:schemeClr val="tx1"/>
                          </a:solidFill>
                        </a:rPr>
                        <a:t>Total documentos y permisos</a:t>
                      </a:r>
                      <a:endParaRPr lang="en-US" sz="14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6DCD5"/>
                    </a:solidFill>
                  </a:tcPr>
                </a:tc>
                <a:tc>
                  <a:txBody>
                    <a:bodyPr/>
                    <a:lstStyle/>
                    <a:p>
                      <a:pPr algn="r" indent="0" marL="0">
                        <a:buNone/>
                      </a:pPr>
                      <a:r>
                        <a:rPr lang="en-US" sz="1400" b="1" dirty="0">
                          <a:solidFill>
                            <a:schemeClr val="accent1"/>
                          </a:solidFill>
                        </a:rPr>
                        <a:t>S/6,251</a:t>
                      </a:r>
                      <a:endParaRPr lang="en-US" sz="14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6DCD5"/>
                    </a:solidFill>
                  </a:tcPr>
                </a:tc>
              </a:tr>
            </a:tbl>
          </a:graphicData>
        </a:graphic>
      </p:graphicFrame>
      <p:graphicFrame>
        <p:nvGraphicFramePr>
          <p:cNvPr id="5" name="Chart 0" descr=""/>
          <p:cNvGraphicFramePr/>
          <p:nvPr/>
        </p:nvGraphicFramePr>
        <p:xfrm>
          <a:off x="6583680" y="1417320"/>
          <a:ext cx="5212080" cy="3703320"/>
        </p:xfrm>
        <a:graphic xmlns:a="http://schemas.openxmlformats.org/drawingml/2006/main">
          <a:graphicData uri="http://schemas.openxmlformats.org/drawingml/2006/chart">
            <c:chart xmlns:c="http://schemas.openxmlformats.org/drawingml/2006/chart" r:id="rId1"/>
          </a:graphicData>
        </a:graphic>
      </p:graphicFrame>
      <p:sp>
        <p:nvSpPr>
          <p:cNvPr id="6" name="Shape 2"/>
          <p:cNvSpPr/>
          <p:nvPr/>
        </p:nvSpPr>
        <p:spPr>
          <a:xfrm>
            <a:off x="6766560" y="5212080"/>
            <a:ext cx="4873752" cy="914400"/>
          </a:xfrm>
          <a:prstGeom prst="roundRect">
            <a:avLst>
              <a:gd name="adj" fmla="val 12000"/>
            </a:avLst>
          </a:prstGeom>
          <a:solidFill>
            <a:schemeClr val="tx2"/>
          </a:solidFill>
          <a:ln w="12700">
            <a:solidFill>
              <a:schemeClr val="tx2"/>
            </a:solidFill>
            <a:prstDash val="solid"/>
          </a:ln>
          <a:effectLst>
            <a:outerShdw sx="100000" sy="100000" kx="0" ky="0" algn="bl" rotWithShape="0" blurRad="101600" dist="25400" dir="5400000">
              <a:srgbClr val="7A4A30">
                <a:alpha val="14000"/>
              </a:srgbClr>
            </a:outerShdw>
          </a:effectLst>
        </p:spPr>
      </p:sp>
      <p:sp>
        <p:nvSpPr>
          <p:cNvPr id="7" name="Text 3"/>
          <p:cNvSpPr txBox="1"/>
          <p:nvPr/>
        </p:nvSpPr>
        <p:spPr>
          <a:xfrm>
            <a:off x="6995160" y="5212080"/>
            <a:ext cx="4480560" cy="914400"/>
          </a:xfrm>
          <a:prstGeom prst="rect">
            <a:avLst/>
          </a:prstGeom>
          <a:noFill/>
          <a:ln/>
        </p:spPr>
        <p:txBody>
          <a:bodyPr wrap="square" lIns="0" tIns="0" rIns="0" bIns="0" rtlCol="0" anchor="ctr"/>
          <a:lstStyle/>
          <a:p>
            <a:pPr indent="0" marL="0">
              <a:buNone/>
            </a:pPr>
            <a:r>
              <a:rPr lang="en-US" sz="1600" b="1" dirty="0">
                <a:solidFill>
                  <a:schemeClr val="accent3"/>
                </a:solidFill>
              </a:rPr>
              <a:t>Socios S/25,000 · préstamo S/13,000</a:t>
            </a:r>
            <a:endParaRPr lang="en-US" sz="1400" dirty="0"/>
          </a:p>
          <a:p>
            <a:pPr indent="0" marL="0">
              <a:buNone/>
            </a:pPr>
            <a:r>
              <a:rPr lang="en-US" sz="1300" dirty="0">
                <a:solidFill>
                  <a:schemeClr val="bg1"/>
                </a:solidFill>
              </a:rPr>
              <a:t>24 cuotas de S/729 (TEA 35 %)</a:t>
            </a:r>
            <a:endParaRPr lang="en-US" sz="1400" dirty="0"/>
          </a:p>
        </p:txBody>
      </p:sp>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TRABAJO DE CAMPO 7 · ESTRUCTURA DE COSTOS</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Con 2,592 brownies al mes cubrimos todos los costos</a:t>
            </a:r>
            <a:endParaRPr lang="en-US" sz="3400" dirty="0"/>
          </a:p>
        </p:txBody>
      </p:sp>
      <p:graphicFrame>
        <p:nvGraphicFramePr>
          <p:cNvPr id="4" name="Chart 0" descr=""/>
          <p:cNvGraphicFramePr/>
          <p:nvPr/>
        </p:nvGraphicFramePr>
        <p:xfrm>
          <a:off x="365760" y="1463040"/>
          <a:ext cx="4389120" cy="4663440"/>
        </p:xfrm>
        <a:graphic xmlns:a="http://schemas.openxmlformats.org/drawingml/2006/main">
          <a:graphicData uri="http://schemas.openxmlformats.org/drawingml/2006/chart">
            <c:chart xmlns:c="http://schemas.openxmlformats.org/drawingml/2006/chart" r:id="rId1"/>
          </a:graphicData>
        </a:graphic>
      </p:graphicFrame>
      <p:graphicFrame>
        <p:nvGraphicFramePr>
          <p:cNvPr id="5" name="Chart 1" descr=""/>
          <p:cNvGraphicFramePr/>
          <p:nvPr/>
        </p:nvGraphicFramePr>
        <p:xfrm>
          <a:off x="4937760" y="1463040"/>
          <a:ext cx="6858000" cy="4663440"/>
        </p:xfrm>
        <a:graphic xmlns:a="http://schemas.openxmlformats.org/drawingml/2006/main">
          <a:graphicData uri="http://schemas.openxmlformats.org/drawingml/2006/chart">
            <c:chart xmlns:c="http://schemas.openxmlformats.org/drawingml/2006/chart" r:id="rId2"/>
          </a:graphicData>
        </a:graphic>
      </p:graphicFrame>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TRABAJO DE CAMPO 7 · RESULTADO DEL AÑO 1</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Solo enero y febrero cierran en rojo</a:t>
            </a:r>
            <a:endParaRPr lang="en-US" sz="3400" dirty="0"/>
          </a:p>
        </p:txBody>
      </p:sp>
      <p:graphicFrame>
        <p:nvGraphicFramePr>
          <p:cNvPr id="4" name="Chart 0" descr=""/>
          <p:cNvGraphicFramePr/>
          <p:nvPr/>
        </p:nvGraphicFramePr>
        <p:xfrm>
          <a:off x="365760" y="1463040"/>
          <a:ext cx="7772400" cy="452628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548640" y="6016752"/>
            <a:ext cx="7589520" cy="274320"/>
          </a:xfrm>
          <a:prstGeom prst="rect">
            <a:avLst/>
          </a:prstGeom>
          <a:noFill/>
          <a:ln/>
        </p:spPr>
        <p:txBody>
          <a:bodyPr wrap="square" lIns="0" tIns="0" rIns="0" bIns="0" rtlCol="0" anchor="t"/>
          <a:lstStyle/>
          <a:p>
            <a:pPr indent="0" marL="0">
              <a:buNone/>
            </a:pPr>
            <a:r>
              <a:rPr lang="en-US" sz="1100" i="1" dirty="0">
                <a:solidFill>
                  <a:schemeClr val="accent2"/>
                </a:solidFill>
              </a:rPr>
              <a:t>Con todo el personal operativo pagado. La caja nunca baja de S/3,917, ya con la cuota del préstamo.</a:t>
            </a:r>
            <a:endParaRPr lang="en-US" sz="1100" dirty="0"/>
          </a:p>
        </p:txBody>
      </p:sp>
      <p:sp>
        <p:nvSpPr>
          <p:cNvPr id="6" name="Shape 3"/>
          <p:cNvSpPr/>
          <p:nvPr/>
        </p:nvSpPr>
        <p:spPr>
          <a:xfrm>
            <a:off x="8321040" y="1554480"/>
            <a:ext cx="3319272" cy="1005840"/>
          </a:xfrm>
          <a:prstGeom prst="roundRect">
            <a:avLst>
              <a:gd name="adj" fmla="val 10909"/>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7" name="Text 4"/>
          <p:cNvSpPr txBox="1"/>
          <p:nvPr/>
        </p:nvSpPr>
        <p:spPr>
          <a:xfrm>
            <a:off x="8549640" y="1554480"/>
            <a:ext cx="2953512" cy="1005840"/>
          </a:xfrm>
          <a:prstGeom prst="rect">
            <a:avLst/>
          </a:prstGeom>
          <a:noFill/>
          <a:ln/>
        </p:spPr>
        <p:txBody>
          <a:bodyPr wrap="square" lIns="0" tIns="0" rIns="0" bIns="0" rtlCol="0" anchor="ctr"/>
          <a:lstStyle/>
          <a:p>
            <a:pPr indent="0" marL="0">
              <a:buNone/>
            </a:pPr>
            <a:r>
              <a:rPr lang="en-US" sz="2400" b="1" dirty="0">
                <a:solidFill>
                  <a:schemeClr val="accent1"/>
                </a:solidFill>
              </a:rPr>
              <a:t>S/230,740</a:t>
            </a:r>
            <a:endParaRPr lang="en-US" sz="1400" dirty="0"/>
          </a:p>
          <a:p>
            <a:pPr indent="0" marL="0">
              <a:buNone/>
            </a:pPr>
            <a:r>
              <a:rPr lang="en-US" sz="1300" dirty="0">
                <a:solidFill>
                  <a:schemeClr val="accent2"/>
                </a:solidFill>
              </a:rPr>
              <a:t>ventas con IGV</a:t>
            </a:r>
            <a:endParaRPr lang="en-US" sz="1400" dirty="0"/>
          </a:p>
        </p:txBody>
      </p:sp>
      <p:sp>
        <p:nvSpPr>
          <p:cNvPr id="8" name="Shape 5"/>
          <p:cNvSpPr/>
          <p:nvPr/>
        </p:nvSpPr>
        <p:spPr>
          <a:xfrm>
            <a:off x="8321040" y="2715768"/>
            <a:ext cx="3319272" cy="1005840"/>
          </a:xfrm>
          <a:prstGeom prst="roundRect">
            <a:avLst>
              <a:gd name="adj" fmla="val 10909"/>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9" name="Text 6"/>
          <p:cNvSpPr txBox="1"/>
          <p:nvPr/>
        </p:nvSpPr>
        <p:spPr>
          <a:xfrm>
            <a:off x="8549640" y="2715768"/>
            <a:ext cx="2953512" cy="1005840"/>
          </a:xfrm>
          <a:prstGeom prst="rect">
            <a:avLst/>
          </a:prstGeom>
          <a:noFill/>
          <a:ln/>
        </p:spPr>
        <p:txBody>
          <a:bodyPr wrap="square" lIns="0" tIns="0" rIns="0" bIns="0" rtlCol="0" anchor="ctr"/>
          <a:lstStyle/>
          <a:p>
            <a:pPr indent="0" marL="0">
              <a:buNone/>
            </a:pPr>
            <a:r>
              <a:rPr lang="en-US" sz="2400" b="1" dirty="0">
                <a:solidFill>
                  <a:schemeClr val="accent1"/>
                </a:solidFill>
              </a:rPr>
              <a:t>S/20,938</a:t>
            </a:r>
            <a:endParaRPr lang="en-US" sz="1400" dirty="0"/>
          </a:p>
          <a:p>
            <a:pPr indent="0" marL="0">
              <a:buNone/>
            </a:pPr>
            <a:r>
              <a:rPr lang="en-US" sz="1300" dirty="0">
                <a:solidFill>
                  <a:schemeClr val="accent2"/>
                </a:solidFill>
              </a:rPr>
              <a:t>resultado operativo (10.7 %)</a:t>
            </a:r>
            <a:endParaRPr lang="en-US" sz="1400" dirty="0"/>
          </a:p>
        </p:txBody>
      </p:sp>
      <p:sp>
        <p:nvSpPr>
          <p:cNvPr id="10" name="Shape 7"/>
          <p:cNvSpPr/>
          <p:nvPr/>
        </p:nvSpPr>
        <p:spPr>
          <a:xfrm>
            <a:off x="8321040" y="3877056"/>
            <a:ext cx="3319272" cy="1005840"/>
          </a:xfrm>
          <a:prstGeom prst="roundRect">
            <a:avLst>
              <a:gd name="adj" fmla="val 10909"/>
            </a:avLst>
          </a:prstGeom>
          <a:solidFill>
            <a:schemeClr val="accent1"/>
          </a:solidFill>
          <a:ln w="12700">
            <a:solidFill>
              <a:schemeClr val="accent1"/>
            </a:solidFill>
            <a:prstDash val="solid"/>
          </a:ln>
          <a:effectLst>
            <a:outerShdw sx="100000" sy="100000" kx="0" ky="0" algn="bl" rotWithShape="0" blurRad="101600" dist="25400" dir="5400000">
              <a:srgbClr val="7A4A30">
                <a:alpha val="14000"/>
              </a:srgbClr>
            </a:outerShdw>
          </a:effectLst>
        </p:spPr>
      </p:sp>
      <p:sp>
        <p:nvSpPr>
          <p:cNvPr id="11" name="Text 8"/>
          <p:cNvSpPr txBox="1"/>
          <p:nvPr/>
        </p:nvSpPr>
        <p:spPr>
          <a:xfrm>
            <a:off x="8549640" y="3877056"/>
            <a:ext cx="2953512" cy="1005840"/>
          </a:xfrm>
          <a:prstGeom prst="rect">
            <a:avLst/>
          </a:prstGeom>
          <a:noFill/>
          <a:ln/>
        </p:spPr>
        <p:txBody>
          <a:bodyPr wrap="square" lIns="0" tIns="0" rIns="0" bIns="0" rtlCol="0" anchor="ctr"/>
          <a:lstStyle/>
          <a:p>
            <a:pPr indent="0" marL="0">
              <a:buNone/>
            </a:pPr>
            <a:r>
              <a:rPr lang="en-US" sz="2400" b="1" dirty="0">
                <a:solidFill>
                  <a:schemeClr val="bg1"/>
                </a:solidFill>
              </a:rPr>
              <a:t>S/17,704</a:t>
            </a:r>
            <a:endParaRPr lang="en-US" sz="1400" dirty="0"/>
          </a:p>
          <a:p>
            <a:pPr indent="0" marL="0">
              <a:buNone/>
            </a:pPr>
            <a:r>
              <a:rPr lang="en-US" sz="1300" dirty="0">
                <a:solidFill>
                  <a:schemeClr val="bg1"/>
                </a:solidFill>
              </a:rPr>
              <a:t>utilidad neta, tras intereses e impuesto</a:t>
            </a:r>
            <a:endParaRPr lang="en-US" sz="1400" dirty="0"/>
          </a:p>
        </p:txBody>
      </p:sp>
      <p:sp>
        <p:nvSpPr>
          <p:cNvPr id="12" name="Shape 9"/>
          <p:cNvSpPr/>
          <p:nvPr/>
        </p:nvSpPr>
        <p:spPr>
          <a:xfrm>
            <a:off x="8321040" y="5038344"/>
            <a:ext cx="3319272" cy="1005840"/>
          </a:xfrm>
          <a:prstGeom prst="roundRect">
            <a:avLst>
              <a:gd name="adj" fmla="val 10909"/>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13" name="Text 10"/>
          <p:cNvSpPr txBox="1"/>
          <p:nvPr/>
        </p:nvSpPr>
        <p:spPr>
          <a:xfrm>
            <a:off x="8549640" y="5038344"/>
            <a:ext cx="2953512" cy="1005840"/>
          </a:xfrm>
          <a:prstGeom prst="rect">
            <a:avLst/>
          </a:prstGeom>
          <a:noFill/>
          <a:ln/>
        </p:spPr>
        <p:txBody>
          <a:bodyPr wrap="square" lIns="0" tIns="0" rIns="0" bIns="0" rtlCol="0" anchor="ctr"/>
          <a:lstStyle/>
          <a:p>
            <a:pPr indent="0" marL="0">
              <a:buNone/>
            </a:pPr>
            <a:r>
              <a:rPr lang="en-US" sz="2400" b="1" dirty="0">
                <a:solidFill>
                  <a:schemeClr val="accent1"/>
                </a:solidFill>
              </a:rPr>
              <a:t>Mes 18</a:t>
            </a:r>
            <a:endParaRPr lang="en-US" sz="1400" dirty="0"/>
          </a:p>
          <a:p>
            <a:pPr indent="0" marL="0">
              <a:buNone/>
            </a:pPr>
            <a:r>
              <a:rPr lang="en-US" sz="1300" dirty="0">
                <a:solidFill>
                  <a:schemeClr val="accent2"/>
                </a:solidFill>
              </a:rPr>
              <a:t>recuperamos los S/37,894 invertidos</a:t>
            </a:r>
            <a:endParaRPr lang="en-US" sz="1400" dirty="0"/>
          </a:p>
        </p:txBody>
      </p:sp>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TRABAJO DE CAMPO 7 · MODELO CANVAS</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El modelo de negocio de AndiBite en una página</a:t>
            </a:r>
            <a:endParaRPr lang="en-US" sz="3400" dirty="0"/>
          </a:p>
        </p:txBody>
      </p:sp>
      <p:sp>
        <p:nvSpPr>
          <p:cNvPr id="4" name="Shape 2"/>
          <p:cNvSpPr/>
          <p:nvPr/>
        </p:nvSpPr>
        <p:spPr>
          <a:xfrm>
            <a:off x="548640" y="1417320"/>
            <a:ext cx="2159813" cy="3474720"/>
          </a:xfrm>
          <a:prstGeom prst="roundRect">
            <a:avLst>
              <a:gd name="adj" fmla="val 3387"/>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pic>
        <p:nvPicPr>
          <p:cNvPr id="5" name="Image 0" descr="preencoded.png">    </p:cNvPr>
          <p:cNvPicPr>
            <a:picLocks noChangeAspect="1"/>
          </p:cNvPicPr>
          <p:nvPr/>
        </p:nvPicPr>
        <p:blipFill>
          <a:blip r:embed="rId1"/>
          <a:stretch>
            <a:fillRect/>
          </a:stretch>
        </p:blipFill>
        <p:spPr>
          <a:xfrm>
            <a:off x="658368" y="1527048"/>
            <a:ext cx="256032" cy="256032"/>
          </a:xfrm>
          <a:prstGeom prst="rect">
            <a:avLst/>
          </a:prstGeom>
        </p:spPr>
      </p:pic>
      <p:sp>
        <p:nvSpPr>
          <p:cNvPr id="6" name="Text 3"/>
          <p:cNvSpPr txBox="1"/>
          <p:nvPr/>
        </p:nvSpPr>
        <p:spPr>
          <a:xfrm>
            <a:off x="987552" y="1508760"/>
            <a:ext cx="1656893" cy="292608"/>
          </a:xfrm>
          <a:prstGeom prst="rect">
            <a:avLst/>
          </a:prstGeom>
          <a:noFill/>
          <a:ln/>
        </p:spPr>
        <p:txBody>
          <a:bodyPr wrap="square" lIns="0" tIns="0" rIns="0" bIns="0" rtlCol="0" anchor="ctr"/>
          <a:lstStyle/>
          <a:p>
            <a:pPr indent="0" marL="0">
              <a:buNone/>
            </a:pPr>
            <a:r>
              <a:rPr lang="en-US" sz="1100" b="1" spc="100" kern="0" dirty="0">
                <a:solidFill>
                  <a:schemeClr val="tx2"/>
                </a:solidFill>
              </a:rPr>
              <a:t>SOCIOS CLAVE</a:t>
            </a:r>
            <a:endParaRPr lang="en-US" sz="1100" dirty="0"/>
          </a:p>
        </p:txBody>
      </p:sp>
      <p:sp>
        <p:nvSpPr>
          <p:cNvPr id="7" name="Text 4"/>
          <p:cNvSpPr txBox="1"/>
          <p:nvPr/>
        </p:nvSpPr>
        <p:spPr>
          <a:xfrm>
            <a:off x="658368" y="1874520"/>
            <a:ext cx="1958645" cy="2944368"/>
          </a:xfrm>
          <a:prstGeom prst="rect">
            <a:avLst/>
          </a:prstGeom>
          <a:noFill/>
          <a:ln/>
        </p:spPr>
        <p:txBody>
          <a:bodyPr wrap="square" lIns="0" tIns="0" rIns="0" bIns="0" rtlCol="0" anchor="t"/>
          <a:lstStyle/>
          <a:p>
            <a:pPr marL="127000" indent="-127000">
              <a:spcAft>
                <a:spcPts val="400"/>
              </a:spcAft>
              <a:buSzPct val="100000"/>
              <a:buChar char="•"/>
            </a:pPr>
            <a:r>
              <a:rPr lang="en-US" sz="1300" dirty="0">
                <a:solidFill>
                  <a:schemeClr val="tx1"/>
                </a:solidFill>
              </a:rPr>
              <a:t>Planta maquiladora con HACCP</a:t>
            </a:r>
            <a:endParaRPr lang="en-US" sz="1300" dirty="0"/>
          </a:p>
          <a:p>
            <a:pPr marL="127000" indent="-127000">
              <a:spcAft>
                <a:spcPts val="400"/>
              </a:spcAft>
              <a:buSzPct val="100000"/>
              <a:buChar char="•"/>
            </a:pPr>
            <a:r>
              <a:rPr lang="en-US" sz="1300" dirty="0">
                <a:solidFill>
                  <a:schemeClr val="tx1"/>
                </a:solidFill>
              </a:rPr>
              <a:t>Malls, Wong y Vivanda</a:t>
            </a:r>
            <a:endParaRPr lang="en-US" sz="1300" dirty="0"/>
          </a:p>
          <a:p>
            <a:pPr marL="127000" indent="-127000">
              <a:spcAft>
                <a:spcPts val="400"/>
              </a:spcAft>
              <a:buSzPct val="100000"/>
              <a:buChar char="•"/>
            </a:pPr>
            <a:r>
              <a:rPr lang="en-US" sz="1300" dirty="0">
                <a:solidFill>
                  <a:schemeClr val="tx1"/>
                </a:solidFill>
              </a:rPr>
              <a:t>Laboratorio INACAL</a:t>
            </a:r>
            <a:endParaRPr lang="en-US" sz="1300" dirty="0"/>
          </a:p>
          <a:p>
            <a:pPr marL="127000" indent="-127000">
              <a:spcAft>
                <a:spcPts val="400"/>
              </a:spcAft>
              <a:buSzPct val="100000"/>
              <a:buChar char="•"/>
            </a:pPr>
            <a:r>
              <a:rPr lang="en-US" sz="1300" dirty="0">
                <a:solidFill>
                  <a:schemeClr val="tx1"/>
                </a:solidFill>
              </a:rPr>
              <a:t>Redondos: sangrecita fresca</a:t>
            </a:r>
            <a:endParaRPr lang="en-US" sz="1300" dirty="0"/>
          </a:p>
          <a:p>
            <a:pPr marL="127000" indent="-127000">
              <a:spcAft>
                <a:spcPts val="400"/>
              </a:spcAft>
              <a:buSzPct val="100000"/>
              <a:buChar char="•"/>
            </a:pPr>
            <a:r>
              <a:rPr lang="en-US" sz="1300" dirty="0">
                <a:solidFill>
                  <a:schemeClr val="tx1"/>
                </a:solidFill>
              </a:rPr>
              <a:t>Ferias, colegios y naturistas</a:t>
            </a:r>
            <a:endParaRPr lang="en-US" sz="1300" dirty="0"/>
          </a:p>
        </p:txBody>
      </p:sp>
      <p:sp>
        <p:nvSpPr>
          <p:cNvPr id="8" name="Shape 5"/>
          <p:cNvSpPr/>
          <p:nvPr/>
        </p:nvSpPr>
        <p:spPr>
          <a:xfrm>
            <a:off x="2781605" y="1417320"/>
            <a:ext cx="2159813" cy="1700784"/>
          </a:xfrm>
          <a:prstGeom prst="roundRect">
            <a:avLst>
              <a:gd name="adj" fmla="val 4301"/>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pic>
        <p:nvPicPr>
          <p:cNvPr id="9" name="Image 1" descr="preencoded.png">    </p:cNvPr>
          <p:cNvPicPr>
            <a:picLocks noChangeAspect="1"/>
          </p:cNvPicPr>
          <p:nvPr/>
        </p:nvPicPr>
        <p:blipFill>
          <a:blip r:embed="rId2"/>
          <a:stretch>
            <a:fillRect/>
          </a:stretch>
        </p:blipFill>
        <p:spPr>
          <a:xfrm>
            <a:off x="2891333" y="1527048"/>
            <a:ext cx="256032" cy="256032"/>
          </a:xfrm>
          <a:prstGeom prst="rect">
            <a:avLst/>
          </a:prstGeom>
        </p:spPr>
      </p:pic>
      <p:sp>
        <p:nvSpPr>
          <p:cNvPr id="10" name="Text 6"/>
          <p:cNvSpPr txBox="1"/>
          <p:nvPr/>
        </p:nvSpPr>
        <p:spPr>
          <a:xfrm>
            <a:off x="3220517" y="1508760"/>
            <a:ext cx="1656893" cy="292608"/>
          </a:xfrm>
          <a:prstGeom prst="rect">
            <a:avLst/>
          </a:prstGeom>
          <a:noFill/>
          <a:ln/>
        </p:spPr>
        <p:txBody>
          <a:bodyPr wrap="square" lIns="0" tIns="0" rIns="0" bIns="0" rtlCol="0" anchor="ctr"/>
          <a:lstStyle/>
          <a:p>
            <a:pPr indent="0" marL="0">
              <a:buNone/>
            </a:pPr>
            <a:r>
              <a:rPr lang="en-US" sz="1100" b="1" spc="100" kern="0" dirty="0">
                <a:solidFill>
                  <a:schemeClr val="tx2"/>
                </a:solidFill>
              </a:rPr>
              <a:t>ACTIVIDADES CLAVE</a:t>
            </a:r>
            <a:endParaRPr lang="en-US" sz="1100" dirty="0"/>
          </a:p>
        </p:txBody>
      </p:sp>
      <p:sp>
        <p:nvSpPr>
          <p:cNvPr id="11" name="Text 7"/>
          <p:cNvSpPr txBox="1"/>
          <p:nvPr/>
        </p:nvSpPr>
        <p:spPr>
          <a:xfrm>
            <a:off x="2891333" y="1874520"/>
            <a:ext cx="1958645" cy="1170432"/>
          </a:xfrm>
          <a:prstGeom prst="rect">
            <a:avLst/>
          </a:prstGeom>
          <a:noFill/>
          <a:ln/>
        </p:spPr>
        <p:txBody>
          <a:bodyPr wrap="square" lIns="0" tIns="0" rIns="0" bIns="0" rtlCol="0" anchor="t"/>
          <a:lstStyle/>
          <a:p>
            <a:pPr marL="127000" indent="-127000">
              <a:spcAft>
                <a:spcPts val="400"/>
              </a:spcAft>
              <a:buSzPct val="100000"/>
              <a:buChar char="•"/>
            </a:pPr>
            <a:r>
              <a:rPr lang="en-US" sz="1300" dirty="0">
                <a:solidFill>
                  <a:schemeClr val="tx1"/>
                </a:solidFill>
              </a:rPr>
              <a:t>Producir con la planta</a:t>
            </a:r>
            <a:endParaRPr lang="en-US" sz="1300" dirty="0"/>
          </a:p>
          <a:p>
            <a:pPr marL="127000" indent="-127000">
              <a:spcAft>
                <a:spcPts val="400"/>
              </a:spcAft>
              <a:buSzPct val="100000"/>
              <a:buChar char="•"/>
            </a:pPr>
            <a:r>
              <a:rPr lang="en-US" sz="1300" dirty="0">
                <a:solidFill>
                  <a:schemeClr val="tx1"/>
                </a:solidFill>
              </a:rPr>
              <a:t>Calidad por lote</a:t>
            </a:r>
            <a:endParaRPr lang="en-US" sz="1300" dirty="0"/>
          </a:p>
          <a:p>
            <a:pPr marL="127000" indent="-127000">
              <a:spcAft>
                <a:spcPts val="400"/>
              </a:spcAft>
              <a:buSzPct val="100000"/>
              <a:buChar char="•"/>
            </a:pPr>
            <a:r>
              <a:rPr lang="en-US" sz="1300" dirty="0">
                <a:solidFill>
                  <a:schemeClr val="tx1"/>
                </a:solidFill>
              </a:rPr>
              <a:t>Venta en stands y ferias</a:t>
            </a:r>
            <a:endParaRPr lang="en-US" sz="1300" dirty="0"/>
          </a:p>
          <a:p>
            <a:pPr marL="127000" indent="-127000">
              <a:spcAft>
                <a:spcPts val="400"/>
              </a:spcAft>
              <a:buSzPct val="100000"/>
              <a:buChar char="•"/>
            </a:pPr>
            <a:r>
              <a:rPr lang="en-US" sz="1300" dirty="0">
                <a:solidFill>
                  <a:schemeClr val="tx1"/>
                </a:solidFill>
              </a:rPr>
              <a:t>Recompra por WhatsApp</a:t>
            </a:r>
            <a:endParaRPr lang="en-US" sz="1300" dirty="0"/>
          </a:p>
        </p:txBody>
      </p:sp>
      <p:sp>
        <p:nvSpPr>
          <p:cNvPr id="12" name="Shape 8"/>
          <p:cNvSpPr/>
          <p:nvPr/>
        </p:nvSpPr>
        <p:spPr>
          <a:xfrm>
            <a:off x="2781605" y="3191256"/>
            <a:ext cx="2159813" cy="1700784"/>
          </a:xfrm>
          <a:prstGeom prst="roundRect">
            <a:avLst>
              <a:gd name="adj" fmla="val 4301"/>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pic>
        <p:nvPicPr>
          <p:cNvPr id="13" name="Image 2" descr="preencoded.png">    </p:cNvPr>
          <p:cNvPicPr>
            <a:picLocks noChangeAspect="1"/>
          </p:cNvPicPr>
          <p:nvPr/>
        </p:nvPicPr>
        <p:blipFill>
          <a:blip r:embed="rId3"/>
          <a:stretch>
            <a:fillRect/>
          </a:stretch>
        </p:blipFill>
        <p:spPr>
          <a:xfrm>
            <a:off x="2891333" y="3300984"/>
            <a:ext cx="256032" cy="256032"/>
          </a:xfrm>
          <a:prstGeom prst="rect">
            <a:avLst/>
          </a:prstGeom>
        </p:spPr>
      </p:pic>
      <p:sp>
        <p:nvSpPr>
          <p:cNvPr id="14" name="Text 9"/>
          <p:cNvSpPr txBox="1"/>
          <p:nvPr/>
        </p:nvSpPr>
        <p:spPr>
          <a:xfrm>
            <a:off x="3220517" y="3282696"/>
            <a:ext cx="1656893" cy="292608"/>
          </a:xfrm>
          <a:prstGeom prst="rect">
            <a:avLst/>
          </a:prstGeom>
          <a:noFill/>
          <a:ln/>
        </p:spPr>
        <p:txBody>
          <a:bodyPr wrap="square" lIns="0" tIns="0" rIns="0" bIns="0" rtlCol="0" anchor="ctr"/>
          <a:lstStyle/>
          <a:p>
            <a:pPr indent="0" marL="0">
              <a:buNone/>
            </a:pPr>
            <a:r>
              <a:rPr lang="en-US" sz="1100" b="1" spc="100" kern="0" dirty="0">
                <a:solidFill>
                  <a:schemeClr val="tx2"/>
                </a:solidFill>
              </a:rPr>
              <a:t>RECURSOS CLAVE</a:t>
            </a:r>
            <a:endParaRPr lang="en-US" sz="1100" dirty="0"/>
          </a:p>
        </p:txBody>
      </p:sp>
      <p:sp>
        <p:nvSpPr>
          <p:cNvPr id="15" name="Text 10"/>
          <p:cNvSpPr txBox="1"/>
          <p:nvPr/>
        </p:nvSpPr>
        <p:spPr>
          <a:xfrm>
            <a:off x="2891333" y="3648456"/>
            <a:ext cx="1958645" cy="1170432"/>
          </a:xfrm>
          <a:prstGeom prst="rect">
            <a:avLst/>
          </a:prstGeom>
          <a:noFill/>
          <a:ln/>
        </p:spPr>
        <p:txBody>
          <a:bodyPr wrap="square" lIns="0" tIns="0" rIns="0" bIns="0" rtlCol="0" anchor="t"/>
          <a:lstStyle/>
          <a:p>
            <a:pPr marL="127000" indent="-127000">
              <a:spcAft>
                <a:spcPts val="400"/>
              </a:spcAft>
              <a:buSzPct val="100000"/>
              <a:buChar char="•"/>
            </a:pPr>
            <a:r>
              <a:rPr lang="en-US" sz="1300" dirty="0">
                <a:solidFill>
                  <a:schemeClr val="tx1"/>
                </a:solidFill>
              </a:rPr>
              <a:t>Fórmula de 3 sabores</a:t>
            </a:r>
            <a:endParaRPr lang="en-US" sz="1300" dirty="0"/>
          </a:p>
          <a:p>
            <a:pPr marL="127000" indent="-127000">
              <a:spcAft>
                <a:spcPts val="400"/>
              </a:spcAft>
              <a:buSzPct val="100000"/>
              <a:buChar char="•"/>
            </a:pPr>
            <a:r>
              <a:rPr lang="en-US" sz="1300" dirty="0">
                <a:solidFill>
                  <a:schemeClr val="tx1"/>
                </a:solidFill>
              </a:rPr>
              <a:t>Marca y registro sanitario</a:t>
            </a:r>
            <a:endParaRPr lang="en-US" sz="1300" dirty="0"/>
          </a:p>
          <a:p>
            <a:pPr marL="127000" indent="-127000">
              <a:spcAft>
                <a:spcPts val="400"/>
              </a:spcAft>
              <a:buSzPct val="100000"/>
              <a:buChar char="•"/>
            </a:pPr>
            <a:r>
              <a:rPr lang="en-US" sz="1300" dirty="0">
                <a:solidFill>
                  <a:schemeClr val="tx1"/>
                </a:solidFill>
              </a:rPr>
              <a:t>Vendedores y coordinador</a:t>
            </a:r>
            <a:endParaRPr lang="en-US" sz="1300" dirty="0"/>
          </a:p>
          <a:p>
            <a:pPr marL="127000" indent="-127000">
              <a:spcAft>
                <a:spcPts val="400"/>
              </a:spcAft>
              <a:buSzPct val="100000"/>
              <a:buChar char="•"/>
            </a:pPr>
            <a:r>
              <a:rPr lang="en-US" sz="1300" dirty="0">
                <a:solidFill>
                  <a:schemeClr val="tx1"/>
                </a:solidFill>
              </a:rPr>
              <a:t>S/37,894 de inversión</a:t>
            </a:r>
            <a:endParaRPr lang="en-US" sz="1300" dirty="0"/>
          </a:p>
        </p:txBody>
      </p:sp>
      <p:sp>
        <p:nvSpPr>
          <p:cNvPr id="16" name="Shape 11"/>
          <p:cNvSpPr/>
          <p:nvPr/>
        </p:nvSpPr>
        <p:spPr>
          <a:xfrm>
            <a:off x="5014570" y="1417320"/>
            <a:ext cx="2159813" cy="3474720"/>
          </a:xfrm>
          <a:prstGeom prst="roundRect">
            <a:avLst>
              <a:gd name="adj" fmla="val 3387"/>
            </a:avLst>
          </a:prstGeom>
          <a:solidFill>
            <a:schemeClr val="accent1"/>
          </a:solidFill>
          <a:ln w="12700">
            <a:solidFill>
              <a:schemeClr val="accent1"/>
            </a:solidFill>
            <a:prstDash val="solid"/>
          </a:ln>
          <a:effectLst>
            <a:outerShdw sx="100000" sy="100000" kx="0" ky="0" algn="bl" rotWithShape="0" blurRad="101600" dist="25400" dir="5400000">
              <a:srgbClr val="7A4A30">
                <a:alpha val="14000"/>
              </a:srgbClr>
            </a:outerShdw>
          </a:effectLst>
        </p:spPr>
      </p:sp>
      <p:pic>
        <p:nvPicPr>
          <p:cNvPr id="17" name="Image 3" descr="preencoded.png">    </p:cNvPr>
          <p:cNvPicPr>
            <a:picLocks noChangeAspect="1"/>
          </p:cNvPicPr>
          <p:nvPr/>
        </p:nvPicPr>
        <p:blipFill>
          <a:blip r:embed="rId4"/>
          <a:stretch>
            <a:fillRect/>
          </a:stretch>
        </p:blipFill>
        <p:spPr>
          <a:xfrm>
            <a:off x="5124298" y="1527048"/>
            <a:ext cx="256032" cy="256032"/>
          </a:xfrm>
          <a:prstGeom prst="rect">
            <a:avLst/>
          </a:prstGeom>
        </p:spPr>
      </p:pic>
      <p:sp>
        <p:nvSpPr>
          <p:cNvPr id="18" name="Text 12"/>
          <p:cNvSpPr txBox="1"/>
          <p:nvPr/>
        </p:nvSpPr>
        <p:spPr>
          <a:xfrm>
            <a:off x="5453482" y="1508760"/>
            <a:ext cx="1656893" cy="292608"/>
          </a:xfrm>
          <a:prstGeom prst="rect">
            <a:avLst/>
          </a:prstGeom>
          <a:noFill/>
          <a:ln/>
        </p:spPr>
        <p:txBody>
          <a:bodyPr wrap="square" lIns="0" tIns="0" rIns="0" bIns="0" rtlCol="0" anchor="ctr"/>
          <a:lstStyle/>
          <a:p>
            <a:pPr indent="0" marL="0">
              <a:buNone/>
            </a:pPr>
            <a:r>
              <a:rPr lang="en-US" sz="1100" b="1" spc="100" kern="0" dirty="0">
                <a:solidFill>
                  <a:schemeClr val="bg1"/>
                </a:solidFill>
              </a:rPr>
              <a:t>PROPUESTA DE VALOR</a:t>
            </a:r>
            <a:endParaRPr lang="en-US" sz="1100" dirty="0"/>
          </a:p>
        </p:txBody>
      </p:sp>
      <p:sp>
        <p:nvSpPr>
          <p:cNvPr id="19" name="Text 13"/>
          <p:cNvSpPr txBox="1"/>
          <p:nvPr/>
        </p:nvSpPr>
        <p:spPr>
          <a:xfrm>
            <a:off x="5124298" y="1874520"/>
            <a:ext cx="1958645" cy="2944368"/>
          </a:xfrm>
          <a:prstGeom prst="rect">
            <a:avLst/>
          </a:prstGeom>
          <a:noFill/>
          <a:ln/>
        </p:spPr>
        <p:txBody>
          <a:bodyPr wrap="square" lIns="0" tIns="0" rIns="0" bIns="0" rtlCol="0" anchor="t"/>
          <a:lstStyle/>
          <a:p>
            <a:pPr marL="127000" indent="-127000">
              <a:spcAft>
                <a:spcPts val="400"/>
              </a:spcAft>
              <a:buSzPct val="100000"/>
              <a:buChar char="•"/>
            </a:pPr>
            <a:r>
              <a:rPr lang="en-US" sz="1300" dirty="0">
                <a:solidFill>
                  <a:schemeClr val="bg1"/>
                </a:solidFill>
              </a:rPr>
              <a:t>Mini brownie de 20 g con sangrecita</a:t>
            </a:r>
            <a:endParaRPr lang="en-US" sz="1300" dirty="0"/>
          </a:p>
          <a:p>
            <a:pPr marL="127000" indent="-127000">
              <a:spcAft>
                <a:spcPts val="400"/>
              </a:spcAft>
              <a:buSzPct val="100000"/>
              <a:buChar char="•"/>
            </a:pPr>
            <a:r>
              <a:rPr lang="en-US" sz="1300" dirty="0">
                <a:solidFill>
                  <a:schemeClr val="bg1"/>
                </a:solidFill>
              </a:rPr>
              <a:t>Hierro medido por lote</a:t>
            </a:r>
            <a:endParaRPr lang="en-US" sz="1300" dirty="0"/>
          </a:p>
          <a:p>
            <a:pPr marL="127000" indent="-127000">
              <a:spcAft>
                <a:spcPts val="400"/>
              </a:spcAft>
              <a:buSzPct val="100000"/>
              <a:buChar char="•"/>
            </a:pPr>
            <a:r>
              <a:rPr lang="en-US" sz="1300" dirty="0">
                <a:solidFill>
                  <a:schemeClr val="bg1"/>
                </a:solidFill>
              </a:rPr>
              <a:t>Sin octógono</a:t>
            </a:r>
            <a:endParaRPr lang="en-US" sz="1300" dirty="0"/>
          </a:p>
          <a:p>
            <a:pPr marL="127000" indent="-127000">
              <a:spcAft>
                <a:spcPts val="400"/>
              </a:spcAft>
              <a:buSzPct val="100000"/>
              <a:buChar char="•"/>
            </a:pPr>
            <a:r>
              <a:rPr lang="en-US" sz="1300" dirty="0">
                <a:solidFill>
                  <a:schemeClr val="bg1"/>
                </a:solidFill>
              </a:rPr>
              <a:t>3 sabores en un pack</a:t>
            </a:r>
            <a:endParaRPr lang="en-US" sz="1300" dirty="0"/>
          </a:p>
          <a:p>
            <a:pPr marL="127000" indent="-127000">
              <a:spcAft>
                <a:spcPts val="400"/>
              </a:spcAft>
              <a:buSzPct val="100000"/>
              <a:buChar char="•"/>
            </a:pPr>
            <a:r>
              <a:rPr lang="en-US" sz="1300" dirty="0">
                <a:solidFill>
                  <a:schemeClr val="bg1"/>
                </a:solidFill>
              </a:rPr>
              <a:t>Se prueba en el stand</a:t>
            </a:r>
            <a:endParaRPr lang="en-US" sz="1300" dirty="0"/>
          </a:p>
        </p:txBody>
      </p:sp>
      <p:sp>
        <p:nvSpPr>
          <p:cNvPr id="20" name="Shape 14"/>
          <p:cNvSpPr/>
          <p:nvPr/>
        </p:nvSpPr>
        <p:spPr>
          <a:xfrm>
            <a:off x="7247534" y="1417320"/>
            <a:ext cx="2159813" cy="1700784"/>
          </a:xfrm>
          <a:prstGeom prst="roundRect">
            <a:avLst>
              <a:gd name="adj" fmla="val 4301"/>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pic>
        <p:nvPicPr>
          <p:cNvPr id="21" name="Image 4" descr="preencoded.png">    </p:cNvPr>
          <p:cNvPicPr>
            <a:picLocks noChangeAspect="1"/>
          </p:cNvPicPr>
          <p:nvPr/>
        </p:nvPicPr>
        <p:blipFill>
          <a:blip r:embed="rId5"/>
          <a:stretch>
            <a:fillRect/>
          </a:stretch>
        </p:blipFill>
        <p:spPr>
          <a:xfrm>
            <a:off x="7357262" y="1527048"/>
            <a:ext cx="256032" cy="256032"/>
          </a:xfrm>
          <a:prstGeom prst="rect">
            <a:avLst/>
          </a:prstGeom>
        </p:spPr>
      </p:pic>
      <p:sp>
        <p:nvSpPr>
          <p:cNvPr id="22" name="Text 15"/>
          <p:cNvSpPr txBox="1"/>
          <p:nvPr/>
        </p:nvSpPr>
        <p:spPr>
          <a:xfrm>
            <a:off x="7686446" y="1508760"/>
            <a:ext cx="1656893" cy="292608"/>
          </a:xfrm>
          <a:prstGeom prst="rect">
            <a:avLst/>
          </a:prstGeom>
          <a:noFill/>
          <a:ln/>
        </p:spPr>
        <p:txBody>
          <a:bodyPr wrap="square" lIns="0" tIns="0" rIns="0" bIns="0" rtlCol="0" anchor="ctr"/>
          <a:lstStyle/>
          <a:p>
            <a:pPr indent="0" marL="0">
              <a:buNone/>
            </a:pPr>
            <a:r>
              <a:rPr lang="en-US" sz="1100" b="1" spc="100" kern="0" dirty="0">
                <a:solidFill>
                  <a:schemeClr val="tx2"/>
                </a:solidFill>
              </a:rPr>
              <a:t>RELACIÓN CON CLIENTES</a:t>
            </a:r>
            <a:endParaRPr lang="en-US" sz="1100" dirty="0"/>
          </a:p>
        </p:txBody>
      </p:sp>
      <p:sp>
        <p:nvSpPr>
          <p:cNvPr id="23" name="Text 16"/>
          <p:cNvSpPr txBox="1"/>
          <p:nvPr/>
        </p:nvSpPr>
        <p:spPr>
          <a:xfrm>
            <a:off x="7357262" y="1874520"/>
            <a:ext cx="1958645" cy="1170432"/>
          </a:xfrm>
          <a:prstGeom prst="rect">
            <a:avLst/>
          </a:prstGeom>
          <a:noFill/>
          <a:ln/>
        </p:spPr>
        <p:txBody>
          <a:bodyPr wrap="square" lIns="0" tIns="0" rIns="0" bIns="0" rtlCol="0" anchor="t"/>
          <a:lstStyle/>
          <a:p>
            <a:pPr marL="127000" indent="-127000">
              <a:spcAft>
                <a:spcPts val="400"/>
              </a:spcAft>
              <a:buSzPct val="100000"/>
              <a:buChar char="•"/>
            </a:pPr>
            <a:r>
              <a:rPr lang="en-US" sz="1300" dirty="0">
                <a:solidFill>
                  <a:schemeClr val="tx1"/>
                </a:solidFill>
              </a:rPr>
              <a:t>Degustación en el stand</a:t>
            </a:r>
            <a:endParaRPr lang="en-US" sz="1300" dirty="0"/>
          </a:p>
          <a:p>
            <a:pPr marL="127000" indent="-127000">
              <a:spcAft>
                <a:spcPts val="400"/>
              </a:spcAft>
              <a:buSzPct val="100000"/>
              <a:buChar char="•"/>
            </a:pPr>
            <a:r>
              <a:rPr lang="en-US" sz="1300" dirty="0">
                <a:solidFill>
                  <a:schemeClr val="tx1"/>
                </a:solidFill>
              </a:rPr>
              <a:t>Asistencia por WhatsApp</a:t>
            </a:r>
            <a:endParaRPr lang="en-US" sz="1300" dirty="0"/>
          </a:p>
          <a:p>
            <a:pPr marL="127000" indent="-127000">
              <a:spcAft>
                <a:spcPts val="400"/>
              </a:spcAft>
              <a:buSzPct val="100000"/>
              <a:buChar char="•"/>
            </a:pPr>
            <a:r>
              <a:rPr lang="en-US" sz="1300" dirty="0">
                <a:solidFill>
                  <a:schemeClr val="tx1"/>
                </a:solidFill>
              </a:rPr>
              <a:t>Recordatorio de recompra</a:t>
            </a:r>
            <a:endParaRPr lang="en-US" sz="1300" dirty="0"/>
          </a:p>
          <a:p>
            <a:pPr marL="127000" indent="-127000">
              <a:spcAft>
                <a:spcPts val="400"/>
              </a:spcAft>
              <a:buSzPct val="100000"/>
              <a:buChar char="•"/>
            </a:pPr>
            <a:r>
              <a:rPr lang="en-US" sz="1300" dirty="0">
                <a:solidFill>
                  <a:schemeClr val="tx1"/>
                </a:solidFill>
              </a:rPr>
              <a:t>Mamá embajadora</a:t>
            </a:r>
            <a:endParaRPr lang="en-US" sz="1300" dirty="0"/>
          </a:p>
        </p:txBody>
      </p:sp>
      <p:sp>
        <p:nvSpPr>
          <p:cNvPr id="24" name="Shape 17"/>
          <p:cNvSpPr/>
          <p:nvPr/>
        </p:nvSpPr>
        <p:spPr>
          <a:xfrm>
            <a:off x="7247534" y="3191256"/>
            <a:ext cx="2159813" cy="1700784"/>
          </a:xfrm>
          <a:prstGeom prst="roundRect">
            <a:avLst>
              <a:gd name="adj" fmla="val 4301"/>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pic>
        <p:nvPicPr>
          <p:cNvPr id="25" name="Image 5" descr="preencoded.png">    </p:cNvPr>
          <p:cNvPicPr>
            <a:picLocks noChangeAspect="1"/>
          </p:cNvPicPr>
          <p:nvPr/>
        </p:nvPicPr>
        <p:blipFill>
          <a:blip r:embed="rId6"/>
          <a:stretch>
            <a:fillRect/>
          </a:stretch>
        </p:blipFill>
        <p:spPr>
          <a:xfrm>
            <a:off x="7357262" y="3300984"/>
            <a:ext cx="256032" cy="256032"/>
          </a:xfrm>
          <a:prstGeom prst="rect">
            <a:avLst/>
          </a:prstGeom>
        </p:spPr>
      </p:pic>
      <p:sp>
        <p:nvSpPr>
          <p:cNvPr id="26" name="Text 18"/>
          <p:cNvSpPr txBox="1"/>
          <p:nvPr/>
        </p:nvSpPr>
        <p:spPr>
          <a:xfrm>
            <a:off x="7686446" y="3282696"/>
            <a:ext cx="1656893" cy="292608"/>
          </a:xfrm>
          <a:prstGeom prst="rect">
            <a:avLst/>
          </a:prstGeom>
          <a:noFill/>
          <a:ln/>
        </p:spPr>
        <p:txBody>
          <a:bodyPr wrap="square" lIns="0" tIns="0" rIns="0" bIns="0" rtlCol="0" anchor="ctr"/>
          <a:lstStyle/>
          <a:p>
            <a:pPr indent="0" marL="0">
              <a:buNone/>
            </a:pPr>
            <a:r>
              <a:rPr lang="en-US" sz="1100" b="1" spc="100" kern="0" dirty="0">
                <a:solidFill>
                  <a:schemeClr val="tx2"/>
                </a:solidFill>
              </a:rPr>
              <a:t>CANALES</a:t>
            </a:r>
            <a:endParaRPr lang="en-US" sz="1100" dirty="0"/>
          </a:p>
        </p:txBody>
      </p:sp>
      <p:sp>
        <p:nvSpPr>
          <p:cNvPr id="27" name="Text 19"/>
          <p:cNvSpPr txBox="1"/>
          <p:nvPr/>
        </p:nvSpPr>
        <p:spPr>
          <a:xfrm>
            <a:off x="7357262" y="3648456"/>
            <a:ext cx="1958645" cy="1170432"/>
          </a:xfrm>
          <a:prstGeom prst="rect">
            <a:avLst/>
          </a:prstGeom>
          <a:noFill/>
          <a:ln/>
        </p:spPr>
        <p:txBody>
          <a:bodyPr wrap="square" lIns="0" tIns="0" rIns="0" bIns="0" rtlCol="0" anchor="t"/>
          <a:lstStyle/>
          <a:p>
            <a:pPr marL="127000" indent="-127000">
              <a:spcAft>
                <a:spcPts val="400"/>
              </a:spcAft>
              <a:buSzPct val="100000"/>
              <a:buChar char="•"/>
            </a:pPr>
            <a:r>
              <a:rPr lang="en-US" sz="1300" dirty="0">
                <a:solidFill>
                  <a:schemeClr val="tx1"/>
                </a:solidFill>
              </a:rPr>
              <a:t>Stands y carrito 43 %</a:t>
            </a:r>
            <a:endParaRPr lang="en-US" sz="1300" dirty="0"/>
          </a:p>
          <a:p>
            <a:pPr marL="127000" indent="-127000">
              <a:spcAft>
                <a:spcPts val="400"/>
              </a:spcAft>
              <a:buSzPct val="100000"/>
              <a:buChar char="•"/>
            </a:pPr>
            <a:r>
              <a:rPr lang="en-US" sz="1300" dirty="0">
                <a:solidFill>
                  <a:schemeClr val="tx1"/>
                </a:solidFill>
              </a:rPr>
              <a:t>WhatsApp 17 %</a:t>
            </a:r>
            <a:endParaRPr lang="en-US" sz="1300" dirty="0"/>
          </a:p>
          <a:p>
            <a:pPr marL="127000" indent="-127000">
              <a:spcAft>
                <a:spcPts val="400"/>
              </a:spcAft>
              <a:buSzPct val="100000"/>
              <a:buChar char="•"/>
            </a:pPr>
            <a:r>
              <a:rPr lang="en-US" sz="1300" dirty="0">
                <a:solidFill>
                  <a:schemeClr val="tx1"/>
                </a:solidFill>
              </a:rPr>
              <a:t>Ferias 15 %</a:t>
            </a:r>
            <a:endParaRPr lang="en-US" sz="1300" dirty="0"/>
          </a:p>
          <a:p>
            <a:pPr marL="127000" indent="-127000">
              <a:spcAft>
                <a:spcPts val="400"/>
              </a:spcAft>
              <a:buSzPct val="100000"/>
              <a:buChar char="•"/>
            </a:pPr>
            <a:r>
              <a:rPr lang="en-US" sz="1300" dirty="0">
                <a:solidFill>
                  <a:schemeClr val="tx1"/>
                </a:solidFill>
              </a:rPr>
              <a:t>Colegios y naturistas 24 %</a:t>
            </a:r>
            <a:endParaRPr lang="en-US" sz="1300" dirty="0"/>
          </a:p>
        </p:txBody>
      </p:sp>
      <p:sp>
        <p:nvSpPr>
          <p:cNvPr id="28" name="Shape 20"/>
          <p:cNvSpPr/>
          <p:nvPr/>
        </p:nvSpPr>
        <p:spPr>
          <a:xfrm>
            <a:off x="9480499" y="1417320"/>
            <a:ext cx="2159813" cy="3474720"/>
          </a:xfrm>
          <a:prstGeom prst="roundRect">
            <a:avLst>
              <a:gd name="adj" fmla="val 3387"/>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pic>
        <p:nvPicPr>
          <p:cNvPr id="29" name="Image 6" descr="preencoded.png">    </p:cNvPr>
          <p:cNvPicPr>
            <a:picLocks noChangeAspect="1"/>
          </p:cNvPicPr>
          <p:nvPr/>
        </p:nvPicPr>
        <p:blipFill>
          <a:blip r:embed="rId7"/>
          <a:stretch>
            <a:fillRect/>
          </a:stretch>
        </p:blipFill>
        <p:spPr>
          <a:xfrm>
            <a:off x="9590227" y="1527048"/>
            <a:ext cx="256032" cy="256032"/>
          </a:xfrm>
          <a:prstGeom prst="rect">
            <a:avLst/>
          </a:prstGeom>
        </p:spPr>
      </p:pic>
      <p:sp>
        <p:nvSpPr>
          <p:cNvPr id="30" name="Text 21"/>
          <p:cNvSpPr txBox="1"/>
          <p:nvPr/>
        </p:nvSpPr>
        <p:spPr>
          <a:xfrm>
            <a:off x="9919411" y="1508760"/>
            <a:ext cx="1656893" cy="292608"/>
          </a:xfrm>
          <a:prstGeom prst="rect">
            <a:avLst/>
          </a:prstGeom>
          <a:noFill/>
          <a:ln/>
        </p:spPr>
        <p:txBody>
          <a:bodyPr wrap="square" lIns="0" tIns="0" rIns="0" bIns="0" rtlCol="0" anchor="ctr"/>
          <a:lstStyle/>
          <a:p>
            <a:pPr indent="0" marL="0">
              <a:buNone/>
            </a:pPr>
            <a:r>
              <a:rPr lang="en-US" sz="1100" b="1" spc="100" kern="0" dirty="0">
                <a:solidFill>
                  <a:schemeClr val="tx2"/>
                </a:solidFill>
              </a:rPr>
              <a:t>SEGMENTOS</a:t>
            </a:r>
            <a:endParaRPr lang="en-US" sz="1100" dirty="0"/>
          </a:p>
        </p:txBody>
      </p:sp>
      <p:sp>
        <p:nvSpPr>
          <p:cNvPr id="31" name="Text 22"/>
          <p:cNvSpPr txBox="1"/>
          <p:nvPr/>
        </p:nvSpPr>
        <p:spPr>
          <a:xfrm>
            <a:off x="9590227" y="1874520"/>
            <a:ext cx="1958645" cy="2944368"/>
          </a:xfrm>
          <a:prstGeom prst="rect">
            <a:avLst/>
          </a:prstGeom>
          <a:noFill/>
          <a:ln/>
        </p:spPr>
        <p:txBody>
          <a:bodyPr wrap="square" lIns="0" tIns="0" rIns="0" bIns="0" rtlCol="0" anchor="t"/>
          <a:lstStyle/>
          <a:p>
            <a:pPr marL="127000" indent="-127000">
              <a:spcAft>
                <a:spcPts val="400"/>
              </a:spcAft>
              <a:buSzPct val="100000"/>
              <a:buChar char="•"/>
            </a:pPr>
            <a:r>
              <a:rPr lang="en-US" sz="1300" dirty="0">
                <a:solidFill>
                  <a:schemeClr val="tx1"/>
                </a:solidFill>
              </a:rPr>
              <a:t>Padres A/B de 32 a 45 años</a:t>
            </a:r>
            <a:endParaRPr lang="en-US" sz="1300" dirty="0"/>
          </a:p>
          <a:p>
            <a:pPr marL="127000" indent="-127000">
              <a:spcAft>
                <a:spcPts val="400"/>
              </a:spcAft>
              <a:buSzPct val="100000"/>
              <a:buChar char="•"/>
            </a:pPr>
            <a:r>
              <a:rPr lang="en-US" sz="1300" dirty="0">
                <a:solidFill>
                  <a:schemeClr val="tx1"/>
                </a:solidFill>
              </a:rPr>
              <a:t>Hijos de 4 a 11 en colegio privado</a:t>
            </a:r>
            <a:endParaRPr lang="en-US" sz="1300" dirty="0"/>
          </a:p>
          <a:p>
            <a:pPr marL="127000" indent="-127000">
              <a:spcAft>
                <a:spcPts val="400"/>
              </a:spcAft>
              <a:buSzPct val="100000"/>
              <a:buChar char="•"/>
            </a:pPr>
            <a:r>
              <a:rPr lang="en-US" sz="1300" dirty="0">
                <a:solidFill>
                  <a:schemeClr val="tx1"/>
                </a:solidFill>
              </a:rPr>
              <a:t>46,000 hogares en Lima Top y Moderna</a:t>
            </a:r>
            <a:endParaRPr lang="en-US" sz="1300" dirty="0"/>
          </a:p>
          <a:p>
            <a:pPr marL="127000" indent="-127000">
              <a:spcAft>
                <a:spcPts val="400"/>
              </a:spcAft>
              <a:buSzPct val="100000"/>
              <a:buChar char="•"/>
            </a:pPr>
            <a:r>
              <a:rPr lang="en-US" sz="1300" dirty="0">
                <a:solidFill>
                  <a:schemeClr val="tx1"/>
                </a:solidFill>
              </a:rPr>
              <a:t>B2B: quioscos y naturistas</a:t>
            </a:r>
            <a:endParaRPr lang="en-US" sz="1300" dirty="0"/>
          </a:p>
        </p:txBody>
      </p:sp>
      <p:sp>
        <p:nvSpPr>
          <p:cNvPr id="32" name="Shape 23"/>
          <p:cNvSpPr/>
          <p:nvPr/>
        </p:nvSpPr>
        <p:spPr>
          <a:xfrm>
            <a:off x="548640" y="4965192"/>
            <a:ext cx="5545836" cy="1298448"/>
          </a:xfrm>
          <a:prstGeom prst="roundRect">
            <a:avLst>
              <a:gd name="adj" fmla="val 5634"/>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pic>
        <p:nvPicPr>
          <p:cNvPr id="33" name="Image 7" descr="preencoded.png">    </p:cNvPr>
          <p:cNvPicPr>
            <a:picLocks noChangeAspect="1"/>
          </p:cNvPicPr>
          <p:nvPr/>
        </p:nvPicPr>
        <p:blipFill>
          <a:blip r:embed="rId8"/>
          <a:stretch>
            <a:fillRect/>
          </a:stretch>
        </p:blipFill>
        <p:spPr>
          <a:xfrm>
            <a:off x="658368" y="5074920"/>
            <a:ext cx="256032" cy="256032"/>
          </a:xfrm>
          <a:prstGeom prst="rect">
            <a:avLst/>
          </a:prstGeom>
        </p:spPr>
      </p:pic>
      <p:sp>
        <p:nvSpPr>
          <p:cNvPr id="34" name="Text 24"/>
          <p:cNvSpPr txBox="1"/>
          <p:nvPr/>
        </p:nvSpPr>
        <p:spPr>
          <a:xfrm>
            <a:off x="987552" y="5056632"/>
            <a:ext cx="5042916" cy="292608"/>
          </a:xfrm>
          <a:prstGeom prst="rect">
            <a:avLst/>
          </a:prstGeom>
          <a:noFill/>
          <a:ln/>
        </p:spPr>
        <p:txBody>
          <a:bodyPr wrap="square" lIns="0" tIns="0" rIns="0" bIns="0" rtlCol="0" anchor="ctr"/>
          <a:lstStyle/>
          <a:p>
            <a:pPr indent="0" marL="0">
              <a:buNone/>
            </a:pPr>
            <a:r>
              <a:rPr lang="en-US" sz="1100" b="1" spc="100" kern="0" dirty="0">
                <a:solidFill>
                  <a:schemeClr val="tx2"/>
                </a:solidFill>
              </a:rPr>
              <a:t>ESTRUCTURA DE COSTOS</a:t>
            </a:r>
            <a:endParaRPr lang="en-US" sz="1100" dirty="0"/>
          </a:p>
        </p:txBody>
      </p:sp>
      <p:sp>
        <p:nvSpPr>
          <p:cNvPr id="35" name="Text 25"/>
          <p:cNvSpPr txBox="1"/>
          <p:nvPr/>
        </p:nvSpPr>
        <p:spPr>
          <a:xfrm>
            <a:off x="658368" y="5422392"/>
            <a:ext cx="5344668" cy="768096"/>
          </a:xfrm>
          <a:prstGeom prst="rect">
            <a:avLst/>
          </a:prstGeom>
          <a:noFill/>
          <a:ln/>
        </p:spPr>
        <p:txBody>
          <a:bodyPr wrap="square" lIns="0" tIns="0" rIns="0" bIns="0" rtlCol="0" anchor="t"/>
          <a:lstStyle/>
          <a:p>
            <a:pPr marL="127000" indent="-127000">
              <a:spcAft>
                <a:spcPts val="400"/>
              </a:spcAft>
              <a:buSzPct val="100000"/>
              <a:buChar char="•"/>
            </a:pPr>
            <a:r>
              <a:rPr lang="en-US" sz="1300" dirty="0">
                <a:solidFill>
                  <a:schemeClr val="tx1"/>
                </a:solidFill>
              </a:rPr>
              <a:t>Producción S/1.38 por brownie · fijos S/2,503 al mes</a:t>
            </a:r>
            <a:endParaRPr lang="en-US" sz="1300" dirty="0"/>
          </a:p>
          <a:p>
            <a:pPr marL="127000" indent="-127000">
              <a:spcAft>
                <a:spcPts val="400"/>
              </a:spcAft>
              <a:buSzPct val="100000"/>
              <a:buChar char="•"/>
            </a:pPr>
            <a:r>
              <a:rPr lang="en-US" sz="1300" dirty="0">
                <a:solidFill>
                  <a:schemeClr val="tx1"/>
                </a:solidFill>
              </a:rPr>
              <a:t>Stands y ferias S/45,870 al año · equilibrio 2,592 brownies al mes</a:t>
            </a:r>
            <a:endParaRPr lang="en-US" sz="1300" dirty="0"/>
          </a:p>
        </p:txBody>
      </p:sp>
      <p:sp>
        <p:nvSpPr>
          <p:cNvPr id="36" name="Shape 26"/>
          <p:cNvSpPr/>
          <p:nvPr/>
        </p:nvSpPr>
        <p:spPr>
          <a:xfrm>
            <a:off x="6167628" y="4965192"/>
            <a:ext cx="5472684" cy="1298448"/>
          </a:xfrm>
          <a:prstGeom prst="roundRect">
            <a:avLst>
              <a:gd name="adj" fmla="val 5634"/>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pic>
        <p:nvPicPr>
          <p:cNvPr id="37" name="Image 8" descr="preencoded.png">    </p:cNvPr>
          <p:cNvPicPr>
            <a:picLocks noChangeAspect="1"/>
          </p:cNvPicPr>
          <p:nvPr/>
        </p:nvPicPr>
        <p:blipFill>
          <a:blip r:embed="rId9"/>
          <a:stretch>
            <a:fillRect/>
          </a:stretch>
        </p:blipFill>
        <p:spPr>
          <a:xfrm>
            <a:off x="6277356" y="5074920"/>
            <a:ext cx="256032" cy="256032"/>
          </a:xfrm>
          <a:prstGeom prst="rect">
            <a:avLst/>
          </a:prstGeom>
        </p:spPr>
      </p:pic>
      <p:sp>
        <p:nvSpPr>
          <p:cNvPr id="38" name="Text 27"/>
          <p:cNvSpPr txBox="1"/>
          <p:nvPr/>
        </p:nvSpPr>
        <p:spPr>
          <a:xfrm>
            <a:off x="6606540" y="5056632"/>
            <a:ext cx="4969764" cy="292608"/>
          </a:xfrm>
          <a:prstGeom prst="rect">
            <a:avLst/>
          </a:prstGeom>
          <a:noFill/>
          <a:ln/>
        </p:spPr>
        <p:txBody>
          <a:bodyPr wrap="square" lIns="0" tIns="0" rIns="0" bIns="0" rtlCol="0" anchor="ctr"/>
          <a:lstStyle/>
          <a:p>
            <a:pPr indent="0" marL="0">
              <a:buNone/>
            </a:pPr>
            <a:r>
              <a:rPr lang="en-US" sz="1100" b="1" spc="100" kern="0" dirty="0">
                <a:solidFill>
                  <a:schemeClr val="tx2"/>
                </a:solidFill>
              </a:rPr>
              <a:t>FUENTES DE INGRESO</a:t>
            </a:r>
            <a:endParaRPr lang="en-US" sz="1100" dirty="0"/>
          </a:p>
        </p:txBody>
      </p:sp>
      <p:sp>
        <p:nvSpPr>
          <p:cNvPr id="39" name="Text 28"/>
          <p:cNvSpPr txBox="1"/>
          <p:nvPr/>
        </p:nvSpPr>
        <p:spPr>
          <a:xfrm>
            <a:off x="6277356" y="5422392"/>
            <a:ext cx="5271516" cy="768096"/>
          </a:xfrm>
          <a:prstGeom prst="rect">
            <a:avLst/>
          </a:prstGeom>
          <a:noFill/>
          <a:ln/>
        </p:spPr>
        <p:txBody>
          <a:bodyPr wrap="square" lIns="0" tIns="0" rIns="0" bIns="0" rtlCol="0" anchor="t"/>
          <a:lstStyle/>
          <a:p>
            <a:pPr marL="127000" indent="-127000">
              <a:spcAft>
                <a:spcPts val="400"/>
              </a:spcAft>
              <a:buSzPct val="100000"/>
              <a:buChar char="•"/>
            </a:pPr>
            <a:r>
              <a:rPr lang="en-US" sz="1300" dirty="0">
                <a:solidFill>
                  <a:schemeClr val="tx1"/>
                </a:solidFill>
              </a:rPr>
              <a:t>Stand: unidad S/5.50 · pack de 6 S/26.00 · WhatsApp S/24.90</a:t>
            </a:r>
            <a:endParaRPr lang="en-US" sz="1300" dirty="0"/>
          </a:p>
          <a:p>
            <a:pPr marL="127000" indent="-127000">
              <a:spcAft>
                <a:spcPts val="400"/>
              </a:spcAft>
              <a:buSzPct val="100000"/>
              <a:buChar char="•"/>
            </a:pPr>
            <a:r>
              <a:rPr lang="en-US" sz="1300" dirty="0">
                <a:solidFill>
                  <a:schemeClr val="tx1"/>
                </a:solidFill>
              </a:rPr>
              <a:t>Año 1: S/230,740 con IGV · utilidad neta S/17,704</a:t>
            </a:r>
            <a:endParaRPr lang="en-US" sz="1300" dirty="0"/>
          </a:p>
        </p:txBody>
      </p:sp>
      <p:sp>
        <p:nvSpPr>
          <p:cNvPr id="40" name="Text 29"/>
          <p:cNvSpPr txBox="1"/>
          <p:nvPr/>
        </p:nvSpPr>
        <p:spPr>
          <a:xfrm>
            <a:off x="5124298" y="4297680"/>
            <a:ext cx="1940357" cy="502920"/>
          </a:xfrm>
          <a:prstGeom prst="rect">
            <a:avLst/>
          </a:prstGeom>
          <a:noFill/>
          <a:ln/>
        </p:spPr>
        <p:txBody>
          <a:bodyPr wrap="square" lIns="0" tIns="0" rIns="0" bIns="0" rtlCol="0" anchor="t"/>
          <a:lstStyle/>
          <a:p>
            <a:pPr indent="0" marL="0">
              <a:buNone/>
            </a:pPr>
            <a:r>
              <a:rPr lang="en-US" sz="1300" b="1" i="1" dirty="0">
                <a:solidFill>
                  <a:schemeClr val="accent3"/>
                </a:solidFill>
              </a:rPr>
              <a:t>"Hierro medido. Sabor a brownie."</a:t>
            </a:r>
            <a:endParaRPr lang="en-US" sz="1300" dirty="0"/>
          </a:p>
        </p:txBody>
      </p:sp>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txBox="1"/>
          <p:nvPr/>
        </p:nvSpPr>
        <p:spPr>
          <a:xfrm>
            <a:off x="731520" y="777240"/>
            <a:ext cx="3657600" cy="1737360"/>
          </a:xfrm>
          <a:prstGeom prst="rect">
            <a:avLst/>
          </a:prstGeom>
          <a:noFill/>
          <a:ln/>
        </p:spPr>
        <p:txBody>
          <a:bodyPr wrap="square" lIns="0" tIns="0" rIns="0" bIns="0" rtlCol="0" anchor="t"/>
          <a:lstStyle/>
          <a:p>
            <a:pPr indent="0" marL="0">
              <a:buNone/>
            </a:pPr>
            <a:r>
              <a:rPr lang="en-US" sz="12000" b="1" dirty="0">
                <a:solidFill>
                  <a:schemeClr val="accent1"/>
                </a:solidFill>
              </a:rPr>
              <a:t>08</a:t>
            </a:r>
            <a:endParaRPr lang="en-US" sz="12000" dirty="0"/>
          </a:p>
        </p:txBody>
      </p:sp>
      <p:sp>
        <p:nvSpPr>
          <p:cNvPr id="3" name="Text 0"/>
          <p:cNvSpPr/>
          <p:nvPr>
            <p:ph idx="100" type="title" hasCustomPrompt="1"/>
          </p:nvPr>
        </p:nvSpPr>
        <p:spPr>
          <a:xfrm>
            <a:off x="731520" y="2514600"/>
            <a:ext cx="6949440" cy="1417320"/>
          </a:xfrm>
          <a:prstGeom prst="rect">
            <a:avLst/>
          </a:prstGeom>
          <a:noFill/>
          <a:ln/>
        </p:spPr>
        <p:txBody>
          <a:bodyPr wrap="square" lIns="0" tIns="0" rIns="0" bIns="0" rtlCol="0" anchor="b"/>
          <a:lstStyle/>
          <a:p>
            <a:pPr algn="l" indent="0" marL="0">
              <a:buNone/>
            </a:pPr>
            <a:r>
              <a:rPr lang="en-US" sz="4400" b="1" dirty="0">
                <a:solidFill>
                  <a:schemeClr val="bg2"/>
                </a:solidFill>
              </a:rPr>
              <a:t>Mapa de propuesta de valor</a:t>
            </a:r>
            <a:endParaRPr lang="en-US" sz="4400" dirty="0"/>
          </a:p>
        </p:txBody>
      </p:sp>
      <p:sp>
        <p:nvSpPr>
          <p:cNvPr id="4" name="Text 0"/>
          <p:cNvSpPr/>
          <p:nvPr>
            <p:ph idx="101" type="body" hasCustomPrompt="1"/>
          </p:nvPr>
        </p:nvSpPr>
        <p:spPr>
          <a:xfrm>
            <a:off x="731520" y="4069080"/>
            <a:ext cx="6949440" cy="1188720"/>
          </a:xfrm>
          <a:prstGeom prst="rect">
            <a:avLst/>
          </a:prstGeom>
          <a:noFill/>
          <a:ln/>
        </p:spPr>
        <p:txBody>
          <a:bodyPr wrap="square" lIns="0" tIns="0" rIns="0" bIns="0" rtlCol="0" anchor="t"/>
          <a:lstStyle/>
          <a:p>
            <a:pPr indent="0" marL="0">
              <a:buNone/>
            </a:pPr>
            <a:r>
              <a:rPr lang="en-US" sz="1800" dirty="0">
                <a:solidFill>
                  <a:schemeClr val="accent5"/>
                </a:solidFill>
              </a:rPr>
              <a:t>Perfil del cliente · Mapa de valor · Encaje dolor-aliviador · Frente a la competencia</a:t>
            </a:r>
            <a:endParaRPr lang="en-US" sz="1800" dirty="0"/>
          </a:p>
        </p:txBody>
      </p:sp>
      <p:sp>
        <p:nvSpPr>
          <p:cNvPr id="5" name="Shape 3"/>
          <p:cNvSpPr/>
          <p:nvPr/>
        </p:nvSpPr>
        <p:spPr>
          <a:xfrm>
            <a:off x="8001000" y="1417320"/>
            <a:ext cx="3840480" cy="3840480"/>
          </a:xfrm>
          <a:prstGeom prst="ellipse">
            <a:avLst/>
          </a:prstGeom>
          <a:solidFill>
            <a:schemeClr val="accent2"/>
          </a:solidFill>
          <a:ln w="12700">
            <a:solidFill>
              <a:schemeClr val="accent2"/>
            </a:solidFill>
            <a:prstDash val="solid"/>
          </a:ln>
        </p:spPr>
      </p:sp>
      <p:pic>
        <p:nvPicPr>
          <p:cNvPr id="6" name="Image 0" descr="preencoded.png">    </p:cNvPr>
          <p:cNvPicPr>
            <a:picLocks noChangeAspect="1"/>
          </p:cNvPicPr>
          <p:nvPr/>
        </p:nvPicPr>
        <p:blipFill>
          <a:blip r:embed="rId1"/>
          <a:stretch>
            <a:fillRect/>
          </a:stretch>
        </p:blipFill>
        <p:spPr>
          <a:xfrm>
            <a:off x="9006840" y="2423160"/>
            <a:ext cx="1828800" cy="1828800"/>
          </a:xfrm>
          <a:prstGeom prst="rect">
            <a:avLst/>
          </a:prstGeom>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TRABAJO DE CAMPO 8 · MAPA DE PROPUESTA DE VALOR</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Lo que ofrecemos encaja con lo que vive el cliente</a:t>
            </a:r>
            <a:endParaRPr lang="en-US" sz="3400" dirty="0"/>
          </a:p>
        </p:txBody>
      </p:sp>
      <p:sp>
        <p:nvSpPr>
          <p:cNvPr id="4" name="Shape 2"/>
          <p:cNvSpPr/>
          <p:nvPr/>
        </p:nvSpPr>
        <p:spPr>
          <a:xfrm>
            <a:off x="640080" y="1463040"/>
            <a:ext cx="4480560" cy="4480560"/>
          </a:xfrm>
          <a:prstGeom prst="roundRect">
            <a:avLst>
              <a:gd name="adj" fmla="val 2041"/>
            </a:avLst>
          </a:prstGeom>
          <a:solidFill>
            <a:schemeClr val="bg1"/>
          </a:solidFill>
          <a:ln w="25400">
            <a:solidFill>
              <a:schemeClr val="accent2"/>
            </a:solidFill>
            <a:prstDash val="solid"/>
          </a:ln>
          <a:effectLst>
            <a:outerShdw sx="100000" sy="100000" kx="0" ky="0" algn="bl" rotWithShape="0" blurRad="101600" dist="25400" dir="5400000">
              <a:srgbClr val="7A4A30">
                <a:alpha val="14000"/>
              </a:srgbClr>
            </a:outerShdw>
          </a:effectLst>
        </p:spPr>
      </p:sp>
      <p:sp>
        <p:nvSpPr>
          <p:cNvPr id="5" name="Shape 3"/>
          <p:cNvSpPr/>
          <p:nvPr/>
        </p:nvSpPr>
        <p:spPr>
          <a:xfrm>
            <a:off x="2880360" y="1463040"/>
            <a:ext cx="0" cy="4480560"/>
          </a:xfrm>
          <a:prstGeom prst="line">
            <a:avLst/>
          </a:prstGeom>
          <a:noFill/>
          <a:ln w="19050">
            <a:solidFill>
              <a:schemeClr val="accent2"/>
            </a:solidFill>
            <a:prstDash val="solid"/>
          </a:ln>
        </p:spPr>
      </p:sp>
      <p:sp>
        <p:nvSpPr>
          <p:cNvPr id="6" name="Shape 4"/>
          <p:cNvSpPr/>
          <p:nvPr/>
        </p:nvSpPr>
        <p:spPr>
          <a:xfrm>
            <a:off x="2880360" y="3703320"/>
            <a:ext cx="2240280" cy="0"/>
          </a:xfrm>
          <a:prstGeom prst="line">
            <a:avLst/>
          </a:prstGeom>
          <a:noFill/>
          <a:ln w="19050">
            <a:solidFill>
              <a:schemeClr val="accent2"/>
            </a:solidFill>
            <a:prstDash val="solid"/>
          </a:ln>
        </p:spPr>
      </p:sp>
      <p:sp>
        <p:nvSpPr>
          <p:cNvPr id="7" name="Shape 5"/>
          <p:cNvSpPr/>
          <p:nvPr/>
        </p:nvSpPr>
        <p:spPr>
          <a:xfrm>
            <a:off x="7178040" y="1463040"/>
            <a:ext cx="4480560" cy="4480560"/>
          </a:xfrm>
          <a:prstGeom prst="ellipse">
            <a:avLst/>
          </a:prstGeom>
          <a:solidFill>
            <a:schemeClr val="bg1"/>
          </a:solidFill>
          <a:ln w="25400">
            <a:solidFill>
              <a:schemeClr val="accent1"/>
            </a:solidFill>
            <a:prstDash val="solid"/>
          </a:ln>
          <a:effectLst>
            <a:outerShdw sx="100000" sy="100000" kx="0" ky="0" algn="bl" rotWithShape="0" blurRad="101600" dist="25400" dir="5400000">
              <a:srgbClr val="7A4A30">
                <a:alpha val="14000"/>
              </a:srgbClr>
            </a:outerShdw>
          </a:effectLst>
        </p:spPr>
      </p:sp>
      <p:sp>
        <p:nvSpPr>
          <p:cNvPr id="8" name="Shape 6"/>
          <p:cNvSpPr/>
          <p:nvPr/>
        </p:nvSpPr>
        <p:spPr>
          <a:xfrm>
            <a:off x="9418320" y="1463040"/>
            <a:ext cx="0" cy="4480560"/>
          </a:xfrm>
          <a:prstGeom prst="line">
            <a:avLst/>
          </a:prstGeom>
          <a:noFill/>
          <a:ln w="19050">
            <a:solidFill>
              <a:schemeClr val="accent1"/>
            </a:solidFill>
            <a:prstDash val="solid"/>
          </a:ln>
        </p:spPr>
      </p:sp>
      <p:sp>
        <p:nvSpPr>
          <p:cNvPr id="9" name="Shape 7"/>
          <p:cNvSpPr/>
          <p:nvPr/>
        </p:nvSpPr>
        <p:spPr>
          <a:xfrm>
            <a:off x="7178040" y="3703320"/>
            <a:ext cx="2240280" cy="0"/>
          </a:xfrm>
          <a:prstGeom prst="line">
            <a:avLst/>
          </a:prstGeom>
          <a:noFill/>
          <a:ln w="19050">
            <a:solidFill>
              <a:schemeClr val="accent1"/>
            </a:solidFill>
            <a:prstDash val="solid"/>
          </a:ln>
        </p:spPr>
      </p:sp>
      <p:pic>
        <p:nvPicPr>
          <p:cNvPr id="10" name="Image 0" descr="preencoded.png">    </p:cNvPr>
          <p:cNvPicPr>
            <a:picLocks noChangeAspect="1"/>
          </p:cNvPicPr>
          <p:nvPr/>
        </p:nvPicPr>
        <p:blipFill>
          <a:blip r:embed="rId1"/>
          <a:stretch>
            <a:fillRect/>
          </a:stretch>
        </p:blipFill>
        <p:spPr>
          <a:xfrm>
            <a:off x="777240" y="1645920"/>
            <a:ext cx="274320" cy="274320"/>
          </a:xfrm>
          <a:prstGeom prst="rect">
            <a:avLst/>
          </a:prstGeom>
        </p:spPr>
      </p:pic>
      <p:sp>
        <p:nvSpPr>
          <p:cNvPr id="11" name="Text 8"/>
          <p:cNvSpPr txBox="1"/>
          <p:nvPr/>
        </p:nvSpPr>
        <p:spPr>
          <a:xfrm>
            <a:off x="1124712" y="1627632"/>
            <a:ext cx="1664208" cy="329184"/>
          </a:xfrm>
          <a:prstGeom prst="rect">
            <a:avLst/>
          </a:prstGeom>
          <a:noFill/>
          <a:ln/>
        </p:spPr>
        <p:txBody>
          <a:bodyPr wrap="square" lIns="0" tIns="0" rIns="0" bIns="0" rtlCol="0" anchor="ctr"/>
          <a:lstStyle/>
          <a:p>
            <a:pPr indent="0" marL="0">
              <a:buNone/>
            </a:pPr>
            <a:r>
              <a:rPr lang="en-US" sz="1200" b="1" dirty="0">
                <a:solidFill>
                  <a:schemeClr val="tx2"/>
                </a:solidFill>
              </a:rPr>
              <a:t>Productos y servicios</a:t>
            </a:r>
            <a:endParaRPr lang="en-US" sz="1200" dirty="0"/>
          </a:p>
        </p:txBody>
      </p:sp>
      <p:sp>
        <p:nvSpPr>
          <p:cNvPr id="12" name="Text 9"/>
          <p:cNvSpPr txBox="1"/>
          <p:nvPr/>
        </p:nvSpPr>
        <p:spPr>
          <a:xfrm>
            <a:off x="777240" y="2029968"/>
            <a:ext cx="2011680" cy="3730752"/>
          </a:xfrm>
          <a:prstGeom prst="rect">
            <a:avLst/>
          </a:prstGeom>
          <a:noFill/>
          <a:ln/>
        </p:spPr>
        <p:txBody>
          <a:bodyPr wrap="square" lIns="0" tIns="0" rIns="0" bIns="0" rtlCol="0" anchor="t"/>
          <a:lstStyle/>
          <a:p>
            <a:pPr marL="127000" indent="-127000">
              <a:spcAft>
                <a:spcPts val="400"/>
              </a:spcAft>
              <a:buSzPct val="100000"/>
              <a:buChar char="•"/>
            </a:pPr>
            <a:r>
              <a:rPr lang="en-US" sz="1200" dirty="0">
                <a:solidFill>
                  <a:schemeClr val="tx1"/>
                </a:solidFill>
              </a:rPr>
              <a:t>Pack de 6 (S/26 en stand)</a:t>
            </a:r>
            <a:endParaRPr lang="en-US" sz="1200" dirty="0"/>
          </a:p>
          <a:p>
            <a:pPr marL="127000" indent="-127000">
              <a:spcAft>
                <a:spcPts val="400"/>
              </a:spcAft>
              <a:buSzPct val="100000"/>
              <a:buChar char="•"/>
            </a:pPr>
            <a:r>
              <a:rPr lang="en-US" sz="1200" dirty="0">
                <a:solidFill>
                  <a:schemeClr val="tx1"/>
                </a:solidFill>
              </a:rPr>
              <a:t>Pack de 12 "Semana completa"</a:t>
            </a:r>
            <a:endParaRPr lang="en-US" sz="1200" dirty="0"/>
          </a:p>
          <a:p>
            <a:pPr marL="127000" indent="-127000">
              <a:spcAft>
                <a:spcPts val="400"/>
              </a:spcAft>
              <a:buSzPct val="100000"/>
              <a:buChar char="•"/>
            </a:pPr>
            <a:r>
              <a:rPr lang="en-US" sz="1200" dirty="0">
                <a:solidFill>
                  <a:schemeClr val="tx1"/>
                </a:solidFill>
              </a:rPr>
              <a:t>Caja degustación de 3</a:t>
            </a:r>
            <a:endParaRPr lang="en-US" sz="1200" dirty="0"/>
          </a:p>
          <a:p>
            <a:pPr marL="127000" indent="-127000">
              <a:spcAft>
                <a:spcPts val="400"/>
              </a:spcAft>
              <a:buSzPct val="100000"/>
              <a:buChar char="•"/>
            </a:pPr>
            <a:r>
              <a:rPr lang="en-US" sz="1200" dirty="0">
                <a:solidFill>
                  <a:schemeClr val="tx1"/>
                </a:solidFill>
              </a:rPr>
              <a:t>Stand con degustación gratis</a:t>
            </a:r>
            <a:endParaRPr lang="en-US" sz="1200" dirty="0"/>
          </a:p>
        </p:txBody>
      </p:sp>
      <p:pic>
        <p:nvPicPr>
          <p:cNvPr id="13" name="Image 1" descr="preencoded.png">    </p:cNvPr>
          <p:cNvPicPr>
            <a:picLocks noChangeAspect="1"/>
          </p:cNvPicPr>
          <p:nvPr/>
        </p:nvPicPr>
        <p:blipFill>
          <a:blip r:embed="rId2"/>
          <a:stretch>
            <a:fillRect/>
          </a:stretch>
        </p:blipFill>
        <p:spPr>
          <a:xfrm>
            <a:off x="3017520" y="1645920"/>
            <a:ext cx="274320" cy="274320"/>
          </a:xfrm>
          <a:prstGeom prst="rect">
            <a:avLst/>
          </a:prstGeom>
        </p:spPr>
      </p:pic>
      <p:sp>
        <p:nvSpPr>
          <p:cNvPr id="14" name="Text 10"/>
          <p:cNvSpPr txBox="1"/>
          <p:nvPr/>
        </p:nvSpPr>
        <p:spPr>
          <a:xfrm>
            <a:off x="3364992" y="1627632"/>
            <a:ext cx="1664208" cy="329184"/>
          </a:xfrm>
          <a:prstGeom prst="rect">
            <a:avLst/>
          </a:prstGeom>
          <a:noFill/>
          <a:ln/>
        </p:spPr>
        <p:txBody>
          <a:bodyPr wrap="square" lIns="0" tIns="0" rIns="0" bIns="0" rtlCol="0" anchor="ctr"/>
          <a:lstStyle/>
          <a:p>
            <a:pPr indent="0" marL="0">
              <a:buNone/>
            </a:pPr>
            <a:r>
              <a:rPr lang="en-US" sz="1200" b="1" dirty="0">
                <a:solidFill>
                  <a:schemeClr val="tx2"/>
                </a:solidFill>
              </a:rPr>
              <a:t>Creadores de alegrías</a:t>
            </a:r>
            <a:endParaRPr lang="en-US" sz="1200" dirty="0"/>
          </a:p>
        </p:txBody>
      </p:sp>
      <p:sp>
        <p:nvSpPr>
          <p:cNvPr id="15" name="Text 11"/>
          <p:cNvSpPr txBox="1"/>
          <p:nvPr/>
        </p:nvSpPr>
        <p:spPr>
          <a:xfrm>
            <a:off x="3017520" y="2029968"/>
            <a:ext cx="2011680" cy="1627632"/>
          </a:xfrm>
          <a:prstGeom prst="rect">
            <a:avLst/>
          </a:prstGeom>
          <a:noFill/>
          <a:ln/>
        </p:spPr>
        <p:txBody>
          <a:bodyPr wrap="square" lIns="0" tIns="0" rIns="0" bIns="0" rtlCol="0" anchor="t"/>
          <a:lstStyle/>
          <a:p>
            <a:pPr marL="127000" indent="-127000">
              <a:spcAft>
                <a:spcPts val="400"/>
              </a:spcAft>
              <a:buSzPct val="100000"/>
              <a:buChar char="•"/>
            </a:pPr>
            <a:r>
              <a:rPr lang="en-US" sz="1200" dirty="0">
                <a:solidFill>
                  <a:schemeClr val="tx1"/>
                </a:solidFill>
              </a:rPr>
              <a:t>El niño pide su sabor</a:t>
            </a:r>
            <a:endParaRPr lang="en-US" sz="1200" dirty="0"/>
          </a:p>
          <a:p>
            <a:pPr marL="127000" indent="-127000">
              <a:spcAft>
                <a:spcPts val="400"/>
              </a:spcAft>
              <a:buSzPct val="100000"/>
              <a:buChar char="•"/>
            </a:pPr>
            <a:r>
              <a:rPr lang="en-US" sz="1200" dirty="0">
                <a:solidFill>
                  <a:schemeClr val="tx1"/>
                </a:solidFill>
              </a:rPr>
              <a:t>Hierro en mg y QR del lote</a:t>
            </a:r>
            <a:endParaRPr lang="en-US" sz="1200" dirty="0"/>
          </a:p>
          <a:p>
            <a:pPr marL="127000" indent="-127000">
              <a:spcAft>
                <a:spcPts val="400"/>
              </a:spcAft>
              <a:buSzPct val="100000"/>
              <a:buChar char="•"/>
            </a:pPr>
            <a:r>
              <a:rPr lang="en-US" sz="1200" dirty="0">
                <a:solidFill>
                  <a:schemeClr val="tx1"/>
                </a:solidFill>
              </a:rPr>
              <a:t>Origen andino peruano</a:t>
            </a:r>
            <a:endParaRPr lang="en-US" sz="1200" dirty="0"/>
          </a:p>
        </p:txBody>
      </p:sp>
      <p:pic>
        <p:nvPicPr>
          <p:cNvPr id="16" name="Image 2" descr="preencoded.png">    </p:cNvPr>
          <p:cNvPicPr>
            <a:picLocks noChangeAspect="1"/>
          </p:cNvPicPr>
          <p:nvPr/>
        </p:nvPicPr>
        <p:blipFill>
          <a:blip r:embed="rId3"/>
          <a:stretch>
            <a:fillRect/>
          </a:stretch>
        </p:blipFill>
        <p:spPr>
          <a:xfrm>
            <a:off x="3017520" y="3886200"/>
            <a:ext cx="274320" cy="274320"/>
          </a:xfrm>
          <a:prstGeom prst="rect">
            <a:avLst/>
          </a:prstGeom>
        </p:spPr>
      </p:pic>
      <p:sp>
        <p:nvSpPr>
          <p:cNvPr id="17" name="Text 12"/>
          <p:cNvSpPr txBox="1"/>
          <p:nvPr/>
        </p:nvSpPr>
        <p:spPr>
          <a:xfrm>
            <a:off x="3364992" y="3867912"/>
            <a:ext cx="1664208" cy="329184"/>
          </a:xfrm>
          <a:prstGeom prst="rect">
            <a:avLst/>
          </a:prstGeom>
          <a:noFill/>
          <a:ln/>
        </p:spPr>
        <p:txBody>
          <a:bodyPr wrap="square" lIns="0" tIns="0" rIns="0" bIns="0" rtlCol="0" anchor="ctr"/>
          <a:lstStyle/>
          <a:p>
            <a:pPr indent="0" marL="0">
              <a:buNone/>
            </a:pPr>
            <a:r>
              <a:rPr lang="en-US" sz="1200" b="1" dirty="0">
                <a:solidFill>
                  <a:schemeClr val="tx2"/>
                </a:solidFill>
              </a:rPr>
              <a:t>Aliviadores de dolor</a:t>
            </a:r>
            <a:endParaRPr lang="en-US" sz="1200" dirty="0"/>
          </a:p>
        </p:txBody>
      </p:sp>
      <p:sp>
        <p:nvSpPr>
          <p:cNvPr id="18" name="Text 13"/>
          <p:cNvSpPr txBox="1"/>
          <p:nvPr/>
        </p:nvSpPr>
        <p:spPr>
          <a:xfrm>
            <a:off x="3017520" y="4270248"/>
            <a:ext cx="2011680" cy="1627632"/>
          </a:xfrm>
          <a:prstGeom prst="rect">
            <a:avLst/>
          </a:prstGeom>
          <a:noFill/>
          <a:ln/>
        </p:spPr>
        <p:txBody>
          <a:bodyPr wrap="square" lIns="0" tIns="0" rIns="0" bIns="0" rtlCol="0" anchor="t"/>
          <a:lstStyle/>
          <a:p>
            <a:pPr marL="127000" indent="-127000">
              <a:spcAft>
                <a:spcPts val="400"/>
              </a:spcAft>
              <a:buSzPct val="100000"/>
              <a:buChar char="•"/>
            </a:pPr>
            <a:r>
              <a:rPr lang="en-US" sz="1200" dirty="0">
                <a:solidFill>
                  <a:schemeClr val="tx1"/>
                </a:solidFill>
              </a:rPr>
              <a:t>Cacao que esconde la sangrecita</a:t>
            </a:r>
            <a:endParaRPr lang="en-US" sz="1200" dirty="0"/>
          </a:p>
          <a:p>
            <a:pPr marL="127000" indent="-127000">
              <a:spcAft>
                <a:spcPts val="400"/>
              </a:spcAft>
              <a:buSzPct val="100000"/>
              <a:buChar char="•"/>
            </a:pPr>
            <a:r>
              <a:rPr lang="en-US" sz="1200" dirty="0">
                <a:solidFill>
                  <a:schemeClr val="tx1"/>
                </a:solidFill>
              </a:rPr>
              <a:t>Menos de 10 g de azúcar</a:t>
            </a:r>
            <a:endParaRPr lang="en-US" sz="1200" dirty="0"/>
          </a:p>
          <a:p>
            <a:pPr marL="127000" indent="-127000">
              <a:spcAft>
                <a:spcPts val="400"/>
              </a:spcAft>
              <a:buSzPct val="100000"/>
              <a:buChar char="•"/>
            </a:pPr>
            <a:r>
              <a:rPr lang="en-US" sz="1200" dirty="0">
                <a:solidFill>
                  <a:schemeClr val="tx1"/>
                </a:solidFill>
              </a:rPr>
              <a:t>Porción sellada, sin frío</a:t>
            </a:r>
            <a:endParaRPr lang="en-US" sz="1200" dirty="0"/>
          </a:p>
        </p:txBody>
      </p:sp>
      <p:pic>
        <p:nvPicPr>
          <p:cNvPr id="19" name="Image 3" descr="preencoded.png">    </p:cNvPr>
          <p:cNvPicPr>
            <a:picLocks noChangeAspect="1"/>
          </p:cNvPicPr>
          <p:nvPr/>
        </p:nvPicPr>
        <p:blipFill>
          <a:blip r:embed="rId4"/>
          <a:stretch>
            <a:fillRect/>
          </a:stretch>
        </p:blipFill>
        <p:spPr>
          <a:xfrm>
            <a:off x="7680960" y="1965960"/>
            <a:ext cx="274320" cy="274320"/>
          </a:xfrm>
          <a:prstGeom prst="rect">
            <a:avLst/>
          </a:prstGeom>
        </p:spPr>
      </p:pic>
      <p:sp>
        <p:nvSpPr>
          <p:cNvPr id="20" name="Text 14"/>
          <p:cNvSpPr txBox="1"/>
          <p:nvPr/>
        </p:nvSpPr>
        <p:spPr>
          <a:xfrm>
            <a:off x="8028432" y="1947672"/>
            <a:ext cx="1344168" cy="329184"/>
          </a:xfrm>
          <a:prstGeom prst="rect">
            <a:avLst/>
          </a:prstGeom>
          <a:noFill/>
          <a:ln/>
        </p:spPr>
        <p:txBody>
          <a:bodyPr wrap="square" lIns="0" tIns="0" rIns="0" bIns="0" rtlCol="0" anchor="ctr"/>
          <a:lstStyle/>
          <a:p>
            <a:pPr indent="0" marL="0">
              <a:buNone/>
            </a:pPr>
            <a:r>
              <a:rPr lang="en-US" sz="1200" b="1" dirty="0">
                <a:solidFill>
                  <a:schemeClr val="tx2"/>
                </a:solidFill>
              </a:rPr>
              <a:t>Alegrías</a:t>
            </a:r>
            <a:endParaRPr lang="en-US" sz="1200" dirty="0"/>
          </a:p>
        </p:txBody>
      </p:sp>
      <p:sp>
        <p:nvSpPr>
          <p:cNvPr id="21" name="Text 15"/>
          <p:cNvSpPr txBox="1"/>
          <p:nvPr/>
        </p:nvSpPr>
        <p:spPr>
          <a:xfrm>
            <a:off x="7680960" y="2350008"/>
            <a:ext cx="1691640" cy="1261872"/>
          </a:xfrm>
          <a:prstGeom prst="rect">
            <a:avLst/>
          </a:prstGeom>
          <a:noFill/>
          <a:ln/>
        </p:spPr>
        <p:txBody>
          <a:bodyPr wrap="square" lIns="0" tIns="0" rIns="0" bIns="0" rtlCol="0" anchor="t"/>
          <a:lstStyle/>
          <a:p>
            <a:pPr marL="127000" indent="-127000">
              <a:spcAft>
                <a:spcPts val="400"/>
              </a:spcAft>
              <a:buSzPct val="100000"/>
              <a:buChar char="•"/>
            </a:pPr>
            <a:r>
              <a:rPr lang="en-US" sz="1200" dirty="0">
                <a:solidFill>
                  <a:schemeClr val="tx1"/>
                </a:solidFill>
              </a:rPr>
              <a:t>Que el niño lo pida</a:t>
            </a:r>
            <a:endParaRPr lang="en-US" sz="1200" dirty="0"/>
          </a:p>
          <a:p>
            <a:pPr marL="127000" indent="-127000">
              <a:spcAft>
                <a:spcPts val="400"/>
              </a:spcAft>
              <a:buSzPct val="100000"/>
              <a:buChar char="•"/>
            </a:pPr>
            <a:r>
              <a:rPr lang="en-US" sz="1200" dirty="0">
                <a:solidFill>
                  <a:schemeClr val="tx1"/>
                </a:solidFill>
              </a:rPr>
              <a:t>Ver el dato, no la promesa</a:t>
            </a:r>
            <a:endParaRPr lang="en-US" sz="1200" dirty="0"/>
          </a:p>
          <a:p>
            <a:pPr marL="127000" indent="-127000">
              <a:spcAft>
                <a:spcPts val="400"/>
              </a:spcAft>
              <a:buSzPct val="100000"/>
              <a:buChar char="•"/>
            </a:pPr>
            <a:r>
              <a:rPr lang="en-US" sz="1200" dirty="0">
                <a:solidFill>
                  <a:schemeClr val="tx1"/>
                </a:solidFill>
              </a:rPr>
              <a:t>Que no pese en el bolsillo</a:t>
            </a:r>
            <a:endParaRPr lang="en-US" sz="1200" dirty="0"/>
          </a:p>
        </p:txBody>
      </p:sp>
      <p:pic>
        <p:nvPicPr>
          <p:cNvPr id="22" name="Image 4" descr="preencoded.png">    </p:cNvPr>
          <p:cNvPicPr>
            <a:picLocks noChangeAspect="1"/>
          </p:cNvPicPr>
          <p:nvPr/>
        </p:nvPicPr>
        <p:blipFill>
          <a:blip r:embed="rId5"/>
          <a:stretch>
            <a:fillRect/>
          </a:stretch>
        </p:blipFill>
        <p:spPr>
          <a:xfrm>
            <a:off x="7680960" y="3813048"/>
            <a:ext cx="274320" cy="274320"/>
          </a:xfrm>
          <a:prstGeom prst="rect">
            <a:avLst/>
          </a:prstGeom>
        </p:spPr>
      </p:pic>
      <p:sp>
        <p:nvSpPr>
          <p:cNvPr id="23" name="Text 16"/>
          <p:cNvSpPr txBox="1"/>
          <p:nvPr/>
        </p:nvSpPr>
        <p:spPr>
          <a:xfrm>
            <a:off x="8028432" y="3794760"/>
            <a:ext cx="1344168" cy="329184"/>
          </a:xfrm>
          <a:prstGeom prst="rect">
            <a:avLst/>
          </a:prstGeom>
          <a:noFill/>
          <a:ln/>
        </p:spPr>
        <p:txBody>
          <a:bodyPr wrap="square" lIns="0" tIns="0" rIns="0" bIns="0" rtlCol="0" anchor="ctr"/>
          <a:lstStyle/>
          <a:p>
            <a:pPr indent="0" marL="0">
              <a:buNone/>
            </a:pPr>
            <a:r>
              <a:rPr lang="en-US" sz="1200" b="1" dirty="0">
                <a:solidFill>
                  <a:schemeClr val="tx2"/>
                </a:solidFill>
              </a:rPr>
              <a:t>Dolores</a:t>
            </a:r>
            <a:endParaRPr lang="en-US" sz="1200" dirty="0"/>
          </a:p>
        </p:txBody>
      </p:sp>
      <p:sp>
        <p:nvSpPr>
          <p:cNvPr id="24" name="Text 17"/>
          <p:cNvSpPr txBox="1"/>
          <p:nvPr/>
        </p:nvSpPr>
        <p:spPr>
          <a:xfrm>
            <a:off x="7680960" y="4197096"/>
            <a:ext cx="1691640" cy="1261872"/>
          </a:xfrm>
          <a:prstGeom prst="rect">
            <a:avLst/>
          </a:prstGeom>
          <a:noFill/>
          <a:ln/>
        </p:spPr>
        <p:txBody>
          <a:bodyPr wrap="square" lIns="0" tIns="0" rIns="0" bIns="0" rtlCol="0" anchor="t"/>
          <a:lstStyle/>
          <a:p>
            <a:pPr marL="127000" indent="-127000">
              <a:spcAft>
                <a:spcPts val="400"/>
              </a:spcAft>
              <a:buSzPct val="100000"/>
              <a:buChar char="•"/>
            </a:pPr>
            <a:r>
              <a:rPr lang="en-US" sz="1200" dirty="0">
                <a:solidFill>
                  <a:schemeClr val="tx1"/>
                </a:solidFill>
              </a:rPr>
              <a:t>Lo sano regresa intacto</a:t>
            </a:r>
            <a:endParaRPr lang="en-US" sz="1200" dirty="0"/>
          </a:p>
          <a:p>
            <a:pPr marL="127000" indent="-127000">
              <a:spcAft>
                <a:spcPts val="400"/>
              </a:spcAft>
              <a:buSzPct val="100000"/>
              <a:buChar char="•"/>
            </a:pPr>
            <a:r>
              <a:rPr lang="en-US" sz="1200" dirty="0">
                <a:solidFill>
                  <a:schemeClr val="tx1"/>
                </a:solidFill>
              </a:rPr>
              <a:t>Octógonos y desconfianza</a:t>
            </a:r>
            <a:endParaRPr lang="en-US" sz="1200" dirty="0"/>
          </a:p>
          <a:p>
            <a:pPr marL="127000" indent="-127000">
              <a:spcAft>
                <a:spcPts val="400"/>
              </a:spcAft>
              <a:buSzPct val="100000"/>
              <a:buChar char="•"/>
            </a:pPr>
            <a:r>
              <a:rPr lang="en-US" sz="1200" dirty="0">
                <a:solidFill>
                  <a:schemeClr val="tx1"/>
                </a:solidFill>
              </a:rPr>
              <a:t>Se acaba la variedad</a:t>
            </a:r>
            <a:endParaRPr lang="en-US" sz="1200" dirty="0"/>
          </a:p>
        </p:txBody>
      </p:sp>
      <p:pic>
        <p:nvPicPr>
          <p:cNvPr id="25" name="Image 5" descr="preencoded.png">    </p:cNvPr>
          <p:cNvPicPr>
            <a:picLocks noChangeAspect="1"/>
          </p:cNvPicPr>
          <p:nvPr/>
        </p:nvPicPr>
        <p:blipFill>
          <a:blip r:embed="rId6"/>
          <a:stretch>
            <a:fillRect/>
          </a:stretch>
        </p:blipFill>
        <p:spPr>
          <a:xfrm>
            <a:off x="9555480" y="2331720"/>
            <a:ext cx="274320" cy="274320"/>
          </a:xfrm>
          <a:prstGeom prst="rect">
            <a:avLst/>
          </a:prstGeom>
        </p:spPr>
      </p:pic>
      <p:sp>
        <p:nvSpPr>
          <p:cNvPr id="26" name="Text 18"/>
          <p:cNvSpPr txBox="1"/>
          <p:nvPr/>
        </p:nvSpPr>
        <p:spPr>
          <a:xfrm>
            <a:off x="9902952" y="2313432"/>
            <a:ext cx="1481328" cy="329184"/>
          </a:xfrm>
          <a:prstGeom prst="rect">
            <a:avLst/>
          </a:prstGeom>
          <a:noFill/>
          <a:ln/>
        </p:spPr>
        <p:txBody>
          <a:bodyPr wrap="square" lIns="0" tIns="0" rIns="0" bIns="0" rtlCol="0" anchor="ctr"/>
          <a:lstStyle/>
          <a:p>
            <a:pPr indent="0" marL="0">
              <a:buNone/>
            </a:pPr>
            <a:r>
              <a:rPr lang="en-US" sz="1200" b="1" dirty="0">
                <a:solidFill>
                  <a:schemeClr val="tx2"/>
                </a:solidFill>
              </a:rPr>
              <a:t>Trabajos del cliente</a:t>
            </a:r>
            <a:endParaRPr lang="en-US" sz="1200" dirty="0"/>
          </a:p>
        </p:txBody>
      </p:sp>
      <p:sp>
        <p:nvSpPr>
          <p:cNvPr id="27" name="Text 19"/>
          <p:cNvSpPr txBox="1"/>
          <p:nvPr/>
        </p:nvSpPr>
        <p:spPr>
          <a:xfrm>
            <a:off x="9555480" y="2715768"/>
            <a:ext cx="1828800" cy="2542032"/>
          </a:xfrm>
          <a:prstGeom prst="rect">
            <a:avLst/>
          </a:prstGeom>
          <a:noFill/>
          <a:ln/>
        </p:spPr>
        <p:txBody>
          <a:bodyPr wrap="square" lIns="0" tIns="0" rIns="0" bIns="0" rtlCol="0" anchor="t"/>
          <a:lstStyle/>
          <a:p>
            <a:pPr marL="127000" indent="-127000">
              <a:spcAft>
                <a:spcPts val="400"/>
              </a:spcAft>
              <a:buSzPct val="100000"/>
              <a:buChar char="•"/>
            </a:pPr>
            <a:r>
              <a:rPr lang="en-US" sz="1200" dirty="0">
                <a:solidFill>
                  <a:schemeClr val="tx1"/>
                </a:solidFill>
              </a:rPr>
              <a:t>Darle hierro sin pelear</a:t>
            </a:r>
            <a:endParaRPr lang="en-US" sz="1200" dirty="0"/>
          </a:p>
          <a:p>
            <a:pPr marL="127000" indent="-127000">
              <a:spcAft>
                <a:spcPts val="400"/>
              </a:spcAft>
              <a:buSzPct val="100000"/>
              <a:buChar char="•"/>
            </a:pPr>
            <a:r>
              <a:rPr lang="en-US" sz="1200" dirty="0">
                <a:solidFill>
                  <a:schemeClr val="tx1"/>
                </a:solidFill>
              </a:rPr>
              <a:t>Lonchera variada en minutos</a:t>
            </a:r>
            <a:endParaRPr lang="en-US" sz="1200" dirty="0"/>
          </a:p>
          <a:p>
            <a:pPr marL="127000" indent="-127000">
              <a:spcAft>
                <a:spcPts val="400"/>
              </a:spcAft>
              <a:buSzPct val="100000"/>
              <a:buChar char="•"/>
            </a:pPr>
            <a:r>
              <a:rPr lang="en-US" sz="1200" dirty="0">
                <a:solidFill>
                  <a:schemeClr val="tx1"/>
                </a:solidFill>
              </a:rPr>
              <a:t>Cumplir la lonchera del colegio</a:t>
            </a:r>
            <a:endParaRPr lang="en-US" sz="1200" dirty="0"/>
          </a:p>
          <a:p>
            <a:pPr marL="127000" indent="-127000">
              <a:spcAft>
                <a:spcPts val="400"/>
              </a:spcAft>
              <a:buSzPct val="100000"/>
              <a:buChar char="•"/>
            </a:pPr>
            <a:r>
              <a:rPr lang="en-US" sz="1200" dirty="0">
                <a:solidFill>
                  <a:schemeClr val="tx1"/>
                </a:solidFill>
              </a:rPr>
              <a:t>Sentirse buen padre o madre</a:t>
            </a:r>
            <a:endParaRPr lang="en-US" sz="1200" dirty="0"/>
          </a:p>
        </p:txBody>
      </p:sp>
      <p:sp>
        <p:nvSpPr>
          <p:cNvPr id="28" name="Shape 20"/>
          <p:cNvSpPr/>
          <p:nvPr/>
        </p:nvSpPr>
        <p:spPr>
          <a:xfrm>
            <a:off x="5349240" y="3401568"/>
            <a:ext cx="1600200" cy="603504"/>
          </a:xfrm>
          <a:prstGeom prst="leftRightArrow">
            <a:avLst/>
          </a:prstGeom>
          <a:solidFill>
            <a:schemeClr val="accent3"/>
          </a:solidFill>
          <a:ln w="12700">
            <a:solidFill>
              <a:schemeClr val="accent3"/>
            </a:solidFill>
            <a:prstDash val="solid"/>
          </a:ln>
        </p:spPr>
      </p:sp>
      <p:sp>
        <p:nvSpPr>
          <p:cNvPr id="29" name="Text 21"/>
          <p:cNvSpPr txBox="1"/>
          <p:nvPr/>
        </p:nvSpPr>
        <p:spPr>
          <a:xfrm>
            <a:off x="5349240" y="3401568"/>
            <a:ext cx="1600200" cy="603504"/>
          </a:xfrm>
          <a:prstGeom prst="rect">
            <a:avLst/>
          </a:prstGeom>
          <a:noFill/>
          <a:ln/>
        </p:spPr>
        <p:txBody>
          <a:bodyPr wrap="square" lIns="0" tIns="0" rIns="0" bIns="0" rtlCol="0" anchor="ctr"/>
          <a:lstStyle/>
          <a:p>
            <a:pPr algn="ctr" indent="0" marL="0">
              <a:buNone/>
            </a:pPr>
            <a:r>
              <a:rPr lang="en-US" sz="1400" b="1" dirty="0">
                <a:solidFill>
                  <a:schemeClr val="tx1"/>
                </a:solidFill>
              </a:rPr>
              <a:t>Encaje</a:t>
            </a:r>
            <a:endParaRPr lang="en-US" sz="1400" dirty="0"/>
          </a:p>
        </p:txBody>
      </p:sp>
      <p:sp>
        <p:nvSpPr>
          <p:cNvPr id="30" name="Text 22"/>
          <p:cNvSpPr txBox="1"/>
          <p:nvPr/>
        </p:nvSpPr>
        <p:spPr>
          <a:xfrm>
            <a:off x="640080" y="6053328"/>
            <a:ext cx="4480560" cy="274320"/>
          </a:xfrm>
          <a:prstGeom prst="rect">
            <a:avLst/>
          </a:prstGeom>
          <a:noFill/>
          <a:ln/>
        </p:spPr>
        <p:txBody>
          <a:bodyPr wrap="square" lIns="0" tIns="0" rIns="0" bIns="0" rtlCol="0" anchor="t"/>
          <a:lstStyle/>
          <a:p>
            <a:pPr algn="ctr" indent="0" marL="0">
              <a:buNone/>
            </a:pPr>
            <a:r>
              <a:rPr lang="en-US" sz="1100" b="1" spc="100" kern="0" dirty="0">
                <a:solidFill>
                  <a:schemeClr val="accent2"/>
                </a:solidFill>
              </a:rPr>
              <a:t>MAPA DE VALOR · ANDIBITE</a:t>
            </a:r>
            <a:endParaRPr lang="en-US" sz="1100" dirty="0"/>
          </a:p>
        </p:txBody>
      </p:sp>
      <p:sp>
        <p:nvSpPr>
          <p:cNvPr id="31" name="Text 23"/>
          <p:cNvSpPr txBox="1"/>
          <p:nvPr/>
        </p:nvSpPr>
        <p:spPr>
          <a:xfrm>
            <a:off x="7178040" y="6053328"/>
            <a:ext cx="4480560" cy="274320"/>
          </a:xfrm>
          <a:prstGeom prst="rect">
            <a:avLst/>
          </a:prstGeom>
          <a:noFill/>
          <a:ln/>
        </p:spPr>
        <p:txBody>
          <a:bodyPr wrap="square" lIns="0" tIns="0" rIns="0" bIns="0" rtlCol="0" anchor="t"/>
          <a:lstStyle/>
          <a:p>
            <a:pPr algn="ctr" indent="0" marL="0">
              <a:buNone/>
            </a:pPr>
            <a:r>
              <a:rPr lang="en-US" sz="1100" b="1" spc="100" kern="0" dirty="0">
                <a:solidFill>
                  <a:schemeClr val="accent1"/>
                </a:solidFill>
              </a:rPr>
              <a:t>PERFIL DEL CLIENTE · CLAUDIA Y RODRIGO</a:t>
            </a:r>
            <a:endParaRPr lang="en-US" sz="1100" dirty="0"/>
          </a:p>
        </p:txBody>
      </p:sp>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TRABAJO DE CAMPO 8 · ENCAJE</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Cada dolor tiene su aliviador</a:t>
            </a:r>
            <a:endParaRPr lang="en-US" sz="3400" dirty="0"/>
          </a:p>
        </p:txBody>
      </p:sp>
      <p:sp>
        <p:nvSpPr>
          <p:cNvPr id="4" name="Text 2"/>
          <p:cNvSpPr txBox="1"/>
          <p:nvPr/>
        </p:nvSpPr>
        <p:spPr>
          <a:xfrm>
            <a:off x="548640" y="1463040"/>
            <a:ext cx="3657600" cy="274320"/>
          </a:xfrm>
          <a:prstGeom prst="rect">
            <a:avLst/>
          </a:prstGeom>
          <a:noFill/>
          <a:ln/>
        </p:spPr>
        <p:txBody>
          <a:bodyPr wrap="square" lIns="0" tIns="0" rIns="0" bIns="0" rtlCol="0" anchor="t"/>
          <a:lstStyle/>
          <a:p>
            <a:pPr indent="0" marL="0">
              <a:buNone/>
            </a:pPr>
            <a:r>
              <a:rPr lang="en-US" sz="1200" b="1" spc="100" kern="0" dirty="0">
                <a:solidFill>
                  <a:schemeClr val="accent6"/>
                </a:solidFill>
              </a:rPr>
              <a:t>DOLOR DEL CLIENTE</a:t>
            </a:r>
            <a:endParaRPr lang="en-US" sz="1200" dirty="0"/>
          </a:p>
        </p:txBody>
      </p:sp>
      <p:sp>
        <p:nvSpPr>
          <p:cNvPr id="5" name="Text 3"/>
          <p:cNvSpPr txBox="1"/>
          <p:nvPr/>
        </p:nvSpPr>
        <p:spPr>
          <a:xfrm>
            <a:off x="6217920" y="1463040"/>
            <a:ext cx="3657600" cy="274320"/>
          </a:xfrm>
          <a:prstGeom prst="rect">
            <a:avLst/>
          </a:prstGeom>
          <a:noFill/>
          <a:ln/>
        </p:spPr>
        <p:txBody>
          <a:bodyPr wrap="square" lIns="0" tIns="0" rIns="0" bIns="0" rtlCol="0" anchor="t"/>
          <a:lstStyle/>
          <a:p>
            <a:pPr indent="0" marL="0">
              <a:buNone/>
            </a:pPr>
            <a:r>
              <a:rPr lang="en-US" sz="1200" b="1" spc="100" kern="0" dirty="0">
                <a:solidFill>
                  <a:schemeClr val="tx2"/>
                </a:solidFill>
              </a:rPr>
              <a:t>ALIVIADOR ANDIBITE</a:t>
            </a:r>
            <a:endParaRPr lang="en-US" sz="1200" dirty="0"/>
          </a:p>
        </p:txBody>
      </p:sp>
      <p:sp>
        <p:nvSpPr>
          <p:cNvPr id="6" name="Text 4"/>
          <p:cNvSpPr txBox="1"/>
          <p:nvPr/>
        </p:nvSpPr>
        <p:spPr>
          <a:xfrm>
            <a:off x="10012680" y="1463040"/>
            <a:ext cx="1627632" cy="274320"/>
          </a:xfrm>
          <a:prstGeom prst="rect">
            <a:avLst/>
          </a:prstGeom>
          <a:noFill/>
          <a:ln/>
        </p:spPr>
        <p:txBody>
          <a:bodyPr wrap="square" lIns="0" tIns="0" rIns="0" bIns="0" rtlCol="0" anchor="t"/>
          <a:lstStyle/>
          <a:p>
            <a:pPr indent="0" marL="0">
              <a:buNone/>
            </a:pPr>
            <a:r>
              <a:rPr lang="en-US" sz="1200" b="1" spc="100" kern="0" dirty="0">
                <a:solidFill>
                  <a:schemeClr val="accent2"/>
                </a:solidFill>
              </a:rPr>
              <a:t>EVIDENCIA</a:t>
            </a:r>
            <a:endParaRPr lang="en-US" sz="1200" dirty="0"/>
          </a:p>
        </p:txBody>
      </p:sp>
      <p:sp>
        <p:nvSpPr>
          <p:cNvPr id="7" name="Shape 5"/>
          <p:cNvSpPr/>
          <p:nvPr/>
        </p:nvSpPr>
        <p:spPr>
          <a:xfrm>
            <a:off x="548640" y="1828800"/>
            <a:ext cx="4572000" cy="713232"/>
          </a:xfrm>
          <a:prstGeom prst="roundRect">
            <a:avLst>
              <a:gd name="adj" fmla="val 50000"/>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8" name="Shape 6"/>
          <p:cNvSpPr/>
          <p:nvPr/>
        </p:nvSpPr>
        <p:spPr>
          <a:xfrm>
            <a:off x="658368" y="1956816"/>
            <a:ext cx="457200" cy="457200"/>
          </a:xfrm>
          <a:prstGeom prst="ellipse">
            <a:avLst/>
          </a:prstGeom>
          <a:solidFill>
            <a:schemeClr val="accent6"/>
          </a:solidFill>
          <a:ln w="12700">
            <a:solidFill>
              <a:schemeClr val="accent6"/>
            </a:solidFill>
            <a:prstDash val="solid"/>
          </a:ln>
        </p:spPr>
      </p:sp>
      <p:pic>
        <p:nvPicPr>
          <p:cNvPr id="9" name="Image 0" descr="preencoded.png">    </p:cNvPr>
          <p:cNvPicPr>
            <a:picLocks noChangeAspect="1"/>
          </p:cNvPicPr>
          <p:nvPr/>
        </p:nvPicPr>
        <p:blipFill>
          <a:blip r:embed="rId1"/>
          <a:stretch>
            <a:fillRect/>
          </a:stretch>
        </p:blipFill>
        <p:spPr>
          <a:xfrm>
            <a:off x="758952" y="2057400"/>
            <a:ext cx="256032" cy="256032"/>
          </a:xfrm>
          <a:prstGeom prst="rect">
            <a:avLst/>
          </a:prstGeom>
        </p:spPr>
      </p:pic>
      <p:sp>
        <p:nvSpPr>
          <p:cNvPr id="10" name="Text 7"/>
          <p:cNvSpPr txBox="1"/>
          <p:nvPr/>
        </p:nvSpPr>
        <p:spPr>
          <a:xfrm>
            <a:off x="1234440" y="1828800"/>
            <a:ext cx="3794760" cy="713232"/>
          </a:xfrm>
          <a:prstGeom prst="rect">
            <a:avLst/>
          </a:prstGeom>
          <a:noFill/>
          <a:ln/>
        </p:spPr>
        <p:txBody>
          <a:bodyPr wrap="square" lIns="0" tIns="0" rIns="0" bIns="0" rtlCol="0" anchor="ctr"/>
          <a:lstStyle/>
          <a:p>
            <a:pPr indent="0" marL="0">
              <a:buNone/>
            </a:pPr>
            <a:r>
              <a:rPr lang="en-US" sz="1500" dirty="0">
                <a:solidFill>
                  <a:schemeClr val="tx1"/>
                </a:solidFill>
              </a:rPr>
              <a:t>Lo saludable regresa intacto</a:t>
            </a:r>
            <a:endParaRPr lang="en-US" sz="1500" dirty="0"/>
          </a:p>
        </p:txBody>
      </p:sp>
      <p:sp>
        <p:nvSpPr>
          <p:cNvPr id="11" name="Shape 8"/>
          <p:cNvSpPr/>
          <p:nvPr/>
        </p:nvSpPr>
        <p:spPr>
          <a:xfrm>
            <a:off x="5285232" y="2011680"/>
            <a:ext cx="777240" cy="347472"/>
          </a:xfrm>
          <a:prstGeom prst="rightArrow">
            <a:avLst/>
          </a:prstGeom>
          <a:solidFill>
            <a:schemeClr val="accent3"/>
          </a:solidFill>
          <a:ln w="12700">
            <a:solidFill>
              <a:schemeClr val="accent3"/>
            </a:solidFill>
            <a:prstDash val="solid"/>
          </a:ln>
        </p:spPr>
      </p:sp>
      <p:sp>
        <p:nvSpPr>
          <p:cNvPr id="12" name="Shape 9"/>
          <p:cNvSpPr/>
          <p:nvPr/>
        </p:nvSpPr>
        <p:spPr>
          <a:xfrm>
            <a:off x="6217920" y="1828800"/>
            <a:ext cx="3657600" cy="713232"/>
          </a:xfrm>
          <a:prstGeom prst="roundRect">
            <a:avLst>
              <a:gd name="adj" fmla="val 50000"/>
            </a:avLst>
          </a:prstGeom>
          <a:solidFill>
            <a:schemeClr val="tx2"/>
          </a:solidFill>
          <a:ln w="12700">
            <a:solidFill>
              <a:schemeClr val="tx2"/>
            </a:solidFill>
            <a:prstDash val="solid"/>
          </a:ln>
        </p:spPr>
      </p:sp>
      <p:sp>
        <p:nvSpPr>
          <p:cNvPr id="13" name="Shape 10"/>
          <p:cNvSpPr/>
          <p:nvPr/>
        </p:nvSpPr>
        <p:spPr>
          <a:xfrm>
            <a:off x="6327648" y="1956816"/>
            <a:ext cx="457200" cy="457200"/>
          </a:xfrm>
          <a:prstGeom prst="ellipse">
            <a:avLst/>
          </a:prstGeom>
          <a:solidFill>
            <a:schemeClr val="accent4"/>
          </a:solidFill>
          <a:ln w="12700">
            <a:solidFill>
              <a:schemeClr val="accent4"/>
            </a:solidFill>
            <a:prstDash val="solid"/>
          </a:ln>
        </p:spPr>
      </p:sp>
      <p:pic>
        <p:nvPicPr>
          <p:cNvPr id="14" name="Image 1" descr="preencoded.png">    </p:cNvPr>
          <p:cNvPicPr>
            <a:picLocks noChangeAspect="1"/>
          </p:cNvPicPr>
          <p:nvPr/>
        </p:nvPicPr>
        <p:blipFill>
          <a:blip r:embed="rId2"/>
          <a:stretch>
            <a:fillRect/>
          </a:stretch>
        </p:blipFill>
        <p:spPr>
          <a:xfrm>
            <a:off x="6428232" y="2057400"/>
            <a:ext cx="256032" cy="256032"/>
          </a:xfrm>
          <a:prstGeom prst="rect">
            <a:avLst/>
          </a:prstGeom>
        </p:spPr>
      </p:pic>
      <p:sp>
        <p:nvSpPr>
          <p:cNvPr id="15" name="Text 11"/>
          <p:cNvSpPr txBox="1"/>
          <p:nvPr/>
        </p:nvSpPr>
        <p:spPr>
          <a:xfrm>
            <a:off x="6903720" y="1828800"/>
            <a:ext cx="2926080" cy="713232"/>
          </a:xfrm>
          <a:prstGeom prst="rect">
            <a:avLst/>
          </a:prstGeom>
          <a:noFill/>
          <a:ln/>
        </p:spPr>
        <p:txBody>
          <a:bodyPr wrap="square" lIns="0" tIns="0" rIns="0" bIns="0" rtlCol="0" anchor="ctr"/>
          <a:lstStyle/>
          <a:p>
            <a:pPr indent="0" marL="0">
              <a:buNone/>
            </a:pPr>
            <a:r>
              <a:rPr lang="en-US" sz="1500" b="1" dirty="0">
                <a:solidFill>
                  <a:schemeClr val="bg1"/>
                </a:solidFill>
              </a:rPr>
              <a:t>Cacao y canela esconden la sangrecita</a:t>
            </a:r>
            <a:endParaRPr lang="en-US" sz="1500" dirty="0"/>
          </a:p>
        </p:txBody>
      </p:sp>
      <p:sp>
        <p:nvSpPr>
          <p:cNvPr id="16" name="Text 12"/>
          <p:cNvSpPr txBox="1"/>
          <p:nvPr/>
        </p:nvSpPr>
        <p:spPr>
          <a:xfrm>
            <a:off x="10012680" y="1828800"/>
            <a:ext cx="1627632" cy="713232"/>
          </a:xfrm>
          <a:prstGeom prst="rect">
            <a:avLst/>
          </a:prstGeom>
          <a:noFill/>
          <a:ln/>
        </p:spPr>
        <p:txBody>
          <a:bodyPr wrap="square" lIns="0" tIns="0" rIns="0" bIns="0" rtlCol="0" anchor="ctr"/>
          <a:lstStyle/>
          <a:p>
            <a:pPr indent="0" marL="0">
              <a:buNone/>
            </a:pPr>
            <a:r>
              <a:rPr lang="en-US" sz="1200" i="1" dirty="0">
                <a:solidFill>
                  <a:schemeClr val="accent2"/>
                </a:solidFill>
              </a:rPr>
              <a:t>Entrevistas y focus 1</a:t>
            </a:r>
            <a:endParaRPr lang="en-US" sz="1200" dirty="0"/>
          </a:p>
        </p:txBody>
      </p:sp>
      <p:sp>
        <p:nvSpPr>
          <p:cNvPr id="17" name="Shape 13"/>
          <p:cNvSpPr/>
          <p:nvPr/>
        </p:nvSpPr>
        <p:spPr>
          <a:xfrm>
            <a:off x="548640" y="2679192"/>
            <a:ext cx="4572000" cy="713232"/>
          </a:xfrm>
          <a:prstGeom prst="roundRect">
            <a:avLst>
              <a:gd name="adj" fmla="val 50000"/>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18" name="Shape 14"/>
          <p:cNvSpPr/>
          <p:nvPr/>
        </p:nvSpPr>
        <p:spPr>
          <a:xfrm>
            <a:off x="658368" y="2807208"/>
            <a:ext cx="457200" cy="457200"/>
          </a:xfrm>
          <a:prstGeom prst="ellipse">
            <a:avLst/>
          </a:prstGeom>
          <a:solidFill>
            <a:schemeClr val="accent6"/>
          </a:solidFill>
          <a:ln w="12700">
            <a:solidFill>
              <a:schemeClr val="accent6"/>
            </a:solidFill>
            <a:prstDash val="solid"/>
          </a:ln>
        </p:spPr>
      </p:sp>
      <p:pic>
        <p:nvPicPr>
          <p:cNvPr id="19" name="Image 2" descr="preencoded.png">    </p:cNvPr>
          <p:cNvPicPr>
            <a:picLocks noChangeAspect="1"/>
          </p:cNvPicPr>
          <p:nvPr/>
        </p:nvPicPr>
        <p:blipFill>
          <a:blip r:embed="rId3"/>
          <a:stretch>
            <a:fillRect/>
          </a:stretch>
        </p:blipFill>
        <p:spPr>
          <a:xfrm>
            <a:off x="758952" y="2907792"/>
            <a:ext cx="256032" cy="256032"/>
          </a:xfrm>
          <a:prstGeom prst="rect">
            <a:avLst/>
          </a:prstGeom>
        </p:spPr>
      </p:pic>
      <p:sp>
        <p:nvSpPr>
          <p:cNvPr id="20" name="Text 15"/>
          <p:cNvSpPr txBox="1"/>
          <p:nvPr/>
        </p:nvSpPr>
        <p:spPr>
          <a:xfrm>
            <a:off x="1234440" y="2679192"/>
            <a:ext cx="3794760" cy="713232"/>
          </a:xfrm>
          <a:prstGeom prst="rect">
            <a:avLst/>
          </a:prstGeom>
          <a:noFill/>
          <a:ln/>
        </p:spPr>
        <p:txBody>
          <a:bodyPr wrap="square" lIns="0" tIns="0" rIns="0" bIns="0" rtlCol="0" anchor="ctr"/>
          <a:lstStyle/>
          <a:p>
            <a:pPr indent="0" marL="0">
              <a:buNone/>
            </a:pPr>
            <a:r>
              <a:rPr lang="en-US" sz="1500" dirty="0">
                <a:solidFill>
                  <a:schemeClr val="tx1"/>
                </a:solidFill>
              </a:rPr>
              <a:t>El octógono contradice lo saludable</a:t>
            </a:r>
            <a:endParaRPr lang="en-US" sz="1500" dirty="0"/>
          </a:p>
        </p:txBody>
      </p:sp>
      <p:sp>
        <p:nvSpPr>
          <p:cNvPr id="21" name="Shape 16"/>
          <p:cNvSpPr/>
          <p:nvPr/>
        </p:nvSpPr>
        <p:spPr>
          <a:xfrm>
            <a:off x="5285232" y="2862072"/>
            <a:ext cx="777240" cy="347472"/>
          </a:xfrm>
          <a:prstGeom prst="rightArrow">
            <a:avLst/>
          </a:prstGeom>
          <a:solidFill>
            <a:schemeClr val="accent3"/>
          </a:solidFill>
          <a:ln w="12700">
            <a:solidFill>
              <a:schemeClr val="accent3"/>
            </a:solidFill>
            <a:prstDash val="solid"/>
          </a:ln>
        </p:spPr>
      </p:sp>
      <p:sp>
        <p:nvSpPr>
          <p:cNvPr id="22" name="Shape 17"/>
          <p:cNvSpPr/>
          <p:nvPr/>
        </p:nvSpPr>
        <p:spPr>
          <a:xfrm>
            <a:off x="6217920" y="2679192"/>
            <a:ext cx="3657600" cy="713232"/>
          </a:xfrm>
          <a:prstGeom prst="roundRect">
            <a:avLst>
              <a:gd name="adj" fmla="val 50000"/>
            </a:avLst>
          </a:prstGeom>
          <a:solidFill>
            <a:schemeClr val="tx2"/>
          </a:solidFill>
          <a:ln w="12700">
            <a:solidFill>
              <a:schemeClr val="tx2"/>
            </a:solidFill>
            <a:prstDash val="solid"/>
          </a:ln>
        </p:spPr>
      </p:sp>
      <p:sp>
        <p:nvSpPr>
          <p:cNvPr id="23" name="Shape 18"/>
          <p:cNvSpPr/>
          <p:nvPr/>
        </p:nvSpPr>
        <p:spPr>
          <a:xfrm>
            <a:off x="6327648" y="2807208"/>
            <a:ext cx="457200" cy="457200"/>
          </a:xfrm>
          <a:prstGeom prst="ellipse">
            <a:avLst/>
          </a:prstGeom>
          <a:solidFill>
            <a:schemeClr val="accent4"/>
          </a:solidFill>
          <a:ln w="12700">
            <a:solidFill>
              <a:schemeClr val="accent4"/>
            </a:solidFill>
            <a:prstDash val="solid"/>
          </a:ln>
        </p:spPr>
      </p:sp>
      <p:pic>
        <p:nvPicPr>
          <p:cNvPr id="24" name="Image 3" descr="preencoded.png">    </p:cNvPr>
          <p:cNvPicPr>
            <a:picLocks noChangeAspect="1"/>
          </p:cNvPicPr>
          <p:nvPr/>
        </p:nvPicPr>
        <p:blipFill>
          <a:blip r:embed="rId4"/>
          <a:stretch>
            <a:fillRect/>
          </a:stretch>
        </p:blipFill>
        <p:spPr>
          <a:xfrm>
            <a:off x="6428232" y="2907792"/>
            <a:ext cx="256032" cy="256032"/>
          </a:xfrm>
          <a:prstGeom prst="rect">
            <a:avLst/>
          </a:prstGeom>
        </p:spPr>
      </p:pic>
      <p:sp>
        <p:nvSpPr>
          <p:cNvPr id="25" name="Text 19"/>
          <p:cNvSpPr txBox="1"/>
          <p:nvPr/>
        </p:nvSpPr>
        <p:spPr>
          <a:xfrm>
            <a:off x="6903720" y="2679192"/>
            <a:ext cx="2926080" cy="713232"/>
          </a:xfrm>
          <a:prstGeom prst="rect">
            <a:avLst/>
          </a:prstGeom>
          <a:noFill/>
          <a:ln/>
        </p:spPr>
        <p:txBody>
          <a:bodyPr wrap="square" lIns="0" tIns="0" rIns="0" bIns="0" rtlCol="0" anchor="ctr"/>
          <a:lstStyle/>
          <a:p>
            <a:pPr indent="0" marL="0">
              <a:buNone/>
            </a:pPr>
            <a:r>
              <a:rPr lang="en-US" sz="1500" b="1" dirty="0">
                <a:solidFill>
                  <a:schemeClr val="bg1"/>
                </a:solidFill>
              </a:rPr>
              <a:t>Sin octógono: menos de 10 g de azúcar</a:t>
            </a:r>
            <a:endParaRPr lang="en-US" sz="1500" dirty="0"/>
          </a:p>
        </p:txBody>
      </p:sp>
      <p:sp>
        <p:nvSpPr>
          <p:cNvPr id="26" name="Text 20"/>
          <p:cNvSpPr txBox="1"/>
          <p:nvPr/>
        </p:nvSpPr>
        <p:spPr>
          <a:xfrm>
            <a:off x="10012680" y="2679192"/>
            <a:ext cx="1627632" cy="713232"/>
          </a:xfrm>
          <a:prstGeom prst="rect">
            <a:avLst/>
          </a:prstGeom>
          <a:noFill/>
          <a:ln/>
        </p:spPr>
        <p:txBody>
          <a:bodyPr wrap="square" lIns="0" tIns="0" rIns="0" bIns="0" rtlCol="0" anchor="ctr"/>
          <a:lstStyle/>
          <a:p>
            <a:pPr indent="0" marL="0">
              <a:buNone/>
            </a:pPr>
            <a:r>
              <a:rPr lang="en-US" sz="1200" i="1" dirty="0">
                <a:solidFill>
                  <a:schemeClr val="accent2"/>
                </a:solidFill>
              </a:rPr>
              <a:t>83 % · Ipsos 2025</a:t>
            </a:r>
            <a:endParaRPr lang="en-US" sz="1200" dirty="0"/>
          </a:p>
        </p:txBody>
      </p:sp>
      <p:sp>
        <p:nvSpPr>
          <p:cNvPr id="27" name="Shape 21"/>
          <p:cNvSpPr/>
          <p:nvPr/>
        </p:nvSpPr>
        <p:spPr>
          <a:xfrm>
            <a:off x="548640" y="3529584"/>
            <a:ext cx="4572000" cy="713232"/>
          </a:xfrm>
          <a:prstGeom prst="roundRect">
            <a:avLst>
              <a:gd name="adj" fmla="val 50000"/>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28" name="Shape 22"/>
          <p:cNvSpPr/>
          <p:nvPr/>
        </p:nvSpPr>
        <p:spPr>
          <a:xfrm>
            <a:off x="658368" y="3657600"/>
            <a:ext cx="457200" cy="457200"/>
          </a:xfrm>
          <a:prstGeom prst="ellipse">
            <a:avLst/>
          </a:prstGeom>
          <a:solidFill>
            <a:schemeClr val="accent6"/>
          </a:solidFill>
          <a:ln w="12700">
            <a:solidFill>
              <a:schemeClr val="accent6"/>
            </a:solidFill>
            <a:prstDash val="solid"/>
          </a:ln>
        </p:spPr>
      </p:sp>
      <p:pic>
        <p:nvPicPr>
          <p:cNvPr id="29" name="Image 4" descr="preencoded.png">    </p:cNvPr>
          <p:cNvPicPr>
            <a:picLocks noChangeAspect="1"/>
          </p:cNvPicPr>
          <p:nvPr/>
        </p:nvPicPr>
        <p:blipFill>
          <a:blip r:embed="rId5"/>
          <a:stretch>
            <a:fillRect/>
          </a:stretch>
        </p:blipFill>
        <p:spPr>
          <a:xfrm>
            <a:off x="758952" y="3758184"/>
            <a:ext cx="256032" cy="256032"/>
          </a:xfrm>
          <a:prstGeom prst="rect">
            <a:avLst/>
          </a:prstGeom>
        </p:spPr>
      </p:pic>
      <p:sp>
        <p:nvSpPr>
          <p:cNvPr id="30" name="Text 23"/>
          <p:cNvSpPr txBox="1"/>
          <p:nvPr/>
        </p:nvSpPr>
        <p:spPr>
          <a:xfrm>
            <a:off x="1234440" y="3529584"/>
            <a:ext cx="3794760" cy="713232"/>
          </a:xfrm>
          <a:prstGeom prst="rect">
            <a:avLst/>
          </a:prstGeom>
          <a:noFill/>
          <a:ln/>
        </p:spPr>
        <p:txBody>
          <a:bodyPr wrap="square" lIns="0" tIns="0" rIns="0" bIns="0" rtlCol="0" anchor="ctr"/>
          <a:lstStyle/>
          <a:p>
            <a:pPr indent="0" marL="0">
              <a:buNone/>
            </a:pPr>
            <a:r>
              <a:rPr lang="en-US" sz="1500" dirty="0">
                <a:solidFill>
                  <a:schemeClr val="tx1"/>
                </a:solidFill>
              </a:rPr>
              <a:t>No confío en lo envasado</a:t>
            </a:r>
            <a:endParaRPr lang="en-US" sz="1500" dirty="0"/>
          </a:p>
        </p:txBody>
      </p:sp>
      <p:sp>
        <p:nvSpPr>
          <p:cNvPr id="31" name="Shape 24"/>
          <p:cNvSpPr/>
          <p:nvPr/>
        </p:nvSpPr>
        <p:spPr>
          <a:xfrm>
            <a:off x="5285232" y="3712464"/>
            <a:ext cx="777240" cy="347472"/>
          </a:xfrm>
          <a:prstGeom prst="rightArrow">
            <a:avLst/>
          </a:prstGeom>
          <a:solidFill>
            <a:schemeClr val="accent3"/>
          </a:solidFill>
          <a:ln w="12700">
            <a:solidFill>
              <a:schemeClr val="accent3"/>
            </a:solidFill>
            <a:prstDash val="solid"/>
          </a:ln>
        </p:spPr>
      </p:sp>
      <p:sp>
        <p:nvSpPr>
          <p:cNvPr id="32" name="Shape 25"/>
          <p:cNvSpPr/>
          <p:nvPr/>
        </p:nvSpPr>
        <p:spPr>
          <a:xfrm>
            <a:off x="6217920" y="3529584"/>
            <a:ext cx="3657600" cy="713232"/>
          </a:xfrm>
          <a:prstGeom prst="roundRect">
            <a:avLst>
              <a:gd name="adj" fmla="val 50000"/>
            </a:avLst>
          </a:prstGeom>
          <a:solidFill>
            <a:schemeClr val="tx2"/>
          </a:solidFill>
          <a:ln w="12700">
            <a:solidFill>
              <a:schemeClr val="tx2"/>
            </a:solidFill>
            <a:prstDash val="solid"/>
          </a:ln>
        </p:spPr>
      </p:sp>
      <p:sp>
        <p:nvSpPr>
          <p:cNvPr id="33" name="Shape 26"/>
          <p:cNvSpPr/>
          <p:nvPr/>
        </p:nvSpPr>
        <p:spPr>
          <a:xfrm>
            <a:off x="6327648" y="3657600"/>
            <a:ext cx="457200" cy="457200"/>
          </a:xfrm>
          <a:prstGeom prst="ellipse">
            <a:avLst/>
          </a:prstGeom>
          <a:solidFill>
            <a:schemeClr val="accent4"/>
          </a:solidFill>
          <a:ln w="12700">
            <a:solidFill>
              <a:schemeClr val="accent4"/>
            </a:solidFill>
            <a:prstDash val="solid"/>
          </a:ln>
        </p:spPr>
      </p:sp>
      <p:pic>
        <p:nvPicPr>
          <p:cNvPr id="34" name="Image 5" descr="preencoded.png">    </p:cNvPr>
          <p:cNvPicPr>
            <a:picLocks noChangeAspect="1"/>
          </p:cNvPicPr>
          <p:nvPr/>
        </p:nvPicPr>
        <p:blipFill>
          <a:blip r:embed="rId6"/>
          <a:stretch>
            <a:fillRect/>
          </a:stretch>
        </p:blipFill>
        <p:spPr>
          <a:xfrm>
            <a:off x="6428232" y="3758184"/>
            <a:ext cx="256032" cy="256032"/>
          </a:xfrm>
          <a:prstGeom prst="rect">
            <a:avLst/>
          </a:prstGeom>
        </p:spPr>
      </p:pic>
      <p:sp>
        <p:nvSpPr>
          <p:cNvPr id="35" name="Text 27"/>
          <p:cNvSpPr txBox="1"/>
          <p:nvPr/>
        </p:nvSpPr>
        <p:spPr>
          <a:xfrm>
            <a:off x="6903720" y="3529584"/>
            <a:ext cx="2926080" cy="713232"/>
          </a:xfrm>
          <a:prstGeom prst="rect">
            <a:avLst/>
          </a:prstGeom>
          <a:noFill/>
          <a:ln/>
        </p:spPr>
        <p:txBody>
          <a:bodyPr wrap="square" lIns="0" tIns="0" rIns="0" bIns="0" rtlCol="0" anchor="ctr"/>
          <a:lstStyle/>
          <a:p>
            <a:pPr indent="0" marL="0">
              <a:buNone/>
            </a:pPr>
            <a:r>
              <a:rPr lang="en-US" sz="1500" b="1" dirty="0">
                <a:solidFill>
                  <a:schemeClr val="bg1"/>
                </a:solidFill>
              </a:rPr>
              <a:t>Hierro en mg y QR al laboratorio</a:t>
            </a:r>
            <a:endParaRPr lang="en-US" sz="1500" dirty="0"/>
          </a:p>
        </p:txBody>
      </p:sp>
      <p:sp>
        <p:nvSpPr>
          <p:cNvPr id="36" name="Text 28"/>
          <p:cNvSpPr txBox="1"/>
          <p:nvPr/>
        </p:nvSpPr>
        <p:spPr>
          <a:xfrm>
            <a:off x="10012680" y="3529584"/>
            <a:ext cx="1627632" cy="713232"/>
          </a:xfrm>
          <a:prstGeom prst="rect">
            <a:avLst/>
          </a:prstGeom>
          <a:noFill/>
          <a:ln/>
        </p:spPr>
        <p:txBody>
          <a:bodyPr wrap="square" lIns="0" tIns="0" rIns="0" bIns="0" rtlCol="0" anchor="ctr"/>
          <a:lstStyle/>
          <a:p>
            <a:pPr indent="0" marL="0">
              <a:buNone/>
            </a:pPr>
            <a:r>
              <a:rPr lang="en-US" sz="1200" i="1" dirty="0">
                <a:solidFill>
                  <a:schemeClr val="accent2"/>
                </a:solidFill>
              </a:rPr>
              <a:t>42 % · Kantar 2025</a:t>
            </a:r>
            <a:endParaRPr lang="en-US" sz="1200" dirty="0"/>
          </a:p>
        </p:txBody>
      </p:sp>
      <p:sp>
        <p:nvSpPr>
          <p:cNvPr id="37" name="Shape 29"/>
          <p:cNvSpPr/>
          <p:nvPr/>
        </p:nvSpPr>
        <p:spPr>
          <a:xfrm>
            <a:off x="548640" y="4379976"/>
            <a:ext cx="4572000" cy="713232"/>
          </a:xfrm>
          <a:prstGeom prst="roundRect">
            <a:avLst>
              <a:gd name="adj" fmla="val 50000"/>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38" name="Shape 30"/>
          <p:cNvSpPr/>
          <p:nvPr/>
        </p:nvSpPr>
        <p:spPr>
          <a:xfrm>
            <a:off x="658368" y="4507992"/>
            <a:ext cx="457200" cy="457200"/>
          </a:xfrm>
          <a:prstGeom prst="ellipse">
            <a:avLst/>
          </a:prstGeom>
          <a:solidFill>
            <a:schemeClr val="accent6"/>
          </a:solidFill>
          <a:ln w="12700">
            <a:solidFill>
              <a:schemeClr val="accent6"/>
            </a:solidFill>
            <a:prstDash val="solid"/>
          </a:ln>
        </p:spPr>
      </p:sp>
      <p:pic>
        <p:nvPicPr>
          <p:cNvPr id="39" name="Image 6" descr="preencoded.png">    </p:cNvPr>
          <p:cNvPicPr>
            <a:picLocks noChangeAspect="1"/>
          </p:cNvPicPr>
          <p:nvPr/>
        </p:nvPicPr>
        <p:blipFill>
          <a:blip r:embed="rId7"/>
          <a:stretch>
            <a:fillRect/>
          </a:stretch>
        </p:blipFill>
        <p:spPr>
          <a:xfrm>
            <a:off x="758952" y="4608576"/>
            <a:ext cx="256032" cy="256032"/>
          </a:xfrm>
          <a:prstGeom prst="rect">
            <a:avLst/>
          </a:prstGeom>
        </p:spPr>
      </p:pic>
      <p:sp>
        <p:nvSpPr>
          <p:cNvPr id="40" name="Text 31"/>
          <p:cNvSpPr txBox="1"/>
          <p:nvPr/>
        </p:nvSpPr>
        <p:spPr>
          <a:xfrm>
            <a:off x="1234440" y="4379976"/>
            <a:ext cx="3794760" cy="713232"/>
          </a:xfrm>
          <a:prstGeom prst="rect">
            <a:avLst/>
          </a:prstGeom>
          <a:noFill/>
          <a:ln/>
        </p:spPr>
        <p:txBody>
          <a:bodyPr wrap="square" lIns="0" tIns="0" rIns="0" bIns="0" rtlCol="0" anchor="ctr"/>
          <a:lstStyle/>
          <a:p>
            <a:pPr indent="0" marL="0">
              <a:buNone/>
            </a:pPr>
            <a:r>
              <a:rPr lang="en-US" sz="1500" dirty="0">
                <a:solidFill>
                  <a:schemeClr val="tx1"/>
                </a:solidFill>
              </a:rPr>
              <a:t>El jueves ya no sé qué mandar</a:t>
            </a:r>
            <a:endParaRPr lang="en-US" sz="1500" dirty="0"/>
          </a:p>
        </p:txBody>
      </p:sp>
      <p:sp>
        <p:nvSpPr>
          <p:cNvPr id="41" name="Shape 32"/>
          <p:cNvSpPr/>
          <p:nvPr/>
        </p:nvSpPr>
        <p:spPr>
          <a:xfrm>
            <a:off x="5285232" y="4562856"/>
            <a:ext cx="777240" cy="347472"/>
          </a:xfrm>
          <a:prstGeom prst="rightArrow">
            <a:avLst/>
          </a:prstGeom>
          <a:solidFill>
            <a:schemeClr val="accent3"/>
          </a:solidFill>
          <a:ln w="12700">
            <a:solidFill>
              <a:schemeClr val="accent3"/>
            </a:solidFill>
            <a:prstDash val="solid"/>
          </a:ln>
        </p:spPr>
      </p:sp>
      <p:sp>
        <p:nvSpPr>
          <p:cNvPr id="42" name="Shape 33"/>
          <p:cNvSpPr/>
          <p:nvPr/>
        </p:nvSpPr>
        <p:spPr>
          <a:xfrm>
            <a:off x="6217920" y="4379976"/>
            <a:ext cx="3657600" cy="713232"/>
          </a:xfrm>
          <a:prstGeom prst="roundRect">
            <a:avLst>
              <a:gd name="adj" fmla="val 50000"/>
            </a:avLst>
          </a:prstGeom>
          <a:solidFill>
            <a:schemeClr val="tx2"/>
          </a:solidFill>
          <a:ln w="12700">
            <a:solidFill>
              <a:schemeClr val="tx2"/>
            </a:solidFill>
            <a:prstDash val="solid"/>
          </a:ln>
        </p:spPr>
      </p:sp>
      <p:sp>
        <p:nvSpPr>
          <p:cNvPr id="43" name="Shape 34"/>
          <p:cNvSpPr/>
          <p:nvPr/>
        </p:nvSpPr>
        <p:spPr>
          <a:xfrm>
            <a:off x="6327648" y="4507992"/>
            <a:ext cx="457200" cy="457200"/>
          </a:xfrm>
          <a:prstGeom prst="ellipse">
            <a:avLst/>
          </a:prstGeom>
          <a:solidFill>
            <a:schemeClr val="accent4"/>
          </a:solidFill>
          <a:ln w="12700">
            <a:solidFill>
              <a:schemeClr val="accent4"/>
            </a:solidFill>
            <a:prstDash val="solid"/>
          </a:ln>
        </p:spPr>
      </p:sp>
      <p:pic>
        <p:nvPicPr>
          <p:cNvPr id="44" name="Image 7" descr="preencoded.png">    </p:cNvPr>
          <p:cNvPicPr>
            <a:picLocks noChangeAspect="1"/>
          </p:cNvPicPr>
          <p:nvPr/>
        </p:nvPicPr>
        <p:blipFill>
          <a:blip r:embed="rId8"/>
          <a:stretch>
            <a:fillRect/>
          </a:stretch>
        </p:blipFill>
        <p:spPr>
          <a:xfrm>
            <a:off x="6428232" y="4608576"/>
            <a:ext cx="256032" cy="256032"/>
          </a:xfrm>
          <a:prstGeom prst="rect">
            <a:avLst/>
          </a:prstGeom>
        </p:spPr>
      </p:pic>
      <p:sp>
        <p:nvSpPr>
          <p:cNvPr id="45" name="Text 35"/>
          <p:cNvSpPr txBox="1"/>
          <p:nvPr/>
        </p:nvSpPr>
        <p:spPr>
          <a:xfrm>
            <a:off x="6903720" y="4379976"/>
            <a:ext cx="2926080" cy="713232"/>
          </a:xfrm>
          <a:prstGeom prst="rect">
            <a:avLst/>
          </a:prstGeom>
          <a:noFill/>
          <a:ln/>
        </p:spPr>
        <p:txBody>
          <a:bodyPr wrap="square" lIns="0" tIns="0" rIns="0" bIns="0" rtlCol="0" anchor="ctr"/>
          <a:lstStyle/>
          <a:p>
            <a:pPr indent="0" marL="0">
              <a:buNone/>
            </a:pPr>
            <a:r>
              <a:rPr lang="en-US" sz="1500" b="1" dirty="0">
                <a:solidFill>
                  <a:schemeClr val="bg1"/>
                </a:solidFill>
              </a:rPr>
              <a:t>Tres sabores en el mismo pack</a:t>
            </a:r>
            <a:endParaRPr lang="en-US" sz="1500" dirty="0"/>
          </a:p>
        </p:txBody>
      </p:sp>
      <p:sp>
        <p:nvSpPr>
          <p:cNvPr id="46" name="Text 36"/>
          <p:cNvSpPr txBox="1"/>
          <p:nvPr/>
        </p:nvSpPr>
        <p:spPr>
          <a:xfrm>
            <a:off x="10012680" y="4379976"/>
            <a:ext cx="1627632" cy="713232"/>
          </a:xfrm>
          <a:prstGeom prst="rect">
            <a:avLst/>
          </a:prstGeom>
          <a:noFill/>
          <a:ln/>
        </p:spPr>
        <p:txBody>
          <a:bodyPr wrap="square" lIns="0" tIns="0" rIns="0" bIns="0" rtlCol="0" anchor="ctr"/>
          <a:lstStyle/>
          <a:p>
            <a:pPr indent="0" marL="0">
              <a:buNone/>
            </a:pPr>
            <a:r>
              <a:rPr lang="en-US" sz="1200" i="1" dirty="0">
                <a:solidFill>
                  <a:schemeClr val="accent2"/>
                </a:solidFill>
              </a:rPr>
              <a:t>Entrevistas</a:t>
            </a:r>
            <a:endParaRPr lang="en-US" sz="1200" dirty="0"/>
          </a:p>
        </p:txBody>
      </p:sp>
      <p:sp>
        <p:nvSpPr>
          <p:cNvPr id="47" name="Shape 37"/>
          <p:cNvSpPr/>
          <p:nvPr/>
        </p:nvSpPr>
        <p:spPr>
          <a:xfrm>
            <a:off x="548640" y="5230368"/>
            <a:ext cx="4572000" cy="713232"/>
          </a:xfrm>
          <a:prstGeom prst="roundRect">
            <a:avLst>
              <a:gd name="adj" fmla="val 50000"/>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48" name="Shape 38"/>
          <p:cNvSpPr/>
          <p:nvPr/>
        </p:nvSpPr>
        <p:spPr>
          <a:xfrm>
            <a:off x="658368" y="5358384"/>
            <a:ext cx="457200" cy="457200"/>
          </a:xfrm>
          <a:prstGeom prst="ellipse">
            <a:avLst/>
          </a:prstGeom>
          <a:solidFill>
            <a:schemeClr val="accent6"/>
          </a:solidFill>
          <a:ln w="12700">
            <a:solidFill>
              <a:schemeClr val="accent6"/>
            </a:solidFill>
            <a:prstDash val="solid"/>
          </a:ln>
        </p:spPr>
      </p:sp>
      <p:pic>
        <p:nvPicPr>
          <p:cNvPr id="49" name="Image 8" descr="preencoded.png">    </p:cNvPr>
          <p:cNvPicPr>
            <a:picLocks noChangeAspect="1"/>
          </p:cNvPicPr>
          <p:nvPr/>
        </p:nvPicPr>
        <p:blipFill>
          <a:blip r:embed="rId9"/>
          <a:stretch>
            <a:fillRect/>
          </a:stretch>
        </p:blipFill>
        <p:spPr>
          <a:xfrm>
            <a:off x="758952" y="5458968"/>
            <a:ext cx="256032" cy="256032"/>
          </a:xfrm>
          <a:prstGeom prst="rect">
            <a:avLst/>
          </a:prstGeom>
        </p:spPr>
      </p:pic>
      <p:sp>
        <p:nvSpPr>
          <p:cNvPr id="50" name="Text 39"/>
          <p:cNvSpPr txBox="1"/>
          <p:nvPr/>
        </p:nvSpPr>
        <p:spPr>
          <a:xfrm>
            <a:off x="1234440" y="5230368"/>
            <a:ext cx="3794760" cy="713232"/>
          </a:xfrm>
          <a:prstGeom prst="rect">
            <a:avLst/>
          </a:prstGeom>
          <a:noFill/>
          <a:ln/>
        </p:spPr>
        <p:txBody>
          <a:bodyPr wrap="square" lIns="0" tIns="0" rIns="0" bIns="0" rtlCol="0" anchor="ctr"/>
          <a:lstStyle/>
          <a:p>
            <a:pPr indent="0" marL="0">
              <a:buNone/>
            </a:pPr>
            <a:r>
              <a:rPr lang="en-US" sz="1500" dirty="0">
                <a:solidFill>
                  <a:schemeClr val="tx1"/>
                </a:solidFill>
              </a:rPr>
              <a:t>La mochila malogra la comida</a:t>
            </a:r>
            <a:endParaRPr lang="en-US" sz="1500" dirty="0"/>
          </a:p>
        </p:txBody>
      </p:sp>
      <p:sp>
        <p:nvSpPr>
          <p:cNvPr id="51" name="Shape 40"/>
          <p:cNvSpPr/>
          <p:nvPr/>
        </p:nvSpPr>
        <p:spPr>
          <a:xfrm>
            <a:off x="5285232" y="5413248"/>
            <a:ext cx="777240" cy="347472"/>
          </a:xfrm>
          <a:prstGeom prst="rightArrow">
            <a:avLst/>
          </a:prstGeom>
          <a:solidFill>
            <a:schemeClr val="accent3"/>
          </a:solidFill>
          <a:ln w="12700">
            <a:solidFill>
              <a:schemeClr val="accent3"/>
            </a:solidFill>
            <a:prstDash val="solid"/>
          </a:ln>
        </p:spPr>
      </p:sp>
      <p:sp>
        <p:nvSpPr>
          <p:cNvPr id="52" name="Shape 41"/>
          <p:cNvSpPr/>
          <p:nvPr/>
        </p:nvSpPr>
        <p:spPr>
          <a:xfrm>
            <a:off x="6217920" y="5230368"/>
            <a:ext cx="3657600" cy="713232"/>
          </a:xfrm>
          <a:prstGeom prst="roundRect">
            <a:avLst>
              <a:gd name="adj" fmla="val 50000"/>
            </a:avLst>
          </a:prstGeom>
          <a:solidFill>
            <a:schemeClr val="tx2"/>
          </a:solidFill>
          <a:ln w="12700">
            <a:solidFill>
              <a:schemeClr val="tx2"/>
            </a:solidFill>
            <a:prstDash val="solid"/>
          </a:ln>
        </p:spPr>
      </p:sp>
      <p:sp>
        <p:nvSpPr>
          <p:cNvPr id="53" name="Shape 42"/>
          <p:cNvSpPr/>
          <p:nvPr/>
        </p:nvSpPr>
        <p:spPr>
          <a:xfrm>
            <a:off x="6327648" y="5358384"/>
            <a:ext cx="457200" cy="457200"/>
          </a:xfrm>
          <a:prstGeom prst="ellipse">
            <a:avLst/>
          </a:prstGeom>
          <a:solidFill>
            <a:schemeClr val="accent4"/>
          </a:solidFill>
          <a:ln w="12700">
            <a:solidFill>
              <a:schemeClr val="accent4"/>
            </a:solidFill>
            <a:prstDash val="solid"/>
          </a:ln>
        </p:spPr>
      </p:sp>
      <p:pic>
        <p:nvPicPr>
          <p:cNvPr id="54" name="Image 9" descr="preencoded.png">    </p:cNvPr>
          <p:cNvPicPr>
            <a:picLocks noChangeAspect="1"/>
          </p:cNvPicPr>
          <p:nvPr/>
        </p:nvPicPr>
        <p:blipFill>
          <a:blip r:embed="rId10"/>
          <a:stretch>
            <a:fillRect/>
          </a:stretch>
        </p:blipFill>
        <p:spPr>
          <a:xfrm>
            <a:off x="6428232" y="5458968"/>
            <a:ext cx="256032" cy="256032"/>
          </a:xfrm>
          <a:prstGeom prst="rect">
            <a:avLst/>
          </a:prstGeom>
        </p:spPr>
      </p:pic>
      <p:sp>
        <p:nvSpPr>
          <p:cNvPr id="55" name="Text 43"/>
          <p:cNvSpPr txBox="1"/>
          <p:nvPr/>
        </p:nvSpPr>
        <p:spPr>
          <a:xfrm>
            <a:off x="6903720" y="5230368"/>
            <a:ext cx="2926080" cy="713232"/>
          </a:xfrm>
          <a:prstGeom prst="rect">
            <a:avLst/>
          </a:prstGeom>
          <a:noFill/>
          <a:ln/>
        </p:spPr>
        <p:txBody>
          <a:bodyPr wrap="square" lIns="0" tIns="0" rIns="0" bIns="0" rtlCol="0" anchor="ctr"/>
          <a:lstStyle/>
          <a:p>
            <a:pPr indent="0" marL="0">
              <a:buNone/>
            </a:pPr>
            <a:r>
              <a:rPr lang="en-US" sz="1500" b="1" dirty="0">
                <a:solidFill>
                  <a:schemeClr val="bg1"/>
                </a:solidFill>
              </a:rPr>
              <a:t>Porción sellada que no necesita frío</a:t>
            </a:r>
            <a:endParaRPr lang="en-US" sz="1500" dirty="0"/>
          </a:p>
        </p:txBody>
      </p:sp>
      <p:sp>
        <p:nvSpPr>
          <p:cNvPr id="56" name="Text 44"/>
          <p:cNvSpPr txBox="1"/>
          <p:nvPr/>
        </p:nvSpPr>
        <p:spPr>
          <a:xfrm>
            <a:off x="10012680" y="5230368"/>
            <a:ext cx="1627632" cy="713232"/>
          </a:xfrm>
          <a:prstGeom prst="rect">
            <a:avLst/>
          </a:prstGeom>
          <a:noFill/>
          <a:ln/>
        </p:spPr>
        <p:txBody>
          <a:bodyPr wrap="square" lIns="0" tIns="0" rIns="0" bIns="0" rtlCol="0" anchor="ctr"/>
          <a:lstStyle/>
          <a:p>
            <a:pPr indent="0" marL="0">
              <a:buNone/>
            </a:pPr>
            <a:r>
              <a:rPr lang="en-US" sz="1200" i="1" dirty="0">
                <a:solidFill>
                  <a:schemeClr val="accent2"/>
                </a:solidFill>
              </a:rPr>
              <a:t>Entrevistas</a:t>
            </a:r>
            <a:endParaRPr lang="en-US" sz="1200" dirty="0"/>
          </a:p>
        </p:txBody>
      </p:sp>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TRABAJO DE CAMPO 8 · FRENTE A LA COMPETENCIA</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Precio de Fika, con hierro medido y entrega en casa</a:t>
            </a:r>
            <a:endParaRPr lang="en-US" sz="3400" dirty="0"/>
          </a:p>
        </p:txBody>
      </p:sp>
      <p:graphicFrame>
        <p:nvGraphicFramePr>
          <p:cNvPr id="4" name="Chart 0" descr=""/>
          <p:cNvGraphicFramePr/>
          <p:nvPr/>
        </p:nvGraphicFramePr>
        <p:xfrm>
          <a:off x="365760" y="1463040"/>
          <a:ext cx="6400800" cy="4663440"/>
        </p:xfrm>
        <a:graphic xmlns:a="http://schemas.openxmlformats.org/drawingml/2006/main">
          <a:graphicData uri="http://schemas.openxmlformats.org/drawingml/2006/chart">
            <c:chart xmlns:c="http://schemas.openxmlformats.org/drawingml/2006/chart" r:id="rId1"/>
          </a:graphicData>
        </a:graphic>
      </p:graphicFrame>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7040880" y="1600200"/>
          <a:ext cx="4599432" cy="914400"/>
        </p:xfrm>
        <a:graphic>
          <a:graphicData uri="http://schemas.openxmlformats.org/drawingml/2006/table">
            <a:tbl>
              <a:tblPr/>
              <a:tblGrid>
                <a:gridCol w="1399032"/>
                <a:gridCol w="800100"/>
                <a:gridCol w="800100"/>
                <a:gridCol w="800100"/>
                <a:gridCol w="800100"/>
              </a:tblGrid>
              <a:tr h="475488">
                <a:tc>
                  <a:txBody>
                    <a:bodyPr/>
                    <a:lstStyle/>
                    <a:p>
                      <a:pPr indent="0" marL="0">
                        <a:buNone/>
                      </a:pPr>
                      <a:r>
                        <a:rPr lang="en-US" sz="1200" b="1" dirty="0">
                          <a:solidFill>
                            <a:schemeClr val="bg1"/>
                          </a:solidFill>
                        </a:rPr>
                        <a:t>Atributo</a:t>
                      </a:r>
                      <a:endParaRPr lang="en-US" sz="12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chemeClr val="tx2"/>
                    </a:solidFill>
                  </a:tcPr>
                </a:tc>
                <a:tc>
                  <a:txBody>
                    <a:bodyPr/>
                    <a:lstStyle/>
                    <a:p>
                      <a:pPr algn="ctr" indent="0" marL="0">
                        <a:buNone/>
                      </a:pPr>
                      <a:r>
                        <a:rPr lang="en-US" sz="1100" b="1" dirty="0">
                          <a:solidFill>
                            <a:schemeClr val="bg1"/>
                          </a:solidFill>
                        </a:rPr>
                        <a:t>AndiBite</a:t>
                      </a:r>
                      <a:endParaRPr lang="en-US" sz="11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chemeClr val="accent1"/>
                    </a:solidFill>
                  </a:tcPr>
                </a:tc>
                <a:tc>
                  <a:txBody>
                    <a:bodyPr/>
                    <a:lstStyle/>
                    <a:p>
                      <a:pPr algn="ctr" indent="0" marL="0">
                        <a:buNone/>
                      </a:pPr>
                      <a:r>
                        <a:rPr lang="en-US" sz="1100" b="1" dirty="0">
                          <a:solidFill>
                            <a:schemeClr val="bg1"/>
                          </a:solidFill>
                        </a:rPr>
                        <a:t>Nutri H</a:t>
                      </a:r>
                      <a:endParaRPr lang="en-US" sz="11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chemeClr val="tx2"/>
                    </a:solidFill>
                  </a:tcPr>
                </a:tc>
                <a:tc>
                  <a:txBody>
                    <a:bodyPr/>
                    <a:lstStyle/>
                    <a:p>
                      <a:pPr algn="ctr" indent="0" marL="0">
                        <a:buNone/>
                      </a:pPr>
                      <a:r>
                        <a:rPr lang="en-US" sz="1100" b="1" dirty="0">
                          <a:solidFill>
                            <a:schemeClr val="bg1"/>
                          </a:solidFill>
                        </a:rPr>
                        <a:t>Fika</a:t>
                      </a:r>
                      <a:endParaRPr lang="en-US" sz="11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chemeClr val="tx2"/>
                    </a:solidFill>
                  </a:tcPr>
                </a:tc>
                <a:tc>
                  <a:txBody>
                    <a:bodyPr/>
                    <a:lstStyle/>
                    <a:p>
                      <a:pPr algn="ctr" indent="0" marL="0">
                        <a:buNone/>
                      </a:pPr>
                      <a:r>
                        <a:rPr lang="en-US" sz="1100" b="1" dirty="0">
                          <a:solidFill>
                            <a:schemeClr val="bg1"/>
                          </a:solidFill>
                        </a:rPr>
                        <a:t>Mamalama</a:t>
                      </a:r>
                      <a:endParaRPr lang="en-US" sz="11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chemeClr val="tx2"/>
                    </a:solidFill>
                  </a:tcPr>
                </a:tc>
              </a:tr>
              <a:tr h="475488">
                <a:tc>
                  <a:txBody>
                    <a:bodyPr/>
                    <a:lstStyle/>
                    <a:p>
                      <a:pPr indent="0" marL="0">
                        <a:buNone/>
                      </a:pPr>
                      <a:r>
                        <a:rPr lang="en-US" sz="1300" dirty="0">
                          <a:solidFill>
                            <a:schemeClr val="tx1"/>
                          </a:solidFill>
                        </a:rPr>
                        <a:t>Hierro declarado</a:t>
                      </a:r>
                      <a:endParaRPr lang="en-US" sz="13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600" b="1" dirty="0">
                          <a:solidFill>
                            <a:schemeClr val="accent1"/>
                          </a:solidFill>
                        </a:rPr>
                        <a:t>✓</a:t>
                      </a:r>
                      <a:endParaRPr lang="en-US" sz="16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6DCD5"/>
                    </a:solidFill>
                  </a:tcPr>
                </a:tc>
                <a:tc>
                  <a:txBody>
                    <a:bodyPr/>
                    <a:lstStyle/>
                    <a:p>
                      <a:pPr algn="ctr" indent="0" marL="0">
                        <a:buNone/>
                      </a:pPr>
                      <a:r>
                        <a:rPr lang="en-US" sz="1600" b="1" dirty="0">
                          <a:solidFill>
                            <a:schemeClr val="accent4"/>
                          </a:solidFill>
                        </a:rPr>
                        <a:t>✓</a:t>
                      </a:r>
                      <a:endParaRPr lang="en-US" sz="16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600" dirty="0">
                          <a:solidFill>
                            <a:schemeClr val="accent2"/>
                          </a:solidFill>
                        </a:rPr>
                        <a:t>–</a:t>
                      </a:r>
                      <a:endParaRPr lang="en-US" sz="16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600" dirty="0">
                          <a:solidFill>
                            <a:schemeClr val="accent2"/>
                          </a:solidFill>
                        </a:rPr>
                        <a:t>–</a:t>
                      </a:r>
                      <a:endParaRPr lang="en-US" sz="16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r>
              <a:tr h="475488">
                <a:tc>
                  <a:txBody>
                    <a:bodyPr/>
                    <a:lstStyle/>
                    <a:p>
                      <a:pPr indent="0" marL="0">
                        <a:buNone/>
                      </a:pPr>
                      <a:r>
                        <a:rPr lang="en-US" sz="1300" dirty="0">
                          <a:solidFill>
                            <a:schemeClr val="tx1"/>
                          </a:solidFill>
                        </a:rPr>
                        <a:t>Sin octógono</a:t>
                      </a:r>
                      <a:endParaRPr lang="en-US" sz="13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600" b="1" dirty="0">
                          <a:solidFill>
                            <a:schemeClr val="accent1"/>
                          </a:solidFill>
                        </a:rPr>
                        <a:t>✓*</a:t>
                      </a:r>
                      <a:endParaRPr lang="en-US" sz="16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6DCD5"/>
                    </a:solidFill>
                  </a:tcPr>
                </a:tc>
                <a:tc>
                  <a:txBody>
                    <a:bodyPr/>
                    <a:lstStyle/>
                    <a:p>
                      <a:pPr algn="ctr" indent="0" marL="0">
                        <a:buNone/>
                      </a:pPr>
                      <a:r>
                        <a:rPr lang="en-US" sz="1600" dirty="0">
                          <a:solidFill>
                            <a:schemeClr val="accent2"/>
                          </a:solidFill>
                        </a:rPr>
                        <a:t>?</a:t>
                      </a:r>
                      <a:endParaRPr lang="en-US" sz="16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600" b="1" dirty="0">
                          <a:solidFill>
                            <a:schemeClr val="accent4"/>
                          </a:solidFill>
                        </a:rPr>
                        <a:t>✓</a:t>
                      </a:r>
                      <a:endParaRPr lang="en-US" sz="16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600" dirty="0">
                          <a:solidFill>
                            <a:schemeClr val="accent2"/>
                          </a:solidFill>
                        </a:rPr>
                        <a:t>?</a:t>
                      </a:r>
                      <a:endParaRPr lang="en-US" sz="16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r>
              <a:tr h="475488">
                <a:tc>
                  <a:txBody>
                    <a:bodyPr/>
                    <a:lstStyle/>
                    <a:p>
                      <a:pPr indent="0" marL="0">
                        <a:buNone/>
                      </a:pPr>
                      <a:r>
                        <a:rPr lang="en-US" sz="1300" dirty="0">
                          <a:solidFill>
                            <a:schemeClr val="tx1"/>
                          </a:solidFill>
                        </a:rPr>
                        <a:t>Varios sabores en un pack</a:t>
                      </a:r>
                      <a:endParaRPr lang="en-US" sz="13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600" b="1" dirty="0">
                          <a:solidFill>
                            <a:schemeClr val="accent1"/>
                          </a:solidFill>
                        </a:rPr>
                        <a:t>✓</a:t>
                      </a:r>
                      <a:endParaRPr lang="en-US" sz="16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6DCD5"/>
                    </a:solidFill>
                  </a:tcPr>
                </a:tc>
                <a:tc>
                  <a:txBody>
                    <a:bodyPr/>
                    <a:lstStyle/>
                    <a:p>
                      <a:pPr algn="ctr" indent="0" marL="0">
                        <a:buNone/>
                      </a:pPr>
                      <a:r>
                        <a:rPr lang="en-US" sz="1600" dirty="0">
                          <a:solidFill>
                            <a:schemeClr val="accent2"/>
                          </a:solidFill>
                        </a:rPr>
                        <a:t>?</a:t>
                      </a:r>
                      <a:endParaRPr lang="en-US" sz="16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600" dirty="0">
                          <a:solidFill>
                            <a:schemeClr val="accent2"/>
                          </a:solidFill>
                        </a:rPr>
                        <a:t>–</a:t>
                      </a:r>
                      <a:endParaRPr lang="en-US" sz="16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600" dirty="0">
                          <a:solidFill>
                            <a:schemeClr val="accent2"/>
                          </a:solidFill>
                        </a:rPr>
                        <a:t>–</a:t>
                      </a:r>
                      <a:endParaRPr lang="en-US" sz="16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r>
              <a:tr h="475488">
                <a:tc>
                  <a:txBody>
                    <a:bodyPr/>
                    <a:lstStyle/>
                    <a:p>
                      <a:pPr indent="0" marL="0">
                        <a:buNone/>
                      </a:pPr>
                      <a:r>
                        <a:rPr lang="en-US" sz="1300" dirty="0">
                          <a:solidFill>
                            <a:schemeClr val="tx1"/>
                          </a:solidFill>
                        </a:rPr>
                        <a:t>Entrega a domicilio</a:t>
                      </a:r>
                      <a:endParaRPr lang="en-US" sz="13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600" b="1" dirty="0">
                          <a:solidFill>
                            <a:schemeClr val="accent1"/>
                          </a:solidFill>
                        </a:rPr>
                        <a:t>✓</a:t>
                      </a:r>
                      <a:endParaRPr lang="en-US" sz="16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6DCD5"/>
                    </a:solidFill>
                  </a:tcPr>
                </a:tc>
                <a:tc>
                  <a:txBody>
                    <a:bodyPr/>
                    <a:lstStyle/>
                    <a:p>
                      <a:pPr algn="ctr" indent="0" marL="0">
                        <a:buNone/>
                      </a:pPr>
                      <a:r>
                        <a:rPr lang="en-US" sz="1600" b="1" dirty="0">
                          <a:solidFill>
                            <a:schemeClr val="accent4"/>
                          </a:solidFill>
                        </a:rPr>
                        <a:t>✓</a:t>
                      </a:r>
                      <a:endParaRPr lang="en-US" sz="16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600" b="1" dirty="0">
                          <a:solidFill>
                            <a:schemeClr val="accent4"/>
                          </a:solidFill>
                        </a:rPr>
                        <a:t>✓</a:t>
                      </a:r>
                      <a:endParaRPr lang="en-US" sz="16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600" dirty="0">
                          <a:solidFill>
                            <a:schemeClr val="accent2"/>
                          </a:solidFill>
                        </a:rPr>
                        <a:t>–</a:t>
                      </a:r>
                      <a:endParaRPr lang="en-US" sz="16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r>
              <a:tr h="475488">
                <a:tc>
                  <a:txBody>
                    <a:bodyPr/>
                    <a:lstStyle/>
                    <a:p>
                      <a:pPr indent="0" marL="0">
                        <a:buNone/>
                      </a:pPr>
                      <a:r>
                        <a:rPr lang="en-US" sz="1300" dirty="0">
                          <a:solidFill>
                            <a:schemeClr val="tx1"/>
                          </a:solidFill>
                        </a:rPr>
                        <a:t>Formato de postre</a:t>
                      </a:r>
                      <a:endParaRPr lang="en-US" sz="13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600" b="1" dirty="0">
                          <a:solidFill>
                            <a:schemeClr val="accent1"/>
                          </a:solidFill>
                        </a:rPr>
                        <a:t>✓</a:t>
                      </a:r>
                      <a:endParaRPr lang="en-US" sz="16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6DCD5"/>
                    </a:solidFill>
                  </a:tcPr>
                </a:tc>
                <a:tc>
                  <a:txBody>
                    <a:bodyPr/>
                    <a:lstStyle/>
                    <a:p>
                      <a:pPr algn="ctr" indent="0" marL="0">
                        <a:buNone/>
                      </a:pPr>
                      <a:r>
                        <a:rPr lang="en-US" sz="1600" dirty="0">
                          <a:solidFill>
                            <a:schemeClr val="accent2"/>
                          </a:solidFill>
                        </a:rPr>
                        <a:t>–</a:t>
                      </a:r>
                      <a:endParaRPr lang="en-US" sz="16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600" b="1" dirty="0">
                          <a:solidFill>
                            <a:schemeClr val="accent4"/>
                          </a:solidFill>
                        </a:rPr>
                        <a:t>✓</a:t>
                      </a:r>
                      <a:endParaRPr lang="en-US" sz="16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600" dirty="0">
                          <a:solidFill>
                            <a:schemeClr val="accent2"/>
                          </a:solidFill>
                        </a:rPr>
                        <a:t>–</a:t>
                      </a:r>
                      <a:endParaRPr lang="en-US" sz="16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r>
            </a:tbl>
          </a:graphicData>
        </a:graphic>
      </p:graphicFrame>
      <p:sp>
        <p:nvSpPr>
          <p:cNvPr id="6" name="Text 2"/>
          <p:cNvSpPr txBox="1"/>
          <p:nvPr/>
        </p:nvSpPr>
        <p:spPr>
          <a:xfrm>
            <a:off x="7040880" y="4526280"/>
            <a:ext cx="4599432" cy="274320"/>
          </a:xfrm>
          <a:prstGeom prst="rect">
            <a:avLst/>
          </a:prstGeom>
          <a:noFill/>
          <a:ln/>
        </p:spPr>
        <p:txBody>
          <a:bodyPr wrap="square" lIns="0" tIns="0" rIns="0" bIns="0" rtlCol="0" anchor="t"/>
          <a:lstStyle/>
          <a:p>
            <a:pPr indent="0" marL="0">
              <a:buNone/>
            </a:pPr>
            <a:r>
              <a:rPr lang="en-US" sz="1100" i="1" dirty="0">
                <a:solidFill>
                  <a:schemeClr val="accent2"/>
                </a:solidFill>
              </a:rPr>
              <a:t>* Se confirma en laboratorio. ? = por completar en el store check.</a:t>
            </a:r>
            <a:endParaRPr lang="en-US" sz="1100" dirty="0"/>
          </a:p>
        </p:txBody>
      </p:sp>
      <p:sp>
        <p:nvSpPr>
          <p:cNvPr id="7" name="Shape 3"/>
          <p:cNvSpPr/>
          <p:nvPr/>
        </p:nvSpPr>
        <p:spPr>
          <a:xfrm>
            <a:off x="7040880" y="4892040"/>
            <a:ext cx="4599432" cy="1234440"/>
          </a:xfrm>
          <a:prstGeom prst="roundRect">
            <a:avLst>
              <a:gd name="adj" fmla="val 8889"/>
            </a:avLst>
          </a:prstGeom>
          <a:solidFill>
            <a:schemeClr val="tx2"/>
          </a:solidFill>
          <a:ln w="12700">
            <a:solidFill>
              <a:schemeClr val="tx2"/>
            </a:solidFill>
            <a:prstDash val="solid"/>
          </a:ln>
          <a:effectLst>
            <a:outerShdw sx="100000" sy="100000" kx="0" ky="0" algn="bl" rotWithShape="0" blurRad="101600" dist="25400" dir="5400000">
              <a:srgbClr val="7A4A30">
                <a:alpha val="14000"/>
              </a:srgbClr>
            </a:outerShdw>
          </a:effectLst>
        </p:spPr>
      </p:sp>
      <p:sp>
        <p:nvSpPr>
          <p:cNvPr id="8" name="Text 4"/>
          <p:cNvSpPr txBox="1"/>
          <p:nvPr/>
        </p:nvSpPr>
        <p:spPr>
          <a:xfrm>
            <a:off x="7269480" y="4937760"/>
            <a:ext cx="4206240" cy="1143000"/>
          </a:xfrm>
          <a:prstGeom prst="rect">
            <a:avLst/>
          </a:prstGeom>
          <a:noFill/>
          <a:ln/>
        </p:spPr>
        <p:txBody>
          <a:bodyPr wrap="square" lIns="0" tIns="0" rIns="0" bIns="0" rtlCol="0" anchor="ctr"/>
          <a:lstStyle/>
          <a:p>
            <a:pPr indent="0" marL="0">
              <a:buNone/>
            </a:pPr>
            <a:r>
              <a:rPr lang="en-US" sz="2000" b="1" dirty="0">
                <a:solidFill>
                  <a:schemeClr val="accent3"/>
                </a:solidFill>
              </a:rPr>
              <a:t>S/4.15 por brownie</a:t>
            </a:r>
            <a:endParaRPr lang="en-US" sz="1400" dirty="0"/>
          </a:p>
          <a:p>
            <a:pPr indent="0" marL="0">
              <a:buNone/>
            </a:pPr>
            <a:r>
              <a:rPr lang="en-US" sz="1400" dirty="0">
                <a:solidFill>
                  <a:schemeClr val="bg1"/>
                </a:solidFill>
              </a:rPr>
              <a:t>Por WhatsApp; S/4.33 en el stand. Hasta 8 % más que Fika, con hierro medido y en tres sabores.</a:t>
            </a:r>
            <a:endParaRPr lang="en-US" sz="1400" dirty="0"/>
          </a:p>
        </p:txBody>
      </p:sp>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txBox="1"/>
          <p:nvPr/>
        </p:nvSpPr>
        <p:spPr>
          <a:xfrm>
            <a:off x="731520" y="822960"/>
            <a:ext cx="6766560" cy="320040"/>
          </a:xfrm>
          <a:prstGeom prst="rect">
            <a:avLst/>
          </a:prstGeom>
          <a:noFill/>
          <a:ln/>
        </p:spPr>
        <p:txBody>
          <a:bodyPr wrap="square" lIns="0" tIns="0" rIns="0" bIns="0" rtlCol="0" anchor="t"/>
          <a:lstStyle/>
          <a:p>
            <a:pPr indent="0" marL="0">
              <a:buNone/>
            </a:pPr>
            <a:r>
              <a:rPr lang="en-US" sz="1300" b="1" spc="200" kern="0" dirty="0">
                <a:solidFill>
                  <a:schemeClr val="accent3"/>
                </a:solidFill>
              </a:rPr>
              <a:t>PROPUESTA DE VALOR EN UNA FRASE</a:t>
            </a:r>
            <a:endParaRPr lang="en-US" sz="1300" dirty="0"/>
          </a:p>
        </p:txBody>
      </p:sp>
      <p:sp>
        <p:nvSpPr>
          <p:cNvPr id="3" name="Text 0"/>
          <p:cNvSpPr/>
          <p:nvPr>
            <p:ph idx="100" type="title" hasCustomPrompt="1"/>
          </p:nvPr>
        </p:nvSpPr>
        <p:spPr>
          <a:xfrm>
            <a:off x="731520" y="1234440"/>
            <a:ext cx="6766560" cy="1463040"/>
          </a:xfrm>
          <a:prstGeom prst="rect">
            <a:avLst/>
          </a:prstGeom>
          <a:noFill/>
          <a:ln/>
        </p:spPr>
        <p:txBody>
          <a:bodyPr wrap="square" lIns="0" tIns="0" rIns="0" bIns="0" rtlCol="0" anchor="t"/>
          <a:lstStyle/>
          <a:p>
            <a:pPr algn="l" indent="0" marL="0">
              <a:buNone/>
            </a:pPr>
            <a:r>
              <a:rPr lang="en-US" sz="4800" b="1" dirty="0">
                <a:solidFill>
                  <a:schemeClr val="bg2"/>
                </a:solidFill>
              </a:rPr>
              <a:t>Hierro medido. Sabor a brownie.</a:t>
            </a:r>
            <a:endParaRPr lang="en-US" sz="4800" dirty="0"/>
          </a:p>
        </p:txBody>
      </p:sp>
      <p:sp>
        <p:nvSpPr>
          <p:cNvPr id="4" name="Text 2"/>
          <p:cNvSpPr txBox="1"/>
          <p:nvPr/>
        </p:nvSpPr>
        <p:spPr>
          <a:xfrm>
            <a:off x="731520" y="2834640"/>
            <a:ext cx="6766560" cy="457200"/>
          </a:xfrm>
          <a:prstGeom prst="rect">
            <a:avLst/>
          </a:prstGeom>
          <a:noFill/>
          <a:ln/>
        </p:spPr>
        <p:txBody>
          <a:bodyPr wrap="square" lIns="0" tIns="0" rIns="0" bIns="0" rtlCol="0" anchor="t"/>
          <a:lstStyle/>
          <a:p>
            <a:pPr indent="0" marL="0">
              <a:buNone/>
            </a:pPr>
            <a:r>
              <a:rPr lang="en-US" sz="2400" b="1" dirty="0">
                <a:solidFill>
                  <a:schemeClr val="accent5"/>
                </a:solidFill>
              </a:rPr>
              <a:t>El snack de lonchera que tu hijo sí se come</a:t>
            </a:r>
            <a:endParaRPr lang="en-US" sz="2400" dirty="0"/>
          </a:p>
        </p:txBody>
      </p:sp>
      <p:sp>
        <p:nvSpPr>
          <p:cNvPr id="5" name="Text 3"/>
          <p:cNvSpPr txBox="1"/>
          <p:nvPr/>
        </p:nvSpPr>
        <p:spPr>
          <a:xfrm>
            <a:off x="731520" y="3474720"/>
            <a:ext cx="6766560" cy="914400"/>
          </a:xfrm>
          <a:prstGeom prst="rect">
            <a:avLst/>
          </a:prstGeom>
          <a:noFill/>
          <a:ln/>
        </p:spPr>
        <p:txBody>
          <a:bodyPr wrap="square" lIns="0" tIns="0" rIns="0" bIns="0" rtlCol="0" anchor="t"/>
          <a:lstStyle/>
          <a:p>
            <a:pPr indent="0" marL="0">
              <a:buNone/>
            </a:pPr>
            <a:r>
              <a:rPr lang="en-US" sz="1700" dirty="0">
                <a:solidFill>
                  <a:schemeClr val="bg2"/>
                </a:solidFill>
              </a:rPr>
              <a:t>Para padres planificados que leen etiquetas: mini brownie de 20 g con sangrecita, sin octógono y en tres sabores que el niño sí pide.</a:t>
            </a:r>
            <a:endParaRPr lang="en-US" sz="1700" dirty="0"/>
          </a:p>
        </p:txBody>
      </p:sp>
      <p:sp>
        <p:nvSpPr>
          <p:cNvPr id="6" name="Text 4"/>
          <p:cNvSpPr txBox="1"/>
          <p:nvPr/>
        </p:nvSpPr>
        <p:spPr>
          <a:xfrm>
            <a:off x="731520" y="5074920"/>
            <a:ext cx="6766560" cy="274320"/>
          </a:xfrm>
          <a:prstGeom prst="rect">
            <a:avLst/>
          </a:prstGeom>
          <a:noFill/>
          <a:ln/>
        </p:spPr>
        <p:txBody>
          <a:bodyPr wrap="square" lIns="0" tIns="0" rIns="0" bIns="0" rtlCol="0" anchor="t"/>
          <a:lstStyle/>
          <a:p>
            <a:pPr indent="0" marL="0">
              <a:buNone/>
            </a:pPr>
            <a:r>
              <a:rPr lang="en-US" sz="1200" b="1" spc="200" kern="0" dirty="0">
                <a:solidFill>
                  <a:schemeClr val="accent3"/>
                </a:solidFill>
              </a:rPr>
              <a:t>PRÓXIMOS PASOS</a:t>
            </a:r>
            <a:endParaRPr lang="en-US" sz="1200" dirty="0"/>
          </a:p>
        </p:txBody>
      </p:sp>
      <p:sp>
        <p:nvSpPr>
          <p:cNvPr id="7" name="Shape 5"/>
          <p:cNvSpPr/>
          <p:nvPr/>
        </p:nvSpPr>
        <p:spPr>
          <a:xfrm>
            <a:off x="731520" y="5440680"/>
            <a:ext cx="2240280" cy="502920"/>
          </a:xfrm>
          <a:prstGeom prst="roundRect">
            <a:avLst>
              <a:gd name="adj" fmla="val 49091"/>
            </a:avLst>
          </a:prstGeom>
          <a:solidFill>
            <a:schemeClr val="accent2"/>
          </a:solidFill>
          <a:ln w="12700">
            <a:solidFill>
              <a:schemeClr val="accent5"/>
            </a:solidFill>
            <a:prstDash val="solid"/>
          </a:ln>
        </p:spPr>
      </p:sp>
      <p:sp>
        <p:nvSpPr>
          <p:cNvPr id="8" name="Text 6"/>
          <p:cNvSpPr txBox="1"/>
          <p:nvPr/>
        </p:nvSpPr>
        <p:spPr>
          <a:xfrm>
            <a:off x="731520" y="5440680"/>
            <a:ext cx="2240280" cy="502920"/>
          </a:xfrm>
          <a:prstGeom prst="rect">
            <a:avLst/>
          </a:prstGeom>
          <a:noFill/>
          <a:ln/>
        </p:spPr>
        <p:txBody>
          <a:bodyPr wrap="square" lIns="0" tIns="0" rIns="0" bIns="0" rtlCol="0" anchor="ctr"/>
          <a:lstStyle/>
          <a:p>
            <a:pPr algn="ctr" indent="0" marL="0">
              <a:buNone/>
            </a:pPr>
            <a:r>
              <a:rPr lang="en-US" sz="1300" b="1" dirty="0">
                <a:solidFill>
                  <a:schemeClr val="bg2"/>
                </a:solidFill>
              </a:rPr>
              <a:t>Cargar el focus 2</a:t>
            </a:r>
            <a:endParaRPr lang="en-US" sz="1300" dirty="0"/>
          </a:p>
        </p:txBody>
      </p:sp>
      <p:sp>
        <p:nvSpPr>
          <p:cNvPr id="9" name="Shape 7"/>
          <p:cNvSpPr/>
          <p:nvPr/>
        </p:nvSpPr>
        <p:spPr>
          <a:xfrm>
            <a:off x="3063240" y="5440680"/>
            <a:ext cx="2240280" cy="502920"/>
          </a:xfrm>
          <a:prstGeom prst="roundRect">
            <a:avLst>
              <a:gd name="adj" fmla="val 49091"/>
            </a:avLst>
          </a:prstGeom>
          <a:solidFill>
            <a:schemeClr val="accent2"/>
          </a:solidFill>
          <a:ln w="12700">
            <a:solidFill>
              <a:schemeClr val="accent5"/>
            </a:solidFill>
            <a:prstDash val="solid"/>
          </a:ln>
        </p:spPr>
      </p:sp>
      <p:sp>
        <p:nvSpPr>
          <p:cNvPr id="10" name="Text 8"/>
          <p:cNvSpPr txBox="1"/>
          <p:nvPr/>
        </p:nvSpPr>
        <p:spPr>
          <a:xfrm>
            <a:off x="3063240" y="5440680"/>
            <a:ext cx="2240280" cy="502920"/>
          </a:xfrm>
          <a:prstGeom prst="rect">
            <a:avLst/>
          </a:prstGeom>
          <a:noFill/>
          <a:ln/>
        </p:spPr>
        <p:txBody>
          <a:bodyPr wrap="square" lIns="0" tIns="0" rIns="0" bIns="0" rtlCol="0" anchor="ctr"/>
          <a:lstStyle/>
          <a:p>
            <a:pPr algn="ctr" indent="0" marL="0">
              <a:buNone/>
            </a:pPr>
            <a:r>
              <a:rPr lang="en-US" sz="1300" b="1" dirty="0">
                <a:solidFill>
                  <a:schemeClr val="bg2"/>
                </a:solidFill>
              </a:rPr>
              <a:t>Cotizar stands y maquila</a:t>
            </a:r>
            <a:endParaRPr lang="en-US" sz="1300" dirty="0"/>
          </a:p>
        </p:txBody>
      </p:sp>
      <p:sp>
        <p:nvSpPr>
          <p:cNvPr id="11" name="Shape 9"/>
          <p:cNvSpPr/>
          <p:nvPr/>
        </p:nvSpPr>
        <p:spPr>
          <a:xfrm>
            <a:off x="5394960" y="5440680"/>
            <a:ext cx="2240280" cy="502920"/>
          </a:xfrm>
          <a:prstGeom prst="roundRect">
            <a:avLst>
              <a:gd name="adj" fmla="val 49091"/>
            </a:avLst>
          </a:prstGeom>
          <a:solidFill>
            <a:schemeClr val="accent2"/>
          </a:solidFill>
          <a:ln w="12700">
            <a:solidFill>
              <a:schemeClr val="accent5"/>
            </a:solidFill>
            <a:prstDash val="solid"/>
          </a:ln>
        </p:spPr>
      </p:sp>
      <p:sp>
        <p:nvSpPr>
          <p:cNvPr id="12" name="Text 10"/>
          <p:cNvSpPr txBox="1"/>
          <p:nvPr/>
        </p:nvSpPr>
        <p:spPr>
          <a:xfrm>
            <a:off x="5394960" y="5440680"/>
            <a:ext cx="2240280" cy="502920"/>
          </a:xfrm>
          <a:prstGeom prst="rect">
            <a:avLst/>
          </a:prstGeom>
          <a:noFill/>
          <a:ln/>
        </p:spPr>
        <p:txBody>
          <a:bodyPr wrap="square" lIns="0" tIns="0" rIns="0" bIns="0" rtlCol="0" anchor="ctr"/>
          <a:lstStyle/>
          <a:p>
            <a:pPr algn="ctr" indent="0" marL="0">
              <a:buNone/>
            </a:pPr>
            <a:r>
              <a:rPr lang="en-US" sz="1300" b="1" dirty="0">
                <a:solidFill>
                  <a:schemeClr val="bg2"/>
                </a:solidFill>
              </a:rPr>
              <a:t>Elegir los 2 primeros puntos</a:t>
            </a:r>
            <a:endParaRPr lang="en-US" sz="1300" dirty="0"/>
          </a:p>
        </p:txBody>
      </p:sp>
      <p:sp>
        <p:nvSpPr>
          <p:cNvPr id="13" name="IMAGEN_4"/>
          <p:cNvSpPr/>
          <p:nvPr/>
        </p:nvSpPr>
        <p:spPr>
          <a:xfrm>
            <a:off x="8001000" y="685800"/>
            <a:ext cx="3611880" cy="5486400"/>
          </a:xfrm>
          <a:prstGeom prst="roundRect">
            <a:avLst>
              <a:gd name="adj" fmla="val 3797"/>
            </a:avLst>
          </a:prstGeom>
          <a:solidFill>
            <a:schemeClr val="accent2"/>
          </a:solidFill>
          <a:ln w="19050">
            <a:solidFill>
              <a:schemeClr val="accent5"/>
            </a:solidFill>
            <a:prstDash val="dash"/>
          </a:ln>
        </p:spPr>
      </p:sp>
      <p:pic>
        <p:nvPicPr>
          <p:cNvPr id="14" name="Image 0" descr="preencoded.png">    </p:cNvPr>
          <p:cNvPicPr>
            <a:picLocks noChangeAspect="1"/>
          </p:cNvPicPr>
          <p:nvPr/>
        </p:nvPicPr>
        <p:blipFill>
          <a:blip r:embed="rId1"/>
          <a:stretch>
            <a:fillRect/>
          </a:stretch>
        </p:blipFill>
        <p:spPr>
          <a:xfrm>
            <a:off x="9441180" y="2514600"/>
            <a:ext cx="731520" cy="731520"/>
          </a:xfrm>
          <a:prstGeom prst="rect">
            <a:avLst/>
          </a:prstGeom>
        </p:spPr>
      </p:pic>
      <p:sp>
        <p:nvSpPr>
          <p:cNvPr id="15" name="Text 12"/>
          <p:cNvSpPr txBox="1"/>
          <p:nvPr/>
        </p:nvSpPr>
        <p:spPr>
          <a:xfrm>
            <a:off x="8183880" y="3429000"/>
            <a:ext cx="3246120" cy="1097280"/>
          </a:xfrm>
          <a:prstGeom prst="rect">
            <a:avLst/>
          </a:prstGeom>
          <a:noFill/>
          <a:ln/>
        </p:spPr>
        <p:txBody>
          <a:bodyPr wrap="square" lIns="0" tIns="0" rIns="0" bIns="0" rtlCol="0" anchor="t"/>
          <a:lstStyle/>
          <a:p>
            <a:pPr algn="ctr" indent="0" marL="0">
              <a:buNone/>
            </a:pPr>
            <a:r>
              <a:rPr lang="en-US" sz="1600" b="1" dirty="0">
                <a:solidFill>
                  <a:schemeClr val="bg2"/>
                </a:solidFill>
              </a:rPr>
              <a:t>IMAGEN 4</a:t>
            </a:r>
            <a:endParaRPr lang="en-US" sz="1400" dirty="0"/>
          </a:p>
          <a:p>
            <a:pPr algn="ctr" indent="0" marL="0">
              <a:buNone/>
            </a:pPr>
            <a:r>
              <a:rPr lang="en-US" sz="1300" dirty="0">
                <a:solidFill>
                  <a:schemeClr val="bg2"/>
                </a:solidFill>
              </a:rPr>
              <a:t>Niño abriendo su lonchera con AndiBite</a:t>
            </a:r>
            <a:endParaRPr lang="en-US" sz="1400" dirty="0"/>
          </a:p>
          <a:p>
            <a:pPr algn="ctr" indent="0" marL="0">
              <a:buNone/>
            </a:pPr>
            <a:r>
              <a:rPr lang="en-US" sz="1100" i="1" dirty="0">
                <a:solidFill>
                  <a:schemeClr val="bg2"/>
                </a:solidFill>
              </a:rPr>
              <a:t>Prompt en las notas del orador</a:t>
            </a:r>
            <a:endParaRPr lang="en-US" sz="1400" dirty="0"/>
          </a:p>
        </p:txBody>
      </p:sp>
    </p:spTree>
  </p:cSld>
  <p:clrMapOvr>
    <a:masterClrMapping/>
  </p:clrMapOvr>
</p:sld>
</file>

<file path=ppt/theme/theme1.xml><?xml version="1.0" encoding="utf-8"?>
<a:theme xmlns:a="http://schemas.openxmlformats.org/drawingml/2006/main" name="AndiBite">
  <a:themeElements>
    <a:clrScheme name="AndiBite">
      <a:dk1>
        <a:srgbClr val="3B1A14"/>
      </a:dk1>
      <a:lt1>
        <a:srgbClr val="FFFFFF"/>
      </a:lt1>
      <a:dk2>
        <a:srgbClr val="4A2018"/>
      </a:dk2>
      <a:lt2>
        <a:srgbClr val="FBF3E8"/>
      </a:lt2>
      <a:accent1>
        <a:srgbClr val="BA4036"/>
      </a:accent1>
      <a:accent2>
        <a:srgbClr val="6B3A2A"/>
      </a:accent2>
      <a:accent3>
        <a:srgbClr val="E3A33B"/>
      </a:accent3>
      <a:accent4>
        <a:srgbClr val="7C8A3A"/>
      </a:accent4>
      <a:accent5>
        <a:srgbClr val="D9B48F"/>
      </a:accent5>
      <a:accent6>
        <a:srgbClr val="8A1C2B"/>
      </a:accent6>
      <a:hlink>
        <a:srgbClr val="BA4036"/>
      </a:hlink>
      <a:folHlink>
        <a:srgbClr val="8A1C2B"/>
      </a:folHlink>
    </a:clrScheme>
    <a:fontScheme name="AndiBit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31</Slides>
  <Notes>31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31</vt:i4>
      </vt:variant>
    </vt:vector>
  </HeadingPairs>
  <TitlesOfParts>
    <vt:vector size="3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AndiBite — Trabajos de campo 5 a 8</dc:title>
  <dc:subject>PptxGenJS Presentation</dc:subject>
  <dc:creator>Grupo 2</dc:creator>
  <cp:lastModifiedBy>Grupo 2</cp:lastModifiedBy>
  <cp:revision>1</cp:revision>
  <dcterms:created xsi:type="dcterms:W3CDTF">2026-10-09T23:12:46Z</dcterms:created>
  <dcterms:modified xsi:type="dcterms:W3CDTF">2026-10-09T23:12:46Z</dcterms:modified>
</cp:coreProperties>
</file>