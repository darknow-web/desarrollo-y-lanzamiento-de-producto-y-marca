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8.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9.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dc06b089-9d59-bc08-8c12-ec7acf067954}">
          <p14:sldIdLst>
            <p14:sldId id="256"/>
            <p14:sldId id="257"/>
          </p14:sldIdLst>
        </p14:section>
        <p14:section name="TC5 · Cliente, mercado y canal" id="{8d8d27a5-0685-5a67-59ff-8ecb22329587}">
          <p14:sldIdLst>
            <p14:sldId id="258"/>
            <p14:sldId id="259"/>
            <p14:sldId id="260"/>
            <p14:sldId id="261"/>
            <p14:sldId id="262"/>
            <p14:sldId id="263"/>
            <p14:sldId id="264"/>
            <p14:sldId id="265"/>
          </p14:sldIdLst>
        </p14:section>
        <p14:section name="TC6 · Relación e ingresos" id="{d74aa633-adeb-b6ce-84e3-0ec50a235b49}">
          <p14:sldIdLst>
            <p14:sldId id="266"/>
            <p14:sldId id="267"/>
            <p14:sldId id="268"/>
            <p14:sldId id="269"/>
            <p14:sldId id="270"/>
          </p14:sldIdLst>
        </p14:section>
        <p14:section name="TC7 · Canvas" id="{a76c293f-4d07-aab4-3ac4-18fe02eb3866}">
          <p14:sldIdLst>
            <p14:sldId id="271"/>
            <p14:sldId id="272"/>
            <p14:sldId id="273"/>
            <p14:sldId id="274"/>
            <p14:sldId id="275"/>
            <p14:sldId id="276"/>
            <p14:sldId id="277"/>
          </p14:sldIdLst>
        </p14:section>
        <p14:section name="TC8 · Propuesta de valor" id="{25ef3c35-3343-ba25-c258-5f58c6ff192e}">
          <p14:sldIdLst>
            <p14:sldId id="278"/>
            <p14:sldId id="279"/>
            <p14:sldId id="280"/>
            <p14:sldId id="281"/>
          </p14:sldIdLst>
        </p14:section>
        <p14:section name="Cierre" id="{54fb7252-d3e5-39b0-5a54-b29dcddd043f}">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Unidades del año 1 por canal</a:t>
            </a:r>
          </a:p>
        </c:rich>
      </c:tx>
      <c:layout/>
      <c:overlay val="0"/>
    </c:title>
    <c:autoTitleDeleted val="0"/>
    <c:plotArea>
      <c:layout/>
      <c:doughnutChart>
        <c:varyColors val="1"/>
        <c:ser>
          <c:idx val="0"/>
          <c:order val="0"/>
          <c:tx>
            <c:strRef>
              <c:f>Sheet1!$B$1</c:f>
              <c:strCache>
                <c:ptCount val="1"/>
                <c:pt idx="0">
                  <c:v>Unidades</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Pt>
            <c:idx val="3"/>
            <c:bubble3D val="0"/>
            <c:spPr>
              <a:solidFill>
                <a:srgbClr val="7C8A3A"/>
              </a:solidFill>
              <a:effectLst/>
            </c:spPr>
          </c:dPt>
          <c:dLbls>
            <c:dLbl>
              <c:idx val="0"/>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WhatsApp e Instagram</c:v>
                </c:pt>
                <c:pt idx="1">
                  <c:v>Quioscos escolares</c:v>
                </c:pt>
                <c:pt idx="2">
                  <c:v>Ferias y eventos</c:v>
                </c:pt>
                <c:pt idx="3">
                  <c:v>Tiendas naturistas</c:v>
                </c:pt>
              </c:strCache>
            </c:strRef>
          </c:cat>
          <c:val>
            <c:numRef>
              <c:f>Sheet1!$B$2:$B$5</c:f>
              <c:numCache>
                <c:ptCount val="4"/>
                <c:pt idx="0">
                  <c:v>60318</c:v>
                </c:pt>
                <c:pt idx="1">
                  <c:v>7245</c:v>
                </c:pt>
                <c:pt idx="2">
                  <c:v>5640</c:v>
                </c:pt>
                <c:pt idx="3">
                  <c:v>3132</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Ingresos por presentación</a:t>
            </a:r>
          </a:p>
        </c:rich>
      </c:tx>
      <c:layout/>
      <c:overlay val="0"/>
    </c:title>
    <c:autoTitleDeleted val="0"/>
    <c:plotArea>
      <c:layout/>
      <c:doughnutChart>
        <c:varyColors val="1"/>
        <c:ser>
          <c:idx val="0"/>
          <c:order val="0"/>
          <c:tx>
            <c:strRef>
              <c:f>Sheet1!$B$1</c:f>
              <c:strCache>
                <c:ptCount val="1"/>
                <c:pt idx="0">
                  <c:v>Ingreso</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Lbls>
            <c:dLbl>
              <c:idx val="0"/>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Pack de 6</c:v>
                </c:pt>
                <c:pt idx="1">
                  <c:v>Pack de 12</c:v>
                </c:pt>
                <c:pt idx="2">
                  <c:v>Unidad</c:v>
                </c:pt>
              </c:strCache>
            </c:strRef>
          </c:cat>
          <c:val>
            <c:numRef>
              <c:f>Sheet1!$B$2:$B$4</c:f>
              <c:numCache>
                <c:ptCount val="3"/>
                <c:pt idx="0">
                  <c:v>166575</c:v>
                </c:pt>
                <c:pt idx="1">
                  <c:v>70723</c:v>
                </c:pt>
                <c:pt idx="2">
                  <c:v>65602</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Ventas mensuales con IGV (marzo 2027 a febrero 2028)</a:t>
            </a:r>
          </a:p>
        </c:rich>
      </c:tx>
      <c:layout/>
      <c:overlay val="0"/>
    </c:title>
    <c:autoTitleDeleted val="0"/>
    <c:plotArea>
      <c:layout/>
      <c:barChart>
        <c:barDir val="col"/>
        <c:grouping val="clustered"/>
        <c:varyColors val="0"/>
        <c:ser>
          <c:idx val="0"/>
          <c:order val="0"/>
          <c:tx>
            <c:strRef>
              <c:f>Sheet1!$B$1</c:f>
              <c:strCache>
                <c:ptCount val="1"/>
                <c:pt idx="0">
                  <c:v>Ventas con IGV</c:v>
                </c:pt>
              </c:strCache>
            </c:strRef>
          </c:tx>
          <c:spPr>
            <a:solidFill>
              <a:srgbClr val="6B3A2A"/>
            </a:solidFill>
            <a:effectLst/>
          </c:spPr>
          <c:invertIfNegative val="0"/>
          <c:dLbls>
            <c:numFmt formatCode="0.0,&quot;k&quot;"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cat>
            <c:multiLvlStrRef>
              <c:f>Sheet1!$A$2:$A$13</c:f>
              <c:multiLvlStrCache>
                <c:ptCount val="12"/>
                <c:lvl>
                  <c:pt idx="0">
                    <c:v>Mar</c:v>
                  </c:pt>
                  <c:pt idx="1">
                    <c:v>Abr</c:v>
                  </c:pt>
                  <c:pt idx="2">
                    <c:v>May</c:v>
                  </c:pt>
                  <c:pt idx="3">
                    <c:v>Jun</c:v>
                  </c:pt>
                  <c:pt idx="4">
                    <c:v>Jul</c:v>
                  </c:pt>
                  <c:pt idx="5">
                    <c:v>Ago</c:v>
                  </c:pt>
                  <c:pt idx="6">
                    <c:v>Set</c:v>
                  </c:pt>
                  <c:pt idx="7">
                    <c:v>Oct</c:v>
                  </c:pt>
                  <c:pt idx="8">
                    <c:v>Nov</c:v>
                  </c:pt>
                  <c:pt idx="9">
                    <c:v>Dic</c:v>
                  </c:pt>
                  <c:pt idx="10">
                    <c:v>Ene</c:v>
                  </c:pt>
                  <c:pt idx="11">
                    <c:v>Feb</c:v>
                  </c:pt>
                </c:lvl>
              </c:multiLvlStrCache>
            </c:multiLvlStrRef>
          </c:cat>
          <c:val>
            <c:numRef>
              <c:f>Sheet1!$B$2:$B$13</c:f>
              <c:numCache>
                <c:formatCode>General</c:formatCode>
                <c:ptCount val="12"/>
                <c:pt idx="0">
                  <c:v>11079</c:v>
                </c:pt>
                <c:pt idx="1">
                  <c:v>16278</c:v>
                </c:pt>
                <c:pt idx="2">
                  <c:v>21101</c:v>
                </c:pt>
                <c:pt idx="3">
                  <c:v>25011</c:v>
                </c:pt>
                <c:pt idx="4">
                  <c:v>23158</c:v>
                </c:pt>
                <c:pt idx="5">
                  <c:v>28004</c:v>
                </c:pt>
                <c:pt idx="6">
                  <c:v>34643</c:v>
                </c:pt>
                <c:pt idx="7">
                  <c:v>37081</c:v>
                </c:pt>
                <c:pt idx="8">
                  <c:v>41168</c:v>
                </c:pt>
                <c:pt idx="9">
                  <c:v>31431</c:v>
                </c:pt>
                <c:pt idx="10">
                  <c:v>14878</c:v>
                </c:pt>
                <c:pt idx="11">
                  <c:v>19070</c:v>
                </c:pt>
              </c:numCache>
            </c:numRef>
          </c:val>
        </c:ser>
        <c:dLbls>
          <c:numFmt formatCode="0.0,&quot;k&quot;"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Costo de producción del pack de 6 (S/ sin IGV)</a:t>
            </a:r>
          </a:p>
        </c:rich>
      </c:tx>
      <c:layout/>
      <c:overlay val="0"/>
    </c:title>
    <c:autoTitleDeleted val="0"/>
    <c:plotArea>
      <c:layout/>
      <c:barChart>
        <c:barDir val="bar"/>
        <c:grouping val="clustered"/>
        <c:varyColors val="0"/>
        <c:ser>
          <c:idx val="0"/>
          <c:order val="0"/>
          <c:tx>
            <c:strRef>
              <c:f>Sheet1!$B$1</c:f>
              <c:strCache>
                <c:ptCount val="1"/>
                <c:pt idx="0">
                  <c:v>S/ por pack</c:v>
                </c:pt>
              </c:strCache>
            </c:strRef>
          </c:tx>
          <c:spPr>
            <a:solidFill>
              <a:srgbClr val="6B3A2A"/>
            </a:solidFill>
            <a:effectLst/>
          </c:spPr>
          <c:invertIfNegative val="0"/>
          <c:dLbls>
            <c:numFmt formatCode="&quot;S/&quot;0.00" sourceLinked="0"/>
            <c:txPr>
              <a:bodyPr/>
              <a:lstStyle/>
              <a:p>
                <a:pPr>
                  <a:defRPr b="0" i="0" strike="noStrike" sz="1300" u="none">
                    <a:solidFill>
                      <a:srgbClr val="3B1A14"/>
                    </a:solidFill>
                    <a:latin typeface="+mn-lt"/>
                  </a:defRPr>
                </a:pPr>
              </a:p>
            </c:txPr>
            <c:showLegendKey val="0"/>
            <c:showVal val="1"/>
            <c:showCatName val="0"/>
            <c:showSerName val="0"/>
            <c:showPercent val="0"/>
            <c:showBubbleSize val="0"/>
            <c:showLeaderLines val="0"/>
          </c:dLbls>
          <c:cat>
            <c:multiLvlStrRef>
              <c:f>Sheet1!$A$2:$A$6</c:f>
              <c:multiLvlStrCache>
                <c:ptCount val="5"/>
                <c:lvl>
                  <c:pt idx="0">
                    <c:v>Merma</c:v>
                  </c:pt>
                  <c:pt idx="1">
                    <c:v>Calidad, transporte y almacén</c:v>
                  </c:pt>
                  <c:pt idx="2">
                    <c:v>Empaque y etiquetas</c:v>
                  </c:pt>
                  <c:pt idx="3">
                    <c:v>Maquila</c:v>
                  </c:pt>
                  <c:pt idx="4">
                    <c:v>Insumos</c:v>
                  </c:pt>
                </c:lvl>
              </c:multiLvlStrCache>
            </c:multiLvlStrRef>
          </c:cat>
          <c:val>
            <c:numRef>
              <c:f>Sheet1!$B$2:$B$6</c:f>
              <c:numCache>
                <c:formatCode>General</c:formatCode>
                <c:ptCount val="5"/>
                <c:pt idx="0">
                  <c:v>0.42</c:v>
                </c:pt>
                <c:pt idx="1">
                  <c:v>1.06</c:v>
                </c:pt>
                <c:pt idx="2">
                  <c:v>1.79</c:v>
                </c:pt>
                <c:pt idx="3">
                  <c:v>3</c:v>
                </c:pt>
                <c:pt idx="4">
                  <c:v>3.63</c:v>
                </c:pt>
              </c:numCache>
            </c:numRef>
          </c:val>
        </c:ser>
        <c:dLbls>
          <c:numFmt formatCode="&quot;S/&quot;0.00" sourceLinked="0"/>
          <c:txPr>
            <a:bodyPr/>
            <a:lstStyle/>
            <a:p>
              <a:pPr>
                <a:defRPr b="0" i="0" strike="noStrike" sz="1300" u="none">
                  <a:solidFill>
                    <a:srgbClr val="3B1A1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A dónde va el precio</a:t>
            </a:r>
          </a:p>
        </c:rich>
      </c:tx>
      <c:layout/>
      <c:overlay val="0"/>
    </c:title>
    <c:autoTitleDeleted val="0"/>
    <c:plotArea>
      <c:layout/>
      <c:barChart>
        <c:barDir val="col"/>
        <c:grouping val="stacked"/>
        <c:varyColors val="0"/>
        <c:ser>
          <c:idx val="0"/>
          <c:order val="0"/>
          <c:tx>
            <c:strRef>
              <c:f>Sheet1!$B$1</c:f>
              <c:strCache>
                <c:ptCount val="1"/>
                <c:pt idx="0">
                  <c:v>Producción</c:v>
                </c:pt>
              </c:strCache>
            </c:strRef>
          </c:tx>
          <c:spPr>
            <a:solidFill>
              <a:srgbClr val="6B3A2A"/>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Pack de 6</c:v>
                  </c:pt>
                </c:lvl>
              </c:multiLvlStrCache>
            </c:multiLvlStrRef>
          </c:cat>
          <c:val>
            <c:numRef>
              <c:f>Sheet1!$B$2:$B$2</c:f>
              <c:numCache>
                <c:formatCode>General</c:formatCode>
                <c:ptCount val="1"/>
                <c:pt idx="0">
                  <c:v>9.9</c:v>
                </c:pt>
              </c:numCache>
            </c:numRef>
          </c:val>
        </c:ser>
        <c:ser>
          <c:idx val="1"/>
          <c:order val="1"/>
          <c:tx>
            <c:strRef>
              <c:f>Sheet1!$C$1</c:f>
              <c:strCache>
                <c:ptCount val="1"/>
                <c:pt idx="0">
                  <c:v>Canal (delivery y pasarela)</c:v>
                </c:pt>
              </c:strCache>
            </c:strRef>
          </c:tx>
          <c:spPr>
            <a:solidFill>
              <a:srgbClr val="D9B48F"/>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Pack de 6</c:v>
                  </c:pt>
                </c:lvl>
              </c:multiLvlStrCache>
            </c:multiLvlStrRef>
          </c:cat>
          <c:val>
            <c:numRef>
              <c:f>Sheet1!$C$2:$C$2</c:f>
              <c:numCache>
                <c:formatCode>General</c:formatCode>
                <c:ptCount val="1"/>
                <c:pt idx="0">
                  <c:v>5.76</c:v>
                </c:pt>
              </c:numCache>
            </c:numRef>
          </c:val>
        </c:ser>
        <c:ser>
          <c:idx val="2"/>
          <c:order val="2"/>
          <c:tx>
            <c:strRef>
              <c:f>Sheet1!$D$1</c:f>
              <c:strCache>
                <c:ptCount val="1"/>
                <c:pt idx="0">
                  <c:v>Contribución</c:v>
                </c:pt>
              </c:strCache>
            </c:strRef>
          </c:tx>
          <c:spPr>
            <a:solidFill>
              <a:srgbClr val="BA4036"/>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Pack de 6</c:v>
                  </c:pt>
                </c:lvl>
              </c:multiLvlStrCache>
            </c:multiLvlStrRef>
          </c:cat>
          <c:val>
            <c:numRef>
              <c:f>Sheet1!$D$2:$D$2</c:f>
              <c:numCache>
                <c:formatCode>General</c:formatCode>
                <c:ptCount val="1"/>
                <c:pt idx="0">
                  <c:v>5.45</c:v>
                </c:pt>
              </c:numCache>
            </c:numRef>
          </c:val>
        </c:ser>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Costos fijos al mes: S/2,857</a:t>
            </a:r>
          </a:p>
        </c:rich>
      </c:tx>
      <c:layout/>
      <c:overlay val="0"/>
    </c:title>
    <c:autoTitleDeleted val="0"/>
    <c:plotArea>
      <c:layout/>
      <c:doughnutChart>
        <c:varyColors val="1"/>
        <c:ser>
          <c:idx val="0"/>
          <c:order val="0"/>
          <c:tx>
            <c:strRef>
              <c:f>Sheet1!$B$1</c:f>
              <c:strCache>
                <c:ptCount val="1"/>
                <c:pt idx="0">
                  <c:v>Fijos</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Pt>
            <c:idx val="3"/>
            <c:bubble3D val="0"/>
            <c:spPr>
              <a:solidFill>
                <a:srgbClr val="D9B48F"/>
              </a:solidFill>
              <a:effectLst/>
            </c:spPr>
          </c:dPt>
          <c:dLbls>
            <c:dLbl>
              <c:idx val="0"/>
              <c:numFmt formatCode="&quot;S/&quot;#,##0" sourceLinked="0"/>
              <c:spPr/>
              <c:txPr>
                <a:bodyPr/>
                <a:lstStyle/>
                <a:p>
                  <a:pPr>
                    <a:defRPr sz="1200" b="1" i="0" u="none" strike="noStrike">
                      <a:solidFill>
                        <a:srgbClr val="FFFFFF"/>
                      </a:solidFill>
                      <a:latin typeface="+mn-lt"/>
                    </a:defRPr>
                  </a:pPr>
                </a:p>
              </c:txPr>
              <c:showLegendKey val="0"/>
              <c:showVal val="1"/>
              <c:showCatName val="0"/>
              <c:showSerName val="0"/>
              <c:showPercent val="0"/>
              <c:showBubbleSize val="0"/>
            </c:dLbl>
            <c:dLbl>
              <c:idx val="1"/>
              <c:numFmt formatCode="&quot;S/&quot;#,##0" sourceLinked="0"/>
              <c:spPr/>
              <c:txPr>
                <a:bodyPr/>
                <a:lstStyle/>
                <a:p>
                  <a:pPr>
                    <a:defRPr sz="1200" b="1" i="0" u="none" strike="noStrike">
                      <a:solidFill>
                        <a:srgbClr val="FFFFFF"/>
                      </a:solidFill>
                      <a:latin typeface="+mn-lt"/>
                    </a:defRPr>
                  </a:pPr>
                </a:p>
              </c:txPr>
              <c:showLegendKey val="0"/>
              <c:showVal val="1"/>
              <c:showCatName val="0"/>
              <c:showSerName val="0"/>
              <c:showPercent val="0"/>
              <c:showBubbleSize val="0"/>
            </c:dLbl>
            <c:dLbl>
              <c:idx val="2"/>
              <c:numFmt formatCode="&quot;S/&quot;#,##0" sourceLinked="0"/>
              <c:spPr/>
              <c:txPr>
                <a:bodyPr/>
                <a:lstStyle/>
                <a:p>
                  <a:pPr>
                    <a:defRPr sz="1200" b="1" i="0" u="none" strike="noStrike">
                      <a:solidFill>
                        <a:srgbClr val="FFFFFF"/>
                      </a:solidFill>
                      <a:latin typeface="+mn-lt"/>
                    </a:defRPr>
                  </a:pPr>
                </a:p>
              </c:txPr>
              <c:showLegendKey val="0"/>
              <c:showVal val="1"/>
              <c:showCatName val="0"/>
              <c:showSerName val="0"/>
              <c:showPercent val="0"/>
              <c:showBubbleSize val="0"/>
            </c:dLbl>
            <c:dLbl>
              <c:idx val="3"/>
              <c:numFmt formatCode="&quot;S/&quot;#,##0" sourceLinked="0"/>
              <c:spPr/>
              <c:txPr>
                <a:bodyPr/>
                <a:lstStyle/>
                <a:p>
                  <a:pPr>
                    <a:defRPr sz="1200" b="1" i="0" u="none" strike="noStrike">
                      <a:solidFill>
                        <a:srgbClr val="FFFFFF"/>
                      </a:solidFill>
                      <a:latin typeface="+mn-lt"/>
                    </a:defRPr>
                  </a:pPr>
                </a:p>
              </c:txPr>
              <c:showLegendKey val="0"/>
              <c:showVal val="1"/>
              <c:showCatName val="0"/>
              <c:showSerName val="0"/>
              <c:showPercent val="0"/>
              <c:showBubbleSize val="0"/>
            </c:dLbl>
            <c:numFmt formatCode="&quot;S/&quot;#,##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Marketing</c:v>
                </c:pt>
                <c:pt idx="1">
                  <c:v>Asistente de pedidos</c:v>
                </c:pt>
                <c:pt idx="2">
                  <c:v>Administración</c:v>
                </c:pt>
                <c:pt idx="3">
                  <c:v>Depreciación</c:v>
                </c:pt>
              </c:strCache>
            </c:strRef>
          </c:cat>
          <c:val>
            <c:numRef>
              <c:f>Sheet1!$B$2:$B$5</c:f>
              <c:numCache>
                <c:ptCount val="4"/>
                <c:pt idx="0">
                  <c:v>1292</c:v>
                </c:pt>
                <c:pt idx="1">
                  <c:v>800</c:v>
                </c:pt>
                <c:pt idx="2">
                  <c:v>700</c:v>
                </c:pt>
                <c:pt idx="3">
                  <c:v>65</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Brownies al mes frente al punto de equilibrio</a:t>
            </a:r>
          </a:p>
        </c:rich>
      </c:tx>
      <c:layout/>
      <c:overlay val="0"/>
    </c:title>
    <c:autoTitleDeleted val="0"/>
    <c:plotArea>
      <c:layout/>
      <c:barChart>
        <c:barDir val="col"/>
        <c:grouping val="clustered"/>
        <c:varyColors val="0"/>
        <c:ser>
          <c:idx val="0"/>
          <c:order val="0"/>
          <c:tx>
            <c:strRef>
              <c:f>Sheet1!$B$1</c:f>
              <c:strCache>
                <c:ptCount val="1"/>
                <c:pt idx="0">
                  <c:v>Brownies vendidos</c:v>
                </c:pt>
              </c:strCache>
            </c:strRef>
          </c:tx>
          <c:spPr>
            <a:solidFill>
              <a:srgbClr val="6B3A2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Mar</c:v>
                  </c:pt>
                  <c:pt idx="1">
                    <c:v>Abr</c:v>
                  </c:pt>
                  <c:pt idx="2">
                    <c:v>May</c:v>
                  </c:pt>
                  <c:pt idx="3">
                    <c:v>Jun</c:v>
                  </c:pt>
                  <c:pt idx="4">
                    <c:v>Jul</c:v>
                  </c:pt>
                  <c:pt idx="5">
                    <c:v>Ago</c:v>
                  </c:pt>
                  <c:pt idx="6">
                    <c:v>Set</c:v>
                  </c:pt>
                  <c:pt idx="7">
                    <c:v>Oct</c:v>
                  </c:pt>
                  <c:pt idx="8">
                    <c:v>Nov</c:v>
                  </c:pt>
                  <c:pt idx="9">
                    <c:v>Dic</c:v>
                  </c:pt>
                  <c:pt idx="10">
                    <c:v>Ene</c:v>
                  </c:pt>
                  <c:pt idx="11">
                    <c:v>Feb</c:v>
                  </c:pt>
                </c:lvl>
              </c:multiLvlStrCache>
            </c:multiLvlStrRef>
          </c:cat>
          <c:val>
            <c:numRef>
              <c:f>Sheet1!$B$2:$B$13</c:f>
              <c:numCache>
                <c:formatCode>General</c:formatCode>
                <c:ptCount val="12"/>
                <c:pt idx="0">
                  <c:v>2640</c:v>
                </c:pt>
                <c:pt idx="1">
                  <c:v>4020</c:v>
                </c:pt>
                <c:pt idx="2">
                  <c:v>5220</c:v>
                </c:pt>
                <c:pt idx="3">
                  <c:v>6300</c:v>
                </c:pt>
                <c:pt idx="4">
                  <c:v>5808</c:v>
                </c:pt>
                <c:pt idx="5">
                  <c:v>7071</c:v>
                </c:pt>
                <c:pt idx="6">
                  <c:v>8880</c:v>
                </c:pt>
                <c:pt idx="7">
                  <c:v>9480</c:v>
                </c:pt>
                <c:pt idx="8">
                  <c:v>10560</c:v>
                </c:pt>
                <c:pt idx="9">
                  <c:v>7980</c:v>
                </c:pt>
                <c:pt idx="10">
                  <c:v>3672</c:v>
                </c:pt>
                <c:pt idx="11">
                  <c:v>4704</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Punto de equilibrio (3,308)</c:v>
                </c:pt>
              </c:strCache>
            </c:strRef>
          </c:tx>
          <c:spPr>
            <a:solidFill>
              <a:srgbClr val="BA4036"/>
            </a:solidFill>
            <a:ln w="38100" cap="flat">
              <a:solidFill>
                <a:srgbClr val="BA4036"/>
              </a:solidFill>
              <a:prstDash val="solid"/>
              <a:round/>
            </a:ln>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marker>
            <c:symbol val="none"/>
            <c:size val="6"/>
            <c:spPr>
              <a:solidFill>
                <a:srgbClr val="BA4036"/>
              </a:solidFill>
              <a:ln w="9525" cap="flat">
                <a:solidFill>
                  <a:srgbClr val="BA4036"/>
                </a:solidFill>
                <a:prstDash val="solid"/>
                <a:round/>
              </a:ln>
              <a:effectLst/>
            </c:spPr>
          </c:marker>
          <c:cat>
            <c:multiLvlStrRef>
              <c:f>Sheet1!$A$2:$A$13</c:f>
              <c:multiLvlStrCache>
                <c:ptCount val="12"/>
                <c:lvl>
                  <c:pt idx="0">
                    <c:v>Mar</c:v>
                  </c:pt>
                  <c:pt idx="1">
                    <c:v>Abr</c:v>
                  </c:pt>
                  <c:pt idx="2">
                    <c:v>May</c:v>
                  </c:pt>
                  <c:pt idx="3">
                    <c:v>Jun</c:v>
                  </c:pt>
                  <c:pt idx="4">
                    <c:v>Jul</c:v>
                  </c:pt>
                  <c:pt idx="5">
                    <c:v>Ago</c:v>
                  </c:pt>
                  <c:pt idx="6">
                    <c:v>Set</c:v>
                  </c:pt>
                  <c:pt idx="7">
                    <c:v>Oct</c:v>
                  </c:pt>
                  <c:pt idx="8">
                    <c:v>Nov</c:v>
                  </c:pt>
                  <c:pt idx="9">
                    <c:v>Dic</c:v>
                  </c:pt>
                  <c:pt idx="10">
                    <c:v>Ene</c:v>
                  </c:pt>
                  <c:pt idx="11">
                    <c:v>Feb</c:v>
                  </c:pt>
                </c:lvl>
              </c:multiLvlStrCache>
            </c:multiLvlStrRef>
          </c:cat>
          <c:val>
            <c:numRef>
              <c:f>Sheet1!$C$2:$C$13</c:f>
              <c:numCache>
                <c:formatCode>General</c:formatCode>
                <c:ptCount val="12"/>
                <c:pt idx="0">
                  <c:v>3308</c:v>
                </c:pt>
                <c:pt idx="1">
                  <c:v>3308</c:v>
                </c:pt>
                <c:pt idx="2">
                  <c:v>3308</c:v>
                </c:pt>
                <c:pt idx="3">
                  <c:v>3308</c:v>
                </c:pt>
                <c:pt idx="4">
                  <c:v>3308</c:v>
                </c:pt>
                <c:pt idx="5">
                  <c:v>3308</c:v>
                </c:pt>
                <c:pt idx="6">
                  <c:v>3308</c:v>
                </c:pt>
                <c:pt idx="7">
                  <c:v>3308</c:v>
                </c:pt>
                <c:pt idx="8">
                  <c:v>3308</c:v>
                </c:pt>
                <c:pt idx="9">
                  <c:v>3308</c:v>
                </c:pt>
                <c:pt idx="10">
                  <c:v>3308</c:v>
                </c:pt>
                <c:pt idx="11">
                  <c:v>3308</c:v>
                </c:pt>
              </c:numCache>
            </c:numRef>
          </c:val>
          <c:smooth val="0"/>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Resultado operativo mensual (S/)</a:t>
            </a:r>
          </a:p>
        </c:rich>
      </c:tx>
      <c:layout/>
      <c:overlay val="0"/>
    </c:title>
    <c:autoTitleDeleted val="0"/>
    <c:plotArea>
      <c:layout/>
      <c:barChart>
        <c:barDir val="col"/>
        <c:grouping val="clustered"/>
        <c:varyColors val="0"/>
        <c:ser>
          <c:idx val="0"/>
          <c:order val="0"/>
          <c:tx>
            <c:strRef>
              <c:f>Sheet1!$B$1</c:f>
              <c:strCache>
                <c:ptCount val="1"/>
                <c:pt idx="0">
                  <c:v>Resultado operativo</c:v>
                </c:pt>
              </c:strCache>
            </c:strRef>
          </c:tx>
          <c:spPr>
            <a:solidFill>
              <a:srgbClr val="7C8A3A"/>
            </a:solidFill>
            <a:effectLst/>
          </c:spPr>
          <c:invertIfNegative val="0"/>
          <c:dLbls>
            <c:numFmt formatCode="#,##0"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dPt>
            <c:idx val="0"/>
            <c:invertIfNegative val="0"/>
            <c:bubble3D val="0"/>
            <c:spPr>
              <a:solidFill>
                <a:srgbClr val="BA4036"/>
              </a:solidFill>
              <a:effectLst/>
            </c:spPr>
          </c:dPt>
          <c:dPt>
            <c:idx val="1"/>
            <c:invertIfNegative val="0"/>
            <c:bubble3D val="0"/>
            <c:spPr>
              <a:solidFill>
                <a:srgbClr val="7C8A3A"/>
              </a:solidFill>
              <a:effectLst/>
            </c:spPr>
          </c:dPt>
          <c:dPt>
            <c:idx val="2"/>
            <c:invertIfNegative val="0"/>
            <c:bubble3D val="0"/>
            <c:spPr>
              <a:solidFill>
                <a:srgbClr val="7C8A3A"/>
              </a:solidFill>
              <a:effectLst/>
            </c:spPr>
          </c:dPt>
          <c:dPt>
            <c:idx val="3"/>
            <c:invertIfNegative val="0"/>
            <c:bubble3D val="0"/>
            <c:spPr>
              <a:solidFill>
                <a:srgbClr val="7C8A3A"/>
              </a:solidFill>
              <a:effectLst/>
            </c:spPr>
          </c:dPt>
          <c:dPt>
            <c:idx val="4"/>
            <c:invertIfNegative val="0"/>
            <c:bubble3D val="0"/>
            <c:spPr>
              <a:solidFill>
                <a:srgbClr val="7C8A3A"/>
              </a:solidFill>
              <a:effectLst/>
            </c:spPr>
          </c:dPt>
          <c:dPt>
            <c:idx val="5"/>
            <c:invertIfNegative val="0"/>
            <c:bubble3D val="0"/>
            <c:spPr>
              <a:solidFill>
                <a:srgbClr val="7C8A3A"/>
              </a:solidFill>
              <a:effectLst/>
            </c:spPr>
          </c:dPt>
          <c:dPt>
            <c:idx val="6"/>
            <c:invertIfNegative val="0"/>
            <c:bubble3D val="0"/>
            <c:spPr>
              <a:solidFill>
                <a:srgbClr val="7C8A3A"/>
              </a:solidFill>
              <a:effectLst/>
            </c:spPr>
          </c:dPt>
          <c:dPt>
            <c:idx val="7"/>
            <c:invertIfNegative val="0"/>
            <c:bubble3D val="0"/>
            <c:spPr>
              <a:solidFill>
                <a:srgbClr val="7C8A3A"/>
              </a:solidFill>
              <a:effectLst/>
            </c:spPr>
          </c:dPt>
          <c:dPt>
            <c:idx val="8"/>
            <c:invertIfNegative val="0"/>
            <c:bubble3D val="0"/>
            <c:spPr>
              <a:solidFill>
                <a:srgbClr val="7C8A3A"/>
              </a:solidFill>
              <a:effectLst/>
            </c:spPr>
          </c:dPt>
          <c:dPt>
            <c:idx val="9"/>
            <c:invertIfNegative val="0"/>
            <c:bubble3D val="0"/>
            <c:spPr>
              <a:solidFill>
                <a:srgbClr val="7C8A3A"/>
              </a:solidFill>
              <a:effectLst/>
            </c:spPr>
          </c:dPt>
          <c:dPt>
            <c:idx val="10"/>
            <c:invertIfNegative val="0"/>
            <c:bubble3D val="0"/>
            <c:spPr>
              <a:solidFill>
                <a:srgbClr val="7C8A3A"/>
              </a:solidFill>
              <a:effectLst/>
            </c:spPr>
          </c:dPt>
          <c:dPt>
            <c:idx val="11"/>
            <c:invertIfNegative val="0"/>
            <c:bubble3D val="0"/>
            <c:spPr>
              <a:solidFill>
                <a:srgbClr val="7C8A3A"/>
              </a:solidFill>
              <a:effectLst/>
            </c:spPr>
          </c:dPt>
          <c:cat>
            <c:multiLvlStrRef>
              <c:f>Sheet1!$A$2:$A$13</c:f>
              <c:multiLvlStrCache>
                <c:ptCount val="12"/>
                <c:lvl>
                  <c:pt idx="0">
                    <c:v>Mar</c:v>
                  </c:pt>
                  <c:pt idx="1">
                    <c:v>Abr</c:v>
                  </c:pt>
                  <c:pt idx="2">
                    <c:v>May</c:v>
                  </c:pt>
                  <c:pt idx="3">
                    <c:v>Jun</c:v>
                  </c:pt>
                  <c:pt idx="4">
                    <c:v>Jul</c:v>
                  </c:pt>
                  <c:pt idx="5">
                    <c:v>Ago</c:v>
                  </c:pt>
                  <c:pt idx="6">
                    <c:v>Set</c:v>
                  </c:pt>
                  <c:pt idx="7">
                    <c:v>Oct</c:v>
                  </c:pt>
                  <c:pt idx="8">
                    <c:v>Nov</c:v>
                  </c:pt>
                  <c:pt idx="9">
                    <c:v>Dic</c:v>
                  </c:pt>
                  <c:pt idx="10">
                    <c:v>Ene</c:v>
                  </c:pt>
                  <c:pt idx="11">
                    <c:v>Feb</c:v>
                  </c:pt>
                </c:lvl>
              </c:multiLvlStrCache>
            </c:multiLvlStrRef>
          </c:cat>
          <c:val>
            <c:numRef>
              <c:f>Sheet1!$B$2:$B$13</c:f>
              <c:numCache>
                <c:formatCode>General</c:formatCode>
                <c:ptCount val="12"/>
                <c:pt idx="0">
                  <c:v>-420</c:v>
                </c:pt>
                <c:pt idx="1">
                  <c:v>686</c:v>
                </c:pt>
                <c:pt idx="2">
                  <c:v>1732</c:v>
                </c:pt>
                <c:pt idx="3">
                  <c:v>2566</c:v>
                </c:pt>
                <c:pt idx="4">
                  <c:v>2186</c:v>
                </c:pt>
                <c:pt idx="5">
                  <c:v>3261</c:v>
                </c:pt>
                <c:pt idx="6">
                  <c:v>4662</c:v>
                </c:pt>
                <c:pt idx="7">
                  <c:v>5179</c:v>
                </c:pt>
                <c:pt idx="8">
                  <c:v>6094</c:v>
                </c:pt>
                <c:pt idx="9">
                  <c:v>4023</c:v>
                </c:pt>
                <c:pt idx="10">
                  <c:v>390</c:v>
                </c:pt>
                <c:pt idx="11">
                  <c:v>1278</c:v>
                </c:pt>
              </c:numCache>
            </c:numRef>
          </c:val>
        </c:ser>
        <c:dLbls>
          <c:numFmt formatCode="#,##0"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Precio por 20 g (S/)</a:t>
            </a:r>
          </a:p>
        </c:rich>
      </c:tx>
      <c:layout/>
      <c:overlay val="0"/>
    </c:title>
    <c:autoTitleDeleted val="0"/>
    <c:plotArea>
      <c:layout/>
      <c:barChart>
        <c:barDir val="bar"/>
        <c:grouping val="stacked"/>
        <c:varyColors val="0"/>
        <c:ser>
          <c:idx val="0"/>
          <c:order val="0"/>
          <c:tx>
            <c:strRef>
              <c:f>Sheet1!$B$1</c:f>
              <c:strCache>
                <c:ptCount val="1"/>
                <c:pt idx="0">
                  <c:v>Competencia</c:v>
                </c:pt>
              </c:strCache>
            </c:strRef>
          </c:tx>
          <c:spPr>
            <a:solidFill>
              <a:srgbClr val="D9B48F"/>
            </a:solidFill>
            <a:effectLst/>
          </c:spPr>
          <c:invertIfNegative val="0"/>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Bimbo Nutra Bien</c:v>
                  </c:pt>
                  <c:pt idx="1">
                    <c:v>Siete Dragones</c:v>
                  </c:pt>
                  <c:pt idx="2">
                    <c:v>Nutri H</c:v>
                  </c:pt>
                  <c:pt idx="3">
                    <c:v>AndiBite pack de 12</c:v>
                  </c:pt>
                  <c:pt idx="4">
                    <c:v>Fika</c:v>
                  </c:pt>
                  <c:pt idx="5">
                    <c:v>Mamalama</c:v>
                  </c:pt>
                  <c:pt idx="6">
                    <c:v>AndiBite pack de 6</c:v>
                  </c:pt>
                </c:lvl>
              </c:multiLvlStrCache>
            </c:multiLvlStrRef>
          </c:cat>
          <c:val>
            <c:numRef>
              <c:f>Sheet1!$B$2:$B$8</c:f>
              <c:numCache>
                <c:formatCode>General</c:formatCode>
                <c:ptCount val="7"/>
                <c:pt idx="0">
                  <c:v>1.67</c:v>
                </c:pt>
                <c:pt idx="1">
                  <c:v>3.01</c:v>
                </c:pt>
                <c:pt idx="2">
                  <c:v>3.2</c:v>
                </c:pt>
                <c:pt idx="3">
                  <c:v>0</c:v>
                </c:pt>
                <c:pt idx="4">
                  <c:v>4</c:v>
                </c:pt>
                <c:pt idx="5">
                  <c:v>4.1</c:v>
                </c:pt>
                <c:pt idx="6">
                  <c:v>0</c:v>
                </c:pt>
              </c:numCache>
            </c:numRef>
          </c:val>
        </c:ser>
        <c:ser>
          <c:idx val="1"/>
          <c:order val="1"/>
          <c:tx>
            <c:strRef>
              <c:f>Sheet1!$C$1</c:f>
              <c:strCache>
                <c:ptCount val="1"/>
                <c:pt idx="0">
                  <c:v>AndiBite</c:v>
                </c:pt>
              </c:strCache>
            </c:strRef>
          </c:tx>
          <c:spPr>
            <a:solidFill>
              <a:srgbClr val="BA4036"/>
            </a:solidFill>
            <a:effectLst/>
          </c:spPr>
          <c:invertIfNegative val="0"/>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Bimbo Nutra Bien</c:v>
                  </c:pt>
                  <c:pt idx="1">
                    <c:v>Siete Dragones</c:v>
                  </c:pt>
                  <c:pt idx="2">
                    <c:v>Nutri H</c:v>
                  </c:pt>
                  <c:pt idx="3">
                    <c:v>AndiBite pack de 12</c:v>
                  </c:pt>
                  <c:pt idx="4">
                    <c:v>Fika</c:v>
                  </c:pt>
                  <c:pt idx="5">
                    <c:v>Mamalama</c:v>
                  </c:pt>
                  <c:pt idx="6">
                    <c:v>AndiBite pack de 6</c:v>
                  </c:pt>
                </c:lvl>
              </c:multiLvlStrCache>
            </c:multiLvlStrRef>
          </c:cat>
          <c:val>
            <c:numRef>
              <c:f>Sheet1!$C$2:$C$8</c:f>
              <c:numCache>
                <c:formatCode>General</c:formatCode>
                <c:ptCount val="7"/>
                <c:pt idx="0">
                  <c:v>0</c:v>
                </c:pt>
                <c:pt idx="1">
                  <c:v>0</c:v>
                </c:pt>
                <c:pt idx="2">
                  <c:v>0</c:v>
                </c:pt>
                <c:pt idx="3">
                  <c:v>3.91</c:v>
                </c:pt>
                <c:pt idx="4">
                  <c:v>0</c:v>
                </c:pt>
                <c:pt idx="5">
                  <c:v>0</c:v>
                </c:pt>
                <c:pt idx="6">
                  <c:v>4.15</c:v>
                </c:pt>
              </c:numCache>
            </c:numRef>
          </c:val>
        </c:ser>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los trabajos de campo 5 a 8 de AndiBite, el mini brownie de 20 g con sangrecita. Todo sale de la misma base: el público reformulado (padres conscientes y planificados, NSE A/B), el costeo con maquila y los precios confirmados por el equipo el 9 de octubre de 2026 (pack de 6 a S/24.90).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trabajos se conectan: el cliente (TC5) define cómo nos relacionamos y cobramos (TC6); eso arma el Canvas con socios, recursos, actividades y costos (TC7); y todo se resume en el mapa de propuesta de valor (TC8).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5: arquetipo de cliente, buyer persona, tipos de mercado y selección del canal de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mercado según el bloque de segmentos del Canvas (Osterwalder y Pigneur): masivo, nicho, segmentado, diversificado y multilateral. AndiBite es un NICHO (padres A/B con hijos de 4 a 11 años en Lima Top y Lima Moderna) y dentro de él SEGMENTA dos necesidades: salud verificable (Claudia) y ahorro de tiempo (Rodrigo). Por tipo de comprador, el 86.4 % de las unidades va a consumidor final (B2C) y el 13.6 % a negocios (B2B: concesionarios de quioscos escolares y tiendas naturistas). Fuente de unidades: Costeo-presentaciones-AndiBite.xlsx, hoja Mensual.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Embudo del documento 04 (APEIM 2025, CPI 2026, INEI, Kantar). TAM: todas las loncheras con horneado o snack envasado de niños de 4 a 11 años en Lima y Callao (S/130.9 millones). SAM: niños de NSE A/B en toda Lima a precio premium (S/62.8 millones). Núcleo: NSE A/B de las zonas 6 y 7 de APEIM (S/17.3 millones). SOM del año 1: 76,335 brownies y S/302,900 con IGV, con los precios confirmados; es menos del 2 % del núcleo. Ajuste de -5 % por el Censo 2025 aplicado en el documento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arquetipo es el patrón de compra de un grupo; la buyer persona es la ficha de una persona que lo representa. Guardiana del Hierro: compra por salud verificable (la representa Claudia). El Resolutivo: compra tiempo y practicidad (lo representa Rodrigo). El Prescriptor: quiosco, nutricionista o pediatra que valida la marca ante los otros dos. Los porcentajes de volumen son hipótesis del equipo (documento 03-entregables/01).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Claudia Mendoza Ríos, 38 años, San Borja (zona 7 de APEIM, 71.6 % de hogares A/B). Abogada corporativa, casada con Diego, hijos Matías (7) y Luciana (4); fue madre a los 31 y 34, como el 53.1 % de las madres de Lima que tienen hijos después de los 30. Ingreso familiar S/13,500 (hipótesis entre los promedios B y A de APEIM 2025). Objeciones: ¿no sabe a sangrecita?, ¿cuántos mg de hierro?, ¿tiene registro sanitario? Cómo le vendemos: degustación con el niño delante, hierro en mg y registro sanitario visibles.
IMAGEN 1 — prompt para Nano Banana (proporción 3:4):
Photorealistic editorial portrait of a 38-year-old Peruvian woman, a corporate lawyer from San Borja, Lima. Latin American mestiza features, shoulder-length dark brown hair, natural makeup, warm and confident half-smile. She wears a cream silk blouse under a camel blazer. She stands in a bright modern kitchen early in the morning, holding a child's school lunchbox in both hands. Soft window light from the left, background softly blurred with warm wood and cream tones and small accents of chocolate brown and brick red. Shot on an 85mm lens at f/2, shallow depth of field, natural skin texture, no retouched plastic look. Vertical 3:4 composition, waist-up framing, subject centered with some space above the head. No text, no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Rodrigo Salazar, 42 años, La Molina. Gerente de operaciones; su esposa viaja por trabajo y él arma las loncheras. Ingreso familiar S/18,000 (hipótesis, A2). No busca salud, busca resolver: un pack que dure la semana, que aguante la mochila y que pueda pedir por WhatsApp con recordatorio. El pack de 12 a S/46.90 equivale a S/23.45 por cada 6, dentro de lo que pagaría (S/18 a 24).
IMAGEN 2 — prompt para Nano Banana (proporción 3:4):
Photorealistic editorial portrait of a 42-year-old Peruvian man, an operations manager from La Molina, Lima. Short dark hair with a few grey strands, light stubble, friendly and practical expression, slightly hurried morning energy. He wears a navy quarter-zip sweater over a light blue shirt and a smartwatch. Early morning in a modern home kitchen: he holds his phone in one hand (a chat app on screen, not legible) while closing a child's school lunchbox with the other. Warm morning light, cream walls, wooden counter, small accents of chocolate brown and brick red. 85mm lens, f/2, shallow depth of field, natural skin texture. Vertical 3:4 composition, waist-up framing. No text, no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cinco fases del canal según Osterwalder: información, evaluación, compra, entrega y posventa. La compra se cierra por WhatsApp Business (la fase en rojo). El canal es mayormente propio y directo; los quioscos escolares y las naturistas son canales de socios con comisión (25 % el concesionario, 40 % la tienda).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margen por brownie (contribución por unidad del Excel: ferias S/1.20, directo S/0.86, quiosco S/0.72, naturista S/0.63), control del mensaje y del cliente, costo de entrada y alcance del segmento. El supermercado exige listing, crédito largo y volumen: entra en el año 2. Reparto de unidades del documento 05 (tabla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6: relaciones con el cliente y los diferentes tipos de ingresos.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seis tipos de relación de Osterwalder y cómo los usa AndiBite. Las tres fuertes (asistencia personal por WhatsApp, recordatorio automático de recompra y comunidad de mamás embajadoras) sostienen la recompra; las de apoyo crecen con el volumen. Con los colegios y naturistas la relación es exclusiva: un socio responde por cada cuenta.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Captar: la caja degustación (3 brownies a S/4 = S/12) hace que el niño pruebe delante de la madre; el cupón de S/3 empuja el primer pack. Fidelizar: recordatorio por WhatsApp cuando el pack está por acabarse (unos 12 días después de la compra), sin suscripción ni compromiso. Crecer: mamá embajadora por salón y paso al pack de 12. Metas del documento 07: 300 familias en espera, 35 % de recompra a 60 días, 700 hogares activos.
IMAGEN 3 — prompt para Nano Banana (proporción 9:16 · adjuntar la foto del empaque):
Use the attached AndiBite package image only as a reference for the brand colors and the product. Top-down flat-lay photo of an open children's school lunchbox on a light wooden table: one mini chocolate brownie (about 5 x 3 cm, fudgy, dark cocoa color, crackly top) inside a small clear individual bag, fresh strawberries and banana slices in a small container, a reusable water bottle and a folded cloth napkin. Next to the lunchbox, the AndiBite stand-up pouch from the reference, slightly out of focus, label turned partly away. Soft natural morning light, clean food styling, warm palette of cream and chocolate brown with brick red accents. Vertical 9:16 composition, lunchbox centered, calm empty area at the top. Do not invent or rewrite any text on the package, no extra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ingreso (Osterwalder): venta de activos (packs y unidades), venta por volumen (pack de 12), venta mayorista B2B y eventos. Porcentajes sobre las ventas con IGV del año 1 (S/302,900), hoja Proyeccion del Excel. Mecanismo de precio: fijo por lista, con descuento por volumen. Precios confirmados por el equipo el 9 de octubre de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del Excel (hojas Proyeccion y Mensual). El pack de 6 trae el 55 % de los ingresos. La venta crece con el año escolar, toca su pico en noviembre y cae en enero y febrero por vacaciones. Escenario base del documento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7: asociaciones, recursos, actividades y costos; presentación del modelo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Socios clave del documento 07. La planta maquiladora (con HACCP o PGH) produce y empaca, así que no necesitamos planta propia ni su certificación; la S.A.C. es titular del registro sanitario y la planta, fabricante. Motivos de alianza según Osterwalder: optimización y economía de escala (maquila), reducción de riesgo (laboratorio), adquisición de recursos (proveedores). Tarifa de maquila supuesta S/0.50 por unidad [POR CONFIRMAR con MAKING y Panificadora Unión].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Recursos clave en los cuatro tipos de Osterwalder: físicos, intelectuales, humanos y financieros. La inversión inicial de S/34,484 viene del documento 05 (S/25,000 de los socios y un préstamo de S/10,000). Actividades clave: producción a través de la maquila, solución de problemas (I+D, regulación) y la red de venta directa.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Costeo del Excel, opción B (cada brownie en bolsita, dentro del doypack). Precio S/24.90 con IGV = S/21.10 sin IGV. Producción S/9.90; canal directo S/5.76 (delivery de S/0.80 por brownie, pasarela de 3 % y renta de 1 %); contribución S/5.45 por pack. La maquila (S/0.50 por brownie) y el polvo de sangrecita están por confirmar: son el 40 % del costo. Estructura de costos basada en el valor, con costos variables en lugar de fijos.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Costos fijos del Excel (hoja Supuestos): marketing S/1,291.67, asistente S/800, administración S/700 y depreciación S/65. Punto de equilibrio con la opción B: 3,308 brownies al mes (unos 551 packs de 6). Solo marzo, enero y febrero quedan cerca o debajo del equilibrio por el calendario escolar.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 operativo mensual de la opción B (hoja Mensual del Excel). Marzo cierra con una pérdida de S/420 y desde abril hay ganancia. Total del año: S/31,638, margen de 12.3 % sobre las ventas sin IGV. Con los brownies sueltos (opción C) el resultado sube a S/35,083.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Canvas con los nueve bloques de Osterwalder y Pigneur, actualizado con los precios confirmados (pack de 6 a S/24.90) y el costeo con maquila. El detalle de cada bloque está en las diapositivas anteriores y en el documento 04-reformulacion/07.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8: mapa de propuesta de valor (Value Proposition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Proposition Canvas de Osterwalder. A la derecha, el perfil del cliente: trabajos, dolores y alegrías, con evidencia de las 10 entrevistas, el focus 1 y datos secundarios (Ipsos 2025, Kantar 2025, ENDES). A la izquierda, el mapa de valor: productos y servicios, aliviadores de dolor y creadores de alegrías. El encaje se detalla en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Encaje problema-solución. Evidencias: rechazo de la sangrecita visible en las entrevistas ("olía feo", "parecía carbón"); 83 % cambia su compra por los octógonos (Ipsos Perú, 21/02/2025); 42 % desconfía de que un envasado sea saludable (Kantar, 2025); "el jueves ya no sé qué mandar" y la mochila que malogra la comida (entrevistas). El "sin octógono" solo se imprime cuando el laboratorio lo confirme.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Precios por 20 g consultados el 3 de octubre de 2026 (documento 02): Nutri H S/3.20, Fika S/4.00, Mamalama S/4.10, Siete Dragones S/3.01, Bimbo Nutra Bien S/1.67. AndiBite: pack de 6 a S/24.90 (S/4.15 por brownie) y pack de 12 a S/46.90 (S/3.91). Completar con los datos del store check de La Molina.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con la propuesta de valor en una frase y los tres pasos que faltan para validar: cargar los resultados del focus 2, cotizar la maquila con MAKING y Panificadora Unión, y medir hierro y azúcar en un laboratorio INACAL.
IMAGEN 4 — prompt para Nano Banana (proporción 2:3 · adjuntar la foto del empaque):
Use the attached AndiBite package image only as a reference for the pouch and colors. Warm candid lifestyle photo of a 7-year-old Peruvian boy in a private school uniform (white polo shirt and navy sweater) sitting on a bench in a school courtyard at recess. He has just opened his lunchbox and smiles while holding a mini chocolate brownie; the AndiBite pouch is visible in the lunchbox with the label partly turned away. Soft daylight, shallow depth of field, background of blurred green trees and classmates. Warm color grading with chocolate brown, cream and brick red accents. Natural and unposed, eye-level camera, vertical 2:3 composition with the boy on the center-left. No text, no extra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3246120"/>
            <a:ext cx="6766560" cy="777240"/>
          </a:xfrm>
          <a:prstGeom prst="rect">
            <a:avLst/>
          </a:prstGeom>
          <a:noFill/>
          <a:ln/>
        </p:spPr>
        <p:txBody>
          <a:bodyPr wrap="square" rtlCol="0"/>
          <a:lstStyle>
            <a:lvl1pPr algn="l" indent="0" marL="0">
              <a:buNone/>
              <a:defRPr lang="en-US" sz="4000" b="1" dirty="0">
                <a:solidFill>
                  <a:schemeClr val="bg2"/>
                </a:solidFill>
              </a:defRPr>
            </a:lvl1pPr>
          </a:lstStyle>
          <a:p>
            <a:pPr algn="l" indent="0" marL="0">
              <a:buNone/>
            </a:pPr>
            <a:endParaRPr lang="en-US" sz="4000" dirty="0"/>
          </a:p>
        </p:txBody>
      </p:sp>
      <p:sp>
        <p:nvSpPr>
          <p:cNvPr id="3" name="Text 0"/>
          <p:cNvSpPr/>
          <p:nvPr>
            <p:ph idx="101" type="body" hasCustomPrompt="1"/>
          </p:nvPr>
        </p:nvSpPr>
        <p:spPr>
          <a:xfrm>
            <a:off x="731520" y="4069080"/>
            <a:ext cx="6766560" cy="7315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234440"/>
            <a:ext cx="6766560" cy="1463040"/>
          </a:xfrm>
          <a:prstGeom prst="rect">
            <a:avLst/>
          </a:prstGeom>
          <a:noFill/>
          <a:ln/>
        </p:spPr>
        <p:txBody>
          <a:bodyPr wrap="square" rtlCol="0"/>
          <a:lstStyle>
            <a:lvl1pPr algn="l" indent="0" marL="0">
              <a:buNone/>
              <a:defRPr lang="en-US" sz="4800" b="1" dirty="0">
                <a:solidFill>
                  <a:schemeClr val="bg2"/>
                </a:solidFill>
              </a:defRPr>
            </a:lvl1pPr>
          </a:lstStyle>
          <a:p>
            <a:pPr algn="l" indent="0" marL="0">
              <a:buNone/>
            </a:pPr>
            <a:endParaRPr lang="en-US" sz="4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CION">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6949440" cy="1417320"/>
          </a:xfrm>
          <a:prstGeom prst="rect">
            <a:avLst/>
          </a:prstGeom>
          <a:noFill/>
          <a:ln/>
        </p:spPr>
        <p:txBody>
          <a:bodyPr wrap="square" rtlCol="0"/>
          <a:lstStyle>
            <a:lvl1pPr algn="l" indent="0" marL="0">
              <a:buNone/>
              <a:defRPr lang="en-US" sz="4400" b="1" dirty="0">
                <a:solidFill>
                  <a:schemeClr val="bg2"/>
                </a:solidFill>
              </a:defRPr>
            </a:lvl1pPr>
          </a:lstStyle>
          <a:p>
            <a:pPr algn="l" indent="0" marL="0">
              <a:buNone/>
            </a:pPr>
            <a:endParaRPr lang="en-US" sz="4400" dirty="0"/>
          </a:p>
        </p:txBody>
      </p:sp>
      <p:sp>
        <p:nvSpPr>
          <p:cNvPr id="3" name="Text 0"/>
          <p:cNvSpPr/>
          <p:nvPr>
            <p:ph idx="101" type="body" hasCustomPrompt="1"/>
          </p:nvPr>
        </p:nvSpPr>
        <p:spPr>
          <a:xfrm>
            <a:off x="731520" y="4069080"/>
            <a:ext cx="6949440" cy="11887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pic>
        <p:nvPicPr>
          <p:cNvPr id="4" name="Image 0" descr="img/logo_light.png">    </p:cNvPr>
          <p:cNvPicPr>
            <a:picLocks noChangeAspect="1"/>
          </p:cNvPicPr>
          <p:nvPr/>
        </p:nvPicPr>
        <p:blipFill>
          <a:blip r:embed="rId1"/>
          <a:stretch>
            <a:fillRect/>
          </a:stretch>
        </p:blipFill>
        <p:spPr>
          <a:xfrm>
            <a:off x="731520" y="5989320"/>
            <a:ext cx="1325880" cy="4572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BF3E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4" name="Text 0"/>
          <p:cNvSpPr/>
          <p:nvPr/>
        </p:nvSpPr>
        <p:spPr>
          <a:xfrm>
            <a:off x="548640" y="6455664"/>
            <a:ext cx="7315200" cy="256032"/>
          </a:xfrm>
          <a:prstGeom prst="rect">
            <a:avLst/>
          </a:prstGeom>
          <a:noFill/>
          <a:ln/>
        </p:spPr>
        <p:txBody>
          <a:bodyPr wrap="square" lIns="0" tIns="0" rIns="0" bIns="0" rtlCol="0" anchor="ctr"/>
          <a:lstStyle/>
          <a:p>
            <a:pPr indent="0" marL="0">
              <a:buNone/>
            </a:pPr>
            <a:r>
              <a:rPr lang="en-US" sz="1000" dirty="0">
                <a:solidFill>
                  <a:schemeClr val="accent2"/>
                </a:solidFill>
              </a:rPr>
              <a:t>AndiBite · Grupo 2 · Desarrollo y lanzamiento de nuevos productos</a:t>
            </a:r>
            <a:endParaRPr lang="en-US" sz="1000" dirty="0"/>
          </a:p>
        </p:txBody>
      </p:sp>
      <p:pic>
        <p:nvPicPr>
          <p:cNvPr id="5" name="Image 0" descr="img/logo_color.png">    </p:cNvPr>
          <p:cNvPicPr>
            <a:picLocks noChangeAspect="1"/>
          </p:cNvPicPr>
          <p:nvPr/>
        </p:nvPicPr>
        <p:blipFill>
          <a:blip r:embed="rId1"/>
          <a:stretch>
            <a:fillRect/>
          </a:stretch>
        </p:blipFill>
        <p:spPr>
          <a:xfrm>
            <a:off x="10469880" y="6391656"/>
            <a:ext cx="868680" cy="297180"/>
          </a:xfrm>
          <a:prstGeom prst="rect">
            <a:avLst/>
          </a:prstGeom>
        </p:spPr>
      </p:pic>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5.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5.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5.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5.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5.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5.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5.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5.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5.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5.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5.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5.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5.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5.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slideLayout" Target="../slideLayouts/slideLayout5.xml"/><Relationship Id="rId1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5.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slideLayout" Target="../slideLayouts/slideLayout5.xml"/><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5.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g/logo_light.png">    </p:cNvPr>
          <p:cNvPicPr>
            <a:picLocks noChangeAspect="1"/>
          </p:cNvPicPr>
          <p:nvPr/>
        </p:nvPicPr>
        <p:blipFill>
          <a:blip r:embed="rId1"/>
          <a:stretch>
            <a:fillRect/>
          </a:stretch>
        </p:blipFill>
        <p:spPr>
          <a:xfrm>
            <a:off x="731520" y="1005840"/>
            <a:ext cx="5120640" cy="1755648"/>
          </a:xfrm>
          <a:prstGeom prst="rect">
            <a:avLst/>
          </a:prstGeom>
        </p:spPr>
      </p:pic>
      <p:sp>
        <p:nvSpPr>
          <p:cNvPr id="3" name="Text 0"/>
          <p:cNvSpPr/>
          <p:nvPr>
            <p:ph idx="100" type="title" hasCustomPrompt="1"/>
          </p:nvPr>
        </p:nvSpPr>
        <p:spPr>
          <a:xfrm>
            <a:off x="731520" y="3246120"/>
            <a:ext cx="6766560" cy="777240"/>
          </a:xfrm>
          <a:prstGeom prst="rect">
            <a:avLst/>
          </a:prstGeom>
          <a:noFill/>
          <a:ln/>
        </p:spPr>
        <p:txBody>
          <a:bodyPr wrap="square" lIns="0" tIns="0" rIns="0" bIns="0" rtlCol="0" anchor="t"/>
          <a:lstStyle/>
          <a:p>
            <a:pPr algn="l" indent="0" marL="0">
              <a:buNone/>
            </a:pPr>
            <a:r>
              <a:rPr lang="en-US" sz="4000" b="1" dirty="0">
                <a:solidFill>
                  <a:schemeClr val="bg2"/>
                </a:solidFill>
              </a:rPr>
              <a:t>Trabajos de campo 5 a 8</a:t>
            </a:r>
            <a:endParaRPr lang="en-US" sz="4000" dirty="0"/>
          </a:p>
        </p:txBody>
      </p:sp>
      <p:sp>
        <p:nvSpPr>
          <p:cNvPr id="4" name="Text 0"/>
          <p:cNvSpPr/>
          <p:nvPr>
            <p:ph idx="101" type="body" hasCustomPrompt="1"/>
          </p:nvPr>
        </p:nvSpPr>
        <p:spPr>
          <a:xfrm>
            <a:off x="731520" y="4069080"/>
            <a:ext cx="6766560" cy="731520"/>
          </a:xfrm>
          <a:prstGeom prst="rect">
            <a:avLst/>
          </a:prstGeom>
          <a:noFill/>
          <a:ln/>
        </p:spPr>
        <p:txBody>
          <a:bodyPr wrap="square" lIns="0" tIns="0" rIns="0" bIns="0" rtlCol="0" anchor="t"/>
          <a:lstStyle/>
          <a:p>
            <a:pPr indent="0" marL="0">
              <a:buNone/>
            </a:pPr>
            <a:r>
              <a:rPr lang="en-US" sz="1800" dirty="0">
                <a:solidFill>
                  <a:schemeClr val="accent5"/>
                </a:solidFill>
              </a:rPr>
              <a:t>Cliente, canal, relación, ingresos, Canvas y propuesta de valor</a:t>
            </a:r>
            <a:endParaRPr lang="en-US" sz="1800" dirty="0"/>
          </a:p>
        </p:txBody>
      </p:sp>
      <p:sp>
        <p:nvSpPr>
          <p:cNvPr id="5" name="Text 2"/>
          <p:cNvSpPr txBox="1"/>
          <p:nvPr/>
        </p:nvSpPr>
        <p:spPr>
          <a:xfrm>
            <a:off x="731520" y="5257800"/>
            <a:ext cx="6949440" cy="320040"/>
          </a:xfrm>
          <a:prstGeom prst="rect">
            <a:avLst/>
          </a:prstGeom>
          <a:noFill/>
          <a:ln/>
        </p:spPr>
        <p:txBody>
          <a:bodyPr wrap="square" lIns="0" tIns="0" rIns="0" bIns="0" rtlCol="0" anchor="t"/>
          <a:lstStyle/>
          <a:p>
            <a:pPr indent="0" marL="0">
              <a:buNone/>
            </a:pPr>
            <a:r>
              <a:rPr lang="en-US" sz="1400" dirty="0">
                <a:solidFill>
                  <a:schemeClr val="bg2"/>
                </a:solidFill>
              </a:rPr>
              <a:t>Grupo 2 · Diana Ayoso · Carlos Inga · Angie Blas · Patricia Cárdenas · Adela Robles</a:t>
            </a:r>
            <a:endParaRPr lang="en-US" sz="1400" dirty="0"/>
          </a:p>
        </p:txBody>
      </p:sp>
      <p:sp>
        <p:nvSpPr>
          <p:cNvPr id="6" name="Text 3"/>
          <p:cNvSpPr txBox="1"/>
          <p:nvPr/>
        </p:nvSpPr>
        <p:spPr>
          <a:xfrm>
            <a:off x="731520" y="5623560"/>
            <a:ext cx="6949440" cy="320040"/>
          </a:xfrm>
          <a:prstGeom prst="rect">
            <a:avLst/>
          </a:prstGeom>
          <a:noFill/>
          <a:ln/>
        </p:spPr>
        <p:txBody>
          <a:bodyPr wrap="square" lIns="0" tIns="0" rIns="0" bIns="0" rtlCol="0" anchor="t"/>
          <a:lstStyle/>
          <a:p>
            <a:pPr indent="0" marL="0">
              <a:buNone/>
            </a:pPr>
            <a:r>
              <a:rPr lang="en-US" sz="1200" dirty="0">
                <a:solidFill>
                  <a:schemeClr val="accent5"/>
                </a:solidFill>
              </a:rPr>
              <a:t>Desarrollo y lanzamiento de nuevos productos · Prof. Paola Cevallos · Octubre de 2026</a:t>
            </a:r>
            <a:endParaRPr lang="en-US" sz="1200" dirty="0"/>
          </a:p>
        </p:txBody>
      </p:sp>
      <p:pic>
        <p:nvPicPr>
          <p:cNvPr id="7" name="Image 1" descr="/home/user/Desarrollo-y-lanzamiento-de-producto-y-marca/assets/empaque/B1_frente.png">    </p:cNvPr>
          <p:cNvPicPr>
            <a:picLocks noChangeAspect="1"/>
          </p:cNvPicPr>
          <p:nvPr/>
        </p:nvPicPr>
        <p:blipFill>
          <a:blip r:embed="rId2"/>
          <a:stretch>
            <a:fillRect/>
          </a:stretch>
        </p:blipFill>
        <p:spPr>
          <a:xfrm rot="240000">
            <a:off x="8001000" y="548640"/>
            <a:ext cx="4023360" cy="5596128"/>
          </a:xfrm>
          <a:prstGeom prst="rect">
            <a:avLst/>
          </a:prstGeom>
          <a:effectLst>
            <a:outerShdw sx="100000" sy="100000" kx="0" ky="0" algn="bl" rotWithShape="0" blurRad="152400" dist="50800" dir="5400000">
              <a:srgbClr val="000000">
                <a:alpha val="35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RUTA DEL TRABAJO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Cuatro trabajos, un solo modelo de negocio</a:t>
            </a:r>
            <a:endParaRPr lang="en-US" sz="3400" dirty="0"/>
          </a:p>
        </p:txBody>
      </p:sp>
      <p:sp>
        <p:nvSpPr>
          <p:cNvPr id="4" name="Shape 2"/>
          <p:cNvSpPr/>
          <p:nvPr/>
        </p:nvSpPr>
        <p:spPr>
          <a:xfrm>
            <a:off x="548640"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05</a:t>
            </a:r>
            <a:endParaRPr lang="en-US" sz="4000" dirty="0"/>
          </a:p>
        </p:txBody>
      </p:sp>
      <p:sp>
        <p:nvSpPr>
          <p:cNvPr id="6" name="Shape 4"/>
          <p:cNvSpPr/>
          <p:nvPr/>
        </p:nvSpPr>
        <p:spPr>
          <a:xfrm>
            <a:off x="2157984" y="1874520"/>
            <a:ext cx="685800" cy="685800"/>
          </a:xfrm>
          <a:prstGeom prst="ellipse">
            <a:avLst/>
          </a:prstGeom>
          <a:solidFill>
            <a:schemeClr val="tx2"/>
          </a:solidFill>
          <a:ln w="12700">
            <a:solidFill>
              <a:schemeClr val="tx2"/>
            </a:solidFill>
            <a:prstDash val="solid"/>
          </a:ln>
        </p:spPr>
      </p:sp>
      <p:pic>
        <p:nvPicPr>
          <p:cNvPr id="7" name="Image 0" descr="preencoded.png">    </p:cNvPr>
          <p:cNvPicPr>
            <a:picLocks noChangeAspect="1"/>
          </p:cNvPicPr>
          <p:nvPr/>
        </p:nvPicPr>
        <p:blipFill>
          <a:blip r:embed="rId1"/>
          <a:stretch>
            <a:fillRect/>
          </a:stretch>
        </p:blipFill>
        <p:spPr>
          <a:xfrm>
            <a:off x="2308860" y="2025396"/>
            <a:ext cx="384048" cy="384048"/>
          </a:xfrm>
          <a:prstGeom prst="rect">
            <a:avLst/>
          </a:prstGeom>
        </p:spPr>
      </p:pic>
      <p:sp>
        <p:nvSpPr>
          <p:cNvPr id="8" name="Text 5"/>
          <p:cNvSpPr txBox="1"/>
          <p:nvPr/>
        </p:nvSpPr>
        <p:spPr>
          <a:xfrm>
            <a:off x="822960"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Cliente y canal</a:t>
            </a:r>
            <a:endParaRPr lang="en-US" sz="1900" dirty="0"/>
          </a:p>
        </p:txBody>
      </p:sp>
      <p:sp>
        <p:nvSpPr>
          <p:cNvPr id="9" name="Text 6"/>
          <p:cNvSpPr txBox="1"/>
          <p:nvPr/>
        </p:nvSpPr>
        <p:spPr>
          <a:xfrm>
            <a:off x="822960"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Arquetipos, buyer persona, tipos de mercado y canal</a:t>
            </a:r>
            <a:endParaRPr lang="en-US" sz="1500" dirty="0"/>
          </a:p>
        </p:txBody>
      </p:sp>
      <p:sp>
        <p:nvSpPr>
          <p:cNvPr id="10" name="Shape 7"/>
          <p:cNvSpPr/>
          <p:nvPr/>
        </p:nvSpPr>
        <p:spPr>
          <a:xfrm>
            <a:off x="3392424"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8"/>
          <p:cNvSpPr txBox="1"/>
          <p:nvPr/>
        </p:nvSpPr>
        <p:spPr>
          <a:xfrm>
            <a:off x="3666744"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06</a:t>
            </a:r>
            <a:endParaRPr lang="en-US" sz="4000" dirty="0"/>
          </a:p>
        </p:txBody>
      </p:sp>
      <p:sp>
        <p:nvSpPr>
          <p:cNvPr id="12" name="Shape 9"/>
          <p:cNvSpPr/>
          <p:nvPr/>
        </p:nvSpPr>
        <p:spPr>
          <a:xfrm>
            <a:off x="5001768" y="1874520"/>
            <a:ext cx="685800" cy="685800"/>
          </a:xfrm>
          <a:prstGeom prst="ellipse">
            <a:avLst/>
          </a:prstGeom>
          <a:solidFill>
            <a:schemeClr val="tx2"/>
          </a:solidFill>
          <a:ln w="12700">
            <a:solidFill>
              <a:schemeClr val="tx2"/>
            </a:solidFill>
            <a:prstDash val="solid"/>
          </a:ln>
        </p:spPr>
      </p:sp>
      <p:pic>
        <p:nvPicPr>
          <p:cNvPr id="13" name="Image 1" descr="preencoded.png">    </p:cNvPr>
          <p:cNvPicPr>
            <a:picLocks noChangeAspect="1"/>
          </p:cNvPicPr>
          <p:nvPr/>
        </p:nvPicPr>
        <p:blipFill>
          <a:blip r:embed="rId2"/>
          <a:stretch>
            <a:fillRect/>
          </a:stretch>
        </p:blipFill>
        <p:spPr>
          <a:xfrm>
            <a:off x="5152644" y="2025396"/>
            <a:ext cx="384048" cy="384048"/>
          </a:xfrm>
          <a:prstGeom prst="rect">
            <a:avLst/>
          </a:prstGeom>
        </p:spPr>
      </p:pic>
      <p:sp>
        <p:nvSpPr>
          <p:cNvPr id="14" name="Text 10"/>
          <p:cNvSpPr txBox="1"/>
          <p:nvPr/>
        </p:nvSpPr>
        <p:spPr>
          <a:xfrm>
            <a:off x="3666744"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Relación e ingresos</a:t>
            </a:r>
            <a:endParaRPr lang="en-US" sz="1900" dirty="0"/>
          </a:p>
        </p:txBody>
      </p:sp>
      <p:sp>
        <p:nvSpPr>
          <p:cNvPr id="15" name="Text 11"/>
          <p:cNvSpPr txBox="1"/>
          <p:nvPr/>
        </p:nvSpPr>
        <p:spPr>
          <a:xfrm>
            <a:off x="3666744"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Cómo captamos y retenemos, y de dónde viene el dinero</a:t>
            </a:r>
            <a:endParaRPr lang="en-US" sz="1500" dirty="0"/>
          </a:p>
        </p:txBody>
      </p:sp>
      <p:sp>
        <p:nvSpPr>
          <p:cNvPr id="16" name="Shape 12"/>
          <p:cNvSpPr/>
          <p:nvPr/>
        </p:nvSpPr>
        <p:spPr>
          <a:xfrm>
            <a:off x="6236208"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Text 13"/>
          <p:cNvSpPr txBox="1"/>
          <p:nvPr/>
        </p:nvSpPr>
        <p:spPr>
          <a:xfrm>
            <a:off x="6510528"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07</a:t>
            </a:r>
            <a:endParaRPr lang="en-US" sz="4000" dirty="0"/>
          </a:p>
        </p:txBody>
      </p:sp>
      <p:sp>
        <p:nvSpPr>
          <p:cNvPr id="18" name="Shape 14"/>
          <p:cNvSpPr/>
          <p:nvPr/>
        </p:nvSpPr>
        <p:spPr>
          <a:xfrm>
            <a:off x="7845552" y="1874520"/>
            <a:ext cx="685800" cy="685800"/>
          </a:xfrm>
          <a:prstGeom prst="ellipse">
            <a:avLst/>
          </a:prstGeom>
          <a:solidFill>
            <a:schemeClr val="tx2"/>
          </a:solidFill>
          <a:ln w="12700">
            <a:solidFill>
              <a:schemeClr val="tx2"/>
            </a:solidFill>
            <a:prstDash val="solid"/>
          </a:ln>
        </p:spPr>
      </p:sp>
      <p:pic>
        <p:nvPicPr>
          <p:cNvPr id="19" name="Image 2" descr="preencoded.png">    </p:cNvPr>
          <p:cNvPicPr>
            <a:picLocks noChangeAspect="1"/>
          </p:cNvPicPr>
          <p:nvPr/>
        </p:nvPicPr>
        <p:blipFill>
          <a:blip r:embed="rId3"/>
          <a:stretch>
            <a:fillRect/>
          </a:stretch>
        </p:blipFill>
        <p:spPr>
          <a:xfrm>
            <a:off x="7996428" y="2025396"/>
            <a:ext cx="384048" cy="384048"/>
          </a:xfrm>
          <a:prstGeom prst="rect">
            <a:avLst/>
          </a:prstGeom>
        </p:spPr>
      </p:pic>
      <p:sp>
        <p:nvSpPr>
          <p:cNvPr id="20" name="Text 15"/>
          <p:cNvSpPr txBox="1"/>
          <p:nvPr/>
        </p:nvSpPr>
        <p:spPr>
          <a:xfrm>
            <a:off x="6510528"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Modelo Canvas</a:t>
            </a:r>
            <a:endParaRPr lang="en-US" sz="1900" dirty="0"/>
          </a:p>
        </p:txBody>
      </p:sp>
      <p:sp>
        <p:nvSpPr>
          <p:cNvPr id="21" name="Text 16"/>
          <p:cNvSpPr txBox="1"/>
          <p:nvPr/>
        </p:nvSpPr>
        <p:spPr>
          <a:xfrm>
            <a:off x="6510528"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Socios, recursos, actividades, costos y los 9 bloques</a:t>
            </a:r>
            <a:endParaRPr lang="en-US" sz="1500" dirty="0"/>
          </a:p>
        </p:txBody>
      </p:sp>
      <p:sp>
        <p:nvSpPr>
          <p:cNvPr id="22" name="Shape 17"/>
          <p:cNvSpPr/>
          <p:nvPr/>
        </p:nvSpPr>
        <p:spPr>
          <a:xfrm>
            <a:off x="9079992"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3" name="Text 18"/>
          <p:cNvSpPr txBox="1"/>
          <p:nvPr/>
        </p:nvSpPr>
        <p:spPr>
          <a:xfrm>
            <a:off x="9354312"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08</a:t>
            </a:r>
            <a:endParaRPr lang="en-US" sz="4000" dirty="0"/>
          </a:p>
        </p:txBody>
      </p:sp>
      <p:sp>
        <p:nvSpPr>
          <p:cNvPr id="24" name="Shape 19"/>
          <p:cNvSpPr/>
          <p:nvPr/>
        </p:nvSpPr>
        <p:spPr>
          <a:xfrm>
            <a:off x="10689336" y="1874520"/>
            <a:ext cx="685800" cy="685800"/>
          </a:xfrm>
          <a:prstGeom prst="ellipse">
            <a:avLst/>
          </a:prstGeom>
          <a:solidFill>
            <a:schemeClr val="tx2"/>
          </a:solidFill>
          <a:ln w="12700">
            <a:solidFill>
              <a:schemeClr val="tx2"/>
            </a:solidFill>
            <a:prstDash val="solid"/>
          </a:ln>
        </p:spPr>
      </p:sp>
      <p:pic>
        <p:nvPicPr>
          <p:cNvPr id="25" name="Image 3" descr="preencoded.png">    </p:cNvPr>
          <p:cNvPicPr>
            <a:picLocks noChangeAspect="1"/>
          </p:cNvPicPr>
          <p:nvPr/>
        </p:nvPicPr>
        <p:blipFill>
          <a:blip r:embed="rId4"/>
          <a:stretch>
            <a:fillRect/>
          </a:stretch>
        </p:blipFill>
        <p:spPr>
          <a:xfrm>
            <a:off x="10840212" y="2025396"/>
            <a:ext cx="384048" cy="384048"/>
          </a:xfrm>
          <a:prstGeom prst="rect">
            <a:avLst/>
          </a:prstGeom>
        </p:spPr>
      </p:pic>
      <p:sp>
        <p:nvSpPr>
          <p:cNvPr id="26" name="Text 20"/>
          <p:cNvSpPr txBox="1"/>
          <p:nvPr/>
        </p:nvSpPr>
        <p:spPr>
          <a:xfrm>
            <a:off x="9354312"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Propuesta de valor</a:t>
            </a:r>
            <a:endParaRPr lang="en-US" sz="1900" dirty="0"/>
          </a:p>
        </p:txBody>
      </p:sp>
      <p:sp>
        <p:nvSpPr>
          <p:cNvPr id="27" name="Text 21"/>
          <p:cNvSpPr txBox="1"/>
          <p:nvPr/>
        </p:nvSpPr>
        <p:spPr>
          <a:xfrm>
            <a:off x="9354312"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Mapa de valor frente al perfil del cliente</a:t>
            </a:r>
            <a:endParaRPr lang="en-US" sz="1500" dirty="0"/>
          </a:p>
        </p:txBody>
      </p:sp>
      <p:sp>
        <p:nvSpPr>
          <p:cNvPr id="28" name="Shape 22"/>
          <p:cNvSpPr/>
          <p:nvPr/>
        </p:nvSpPr>
        <p:spPr>
          <a:xfrm>
            <a:off x="548640" y="5440680"/>
            <a:ext cx="11091672" cy="685800"/>
          </a:xfrm>
          <a:prstGeom prst="roundRect">
            <a:avLst>
              <a:gd name="adj" fmla="val 49333"/>
            </a:avLst>
          </a:prstGeom>
          <a:solidFill>
            <a:schemeClr val="tx2"/>
          </a:solidFill>
          <a:ln w="12700">
            <a:solidFill>
              <a:schemeClr val="tx2"/>
            </a:solidFill>
            <a:prstDash val="solid"/>
          </a:ln>
        </p:spPr>
      </p:sp>
      <p:sp>
        <p:nvSpPr>
          <p:cNvPr id="29" name="Text 23"/>
          <p:cNvSpPr txBox="1"/>
          <p:nvPr/>
        </p:nvSpPr>
        <p:spPr>
          <a:xfrm>
            <a:off x="868680" y="5440680"/>
            <a:ext cx="10515600" cy="685800"/>
          </a:xfrm>
          <a:prstGeom prst="rect">
            <a:avLst/>
          </a:prstGeom>
          <a:noFill/>
          <a:ln/>
        </p:spPr>
        <p:txBody>
          <a:bodyPr wrap="square" lIns="0" tIns="0" rIns="0" bIns="0" rtlCol="0" anchor="ctr"/>
          <a:lstStyle/>
          <a:p>
            <a:pPr indent="0" marL="0">
              <a:buNone/>
            </a:pPr>
            <a:r>
              <a:rPr lang="en-US" sz="1600" b="1" dirty="0">
                <a:solidFill>
                  <a:schemeClr val="accent3"/>
                </a:solidFill>
              </a:rPr>
              <a:t>El producto: </a:t>
            </a:r>
            <a:pPr indent="0" marL="0">
              <a:buNone/>
            </a:pPr>
            <a:r>
              <a:rPr lang="en-US" sz="1600" dirty="0">
                <a:solidFill>
                  <a:schemeClr val="bg2"/>
                </a:solidFill>
              </a:rPr>
              <a:t>mini brownie de 20 g con sangrecita · 3 sabores (Chispa, Andi y Lúcu) · pack de 6 a S/24.90 · hecho por una planta maquiladora</a:t>
            </a:r>
            <a:endParaRPr lang="en-US" sz="16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05</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Cliente, mercado y canal</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Tipos de mercado · Tamaño del nicho · Arquetipos · Buyer persona · Canal de distribución</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TIPOS DE MERCADO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Elegimos un nicho, con dos segmentos dentro</a:t>
            </a:r>
            <a:endParaRPr lang="en-US" sz="3400" dirty="0"/>
          </a:p>
        </p:txBody>
      </p:sp>
      <p:sp>
        <p:nvSpPr>
          <p:cNvPr id="4" name="Shape 2"/>
          <p:cNvSpPr/>
          <p:nvPr/>
        </p:nvSpPr>
        <p:spPr>
          <a:xfrm>
            <a:off x="548640"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77240" y="1783080"/>
            <a:ext cx="640080" cy="640080"/>
          </a:xfrm>
          <a:prstGeom prst="ellipse">
            <a:avLst/>
          </a:prstGeom>
          <a:solidFill>
            <a:schemeClr val="bg2"/>
          </a:solidFill>
          <a:ln w="12700">
            <a:solidFill>
              <a:schemeClr val="bg2"/>
            </a:solidFill>
            <a:prstDash val="solid"/>
          </a:ln>
        </p:spPr>
      </p:sp>
      <p:pic>
        <p:nvPicPr>
          <p:cNvPr id="6" name="Image 0" descr="preencoded.png">    </p:cNvPr>
          <p:cNvPicPr>
            <a:picLocks noChangeAspect="1"/>
          </p:cNvPicPr>
          <p:nvPr/>
        </p:nvPicPr>
        <p:blipFill>
          <a:blip r:embed="rId1"/>
          <a:stretch>
            <a:fillRect/>
          </a:stretch>
        </p:blipFill>
        <p:spPr>
          <a:xfrm>
            <a:off x="918058" y="1923898"/>
            <a:ext cx="358445" cy="358445"/>
          </a:xfrm>
          <a:prstGeom prst="rect">
            <a:avLst/>
          </a:prstGeom>
        </p:spPr>
      </p:pic>
      <p:sp>
        <p:nvSpPr>
          <p:cNvPr id="7" name="Text 4"/>
          <p:cNvSpPr txBox="1"/>
          <p:nvPr/>
        </p:nvSpPr>
        <p:spPr>
          <a:xfrm>
            <a:off x="777240"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Masivo</a:t>
            </a:r>
            <a:endParaRPr lang="en-US" sz="1800" dirty="0"/>
          </a:p>
        </p:txBody>
      </p:sp>
      <p:sp>
        <p:nvSpPr>
          <p:cNvPr id="8" name="Text 5"/>
          <p:cNvSpPr txBox="1"/>
          <p:nvPr/>
        </p:nvSpPr>
        <p:spPr>
          <a:xfrm>
            <a:off x="777240"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Un producto para todos</a:t>
            </a:r>
            <a:endParaRPr lang="en-US" sz="1200" dirty="0"/>
          </a:p>
        </p:txBody>
      </p:sp>
      <p:sp>
        <p:nvSpPr>
          <p:cNvPr id="9" name="Shape 6"/>
          <p:cNvSpPr/>
          <p:nvPr/>
        </p:nvSpPr>
        <p:spPr>
          <a:xfrm>
            <a:off x="777240" y="3520440"/>
            <a:ext cx="1188720" cy="292608"/>
          </a:xfrm>
          <a:prstGeom prst="roundRect">
            <a:avLst>
              <a:gd name="adj" fmla="val 50000"/>
            </a:avLst>
          </a:prstGeom>
          <a:solidFill>
            <a:schemeClr val="bg2"/>
          </a:solidFill>
          <a:ln w="12700">
            <a:solidFill>
              <a:schemeClr val="bg2"/>
            </a:solidFill>
            <a:prstDash val="solid"/>
          </a:ln>
        </p:spPr>
      </p:sp>
      <p:sp>
        <p:nvSpPr>
          <p:cNvPr id="10" name="Text 7"/>
          <p:cNvSpPr txBox="1"/>
          <p:nvPr/>
        </p:nvSpPr>
        <p:spPr>
          <a:xfrm>
            <a:off x="777240"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2"/>
                </a:solidFill>
              </a:rPr>
              <a:t>NO APLICA</a:t>
            </a:r>
            <a:endParaRPr lang="en-US" sz="1000" dirty="0"/>
          </a:p>
        </p:txBody>
      </p:sp>
      <p:sp>
        <p:nvSpPr>
          <p:cNvPr id="11" name="Text 8"/>
          <p:cNvSpPr txBox="1"/>
          <p:nvPr/>
        </p:nvSpPr>
        <p:spPr>
          <a:xfrm>
            <a:off x="777240"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El precio premium no llega a todos</a:t>
            </a:r>
            <a:endParaRPr lang="en-US" sz="1400" dirty="0"/>
          </a:p>
        </p:txBody>
      </p:sp>
      <p:sp>
        <p:nvSpPr>
          <p:cNvPr id="12" name="Shape 9"/>
          <p:cNvSpPr/>
          <p:nvPr/>
        </p:nvSpPr>
        <p:spPr>
          <a:xfrm>
            <a:off x="2812694" y="1554480"/>
            <a:ext cx="2035454" cy="3383280"/>
          </a:xfrm>
          <a:prstGeom prst="roundRect">
            <a:avLst>
              <a:gd name="adj" fmla="val 539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3" name="Shape 10"/>
          <p:cNvSpPr/>
          <p:nvPr/>
        </p:nvSpPr>
        <p:spPr>
          <a:xfrm>
            <a:off x="3041294" y="1783080"/>
            <a:ext cx="640080" cy="640080"/>
          </a:xfrm>
          <a:prstGeom prst="ellipse">
            <a:avLst/>
          </a:prstGeom>
          <a:solidFill>
            <a:schemeClr val="bg1"/>
          </a:solidFill>
          <a:ln w="12700">
            <a:solidFill>
              <a:schemeClr val="bg1"/>
            </a:solidFill>
            <a:prstDash val="solid"/>
          </a:ln>
        </p:spPr>
      </p:sp>
      <p:pic>
        <p:nvPicPr>
          <p:cNvPr id="14" name="Image 1" descr="preencoded.png">    </p:cNvPr>
          <p:cNvPicPr>
            <a:picLocks noChangeAspect="1"/>
          </p:cNvPicPr>
          <p:nvPr/>
        </p:nvPicPr>
        <p:blipFill>
          <a:blip r:embed="rId2"/>
          <a:stretch>
            <a:fillRect/>
          </a:stretch>
        </p:blipFill>
        <p:spPr>
          <a:xfrm>
            <a:off x="3182112" y="1923898"/>
            <a:ext cx="358445" cy="358445"/>
          </a:xfrm>
          <a:prstGeom prst="rect">
            <a:avLst/>
          </a:prstGeom>
        </p:spPr>
      </p:pic>
      <p:sp>
        <p:nvSpPr>
          <p:cNvPr id="15" name="Text 11"/>
          <p:cNvSpPr txBox="1"/>
          <p:nvPr/>
        </p:nvSpPr>
        <p:spPr>
          <a:xfrm>
            <a:off x="3041294" y="2542032"/>
            <a:ext cx="1669694" cy="384048"/>
          </a:xfrm>
          <a:prstGeom prst="rect">
            <a:avLst/>
          </a:prstGeom>
          <a:noFill/>
          <a:ln/>
        </p:spPr>
        <p:txBody>
          <a:bodyPr wrap="square" lIns="0" tIns="0" rIns="0" bIns="0" rtlCol="0" anchor="t"/>
          <a:lstStyle/>
          <a:p>
            <a:pPr indent="0" marL="0">
              <a:buNone/>
            </a:pPr>
            <a:r>
              <a:rPr lang="en-US" sz="1800" b="1" dirty="0">
                <a:solidFill>
                  <a:schemeClr val="bg1"/>
                </a:solidFill>
              </a:rPr>
              <a:t>Nicho</a:t>
            </a:r>
            <a:endParaRPr lang="en-US" sz="1800" dirty="0"/>
          </a:p>
        </p:txBody>
      </p:sp>
      <p:sp>
        <p:nvSpPr>
          <p:cNvPr id="16" name="Text 12"/>
          <p:cNvSpPr txBox="1"/>
          <p:nvPr/>
        </p:nvSpPr>
        <p:spPr>
          <a:xfrm>
            <a:off x="3041294" y="2926080"/>
            <a:ext cx="1669694" cy="548640"/>
          </a:xfrm>
          <a:prstGeom prst="rect">
            <a:avLst/>
          </a:prstGeom>
          <a:noFill/>
          <a:ln/>
        </p:spPr>
        <p:txBody>
          <a:bodyPr wrap="square" lIns="0" tIns="0" rIns="0" bIns="0" rtlCol="0" anchor="t"/>
          <a:lstStyle/>
          <a:p>
            <a:pPr indent="0" marL="0">
              <a:buNone/>
            </a:pPr>
            <a:r>
              <a:rPr lang="en-US" sz="1200" dirty="0">
                <a:solidFill>
                  <a:schemeClr val="bg2"/>
                </a:solidFill>
              </a:rPr>
              <a:t>Clientes muy específicos</a:t>
            </a:r>
            <a:endParaRPr lang="en-US" sz="1200" dirty="0"/>
          </a:p>
        </p:txBody>
      </p:sp>
      <p:sp>
        <p:nvSpPr>
          <p:cNvPr id="17" name="Shape 13"/>
          <p:cNvSpPr/>
          <p:nvPr/>
        </p:nvSpPr>
        <p:spPr>
          <a:xfrm>
            <a:off x="3041294" y="3520440"/>
            <a:ext cx="1188720" cy="292608"/>
          </a:xfrm>
          <a:prstGeom prst="roundRect">
            <a:avLst>
              <a:gd name="adj" fmla="val 50000"/>
            </a:avLst>
          </a:prstGeom>
          <a:solidFill>
            <a:schemeClr val="bg1"/>
          </a:solidFill>
          <a:ln w="12700">
            <a:solidFill>
              <a:schemeClr val="bg1"/>
            </a:solidFill>
            <a:prstDash val="solid"/>
          </a:ln>
        </p:spPr>
      </p:sp>
      <p:sp>
        <p:nvSpPr>
          <p:cNvPr id="18" name="Text 14"/>
          <p:cNvSpPr txBox="1"/>
          <p:nvPr/>
        </p:nvSpPr>
        <p:spPr>
          <a:xfrm>
            <a:off x="3041294"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ELEGIDO</a:t>
            </a:r>
            <a:endParaRPr lang="en-US" sz="1000" dirty="0"/>
          </a:p>
        </p:txBody>
      </p:sp>
      <p:sp>
        <p:nvSpPr>
          <p:cNvPr id="19" name="Text 15"/>
          <p:cNvSpPr txBox="1"/>
          <p:nvPr/>
        </p:nvSpPr>
        <p:spPr>
          <a:xfrm>
            <a:off x="3041294" y="3931920"/>
            <a:ext cx="1669694" cy="914400"/>
          </a:xfrm>
          <a:prstGeom prst="rect">
            <a:avLst/>
          </a:prstGeom>
          <a:noFill/>
          <a:ln/>
        </p:spPr>
        <p:txBody>
          <a:bodyPr wrap="square" lIns="0" tIns="0" rIns="0" bIns="0" rtlCol="0" anchor="t"/>
          <a:lstStyle/>
          <a:p>
            <a:pPr indent="0" marL="0">
              <a:buNone/>
            </a:pPr>
            <a:r>
              <a:rPr lang="en-US" sz="1400" dirty="0">
                <a:solidFill>
                  <a:schemeClr val="bg1"/>
                </a:solidFill>
              </a:rPr>
              <a:t>Padres A/B con hijos de 4 a 11 en Lima Top y Moderna</a:t>
            </a:r>
            <a:endParaRPr lang="en-US" sz="1400" dirty="0"/>
          </a:p>
        </p:txBody>
      </p:sp>
      <p:sp>
        <p:nvSpPr>
          <p:cNvPr id="20" name="Shape 16"/>
          <p:cNvSpPr/>
          <p:nvPr/>
        </p:nvSpPr>
        <p:spPr>
          <a:xfrm>
            <a:off x="5076749" y="1554480"/>
            <a:ext cx="2035454" cy="3383280"/>
          </a:xfrm>
          <a:prstGeom prst="roundRect">
            <a:avLst>
              <a:gd name="adj" fmla="val 539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21" name="Shape 17"/>
          <p:cNvSpPr/>
          <p:nvPr/>
        </p:nvSpPr>
        <p:spPr>
          <a:xfrm>
            <a:off x="5305349" y="1783080"/>
            <a:ext cx="640080" cy="640080"/>
          </a:xfrm>
          <a:prstGeom prst="ellipse">
            <a:avLst/>
          </a:prstGeom>
          <a:solidFill>
            <a:schemeClr val="bg1"/>
          </a:solidFill>
          <a:ln w="12700">
            <a:solidFill>
              <a:schemeClr val="bg1"/>
            </a:solidFill>
            <a:prstDash val="solid"/>
          </a:ln>
        </p:spPr>
      </p:sp>
      <p:pic>
        <p:nvPicPr>
          <p:cNvPr id="22" name="Image 2" descr="preencoded.png">    </p:cNvPr>
          <p:cNvPicPr>
            <a:picLocks noChangeAspect="1"/>
          </p:cNvPicPr>
          <p:nvPr/>
        </p:nvPicPr>
        <p:blipFill>
          <a:blip r:embed="rId3"/>
          <a:stretch>
            <a:fillRect/>
          </a:stretch>
        </p:blipFill>
        <p:spPr>
          <a:xfrm>
            <a:off x="5446166" y="1923898"/>
            <a:ext cx="358445" cy="358445"/>
          </a:xfrm>
          <a:prstGeom prst="rect">
            <a:avLst/>
          </a:prstGeom>
        </p:spPr>
      </p:pic>
      <p:sp>
        <p:nvSpPr>
          <p:cNvPr id="23" name="Text 18"/>
          <p:cNvSpPr txBox="1"/>
          <p:nvPr/>
        </p:nvSpPr>
        <p:spPr>
          <a:xfrm>
            <a:off x="5305349" y="2542032"/>
            <a:ext cx="1669694" cy="384048"/>
          </a:xfrm>
          <a:prstGeom prst="rect">
            <a:avLst/>
          </a:prstGeom>
          <a:noFill/>
          <a:ln/>
        </p:spPr>
        <p:txBody>
          <a:bodyPr wrap="square" lIns="0" tIns="0" rIns="0" bIns="0" rtlCol="0" anchor="t"/>
          <a:lstStyle/>
          <a:p>
            <a:pPr indent="0" marL="0">
              <a:buNone/>
            </a:pPr>
            <a:r>
              <a:rPr lang="en-US" sz="1800" b="1" dirty="0">
                <a:solidFill>
                  <a:schemeClr val="bg1"/>
                </a:solidFill>
              </a:rPr>
              <a:t>Segmentado</a:t>
            </a:r>
            <a:endParaRPr lang="en-US" sz="1800" dirty="0"/>
          </a:p>
        </p:txBody>
      </p:sp>
      <p:sp>
        <p:nvSpPr>
          <p:cNvPr id="24" name="Text 19"/>
          <p:cNvSpPr txBox="1"/>
          <p:nvPr/>
        </p:nvSpPr>
        <p:spPr>
          <a:xfrm>
            <a:off x="5305349" y="2926080"/>
            <a:ext cx="1669694" cy="548640"/>
          </a:xfrm>
          <a:prstGeom prst="rect">
            <a:avLst/>
          </a:prstGeom>
          <a:noFill/>
          <a:ln/>
        </p:spPr>
        <p:txBody>
          <a:bodyPr wrap="square" lIns="0" tIns="0" rIns="0" bIns="0" rtlCol="0" anchor="t"/>
          <a:lstStyle/>
          <a:p>
            <a:pPr indent="0" marL="0">
              <a:buNone/>
            </a:pPr>
            <a:r>
              <a:rPr lang="en-US" sz="1200" dirty="0">
                <a:solidFill>
                  <a:schemeClr val="bg2"/>
                </a:solidFill>
              </a:rPr>
              <a:t>Mismo núcleo, necesidades distintas</a:t>
            </a:r>
            <a:endParaRPr lang="en-US" sz="1200" dirty="0"/>
          </a:p>
        </p:txBody>
      </p:sp>
      <p:sp>
        <p:nvSpPr>
          <p:cNvPr id="25" name="Shape 20"/>
          <p:cNvSpPr/>
          <p:nvPr/>
        </p:nvSpPr>
        <p:spPr>
          <a:xfrm>
            <a:off x="5305349" y="3520440"/>
            <a:ext cx="1188720" cy="292608"/>
          </a:xfrm>
          <a:prstGeom prst="roundRect">
            <a:avLst>
              <a:gd name="adj" fmla="val 50000"/>
            </a:avLst>
          </a:prstGeom>
          <a:solidFill>
            <a:schemeClr val="bg1"/>
          </a:solidFill>
          <a:ln w="12700">
            <a:solidFill>
              <a:schemeClr val="bg1"/>
            </a:solidFill>
            <a:prstDash val="solid"/>
          </a:ln>
        </p:spPr>
      </p:sp>
      <p:sp>
        <p:nvSpPr>
          <p:cNvPr id="26" name="Text 21"/>
          <p:cNvSpPr txBox="1"/>
          <p:nvPr/>
        </p:nvSpPr>
        <p:spPr>
          <a:xfrm>
            <a:off x="5305349"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ELEGIDO</a:t>
            </a:r>
            <a:endParaRPr lang="en-US" sz="1000" dirty="0"/>
          </a:p>
        </p:txBody>
      </p:sp>
      <p:sp>
        <p:nvSpPr>
          <p:cNvPr id="27" name="Text 22"/>
          <p:cNvSpPr txBox="1"/>
          <p:nvPr/>
        </p:nvSpPr>
        <p:spPr>
          <a:xfrm>
            <a:off x="5305349" y="3931920"/>
            <a:ext cx="1669694" cy="914400"/>
          </a:xfrm>
          <a:prstGeom prst="rect">
            <a:avLst/>
          </a:prstGeom>
          <a:noFill/>
          <a:ln/>
        </p:spPr>
        <p:txBody>
          <a:bodyPr wrap="square" lIns="0" tIns="0" rIns="0" bIns="0" rtlCol="0" anchor="t"/>
          <a:lstStyle/>
          <a:p>
            <a:pPr indent="0" marL="0">
              <a:buNone/>
            </a:pPr>
            <a:r>
              <a:rPr lang="en-US" sz="1400" dirty="0">
                <a:solidFill>
                  <a:schemeClr val="bg1"/>
                </a:solidFill>
              </a:rPr>
              <a:t>Claudia busca salud; Rodrigo busca tiempo</a:t>
            </a:r>
            <a:endParaRPr lang="en-US" sz="1400" dirty="0"/>
          </a:p>
        </p:txBody>
      </p:sp>
      <p:sp>
        <p:nvSpPr>
          <p:cNvPr id="28" name="Shape 23"/>
          <p:cNvSpPr/>
          <p:nvPr/>
        </p:nvSpPr>
        <p:spPr>
          <a:xfrm>
            <a:off x="7340803"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9" name="Shape 24"/>
          <p:cNvSpPr/>
          <p:nvPr/>
        </p:nvSpPr>
        <p:spPr>
          <a:xfrm>
            <a:off x="7569403" y="1783080"/>
            <a:ext cx="640080" cy="640080"/>
          </a:xfrm>
          <a:prstGeom prst="ellipse">
            <a:avLst/>
          </a:prstGeom>
          <a:solidFill>
            <a:schemeClr val="bg2"/>
          </a:solidFill>
          <a:ln w="12700">
            <a:solidFill>
              <a:schemeClr val="bg2"/>
            </a:solidFill>
            <a:prstDash val="solid"/>
          </a:ln>
        </p:spPr>
      </p:sp>
      <p:pic>
        <p:nvPicPr>
          <p:cNvPr id="30" name="Image 3" descr="preencoded.png">    </p:cNvPr>
          <p:cNvPicPr>
            <a:picLocks noChangeAspect="1"/>
          </p:cNvPicPr>
          <p:nvPr/>
        </p:nvPicPr>
        <p:blipFill>
          <a:blip r:embed="rId4"/>
          <a:stretch>
            <a:fillRect/>
          </a:stretch>
        </p:blipFill>
        <p:spPr>
          <a:xfrm>
            <a:off x="7710221" y="1923898"/>
            <a:ext cx="358445" cy="358445"/>
          </a:xfrm>
          <a:prstGeom prst="rect">
            <a:avLst/>
          </a:prstGeom>
        </p:spPr>
      </p:pic>
      <p:sp>
        <p:nvSpPr>
          <p:cNvPr id="31" name="Text 25"/>
          <p:cNvSpPr txBox="1"/>
          <p:nvPr/>
        </p:nvSpPr>
        <p:spPr>
          <a:xfrm>
            <a:off x="7569403"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Diversificado</a:t>
            </a:r>
            <a:endParaRPr lang="en-US" sz="1800" dirty="0"/>
          </a:p>
        </p:txBody>
      </p:sp>
      <p:sp>
        <p:nvSpPr>
          <p:cNvPr id="32" name="Text 26"/>
          <p:cNvSpPr txBox="1"/>
          <p:nvPr/>
        </p:nvSpPr>
        <p:spPr>
          <a:xfrm>
            <a:off x="7569403"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Segmentos sin relación entre sí</a:t>
            </a:r>
            <a:endParaRPr lang="en-US" sz="1200" dirty="0"/>
          </a:p>
        </p:txBody>
      </p:sp>
      <p:sp>
        <p:nvSpPr>
          <p:cNvPr id="33" name="Shape 27"/>
          <p:cNvSpPr/>
          <p:nvPr/>
        </p:nvSpPr>
        <p:spPr>
          <a:xfrm>
            <a:off x="7569403" y="3520440"/>
            <a:ext cx="1188720" cy="292608"/>
          </a:xfrm>
          <a:prstGeom prst="roundRect">
            <a:avLst>
              <a:gd name="adj" fmla="val 50000"/>
            </a:avLst>
          </a:prstGeom>
          <a:solidFill>
            <a:schemeClr val="bg2"/>
          </a:solidFill>
          <a:ln w="12700">
            <a:solidFill>
              <a:schemeClr val="bg2"/>
            </a:solidFill>
            <a:prstDash val="solid"/>
          </a:ln>
        </p:spPr>
      </p:sp>
      <p:sp>
        <p:nvSpPr>
          <p:cNvPr id="34" name="Text 28"/>
          <p:cNvSpPr txBox="1"/>
          <p:nvPr/>
        </p:nvSpPr>
        <p:spPr>
          <a:xfrm>
            <a:off x="7569403"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2"/>
                </a:solidFill>
              </a:rPr>
              <a:t>NO APLICA</a:t>
            </a:r>
            <a:endParaRPr lang="en-US" sz="1000" dirty="0"/>
          </a:p>
        </p:txBody>
      </p:sp>
      <p:sp>
        <p:nvSpPr>
          <p:cNvPr id="35" name="Text 29"/>
          <p:cNvSpPr txBox="1"/>
          <p:nvPr/>
        </p:nvSpPr>
        <p:spPr>
          <a:xfrm>
            <a:off x="7569403"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Un solo producto y un solo público</a:t>
            </a:r>
            <a:endParaRPr lang="en-US" sz="1400" dirty="0"/>
          </a:p>
        </p:txBody>
      </p:sp>
      <p:sp>
        <p:nvSpPr>
          <p:cNvPr id="36" name="Shape 30"/>
          <p:cNvSpPr/>
          <p:nvPr/>
        </p:nvSpPr>
        <p:spPr>
          <a:xfrm>
            <a:off x="9604858"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7" name="Shape 31"/>
          <p:cNvSpPr/>
          <p:nvPr/>
        </p:nvSpPr>
        <p:spPr>
          <a:xfrm>
            <a:off x="9833458" y="1783080"/>
            <a:ext cx="640080" cy="640080"/>
          </a:xfrm>
          <a:prstGeom prst="ellipse">
            <a:avLst/>
          </a:prstGeom>
          <a:solidFill>
            <a:schemeClr val="bg2"/>
          </a:solidFill>
          <a:ln w="12700">
            <a:solidFill>
              <a:schemeClr val="bg2"/>
            </a:solidFill>
            <a:prstDash val="solid"/>
          </a:ln>
        </p:spPr>
      </p:sp>
      <p:pic>
        <p:nvPicPr>
          <p:cNvPr id="38" name="Image 4" descr="preencoded.png">    </p:cNvPr>
          <p:cNvPicPr>
            <a:picLocks noChangeAspect="1"/>
          </p:cNvPicPr>
          <p:nvPr/>
        </p:nvPicPr>
        <p:blipFill>
          <a:blip r:embed="rId5"/>
          <a:stretch>
            <a:fillRect/>
          </a:stretch>
        </p:blipFill>
        <p:spPr>
          <a:xfrm>
            <a:off x="9974275" y="1923898"/>
            <a:ext cx="358445" cy="358445"/>
          </a:xfrm>
          <a:prstGeom prst="rect">
            <a:avLst/>
          </a:prstGeom>
        </p:spPr>
      </p:pic>
      <p:sp>
        <p:nvSpPr>
          <p:cNvPr id="39" name="Text 32"/>
          <p:cNvSpPr txBox="1"/>
          <p:nvPr/>
        </p:nvSpPr>
        <p:spPr>
          <a:xfrm>
            <a:off x="9833458"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Multilateral</a:t>
            </a:r>
            <a:endParaRPr lang="en-US" sz="1800" dirty="0"/>
          </a:p>
        </p:txBody>
      </p:sp>
      <p:sp>
        <p:nvSpPr>
          <p:cNvPr id="40" name="Text 33"/>
          <p:cNvSpPr txBox="1"/>
          <p:nvPr/>
        </p:nvSpPr>
        <p:spPr>
          <a:xfrm>
            <a:off x="9833458"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Dos grupos que se necesitan</a:t>
            </a:r>
            <a:endParaRPr lang="en-US" sz="1200" dirty="0"/>
          </a:p>
        </p:txBody>
      </p:sp>
      <p:sp>
        <p:nvSpPr>
          <p:cNvPr id="41" name="Shape 34"/>
          <p:cNvSpPr/>
          <p:nvPr/>
        </p:nvSpPr>
        <p:spPr>
          <a:xfrm>
            <a:off x="9833458" y="3520440"/>
            <a:ext cx="1188720" cy="292608"/>
          </a:xfrm>
          <a:prstGeom prst="roundRect">
            <a:avLst>
              <a:gd name="adj" fmla="val 50000"/>
            </a:avLst>
          </a:prstGeom>
          <a:solidFill>
            <a:schemeClr val="bg2"/>
          </a:solidFill>
          <a:ln w="12700">
            <a:solidFill>
              <a:schemeClr val="bg2"/>
            </a:solidFill>
            <a:prstDash val="solid"/>
          </a:ln>
        </p:spPr>
      </p:sp>
      <p:sp>
        <p:nvSpPr>
          <p:cNvPr id="42" name="Text 35"/>
          <p:cNvSpPr txBox="1"/>
          <p:nvPr/>
        </p:nvSpPr>
        <p:spPr>
          <a:xfrm>
            <a:off x="9833458"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2"/>
                </a:solidFill>
              </a:rPr>
              <a:t>NO APLICA</a:t>
            </a:r>
            <a:endParaRPr lang="en-US" sz="1000" dirty="0"/>
          </a:p>
        </p:txBody>
      </p:sp>
      <p:sp>
        <p:nvSpPr>
          <p:cNvPr id="43" name="Text 36"/>
          <p:cNvSpPr txBox="1"/>
          <p:nvPr/>
        </p:nvSpPr>
        <p:spPr>
          <a:xfrm>
            <a:off x="9833458"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No conectamos dos lados de un mercado</a:t>
            </a:r>
            <a:endParaRPr lang="en-US" sz="1400" dirty="0"/>
          </a:p>
        </p:txBody>
      </p:sp>
      <p:sp>
        <p:nvSpPr>
          <p:cNvPr id="44" name="Text 37"/>
          <p:cNvSpPr txBox="1"/>
          <p:nvPr/>
        </p:nvSpPr>
        <p:spPr>
          <a:xfrm>
            <a:off x="548640" y="5138928"/>
            <a:ext cx="5486400" cy="292608"/>
          </a:xfrm>
          <a:prstGeom prst="rect">
            <a:avLst/>
          </a:prstGeom>
          <a:noFill/>
          <a:ln/>
        </p:spPr>
        <p:txBody>
          <a:bodyPr wrap="square" lIns="0" tIns="0" rIns="0" bIns="0" rtlCol="0" anchor="t"/>
          <a:lstStyle/>
          <a:p>
            <a:pPr indent="0" marL="0">
              <a:buNone/>
            </a:pPr>
            <a:r>
              <a:rPr lang="en-US" sz="1400" b="1" dirty="0">
                <a:solidFill>
                  <a:schemeClr val="tx2"/>
                </a:solidFill>
              </a:rPr>
              <a:t>Por tipo de comprador (unidades del año 1)</a:t>
            </a:r>
            <a:endParaRPr lang="en-US" sz="1400" dirty="0"/>
          </a:p>
        </p:txBody>
      </p:sp>
      <p:sp>
        <p:nvSpPr>
          <p:cNvPr id="45" name="Shape 38"/>
          <p:cNvSpPr/>
          <p:nvPr/>
        </p:nvSpPr>
        <p:spPr>
          <a:xfrm>
            <a:off x="548640" y="5486400"/>
            <a:ext cx="9582912" cy="566928"/>
          </a:xfrm>
          <a:prstGeom prst="roundRect">
            <a:avLst>
              <a:gd name="adj" fmla="val 16129"/>
            </a:avLst>
          </a:prstGeom>
          <a:solidFill>
            <a:schemeClr val="tx2"/>
          </a:solidFill>
          <a:ln w="12700">
            <a:solidFill>
              <a:schemeClr val="tx2"/>
            </a:solidFill>
            <a:prstDash val="solid"/>
          </a:ln>
        </p:spPr>
      </p:sp>
      <p:sp>
        <p:nvSpPr>
          <p:cNvPr id="46" name="Text 39"/>
          <p:cNvSpPr txBox="1"/>
          <p:nvPr/>
        </p:nvSpPr>
        <p:spPr>
          <a:xfrm>
            <a:off x="777240" y="5486400"/>
            <a:ext cx="9144000" cy="566928"/>
          </a:xfrm>
          <a:prstGeom prst="rect">
            <a:avLst/>
          </a:prstGeom>
          <a:noFill/>
          <a:ln/>
        </p:spPr>
        <p:txBody>
          <a:bodyPr wrap="square" lIns="0" tIns="0" rIns="0" bIns="0" rtlCol="0" anchor="ctr"/>
          <a:lstStyle/>
          <a:p>
            <a:pPr indent="0" marL="0">
              <a:buNone/>
            </a:pPr>
            <a:r>
              <a:rPr lang="en-US" sz="1500" b="1" dirty="0">
                <a:solidFill>
                  <a:schemeClr val="bg1"/>
                </a:solidFill>
              </a:rPr>
              <a:t>Mercado de consumo (B2C): familias por WhatsApp, Instagram y ferias · 86.4 %</a:t>
            </a:r>
            <a:endParaRPr lang="en-US" sz="1500" dirty="0"/>
          </a:p>
        </p:txBody>
      </p:sp>
      <p:sp>
        <p:nvSpPr>
          <p:cNvPr id="47" name="Shape 40"/>
          <p:cNvSpPr/>
          <p:nvPr/>
        </p:nvSpPr>
        <p:spPr>
          <a:xfrm>
            <a:off x="10177272" y="5486400"/>
            <a:ext cx="1463040" cy="566928"/>
          </a:xfrm>
          <a:prstGeom prst="roundRect">
            <a:avLst>
              <a:gd name="adj" fmla="val 16129"/>
            </a:avLst>
          </a:prstGeom>
          <a:solidFill>
            <a:schemeClr val="accent3"/>
          </a:solidFill>
          <a:ln w="12700">
            <a:solidFill>
              <a:schemeClr val="accent3"/>
            </a:solidFill>
            <a:prstDash val="solid"/>
          </a:ln>
        </p:spPr>
      </p:sp>
      <p:sp>
        <p:nvSpPr>
          <p:cNvPr id="48" name="Text 41"/>
          <p:cNvSpPr txBox="1"/>
          <p:nvPr/>
        </p:nvSpPr>
        <p:spPr>
          <a:xfrm>
            <a:off x="10177272" y="5486400"/>
            <a:ext cx="1463040" cy="566928"/>
          </a:xfrm>
          <a:prstGeom prst="rect">
            <a:avLst/>
          </a:prstGeom>
          <a:noFill/>
          <a:ln/>
        </p:spPr>
        <p:txBody>
          <a:bodyPr wrap="square" lIns="0" tIns="0" rIns="0" bIns="0" rtlCol="0" anchor="ctr"/>
          <a:lstStyle/>
          <a:p>
            <a:pPr algn="ctr" indent="0" marL="0">
              <a:buNone/>
            </a:pPr>
            <a:r>
              <a:rPr lang="en-US" sz="1400" b="1" dirty="0">
                <a:solidFill>
                  <a:schemeClr val="tx1"/>
                </a:solidFill>
              </a:rPr>
              <a:t>B2B 13.6 %</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TAMAÑO DEL MERCADO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Un nicho chico, pero con billetera</a:t>
            </a:r>
            <a:endParaRPr lang="en-US" sz="3400" dirty="0"/>
          </a:p>
        </p:txBody>
      </p:sp>
      <p:sp>
        <p:nvSpPr>
          <p:cNvPr id="4" name="Shape 2"/>
          <p:cNvSpPr/>
          <p:nvPr/>
        </p:nvSpPr>
        <p:spPr>
          <a:xfrm>
            <a:off x="594360" y="1554480"/>
            <a:ext cx="6035040" cy="914400"/>
          </a:xfrm>
          <a:prstGeom prst="roundRect">
            <a:avLst>
              <a:gd name="adj" fmla="val 12000"/>
            </a:avLst>
          </a:prstGeom>
          <a:solidFill>
            <a:schemeClr val="accent5"/>
          </a:solidFill>
          <a:ln w="12700">
            <a:solidFill>
              <a:schemeClr val="accent5"/>
            </a:solidFill>
            <a:prstDash val="solid"/>
          </a:ln>
        </p:spPr>
      </p:sp>
      <p:sp>
        <p:nvSpPr>
          <p:cNvPr id="5" name="Text 3"/>
          <p:cNvSpPr txBox="1"/>
          <p:nvPr/>
        </p:nvSpPr>
        <p:spPr>
          <a:xfrm>
            <a:off x="731520" y="1554480"/>
            <a:ext cx="5760720" cy="914400"/>
          </a:xfrm>
          <a:prstGeom prst="rect">
            <a:avLst/>
          </a:prstGeom>
          <a:noFill/>
          <a:ln/>
        </p:spPr>
        <p:txBody>
          <a:bodyPr wrap="square" lIns="0" tIns="0" rIns="0" bIns="0" rtlCol="0" anchor="ctr"/>
          <a:lstStyle/>
          <a:p>
            <a:pPr algn="ctr" indent="0" marL="0">
              <a:buNone/>
            </a:pPr>
            <a:r>
              <a:rPr lang="en-US" sz="1800" b="1" dirty="0">
                <a:solidFill>
                  <a:schemeClr val="tx1"/>
                </a:solidFill>
              </a:rPr>
              <a:t>TAM · S/130.9 millones</a:t>
            </a:r>
            <a:endParaRPr lang="en-US" sz="1400" dirty="0"/>
          </a:p>
          <a:p>
            <a:pPr algn="ctr" indent="0" marL="0">
              <a:buNone/>
            </a:pPr>
            <a:r>
              <a:rPr lang="en-US" sz="1200" dirty="0">
                <a:solidFill>
                  <a:schemeClr val="tx1"/>
                </a:solidFill>
              </a:rPr>
              <a:t>932 mil hogares · todas las loncheras de Lima</a:t>
            </a:r>
            <a:endParaRPr lang="en-US" sz="1400" dirty="0"/>
          </a:p>
        </p:txBody>
      </p:sp>
      <p:sp>
        <p:nvSpPr>
          <p:cNvPr id="6" name="Shape 4"/>
          <p:cNvSpPr/>
          <p:nvPr/>
        </p:nvSpPr>
        <p:spPr>
          <a:xfrm>
            <a:off x="1143000" y="2633472"/>
            <a:ext cx="4937760" cy="914400"/>
          </a:xfrm>
          <a:prstGeom prst="roundRect">
            <a:avLst>
              <a:gd name="adj" fmla="val 12000"/>
            </a:avLst>
          </a:prstGeom>
          <a:solidFill>
            <a:schemeClr val="accent2"/>
          </a:solidFill>
          <a:ln w="12700">
            <a:solidFill>
              <a:schemeClr val="accent2"/>
            </a:solidFill>
            <a:prstDash val="solid"/>
          </a:ln>
        </p:spPr>
      </p:sp>
      <p:sp>
        <p:nvSpPr>
          <p:cNvPr id="7" name="Text 5"/>
          <p:cNvSpPr txBox="1"/>
          <p:nvPr/>
        </p:nvSpPr>
        <p:spPr>
          <a:xfrm>
            <a:off x="1280160" y="2633472"/>
            <a:ext cx="4663440" cy="914400"/>
          </a:xfrm>
          <a:prstGeom prst="rect">
            <a:avLst/>
          </a:prstGeom>
          <a:noFill/>
          <a:ln/>
        </p:spPr>
        <p:txBody>
          <a:bodyPr wrap="square" lIns="0" tIns="0" rIns="0" bIns="0" rtlCol="0" anchor="ctr"/>
          <a:lstStyle/>
          <a:p>
            <a:pPr algn="ctr" indent="0" marL="0">
              <a:buNone/>
            </a:pPr>
            <a:r>
              <a:rPr lang="en-US" sz="1800" b="1" dirty="0">
                <a:solidFill>
                  <a:schemeClr val="bg1"/>
                </a:solidFill>
              </a:rPr>
              <a:t>SAM · S/62.8 millones</a:t>
            </a:r>
            <a:endParaRPr lang="en-US" sz="1400" dirty="0"/>
          </a:p>
          <a:p>
            <a:pPr algn="ctr" indent="0" marL="0">
              <a:buNone/>
            </a:pPr>
            <a:r>
              <a:rPr lang="en-US" sz="1200" dirty="0">
                <a:solidFill>
                  <a:schemeClr val="bg1"/>
                </a:solidFill>
              </a:rPr>
              <a:t>168 mil hogares A/B con niños de 4 a 11</a:t>
            </a:r>
            <a:endParaRPr lang="en-US" sz="1400" dirty="0"/>
          </a:p>
        </p:txBody>
      </p:sp>
      <p:sp>
        <p:nvSpPr>
          <p:cNvPr id="8" name="Shape 6"/>
          <p:cNvSpPr/>
          <p:nvPr/>
        </p:nvSpPr>
        <p:spPr>
          <a:xfrm>
            <a:off x="1691640" y="3712464"/>
            <a:ext cx="3840480" cy="914400"/>
          </a:xfrm>
          <a:prstGeom prst="roundRect">
            <a:avLst>
              <a:gd name="adj" fmla="val 12000"/>
            </a:avLst>
          </a:prstGeom>
          <a:solidFill>
            <a:schemeClr val="accent1"/>
          </a:solidFill>
          <a:ln w="12700">
            <a:solidFill>
              <a:schemeClr val="accent1"/>
            </a:solidFill>
            <a:prstDash val="solid"/>
          </a:ln>
        </p:spPr>
      </p:sp>
      <p:sp>
        <p:nvSpPr>
          <p:cNvPr id="9" name="Text 7"/>
          <p:cNvSpPr txBox="1"/>
          <p:nvPr/>
        </p:nvSpPr>
        <p:spPr>
          <a:xfrm>
            <a:off x="1828800" y="3712464"/>
            <a:ext cx="3566160" cy="914400"/>
          </a:xfrm>
          <a:prstGeom prst="rect">
            <a:avLst/>
          </a:prstGeom>
          <a:noFill/>
          <a:ln/>
        </p:spPr>
        <p:txBody>
          <a:bodyPr wrap="square" lIns="0" tIns="0" rIns="0" bIns="0" rtlCol="0" anchor="ctr"/>
          <a:lstStyle/>
          <a:p>
            <a:pPr algn="ctr" indent="0" marL="0">
              <a:buNone/>
            </a:pPr>
            <a:r>
              <a:rPr lang="en-US" sz="1800" b="1" dirty="0">
                <a:solidFill>
                  <a:schemeClr val="bg1"/>
                </a:solidFill>
              </a:rPr>
              <a:t>Núcleo · S/17.3 millones</a:t>
            </a:r>
            <a:endParaRPr lang="en-US" sz="1400" dirty="0"/>
          </a:p>
          <a:p>
            <a:pPr algn="ctr" indent="0" marL="0">
              <a:buNone/>
            </a:pPr>
            <a:r>
              <a:rPr lang="en-US" sz="1200" dirty="0">
                <a:solidFill>
                  <a:schemeClr val="bg1"/>
                </a:solidFill>
              </a:rPr>
              <a:t>46 mil hogares en Lima Top y Moderna</a:t>
            </a:r>
            <a:endParaRPr lang="en-US" sz="1400" dirty="0"/>
          </a:p>
        </p:txBody>
      </p:sp>
      <p:sp>
        <p:nvSpPr>
          <p:cNvPr id="10" name="Shape 8"/>
          <p:cNvSpPr/>
          <p:nvPr/>
        </p:nvSpPr>
        <p:spPr>
          <a:xfrm>
            <a:off x="2240280" y="4791456"/>
            <a:ext cx="2743200" cy="914400"/>
          </a:xfrm>
          <a:prstGeom prst="roundRect">
            <a:avLst>
              <a:gd name="adj" fmla="val 12000"/>
            </a:avLst>
          </a:prstGeom>
          <a:solidFill>
            <a:schemeClr val="tx2"/>
          </a:solidFill>
          <a:ln w="12700">
            <a:solidFill>
              <a:schemeClr val="tx2"/>
            </a:solidFill>
            <a:prstDash val="solid"/>
          </a:ln>
        </p:spPr>
      </p:sp>
      <p:sp>
        <p:nvSpPr>
          <p:cNvPr id="11" name="Text 9"/>
          <p:cNvSpPr txBox="1"/>
          <p:nvPr/>
        </p:nvSpPr>
        <p:spPr>
          <a:xfrm>
            <a:off x="2377440" y="4791456"/>
            <a:ext cx="2468880" cy="914400"/>
          </a:xfrm>
          <a:prstGeom prst="rect">
            <a:avLst/>
          </a:prstGeom>
          <a:noFill/>
          <a:ln/>
        </p:spPr>
        <p:txBody>
          <a:bodyPr wrap="square" lIns="0" tIns="0" rIns="0" bIns="0" rtlCol="0" anchor="ctr"/>
          <a:lstStyle/>
          <a:p>
            <a:pPr algn="ctr" indent="0" marL="0">
              <a:buNone/>
            </a:pPr>
            <a:r>
              <a:rPr lang="en-US" sz="1800" b="1" dirty="0">
                <a:solidFill>
                  <a:schemeClr val="bg1"/>
                </a:solidFill>
              </a:rPr>
              <a:t>SOM año 1 · S/0.30 M</a:t>
            </a:r>
            <a:endParaRPr lang="en-US" sz="1400" dirty="0"/>
          </a:p>
          <a:p>
            <a:pPr algn="ctr" indent="0" marL="0">
              <a:buNone/>
            </a:pPr>
            <a:r>
              <a:rPr lang="en-US" sz="1200" dirty="0">
                <a:solidFill>
                  <a:schemeClr val="bg1"/>
                </a:solidFill>
              </a:rPr>
              <a:t>700 hogares · 76,335 brownies</a:t>
            </a:r>
            <a:endParaRPr lang="en-US" sz="1400" dirty="0"/>
          </a:p>
        </p:txBody>
      </p:sp>
      <p:sp>
        <p:nvSpPr>
          <p:cNvPr id="12" name="Shape 10"/>
          <p:cNvSpPr/>
          <p:nvPr/>
        </p:nvSpPr>
        <p:spPr>
          <a:xfrm>
            <a:off x="7086600" y="1554480"/>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7315200" y="1554480"/>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53.1 %</a:t>
            </a:r>
            <a:endParaRPr lang="en-US" sz="3200" dirty="0"/>
          </a:p>
        </p:txBody>
      </p:sp>
      <p:sp>
        <p:nvSpPr>
          <p:cNvPr id="14" name="Text 12"/>
          <p:cNvSpPr txBox="1"/>
          <p:nvPr/>
        </p:nvSpPr>
        <p:spPr>
          <a:xfrm>
            <a:off x="9144000" y="1691640"/>
            <a:ext cx="2313432" cy="1024128"/>
          </a:xfrm>
          <a:prstGeom prst="rect">
            <a:avLst/>
          </a:prstGeom>
          <a:noFill/>
          <a:ln/>
        </p:spPr>
        <p:txBody>
          <a:bodyPr wrap="square" lIns="0" tIns="0" rIns="0" bIns="0" rtlCol="0" anchor="ctr"/>
          <a:lstStyle/>
          <a:p>
            <a:pPr indent="0" marL="0">
              <a:buNone/>
            </a:pPr>
            <a:r>
              <a:rPr lang="en-US" sz="1400" dirty="0">
                <a:solidFill>
                  <a:schemeClr val="tx1"/>
                </a:solidFill>
              </a:rPr>
              <a:t>de los nacimientos de Lima son de madres de 30 años o más</a:t>
            </a:r>
            <a:endParaRPr lang="en-US" sz="1400" dirty="0"/>
          </a:p>
          <a:p>
            <a:pPr indent="0" marL="0">
              <a:buNone/>
            </a:pPr>
            <a:r>
              <a:rPr lang="en-US" sz="1100" i="1" dirty="0">
                <a:solidFill>
                  <a:schemeClr val="accent2"/>
                </a:solidFill>
              </a:rPr>
              <a:t>INEI 2022</a:t>
            </a:r>
            <a:endParaRPr lang="en-US" sz="1400" dirty="0"/>
          </a:p>
        </p:txBody>
      </p:sp>
      <p:sp>
        <p:nvSpPr>
          <p:cNvPr id="15" name="Shape 13"/>
          <p:cNvSpPr/>
          <p:nvPr/>
        </p:nvSpPr>
        <p:spPr>
          <a:xfrm>
            <a:off x="7086600" y="3035808"/>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Text 14"/>
          <p:cNvSpPr txBox="1"/>
          <p:nvPr/>
        </p:nvSpPr>
        <p:spPr>
          <a:xfrm>
            <a:off x="7315200" y="3035808"/>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83 %</a:t>
            </a:r>
            <a:endParaRPr lang="en-US" sz="3200" dirty="0"/>
          </a:p>
        </p:txBody>
      </p:sp>
      <p:sp>
        <p:nvSpPr>
          <p:cNvPr id="17" name="Text 15"/>
          <p:cNvSpPr txBox="1"/>
          <p:nvPr/>
        </p:nvSpPr>
        <p:spPr>
          <a:xfrm>
            <a:off x="9144000" y="3172968"/>
            <a:ext cx="2313432" cy="1024128"/>
          </a:xfrm>
          <a:prstGeom prst="rect">
            <a:avLst/>
          </a:prstGeom>
          <a:noFill/>
          <a:ln/>
        </p:spPr>
        <p:txBody>
          <a:bodyPr wrap="square" lIns="0" tIns="0" rIns="0" bIns="0" rtlCol="0" anchor="ctr"/>
          <a:lstStyle/>
          <a:p>
            <a:pPr indent="0" marL="0">
              <a:buNone/>
            </a:pPr>
            <a:r>
              <a:rPr lang="en-US" sz="1400" dirty="0">
                <a:solidFill>
                  <a:schemeClr val="tx1"/>
                </a:solidFill>
              </a:rPr>
              <a:t>cambia su compra por los octógonos; 70 % teme el "Alto en azúcar"</a:t>
            </a:r>
            <a:endParaRPr lang="en-US" sz="1400" dirty="0"/>
          </a:p>
          <a:p>
            <a:pPr indent="0" marL="0">
              <a:buNone/>
            </a:pPr>
            <a:r>
              <a:rPr lang="en-US" sz="1100" i="1" dirty="0">
                <a:solidFill>
                  <a:schemeClr val="accent2"/>
                </a:solidFill>
              </a:rPr>
              <a:t>Ipsos 2025</a:t>
            </a:r>
            <a:endParaRPr lang="en-US" sz="1400" dirty="0"/>
          </a:p>
        </p:txBody>
      </p:sp>
      <p:sp>
        <p:nvSpPr>
          <p:cNvPr id="18" name="Shape 16"/>
          <p:cNvSpPr/>
          <p:nvPr/>
        </p:nvSpPr>
        <p:spPr>
          <a:xfrm>
            <a:off x="7086600" y="4517136"/>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Text 17"/>
          <p:cNvSpPr txBox="1"/>
          <p:nvPr/>
        </p:nvSpPr>
        <p:spPr>
          <a:xfrm>
            <a:off x="7315200" y="4517136"/>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S/1,709</a:t>
            </a:r>
            <a:endParaRPr lang="en-US" sz="3200" dirty="0"/>
          </a:p>
        </p:txBody>
      </p:sp>
      <p:sp>
        <p:nvSpPr>
          <p:cNvPr id="20" name="Text 18"/>
          <p:cNvSpPr txBox="1"/>
          <p:nvPr/>
        </p:nvSpPr>
        <p:spPr>
          <a:xfrm>
            <a:off x="9144000" y="4654296"/>
            <a:ext cx="2313432" cy="1024128"/>
          </a:xfrm>
          <a:prstGeom prst="rect">
            <a:avLst/>
          </a:prstGeom>
          <a:noFill/>
          <a:ln/>
        </p:spPr>
        <p:txBody>
          <a:bodyPr wrap="square" lIns="0" tIns="0" rIns="0" bIns="0" rtlCol="0" anchor="ctr"/>
          <a:lstStyle/>
          <a:p>
            <a:pPr indent="0" marL="0">
              <a:buNone/>
            </a:pPr>
            <a:r>
              <a:rPr lang="en-US" sz="1400" dirty="0">
                <a:solidFill>
                  <a:schemeClr val="tx1"/>
                </a:solidFill>
              </a:rPr>
              <a:t>gasta al mes un hogar A en educación y salud</a:t>
            </a:r>
            <a:endParaRPr lang="en-US" sz="1400" dirty="0"/>
          </a:p>
          <a:p>
            <a:pPr indent="0" marL="0">
              <a:buNone/>
            </a:pPr>
            <a:r>
              <a:rPr lang="en-US" sz="1100" i="1" dirty="0">
                <a:solidFill>
                  <a:schemeClr val="accent2"/>
                </a:solidFill>
              </a:rPr>
              <a:t>APEIM 2025</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ARQUETIPOS DE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Tres arquetipos ordenan a quién le vendemos</a:t>
            </a:r>
            <a:endParaRPr lang="en-US" sz="3400" dirty="0"/>
          </a:p>
        </p:txBody>
      </p:sp>
      <p:sp>
        <p:nvSpPr>
          <p:cNvPr id="4" name="Shape 2"/>
          <p:cNvSpPr/>
          <p:nvPr/>
        </p:nvSpPr>
        <p:spPr>
          <a:xfrm>
            <a:off x="548640"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28800"/>
            <a:ext cx="731520" cy="73152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83894" y="1989734"/>
            <a:ext cx="409651" cy="409651"/>
          </a:xfrm>
          <a:prstGeom prst="rect">
            <a:avLst/>
          </a:prstGeom>
        </p:spPr>
      </p:pic>
      <p:sp>
        <p:nvSpPr>
          <p:cNvPr id="7" name="Text 4"/>
          <p:cNvSpPr txBox="1"/>
          <p:nvPr/>
        </p:nvSpPr>
        <p:spPr>
          <a:xfrm>
            <a:off x="1691640"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Guardiana del Hierro</a:t>
            </a:r>
            <a:endParaRPr lang="en-US" sz="1900" dirty="0"/>
          </a:p>
        </p:txBody>
      </p:sp>
      <p:sp>
        <p:nvSpPr>
          <p:cNvPr id="8" name="Text 5"/>
          <p:cNvSpPr txBox="1"/>
          <p:nvPr/>
        </p:nvSpPr>
        <p:spPr>
          <a:xfrm>
            <a:off x="1691640"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Mide la salud de su hijo</a:t>
            </a:r>
            <a:endParaRPr lang="en-US" sz="1200" dirty="0"/>
          </a:p>
        </p:txBody>
      </p:sp>
      <p:sp>
        <p:nvSpPr>
          <p:cNvPr id="9" name="Text 6"/>
          <p:cNvSpPr txBox="1"/>
          <p:nvPr/>
        </p:nvSpPr>
        <p:spPr>
          <a:xfrm>
            <a:off x="822960" y="2880360"/>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LO MUEVE</a:t>
            </a:r>
            <a:endParaRPr lang="en-US" sz="1100" dirty="0"/>
          </a:p>
        </p:txBody>
      </p:sp>
      <p:sp>
        <p:nvSpPr>
          <p:cNvPr id="10" name="Text 7"/>
          <p:cNvSpPr txBox="1"/>
          <p:nvPr/>
        </p:nvSpPr>
        <p:spPr>
          <a:xfrm>
            <a:off x="822960" y="3127248"/>
            <a:ext cx="2971800" cy="548640"/>
          </a:xfrm>
          <a:prstGeom prst="rect">
            <a:avLst/>
          </a:prstGeom>
          <a:noFill/>
          <a:ln/>
        </p:spPr>
        <p:txBody>
          <a:bodyPr wrap="square" lIns="0" tIns="0" rIns="0" bIns="0" rtlCol="0" anchor="t"/>
          <a:lstStyle/>
          <a:p>
            <a:pPr indent="0" marL="0">
              <a:buNone/>
            </a:pPr>
            <a:r>
              <a:rPr lang="en-US" sz="1500" dirty="0">
                <a:solidFill>
                  <a:schemeClr val="tx1"/>
                </a:solidFill>
              </a:rPr>
              <a:t>Hierro verificable y cero octógonos</a:t>
            </a:r>
            <a:endParaRPr lang="en-US" sz="1500" dirty="0"/>
          </a:p>
        </p:txBody>
      </p:sp>
      <p:sp>
        <p:nvSpPr>
          <p:cNvPr id="11" name="Text 8"/>
          <p:cNvSpPr txBox="1"/>
          <p:nvPr/>
        </p:nvSpPr>
        <p:spPr>
          <a:xfrm>
            <a:off x="822960" y="3721608"/>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LE TEME</a:t>
            </a:r>
            <a:endParaRPr lang="en-US" sz="1100" dirty="0"/>
          </a:p>
        </p:txBody>
      </p:sp>
      <p:sp>
        <p:nvSpPr>
          <p:cNvPr id="12" name="Text 9"/>
          <p:cNvSpPr txBox="1"/>
          <p:nvPr/>
        </p:nvSpPr>
        <p:spPr>
          <a:xfrm>
            <a:off x="822960" y="3968496"/>
            <a:ext cx="2971800" cy="548640"/>
          </a:xfrm>
          <a:prstGeom prst="rect">
            <a:avLst/>
          </a:prstGeom>
          <a:noFill/>
          <a:ln/>
        </p:spPr>
        <p:txBody>
          <a:bodyPr wrap="square" lIns="0" tIns="0" rIns="0" bIns="0" rtlCol="0" anchor="t"/>
          <a:lstStyle/>
          <a:p>
            <a:pPr indent="0" marL="0">
              <a:buNone/>
            </a:pPr>
            <a:r>
              <a:rPr lang="en-US" sz="1500" dirty="0">
                <a:solidFill>
                  <a:schemeClr val="tx1"/>
                </a:solidFill>
              </a:rPr>
              <a:t>Lo "saludable" que no tiene pruebas</a:t>
            </a:r>
            <a:endParaRPr lang="en-US" sz="1500" dirty="0"/>
          </a:p>
        </p:txBody>
      </p:sp>
      <p:sp>
        <p:nvSpPr>
          <p:cNvPr id="13" name="Text 10"/>
          <p:cNvSpPr txBox="1"/>
          <p:nvPr/>
        </p:nvSpPr>
        <p:spPr>
          <a:xfrm>
            <a:off x="822960" y="4562856"/>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MENSAJE</a:t>
            </a:r>
            <a:endParaRPr lang="en-US" sz="1100" dirty="0"/>
          </a:p>
        </p:txBody>
      </p:sp>
      <p:sp>
        <p:nvSpPr>
          <p:cNvPr id="14" name="Text 11"/>
          <p:cNvSpPr txBox="1"/>
          <p:nvPr/>
        </p:nvSpPr>
        <p:spPr>
          <a:xfrm>
            <a:off x="822960" y="4809744"/>
            <a:ext cx="2971800" cy="548640"/>
          </a:xfrm>
          <a:prstGeom prst="rect">
            <a:avLst/>
          </a:prstGeom>
          <a:noFill/>
          <a:ln/>
        </p:spPr>
        <p:txBody>
          <a:bodyPr wrap="square" lIns="0" tIns="0" rIns="0" bIns="0" rtlCol="0" anchor="t"/>
          <a:lstStyle/>
          <a:p>
            <a:pPr indent="0" marL="0">
              <a:buNone/>
            </a:pPr>
            <a:r>
              <a:rPr lang="en-US" sz="1500" i="1" dirty="0">
                <a:solidFill>
                  <a:schemeClr val="tx1"/>
                </a:solidFill>
              </a:rPr>
              <a:t>"Hierro medido, sabor a brownie"</a:t>
            </a:r>
            <a:endParaRPr lang="en-US" sz="1500" dirty="0"/>
          </a:p>
        </p:txBody>
      </p:sp>
      <p:sp>
        <p:nvSpPr>
          <p:cNvPr id="15" name="Text 12"/>
          <p:cNvSpPr txBox="1"/>
          <p:nvPr/>
        </p:nvSpPr>
        <p:spPr>
          <a:xfrm>
            <a:off x="822960" y="5321808"/>
            <a:ext cx="1554480" cy="731520"/>
          </a:xfrm>
          <a:prstGeom prst="rect">
            <a:avLst/>
          </a:prstGeom>
          <a:noFill/>
          <a:ln/>
        </p:spPr>
        <p:txBody>
          <a:bodyPr wrap="square" lIns="0" tIns="0" rIns="0" bIns="0" rtlCol="0" anchor="t"/>
          <a:lstStyle/>
          <a:p>
            <a:pPr indent="0" marL="0">
              <a:buNone/>
            </a:pPr>
            <a:r>
              <a:rPr lang="en-US" sz="3000" b="1" dirty="0">
                <a:solidFill>
                  <a:schemeClr val="accent1"/>
                </a:solidFill>
              </a:rPr>
              <a:t>30 %</a:t>
            </a:r>
            <a:endParaRPr lang="en-US" sz="1400" dirty="0"/>
          </a:p>
          <a:p>
            <a:pPr indent="0" marL="0">
              <a:buNone/>
            </a:pPr>
            <a:r>
              <a:rPr lang="en-US" sz="1100" dirty="0">
                <a:solidFill>
                  <a:schemeClr val="accent2"/>
                </a:solidFill>
              </a:rPr>
              <a:t>del volumen (hipótesis)</a:t>
            </a:r>
            <a:endParaRPr lang="en-US" sz="1400" dirty="0"/>
          </a:p>
        </p:txBody>
      </p:sp>
      <p:sp>
        <p:nvSpPr>
          <p:cNvPr id="16" name="Shape 13"/>
          <p:cNvSpPr/>
          <p:nvPr/>
        </p:nvSpPr>
        <p:spPr>
          <a:xfrm>
            <a:off x="2331720" y="5486400"/>
            <a:ext cx="1463040" cy="384048"/>
          </a:xfrm>
          <a:prstGeom prst="roundRect">
            <a:avLst>
              <a:gd name="adj" fmla="val 50000"/>
            </a:avLst>
          </a:prstGeom>
          <a:solidFill>
            <a:schemeClr val="bg2"/>
          </a:solidFill>
          <a:ln w="12700">
            <a:solidFill>
              <a:schemeClr val="accent5"/>
            </a:solidFill>
            <a:prstDash val="solid"/>
          </a:ln>
        </p:spPr>
      </p:sp>
      <p:sp>
        <p:nvSpPr>
          <p:cNvPr id="17" name="Text 14"/>
          <p:cNvSpPr txBox="1"/>
          <p:nvPr/>
        </p:nvSpPr>
        <p:spPr>
          <a:xfrm>
            <a:off x="2331720"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Buyer persona: Claudia</a:t>
            </a:r>
            <a:endParaRPr lang="en-US" sz="1100" dirty="0"/>
          </a:p>
        </p:txBody>
      </p:sp>
      <p:sp>
        <p:nvSpPr>
          <p:cNvPr id="18" name="Shape 15"/>
          <p:cNvSpPr/>
          <p:nvPr/>
        </p:nvSpPr>
        <p:spPr>
          <a:xfrm>
            <a:off x="4334256"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Shape 16"/>
          <p:cNvSpPr/>
          <p:nvPr/>
        </p:nvSpPr>
        <p:spPr>
          <a:xfrm>
            <a:off x="4608576" y="1828800"/>
            <a:ext cx="731520" cy="731520"/>
          </a:xfrm>
          <a:prstGeom prst="ellipse">
            <a:avLst/>
          </a:prstGeom>
          <a:solidFill>
            <a:schemeClr val="accent2"/>
          </a:solidFill>
          <a:ln w="12700">
            <a:solidFill>
              <a:schemeClr val="accent2"/>
            </a:solidFill>
            <a:prstDash val="solid"/>
          </a:ln>
        </p:spPr>
      </p:sp>
      <p:pic>
        <p:nvPicPr>
          <p:cNvPr id="20" name="Image 1" descr="preencoded.png">    </p:cNvPr>
          <p:cNvPicPr>
            <a:picLocks noChangeAspect="1"/>
          </p:cNvPicPr>
          <p:nvPr/>
        </p:nvPicPr>
        <p:blipFill>
          <a:blip r:embed="rId2"/>
          <a:stretch>
            <a:fillRect/>
          </a:stretch>
        </p:blipFill>
        <p:spPr>
          <a:xfrm>
            <a:off x="4769510" y="1989734"/>
            <a:ext cx="409651" cy="409651"/>
          </a:xfrm>
          <a:prstGeom prst="rect">
            <a:avLst/>
          </a:prstGeom>
        </p:spPr>
      </p:pic>
      <p:sp>
        <p:nvSpPr>
          <p:cNvPr id="21" name="Text 17"/>
          <p:cNvSpPr txBox="1"/>
          <p:nvPr/>
        </p:nvSpPr>
        <p:spPr>
          <a:xfrm>
            <a:off x="5477256"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El Resolutivo</a:t>
            </a:r>
            <a:endParaRPr lang="en-US" sz="1900" dirty="0"/>
          </a:p>
        </p:txBody>
      </p:sp>
      <p:sp>
        <p:nvSpPr>
          <p:cNvPr id="22" name="Text 18"/>
          <p:cNvSpPr txBox="1"/>
          <p:nvPr/>
        </p:nvSpPr>
        <p:spPr>
          <a:xfrm>
            <a:off x="5477256"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Mamá o papá contra el reloj</a:t>
            </a:r>
            <a:endParaRPr lang="en-US" sz="1200" dirty="0"/>
          </a:p>
        </p:txBody>
      </p:sp>
      <p:sp>
        <p:nvSpPr>
          <p:cNvPr id="23" name="Text 19"/>
          <p:cNvSpPr txBox="1"/>
          <p:nvPr/>
        </p:nvSpPr>
        <p:spPr>
          <a:xfrm>
            <a:off x="4608576" y="2880360"/>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LO MUEVE</a:t>
            </a:r>
            <a:endParaRPr lang="en-US" sz="1100" dirty="0"/>
          </a:p>
        </p:txBody>
      </p:sp>
      <p:sp>
        <p:nvSpPr>
          <p:cNvPr id="24" name="Text 20"/>
          <p:cNvSpPr txBox="1"/>
          <p:nvPr/>
        </p:nvSpPr>
        <p:spPr>
          <a:xfrm>
            <a:off x="4608576" y="3127248"/>
            <a:ext cx="2971800" cy="548640"/>
          </a:xfrm>
          <a:prstGeom prst="rect">
            <a:avLst/>
          </a:prstGeom>
          <a:noFill/>
          <a:ln/>
        </p:spPr>
        <p:txBody>
          <a:bodyPr wrap="square" lIns="0" tIns="0" rIns="0" bIns="0" rtlCol="0" anchor="t"/>
          <a:lstStyle/>
          <a:p>
            <a:pPr indent="0" marL="0">
              <a:buNone/>
            </a:pPr>
            <a:r>
              <a:rPr lang="en-US" sz="1500" dirty="0">
                <a:solidFill>
                  <a:schemeClr val="tx1"/>
                </a:solidFill>
              </a:rPr>
              <a:t>Resolver la lonchera en un minuto</a:t>
            </a:r>
            <a:endParaRPr lang="en-US" sz="1500" dirty="0"/>
          </a:p>
        </p:txBody>
      </p:sp>
      <p:sp>
        <p:nvSpPr>
          <p:cNvPr id="25" name="Text 21"/>
          <p:cNvSpPr txBox="1"/>
          <p:nvPr/>
        </p:nvSpPr>
        <p:spPr>
          <a:xfrm>
            <a:off x="4608576" y="3721608"/>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LE TEME</a:t>
            </a:r>
            <a:endParaRPr lang="en-US" sz="1100" dirty="0"/>
          </a:p>
        </p:txBody>
      </p:sp>
      <p:sp>
        <p:nvSpPr>
          <p:cNvPr id="26" name="Text 22"/>
          <p:cNvSpPr txBox="1"/>
          <p:nvPr/>
        </p:nvSpPr>
        <p:spPr>
          <a:xfrm>
            <a:off x="4608576" y="3968496"/>
            <a:ext cx="2971800" cy="548640"/>
          </a:xfrm>
          <a:prstGeom prst="rect">
            <a:avLst/>
          </a:prstGeom>
          <a:noFill/>
          <a:ln/>
        </p:spPr>
        <p:txBody>
          <a:bodyPr wrap="square" lIns="0" tIns="0" rIns="0" bIns="0" rtlCol="0" anchor="t"/>
          <a:lstStyle/>
          <a:p>
            <a:pPr indent="0" marL="0">
              <a:buNone/>
            </a:pPr>
            <a:r>
              <a:rPr lang="en-US" sz="1500" dirty="0">
                <a:solidFill>
                  <a:schemeClr val="tx1"/>
                </a:solidFill>
              </a:rPr>
              <a:t>Que regrese intacta o aplastada</a:t>
            </a:r>
            <a:endParaRPr lang="en-US" sz="1500" dirty="0"/>
          </a:p>
        </p:txBody>
      </p:sp>
      <p:sp>
        <p:nvSpPr>
          <p:cNvPr id="27" name="Text 23"/>
          <p:cNvSpPr txBox="1"/>
          <p:nvPr/>
        </p:nvSpPr>
        <p:spPr>
          <a:xfrm>
            <a:off x="4608576" y="4562856"/>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MENSAJE</a:t>
            </a:r>
            <a:endParaRPr lang="en-US" sz="1100" dirty="0"/>
          </a:p>
        </p:txBody>
      </p:sp>
      <p:sp>
        <p:nvSpPr>
          <p:cNvPr id="28" name="Text 24"/>
          <p:cNvSpPr txBox="1"/>
          <p:nvPr/>
        </p:nvSpPr>
        <p:spPr>
          <a:xfrm>
            <a:off x="4608576" y="4809744"/>
            <a:ext cx="2971800" cy="548640"/>
          </a:xfrm>
          <a:prstGeom prst="rect">
            <a:avLst/>
          </a:prstGeom>
          <a:noFill/>
          <a:ln/>
        </p:spPr>
        <p:txBody>
          <a:bodyPr wrap="square" lIns="0" tIns="0" rIns="0" bIns="0" rtlCol="0" anchor="t"/>
          <a:lstStyle/>
          <a:p>
            <a:pPr indent="0" marL="0">
              <a:buNone/>
            </a:pPr>
            <a:r>
              <a:rPr lang="en-US" sz="1500" i="1" dirty="0">
                <a:solidFill>
                  <a:schemeClr val="tx1"/>
                </a:solidFill>
              </a:rPr>
              <a:t>"Una mañana menos"</a:t>
            </a:r>
            <a:endParaRPr lang="en-US" sz="1500" dirty="0"/>
          </a:p>
        </p:txBody>
      </p:sp>
      <p:sp>
        <p:nvSpPr>
          <p:cNvPr id="29" name="Text 25"/>
          <p:cNvSpPr txBox="1"/>
          <p:nvPr/>
        </p:nvSpPr>
        <p:spPr>
          <a:xfrm>
            <a:off x="4608576" y="5321808"/>
            <a:ext cx="1554480" cy="731520"/>
          </a:xfrm>
          <a:prstGeom prst="rect">
            <a:avLst/>
          </a:prstGeom>
          <a:noFill/>
          <a:ln/>
        </p:spPr>
        <p:txBody>
          <a:bodyPr wrap="square" lIns="0" tIns="0" rIns="0" bIns="0" rtlCol="0" anchor="t"/>
          <a:lstStyle/>
          <a:p>
            <a:pPr indent="0" marL="0">
              <a:buNone/>
            </a:pPr>
            <a:r>
              <a:rPr lang="en-US" sz="3000" b="1" dirty="0">
                <a:solidFill>
                  <a:schemeClr val="accent2"/>
                </a:solidFill>
              </a:rPr>
              <a:t>45 %</a:t>
            </a:r>
            <a:endParaRPr lang="en-US" sz="1400" dirty="0"/>
          </a:p>
          <a:p>
            <a:pPr indent="0" marL="0">
              <a:buNone/>
            </a:pPr>
            <a:r>
              <a:rPr lang="en-US" sz="1100" dirty="0">
                <a:solidFill>
                  <a:schemeClr val="accent2"/>
                </a:solidFill>
              </a:rPr>
              <a:t>del volumen (hipótesis)</a:t>
            </a:r>
            <a:endParaRPr lang="en-US" sz="1400" dirty="0"/>
          </a:p>
        </p:txBody>
      </p:sp>
      <p:sp>
        <p:nvSpPr>
          <p:cNvPr id="30" name="Shape 26"/>
          <p:cNvSpPr/>
          <p:nvPr/>
        </p:nvSpPr>
        <p:spPr>
          <a:xfrm>
            <a:off x="6117336" y="5486400"/>
            <a:ext cx="1463040" cy="384048"/>
          </a:xfrm>
          <a:prstGeom prst="roundRect">
            <a:avLst>
              <a:gd name="adj" fmla="val 50000"/>
            </a:avLst>
          </a:prstGeom>
          <a:solidFill>
            <a:schemeClr val="bg2"/>
          </a:solidFill>
          <a:ln w="12700">
            <a:solidFill>
              <a:schemeClr val="accent5"/>
            </a:solidFill>
            <a:prstDash val="solid"/>
          </a:ln>
        </p:spPr>
      </p:sp>
      <p:sp>
        <p:nvSpPr>
          <p:cNvPr id="31" name="Text 27"/>
          <p:cNvSpPr txBox="1"/>
          <p:nvPr/>
        </p:nvSpPr>
        <p:spPr>
          <a:xfrm>
            <a:off x="6117336"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Buyer persona: Rodrigo</a:t>
            </a:r>
            <a:endParaRPr lang="en-US" sz="1100" dirty="0"/>
          </a:p>
        </p:txBody>
      </p:sp>
      <p:sp>
        <p:nvSpPr>
          <p:cNvPr id="32" name="Shape 28"/>
          <p:cNvSpPr/>
          <p:nvPr/>
        </p:nvSpPr>
        <p:spPr>
          <a:xfrm>
            <a:off x="8119872"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9"/>
          <p:cNvSpPr/>
          <p:nvPr/>
        </p:nvSpPr>
        <p:spPr>
          <a:xfrm>
            <a:off x="8394192" y="1828800"/>
            <a:ext cx="731520" cy="731520"/>
          </a:xfrm>
          <a:prstGeom prst="ellipse">
            <a:avLst/>
          </a:prstGeom>
          <a:solidFill>
            <a:schemeClr val="accent4"/>
          </a:solidFill>
          <a:ln w="12700">
            <a:solidFill>
              <a:schemeClr val="accent4"/>
            </a:solidFill>
            <a:prstDash val="solid"/>
          </a:ln>
        </p:spPr>
      </p:sp>
      <p:pic>
        <p:nvPicPr>
          <p:cNvPr id="34" name="Image 2" descr="preencoded.png">    </p:cNvPr>
          <p:cNvPicPr>
            <a:picLocks noChangeAspect="1"/>
          </p:cNvPicPr>
          <p:nvPr/>
        </p:nvPicPr>
        <p:blipFill>
          <a:blip r:embed="rId3"/>
          <a:stretch>
            <a:fillRect/>
          </a:stretch>
        </p:blipFill>
        <p:spPr>
          <a:xfrm>
            <a:off x="8555126" y="1989734"/>
            <a:ext cx="409651" cy="409651"/>
          </a:xfrm>
          <a:prstGeom prst="rect">
            <a:avLst/>
          </a:prstGeom>
        </p:spPr>
      </p:pic>
      <p:sp>
        <p:nvSpPr>
          <p:cNvPr id="35" name="Text 30"/>
          <p:cNvSpPr txBox="1"/>
          <p:nvPr/>
        </p:nvSpPr>
        <p:spPr>
          <a:xfrm>
            <a:off x="9262872"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El Prescriptor (B2B)</a:t>
            </a:r>
            <a:endParaRPr lang="en-US" sz="1900" dirty="0"/>
          </a:p>
        </p:txBody>
      </p:sp>
      <p:sp>
        <p:nvSpPr>
          <p:cNvPr id="36" name="Text 31"/>
          <p:cNvSpPr txBox="1"/>
          <p:nvPr/>
        </p:nvSpPr>
        <p:spPr>
          <a:xfrm>
            <a:off x="9262872"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Quiosco, nutricionista, pediatra</a:t>
            </a:r>
            <a:endParaRPr lang="en-US" sz="1200" dirty="0"/>
          </a:p>
        </p:txBody>
      </p:sp>
      <p:sp>
        <p:nvSpPr>
          <p:cNvPr id="37" name="Text 32"/>
          <p:cNvSpPr txBox="1"/>
          <p:nvPr/>
        </p:nvSpPr>
        <p:spPr>
          <a:xfrm>
            <a:off x="8394192" y="2880360"/>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LO MUEVE</a:t>
            </a:r>
            <a:endParaRPr lang="en-US" sz="1100" dirty="0"/>
          </a:p>
        </p:txBody>
      </p:sp>
      <p:sp>
        <p:nvSpPr>
          <p:cNvPr id="38" name="Text 33"/>
          <p:cNvSpPr txBox="1"/>
          <p:nvPr/>
        </p:nvSpPr>
        <p:spPr>
          <a:xfrm>
            <a:off x="8394192" y="3127248"/>
            <a:ext cx="2971800" cy="548640"/>
          </a:xfrm>
          <a:prstGeom prst="rect">
            <a:avLst/>
          </a:prstGeom>
          <a:noFill/>
          <a:ln/>
        </p:spPr>
        <p:txBody>
          <a:bodyPr wrap="square" lIns="0" tIns="0" rIns="0" bIns="0" rtlCol="0" anchor="t"/>
          <a:lstStyle/>
          <a:p>
            <a:pPr indent="0" marL="0">
              <a:buNone/>
            </a:pPr>
            <a:r>
              <a:rPr lang="en-US" sz="1500" dirty="0">
                <a:solidFill>
                  <a:schemeClr val="tx1"/>
                </a:solidFill>
              </a:rPr>
              <a:t>Cumplir la lonchera saludable</a:t>
            </a:r>
            <a:endParaRPr lang="en-US" sz="1500" dirty="0"/>
          </a:p>
        </p:txBody>
      </p:sp>
      <p:sp>
        <p:nvSpPr>
          <p:cNvPr id="39" name="Text 34"/>
          <p:cNvSpPr txBox="1"/>
          <p:nvPr/>
        </p:nvSpPr>
        <p:spPr>
          <a:xfrm>
            <a:off x="8394192" y="3721608"/>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LE TEME</a:t>
            </a:r>
            <a:endParaRPr lang="en-US" sz="1100" dirty="0"/>
          </a:p>
        </p:txBody>
      </p:sp>
      <p:sp>
        <p:nvSpPr>
          <p:cNvPr id="40" name="Text 35"/>
          <p:cNvSpPr txBox="1"/>
          <p:nvPr/>
        </p:nvSpPr>
        <p:spPr>
          <a:xfrm>
            <a:off x="8394192" y="3968496"/>
            <a:ext cx="2971800" cy="548640"/>
          </a:xfrm>
          <a:prstGeom prst="rect">
            <a:avLst/>
          </a:prstGeom>
          <a:noFill/>
          <a:ln/>
        </p:spPr>
        <p:txBody>
          <a:bodyPr wrap="square" lIns="0" tIns="0" rIns="0" bIns="0" rtlCol="0" anchor="t"/>
          <a:lstStyle/>
          <a:p>
            <a:pPr indent="0" marL="0">
              <a:buNone/>
            </a:pPr>
            <a:r>
              <a:rPr lang="en-US" sz="1500" dirty="0">
                <a:solidFill>
                  <a:schemeClr val="tx1"/>
                </a:solidFill>
              </a:rPr>
              <a:t>Productos sin registro o sin stock</a:t>
            </a:r>
            <a:endParaRPr lang="en-US" sz="1500" dirty="0"/>
          </a:p>
        </p:txBody>
      </p:sp>
      <p:sp>
        <p:nvSpPr>
          <p:cNvPr id="41" name="Text 36"/>
          <p:cNvSpPr txBox="1"/>
          <p:nvPr/>
        </p:nvSpPr>
        <p:spPr>
          <a:xfrm>
            <a:off x="8394192" y="4562856"/>
            <a:ext cx="29718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MENSAJE</a:t>
            </a:r>
            <a:endParaRPr lang="en-US" sz="1100" dirty="0"/>
          </a:p>
        </p:txBody>
      </p:sp>
      <p:sp>
        <p:nvSpPr>
          <p:cNvPr id="42" name="Text 37"/>
          <p:cNvSpPr txBox="1"/>
          <p:nvPr/>
        </p:nvSpPr>
        <p:spPr>
          <a:xfrm>
            <a:off x="8394192" y="4809744"/>
            <a:ext cx="2971800" cy="548640"/>
          </a:xfrm>
          <a:prstGeom prst="rect">
            <a:avLst/>
          </a:prstGeom>
          <a:noFill/>
          <a:ln/>
        </p:spPr>
        <p:txBody>
          <a:bodyPr wrap="square" lIns="0" tIns="0" rIns="0" bIns="0" rtlCol="0" anchor="t"/>
          <a:lstStyle/>
          <a:p>
            <a:pPr indent="0" marL="0">
              <a:buNone/>
            </a:pPr>
            <a:r>
              <a:rPr lang="en-US" sz="1500" i="1" dirty="0">
                <a:solidFill>
                  <a:schemeClr val="tx1"/>
                </a:solidFill>
              </a:rPr>
              <a:t>"Cumple la norma y los niños lo piden"</a:t>
            </a:r>
            <a:endParaRPr lang="en-US" sz="1500" dirty="0"/>
          </a:p>
        </p:txBody>
      </p:sp>
      <p:sp>
        <p:nvSpPr>
          <p:cNvPr id="43" name="Text 38"/>
          <p:cNvSpPr txBox="1"/>
          <p:nvPr/>
        </p:nvSpPr>
        <p:spPr>
          <a:xfrm>
            <a:off x="8394192" y="5321808"/>
            <a:ext cx="1554480" cy="731520"/>
          </a:xfrm>
          <a:prstGeom prst="rect">
            <a:avLst/>
          </a:prstGeom>
          <a:noFill/>
          <a:ln/>
        </p:spPr>
        <p:txBody>
          <a:bodyPr wrap="square" lIns="0" tIns="0" rIns="0" bIns="0" rtlCol="0" anchor="t"/>
          <a:lstStyle/>
          <a:p>
            <a:pPr indent="0" marL="0">
              <a:buNone/>
            </a:pPr>
            <a:r>
              <a:rPr lang="en-US" sz="3000" b="1" dirty="0">
                <a:solidFill>
                  <a:schemeClr val="accent4"/>
                </a:solidFill>
              </a:rPr>
              <a:t>25 %</a:t>
            </a:r>
            <a:endParaRPr lang="en-US" sz="1400" dirty="0"/>
          </a:p>
          <a:p>
            <a:pPr indent="0" marL="0">
              <a:buNone/>
            </a:pPr>
            <a:r>
              <a:rPr lang="en-US" sz="1100" dirty="0">
                <a:solidFill>
                  <a:schemeClr val="accent2"/>
                </a:solidFill>
              </a:rPr>
              <a:t>del volumen (hipótesis)</a:t>
            </a:r>
            <a:endParaRPr lang="en-US" sz="1400" dirty="0"/>
          </a:p>
        </p:txBody>
      </p:sp>
      <p:sp>
        <p:nvSpPr>
          <p:cNvPr id="44" name="Shape 39"/>
          <p:cNvSpPr/>
          <p:nvPr/>
        </p:nvSpPr>
        <p:spPr>
          <a:xfrm>
            <a:off x="9902952" y="5486400"/>
            <a:ext cx="1463040" cy="384048"/>
          </a:xfrm>
          <a:prstGeom prst="roundRect">
            <a:avLst>
              <a:gd name="adj" fmla="val 50000"/>
            </a:avLst>
          </a:prstGeom>
          <a:solidFill>
            <a:schemeClr val="bg2"/>
          </a:solidFill>
          <a:ln w="12700">
            <a:solidFill>
              <a:schemeClr val="accent5"/>
            </a:solidFill>
            <a:prstDash val="solid"/>
          </a:ln>
        </p:spPr>
      </p:sp>
      <p:sp>
        <p:nvSpPr>
          <p:cNvPr id="45" name="Text 40"/>
          <p:cNvSpPr txBox="1"/>
          <p:nvPr/>
        </p:nvSpPr>
        <p:spPr>
          <a:xfrm>
            <a:off x="9902952"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Valida la marca</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BUYER PERSONA PRINCIPAL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Claudia Mendoza</a:t>
            </a:r>
            <a:endParaRPr lang="en-US" sz="3400" dirty="0"/>
          </a:p>
        </p:txBody>
      </p:sp>
      <p:sp>
        <p:nvSpPr>
          <p:cNvPr id="4" name="IMAGEN_1"/>
          <p:cNvSpPr/>
          <p:nvPr/>
        </p:nvSpPr>
        <p:spPr>
          <a:xfrm>
            <a:off x="548640" y="1463040"/>
            <a:ext cx="3383280" cy="4663440"/>
          </a:xfrm>
          <a:prstGeom prst="roundRect">
            <a:avLst>
              <a:gd name="adj" fmla="val 4054"/>
            </a:avLst>
          </a:prstGeom>
          <a:solidFill>
            <a:srgbClr val="F0E2CF"/>
          </a:solidFill>
          <a:ln w="19050">
            <a:solidFill>
              <a:schemeClr val="accent5"/>
            </a:solidFill>
            <a:prstDash val="dash"/>
          </a:ln>
        </p:spPr>
      </p:sp>
      <p:pic>
        <p:nvPicPr>
          <p:cNvPr id="5" name="Image 0" descr="preencoded.png">    </p:cNvPr>
          <p:cNvPicPr>
            <a:picLocks noChangeAspect="1"/>
          </p:cNvPicPr>
          <p:nvPr/>
        </p:nvPicPr>
        <p:blipFill>
          <a:blip r:embed="rId1"/>
          <a:stretch>
            <a:fillRect/>
          </a:stretch>
        </p:blipFill>
        <p:spPr>
          <a:xfrm>
            <a:off x="1874520" y="2880360"/>
            <a:ext cx="731520" cy="731520"/>
          </a:xfrm>
          <a:prstGeom prst="rect">
            <a:avLst/>
          </a:prstGeom>
        </p:spPr>
      </p:pic>
      <p:sp>
        <p:nvSpPr>
          <p:cNvPr id="6" name="Text 3"/>
          <p:cNvSpPr txBox="1"/>
          <p:nvPr/>
        </p:nvSpPr>
        <p:spPr>
          <a:xfrm>
            <a:off x="731520" y="3794760"/>
            <a:ext cx="3017520"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1</a:t>
            </a:r>
            <a:endParaRPr lang="en-US" sz="1400" dirty="0"/>
          </a:p>
          <a:p>
            <a:pPr algn="ctr" indent="0" marL="0">
              <a:buNone/>
            </a:pPr>
            <a:r>
              <a:rPr lang="en-US" sz="1300" dirty="0">
                <a:solidFill>
                  <a:schemeClr val="accent2"/>
                </a:solidFill>
              </a:rPr>
              <a:t>Retrato de Claudia (38, San Borja)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7" name="Text 4"/>
          <p:cNvSpPr txBox="1"/>
          <p:nvPr/>
        </p:nvSpPr>
        <p:spPr>
          <a:xfrm>
            <a:off x="4206240" y="1463040"/>
            <a:ext cx="7434072" cy="411480"/>
          </a:xfrm>
          <a:prstGeom prst="rect">
            <a:avLst/>
          </a:prstGeom>
          <a:noFill/>
          <a:ln/>
        </p:spPr>
        <p:txBody>
          <a:bodyPr wrap="square" lIns="0" tIns="0" rIns="0" bIns="0" rtlCol="0" anchor="t"/>
          <a:lstStyle/>
          <a:p>
            <a:pPr indent="0" marL="0">
              <a:buNone/>
            </a:pPr>
            <a:r>
              <a:rPr lang="en-US" sz="2200" b="1" i="1" dirty="0">
                <a:solidFill>
                  <a:schemeClr val="accent1"/>
                </a:solidFill>
              </a:rPr>
              <a:t>La mamá que lee etiquetas</a:t>
            </a:r>
            <a:endParaRPr lang="en-US" sz="2200" dirty="0"/>
          </a:p>
        </p:txBody>
      </p:sp>
      <p:sp>
        <p:nvSpPr>
          <p:cNvPr id="8" name="Shape 5"/>
          <p:cNvSpPr/>
          <p:nvPr/>
        </p:nvSpPr>
        <p:spPr>
          <a:xfrm>
            <a:off x="4206240"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4370832"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EDAD Y DISTRITO</a:t>
            </a:r>
            <a:endParaRPr lang="en-US" sz="1000" dirty="0"/>
          </a:p>
        </p:txBody>
      </p:sp>
      <p:sp>
        <p:nvSpPr>
          <p:cNvPr id="10" name="Text 7"/>
          <p:cNvSpPr txBox="1"/>
          <p:nvPr/>
        </p:nvSpPr>
        <p:spPr>
          <a:xfrm>
            <a:off x="4370832"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38 años · San Borja</a:t>
            </a:r>
            <a:endParaRPr lang="en-US" sz="1500" dirty="0"/>
          </a:p>
        </p:txBody>
      </p:sp>
      <p:sp>
        <p:nvSpPr>
          <p:cNvPr id="11" name="Shape 8"/>
          <p:cNvSpPr/>
          <p:nvPr/>
        </p:nvSpPr>
        <p:spPr>
          <a:xfrm>
            <a:off x="6757416"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6922008"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OCUPACIÓN</a:t>
            </a:r>
            <a:endParaRPr lang="en-US" sz="1000" dirty="0"/>
          </a:p>
        </p:txBody>
      </p:sp>
      <p:sp>
        <p:nvSpPr>
          <p:cNvPr id="13" name="Text 10"/>
          <p:cNvSpPr txBox="1"/>
          <p:nvPr/>
        </p:nvSpPr>
        <p:spPr>
          <a:xfrm>
            <a:off x="6922008"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Abogada corporativa</a:t>
            </a:r>
            <a:endParaRPr lang="en-US" sz="1500" dirty="0"/>
          </a:p>
        </p:txBody>
      </p:sp>
      <p:sp>
        <p:nvSpPr>
          <p:cNvPr id="14" name="Shape 11"/>
          <p:cNvSpPr/>
          <p:nvPr/>
        </p:nvSpPr>
        <p:spPr>
          <a:xfrm>
            <a:off x="9308592"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2"/>
          <p:cNvSpPr txBox="1"/>
          <p:nvPr/>
        </p:nvSpPr>
        <p:spPr>
          <a:xfrm>
            <a:off x="9473184"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FAMILIA</a:t>
            </a:r>
            <a:endParaRPr lang="en-US" sz="1000" dirty="0"/>
          </a:p>
        </p:txBody>
      </p:sp>
      <p:sp>
        <p:nvSpPr>
          <p:cNvPr id="16" name="Text 13"/>
          <p:cNvSpPr txBox="1"/>
          <p:nvPr/>
        </p:nvSpPr>
        <p:spPr>
          <a:xfrm>
            <a:off x="9473184"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2 hijos (7 y 4)</a:t>
            </a:r>
            <a:endParaRPr lang="en-US" sz="1500" dirty="0"/>
          </a:p>
        </p:txBody>
      </p:sp>
      <p:sp>
        <p:nvSpPr>
          <p:cNvPr id="17" name="Shape 14"/>
          <p:cNvSpPr/>
          <p:nvPr/>
        </p:nvSpPr>
        <p:spPr>
          <a:xfrm>
            <a:off x="4206240"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4370832"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INGRESO FAMILIAR</a:t>
            </a:r>
            <a:endParaRPr lang="en-US" sz="1000" dirty="0"/>
          </a:p>
        </p:txBody>
      </p:sp>
      <p:sp>
        <p:nvSpPr>
          <p:cNvPr id="19" name="Text 16"/>
          <p:cNvSpPr txBox="1"/>
          <p:nvPr/>
        </p:nvSpPr>
        <p:spPr>
          <a:xfrm>
            <a:off x="4370832"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S/13,500 al mes</a:t>
            </a:r>
            <a:endParaRPr lang="en-US" sz="1500" dirty="0"/>
          </a:p>
        </p:txBody>
      </p:sp>
      <p:sp>
        <p:nvSpPr>
          <p:cNvPr id="20" name="Shape 17"/>
          <p:cNvSpPr/>
          <p:nvPr/>
        </p:nvSpPr>
        <p:spPr>
          <a:xfrm>
            <a:off x="6757416"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8"/>
          <p:cNvSpPr txBox="1"/>
          <p:nvPr/>
        </p:nvSpPr>
        <p:spPr>
          <a:xfrm>
            <a:off x="6922008"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SE INFORMA</a:t>
            </a:r>
            <a:endParaRPr lang="en-US" sz="1000" dirty="0"/>
          </a:p>
        </p:txBody>
      </p:sp>
      <p:sp>
        <p:nvSpPr>
          <p:cNvPr id="22" name="Text 19"/>
          <p:cNvSpPr txBox="1"/>
          <p:nvPr/>
        </p:nvSpPr>
        <p:spPr>
          <a:xfrm>
            <a:off x="6922008"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Pediatra e Instagram</a:t>
            </a:r>
            <a:endParaRPr lang="en-US" sz="1500" dirty="0"/>
          </a:p>
        </p:txBody>
      </p:sp>
      <p:sp>
        <p:nvSpPr>
          <p:cNvPr id="23" name="Shape 20"/>
          <p:cNvSpPr/>
          <p:nvPr/>
        </p:nvSpPr>
        <p:spPr>
          <a:xfrm>
            <a:off x="9308592"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4" name="Text 21"/>
          <p:cNvSpPr txBox="1"/>
          <p:nvPr/>
        </p:nvSpPr>
        <p:spPr>
          <a:xfrm>
            <a:off x="9473184"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PAGARÍA</a:t>
            </a:r>
            <a:endParaRPr lang="en-US" sz="1000" dirty="0"/>
          </a:p>
        </p:txBody>
      </p:sp>
      <p:sp>
        <p:nvSpPr>
          <p:cNvPr id="25" name="Text 22"/>
          <p:cNvSpPr txBox="1"/>
          <p:nvPr/>
        </p:nvSpPr>
        <p:spPr>
          <a:xfrm>
            <a:off x="9473184"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S/24 a 30 el pack</a:t>
            </a:r>
            <a:endParaRPr lang="en-US" sz="1500" dirty="0"/>
          </a:p>
        </p:txBody>
      </p:sp>
      <p:sp>
        <p:nvSpPr>
          <p:cNvPr id="26" name="Shape 23"/>
          <p:cNvSpPr/>
          <p:nvPr/>
        </p:nvSpPr>
        <p:spPr>
          <a:xfrm>
            <a:off x="4206240"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4"/>
          <p:cNvSpPr/>
          <p:nvPr/>
        </p:nvSpPr>
        <p:spPr>
          <a:xfrm>
            <a:off x="4389120" y="4160520"/>
            <a:ext cx="457200" cy="457200"/>
          </a:xfrm>
          <a:prstGeom prst="ellipse">
            <a:avLst/>
          </a:prstGeom>
          <a:solidFill>
            <a:schemeClr val="accent6"/>
          </a:solidFill>
          <a:ln w="12700">
            <a:solidFill>
              <a:schemeClr val="accent6"/>
            </a:solidFill>
            <a:prstDash val="solid"/>
          </a:ln>
        </p:spPr>
      </p:sp>
      <p:pic>
        <p:nvPicPr>
          <p:cNvPr id="28" name="Image 1" descr="preencoded.png">    </p:cNvPr>
          <p:cNvPicPr>
            <a:picLocks noChangeAspect="1"/>
          </p:cNvPicPr>
          <p:nvPr/>
        </p:nvPicPr>
        <p:blipFill>
          <a:blip r:embed="rId2"/>
          <a:stretch>
            <a:fillRect/>
          </a:stretch>
        </p:blipFill>
        <p:spPr>
          <a:xfrm>
            <a:off x="4489704" y="4261104"/>
            <a:ext cx="256032" cy="256032"/>
          </a:xfrm>
          <a:prstGeom prst="rect">
            <a:avLst/>
          </a:prstGeom>
        </p:spPr>
      </p:pic>
      <p:sp>
        <p:nvSpPr>
          <p:cNvPr id="29" name="Text 25"/>
          <p:cNvSpPr txBox="1"/>
          <p:nvPr/>
        </p:nvSpPr>
        <p:spPr>
          <a:xfrm>
            <a:off x="4983480"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Su dolor</a:t>
            </a:r>
            <a:endParaRPr lang="en-US" sz="1600" dirty="0"/>
          </a:p>
        </p:txBody>
      </p:sp>
      <p:sp>
        <p:nvSpPr>
          <p:cNvPr id="30" name="Text 26"/>
          <p:cNvSpPr txBox="1"/>
          <p:nvPr/>
        </p:nvSpPr>
        <p:spPr>
          <a:xfrm>
            <a:off x="4434840"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Hemoglobina baja en el control</a:t>
            </a:r>
            <a:endParaRPr lang="en-US" sz="1400" dirty="0"/>
          </a:p>
          <a:p>
            <a:pPr marL="342900" indent="-342900">
              <a:spcAft>
                <a:spcPts val="200"/>
              </a:spcAft>
              <a:buSzPct val="100000"/>
              <a:buChar char="•"/>
            </a:pPr>
            <a:r>
              <a:rPr lang="en-US" sz="1400" dirty="0">
                <a:solidFill>
                  <a:schemeClr val="tx1"/>
                </a:solidFill>
              </a:rPr>
              <a:t>Lo nutritivo regresa intacto</a:t>
            </a:r>
            <a:endParaRPr lang="en-US" sz="1400" dirty="0"/>
          </a:p>
        </p:txBody>
      </p:sp>
      <p:sp>
        <p:nvSpPr>
          <p:cNvPr id="31" name="Shape 27"/>
          <p:cNvSpPr/>
          <p:nvPr/>
        </p:nvSpPr>
        <p:spPr>
          <a:xfrm>
            <a:off x="8028432"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2" name="Shape 28"/>
          <p:cNvSpPr/>
          <p:nvPr/>
        </p:nvSpPr>
        <p:spPr>
          <a:xfrm>
            <a:off x="8211312" y="4160520"/>
            <a:ext cx="457200" cy="457200"/>
          </a:xfrm>
          <a:prstGeom prst="ellipse">
            <a:avLst/>
          </a:prstGeom>
          <a:solidFill>
            <a:schemeClr val="accent4"/>
          </a:solidFill>
          <a:ln w="12700">
            <a:solidFill>
              <a:schemeClr val="accent4"/>
            </a:solidFill>
            <a:prstDash val="solid"/>
          </a:ln>
        </p:spPr>
      </p:sp>
      <p:pic>
        <p:nvPicPr>
          <p:cNvPr id="33" name="Image 2" descr="preencoded.png">    </p:cNvPr>
          <p:cNvPicPr>
            <a:picLocks noChangeAspect="1"/>
          </p:cNvPicPr>
          <p:nvPr/>
        </p:nvPicPr>
        <p:blipFill>
          <a:blip r:embed="rId3"/>
          <a:stretch>
            <a:fillRect/>
          </a:stretch>
        </p:blipFill>
        <p:spPr>
          <a:xfrm>
            <a:off x="8311896" y="4261104"/>
            <a:ext cx="256032" cy="256032"/>
          </a:xfrm>
          <a:prstGeom prst="rect">
            <a:avLst/>
          </a:prstGeom>
        </p:spPr>
      </p:pic>
      <p:sp>
        <p:nvSpPr>
          <p:cNvPr id="34" name="Text 29"/>
          <p:cNvSpPr txBox="1"/>
          <p:nvPr/>
        </p:nvSpPr>
        <p:spPr>
          <a:xfrm>
            <a:off x="8805672"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Lo que busca</a:t>
            </a:r>
            <a:endParaRPr lang="en-US" sz="1600" dirty="0"/>
          </a:p>
        </p:txBody>
      </p:sp>
      <p:sp>
        <p:nvSpPr>
          <p:cNvPr id="35" name="Text 30"/>
          <p:cNvSpPr txBox="1"/>
          <p:nvPr/>
        </p:nvSpPr>
        <p:spPr>
          <a:xfrm>
            <a:off x="8257032"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Hierro en mg y cero octógonos</a:t>
            </a:r>
            <a:endParaRPr lang="en-US" sz="1400" dirty="0"/>
          </a:p>
          <a:p>
            <a:pPr marL="342900" indent="-342900">
              <a:spcAft>
                <a:spcPts val="200"/>
              </a:spcAft>
              <a:buSzPct val="100000"/>
              <a:buChar char="•"/>
            </a:pPr>
            <a:r>
              <a:rPr lang="en-US" sz="1400" dirty="0">
                <a:solidFill>
                  <a:schemeClr val="tx1"/>
                </a:solidFill>
              </a:rPr>
              <a:t>Que su hijo lo pida solo</a:t>
            </a:r>
            <a:endParaRPr lang="en-US" sz="1400" dirty="0"/>
          </a:p>
        </p:txBody>
      </p:sp>
      <p:sp>
        <p:nvSpPr>
          <p:cNvPr id="36" name="Shape 31"/>
          <p:cNvSpPr/>
          <p:nvPr/>
        </p:nvSpPr>
        <p:spPr>
          <a:xfrm>
            <a:off x="4206240" y="5486400"/>
            <a:ext cx="7434072" cy="640080"/>
          </a:xfrm>
          <a:prstGeom prst="roundRect">
            <a:avLst>
              <a:gd name="adj" fmla="val 50000"/>
            </a:avLst>
          </a:prstGeom>
          <a:solidFill>
            <a:schemeClr val="tx2"/>
          </a:solidFill>
          <a:ln w="12700">
            <a:solidFill>
              <a:schemeClr val="tx2"/>
            </a:solidFill>
            <a:prstDash val="solid"/>
          </a:ln>
        </p:spPr>
      </p:sp>
      <p:sp>
        <p:nvSpPr>
          <p:cNvPr id="37" name="Text 32"/>
          <p:cNvSpPr txBox="1"/>
          <p:nvPr/>
        </p:nvSpPr>
        <p:spPr>
          <a:xfrm>
            <a:off x="4480560" y="5486400"/>
            <a:ext cx="6885432" cy="640080"/>
          </a:xfrm>
          <a:prstGeom prst="rect">
            <a:avLst/>
          </a:prstGeom>
          <a:noFill/>
          <a:ln/>
        </p:spPr>
        <p:txBody>
          <a:bodyPr wrap="square" lIns="0" tIns="0" rIns="0" bIns="0" rtlCol="0" anchor="ctr"/>
          <a:lstStyle/>
          <a:p>
            <a:pPr indent="0" marL="0">
              <a:buNone/>
            </a:pPr>
            <a:r>
              <a:rPr lang="en-US" sz="1800" b="1" i="1" dirty="0">
                <a:solidFill>
                  <a:schemeClr val="bg2"/>
                </a:solidFill>
              </a:rPr>
              <a:t>"Todo lo que le hace bien, mi hijo lo escupe."</a:t>
            </a:r>
            <a:endParaRPr lang="en-US" sz="18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BUYER PERSONA SECUNDARIO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Rodrigo Salazar</a:t>
            </a:r>
            <a:endParaRPr lang="en-US" sz="3400" dirty="0"/>
          </a:p>
        </p:txBody>
      </p:sp>
      <p:sp>
        <p:nvSpPr>
          <p:cNvPr id="4" name="IMAGEN_2"/>
          <p:cNvSpPr/>
          <p:nvPr/>
        </p:nvSpPr>
        <p:spPr>
          <a:xfrm>
            <a:off x="8257032" y="1463040"/>
            <a:ext cx="3383280" cy="4663440"/>
          </a:xfrm>
          <a:prstGeom prst="roundRect">
            <a:avLst>
              <a:gd name="adj" fmla="val 4054"/>
            </a:avLst>
          </a:prstGeom>
          <a:solidFill>
            <a:srgbClr val="F0E2CF"/>
          </a:solidFill>
          <a:ln w="19050">
            <a:solidFill>
              <a:schemeClr val="accent5"/>
            </a:solidFill>
            <a:prstDash val="dash"/>
          </a:ln>
        </p:spPr>
      </p:sp>
      <p:pic>
        <p:nvPicPr>
          <p:cNvPr id="5" name="Image 0" descr="preencoded.png">    </p:cNvPr>
          <p:cNvPicPr>
            <a:picLocks noChangeAspect="1"/>
          </p:cNvPicPr>
          <p:nvPr/>
        </p:nvPicPr>
        <p:blipFill>
          <a:blip r:embed="rId1"/>
          <a:stretch>
            <a:fillRect/>
          </a:stretch>
        </p:blipFill>
        <p:spPr>
          <a:xfrm>
            <a:off x="9582912" y="2880360"/>
            <a:ext cx="731520" cy="731520"/>
          </a:xfrm>
          <a:prstGeom prst="rect">
            <a:avLst/>
          </a:prstGeom>
        </p:spPr>
      </p:pic>
      <p:sp>
        <p:nvSpPr>
          <p:cNvPr id="6" name="Text 3"/>
          <p:cNvSpPr txBox="1"/>
          <p:nvPr/>
        </p:nvSpPr>
        <p:spPr>
          <a:xfrm>
            <a:off x="8439912" y="3794760"/>
            <a:ext cx="3017520"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2</a:t>
            </a:r>
            <a:endParaRPr lang="en-US" sz="1400" dirty="0"/>
          </a:p>
          <a:p>
            <a:pPr algn="ctr" indent="0" marL="0">
              <a:buNone/>
            </a:pPr>
            <a:r>
              <a:rPr lang="en-US" sz="1300" dirty="0">
                <a:solidFill>
                  <a:schemeClr val="accent2"/>
                </a:solidFill>
              </a:rPr>
              <a:t>Retrato de Rodrigo (42, La Molina)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7" name="Text 4"/>
          <p:cNvSpPr txBox="1"/>
          <p:nvPr/>
        </p:nvSpPr>
        <p:spPr>
          <a:xfrm>
            <a:off x="548640" y="1463040"/>
            <a:ext cx="7434072" cy="411480"/>
          </a:xfrm>
          <a:prstGeom prst="rect">
            <a:avLst/>
          </a:prstGeom>
          <a:noFill/>
          <a:ln/>
        </p:spPr>
        <p:txBody>
          <a:bodyPr wrap="square" lIns="0" tIns="0" rIns="0" bIns="0" rtlCol="0" anchor="t"/>
          <a:lstStyle/>
          <a:p>
            <a:pPr indent="0" marL="0">
              <a:buNone/>
            </a:pPr>
            <a:r>
              <a:rPr lang="en-US" sz="2200" b="1" i="1" dirty="0">
                <a:solidFill>
                  <a:schemeClr val="accent1"/>
                </a:solidFill>
              </a:rPr>
              <a:t>El papá que resuelve la mañana</a:t>
            </a:r>
            <a:endParaRPr lang="en-US" sz="2200" dirty="0"/>
          </a:p>
        </p:txBody>
      </p:sp>
      <p:sp>
        <p:nvSpPr>
          <p:cNvPr id="8" name="Shape 5"/>
          <p:cNvSpPr/>
          <p:nvPr/>
        </p:nvSpPr>
        <p:spPr>
          <a:xfrm>
            <a:off x="548640"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713232"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EDAD Y DISTRITO</a:t>
            </a:r>
            <a:endParaRPr lang="en-US" sz="1000" dirty="0"/>
          </a:p>
        </p:txBody>
      </p:sp>
      <p:sp>
        <p:nvSpPr>
          <p:cNvPr id="10" name="Text 7"/>
          <p:cNvSpPr txBox="1"/>
          <p:nvPr/>
        </p:nvSpPr>
        <p:spPr>
          <a:xfrm>
            <a:off x="713232"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42 años · La Molina</a:t>
            </a:r>
            <a:endParaRPr lang="en-US" sz="1500" dirty="0"/>
          </a:p>
        </p:txBody>
      </p:sp>
      <p:sp>
        <p:nvSpPr>
          <p:cNvPr id="11" name="Shape 8"/>
          <p:cNvSpPr/>
          <p:nvPr/>
        </p:nvSpPr>
        <p:spPr>
          <a:xfrm>
            <a:off x="3099816"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3264408"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OCUPACIÓN</a:t>
            </a:r>
            <a:endParaRPr lang="en-US" sz="1000" dirty="0"/>
          </a:p>
        </p:txBody>
      </p:sp>
      <p:sp>
        <p:nvSpPr>
          <p:cNvPr id="13" name="Text 10"/>
          <p:cNvSpPr txBox="1"/>
          <p:nvPr/>
        </p:nvSpPr>
        <p:spPr>
          <a:xfrm>
            <a:off x="3264408"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Gerente de operaciones</a:t>
            </a:r>
            <a:endParaRPr lang="en-US" sz="1500" dirty="0"/>
          </a:p>
        </p:txBody>
      </p:sp>
      <p:sp>
        <p:nvSpPr>
          <p:cNvPr id="14" name="Shape 11"/>
          <p:cNvSpPr/>
          <p:nvPr/>
        </p:nvSpPr>
        <p:spPr>
          <a:xfrm>
            <a:off x="5650992"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2"/>
          <p:cNvSpPr txBox="1"/>
          <p:nvPr/>
        </p:nvSpPr>
        <p:spPr>
          <a:xfrm>
            <a:off x="5815584"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FAMILIA</a:t>
            </a:r>
            <a:endParaRPr lang="en-US" sz="1000" dirty="0"/>
          </a:p>
        </p:txBody>
      </p:sp>
      <p:sp>
        <p:nvSpPr>
          <p:cNvPr id="16" name="Text 13"/>
          <p:cNvSpPr txBox="1"/>
          <p:nvPr/>
        </p:nvSpPr>
        <p:spPr>
          <a:xfrm>
            <a:off x="5815584"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2 hijos (9 y 6)</a:t>
            </a:r>
            <a:endParaRPr lang="en-US" sz="1500" dirty="0"/>
          </a:p>
        </p:txBody>
      </p:sp>
      <p:sp>
        <p:nvSpPr>
          <p:cNvPr id="17" name="Shape 14"/>
          <p:cNvSpPr/>
          <p:nvPr/>
        </p:nvSpPr>
        <p:spPr>
          <a:xfrm>
            <a:off x="548640"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713232"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INGRESO FAMILIAR</a:t>
            </a:r>
            <a:endParaRPr lang="en-US" sz="1000" dirty="0"/>
          </a:p>
        </p:txBody>
      </p:sp>
      <p:sp>
        <p:nvSpPr>
          <p:cNvPr id="19" name="Text 16"/>
          <p:cNvSpPr txBox="1"/>
          <p:nvPr/>
        </p:nvSpPr>
        <p:spPr>
          <a:xfrm>
            <a:off x="713232"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S/18,000 al mes</a:t>
            </a:r>
            <a:endParaRPr lang="en-US" sz="1500" dirty="0"/>
          </a:p>
        </p:txBody>
      </p:sp>
      <p:sp>
        <p:nvSpPr>
          <p:cNvPr id="20" name="Shape 17"/>
          <p:cNvSpPr/>
          <p:nvPr/>
        </p:nvSpPr>
        <p:spPr>
          <a:xfrm>
            <a:off x="3099816"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8"/>
          <p:cNvSpPr txBox="1"/>
          <p:nvPr/>
        </p:nvSpPr>
        <p:spPr>
          <a:xfrm>
            <a:off x="3264408"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COMPRA</a:t>
            </a:r>
            <a:endParaRPr lang="en-US" sz="1000" dirty="0"/>
          </a:p>
        </p:txBody>
      </p:sp>
      <p:sp>
        <p:nvSpPr>
          <p:cNvPr id="22" name="Text 19"/>
          <p:cNvSpPr txBox="1"/>
          <p:nvPr/>
        </p:nvSpPr>
        <p:spPr>
          <a:xfrm>
            <a:off x="3264408"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Apps, IG y TikTok</a:t>
            </a:r>
            <a:endParaRPr lang="en-US" sz="1500" dirty="0"/>
          </a:p>
        </p:txBody>
      </p:sp>
      <p:sp>
        <p:nvSpPr>
          <p:cNvPr id="23" name="Shape 20"/>
          <p:cNvSpPr/>
          <p:nvPr/>
        </p:nvSpPr>
        <p:spPr>
          <a:xfrm>
            <a:off x="5650992"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4" name="Text 21"/>
          <p:cNvSpPr txBox="1"/>
          <p:nvPr/>
        </p:nvSpPr>
        <p:spPr>
          <a:xfrm>
            <a:off x="5815584"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PAGARÍA</a:t>
            </a:r>
            <a:endParaRPr lang="en-US" sz="1000" dirty="0"/>
          </a:p>
        </p:txBody>
      </p:sp>
      <p:sp>
        <p:nvSpPr>
          <p:cNvPr id="25" name="Text 22"/>
          <p:cNvSpPr txBox="1"/>
          <p:nvPr/>
        </p:nvSpPr>
        <p:spPr>
          <a:xfrm>
            <a:off x="5815584"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S/18 a 24 por 6 u</a:t>
            </a:r>
            <a:endParaRPr lang="en-US" sz="1500" dirty="0"/>
          </a:p>
        </p:txBody>
      </p:sp>
      <p:sp>
        <p:nvSpPr>
          <p:cNvPr id="26" name="Shape 23"/>
          <p:cNvSpPr/>
          <p:nvPr/>
        </p:nvSpPr>
        <p:spPr>
          <a:xfrm>
            <a:off x="548640"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4"/>
          <p:cNvSpPr/>
          <p:nvPr/>
        </p:nvSpPr>
        <p:spPr>
          <a:xfrm>
            <a:off x="731520" y="4160520"/>
            <a:ext cx="457200" cy="457200"/>
          </a:xfrm>
          <a:prstGeom prst="ellipse">
            <a:avLst/>
          </a:prstGeom>
          <a:solidFill>
            <a:schemeClr val="accent6"/>
          </a:solidFill>
          <a:ln w="12700">
            <a:solidFill>
              <a:schemeClr val="accent6"/>
            </a:solidFill>
            <a:prstDash val="solid"/>
          </a:ln>
        </p:spPr>
      </p:sp>
      <p:pic>
        <p:nvPicPr>
          <p:cNvPr id="28" name="Image 1" descr="preencoded.png">    </p:cNvPr>
          <p:cNvPicPr>
            <a:picLocks noChangeAspect="1"/>
          </p:cNvPicPr>
          <p:nvPr/>
        </p:nvPicPr>
        <p:blipFill>
          <a:blip r:embed="rId2"/>
          <a:stretch>
            <a:fillRect/>
          </a:stretch>
        </p:blipFill>
        <p:spPr>
          <a:xfrm>
            <a:off x="832104" y="4261104"/>
            <a:ext cx="256032" cy="256032"/>
          </a:xfrm>
          <a:prstGeom prst="rect">
            <a:avLst/>
          </a:prstGeom>
        </p:spPr>
      </p:pic>
      <p:sp>
        <p:nvSpPr>
          <p:cNvPr id="29" name="Text 25"/>
          <p:cNvSpPr txBox="1"/>
          <p:nvPr/>
        </p:nvSpPr>
        <p:spPr>
          <a:xfrm>
            <a:off x="1325880"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Su dolor</a:t>
            </a:r>
            <a:endParaRPr lang="en-US" sz="1600" dirty="0"/>
          </a:p>
        </p:txBody>
      </p:sp>
      <p:sp>
        <p:nvSpPr>
          <p:cNvPr id="30" name="Text 26"/>
          <p:cNvSpPr txBox="1"/>
          <p:nvPr/>
        </p:nvSpPr>
        <p:spPr>
          <a:xfrm>
            <a:off x="777240"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Jueves y viernes sin ideas</a:t>
            </a:r>
            <a:endParaRPr lang="en-US" sz="1400" dirty="0"/>
          </a:p>
          <a:p>
            <a:pPr marL="342900" indent="-342900">
              <a:spcAft>
                <a:spcPts val="200"/>
              </a:spcAft>
              <a:buSzPct val="100000"/>
              <a:buChar char="•"/>
            </a:pPr>
            <a:r>
              <a:rPr lang="en-US" sz="1400" dirty="0">
                <a:solidFill>
                  <a:schemeClr val="tx1"/>
                </a:solidFill>
              </a:rPr>
              <a:t>Snacks aplastados en la mochila</a:t>
            </a:r>
            <a:endParaRPr lang="en-US" sz="1400" dirty="0"/>
          </a:p>
        </p:txBody>
      </p:sp>
      <p:sp>
        <p:nvSpPr>
          <p:cNvPr id="31" name="Shape 27"/>
          <p:cNvSpPr/>
          <p:nvPr/>
        </p:nvSpPr>
        <p:spPr>
          <a:xfrm>
            <a:off x="4370832"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2" name="Shape 28"/>
          <p:cNvSpPr/>
          <p:nvPr/>
        </p:nvSpPr>
        <p:spPr>
          <a:xfrm>
            <a:off x="4553712" y="4160520"/>
            <a:ext cx="457200" cy="457200"/>
          </a:xfrm>
          <a:prstGeom prst="ellipse">
            <a:avLst/>
          </a:prstGeom>
          <a:solidFill>
            <a:schemeClr val="accent4"/>
          </a:solidFill>
          <a:ln w="12700">
            <a:solidFill>
              <a:schemeClr val="accent4"/>
            </a:solidFill>
            <a:prstDash val="solid"/>
          </a:ln>
        </p:spPr>
      </p:sp>
      <p:pic>
        <p:nvPicPr>
          <p:cNvPr id="33" name="Image 2" descr="preencoded.png">    </p:cNvPr>
          <p:cNvPicPr>
            <a:picLocks noChangeAspect="1"/>
          </p:cNvPicPr>
          <p:nvPr/>
        </p:nvPicPr>
        <p:blipFill>
          <a:blip r:embed="rId3"/>
          <a:stretch>
            <a:fillRect/>
          </a:stretch>
        </p:blipFill>
        <p:spPr>
          <a:xfrm>
            <a:off x="4654296" y="4261104"/>
            <a:ext cx="256032" cy="256032"/>
          </a:xfrm>
          <a:prstGeom prst="rect">
            <a:avLst/>
          </a:prstGeom>
        </p:spPr>
      </p:pic>
      <p:sp>
        <p:nvSpPr>
          <p:cNvPr id="34" name="Text 29"/>
          <p:cNvSpPr txBox="1"/>
          <p:nvPr/>
        </p:nvSpPr>
        <p:spPr>
          <a:xfrm>
            <a:off x="5148072"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Lo que busca</a:t>
            </a:r>
            <a:endParaRPr lang="en-US" sz="1600" dirty="0"/>
          </a:p>
        </p:txBody>
      </p:sp>
      <p:sp>
        <p:nvSpPr>
          <p:cNvPr id="35" name="Text 30"/>
          <p:cNvSpPr txBox="1"/>
          <p:nvPr/>
        </p:nvSpPr>
        <p:spPr>
          <a:xfrm>
            <a:off x="4599432"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Que resuelva toda la semana</a:t>
            </a:r>
            <a:endParaRPr lang="en-US" sz="1400" dirty="0"/>
          </a:p>
          <a:p>
            <a:pPr marL="342900" indent="-342900">
              <a:spcAft>
                <a:spcPts val="200"/>
              </a:spcAft>
              <a:buSzPct val="100000"/>
              <a:buChar char="•"/>
            </a:pPr>
            <a:r>
              <a:rPr lang="en-US" sz="1400" dirty="0">
                <a:solidFill>
                  <a:schemeClr val="tx1"/>
                </a:solidFill>
              </a:rPr>
              <a:t>Recordatorio para recomprar</a:t>
            </a:r>
            <a:endParaRPr lang="en-US" sz="1400" dirty="0"/>
          </a:p>
        </p:txBody>
      </p:sp>
      <p:sp>
        <p:nvSpPr>
          <p:cNvPr id="36" name="Shape 31"/>
          <p:cNvSpPr/>
          <p:nvPr/>
        </p:nvSpPr>
        <p:spPr>
          <a:xfrm>
            <a:off x="548640" y="5486400"/>
            <a:ext cx="7434072" cy="640080"/>
          </a:xfrm>
          <a:prstGeom prst="roundRect">
            <a:avLst>
              <a:gd name="adj" fmla="val 50000"/>
            </a:avLst>
          </a:prstGeom>
          <a:solidFill>
            <a:schemeClr val="tx2"/>
          </a:solidFill>
          <a:ln w="12700">
            <a:solidFill>
              <a:schemeClr val="tx2"/>
            </a:solidFill>
            <a:prstDash val="solid"/>
          </a:ln>
        </p:spPr>
      </p:sp>
      <p:sp>
        <p:nvSpPr>
          <p:cNvPr id="37" name="Text 32"/>
          <p:cNvSpPr txBox="1"/>
          <p:nvPr/>
        </p:nvSpPr>
        <p:spPr>
          <a:xfrm>
            <a:off x="822960" y="5486400"/>
            <a:ext cx="6885432" cy="640080"/>
          </a:xfrm>
          <a:prstGeom prst="rect">
            <a:avLst/>
          </a:prstGeom>
          <a:noFill/>
          <a:ln/>
        </p:spPr>
        <p:txBody>
          <a:bodyPr wrap="square" lIns="0" tIns="0" rIns="0" bIns="0" rtlCol="0" anchor="ctr"/>
          <a:lstStyle/>
          <a:p>
            <a:pPr indent="0" marL="0">
              <a:buNone/>
            </a:pPr>
            <a:r>
              <a:rPr lang="en-US" sz="1800" b="1" i="1" dirty="0">
                <a:solidFill>
                  <a:schemeClr val="bg2"/>
                </a:solidFill>
              </a:rPr>
              <a:t>"No me vendas salud, véndeme una mañana menos."</a:t>
            </a:r>
            <a:endParaRPr lang="en-US" sz="18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CANAL DE DISTRIBUCIÓN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canal acompaña las cinco fases de la compra</a:t>
            </a:r>
            <a:endParaRPr lang="en-US" sz="3400" dirty="0"/>
          </a:p>
        </p:txBody>
      </p:sp>
      <p:sp>
        <p:nvSpPr>
          <p:cNvPr id="4" name="Shape 2"/>
          <p:cNvSpPr/>
          <p:nvPr/>
        </p:nvSpPr>
        <p:spPr>
          <a:xfrm>
            <a:off x="1600200" y="2057400"/>
            <a:ext cx="1207008" cy="0"/>
          </a:xfrm>
          <a:prstGeom prst="line">
            <a:avLst/>
          </a:prstGeom>
          <a:noFill/>
          <a:ln w="25400">
            <a:solidFill>
              <a:schemeClr val="accent5"/>
            </a:solidFill>
            <a:prstDash val="dash"/>
            <a:tailEnd type="triangle"/>
          </a:ln>
        </p:spPr>
      </p:sp>
      <p:sp>
        <p:nvSpPr>
          <p:cNvPr id="5" name="Shape 3"/>
          <p:cNvSpPr/>
          <p:nvPr/>
        </p:nvSpPr>
        <p:spPr>
          <a:xfrm>
            <a:off x="548640" y="1600200"/>
            <a:ext cx="914400" cy="914400"/>
          </a:xfrm>
          <a:prstGeom prst="ellipse">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749808" y="1801368"/>
            <a:ext cx="512064" cy="512064"/>
          </a:xfrm>
          <a:prstGeom prst="rect">
            <a:avLst/>
          </a:prstGeom>
        </p:spPr>
      </p:pic>
      <p:sp>
        <p:nvSpPr>
          <p:cNvPr id="7" name="Text 4"/>
          <p:cNvSpPr txBox="1"/>
          <p:nvPr/>
        </p:nvSpPr>
        <p:spPr>
          <a:xfrm>
            <a:off x="548640"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1 · Información</a:t>
            </a:r>
            <a:endParaRPr lang="en-US" sz="1700" dirty="0"/>
          </a:p>
        </p:txBody>
      </p:sp>
      <p:sp>
        <p:nvSpPr>
          <p:cNvPr id="8" name="Text 5"/>
          <p:cNvSpPr txBox="1"/>
          <p:nvPr/>
        </p:nvSpPr>
        <p:spPr>
          <a:xfrm>
            <a:off x="548640"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Instagram, chat del salón y 20 pediatras</a:t>
            </a:r>
            <a:endParaRPr lang="en-US" sz="1400" dirty="0"/>
          </a:p>
        </p:txBody>
      </p:sp>
      <p:sp>
        <p:nvSpPr>
          <p:cNvPr id="9" name="Shape 6"/>
          <p:cNvSpPr/>
          <p:nvPr/>
        </p:nvSpPr>
        <p:spPr>
          <a:xfrm>
            <a:off x="3858768" y="2057400"/>
            <a:ext cx="1207008" cy="0"/>
          </a:xfrm>
          <a:prstGeom prst="line">
            <a:avLst/>
          </a:prstGeom>
          <a:noFill/>
          <a:ln w="25400">
            <a:solidFill>
              <a:schemeClr val="accent5"/>
            </a:solidFill>
            <a:prstDash val="dash"/>
            <a:tailEnd type="triangle"/>
          </a:ln>
        </p:spPr>
      </p:sp>
      <p:sp>
        <p:nvSpPr>
          <p:cNvPr id="10" name="Shape 7"/>
          <p:cNvSpPr/>
          <p:nvPr/>
        </p:nvSpPr>
        <p:spPr>
          <a:xfrm>
            <a:off x="2807208" y="1600200"/>
            <a:ext cx="914400" cy="91440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3008376" y="1801368"/>
            <a:ext cx="512064" cy="512064"/>
          </a:xfrm>
          <a:prstGeom prst="rect">
            <a:avLst/>
          </a:prstGeom>
        </p:spPr>
      </p:pic>
      <p:sp>
        <p:nvSpPr>
          <p:cNvPr id="12" name="Text 8"/>
          <p:cNvSpPr txBox="1"/>
          <p:nvPr/>
        </p:nvSpPr>
        <p:spPr>
          <a:xfrm>
            <a:off x="2807208"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2 · Evaluación</a:t>
            </a:r>
            <a:endParaRPr lang="en-US" sz="1700" dirty="0"/>
          </a:p>
        </p:txBody>
      </p:sp>
      <p:sp>
        <p:nvSpPr>
          <p:cNvPr id="13" name="Text 9"/>
          <p:cNvSpPr txBox="1"/>
          <p:nvPr/>
        </p:nvSpPr>
        <p:spPr>
          <a:xfrm>
            <a:off x="2807208"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Caja degustación de 3 a S/12 y QR al laboratorio</a:t>
            </a:r>
            <a:endParaRPr lang="en-US" sz="1400" dirty="0"/>
          </a:p>
        </p:txBody>
      </p:sp>
      <p:sp>
        <p:nvSpPr>
          <p:cNvPr id="14" name="Shape 10"/>
          <p:cNvSpPr/>
          <p:nvPr/>
        </p:nvSpPr>
        <p:spPr>
          <a:xfrm>
            <a:off x="6117336" y="2057400"/>
            <a:ext cx="1207008" cy="0"/>
          </a:xfrm>
          <a:prstGeom prst="line">
            <a:avLst/>
          </a:prstGeom>
          <a:noFill/>
          <a:ln w="25400">
            <a:solidFill>
              <a:schemeClr val="accent5"/>
            </a:solidFill>
            <a:prstDash val="dash"/>
            <a:tailEnd type="triangle"/>
          </a:ln>
        </p:spPr>
      </p:sp>
      <p:sp>
        <p:nvSpPr>
          <p:cNvPr id="15" name="Shape 11"/>
          <p:cNvSpPr/>
          <p:nvPr/>
        </p:nvSpPr>
        <p:spPr>
          <a:xfrm>
            <a:off x="5065776" y="1600200"/>
            <a:ext cx="914400" cy="91440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5266944" y="1801368"/>
            <a:ext cx="512064" cy="512064"/>
          </a:xfrm>
          <a:prstGeom prst="rect">
            <a:avLst/>
          </a:prstGeom>
        </p:spPr>
      </p:pic>
      <p:sp>
        <p:nvSpPr>
          <p:cNvPr id="17" name="Text 12"/>
          <p:cNvSpPr txBox="1"/>
          <p:nvPr/>
        </p:nvSpPr>
        <p:spPr>
          <a:xfrm>
            <a:off x="5065776"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3 · Compra</a:t>
            </a:r>
            <a:endParaRPr lang="en-US" sz="1700" dirty="0"/>
          </a:p>
        </p:txBody>
      </p:sp>
      <p:sp>
        <p:nvSpPr>
          <p:cNvPr id="18" name="Text 13"/>
          <p:cNvSpPr txBox="1"/>
          <p:nvPr/>
        </p:nvSpPr>
        <p:spPr>
          <a:xfrm>
            <a:off x="5065776"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WhatsApp Business con Yape, Plin o link de pago</a:t>
            </a:r>
            <a:endParaRPr lang="en-US" sz="1400" dirty="0"/>
          </a:p>
        </p:txBody>
      </p:sp>
      <p:sp>
        <p:nvSpPr>
          <p:cNvPr id="19" name="Shape 14"/>
          <p:cNvSpPr/>
          <p:nvPr/>
        </p:nvSpPr>
        <p:spPr>
          <a:xfrm>
            <a:off x="8375904" y="2057400"/>
            <a:ext cx="1207008" cy="0"/>
          </a:xfrm>
          <a:prstGeom prst="line">
            <a:avLst/>
          </a:prstGeom>
          <a:noFill/>
          <a:ln w="25400">
            <a:solidFill>
              <a:schemeClr val="accent5"/>
            </a:solidFill>
            <a:prstDash val="dash"/>
            <a:tailEnd type="triangle"/>
          </a:ln>
        </p:spPr>
      </p:sp>
      <p:sp>
        <p:nvSpPr>
          <p:cNvPr id="20" name="Shape 15"/>
          <p:cNvSpPr/>
          <p:nvPr/>
        </p:nvSpPr>
        <p:spPr>
          <a:xfrm>
            <a:off x="7324344" y="1600200"/>
            <a:ext cx="914400" cy="91440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7525512" y="1801368"/>
            <a:ext cx="512064" cy="512064"/>
          </a:xfrm>
          <a:prstGeom prst="rect">
            <a:avLst/>
          </a:prstGeom>
        </p:spPr>
      </p:pic>
      <p:sp>
        <p:nvSpPr>
          <p:cNvPr id="22" name="Text 16"/>
          <p:cNvSpPr txBox="1"/>
          <p:nvPr/>
        </p:nvSpPr>
        <p:spPr>
          <a:xfrm>
            <a:off x="7324344"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4 · Entrega</a:t>
            </a:r>
            <a:endParaRPr lang="en-US" sz="1700" dirty="0"/>
          </a:p>
        </p:txBody>
      </p:sp>
      <p:sp>
        <p:nvSpPr>
          <p:cNvPr id="23" name="Text 17"/>
          <p:cNvSpPr txBox="1"/>
          <p:nvPr/>
        </p:nvSpPr>
        <p:spPr>
          <a:xfrm>
            <a:off x="7324344"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Rutas martes y viernes; gratis desde 2 packs</a:t>
            </a:r>
            <a:endParaRPr lang="en-US" sz="1400" dirty="0"/>
          </a:p>
        </p:txBody>
      </p:sp>
      <p:sp>
        <p:nvSpPr>
          <p:cNvPr id="24" name="Shape 18"/>
          <p:cNvSpPr/>
          <p:nvPr/>
        </p:nvSpPr>
        <p:spPr>
          <a:xfrm>
            <a:off x="9582912" y="1600200"/>
            <a:ext cx="914400" cy="914400"/>
          </a:xfrm>
          <a:prstGeom prst="ellipse">
            <a:avLst/>
          </a:prstGeom>
          <a:solidFill>
            <a:schemeClr val="tx2"/>
          </a:solidFill>
          <a:ln w="12700">
            <a:solidFill>
              <a:schemeClr val="tx2"/>
            </a:solidFill>
            <a:prstDash val="solid"/>
          </a:ln>
        </p:spPr>
      </p:sp>
      <p:pic>
        <p:nvPicPr>
          <p:cNvPr id="25" name="Image 4" descr="preencoded.png">    </p:cNvPr>
          <p:cNvPicPr>
            <a:picLocks noChangeAspect="1"/>
          </p:cNvPicPr>
          <p:nvPr/>
        </p:nvPicPr>
        <p:blipFill>
          <a:blip r:embed="rId5"/>
          <a:stretch>
            <a:fillRect/>
          </a:stretch>
        </p:blipFill>
        <p:spPr>
          <a:xfrm>
            <a:off x="9784080" y="1801368"/>
            <a:ext cx="512064" cy="512064"/>
          </a:xfrm>
          <a:prstGeom prst="rect">
            <a:avLst/>
          </a:prstGeom>
        </p:spPr>
      </p:pic>
      <p:sp>
        <p:nvSpPr>
          <p:cNvPr id="26" name="Text 19"/>
          <p:cNvSpPr txBox="1"/>
          <p:nvPr/>
        </p:nvSpPr>
        <p:spPr>
          <a:xfrm>
            <a:off x="9582912"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5 · Posventa</a:t>
            </a:r>
            <a:endParaRPr lang="en-US" sz="1700" dirty="0"/>
          </a:p>
        </p:txBody>
      </p:sp>
      <p:sp>
        <p:nvSpPr>
          <p:cNvPr id="27" name="Text 20"/>
          <p:cNvSpPr txBox="1"/>
          <p:nvPr/>
        </p:nvSpPr>
        <p:spPr>
          <a:xfrm>
            <a:off x="9582912"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Recordatorio de recompra y cambio de sabores</a:t>
            </a:r>
            <a:endParaRPr lang="en-US" sz="1400" dirty="0"/>
          </a:p>
        </p:txBody>
      </p:sp>
      <p:sp>
        <p:nvSpPr>
          <p:cNvPr id="28" name="Shape 21"/>
          <p:cNvSpPr/>
          <p:nvPr/>
        </p:nvSpPr>
        <p:spPr>
          <a:xfrm>
            <a:off x="548640" y="3931920"/>
            <a:ext cx="6949440" cy="1508760"/>
          </a:xfrm>
          <a:prstGeom prst="roundRect">
            <a:avLst>
              <a:gd name="adj" fmla="val 7273"/>
            </a:avLst>
          </a:prstGeom>
          <a:solidFill>
            <a:schemeClr val="tx2"/>
          </a:solidFill>
          <a:ln w="12700">
            <a:solidFill>
              <a:schemeClr val="tx2"/>
            </a:solidFill>
            <a:prstDash val="solid"/>
          </a:ln>
        </p:spPr>
      </p:sp>
      <p:sp>
        <p:nvSpPr>
          <p:cNvPr id="29" name="Text 22"/>
          <p:cNvSpPr txBox="1"/>
          <p:nvPr/>
        </p:nvSpPr>
        <p:spPr>
          <a:xfrm>
            <a:off x="868680" y="4069080"/>
            <a:ext cx="6400800" cy="1280160"/>
          </a:xfrm>
          <a:prstGeom prst="rect">
            <a:avLst/>
          </a:prstGeom>
          <a:noFill/>
          <a:ln/>
        </p:spPr>
        <p:txBody>
          <a:bodyPr wrap="square" lIns="0" tIns="0" rIns="0" bIns="0" rtlCol="0" anchor="ctr"/>
          <a:lstStyle/>
          <a:p>
            <a:pPr indent="0" marL="0">
              <a:buNone/>
            </a:pPr>
            <a:r>
              <a:rPr lang="en-US" sz="2000" b="1" dirty="0">
                <a:solidFill>
                  <a:schemeClr val="accent3"/>
                </a:solidFill>
              </a:rPr>
              <a:t>Canal propio y directo</a:t>
            </a:r>
            <a:endParaRPr lang="en-US" sz="1400" dirty="0"/>
          </a:p>
          <a:p>
            <a:pPr indent="0" marL="0">
              <a:buNone/>
            </a:pPr>
            <a:r>
              <a:rPr lang="en-US" sz="1500" dirty="0">
                <a:solidFill>
                  <a:schemeClr val="bg1"/>
                </a:solidFill>
              </a:rPr>
              <a:t>WhatsApp, Instagram y ferias: 86.4 % de las unidades. Controlamos el mensaje, el precio y el dato del cliente.</a:t>
            </a:r>
            <a:endParaRPr lang="en-US" sz="1400" dirty="0"/>
          </a:p>
        </p:txBody>
      </p:sp>
      <p:sp>
        <p:nvSpPr>
          <p:cNvPr id="30" name="Shape 23"/>
          <p:cNvSpPr/>
          <p:nvPr/>
        </p:nvSpPr>
        <p:spPr>
          <a:xfrm>
            <a:off x="7726680" y="3931920"/>
            <a:ext cx="3913632" cy="1508760"/>
          </a:xfrm>
          <a:prstGeom prst="roundRect">
            <a:avLst>
              <a:gd name="adj" fmla="val 72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1" name="Text 24"/>
          <p:cNvSpPr txBox="1"/>
          <p:nvPr/>
        </p:nvSpPr>
        <p:spPr>
          <a:xfrm>
            <a:off x="7955280" y="4069080"/>
            <a:ext cx="3520440" cy="1280160"/>
          </a:xfrm>
          <a:prstGeom prst="rect">
            <a:avLst/>
          </a:prstGeom>
          <a:noFill/>
          <a:ln/>
        </p:spPr>
        <p:txBody>
          <a:bodyPr wrap="square" lIns="0" tIns="0" rIns="0" bIns="0" rtlCol="0" anchor="ctr"/>
          <a:lstStyle/>
          <a:p>
            <a:pPr indent="0" marL="0">
              <a:buNone/>
            </a:pPr>
            <a:r>
              <a:rPr lang="en-US" sz="2000" b="1" dirty="0">
                <a:solidFill>
                  <a:schemeClr val="tx2"/>
                </a:solidFill>
              </a:rPr>
              <a:t>Canal de socios</a:t>
            </a:r>
            <a:endParaRPr lang="en-US" sz="1400" dirty="0"/>
          </a:p>
          <a:p>
            <a:pPr indent="0" marL="0">
              <a:buNone/>
            </a:pPr>
            <a:r>
              <a:rPr lang="en-US" sz="1500" dirty="0">
                <a:solidFill>
                  <a:schemeClr val="tx1"/>
                </a:solidFill>
              </a:rPr>
              <a:t>Quioscos escolares y naturistas: 13.6 %, con comisión de 25 a 40 %</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SELECCIÓN DEL CANAL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Elegimos la venta directa por WhatsApp e Instagram</a:t>
            </a:r>
            <a:endParaRPr lang="en-US" sz="3400" dirty="0"/>
          </a:p>
        </p:txBody>
      </p:sp>
      <p:graphicFrame>
        <p:nvGraphicFramePr>
          <p:cNvPr id="4" name="Chart 0" descr=""/>
          <p:cNvGraphicFramePr/>
          <p:nvPr/>
        </p:nvGraphicFramePr>
        <p:xfrm>
          <a:off x="365760" y="1463040"/>
          <a:ext cx="484632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0" y="1600200"/>
          <a:ext cx="6153912" cy="914400"/>
        </p:xfrm>
        <a:graphic>
          <a:graphicData uri="http://schemas.openxmlformats.org/drawingml/2006/table">
            <a:tbl>
              <a:tblPr/>
              <a:tblGrid>
                <a:gridCol w="2130552"/>
                <a:gridCol w="804672"/>
                <a:gridCol w="804672"/>
                <a:gridCol w="804672"/>
                <a:gridCol w="804672"/>
                <a:gridCol w="804672"/>
              </a:tblGrid>
              <a:tr h="457200">
                <a:tc>
                  <a:txBody>
                    <a:bodyPr/>
                    <a:lstStyle/>
                    <a:p>
                      <a:pPr indent="0" marL="0">
                        <a:buNone/>
                      </a:pPr>
                      <a:r>
                        <a:rPr lang="en-US" sz="1300" b="1" dirty="0">
                          <a:solidFill>
                            <a:schemeClr val="bg1"/>
                          </a:solidFill>
                        </a:rPr>
                        <a:t>Canal</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Margen</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Control</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Entrada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Alcance</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Total</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57200">
                <a:tc>
                  <a:txBody>
                    <a:bodyPr/>
                    <a:lstStyle/>
                    <a:p>
                      <a:pPr indent="0" marL="0">
                        <a:buNone/>
                      </a:pPr>
                      <a:r>
                        <a:rPr lang="en-US" sz="1400" b="1" dirty="0">
                          <a:solidFill>
                            <a:schemeClr val="tx1"/>
                          </a:solidFill>
                        </a:rPr>
                        <a:t>WhatsApp e Instagram</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4</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500" b="1" dirty="0">
                          <a:solidFill>
                            <a:schemeClr val="accent1"/>
                          </a:solidFill>
                        </a:rPr>
                        <a:t>19</a:t>
                      </a:r>
                      <a:endParaRPr lang="en-US" sz="15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r h="457200">
                <a:tc>
                  <a:txBody>
                    <a:bodyPr/>
                    <a:lstStyle/>
                    <a:p>
                      <a:pPr indent="0" marL="0">
                        <a:buNone/>
                      </a:pPr>
                      <a:r>
                        <a:rPr lang="en-US" sz="1400" dirty="0">
                          <a:solidFill>
                            <a:schemeClr val="tx1"/>
                          </a:solidFill>
                        </a:rPr>
                        <a:t>Ferias y eventos</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15</a:t>
                      </a:r>
                      <a:endParaRPr lang="en-US" sz="15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57200">
                <a:tc>
                  <a:txBody>
                    <a:bodyPr/>
                    <a:lstStyle/>
                    <a:p>
                      <a:pPr indent="0" marL="0">
                        <a:buNone/>
                      </a:pPr>
                      <a:r>
                        <a:rPr lang="en-US" sz="1400" dirty="0">
                          <a:solidFill>
                            <a:schemeClr val="tx1"/>
                          </a:solidFill>
                        </a:rPr>
                        <a:t>Quioscos escolares</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14</a:t>
                      </a:r>
                      <a:endParaRPr lang="en-US" sz="15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57200">
                <a:tc>
                  <a:txBody>
                    <a:bodyPr/>
                    <a:lstStyle/>
                    <a:p>
                      <a:pPr indent="0" marL="0">
                        <a:buNone/>
                      </a:pPr>
                      <a:r>
                        <a:rPr lang="en-US" sz="1400" dirty="0">
                          <a:solidFill>
                            <a:schemeClr val="tx1"/>
                          </a:solidFill>
                        </a:rPr>
                        <a:t>Tiendas naturistas</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12</a:t>
                      </a:r>
                      <a:endParaRPr lang="en-US" sz="15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57200">
                <a:tc>
                  <a:txBody>
                    <a:bodyPr/>
                    <a:lstStyle/>
                    <a:p>
                      <a:pPr indent="0" marL="0">
                        <a:buNone/>
                      </a:pPr>
                      <a:r>
                        <a:rPr lang="en-US" sz="1400" dirty="0">
                          <a:solidFill>
                            <a:schemeClr val="tx1"/>
                          </a:solidFill>
                        </a:rPr>
                        <a:t>Supermercado (año 2)</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7</a:t>
                      </a:r>
                      <a:endParaRPr lang="en-US" sz="15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0" y="4434840"/>
            <a:ext cx="6153912" cy="274320"/>
          </a:xfrm>
          <a:prstGeom prst="rect">
            <a:avLst/>
          </a:prstGeom>
          <a:noFill/>
          <a:ln/>
        </p:spPr>
        <p:txBody>
          <a:bodyPr wrap="square" lIns="0" tIns="0" rIns="0" bIns="0" rtlCol="0" anchor="t"/>
          <a:lstStyle/>
          <a:p>
            <a:pPr indent="0" marL="0">
              <a:buNone/>
            </a:pPr>
            <a:r>
              <a:rPr lang="en-US" sz="1100" i="1" dirty="0">
                <a:solidFill>
                  <a:schemeClr val="accent2"/>
                </a:solidFill>
              </a:rPr>
              <a:t>Puntaje del equipo, de 1 (bajo) a 5 (alto). Entrada = qué tan barato es empezar.</a:t>
            </a:r>
            <a:endParaRPr lang="en-US" sz="1100" dirty="0"/>
          </a:p>
        </p:txBody>
      </p:sp>
      <p:sp>
        <p:nvSpPr>
          <p:cNvPr id="7" name="Shape 3"/>
          <p:cNvSpPr/>
          <p:nvPr/>
        </p:nvSpPr>
        <p:spPr>
          <a:xfrm>
            <a:off x="5486400" y="4846320"/>
            <a:ext cx="6153912" cy="1280160"/>
          </a:xfrm>
          <a:prstGeom prst="roundRect">
            <a:avLst>
              <a:gd name="adj" fmla="val 857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8" name="Text 4"/>
          <p:cNvSpPr txBox="1"/>
          <p:nvPr/>
        </p:nvSpPr>
        <p:spPr>
          <a:xfrm>
            <a:off x="5760720" y="4919472"/>
            <a:ext cx="5669280" cy="1143000"/>
          </a:xfrm>
          <a:prstGeom prst="rect">
            <a:avLst/>
          </a:prstGeom>
          <a:noFill/>
          <a:ln/>
        </p:spPr>
        <p:txBody>
          <a:bodyPr wrap="square" lIns="0" tIns="0" rIns="0" bIns="0" rtlCol="0" anchor="ctr"/>
          <a:lstStyle/>
          <a:p>
            <a:pPr indent="0" marL="0">
              <a:buNone/>
            </a:pPr>
            <a:r>
              <a:rPr lang="en-US" sz="2000" b="1" dirty="0">
                <a:solidFill>
                  <a:schemeClr val="bg1"/>
                </a:solidFill>
              </a:rPr>
              <a:t>19 de 20 puntos</a:t>
            </a:r>
            <a:endParaRPr lang="en-US" sz="1400" dirty="0"/>
          </a:p>
          <a:p>
            <a:pPr indent="0" marL="0">
              <a:buNone/>
            </a:pPr>
            <a:r>
              <a:rPr lang="en-US" sz="1400" dirty="0">
                <a:solidFill>
                  <a:schemeClr val="bg1"/>
                </a:solidFill>
              </a:rPr>
              <a:t>Directo para vender y aprender; quioscos, ferias y naturistas para que nos conozcan; supermercado recién con más de 8,000 brownies al mes.</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06</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Relación con el cliente e ingresos</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Tipos de relación · Captar, fidelizar y crecer · Fuentes de ingreso · Ventas del año 1</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RELACIÓN CON EL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Cercana al inicio, automatizada al crecer</a:t>
            </a:r>
            <a:endParaRPr lang="en-US" sz="3400" dirty="0"/>
          </a:p>
        </p:txBody>
      </p:sp>
      <p:sp>
        <p:nvSpPr>
          <p:cNvPr id="4" name="Shape 2"/>
          <p:cNvSpPr/>
          <p:nvPr/>
        </p:nvSpPr>
        <p:spPr>
          <a:xfrm>
            <a:off x="548640"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28800"/>
            <a:ext cx="685800" cy="68580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73836" y="1979676"/>
            <a:ext cx="384048" cy="384048"/>
          </a:xfrm>
          <a:prstGeom prst="rect">
            <a:avLst/>
          </a:prstGeom>
        </p:spPr>
      </p:pic>
      <p:sp>
        <p:nvSpPr>
          <p:cNvPr id="7" name="Text 4"/>
          <p:cNvSpPr txBox="1"/>
          <p:nvPr/>
        </p:nvSpPr>
        <p:spPr>
          <a:xfrm>
            <a:off x="1645920"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Asistencia personal</a:t>
            </a:r>
            <a:endParaRPr lang="en-US" sz="1700" dirty="0"/>
          </a:p>
        </p:txBody>
      </p:sp>
      <p:sp>
        <p:nvSpPr>
          <p:cNvPr id="8" name="Shape 5"/>
          <p:cNvSpPr/>
          <p:nvPr/>
        </p:nvSpPr>
        <p:spPr>
          <a:xfrm>
            <a:off x="1645920" y="2249424"/>
            <a:ext cx="868680" cy="256032"/>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1645920" y="2249424"/>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10" name="Text 7"/>
          <p:cNvSpPr txBox="1"/>
          <p:nvPr/>
        </p:nvSpPr>
        <p:spPr>
          <a:xfrm>
            <a:off x="822960"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Una persona real responde por WhatsApp y recomienda sabores</a:t>
            </a:r>
            <a:endParaRPr lang="en-US" sz="1500" dirty="0"/>
          </a:p>
        </p:txBody>
      </p:sp>
      <p:sp>
        <p:nvSpPr>
          <p:cNvPr id="11" name="Shape 8"/>
          <p:cNvSpPr/>
          <p:nvPr/>
        </p:nvSpPr>
        <p:spPr>
          <a:xfrm>
            <a:off x="4311396"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Shape 9"/>
          <p:cNvSpPr/>
          <p:nvPr/>
        </p:nvSpPr>
        <p:spPr>
          <a:xfrm>
            <a:off x="4585716" y="1828800"/>
            <a:ext cx="685800" cy="685800"/>
          </a:xfrm>
          <a:prstGeom prst="ellipse">
            <a:avLst/>
          </a:prstGeom>
          <a:solidFill>
            <a:schemeClr val="accent5"/>
          </a:solidFill>
          <a:ln w="12700">
            <a:solidFill>
              <a:schemeClr val="accent5"/>
            </a:solidFill>
            <a:prstDash val="solid"/>
          </a:ln>
        </p:spPr>
      </p:sp>
      <p:pic>
        <p:nvPicPr>
          <p:cNvPr id="13" name="Image 1" descr="preencoded.png">    </p:cNvPr>
          <p:cNvPicPr>
            <a:picLocks noChangeAspect="1"/>
          </p:cNvPicPr>
          <p:nvPr/>
        </p:nvPicPr>
        <p:blipFill>
          <a:blip r:embed="rId2"/>
          <a:stretch>
            <a:fillRect/>
          </a:stretch>
        </p:blipFill>
        <p:spPr>
          <a:xfrm>
            <a:off x="4736592" y="1979676"/>
            <a:ext cx="384048" cy="384048"/>
          </a:xfrm>
          <a:prstGeom prst="rect">
            <a:avLst/>
          </a:prstGeom>
        </p:spPr>
      </p:pic>
      <p:sp>
        <p:nvSpPr>
          <p:cNvPr id="14" name="Text 10"/>
          <p:cNvSpPr txBox="1"/>
          <p:nvPr/>
        </p:nvSpPr>
        <p:spPr>
          <a:xfrm>
            <a:off x="5408676"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Asistencia exclusiva</a:t>
            </a:r>
            <a:endParaRPr lang="en-US" sz="1700" dirty="0"/>
          </a:p>
        </p:txBody>
      </p:sp>
      <p:sp>
        <p:nvSpPr>
          <p:cNvPr id="15" name="Shape 11"/>
          <p:cNvSpPr/>
          <p:nvPr/>
        </p:nvSpPr>
        <p:spPr>
          <a:xfrm>
            <a:off x="5408676" y="2249424"/>
            <a:ext cx="868680" cy="256032"/>
          </a:xfrm>
          <a:prstGeom prst="roundRect">
            <a:avLst>
              <a:gd name="adj" fmla="val 50000"/>
            </a:avLst>
          </a:prstGeom>
          <a:solidFill>
            <a:schemeClr val="bg2"/>
          </a:solidFill>
          <a:ln w="9525">
            <a:solidFill>
              <a:schemeClr val="accent5"/>
            </a:solidFill>
            <a:prstDash val="solid"/>
          </a:ln>
        </p:spPr>
      </p:sp>
      <p:sp>
        <p:nvSpPr>
          <p:cNvPr id="16" name="Text 12"/>
          <p:cNvSpPr txBox="1"/>
          <p:nvPr/>
        </p:nvSpPr>
        <p:spPr>
          <a:xfrm>
            <a:off x="5408676" y="2249424"/>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17" name="Text 13"/>
          <p:cNvSpPr txBox="1"/>
          <p:nvPr/>
        </p:nvSpPr>
        <p:spPr>
          <a:xfrm>
            <a:off x="4585716"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Un socio a cargo de cada colegio y de cada naturista</a:t>
            </a:r>
            <a:endParaRPr lang="en-US" sz="1500" dirty="0"/>
          </a:p>
        </p:txBody>
      </p:sp>
      <p:sp>
        <p:nvSpPr>
          <p:cNvPr id="18" name="Shape 14"/>
          <p:cNvSpPr/>
          <p:nvPr/>
        </p:nvSpPr>
        <p:spPr>
          <a:xfrm>
            <a:off x="8074152"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Shape 15"/>
          <p:cNvSpPr/>
          <p:nvPr/>
        </p:nvSpPr>
        <p:spPr>
          <a:xfrm>
            <a:off x="8348472" y="1828800"/>
            <a:ext cx="685800" cy="685800"/>
          </a:xfrm>
          <a:prstGeom prst="ellipse">
            <a:avLst/>
          </a:prstGeom>
          <a:solidFill>
            <a:schemeClr val="accent5"/>
          </a:solidFill>
          <a:ln w="12700">
            <a:solidFill>
              <a:schemeClr val="accent5"/>
            </a:solidFill>
            <a:prstDash val="solid"/>
          </a:ln>
        </p:spPr>
      </p:sp>
      <p:pic>
        <p:nvPicPr>
          <p:cNvPr id="20" name="Image 2" descr="preencoded.png">    </p:cNvPr>
          <p:cNvPicPr>
            <a:picLocks noChangeAspect="1"/>
          </p:cNvPicPr>
          <p:nvPr/>
        </p:nvPicPr>
        <p:blipFill>
          <a:blip r:embed="rId3"/>
          <a:stretch>
            <a:fillRect/>
          </a:stretch>
        </p:blipFill>
        <p:spPr>
          <a:xfrm>
            <a:off x="8499348" y="1979676"/>
            <a:ext cx="384048" cy="384048"/>
          </a:xfrm>
          <a:prstGeom prst="rect">
            <a:avLst/>
          </a:prstGeom>
        </p:spPr>
      </p:pic>
      <p:sp>
        <p:nvSpPr>
          <p:cNvPr id="21" name="Text 16"/>
          <p:cNvSpPr txBox="1"/>
          <p:nvPr/>
        </p:nvSpPr>
        <p:spPr>
          <a:xfrm>
            <a:off x="9171432"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Autoservicio</a:t>
            </a:r>
            <a:endParaRPr lang="en-US" sz="1700" dirty="0"/>
          </a:p>
        </p:txBody>
      </p:sp>
      <p:sp>
        <p:nvSpPr>
          <p:cNvPr id="22" name="Shape 17"/>
          <p:cNvSpPr/>
          <p:nvPr/>
        </p:nvSpPr>
        <p:spPr>
          <a:xfrm>
            <a:off x="9171432" y="2249424"/>
            <a:ext cx="868680" cy="256032"/>
          </a:xfrm>
          <a:prstGeom prst="roundRect">
            <a:avLst>
              <a:gd name="adj" fmla="val 50000"/>
            </a:avLst>
          </a:prstGeom>
          <a:solidFill>
            <a:schemeClr val="bg2"/>
          </a:solidFill>
          <a:ln w="9525">
            <a:solidFill>
              <a:schemeClr val="accent5"/>
            </a:solidFill>
            <a:prstDash val="solid"/>
          </a:ln>
        </p:spPr>
      </p:sp>
      <p:sp>
        <p:nvSpPr>
          <p:cNvPr id="23" name="Text 18"/>
          <p:cNvSpPr txBox="1"/>
          <p:nvPr/>
        </p:nvSpPr>
        <p:spPr>
          <a:xfrm>
            <a:off x="9171432" y="2249424"/>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24" name="Text 19"/>
          <p:cNvSpPr txBox="1"/>
          <p:nvPr/>
        </p:nvSpPr>
        <p:spPr>
          <a:xfrm>
            <a:off x="8348472"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Catálogo de WhatsApp y link de pago, sin esperar respuesta</a:t>
            </a:r>
            <a:endParaRPr lang="en-US" sz="1500" dirty="0"/>
          </a:p>
        </p:txBody>
      </p:sp>
      <p:sp>
        <p:nvSpPr>
          <p:cNvPr id="25" name="Shape 20"/>
          <p:cNvSpPr/>
          <p:nvPr/>
        </p:nvSpPr>
        <p:spPr>
          <a:xfrm>
            <a:off x="548640"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6" name="Shape 21"/>
          <p:cNvSpPr/>
          <p:nvPr/>
        </p:nvSpPr>
        <p:spPr>
          <a:xfrm>
            <a:off x="822960" y="4224528"/>
            <a:ext cx="685800" cy="685800"/>
          </a:xfrm>
          <a:prstGeom prst="ellipse">
            <a:avLst/>
          </a:prstGeom>
          <a:solidFill>
            <a:schemeClr val="accent1"/>
          </a:solidFill>
          <a:ln w="12700">
            <a:solidFill>
              <a:schemeClr val="accent1"/>
            </a:solidFill>
            <a:prstDash val="solid"/>
          </a:ln>
        </p:spPr>
      </p:sp>
      <p:pic>
        <p:nvPicPr>
          <p:cNvPr id="27" name="Image 3" descr="preencoded.png">    </p:cNvPr>
          <p:cNvPicPr>
            <a:picLocks noChangeAspect="1"/>
          </p:cNvPicPr>
          <p:nvPr/>
        </p:nvPicPr>
        <p:blipFill>
          <a:blip r:embed="rId4"/>
          <a:stretch>
            <a:fillRect/>
          </a:stretch>
        </p:blipFill>
        <p:spPr>
          <a:xfrm>
            <a:off x="973836" y="4375404"/>
            <a:ext cx="384048" cy="384048"/>
          </a:xfrm>
          <a:prstGeom prst="rect">
            <a:avLst/>
          </a:prstGeom>
        </p:spPr>
      </p:pic>
      <p:sp>
        <p:nvSpPr>
          <p:cNvPr id="28" name="Text 22"/>
          <p:cNvSpPr txBox="1"/>
          <p:nvPr/>
        </p:nvSpPr>
        <p:spPr>
          <a:xfrm>
            <a:off x="1645920"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Servicio automático</a:t>
            </a:r>
            <a:endParaRPr lang="en-US" sz="1700" dirty="0"/>
          </a:p>
        </p:txBody>
      </p:sp>
      <p:sp>
        <p:nvSpPr>
          <p:cNvPr id="29" name="Shape 23"/>
          <p:cNvSpPr/>
          <p:nvPr/>
        </p:nvSpPr>
        <p:spPr>
          <a:xfrm>
            <a:off x="1645920" y="4645152"/>
            <a:ext cx="868680" cy="256032"/>
          </a:xfrm>
          <a:prstGeom prst="roundRect">
            <a:avLst>
              <a:gd name="adj" fmla="val 50000"/>
            </a:avLst>
          </a:prstGeom>
          <a:solidFill>
            <a:schemeClr val="accent1"/>
          </a:solidFill>
          <a:ln w="9525">
            <a:solidFill>
              <a:schemeClr val="accent1"/>
            </a:solidFill>
            <a:prstDash val="solid"/>
          </a:ln>
        </p:spPr>
      </p:sp>
      <p:sp>
        <p:nvSpPr>
          <p:cNvPr id="30" name="Text 24"/>
          <p:cNvSpPr txBox="1"/>
          <p:nvPr/>
        </p:nvSpPr>
        <p:spPr>
          <a:xfrm>
            <a:off x="1645920" y="4645152"/>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31" name="Text 25"/>
          <p:cNvSpPr txBox="1"/>
          <p:nvPr/>
        </p:nvSpPr>
        <p:spPr>
          <a:xfrm>
            <a:off x="822960"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Recordatorio de recompra por WhatsApp a los 12 días</a:t>
            </a:r>
            <a:endParaRPr lang="en-US" sz="1500" dirty="0"/>
          </a:p>
        </p:txBody>
      </p:sp>
      <p:sp>
        <p:nvSpPr>
          <p:cNvPr id="32" name="Shape 26"/>
          <p:cNvSpPr/>
          <p:nvPr/>
        </p:nvSpPr>
        <p:spPr>
          <a:xfrm>
            <a:off x="4311396"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7"/>
          <p:cNvSpPr/>
          <p:nvPr/>
        </p:nvSpPr>
        <p:spPr>
          <a:xfrm>
            <a:off x="4585716" y="4224528"/>
            <a:ext cx="685800" cy="685800"/>
          </a:xfrm>
          <a:prstGeom prst="ellipse">
            <a:avLst/>
          </a:prstGeom>
          <a:solidFill>
            <a:schemeClr val="accent1"/>
          </a:solidFill>
          <a:ln w="12700">
            <a:solidFill>
              <a:schemeClr val="accent1"/>
            </a:solidFill>
            <a:prstDash val="solid"/>
          </a:ln>
        </p:spPr>
      </p:sp>
      <p:pic>
        <p:nvPicPr>
          <p:cNvPr id="34" name="Image 4" descr="preencoded.png">    </p:cNvPr>
          <p:cNvPicPr>
            <a:picLocks noChangeAspect="1"/>
          </p:cNvPicPr>
          <p:nvPr/>
        </p:nvPicPr>
        <p:blipFill>
          <a:blip r:embed="rId5"/>
          <a:stretch>
            <a:fillRect/>
          </a:stretch>
        </p:blipFill>
        <p:spPr>
          <a:xfrm>
            <a:off x="4736592" y="4375404"/>
            <a:ext cx="384048" cy="384048"/>
          </a:xfrm>
          <a:prstGeom prst="rect">
            <a:avLst/>
          </a:prstGeom>
        </p:spPr>
      </p:pic>
      <p:sp>
        <p:nvSpPr>
          <p:cNvPr id="35" name="Text 28"/>
          <p:cNvSpPr txBox="1"/>
          <p:nvPr/>
        </p:nvSpPr>
        <p:spPr>
          <a:xfrm>
            <a:off x="5408676"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Comunidades</a:t>
            </a:r>
            <a:endParaRPr lang="en-US" sz="1700" dirty="0"/>
          </a:p>
        </p:txBody>
      </p:sp>
      <p:sp>
        <p:nvSpPr>
          <p:cNvPr id="36" name="Shape 29"/>
          <p:cNvSpPr/>
          <p:nvPr/>
        </p:nvSpPr>
        <p:spPr>
          <a:xfrm>
            <a:off x="5408676" y="4645152"/>
            <a:ext cx="868680" cy="256032"/>
          </a:xfrm>
          <a:prstGeom prst="roundRect">
            <a:avLst>
              <a:gd name="adj" fmla="val 50000"/>
            </a:avLst>
          </a:prstGeom>
          <a:solidFill>
            <a:schemeClr val="accent1"/>
          </a:solidFill>
          <a:ln w="9525">
            <a:solidFill>
              <a:schemeClr val="accent1"/>
            </a:solidFill>
            <a:prstDash val="solid"/>
          </a:ln>
        </p:spPr>
      </p:sp>
      <p:sp>
        <p:nvSpPr>
          <p:cNvPr id="37" name="Text 30"/>
          <p:cNvSpPr txBox="1"/>
          <p:nvPr/>
        </p:nvSpPr>
        <p:spPr>
          <a:xfrm>
            <a:off x="5408676" y="4645152"/>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38" name="Text 31"/>
          <p:cNvSpPr txBox="1"/>
          <p:nvPr/>
        </p:nvSpPr>
        <p:spPr>
          <a:xfrm>
            <a:off x="4585716"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Mamá embajadora por salón y comunidad en Instagram</a:t>
            </a:r>
            <a:endParaRPr lang="en-US" sz="1500" dirty="0"/>
          </a:p>
        </p:txBody>
      </p:sp>
      <p:sp>
        <p:nvSpPr>
          <p:cNvPr id="39" name="Shape 32"/>
          <p:cNvSpPr/>
          <p:nvPr/>
        </p:nvSpPr>
        <p:spPr>
          <a:xfrm>
            <a:off x="8074152"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0" name="Shape 33"/>
          <p:cNvSpPr/>
          <p:nvPr/>
        </p:nvSpPr>
        <p:spPr>
          <a:xfrm>
            <a:off x="8348472" y="4224528"/>
            <a:ext cx="685800" cy="685800"/>
          </a:xfrm>
          <a:prstGeom prst="ellipse">
            <a:avLst/>
          </a:prstGeom>
          <a:solidFill>
            <a:schemeClr val="accent5"/>
          </a:solidFill>
          <a:ln w="12700">
            <a:solidFill>
              <a:schemeClr val="accent5"/>
            </a:solidFill>
            <a:prstDash val="solid"/>
          </a:ln>
        </p:spPr>
      </p:sp>
      <p:pic>
        <p:nvPicPr>
          <p:cNvPr id="41" name="Image 5" descr="preencoded.png">    </p:cNvPr>
          <p:cNvPicPr>
            <a:picLocks noChangeAspect="1"/>
          </p:cNvPicPr>
          <p:nvPr/>
        </p:nvPicPr>
        <p:blipFill>
          <a:blip r:embed="rId6"/>
          <a:stretch>
            <a:fillRect/>
          </a:stretch>
        </p:blipFill>
        <p:spPr>
          <a:xfrm>
            <a:off x="8499348" y="4375404"/>
            <a:ext cx="384048" cy="384048"/>
          </a:xfrm>
          <a:prstGeom prst="rect">
            <a:avLst/>
          </a:prstGeom>
        </p:spPr>
      </p:pic>
      <p:sp>
        <p:nvSpPr>
          <p:cNvPr id="42" name="Text 34"/>
          <p:cNvSpPr txBox="1"/>
          <p:nvPr/>
        </p:nvSpPr>
        <p:spPr>
          <a:xfrm>
            <a:off x="9171432"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Creación colectiva</a:t>
            </a:r>
            <a:endParaRPr lang="en-US" sz="1700" dirty="0"/>
          </a:p>
        </p:txBody>
      </p:sp>
      <p:sp>
        <p:nvSpPr>
          <p:cNvPr id="43" name="Shape 35"/>
          <p:cNvSpPr/>
          <p:nvPr/>
        </p:nvSpPr>
        <p:spPr>
          <a:xfrm>
            <a:off x="9171432" y="4645152"/>
            <a:ext cx="868680" cy="256032"/>
          </a:xfrm>
          <a:prstGeom prst="roundRect">
            <a:avLst>
              <a:gd name="adj" fmla="val 50000"/>
            </a:avLst>
          </a:prstGeom>
          <a:solidFill>
            <a:schemeClr val="bg2"/>
          </a:solidFill>
          <a:ln w="9525">
            <a:solidFill>
              <a:schemeClr val="accent5"/>
            </a:solidFill>
            <a:prstDash val="solid"/>
          </a:ln>
        </p:spPr>
      </p:sp>
      <p:sp>
        <p:nvSpPr>
          <p:cNvPr id="44" name="Text 36"/>
          <p:cNvSpPr txBox="1"/>
          <p:nvPr/>
        </p:nvSpPr>
        <p:spPr>
          <a:xfrm>
            <a:off x="9171432" y="4645152"/>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45" name="Text 37"/>
          <p:cNvSpPr txBox="1"/>
          <p:nvPr/>
        </p:nvSpPr>
        <p:spPr>
          <a:xfrm>
            <a:off x="8348472"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Los niños votan el sabor del mes</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CICLO DE RELACIÓN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Captar, fidelizar y crecer con cada familia</a:t>
            </a:r>
            <a:endParaRPr lang="en-US" sz="3400" dirty="0"/>
          </a:p>
        </p:txBody>
      </p:sp>
      <p:sp>
        <p:nvSpPr>
          <p:cNvPr id="4" name="Shape 2"/>
          <p:cNvSpPr/>
          <p:nvPr/>
        </p:nvSpPr>
        <p:spPr>
          <a:xfrm>
            <a:off x="54864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1 · CAPTAR</a:t>
            </a:r>
            <a:endParaRPr lang="en-US" sz="1200" dirty="0"/>
          </a:p>
        </p:txBody>
      </p:sp>
      <p:sp>
        <p:nvSpPr>
          <p:cNvPr id="6" name="Text 4"/>
          <p:cNvSpPr txBox="1"/>
          <p:nvPr/>
        </p:nvSpPr>
        <p:spPr>
          <a:xfrm>
            <a:off x="82296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lo prueben</a:t>
            </a:r>
            <a:endParaRPr lang="en-US" sz="2100" dirty="0"/>
          </a:p>
        </p:txBody>
      </p:sp>
      <p:sp>
        <p:nvSpPr>
          <p:cNvPr id="7" name="Text 5"/>
          <p:cNvSpPr txBox="1"/>
          <p:nvPr/>
        </p:nvSpPr>
        <p:spPr>
          <a:xfrm>
            <a:off x="82296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Caja degustación de 3 a S/12 con cupón de S/3 para el primer pack</a:t>
            </a:r>
            <a:endParaRPr lang="en-US" sz="1500" dirty="0"/>
          </a:p>
        </p:txBody>
      </p:sp>
      <p:sp>
        <p:nvSpPr>
          <p:cNvPr id="8" name="Shape 6"/>
          <p:cNvSpPr/>
          <p:nvPr/>
        </p:nvSpPr>
        <p:spPr>
          <a:xfrm>
            <a:off x="731520" y="4480560"/>
            <a:ext cx="2331720" cy="1463040"/>
          </a:xfrm>
          <a:prstGeom prst="roundRect">
            <a:avLst>
              <a:gd name="adj" fmla="val 6250"/>
            </a:avLst>
          </a:prstGeom>
          <a:solidFill>
            <a:schemeClr val="bg2"/>
          </a:solidFill>
          <a:ln w="12700">
            <a:solidFill>
              <a:schemeClr val="bg2"/>
            </a:solidFill>
            <a:prstDash val="solid"/>
          </a:ln>
        </p:spPr>
      </p:sp>
      <p:sp>
        <p:nvSpPr>
          <p:cNvPr id="9" name="Text 7"/>
          <p:cNvSpPr txBox="1"/>
          <p:nvPr/>
        </p:nvSpPr>
        <p:spPr>
          <a:xfrm>
            <a:off x="91440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300</a:t>
            </a:r>
            <a:endParaRPr lang="en-US" sz="1400" dirty="0"/>
          </a:p>
          <a:p>
            <a:pPr indent="0" marL="0">
              <a:buNone/>
            </a:pPr>
            <a:r>
              <a:rPr lang="en-US" sz="1300" dirty="0">
                <a:solidFill>
                  <a:schemeClr val="accent2"/>
                </a:solidFill>
              </a:rPr>
              <a:t>familias en lista de espera antes del lanzamiento</a:t>
            </a:r>
            <a:endParaRPr lang="en-US" sz="1400" dirty="0"/>
          </a:p>
        </p:txBody>
      </p:sp>
      <p:sp>
        <p:nvSpPr>
          <p:cNvPr id="10" name="Shape 8"/>
          <p:cNvSpPr/>
          <p:nvPr/>
        </p:nvSpPr>
        <p:spPr>
          <a:xfrm>
            <a:off x="3200400" y="3566160"/>
            <a:ext cx="411480" cy="411480"/>
          </a:xfrm>
          <a:prstGeom prst="ellipse">
            <a:avLst/>
          </a:prstGeom>
          <a:solidFill>
            <a:schemeClr val="accent3"/>
          </a:solidFill>
          <a:ln w="12700">
            <a:solidFill>
              <a:schemeClr val="accent3"/>
            </a:solidFill>
            <a:prstDash val="solid"/>
          </a:ln>
        </p:spPr>
      </p:sp>
      <p:pic>
        <p:nvPicPr>
          <p:cNvPr id="11" name="Image 0" descr="preencoded.png">    </p:cNvPr>
          <p:cNvPicPr>
            <a:picLocks noChangeAspect="1"/>
          </p:cNvPicPr>
          <p:nvPr/>
        </p:nvPicPr>
        <p:blipFill>
          <a:blip r:embed="rId1"/>
          <a:stretch>
            <a:fillRect/>
          </a:stretch>
        </p:blipFill>
        <p:spPr>
          <a:xfrm>
            <a:off x="3290926" y="3656686"/>
            <a:ext cx="230429" cy="230429"/>
          </a:xfrm>
          <a:prstGeom prst="rect">
            <a:avLst/>
          </a:prstGeom>
        </p:spPr>
      </p:pic>
      <p:sp>
        <p:nvSpPr>
          <p:cNvPr id="12" name="Shape 9"/>
          <p:cNvSpPr/>
          <p:nvPr/>
        </p:nvSpPr>
        <p:spPr>
          <a:xfrm>
            <a:off x="356616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0"/>
          <p:cNvSpPr txBox="1"/>
          <p:nvPr/>
        </p:nvSpPr>
        <p:spPr>
          <a:xfrm>
            <a:off x="384048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2 · FIDELIZAR</a:t>
            </a:r>
            <a:endParaRPr lang="en-US" sz="1200" dirty="0"/>
          </a:p>
        </p:txBody>
      </p:sp>
      <p:sp>
        <p:nvSpPr>
          <p:cNvPr id="14" name="Text 11"/>
          <p:cNvSpPr txBox="1"/>
          <p:nvPr/>
        </p:nvSpPr>
        <p:spPr>
          <a:xfrm>
            <a:off x="384048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vuelvan</a:t>
            </a:r>
            <a:endParaRPr lang="en-US" sz="2100" dirty="0"/>
          </a:p>
        </p:txBody>
      </p:sp>
      <p:sp>
        <p:nvSpPr>
          <p:cNvPr id="15" name="Text 12"/>
          <p:cNvSpPr txBox="1"/>
          <p:nvPr/>
        </p:nvSpPr>
        <p:spPr>
          <a:xfrm>
            <a:off x="384048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Recordatorio de recompra por WhatsApp y cambio de sabores en cada pedido</a:t>
            </a:r>
            <a:endParaRPr lang="en-US" sz="1500" dirty="0"/>
          </a:p>
        </p:txBody>
      </p:sp>
      <p:sp>
        <p:nvSpPr>
          <p:cNvPr id="16" name="Shape 13"/>
          <p:cNvSpPr/>
          <p:nvPr/>
        </p:nvSpPr>
        <p:spPr>
          <a:xfrm>
            <a:off x="3749040" y="4480560"/>
            <a:ext cx="2331720" cy="1463040"/>
          </a:xfrm>
          <a:prstGeom prst="roundRect">
            <a:avLst>
              <a:gd name="adj" fmla="val 6250"/>
            </a:avLst>
          </a:prstGeom>
          <a:solidFill>
            <a:schemeClr val="bg2"/>
          </a:solidFill>
          <a:ln w="12700">
            <a:solidFill>
              <a:schemeClr val="bg2"/>
            </a:solidFill>
            <a:prstDash val="solid"/>
          </a:ln>
        </p:spPr>
      </p:sp>
      <p:sp>
        <p:nvSpPr>
          <p:cNvPr id="17" name="Text 14"/>
          <p:cNvSpPr txBox="1"/>
          <p:nvPr/>
        </p:nvSpPr>
        <p:spPr>
          <a:xfrm>
            <a:off x="393192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35 %</a:t>
            </a:r>
            <a:endParaRPr lang="en-US" sz="1400" dirty="0"/>
          </a:p>
          <a:p>
            <a:pPr indent="0" marL="0">
              <a:buNone/>
            </a:pPr>
            <a:r>
              <a:rPr lang="en-US" sz="1300" dirty="0">
                <a:solidFill>
                  <a:schemeClr val="accent2"/>
                </a:solidFill>
              </a:rPr>
              <a:t>de recompra a los 60 días</a:t>
            </a:r>
            <a:endParaRPr lang="en-US" sz="1400" dirty="0"/>
          </a:p>
        </p:txBody>
      </p:sp>
      <p:sp>
        <p:nvSpPr>
          <p:cNvPr id="18" name="Shape 15"/>
          <p:cNvSpPr/>
          <p:nvPr/>
        </p:nvSpPr>
        <p:spPr>
          <a:xfrm>
            <a:off x="6217920" y="3566160"/>
            <a:ext cx="411480" cy="411480"/>
          </a:xfrm>
          <a:prstGeom prst="ellipse">
            <a:avLst/>
          </a:prstGeom>
          <a:solidFill>
            <a:schemeClr val="accent3"/>
          </a:solidFill>
          <a:ln w="12700">
            <a:solidFill>
              <a:schemeClr val="accent3"/>
            </a:solidFill>
            <a:prstDash val="solid"/>
          </a:ln>
        </p:spPr>
      </p:sp>
      <p:pic>
        <p:nvPicPr>
          <p:cNvPr id="19" name="Image 1" descr="preencoded.png">    </p:cNvPr>
          <p:cNvPicPr>
            <a:picLocks noChangeAspect="1"/>
          </p:cNvPicPr>
          <p:nvPr/>
        </p:nvPicPr>
        <p:blipFill>
          <a:blip r:embed="rId2"/>
          <a:stretch>
            <a:fillRect/>
          </a:stretch>
        </p:blipFill>
        <p:spPr>
          <a:xfrm>
            <a:off x="6308446" y="3656686"/>
            <a:ext cx="230429" cy="230429"/>
          </a:xfrm>
          <a:prstGeom prst="rect">
            <a:avLst/>
          </a:prstGeom>
        </p:spPr>
      </p:pic>
      <p:sp>
        <p:nvSpPr>
          <p:cNvPr id="20" name="Shape 16"/>
          <p:cNvSpPr/>
          <p:nvPr/>
        </p:nvSpPr>
        <p:spPr>
          <a:xfrm>
            <a:off x="658368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7"/>
          <p:cNvSpPr txBox="1"/>
          <p:nvPr/>
        </p:nvSpPr>
        <p:spPr>
          <a:xfrm>
            <a:off x="685800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3 · CRECER</a:t>
            </a:r>
            <a:endParaRPr lang="en-US" sz="1200" dirty="0"/>
          </a:p>
        </p:txBody>
      </p:sp>
      <p:sp>
        <p:nvSpPr>
          <p:cNvPr id="22" name="Text 18"/>
          <p:cNvSpPr txBox="1"/>
          <p:nvPr/>
        </p:nvSpPr>
        <p:spPr>
          <a:xfrm>
            <a:off x="685800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nos recomienden</a:t>
            </a:r>
            <a:endParaRPr lang="en-US" sz="2100" dirty="0"/>
          </a:p>
        </p:txBody>
      </p:sp>
      <p:sp>
        <p:nvSpPr>
          <p:cNvPr id="23" name="Text 19"/>
          <p:cNvSpPr txBox="1"/>
          <p:nvPr/>
        </p:nvSpPr>
        <p:spPr>
          <a:xfrm>
            <a:off x="685800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Mamá embajadora por salón y paso al pack de 12 "Semana completa"</a:t>
            </a:r>
            <a:endParaRPr lang="en-US" sz="1500" dirty="0"/>
          </a:p>
        </p:txBody>
      </p:sp>
      <p:sp>
        <p:nvSpPr>
          <p:cNvPr id="24" name="Shape 20"/>
          <p:cNvSpPr/>
          <p:nvPr/>
        </p:nvSpPr>
        <p:spPr>
          <a:xfrm>
            <a:off x="6766560" y="4480560"/>
            <a:ext cx="2331720" cy="1463040"/>
          </a:xfrm>
          <a:prstGeom prst="roundRect">
            <a:avLst>
              <a:gd name="adj" fmla="val 6250"/>
            </a:avLst>
          </a:prstGeom>
          <a:solidFill>
            <a:schemeClr val="bg2"/>
          </a:solidFill>
          <a:ln w="12700">
            <a:solidFill>
              <a:schemeClr val="bg2"/>
            </a:solidFill>
            <a:prstDash val="solid"/>
          </a:ln>
        </p:spPr>
      </p:sp>
      <p:sp>
        <p:nvSpPr>
          <p:cNvPr id="25" name="Text 21"/>
          <p:cNvSpPr txBox="1"/>
          <p:nvPr/>
        </p:nvSpPr>
        <p:spPr>
          <a:xfrm>
            <a:off x="694944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700</a:t>
            </a:r>
            <a:endParaRPr lang="en-US" sz="1400" dirty="0"/>
          </a:p>
          <a:p>
            <a:pPr indent="0" marL="0">
              <a:buNone/>
            </a:pPr>
            <a:r>
              <a:rPr lang="en-US" sz="1300" dirty="0">
                <a:solidFill>
                  <a:schemeClr val="accent2"/>
                </a:solidFill>
              </a:rPr>
              <a:t>hogares activos al cierre del año 1</a:t>
            </a:r>
            <a:endParaRPr lang="en-US" sz="1400" dirty="0"/>
          </a:p>
        </p:txBody>
      </p:sp>
      <p:sp>
        <p:nvSpPr>
          <p:cNvPr id="26" name="IMAGEN_3"/>
          <p:cNvSpPr/>
          <p:nvPr/>
        </p:nvSpPr>
        <p:spPr>
          <a:xfrm>
            <a:off x="9555480" y="1554480"/>
            <a:ext cx="2084832" cy="4572000"/>
          </a:xfrm>
          <a:prstGeom prst="roundRect">
            <a:avLst>
              <a:gd name="adj" fmla="val 6579"/>
            </a:avLst>
          </a:prstGeom>
          <a:solidFill>
            <a:srgbClr val="F0E2CF"/>
          </a:solidFill>
          <a:ln w="19050">
            <a:solidFill>
              <a:schemeClr val="accent5"/>
            </a:solidFill>
            <a:prstDash val="dash"/>
          </a:ln>
        </p:spPr>
      </p:sp>
      <p:pic>
        <p:nvPicPr>
          <p:cNvPr id="27" name="Image 2" descr="preencoded.png">    </p:cNvPr>
          <p:cNvPicPr>
            <a:picLocks noChangeAspect="1"/>
          </p:cNvPicPr>
          <p:nvPr/>
        </p:nvPicPr>
        <p:blipFill>
          <a:blip r:embed="rId3"/>
          <a:stretch>
            <a:fillRect/>
          </a:stretch>
        </p:blipFill>
        <p:spPr>
          <a:xfrm>
            <a:off x="10232136" y="2926080"/>
            <a:ext cx="731520" cy="731520"/>
          </a:xfrm>
          <a:prstGeom prst="rect">
            <a:avLst/>
          </a:prstGeom>
        </p:spPr>
      </p:pic>
      <p:sp>
        <p:nvSpPr>
          <p:cNvPr id="28" name="Text 23"/>
          <p:cNvSpPr txBox="1"/>
          <p:nvPr/>
        </p:nvSpPr>
        <p:spPr>
          <a:xfrm>
            <a:off x="9738360" y="3840480"/>
            <a:ext cx="1719072"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3</a:t>
            </a:r>
            <a:endParaRPr lang="en-US" sz="1400" dirty="0"/>
          </a:p>
          <a:p>
            <a:pPr algn="ctr" indent="0" marL="0">
              <a:buNone/>
            </a:pPr>
            <a:r>
              <a:rPr lang="en-US" sz="1300" dirty="0">
                <a:solidFill>
                  <a:schemeClr val="accent2"/>
                </a:solidFill>
              </a:rPr>
              <a:t>Lonchera con AndiBite y fruta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FUENTES DE INGRESO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Cuatro fuentes de ingreso, una sola línea de producto</a:t>
            </a:r>
            <a:endParaRPr lang="en-US" sz="3400" dirty="0"/>
          </a:p>
        </p:txBody>
      </p:sp>
      <p:sp>
        <p:nvSpPr>
          <p:cNvPr id="4" name="Shape 2"/>
          <p:cNvSpPr/>
          <p:nvPr/>
        </p:nvSpPr>
        <p:spPr>
          <a:xfrm>
            <a:off x="548640" y="1554480"/>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31520" y="1728216"/>
            <a:ext cx="640080" cy="6400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872338" y="1869034"/>
            <a:ext cx="358445" cy="358445"/>
          </a:xfrm>
          <a:prstGeom prst="rect">
            <a:avLst/>
          </a:prstGeom>
        </p:spPr>
      </p:pic>
      <p:sp>
        <p:nvSpPr>
          <p:cNvPr id="7" name="Text 4"/>
          <p:cNvSpPr txBox="1"/>
          <p:nvPr/>
        </p:nvSpPr>
        <p:spPr>
          <a:xfrm>
            <a:off x="1554480" y="1554480"/>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Venta de producto</a:t>
            </a:r>
            <a:endParaRPr lang="en-US" sz="1400" dirty="0"/>
          </a:p>
          <a:p>
            <a:pPr indent="0" marL="0">
              <a:buNone/>
            </a:pPr>
            <a:r>
              <a:rPr lang="en-US" sz="1300" dirty="0">
                <a:solidFill>
                  <a:schemeClr val="accent2"/>
                </a:solidFill>
              </a:rPr>
              <a:t>Packs de 6 y unidades por WhatsApp e Instagram</a:t>
            </a:r>
            <a:endParaRPr lang="en-US" sz="1400" dirty="0"/>
          </a:p>
        </p:txBody>
      </p:sp>
      <p:sp>
        <p:nvSpPr>
          <p:cNvPr id="8" name="Text 5"/>
          <p:cNvSpPr txBox="1"/>
          <p:nvPr/>
        </p:nvSpPr>
        <p:spPr>
          <a:xfrm>
            <a:off x="5120640" y="1554480"/>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57.6 %</a:t>
            </a:r>
            <a:endParaRPr lang="en-US" sz="1400" dirty="0"/>
          </a:p>
          <a:p>
            <a:pPr algn="r" indent="0" marL="0">
              <a:buNone/>
            </a:pPr>
            <a:r>
              <a:rPr lang="en-US" sz="1000" dirty="0">
                <a:solidFill>
                  <a:schemeClr val="accent2"/>
                </a:solidFill>
              </a:rPr>
              <a:t>de los ingresos</a:t>
            </a:r>
            <a:endParaRPr lang="en-US" sz="1400" dirty="0"/>
          </a:p>
        </p:txBody>
      </p:sp>
      <p:sp>
        <p:nvSpPr>
          <p:cNvPr id="9" name="Shape 6"/>
          <p:cNvSpPr/>
          <p:nvPr/>
        </p:nvSpPr>
        <p:spPr>
          <a:xfrm>
            <a:off x="548640" y="2679192"/>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Shape 7"/>
          <p:cNvSpPr/>
          <p:nvPr/>
        </p:nvSpPr>
        <p:spPr>
          <a:xfrm>
            <a:off x="731520" y="2852928"/>
            <a:ext cx="640080" cy="64008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872338" y="2993746"/>
            <a:ext cx="358445" cy="358445"/>
          </a:xfrm>
          <a:prstGeom prst="rect">
            <a:avLst/>
          </a:prstGeom>
        </p:spPr>
      </p:pic>
      <p:sp>
        <p:nvSpPr>
          <p:cNvPr id="12" name="Text 8"/>
          <p:cNvSpPr txBox="1"/>
          <p:nvPr/>
        </p:nvSpPr>
        <p:spPr>
          <a:xfrm>
            <a:off x="1554480" y="2679192"/>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Pack de 12 "Semana completa"</a:t>
            </a:r>
            <a:endParaRPr lang="en-US" sz="1400" dirty="0"/>
          </a:p>
          <a:p>
            <a:pPr indent="0" marL="0">
              <a:buNone/>
            </a:pPr>
            <a:r>
              <a:rPr lang="en-US" sz="1300" dirty="0">
                <a:solidFill>
                  <a:schemeClr val="accent2"/>
                </a:solidFill>
              </a:rPr>
              <a:t>Venta por volumen: S/3.91 por brownie</a:t>
            </a:r>
            <a:endParaRPr lang="en-US" sz="1400" dirty="0"/>
          </a:p>
        </p:txBody>
      </p:sp>
      <p:sp>
        <p:nvSpPr>
          <p:cNvPr id="13" name="Text 9"/>
          <p:cNvSpPr txBox="1"/>
          <p:nvPr/>
        </p:nvSpPr>
        <p:spPr>
          <a:xfrm>
            <a:off x="5120640" y="2679192"/>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23.3 %</a:t>
            </a:r>
            <a:endParaRPr lang="en-US" sz="1400" dirty="0"/>
          </a:p>
          <a:p>
            <a:pPr algn="r" indent="0" marL="0">
              <a:buNone/>
            </a:pPr>
            <a:r>
              <a:rPr lang="en-US" sz="1000" dirty="0">
                <a:solidFill>
                  <a:schemeClr val="accent2"/>
                </a:solidFill>
              </a:rPr>
              <a:t>de los ingresos</a:t>
            </a:r>
            <a:endParaRPr lang="en-US" sz="1400" dirty="0"/>
          </a:p>
        </p:txBody>
      </p:sp>
      <p:sp>
        <p:nvSpPr>
          <p:cNvPr id="14" name="Shape 10"/>
          <p:cNvSpPr/>
          <p:nvPr/>
        </p:nvSpPr>
        <p:spPr>
          <a:xfrm>
            <a:off x="548640" y="3803904"/>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Shape 11"/>
          <p:cNvSpPr/>
          <p:nvPr/>
        </p:nvSpPr>
        <p:spPr>
          <a:xfrm>
            <a:off x="731520" y="3977640"/>
            <a:ext cx="640080" cy="640080"/>
          </a:xfrm>
          <a:prstGeom prst="ellipse">
            <a:avLst/>
          </a:prstGeom>
          <a:solidFill>
            <a:schemeClr val="tx2"/>
          </a:solidFill>
          <a:ln w="12700">
            <a:solidFill>
              <a:schemeClr val="tx2"/>
            </a:solidFill>
            <a:prstDash val="solid"/>
          </a:ln>
        </p:spPr>
      </p:sp>
      <p:pic>
        <p:nvPicPr>
          <p:cNvPr id="16" name="Image 2" descr="preencoded.png">    </p:cNvPr>
          <p:cNvPicPr>
            <a:picLocks noChangeAspect="1"/>
          </p:cNvPicPr>
          <p:nvPr/>
        </p:nvPicPr>
        <p:blipFill>
          <a:blip r:embed="rId3"/>
          <a:stretch>
            <a:fillRect/>
          </a:stretch>
        </p:blipFill>
        <p:spPr>
          <a:xfrm>
            <a:off x="872338" y="4118458"/>
            <a:ext cx="358445" cy="358445"/>
          </a:xfrm>
          <a:prstGeom prst="rect">
            <a:avLst/>
          </a:prstGeom>
        </p:spPr>
      </p:pic>
      <p:sp>
        <p:nvSpPr>
          <p:cNvPr id="17" name="Text 12"/>
          <p:cNvSpPr txBox="1"/>
          <p:nvPr/>
        </p:nvSpPr>
        <p:spPr>
          <a:xfrm>
            <a:off x="1554480" y="3803904"/>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Venta mayorista (B2B)</a:t>
            </a:r>
            <a:endParaRPr lang="en-US" sz="1400" dirty="0"/>
          </a:p>
          <a:p>
            <a:pPr indent="0" marL="0">
              <a:buNone/>
            </a:pPr>
            <a:r>
              <a:rPr lang="en-US" sz="1300" dirty="0">
                <a:solidFill>
                  <a:schemeClr val="accent2"/>
                </a:solidFill>
              </a:rPr>
              <a:t>Quioscos escolares y tiendas naturistas, con factura</a:t>
            </a:r>
            <a:endParaRPr lang="en-US" sz="1400" dirty="0"/>
          </a:p>
        </p:txBody>
      </p:sp>
      <p:sp>
        <p:nvSpPr>
          <p:cNvPr id="18" name="Text 13"/>
          <p:cNvSpPr txBox="1"/>
          <p:nvPr/>
        </p:nvSpPr>
        <p:spPr>
          <a:xfrm>
            <a:off x="5120640" y="3803904"/>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10.2 %</a:t>
            </a:r>
            <a:endParaRPr lang="en-US" sz="1400" dirty="0"/>
          </a:p>
          <a:p>
            <a:pPr algn="r" indent="0" marL="0">
              <a:buNone/>
            </a:pPr>
            <a:r>
              <a:rPr lang="en-US" sz="1000" dirty="0">
                <a:solidFill>
                  <a:schemeClr val="accent2"/>
                </a:solidFill>
              </a:rPr>
              <a:t>de los ingresos</a:t>
            </a:r>
            <a:endParaRPr lang="en-US" sz="1400" dirty="0"/>
          </a:p>
        </p:txBody>
      </p:sp>
      <p:sp>
        <p:nvSpPr>
          <p:cNvPr id="19" name="Shape 14"/>
          <p:cNvSpPr/>
          <p:nvPr/>
        </p:nvSpPr>
        <p:spPr>
          <a:xfrm>
            <a:off x="548640" y="4928616"/>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Shape 15"/>
          <p:cNvSpPr/>
          <p:nvPr/>
        </p:nvSpPr>
        <p:spPr>
          <a:xfrm>
            <a:off x="731520" y="5102352"/>
            <a:ext cx="640080" cy="64008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872338" y="5243170"/>
            <a:ext cx="358445" cy="358445"/>
          </a:xfrm>
          <a:prstGeom prst="rect">
            <a:avLst/>
          </a:prstGeom>
        </p:spPr>
      </p:pic>
      <p:sp>
        <p:nvSpPr>
          <p:cNvPr id="22" name="Text 16"/>
          <p:cNvSpPr txBox="1"/>
          <p:nvPr/>
        </p:nvSpPr>
        <p:spPr>
          <a:xfrm>
            <a:off x="1554480" y="4928616"/>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Ferias y eventos</a:t>
            </a:r>
            <a:endParaRPr lang="en-US" sz="1400" dirty="0"/>
          </a:p>
          <a:p>
            <a:pPr indent="0" marL="0">
              <a:buNone/>
            </a:pPr>
            <a:r>
              <a:rPr lang="en-US" sz="1300" dirty="0">
                <a:solidFill>
                  <a:schemeClr val="accent2"/>
                </a:solidFill>
              </a:rPr>
              <a:t>Bioferias, kermeses y cumpleaños</a:t>
            </a:r>
            <a:endParaRPr lang="en-US" sz="1400" dirty="0"/>
          </a:p>
        </p:txBody>
      </p:sp>
      <p:sp>
        <p:nvSpPr>
          <p:cNvPr id="23" name="Text 17"/>
          <p:cNvSpPr txBox="1"/>
          <p:nvPr/>
        </p:nvSpPr>
        <p:spPr>
          <a:xfrm>
            <a:off x="5120640" y="4928616"/>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8.9 %</a:t>
            </a:r>
            <a:endParaRPr lang="en-US" sz="1400" dirty="0"/>
          </a:p>
          <a:p>
            <a:pPr algn="r" indent="0" marL="0">
              <a:buNone/>
            </a:pPr>
            <a:r>
              <a:rPr lang="en-US" sz="1000" dirty="0">
                <a:solidFill>
                  <a:schemeClr val="accent2"/>
                </a:solidFill>
              </a:rPr>
              <a:t>de los ingresos</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0" y="1554480"/>
          <a:ext cx="5056632" cy="914400"/>
        </p:xfrm>
        <a:graphic>
          <a:graphicData uri="http://schemas.openxmlformats.org/drawingml/2006/table">
            <a:tbl>
              <a:tblPr/>
              <a:tblGrid>
                <a:gridCol w="1764792"/>
                <a:gridCol w="1005840"/>
                <a:gridCol w="1143000"/>
                <a:gridCol w="1143000"/>
              </a:tblGrid>
              <a:tr h="502920">
                <a:tc>
                  <a:txBody>
                    <a:bodyPr/>
                    <a:lstStyle/>
                    <a:p>
                      <a:pPr indent="0" marL="0">
                        <a:buNone/>
                      </a:pPr>
                      <a:r>
                        <a:rPr lang="en-US" sz="1300" b="1" dirty="0">
                          <a:solidFill>
                            <a:schemeClr val="bg1"/>
                          </a:solidFill>
                        </a:rPr>
                        <a:t>Precio con IGV</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Unidad</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Pack de 6</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Pack de 12</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02920">
                <a:tc>
                  <a:txBody>
                    <a:bodyPr/>
                    <a:lstStyle/>
                    <a:p>
                      <a:pPr indent="0" marL="0">
                        <a:buNone/>
                      </a:pPr>
                      <a:r>
                        <a:rPr lang="en-US" sz="1400" b="1" dirty="0">
                          <a:solidFill>
                            <a:schemeClr val="tx1"/>
                          </a:solidFill>
                        </a:rPr>
                        <a:t>Venta directa</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b="1" dirty="0">
                          <a:solidFill>
                            <a:schemeClr val="tx1"/>
                          </a:solidFill>
                        </a:rPr>
                        <a:t>S/4.00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b="1" dirty="0">
                          <a:solidFill>
                            <a:schemeClr val="tx1"/>
                          </a:solidFill>
                        </a:rPr>
                        <a:t>S/24.90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b="1" dirty="0">
                          <a:solidFill>
                            <a:schemeClr val="tx1"/>
                          </a:solidFill>
                        </a:rPr>
                        <a:t>S/46.90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r h="502920">
                <a:tc>
                  <a:txBody>
                    <a:bodyPr/>
                    <a:lstStyle/>
                    <a:p>
                      <a:pPr indent="0" marL="0">
                        <a:buNone/>
                      </a:pPr>
                      <a:r>
                        <a:rPr lang="en-US" sz="1400" b="1" dirty="0">
                          <a:solidFill>
                            <a:schemeClr val="tx1"/>
                          </a:solidFill>
                        </a:rPr>
                        <a:t>Ferias</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S/5.00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S/26.00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S/48.00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chemeClr val="tx1"/>
                          </a:solidFill>
                        </a:rPr>
                        <a:t>Quiosco escolar</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S/4.00*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chemeClr val="tx1"/>
                          </a:solidFill>
                        </a:rPr>
                        <a:t>Tienda naturista</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S/28.90*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25" name="Shape 18"/>
          <p:cNvSpPr/>
          <p:nvPr/>
        </p:nvSpPr>
        <p:spPr>
          <a:xfrm>
            <a:off x="6583680" y="4343400"/>
            <a:ext cx="5056632" cy="1783080"/>
          </a:xfrm>
          <a:prstGeom prst="roundRect">
            <a:avLst>
              <a:gd name="adj" fmla="val 6154"/>
            </a:avLst>
          </a:prstGeom>
          <a:solidFill>
            <a:schemeClr val="bg2"/>
          </a:solidFill>
          <a:ln w="12700">
            <a:solidFill>
              <a:schemeClr val="bg2"/>
            </a:solidFill>
            <a:prstDash val="solid"/>
          </a:ln>
        </p:spPr>
      </p:sp>
      <p:sp>
        <p:nvSpPr>
          <p:cNvPr id="26" name="Text 19"/>
          <p:cNvSpPr txBox="1"/>
          <p:nvPr/>
        </p:nvSpPr>
        <p:spPr>
          <a:xfrm>
            <a:off x="6812280" y="4434840"/>
            <a:ext cx="4617720" cy="1600200"/>
          </a:xfrm>
          <a:prstGeom prst="rect">
            <a:avLst/>
          </a:prstGeom>
          <a:noFill/>
          <a:ln/>
        </p:spPr>
        <p:txBody>
          <a:bodyPr wrap="square" lIns="0" tIns="0" rIns="0" bIns="0" rtlCol="0" anchor="ctr"/>
          <a:lstStyle/>
          <a:p>
            <a:pPr indent="0" marL="0">
              <a:spcAft>
                <a:spcPts val="400"/>
              </a:spcAft>
              <a:buNone/>
            </a:pPr>
            <a:r>
              <a:rPr lang="en-US" sz="1500" b="1" dirty="0">
                <a:solidFill>
                  <a:schemeClr val="tx2"/>
                </a:solidFill>
              </a:rPr>
              <a:t>Precio fijo por lista</a:t>
            </a:r>
            <a:endParaRPr lang="en-US" sz="1400" dirty="0"/>
          </a:p>
          <a:p>
            <a:pPr indent="0" marL="0">
              <a:spcAft>
                <a:spcPts val="400"/>
              </a:spcAft>
              <a:buNone/>
            </a:pPr>
            <a:r>
              <a:rPr lang="en-US" sz="1400" dirty="0">
                <a:solidFill>
                  <a:schemeClr val="tx1"/>
                </a:solidFill>
              </a:rPr>
              <a:t>Descuento por volumen: el pack de 12 sale 6 % más barato por brownie que el de 6.</a:t>
            </a:r>
            <a:endParaRPr lang="en-US" sz="1400" dirty="0"/>
          </a:p>
          <a:p>
            <a:pPr indent="0" marL="0">
              <a:spcAft>
                <a:spcPts val="400"/>
              </a:spcAft>
              <a:buNone/>
            </a:pPr>
            <a:r>
              <a:rPr lang="en-US" sz="1100" i="1" dirty="0">
                <a:solidFill>
                  <a:schemeClr val="accent2"/>
                </a:solidFill>
              </a:rPr>
              <a:t>* Precio al público. AndiBite recibe S/3.00 en el quiosco y S/17.34 en la naturista.</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VENTAS DEL AÑO 1</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S/302,900 en el primer año de ventas</a:t>
            </a:r>
            <a:endParaRPr lang="en-US" sz="3400" dirty="0"/>
          </a:p>
        </p:txBody>
      </p:sp>
      <p:graphicFrame>
        <p:nvGraphicFramePr>
          <p:cNvPr id="4" name="Chart 0" descr=""/>
          <p:cNvGraphicFramePr/>
          <p:nvPr/>
        </p:nvGraphicFramePr>
        <p:xfrm>
          <a:off x="365760" y="1463040"/>
          <a:ext cx="4023360" cy="4069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572000" y="1463040"/>
          <a:ext cx="7223760" cy="406908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48640"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777240"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76,335  </a:t>
            </a:r>
            <a:pPr indent="0" marL="0">
              <a:buNone/>
            </a:pPr>
            <a:r>
              <a:rPr lang="en-US" sz="1300" dirty="0">
                <a:solidFill>
                  <a:schemeClr val="accent2"/>
                </a:solidFill>
              </a:rPr>
              <a:t>brownies vendidos</a:t>
            </a:r>
            <a:endParaRPr lang="en-US" sz="1400" dirty="0"/>
          </a:p>
        </p:txBody>
      </p:sp>
      <p:sp>
        <p:nvSpPr>
          <p:cNvPr id="8" name="Shape 4"/>
          <p:cNvSpPr/>
          <p:nvPr/>
        </p:nvSpPr>
        <p:spPr>
          <a:xfrm>
            <a:off x="4311396"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5"/>
          <p:cNvSpPr txBox="1"/>
          <p:nvPr/>
        </p:nvSpPr>
        <p:spPr>
          <a:xfrm>
            <a:off x="4539996"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6,836 + 1,508  </a:t>
            </a:r>
            <a:pPr indent="0" marL="0">
              <a:buNone/>
            </a:pPr>
            <a:r>
              <a:rPr lang="en-US" sz="1300" dirty="0">
                <a:solidFill>
                  <a:schemeClr val="accent2"/>
                </a:solidFill>
              </a:rPr>
              <a:t>packs de 6 y de 12</a:t>
            </a:r>
            <a:endParaRPr lang="en-US" sz="1400" dirty="0"/>
          </a:p>
        </p:txBody>
      </p:sp>
      <p:sp>
        <p:nvSpPr>
          <p:cNvPr id="10" name="Shape 6"/>
          <p:cNvSpPr/>
          <p:nvPr/>
        </p:nvSpPr>
        <p:spPr>
          <a:xfrm>
            <a:off x="8074152"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7"/>
          <p:cNvSpPr txBox="1"/>
          <p:nvPr/>
        </p:nvSpPr>
        <p:spPr>
          <a:xfrm>
            <a:off x="8302752"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S/3.97  </a:t>
            </a:r>
            <a:pPr indent="0" marL="0">
              <a:buNone/>
            </a:pPr>
            <a:r>
              <a:rPr lang="en-US" sz="1300" dirty="0">
                <a:solidFill>
                  <a:schemeClr val="accent2"/>
                </a:solidFill>
              </a:rPr>
              <a:t>de ingreso promedio por brownie</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07</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Socios, recursos, actividades y costos</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Socios clave · Recursos y actividades · Estructura de costos · Punto de equilibrio · Modelo Canvas</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SOCIOS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Socios que nos dejan crecer sin planta propia</a:t>
            </a:r>
            <a:endParaRPr lang="en-US" sz="3400" dirty="0"/>
          </a:p>
        </p:txBody>
      </p:sp>
      <p:sp>
        <p:nvSpPr>
          <p:cNvPr id="4" name="Shape 2"/>
          <p:cNvSpPr/>
          <p:nvPr/>
        </p:nvSpPr>
        <p:spPr>
          <a:xfrm>
            <a:off x="4956048" y="2697480"/>
            <a:ext cx="2286000" cy="2286000"/>
          </a:xfrm>
          <a:prstGeom prst="ellipse">
            <a:avLst/>
          </a:prstGeom>
          <a:solidFill>
            <a:schemeClr val="tx2"/>
          </a:solidFill>
          <a:ln w="38100">
            <a:solidFill>
              <a:schemeClr val="accent5"/>
            </a:solidFill>
            <a:prstDash val="solid"/>
          </a:ln>
        </p:spPr>
      </p:sp>
      <p:pic>
        <p:nvPicPr>
          <p:cNvPr id="5" name="Image 0" descr="img/logo_light.png">    </p:cNvPr>
          <p:cNvPicPr>
            <a:picLocks noChangeAspect="1"/>
          </p:cNvPicPr>
          <p:nvPr/>
        </p:nvPicPr>
        <p:blipFill>
          <a:blip r:embed="rId1"/>
          <a:stretch>
            <a:fillRect/>
          </a:stretch>
        </p:blipFill>
        <p:spPr>
          <a:xfrm>
            <a:off x="5276088" y="3310128"/>
            <a:ext cx="1645920" cy="566928"/>
          </a:xfrm>
          <a:prstGeom prst="rect">
            <a:avLst/>
          </a:prstGeom>
        </p:spPr>
      </p:pic>
      <p:sp>
        <p:nvSpPr>
          <p:cNvPr id="6" name="Text 3"/>
          <p:cNvSpPr txBox="1"/>
          <p:nvPr/>
        </p:nvSpPr>
        <p:spPr>
          <a:xfrm>
            <a:off x="4956048" y="4023360"/>
            <a:ext cx="2286000" cy="320040"/>
          </a:xfrm>
          <a:prstGeom prst="rect">
            <a:avLst/>
          </a:prstGeom>
          <a:noFill/>
          <a:ln/>
        </p:spPr>
        <p:txBody>
          <a:bodyPr wrap="square" lIns="0" tIns="0" rIns="0" bIns="0" rtlCol="0" anchor="t"/>
          <a:lstStyle/>
          <a:p>
            <a:pPr algn="ctr" indent="0" marL="0">
              <a:buNone/>
            </a:pPr>
            <a:r>
              <a:rPr lang="en-US" sz="1300" b="1" dirty="0">
                <a:solidFill>
                  <a:schemeClr val="accent5"/>
                </a:solidFill>
              </a:rPr>
              <a:t>AndiBite S.A.C.</a:t>
            </a:r>
            <a:endParaRPr lang="en-US" sz="1300" dirty="0"/>
          </a:p>
        </p:txBody>
      </p:sp>
      <p:sp>
        <p:nvSpPr>
          <p:cNvPr id="7" name="Shape 4"/>
          <p:cNvSpPr/>
          <p:nvPr/>
        </p:nvSpPr>
        <p:spPr>
          <a:xfrm>
            <a:off x="4480560" y="2217420"/>
            <a:ext cx="795528" cy="1623060"/>
          </a:xfrm>
          <a:prstGeom prst="line">
            <a:avLst/>
          </a:prstGeom>
          <a:noFill/>
          <a:ln w="19050">
            <a:solidFill>
              <a:schemeClr val="accent5"/>
            </a:solidFill>
            <a:prstDash val="dash"/>
          </a:ln>
        </p:spPr>
      </p:sp>
      <p:sp>
        <p:nvSpPr>
          <p:cNvPr id="8" name="Shape 5"/>
          <p:cNvSpPr/>
          <p:nvPr/>
        </p:nvSpPr>
        <p:spPr>
          <a:xfrm>
            <a:off x="548640" y="1554480"/>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6"/>
          <p:cNvSpPr/>
          <p:nvPr/>
        </p:nvSpPr>
        <p:spPr>
          <a:xfrm>
            <a:off x="731520" y="1783080"/>
            <a:ext cx="594360" cy="594360"/>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862279" y="1913839"/>
            <a:ext cx="332842" cy="332842"/>
          </a:xfrm>
          <a:prstGeom prst="rect">
            <a:avLst/>
          </a:prstGeom>
        </p:spPr>
      </p:pic>
      <p:sp>
        <p:nvSpPr>
          <p:cNvPr id="11" name="Text 7"/>
          <p:cNvSpPr txBox="1"/>
          <p:nvPr/>
        </p:nvSpPr>
        <p:spPr>
          <a:xfrm>
            <a:off x="1508760" y="1719072"/>
            <a:ext cx="2834640" cy="347472"/>
          </a:xfrm>
          <a:prstGeom prst="rect">
            <a:avLst/>
          </a:prstGeom>
          <a:noFill/>
          <a:ln/>
        </p:spPr>
        <p:txBody>
          <a:bodyPr wrap="square" lIns="0" tIns="0" rIns="0" bIns="0" rtlCol="0" anchor="t"/>
          <a:lstStyle/>
          <a:p>
            <a:pPr indent="0" marL="0">
              <a:buNone/>
            </a:pPr>
            <a:r>
              <a:rPr lang="en-US" sz="1600" b="1" dirty="0">
                <a:solidFill>
                  <a:schemeClr val="tx2"/>
                </a:solidFill>
              </a:rPr>
              <a:t>Planta maquiladora</a:t>
            </a:r>
            <a:endParaRPr lang="en-US" sz="1600" dirty="0"/>
          </a:p>
        </p:txBody>
      </p:sp>
      <p:sp>
        <p:nvSpPr>
          <p:cNvPr id="12" name="Text 8"/>
          <p:cNvSpPr txBox="1"/>
          <p:nvPr/>
        </p:nvSpPr>
        <p:spPr>
          <a:xfrm>
            <a:off x="1508760" y="2066544"/>
            <a:ext cx="2834640" cy="365760"/>
          </a:xfrm>
          <a:prstGeom prst="rect">
            <a:avLst/>
          </a:prstGeom>
          <a:noFill/>
          <a:ln/>
        </p:spPr>
        <p:txBody>
          <a:bodyPr wrap="square" lIns="0" tIns="0" rIns="0" bIns="0" rtlCol="0" anchor="t"/>
          <a:lstStyle/>
          <a:p>
            <a:pPr indent="0" marL="0">
              <a:buNone/>
            </a:pPr>
            <a:r>
              <a:rPr lang="en-US" sz="1300" dirty="0">
                <a:solidFill>
                  <a:schemeClr val="tx1"/>
                </a:solidFill>
              </a:rPr>
              <a:t>MAKING, Panificadora Unión, INDDA</a:t>
            </a:r>
            <a:endParaRPr lang="en-US" sz="1300" dirty="0"/>
          </a:p>
        </p:txBody>
      </p:sp>
      <p:sp>
        <p:nvSpPr>
          <p:cNvPr id="13" name="Text 9"/>
          <p:cNvSpPr txBox="1"/>
          <p:nvPr/>
        </p:nvSpPr>
        <p:spPr>
          <a:xfrm>
            <a:off x="1508760" y="2468880"/>
            <a:ext cx="2834640" cy="274320"/>
          </a:xfrm>
          <a:prstGeom prst="rect">
            <a:avLst/>
          </a:prstGeom>
          <a:noFill/>
          <a:ln/>
        </p:spPr>
        <p:txBody>
          <a:bodyPr wrap="square" lIns="0" tIns="0" rIns="0" bIns="0" rtlCol="0" anchor="t"/>
          <a:lstStyle/>
          <a:p>
            <a:pPr indent="0" marL="0">
              <a:buNone/>
            </a:pPr>
            <a:r>
              <a:rPr lang="en-US" sz="1100" b="1" i="1" dirty="0">
                <a:solidFill>
                  <a:schemeClr val="accent4"/>
                </a:solidFill>
              </a:rPr>
              <a:t>Economía de escala</a:t>
            </a:r>
            <a:endParaRPr lang="en-US" sz="1100" dirty="0"/>
          </a:p>
        </p:txBody>
      </p:sp>
      <p:sp>
        <p:nvSpPr>
          <p:cNvPr id="14" name="Shape 10"/>
          <p:cNvSpPr/>
          <p:nvPr/>
        </p:nvSpPr>
        <p:spPr>
          <a:xfrm>
            <a:off x="4480560" y="3753612"/>
            <a:ext cx="795528" cy="86868"/>
          </a:xfrm>
          <a:prstGeom prst="line">
            <a:avLst/>
          </a:prstGeom>
          <a:noFill/>
          <a:ln w="19050">
            <a:solidFill>
              <a:schemeClr val="accent5"/>
            </a:solidFill>
            <a:prstDash val="dash"/>
          </a:ln>
        </p:spPr>
      </p:sp>
      <p:sp>
        <p:nvSpPr>
          <p:cNvPr id="15" name="Shape 11"/>
          <p:cNvSpPr/>
          <p:nvPr/>
        </p:nvSpPr>
        <p:spPr>
          <a:xfrm>
            <a:off x="548640" y="3090672"/>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Shape 12"/>
          <p:cNvSpPr/>
          <p:nvPr/>
        </p:nvSpPr>
        <p:spPr>
          <a:xfrm>
            <a:off x="731520" y="3319272"/>
            <a:ext cx="594360" cy="594360"/>
          </a:xfrm>
          <a:prstGeom prst="ellipse">
            <a:avLst/>
          </a:prstGeom>
          <a:solidFill>
            <a:schemeClr val="accent1"/>
          </a:solidFill>
          <a:ln w="12700">
            <a:solidFill>
              <a:schemeClr val="accent1"/>
            </a:solidFill>
            <a:prstDash val="solid"/>
          </a:ln>
        </p:spPr>
      </p:sp>
      <p:pic>
        <p:nvPicPr>
          <p:cNvPr id="17" name="Image 2" descr="preencoded.png">    </p:cNvPr>
          <p:cNvPicPr>
            <a:picLocks noChangeAspect="1"/>
          </p:cNvPicPr>
          <p:nvPr/>
        </p:nvPicPr>
        <p:blipFill>
          <a:blip r:embed="rId3"/>
          <a:stretch>
            <a:fillRect/>
          </a:stretch>
        </p:blipFill>
        <p:spPr>
          <a:xfrm>
            <a:off x="862279" y="3450031"/>
            <a:ext cx="332842" cy="332842"/>
          </a:xfrm>
          <a:prstGeom prst="rect">
            <a:avLst/>
          </a:prstGeom>
        </p:spPr>
      </p:pic>
      <p:sp>
        <p:nvSpPr>
          <p:cNvPr id="18" name="Text 13"/>
          <p:cNvSpPr txBox="1"/>
          <p:nvPr/>
        </p:nvSpPr>
        <p:spPr>
          <a:xfrm>
            <a:off x="1508760" y="3255264"/>
            <a:ext cx="2834640" cy="347472"/>
          </a:xfrm>
          <a:prstGeom prst="rect">
            <a:avLst/>
          </a:prstGeom>
          <a:noFill/>
          <a:ln/>
        </p:spPr>
        <p:txBody>
          <a:bodyPr wrap="square" lIns="0" tIns="0" rIns="0" bIns="0" rtlCol="0" anchor="t"/>
          <a:lstStyle/>
          <a:p>
            <a:pPr indent="0" marL="0">
              <a:buNone/>
            </a:pPr>
            <a:r>
              <a:rPr lang="en-US" sz="1600" b="1" dirty="0">
                <a:solidFill>
                  <a:schemeClr val="tx2"/>
                </a:solidFill>
              </a:rPr>
              <a:t>Laboratorio INACAL</a:t>
            </a:r>
            <a:endParaRPr lang="en-US" sz="1600" dirty="0"/>
          </a:p>
        </p:txBody>
      </p:sp>
      <p:sp>
        <p:nvSpPr>
          <p:cNvPr id="19" name="Text 14"/>
          <p:cNvSpPr txBox="1"/>
          <p:nvPr/>
        </p:nvSpPr>
        <p:spPr>
          <a:xfrm>
            <a:off x="1508760" y="3602736"/>
            <a:ext cx="2834640" cy="365760"/>
          </a:xfrm>
          <a:prstGeom prst="rect">
            <a:avLst/>
          </a:prstGeom>
          <a:noFill/>
          <a:ln/>
        </p:spPr>
        <p:txBody>
          <a:bodyPr wrap="square" lIns="0" tIns="0" rIns="0" bIns="0" rtlCol="0" anchor="t"/>
          <a:lstStyle/>
          <a:p>
            <a:pPr indent="0" marL="0">
              <a:buNone/>
            </a:pPr>
            <a:r>
              <a:rPr lang="en-US" sz="1300" dirty="0">
                <a:solidFill>
                  <a:schemeClr val="tx1"/>
                </a:solidFill>
              </a:rPr>
              <a:t>SAT Perú y La Molina Calidad Total</a:t>
            </a:r>
            <a:endParaRPr lang="en-US" sz="1300" dirty="0"/>
          </a:p>
        </p:txBody>
      </p:sp>
      <p:sp>
        <p:nvSpPr>
          <p:cNvPr id="20" name="Text 15"/>
          <p:cNvSpPr txBox="1"/>
          <p:nvPr/>
        </p:nvSpPr>
        <p:spPr>
          <a:xfrm>
            <a:off x="1508760" y="4005072"/>
            <a:ext cx="2834640" cy="274320"/>
          </a:xfrm>
          <a:prstGeom prst="rect">
            <a:avLst/>
          </a:prstGeom>
          <a:noFill/>
          <a:ln/>
        </p:spPr>
        <p:txBody>
          <a:bodyPr wrap="square" lIns="0" tIns="0" rIns="0" bIns="0" rtlCol="0" anchor="t"/>
          <a:lstStyle/>
          <a:p>
            <a:pPr indent="0" marL="0">
              <a:buNone/>
            </a:pPr>
            <a:r>
              <a:rPr lang="en-US" sz="1100" b="1" i="1" dirty="0">
                <a:solidFill>
                  <a:schemeClr val="accent4"/>
                </a:solidFill>
              </a:rPr>
              <a:t>Reduce el riesgo</a:t>
            </a:r>
            <a:endParaRPr lang="en-US" sz="1100" dirty="0"/>
          </a:p>
        </p:txBody>
      </p:sp>
      <p:sp>
        <p:nvSpPr>
          <p:cNvPr id="21" name="Shape 16"/>
          <p:cNvSpPr/>
          <p:nvPr/>
        </p:nvSpPr>
        <p:spPr>
          <a:xfrm>
            <a:off x="4480560" y="5289804"/>
            <a:ext cx="795528" cy="-1449324"/>
          </a:xfrm>
          <a:prstGeom prst="line">
            <a:avLst/>
          </a:prstGeom>
          <a:noFill/>
          <a:ln w="19050">
            <a:solidFill>
              <a:schemeClr val="accent5"/>
            </a:solidFill>
            <a:prstDash val="dash"/>
          </a:ln>
        </p:spPr>
      </p:sp>
      <p:sp>
        <p:nvSpPr>
          <p:cNvPr id="22" name="Shape 17"/>
          <p:cNvSpPr/>
          <p:nvPr/>
        </p:nvSpPr>
        <p:spPr>
          <a:xfrm>
            <a:off x="548640" y="4626864"/>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3" name="Shape 18"/>
          <p:cNvSpPr/>
          <p:nvPr/>
        </p:nvSpPr>
        <p:spPr>
          <a:xfrm>
            <a:off x="731520" y="4855464"/>
            <a:ext cx="594360" cy="594360"/>
          </a:xfrm>
          <a:prstGeom prst="ellipse">
            <a:avLst/>
          </a:prstGeom>
          <a:solidFill>
            <a:schemeClr val="accent1"/>
          </a:solidFill>
          <a:ln w="12700">
            <a:solidFill>
              <a:schemeClr val="accent1"/>
            </a:solidFill>
            <a:prstDash val="solid"/>
          </a:ln>
        </p:spPr>
      </p:sp>
      <p:pic>
        <p:nvPicPr>
          <p:cNvPr id="24" name="Image 3" descr="preencoded.png">    </p:cNvPr>
          <p:cNvPicPr>
            <a:picLocks noChangeAspect="1"/>
          </p:cNvPicPr>
          <p:nvPr/>
        </p:nvPicPr>
        <p:blipFill>
          <a:blip r:embed="rId4"/>
          <a:stretch>
            <a:fillRect/>
          </a:stretch>
        </p:blipFill>
        <p:spPr>
          <a:xfrm>
            <a:off x="862279" y="4986223"/>
            <a:ext cx="332842" cy="332842"/>
          </a:xfrm>
          <a:prstGeom prst="rect">
            <a:avLst/>
          </a:prstGeom>
        </p:spPr>
      </p:pic>
      <p:sp>
        <p:nvSpPr>
          <p:cNvPr id="25" name="Text 19"/>
          <p:cNvSpPr txBox="1"/>
          <p:nvPr/>
        </p:nvSpPr>
        <p:spPr>
          <a:xfrm>
            <a:off x="1508760" y="4791456"/>
            <a:ext cx="2834640" cy="347472"/>
          </a:xfrm>
          <a:prstGeom prst="rect">
            <a:avLst/>
          </a:prstGeom>
          <a:noFill/>
          <a:ln/>
        </p:spPr>
        <p:txBody>
          <a:bodyPr wrap="square" lIns="0" tIns="0" rIns="0" bIns="0" rtlCol="0" anchor="t"/>
          <a:lstStyle/>
          <a:p>
            <a:pPr indent="0" marL="0">
              <a:buNone/>
            </a:pPr>
            <a:r>
              <a:rPr lang="en-US" sz="1600" b="1" dirty="0">
                <a:solidFill>
                  <a:schemeClr val="tx2"/>
                </a:solidFill>
              </a:rPr>
              <a:t>Proveedores</a:t>
            </a:r>
            <a:endParaRPr lang="en-US" sz="1600" dirty="0"/>
          </a:p>
        </p:txBody>
      </p:sp>
      <p:sp>
        <p:nvSpPr>
          <p:cNvPr id="26" name="Text 20"/>
          <p:cNvSpPr txBox="1"/>
          <p:nvPr/>
        </p:nvSpPr>
        <p:spPr>
          <a:xfrm>
            <a:off x="1508760" y="5138928"/>
            <a:ext cx="2834640" cy="365760"/>
          </a:xfrm>
          <a:prstGeom prst="rect">
            <a:avLst/>
          </a:prstGeom>
          <a:noFill/>
          <a:ln/>
        </p:spPr>
        <p:txBody>
          <a:bodyPr wrap="square" lIns="0" tIns="0" rIns="0" bIns="0" rtlCol="0" anchor="t"/>
          <a:lstStyle/>
          <a:p>
            <a:pPr indent="0" marL="0">
              <a:buNone/>
            </a:pPr>
            <a:r>
              <a:rPr lang="en-US" sz="1300" dirty="0">
                <a:solidFill>
                  <a:schemeClr val="tx1"/>
                </a:solidFill>
              </a:rPr>
              <a:t>Sangrecita con SENASA, Makro, empaques</a:t>
            </a:r>
            <a:endParaRPr lang="en-US" sz="1300" dirty="0"/>
          </a:p>
        </p:txBody>
      </p:sp>
      <p:sp>
        <p:nvSpPr>
          <p:cNvPr id="27" name="Text 21"/>
          <p:cNvSpPr txBox="1"/>
          <p:nvPr/>
        </p:nvSpPr>
        <p:spPr>
          <a:xfrm>
            <a:off x="1508760" y="5541264"/>
            <a:ext cx="2834640" cy="274320"/>
          </a:xfrm>
          <a:prstGeom prst="rect">
            <a:avLst/>
          </a:prstGeom>
          <a:noFill/>
          <a:ln/>
        </p:spPr>
        <p:txBody>
          <a:bodyPr wrap="square" lIns="0" tIns="0" rIns="0" bIns="0" rtlCol="0" anchor="t"/>
          <a:lstStyle/>
          <a:p>
            <a:pPr indent="0" marL="0">
              <a:buNone/>
            </a:pPr>
            <a:r>
              <a:rPr lang="en-US" sz="1100" b="1" i="1" dirty="0">
                <a:solidFill>
                  <a:schemeClr val="accent4"/>
                </a:solidFill>
              </a:rPr>
              <a:t>Recursos clave</a:t>
            </a:r>
            <a:endParaRPr lang="en-US" sz="1100" dirty="0"/>
          </a:p>
        </p:txBody>
      </p:sp>
      <p:sp>
        <p:nvSpPr>
          <p:cNvPr id="28" name="Shape 22"/>
          <p:cNvSpPr/>
          <p:nvPr/>
        </p:nvSpPr>
        <p:spPr>
          <a:xfrm flipV="1">
            <a:off x="6922008" y="2217420"/>
            <a:ext cx="786384" cy="1623060"/>
          </a:xfrm>
          <a:prstGeom prst="line">
            <a:avLst/>
          </a:prstGeom>
          <a:noFill/>
          <a:ln w="19050">
            <a:solidFill>
              <a:schemeClr val="accent5"/>
            </a:solidFill>
            <a:prstDash val="dash"/>
          </a:ln>
        </p:spPr>
      </p:sp>
      <p:sp>
        <p:nvSpPr>
          <p:cNvPr id="29" name="Shape 23"/>
          <p:cNvSpPr/>
          <p:nvPr/>
        </p:nvSpPr>
        <p:spPr>
          <a:xfrm>
            <a:off x="7708392" y="1554480"/>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0" name="Shape 24"/>
          <p:cNvSpPr/>
          <p:nvPr/>
        </p:nvSpPr>
        <p:spPr>
          <a:xfrm>
            <a:off x="7891272" y="1783080"/>
            <a:ext cx="594360" cy="594360"/>
          </a:xfrm>
          <a:prstGeom prst="ellipse">
            <a:avLst/>
          </a:prstGeom>
          <a:solidFill>
            <a:schemeClr val="accent1"/>
          </a:solidFill>
          <a:ln w="12700">
            <a:solidFill>
              <a:schemeClr val="accent1"/>
            </a:solidFill>
            <a:prstDash val="solid"/>
          </a:ln>
        </p:spPr>
      </p:sp>
      <p:pic>
        <p:nvPicPr>
          <p:cNvPr id="31" name="Image 4" descr="preencoded.png">    </p:cNvPr>
          <p:cNvPicPr>
            <a:picLocks noChangeAspect="1"/>
          </p:cNvPicPr>
          <p:nvPr/>
        </p:nvPicPr>
        <p:blipFill>
          <a:blip r:embed="rId5"/>
          <a:stretch>
            <a:fillRect/>
          </a:stretch>
        </p:blipFill>
        <p:spPr>
          <a:xfrm>
            <a:off x="8022031" y="1913839"/>
            <a:ext cx="332842" cy="332842"/>
          </a:xfrm>
          <a:prstGeom prst="rect">
            <a:avLst/>
          </a:prstGeom>
        </p:spPr>
      </p:pic>
      <p:sp>
        <p:nvSpPr>
          <p:cNvPr id="32" name="Text 25"/>
          <p:cNvSpPr txBox="1"/>
          <p:nvPr/>
        </p:nvSpPr>
        <p:spPr>
          <a:xfrm>
            <a:off x="8668512" y="1719072"/>
            <a:ext cx="2834640" cy="347472"/>
          </a:xfrm>
          <a:prstGeom prst="rect">
            <a:avLst/>
          </a:prstGeom>
          <a:noFill/>
          <a:ln/>
        </p:spPr>
        <p:txBody>
          <a:bodyPr wrap="square" lIns="0" tIns="0" rIns="0" bIns="0" rtlCol="0" anchor="t"/>
          <a:lstStyle/>
          <a:p>
            <a:pPr indent="0" marL="0">
              <a:buNone/>
            </a:pPr>
            <a:r>
              <a:rPr lang="en-US" sz="1600" b="1" dirty="0">
                <a:solidFill>
                  <a:schemeClr val="tx2"/>
                </a:solidFill>
              </a:rPr>
              <a:t>Canales aliados</a:t>
            </a:r>
            <a:endParaRPr lang="en-US" sz="1600" dirty="0"/>
          </a:p>
        </p:txBody>
      </p:sp>
      <p:sp>
        <p:nvSpPr>
          <p:cNvPr id="33" name="Text 26"/>
          <p:cNvSpPr txBox="1"/>
          <p:nvPr/>
        </p:nvSpPr>
        <p:spPr>
          <a:xfrm>
            <a:off x="8668512" y="2066544"/>
            <a:ext cx="2834640" cy="365760"/>
          </a:xfrm>
          <a:prstGeom prst="rect">
            <a:avLst/>
          </a:prstGeom>
          <a:noFill/>
          <a:ln/>
        </p:spPr>
        <p:txBody>
          <a:bodyPr wrap="square" lIns="0" tIns="0" rIns="0" bIns="0" rtlCol="0" anchor="t"/>
          <a:lstStyle/>
          <a:p>
            <a:pPr indent="0" marL="0">
              <a:buNone/>
            </a:pPr>
            <a:r>
              <a:rPr lang="en-US" sz="1300" dirty="0">
                <a:solidFill>
                  <a:schemeClr val="tx1"/>
                </a:solidFill>
              </a:rPr>
              <a:t>Concesionarios de quioscos y naturistas</a:t>
            </a:r>
            <a:endParaRPr lang="en-US" sz="1300" dirty="0"/>
          </a:p>
        </p:txBody>
      </p:sp>
      <p:sp>
        <p:nvSpPr>
          <p:cNvPr id="34" name="Text 27"/>
          <p:cNvSpPr txBox="1"/>
          <p:nvPr/>
        </p:nvSpPr>
        <p:spPr>
          <a:xfrm>
            <a:off x="8668512" y="2468880"/>
            <a:ext cx="2834640" cy="274320"/>
          </a:xfrm>
          <a:prstGeom prst="rect">
            <a:avLst/>
          </a:prstGeom>
          <a:noFill/>
          <a:ln/>
        </p:spPr>
        <p:txBody>
          <a:bodyPr wrap="square" lIns="0" tIns="0" rIns="0" bIns="0" rtlCol="0" anchor="t"/>
          <a:lstStyle/>
          <a:p>
            <a:pPr indent="0" marL="0">
              <a:buNone/>
            </a:pPr>
            <a:r>
              <a:rPr lang="en-US" sz="1100" b="1" i="1" dirty="0">
                <a:solidFill>
                  <a:schemeClr val="accent4"/>
                </a:solidFill>
              </a:rPr>
              <a:t>Llegada al cliente</a:t>
            </a:r>
            <a:endParaRPr lang="en-US" sz="1100" dirty="0"/>
          </a:p>
        </p:txBody>
      </p:sp>
      <p:sp>
        <p:nvSpPr>
          <p:cNvPr id="35" name="Shape 28"/>
          <p:cNvSpPr/>
          <p:nvPr/>
        </p:nvSpPr>
        <p:spPr>
          <a:xfrm flipV="1">
            <a:off x="6922008" y="3753612"/>
            <a:ext cx="786384" cy="86868"/>
          </a:xfrm>
          <a:prstGeom prst="line">
            <a:avLst/>
          </a:prstGeom>
          <a:noFill/>
          <a:ln w="19050">
            <a:solidFill>
              <a:schemeClr val="accent5"/>
            </a:solidFill>
            <a:prstDash val="dash"/>
          </a:ln>
        </p:spPr>
      </p:sp>
      <p:sp>
        <p:nvSpPr>
          <p:cNvPr id="36" name="Shape 29"/>
          <p:cNvSpPr/>
          <p:nvPr/>
        </p:nvSpPr>
        <p:spPr>
          <a:xfrm>
            <a:off x="7708392" y="3090672"/>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7" name="Shape 30"/>
          <p:cNvSpPr/>
          <p:nvPr/>
        </p:nvSpPr>
        <p:spPr>
          <a:xfrm>
            <a:off x="7891272" y="3319272"/>
            <a:ext cx="594360" cy="594360"/>
          </a:xfrm>
          <a:prstGeom prst="ellipse">
            <a:avLst/>
          </a:prstGeom>
          <a:solidFill>
            <a:schemeClr val="accent1"/>
          </a:solidFill>
          <a:ln w="12700">
            <a:solidFill>
              <a:schemeClr val="accent1"/>
            </a:solidFill>
            <a:prstDash val="solid"/>
          </a:ln>
        </p:spPr>
      </p:sp>
      <p:pic>
        <p:nvPicPr>
          <p:cNvPr id="38" name="Image 5" descr="preencoded.png">    </p:cNvPr>
          <p:cNvPicPr>
            <a:picLocks noChangeAspect="1"/>
          </p:cNvPicPr>
          <p:nvPr/>
        </p:nvPicPr>
        <p:blipFill>
          <a:blip r:embed="rId6"/>
          <a:stretch>
            <a:fillRect/>
          </a:stretch>
        </p:blipFill>
        <p:spPr>
          <a:xfrm>
            <a:off x="8022031" y="3450031"/>
            <a:ext cx="332842" cy="332842"/>
          </a:xfrm>
          <a:prstGeom prst="rect">
            <a:avLst/>
          </a:prstGeom>
        </p:spPr>
      </p:pic>
      <p:sp>
        <p:nvSpPr>
          <p:cNvPr id="39" name="Text 31"/>
          <p:cNvSpPr txBox="1"/>
          <p:nvPr/>
        </p:nvSpPr>
        <p:spPr>
          <a:xfrm>
            <a:off x="8668512" y="3255264"/>
            <a:ext cx="2834640" cy="347472"/>
          </a:xfrm>
          <a:prstGeom prst="rect">
            <a:avLst/>
          </a:prstGeom>
          <a:noFill/>
          <a:ln/>
        </p:spPr>
        <p:txBody>
          <a:bodyPr wrap="square" lIns="0" tIns="0" rIns="0" bIns="0" rtlCol="0" anchor="t"/>
          <a:lstStyle/>
          <a:p>
            <a:pPr indent="0" marL="0">
              <a:buNone/>
            </a:pPr>
            <a:r>
              <a:rPr lang="en-US" sz="1600" b="1" dirty="0">
                <a:solidFill>
                  <a:schemeClr val="tx2"/>
                </a:solidFill>
              </a:rPr>
              <a:t>Servicios</a:t>
            </a:r>
            <a:endParaRPr lang="en-US" sz="1600" dirty="0"/>
          </a:p>
        </p:txBody>
      </p:sp>
      <p:sp>
        <p:nvSpPr>
          <p:cNvPr id="40" name="Text 32"/>
          <p:cNvSpPr txBox="1"/>
          <p:nvPr/>
        </p:nvSpPr>
        <p:spPr>
          <a:xfrm>
            <a:off x="8668512" y="3602736"/>
            <a:ext cx="2834640" cy="365760"/>
          </a:xfrm>
          <a:prstGeom prst="rect">
            <a:avLst/>
          </a:prstGeom>
          <a:noFill/>
          <a:ln/>
        </p:spPr>
        <p:txBody>
          <a:bodyPr wrap="square" lIns="0" tIns="0" rIns="0" bIns="0" rtlCol="0" anchor="t"/>
          <a:lstStyle/>
          <a:p>
            <a:pPr indent="0" marL="0">
              <a:buNone/>
            </a:pPr>
            <a:r>
              <a:rPr lang="en-US" sz="1300" dirty="0">
                <a:solidFill>
                  <a:schemeClr val="tx1"/>
                </a:solidFill>
              </a:rPr>
              <a:t>Pasarela de pago, courier y contador</a:t>
            </a:r>
            <a:endParaRPr lang="en-US" sz="1300" dirty="0"/>
          </a:p>
        </p:txBody>
      </p:sp>
      <p:sp>
        <p:nvSpPr>
          <p:cNvPr id="41" name="Text 33"/>
          <p:cNvSpPr txBox="1"/>
          <p:nvPr/>
        </p:nvSpPr>
        <p:spPr>
          <a:xfrm>
            <a:off x="8668512" y="4005072"/>
            <a:ext cx="2834640" cy="274320"/>
          </a:xfrm>
          <a:prstGeom prst="rect">
            <a:avLst/>
          </a:prstGeom>
          <a:noFill/>
          <a:ln/>
        </p:spPr>
        <p:txBody>
          <a:bodyPr wrap="square" lIns="0" tIns="0" rIns="0" bIns="0" rtlCol="0" anchor="t"/>
          <a:lstStyle/>
          <a:p>
            <a:pPr indent="0" marL="0">
              <a:buNone/>
            </a:pPr>
            <a:r>
              <a:rPr lang="en-US" sz="1100" b="1" i="1" dirty="0">
                <a:solidFill>
                  <a:schemeClr val="accent4"/>
                </a:solidFill>
              </a:rPr>
              <a:t>Operación ligera</a:t>
            </a:r>
            <a:endParaRPr lang="en-US" sz="1100" dirty="0"/>
          </a:p>
        </p:txBody>
      </p:sp>
      <p:sp>
        <p:nvSpPr>
          <p:cNvPr id="42" name="Shape 34"/>
          <p:cNvSpPr/>
          <p:nvPr/>
        </p:nvSpPr>
        <p:spPr>
          <a:xfrm>
            <a:off x="6922008" y="3840480"/>
            <a:ext cx="786384" cy="1449324"/>
          </a:xfrm>
          <a:prstGeom prst="line">
            <a:avLst/>
          </a:prstGeom>
          <a:noFill/>
          <a:ln w="19050">
            <a:solidFill>
              <a:schemeClr val="accent5"/>
            </a:solidFill>
            <a:prstDash val="dash"/>
          </a:ln>
        </p:spPr>
      </p:sp>
      <p:sp>
        <p:nvSpPr>
          <p:cNvPr id="43" name="Shape 35"/>
          <p:cNvSpPr/>
          <p:nvPr/>
        </p:nvSpPr>
        <p:spPr>
          <a:xfrm>
            <a:off x="7708392" y="4626864"/>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4" name="Shape 36"/>
          <p:cNvSpPr/>
          <p:nvPr/>
        </p:nvSpPr>
        <p:spPr>
          <a:xfrm>
            <a:off x="7891272" y="4855464"/>
            <a:ext cx="594360" cy="594360"/>
          </a:xfrm>
          <a:prstGeom prst="ellipse">
            <a:avLst/>
          </a:prstGeom>
          <a:solidFill>
            <a:schemeClr val="accent1"/>
          </a:solidFill>
          <a:ln w="12700">
            <a:solidFill>
              <a:schemeClr val="accent1"/>
            </a:solidFill>
            <a:prstDash val="solid"/>
          </a:ln>
        </p:spPr>
      </p:sp>
      <p:pic>
        <p:nvPicPr>
          <p:cNvPr id="45" name="Image 6" descr="preencoded.png">    </p:cNvPr>
          <p:cNvPicPr>
            <a:picLocks noChangeAspect="1"/>
          </p:cNvPicPr>
          <p:nvPr/>
        </p:nvPicPr>
        <p:blipFill>
          <a:blip r:embed="rId7"/>
          <a:stretch>
            <a:fillRect/>
          </a:stretch>
        </p:blipFill>
        <p:spPr>
          <a:xfrm>
            <a:off x="8022031" y="4986223"/>
            <a:ext cx="332842" cy="332842"/>
          </a:xfrm>
          <a:prstGeom prst="rect">
            <a:avLst/>
          </a:prstGeom>
        </p:spPr>
      </p:pic>
      <p:sp>
        <p:nvSpPr>
          <p:cNvPr id="46" name="Text 37"/>
          <p:cNvSpPr txBox="1"/>
          <p:nvPr/>
        </p:nvSpPr>
        <p:spPr>
          <a:xfrm>
            <a:off x="8668512" y="4791456"/>
            <a:ext cx="2834640" cy="347472"/>
          </a:xfrm>
          <a:prstGeom prst="rect">
            <a:avLst/>
          </a:prstGeom>
          <a:noFill/>
          <a:ln/>
        </p:spPr>
        <p:txBody>
          <a:bodyPr wrap="square" lIns="0" tIns="0" rIns="0" bIns="0" rtlCol="0" anchor="t"/>
          <a:lstStyle/>
          <a:p>
            <a:pPr indent="0" marL="0">
              <a:buNone/>
            </a:pPr>
            <a:r>
              <a:rPr lang="en-US" sz="1600" b="1" dirty="0">
                <a:solidFill>
                  <a:schemeClr val="tx2"/>
                </a:solidFill>
              </a:rPr>
              <a:t>Prescriptores</a:t>
            </a:r>
            <a:endParaRPr lang="en-US" sz="1600" dirty="0"/>
          </a:p>
        </p:txBody>
      </p:sp>
      <p:sp>
        <p:nvSpPr>
          <p:cNvPr id="47" name="Text 38"/>
          <p:cNvSpPr txBox="1"/>
          <p:nvPr/>
        </p:nvSpPr>
        <p:spPr>
          <a:xfrm>
            <a:off x="8668512" y="5138928"/>
            <a:ext cx="2834640" cy="365760"/>
          </a:xfrm>
          <a:prstGeom prst="rect">
            <a:avLst/>
          </a:prstGeom>
          <a:noFill/>
          <a:ln/>
        </p:spPr>
        <p:txBody>
          <a:bodyPr wrap="square" lIns="0" tIns="0" rIns="0" bIns="0" rtlCol="0" anchor="t"/>
          <a:lstStyle/>
          <a:p>
            <a:pPr indent="0" marL="0">
              <a:buNone/>
            </a:pPr>
            <a:r>
              <a:rPr lang="en-US" sz="1300" dirty="0">
                <a:solidFill>
                  <a:schemeClr val="tx1"/>
                </a:solidFill>
              </a:rPr>
              <a:t>Nutricionista colegiada y 20 pediatras</a:t>
            </a:r>
            <a:endParaRPr lang="en-US" sz="1300" dirty="0"/>
          </a:p>
        </p:txBody>
      </p:sp>
      <p:sp>
        <p:nvSpPr>
          <p:cNvPr id="48" name="Text 39"/>
          <p:cNvSpPr txBox="1"/>
          <p:nvPr/>
        </p:nvSpPr>
        <p:spPr>
          <a:xfrm>
            <a:off x="8668512" y="5541264"/>
            <a:ext cx="2834640" cy="274320"/>
          </a:xfrm>
          <a:prstGeom prst="rect">
            <a:avLst/>
          </a:prstGeom>
          <a:noFill/>
          <a:ln/>
        </p:spPr>
        <p:txBody>
          <a:bodyPr wrap="square" lIns="0" tIns="0" rIns="0" bIns="0" rtlCol="0" anchor="t"/>
          <a:lstStyle/>
          <a:p>
            <a:pPr indent="0" marL="0">
              <a:buNone/>
            </a:pPr>
            <a:r>
              <a:rPr lang="en-US" sz="1100" b="1" i="1" dirty="0">
                <a:solidFill>
                  <a:schemeClr val="accent4"/>
                </a:solidFill>
              </a:rPr>
              <a:t>Confianza</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RECURSOS Y ACTIVIDADES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tenemos y lo que hacemos cada semana</a:t>
            </a:r>
            <a:endParaRPr lang="en-US" sz="3400" dirty="0"/>
          </a:p>
        </p:txBody>
      </p:sp>
      <p:sp>
        <p:nvSpPr>
          <p:cNvPr id="4" name="Text 2"/>
          <p:cNvSpPr txBox="1"/>
          <p:nvPr/>
        </p:nvSpPr>
        <p:spPr>
          <a:xfrm>
            <a:off x="548640" y="1508760"/>
            <a:ext cx="5394960" cy="365760"/>
          </a:xfrm>
          <a:prstGeom prst="rect">
            <a:avLst/>
          </a:prstGeom>
          <a:noFill/>
          <a:ln/>
        </p:spPr>
        <p:txBody>
          <a:bodyPr wrap="square" lIns="0" tIns="0" rIns="0" bIns="0" rtlCol="0" anchor="t"/>
          <a:lstStyle/>
          <a:p>
            <a:pPr indent="0" marL="0">
              <a:buNone/>
            </a:pPr>
            <a:r>
              <a:rPr lang="en-US" sz="2000" b="1" dirty="0">
                <a:solidFill>
                  <a:schemeClr val="tx2"/>
                </a:solidFill>
              </a:rPr>
              <a:t>Recursos clave</a:t>
            </a:r>
            <a:endParaRPr lang="en-US" sz="2000" dirty="0"/>
          </a:p>
        </p:txBody>
      </p:sp>
      <p:sp>
        <p:nvSpPr>
          <p:cNvPr id="5" name="Shape 3"/>
          <p:cNvSpPr/>
          <p:nvPr/>
        </p:nvSpPr>
        <p:spPr>
          <a:xfrm>
            <a:off x="548640" y="2011680"/>
            <a:ext cx="2651760" cy="1938528"/>
          </a:xfrm>
          <a:prstGeom prst="roundRect">
            <a:avLst>
              <a:gd name="adj" fmla="val 566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 name="Shape 4"/>
          <p:cNvSpPr/>
          <p:nvPr/>
        </p:nvSpPr>
        <p:spPr>
          <a:xfrm>
            <a:off x="777240" y="2240280"/>
            <a:ext cx="594360" cy="594360"/>
          </a:xfrm>
          <a:prstGeom prst="ellipse">
            <a:avLst/>
          </a:prstGeom>
          <a:solidFill>
            <a:schemeClr val="accent2"/>
          </a:solidFill>
          <a:ln w="12700">
            <a:solidFill>
              <a:schemeClr val="accent2"/>
            </a:solidFill>
            <a:prstDash val="solid"/>
          </a:ln>
        </p:spPr>
      </p:sp>
      <p:pic>
        <p:nvPicPr>
          <p:cNvPr id="7" name="Image 0" descr="preencoded.png">    </p:cNvPr>
          <p:cNvPicPr>
            <a:picLocks noChangeAspect="1"/>
          </p:cNvPicPr>
          <p:nvPr/>
        </p:nvPicPr>
        <p:blipFill>
          <a:blip r:embed="rId1"/>
          <a:stretch>
            <a:fillRect/>
          </a:stretch>
        </p:blipFill>
        <p:spPr>
          <a:xfrm>
            <a:off x="907999" y="2371039"/>
            <a:ext cx="332842" cy="332842"/>
          </a:xfrm>
          <a:prstGeom prst="rect">
            <a:avLst/>
          </a:prstGeom>
        </p:spPr>
      </p:pic>
      <p:sp>
        <p:nvSpPr>
          <p:cNvPr id="8" name="Text 5"/>
          <p:cNvSpPr txBox="1"/>
          <p:nvPr/>
        </p:nvSpPr>
        <p:spPr>
          <a:xfrm>
            <a:off x="1508760" y="2240280"/>
            <a:ext cx="1554480" cy="594360"/>
          </a:xfrm>
          <a:prstGeom prst="rect">
            <a:avLst/>
          </a:prstGeom>
          <a:noFill/>
          <a:ln/>
        </p:spPr>
        <p:txBody>
          <a:bodyPr wrap="square" lIns="0" tIns="0" rIns="0" bIns="0" rtlCol="0" anchor="ctr"/>
          <a:lstStyle/>
          <a:p>
            <a:pPr indent="0" marL="0">
              <a:buNone/>
            </a:pPr>
            <a:r>
              <a:rPr lang="en-US" sz="1700" b="1" dirty="0">
                <a:solidFill>
                  <a:schemeClr val="tx2"/>
                </a:solidFill>
              </a:rPr>
              <a:t>Físicos</a:t>
            </a:r>
            <a:endParaRPr lang="en-US" sz="1700" dirty="0"/>
          </a:p>
        </p:txBody>
      </p:sp>
      <p:sp>
        <p:nvSpPr>
          <p:cNvPr id="9" name="Text 6"/>
          <p:cNvSpPr txBox="1"/>
          <p:nvPr/>
        </p:nvSpPr>
        <p:spPr>
          <a:xfrm>
            <a:off x="777240" y="2971800"/>
            <a:ext cx="2240280" cy="868680"/>
          </a:xfrm>
          <a:prstGeom prst="rect">
            <a:avLst/>
          </a:prstGeom>
          <a:noFill/>
          <a:ln/>
        </p:spPr>
        <p:txBody>
          <a:bodyPr wrap="square" lIns="0" tIns="0" rIns="0" bIns="0" rtlCol="0" anchor="t"/>
          <a:lstStyle/>
          <a:p>
            <a:pPr indent="0" marL="0">
              <a:buNone/>
            </a:pPr>
            <a:r>
              <a:rPr lang="en-US" sz="1400" dirty="0">
                <a:solidFill>
                  <a:schemeClr val="tx1"/>
                </a:solidFill>
              </a:rPr>
              <a:t>Inventario, empaques y equipos (S/2,338)</a:t>
            </a:r>
            <a:endParaRPr lang="en-US" sz="1400" dirty="0"/>
          </a:p>
        </p:txBody>
      </p:sp>
      <p:sp>
        <p:nvSpPr>
          <p:cNvPr id="10" name="Shape 7"/>
          <p:cNvSpPr/>
          <p:nvPr/>
        </p:nvSpPr>
        <p:spPr>
          <a:xfrm>
            <a:off x="3383280" y="2011680"/>
            <a:ext cx="2651760" cy="1938528"/>
          </a:xfrm>
          <a:prstGeom prst="roundRect">
            <a:avLst>
              <a:gd name="adj" fmla="val 566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Shape 8"/>
          <p:cNvSpPr/>
          <p:nvPr/>
        </p:nvSpPr>
        <p:spPr>
          <a:xfrm>
            <a:off x="3611880" y="2240280"/>
            <a:ext cx="594360" cy="594360"/>
          </a:xfrm>
          <a:prstGeom prst="ellipse">
            <a:avLst/>
          </a:prstGeom>
          <a:solidFill>
            <a:schemeClr val="accent2"/>
          </a:solidFill>
          <a:ln w="12700">
            <a:solidFill>
              <a:schemeClr val="accent2"/>
            </a:solidFill>
            <a:prstDash val="solid"/>
          </a:ln>
        </p:spPr>
      </p:sp>
      <p:pic>
        <p:nvPicPr>
          <p:cNvPr id="12" name="Image 1" descr="preencoded.png">    </p:cNvPr>
          <p:cNvPicPr>
            <a:picLocks noChangeAspect="1"/>
          </p:cNvPicPr>
          <p:nvPr/>
        </p:nvPicPr>
        <p:blipFill>
          <a:blip r:embed="rId2"/>
          <a:stretch>
            <a:fillRect/>
          </a:stretch>
        </p:blipFill>
        <p:spPr>
          <a:xfrm>
            <a:off x="3742639" y="2371039"/>
            <a:ext cx="332842" cy="332842"/>
          </a:xfrm>
          <a:prstGeom prst="rect">
            <a:avLst/>
          </a:prstGeom>
        </p:spPr>
      </p:pic>
      <p:sp>
        <p:nvSpPr>
          <p:cNvPr id="13" name="Text 9"/>
          <p:cNvSpPr txBox="1"/>
          <p:nvPr/>
        </p:nvSpPr>
        <p:spPr>
          <a:xfrm>
            <a:off x="4343400" y="2240280"/>
            <a:ext cx="1554480" cy="594360"/>
          </a:xfrm>
          <a:prstGeom prst="rect">
            <a:avLst/>
          </a:prstGeom>
          <a:noFill/>
          <a:ln/>
        </p:spPr>
        <p:txBody>
          <a:bodyPr wrap="square" lIns="0" tIns="0" rIns="0" bIns="0" rtlCol="0" anchor="ctr"/>
          <a:lstStyle/>
          <a:p>
            <a:pPr indent="0" marL="0">
              <a:buNone/>
            </a:pPr>
            <a:r>
              <a:rPr lang="en-US" sz="1700" b="1" dirty="0">
                <a:solidFill>
                  <a:schemeClr val="tx2"/>
                </a:solidFill>
              </a:rPr>
              <a:t>Intelectuales</a:t>
            </a:r>
            <a:endParaRPr lang="en-US" sz="1700" dirty="0"/>
          </a:p>
        </p:txBody>
      </p:sp>
      <p:sp>
        <p:nvSpPr>
          <p:cNvPr id="14" name="Text 10"/>
          <p:cNvSpPr txBox="1"/>
          <p:nvPr/>
        </p:nvSpPr>
        <p:spPr>
          <a:xfrm>
            <a:off x="3611880" y="2971800"/>
            <a:ext cx="2240280" cy="868680"/>
          </a:xfrm>
          <a:prstGeom prst="rect">
            <a:avLst/>
          </a:prstGeom>
          <a:noFill/>
          <a:ln/>
        </p:spPr>
        <p:txBody>
          <a:bodyPr wrap="square" lIns="0" tIns="0" rIns="0" bIns="0" rtlCol="0" anchor="t"/>
          <a:lstStyle/>
          <a:p>
            <a:pPr indent="0" marL="0">
              <a:buNone/>
            </a:pPr>
            <a:r>
              <a:rPr lang="en-US" sz="1400" dirty="0">
                <a:solidFill>
                  <a:schemeClr val="tx1"/>
                </a:solidFill>
              </a:rPr>
              <a:t>Fórmula de 3 sabores, marca y registro sanitario</a:t>
            </a:r>
            <a:endParaRPr lang="en-US" sz="1400" dirty="0"/>
          </a:p>
        </p:txBody>
      </p:sp>
      <p:sp>
        <p:nvSpPr>
          <p:cNvPr id="15" name="Shape 11"/>
          <p:cNvSpPr/>
          <p:nvPr/>
        </p:nvSpPr>
        <p:spPr>
          <a:xfrm>
            <a:off x="548640" y="4151376"/>
            <a:ext cx="2651760" cy="1938528"/>
          </a:xfrm>
          <a:prstGeom prst="roundRect">
            <a:avLst>
              <a:gd name="adj" fmla="val 566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Shape 12"/>
          <p:cNvSpPr/>
          <p:nvPr/>
        </p:nvSpPr>
        <p:spPr>
          <a:xfrm>
            <a:off x="777240" y="4379976"/>
            <a:ext cx="594360" cy="594360"/>
          </a:xfrm>
          <a:prstGeom prst="ellipse">
            <a:avLst/>
          </a:prstGeom>
          <a:solidFill>
            <a:schemeClr val="accent2"/>
          </a:solidFill>
          <a:ln w="12700">
            <a:solidFill>
              <a:schemeClr val="accent2"/>
            </a:solidFill>
            <a:prstDash val="solid"/>
          </a:ln>
        </p:spPr>
      </p:sp>
      <p:pic>
        <p:nvPicPr>
          <p:cNvPr id="17" name="Image 2" descr="preencoded.png">    </p:cNvPr>
          <p:cNvPicPr>
            <a:picLocks noChangeAspect="1"/>
          </p:cNvPicPr>
          <p:nvPr/>
        </p:nvPicPr>
        <p:blipFill>
          <a:blip r:embed="rId3"/>
          <a:stretch>
            <a:fillRect/>
          </a:stretch>
        </p:blipFill>
        <p:spPr>
          <a:xfrm>
            <a:off x="907999" y="4510735"/>
            <a:ext cx="332842" cy="332842"/>
          </a:xfrm>
          <a:prstGeom prst="rect">
            <a:avLst/>
          </a:prstGeom>
        </p:spPr>
      </p:pic>
      <p:sp>
        <p:nvSpPr>
          <p:cNvPr id="18" name="Text 13"/>
          <p:cNvSpPr txBox="1"/>
          <p:nvPr/>
        </p:nvSpPr>
        <p:spPr>
          <a:xfrm>
            <a:off x="1508760" y="4379976"/>
            <a:ext cx="1554480" cy="594360"/>
          </a:xfrm>
          <a:prstGeom prst="rect">
            <a:avLst/>
          </a:prstGeom>
          <a:noFill/>
          <a:ln/>
        </p:spPr>
        <p:txBody>
          <a:bodyPr wrap="square" lIns="0" tIns="0" rIns="0" bIns="0" rtlCol="0" anchor="ctr"/>
          <a:lstStyle/>
          <a:p>
            <a:pPr indent="0" marL="0">
              <a:buNone/>
            </a:pPr>
            <a:r>
              <a:rPr lang="en-US" sz="1700" b="1" dirty="0">
                <a:solidFill>
                  <a:schemeClr val="tx2"/>
                </a:solidFill>
              </a:rPr>
              <a:t>Humanos</a:t>
            </a:r>
            <a:endParaRPr lang="en-US" sz="1700" dirty="0"/>
          </a:p>
        </p:txBody>
      </p:sp>
      <p:sp>
        <p:nvSpPr>
          <p:cNvPr id="19" name="Text 14"/>
          <p:cNvSpPr txBox="1"/>
          <p:nvPr/>
        </p:nvSpPr>
        <p:spPr>
          <a:xfrm>
            <a:off x="777240" y="5111496"/>
            <a:ext cx="2240280" cy="868680"/>
          </a:xfrm>
          <a:prstGeom prst="rect">
            <a:avLst/>
          </a:prstGeom>
          <a:noFill/>
          <a:ln/>
        </p:spPr>
        <p:txBody>
          <a:bodyPr wrap="square" lIns="0" tIns="0" rIns="0" bIns="0" rtlCol="0" anchor="t"/>
          <a:lstStyle/>
          <a:p>
            <a:pPr indent="0" marL="0">
              <a:buNone/>
            </a:pPr>
            <a:r>
              <a:rPr lang="en-US" sz="1400" dirty="0">
                <a:solidFill>
                  <a:schemeClr val="tx1"/>
                </a:solidFill>
              </a:rPr>
              <a:t>5 socios y un asistente a medio tiempo</a:t>
            </a:r>
            <a:endParaRPr lang="en-US" sz="1400" dirty="0"/>
          </a:p>
        </p:txBody>
      </p:sp>
      <p:sp>
        <p:nvSpPr>
          <p:cNvPr id="20" name="Shape 15"/>
          <p:cNvSpPr/>
          <p:nvPr/>
        </p:nvSpPr>
        <p:spPr>
          <a:xfrm>
            <a:off x="3383280" y="4151376"/>
            <a:ext cx="2651760" cy="1938528"/>
          </a:xfrm>
          <a:prstGeom prst="roundRect">
            <a:avLst>
              <a:gd name="adj" fmla="val 566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6"/>
          <p:cNvSpPr/>
          <p:nvPr/>
        </p:nvSpPr>
        <p:spPr>
          <a:xfrm>
            <a:off x="3611880" y="4379976"/>
            <a:ext cx="594360" cy="594360"/>
          </a:xfrm>
          <a:prstGeom prst="ellipse">
            <a:avLst/>
          </a:prstGeom>
          <a:solidFill>
            <a:schemeClr val="accent2"/>
          </a:solidFill>
          <a:ln w="12700">
            <a:solidFill>
              <a:schemeClr val="accent2"/>
            </a:solidFill>
            <a:prstDash val="solid"/>
          </a:ln>
        </p:spPr>
      </p:sp>
      <p:pic>
        <p:nvPicPr>
          <p:cNvPr id="22" name="Image 3" descr="preencoded.png">    </p:cNvPr>
          <p:cNvPicPr>
            <a:picLocks noChangeAspect="1"/>
          </p:cNvPicPr>
          <p:nvPr/>
        </p:nvPicPr>
        <p:blipFill>
          <a:blip r:embed="rId4"/>
          <a:stretch>
            <a:fillRect/>
          </a:stretch>
        </p:blipFill>
        <p:spPr>
          <a:xfrm>
            <a:off x="3742639" y="4510735"/>
            <a:ext cx="332842" cy="332842"/>
          </a:xfrm>
          <a:prstGeom prst="rect">
            <a:avLst/>
          </a:prstGeom>
        </p:spPr>
      </p:pic>
      <p:sp>
        <p:nvSpPr>
          <p:cNvPr id="23" name="Text 17"/>
          <p:cNvSpPr txBox="1"/>
          <p:nvPr/>
        </p:nvSpPr>
        <p:spPr>
          <a:xfrm>
            <a:off x="4343400" y="4379976"/>
            <a:ext cx="1554480" cy="594360"/>
          </a:xfrm>
          <a:prstGeom prst="rect">
            <a:avLst/>
          </a:prstGeom>
          <a:noFill/>
          <a:ln/>
        </p:spPr>
        <p:txBody>
          <a:bodyPr wrap="square" lIns="0" tIns="0" rIns="0" bIns="0" rtlCol="0" anchor="ctr"/>
          <a:lstStyle/>
          <a:p>
            <a:pPr indent="0" marL="0">
              <a:buNone/>
            </a:pPr>
            <a:r>
              <a:rPr lang="en-US" sz="1700" b="1" dirty="0">
                <a:solidFill>
                  <a:schemeClr val="tx2"/>
                </a:solidFill>
              </a:rPr>
              <a:t>Financieros</a:t>
            </a:r>
            <a:endParaRPr lang="en-US" sz="1700" dirty="0"/>
          </a:p>
        </p:txBody>
      </p:sp>
      <p:sp>
        <p:nvSpPr>
          <p:cNvPr id="24" name="Text 18"/>
          <p:cNvSpPr txBox="1"/>
          <p:nvPr/>
        </p:nvSpPr>
        <p:spPr>
          <a:xfrm>
            <a:off x="3611880" y="5111496"/>
            <a:ext cx="2240280" cy="868680"/>
          </a:xfrm>
          <a:prstGeom prst="rect">
            <a:avLst/>
          </a:prstGeom>
          <a:noFill/>
          <a:ln/>
        </p:spPr>
        <p:txBody>
          <a:bodyPr wrap="square" lIns="0" tIns="0" rIns="0" bIns="0" rtlCol="0" anchor="t"/>
          <a:lstStyle/>
          <a:p>
            <a:pPr indent="0" marL="0">
              <a:buNone/>
            </a:pPr>
            <a:r>
              <a:rPr lang="en-US" sz="1400" dirty="0">
                <a:solidFill>
                  <a:schemeClr val="tx1"/>
                </a:solidFill>
              </a:rPr>
              <a:t>S/34,484 de inversión: socios y préstamo</a:t>
            </a:r>
            <a:endParaRPr lang="en-US" sz="1400" dirty="0"/>
          </a:p>
        </p:txBody>
      </p:sp>
      <p:sp>
        <p:nvSpPr>
          <p:cNvPr id="25" name="Text 19"/>
          <p:cNvSpPr txBox="1"/>
          <p:nvPr/>
        </p:nvSpPr>
        <p:spPr>
          <a:xfrm>
            <a:off x="6245352" y="1508760"/>
            <a:ext cx="5394960" cy="365760"/>
          </a:xfrm>
          <a:prstGeom prst="rect">
            <a:avLst/>
          </a:prstGeom>
          <a:noFill/>
          <a:ln/>
        </p:spPr>
        <p:txBody>
          <a:bodyPr wrap="square" lIns="0" tIns="0" rIns="0" bIns="0" rtlCol="0" anchor="t"/>
          <a:lstStyle/>
          <a:p>
            <a:pPr indent="0" marL="0">
              <a:buNone/>
            </a:pPr>
            <a:r>
              <a:rPr lang="en-US" sz="2000" b="1" dirty="0">
                <a:solidFill>
                  <a:schemeClr val="tx2"/>
                </a:solidFill>
              </a:rPr>
              <a:t>Actividades clave</a:t>
            </a:r>
            <a:endParaRPr lang="en-US" sz="2000" dirty="0"/>
          </a:p>
        </p:txBody>
      </p:sp>
      <p:sp>
        <p:nvSpPr>
          <p:cNvPr id="26" name="Shape 20"/>
          <p:cNvSpPr/>
          <p:nvPr/>
        </p:nvSpPr>
        <p:spPr>
          <a:xfrm>
            <a:off x="6245352" y="2011680"/>
            <a:ext cx="5394960" cy="713232"/>
          </a:xfrm>
          <a:prstGeom prst="roundRect">
            <a:avLst>
              <a:gd name="adj" fmla="val 1282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1"/>
          <p:cNvSpPr/>
          <p:nvPr/>
        </p:nvSpPr>
        <p:spPr>
          <a:xfrm>
            <a:off x="6409944" y="2139696"/>
            <a:ext cx="457200" cy="457200"/>
          </a:xfrm>
          <a:prstGeom prst="ellipse">
            <a:avLst/>
          </a:prstGeom>
          <a:solidFill>
            <a:schemeClr val="accent1"/>
          </a:solidFill>
          <a:ln w="12700">
            <a:solidFill>
              <a:schemeClr val="accent1"/>
            </a:solidFill>
            <a:prstDash val="solid"/>
          </a:ln>
        </p:spPr>
      </p:sp>
      <p:sp>
        <p:nvSpPr>
          <p:cNvPr id="28" name="Text 22"/>
          <p:cNvSpPr txBox="1"/>
          <p:nvPr/>
        </p:nvSpPr>
        <p:spPr>
          <a:xfrm>
            <a:off x="6409944" y="213969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29" name="Text 23"/>
          <p:cNvSpPr txBox="1"/>
          <p:nvPr/>
        </p:nvSpPr>
        <p:spPr>
          <a:xfrm>
            <a:off x="7022592" y="2011680"/>
            <a:ext cx="4480560" cy="713232"/>
          </a:xfrm>
          <a:prstGeom prst="rect">
            <a:avLst/>
          </a:prstGeom>
          <a:noFill/>
          <a:ln/>
        </p:spPr>
        <p:txBody>
          <a:bodyPr wrap="square" lIns="0" tIns="0" rIns="0" bIns="0" rtlCol="0" anchor="ctr"/>
          <a:lstStyle/>
          <a:p>
            <a:pPr indent="0" marL="0">
              <a:buNone/>
            </a:pPr>
            <a:r>
              <a:rPr lang="en-US" sz="1500" b="1" dirty="0">
                <a:solidFill>
                  <a:schemeClr val="tx2"/>
                </a:solidFill>
              </a:rPr>
              <a:t>I+D y prueba con niños</a:t>
            </a:r>
            <a:endParaRPr lang="en-US" sz="1400" dirty="0"/>
          </a:p>
          <a:p>
            <a:pPr indent="0" marL="0">
              <a:buNone/>
            </a:pPr>
            <a:r>
              <a:rPr lang="en-US" sz="1200" dirty="0">
                <a:solidFill>
                  <a:schemeClr val="accent2"/>
                </a:solidFill>
              </a:rPr>
              <a:t>3 rondas de fórmula, 20 niños por sabor</a:t>
            </a:r>
            <a:endParaRPr lang="en-US" sz="1400" dirty="0"/>
          </a:p>
        </p:txBody>
      </p:sp>
      <p:sp>
        <p:nvSpPr>
          <p:cNvPr id="30" name="Shape 24"/>
          <p:cNvSpPr/>
          <p:nvPr/>
        </p:nvSpPr>
        <p:spPr>
          <a:xfrm>
            <a:off x="6245352" y="2834640"/>
            <a:ext cx="5394960" cy="713232"/>
          </a:xfrm>
          <a:prstGeom prst="roundRect">
            <a:avLst>
              <a:gd name="adj" fmla="val 1282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1" name="Shape 25"/>
          <p:cNvSpPr/>
          <p:nvPr/>
        </p:nvSpPr>
        <p:spPr>
          <a:xfrm>
            <a:off x="6409944" y="2962656"/>
            <a:ext cx="457200" cy="457200"/>
          </a:xfrm>
          <a:prstGeom prst="ellipse">
            <a:avLst/>
          </a:prstGeom>
          <a:solidFill>
            <a:schemeClr val="accent1"/>
          </a:solidFill>
          <a:ln w="12700">
            <a:solidFill>
              <a:schemeClr val="accent1"/>
            </a:solidFill>
            <a:prstDash val="solid"/>
          </a:ln>
        </p:spPr>
      </p:sp>
      <p:sp>
        <p:nvSpPr>
          <p:cNvPr id="32" name="Text 26"/>
          <p:cNvSpPr txBox="1"/>
          <p:nvPr/>
        </p:nvSpPr>
        <p:spPr>
          <a:xfrm>
            <a:off x="6409944" y="296265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33" name="Text 27"/>
          <p:cNvSpPr txBox="1"/>
          <p:nvPr/>
        </p:nvSpPr>
        <p:spPr>
          <a:xfrm>
            <a:off x="7022592" y="2834640"/>
            <a:ext cx="4480560" cy="713232"/>
          </a:xfrm>
          <a:prstGeom prst="rect">
            <a:avLst/>
          </a:prstGeom>
          <a:noFill/>
          <a:ln/>
        </p:spPr>
        <p:txBody>
          <a:bodyPr wrap="square" lIns="0" tIns="0" rIns="0" bIns="0" rtlCol="0" anchor="ctr"/>
          <a:lstStyle/>
          <a:p>
            <a:pPr indent="0" marL="0">
              <a:buNone/>
            </a:pPr>
            <a:r>
              <a:rPr lang="en-US" sz="1500" b="1" dirty="0">
                <a:solidFill>
                  <a:schemeClr val="tx2"/>
                </a:solidFill>
              </a:rPr>
              <a:t>Maquila y calidad por lote</a:t>
            </a:r>
            <a:endParaRPr lang="en-US" sz="1400" dirty="0"/>
          </a:p>
          <a:p>
            <a:pPr indent="0" marL="0">
              <a:buNone/>
            </a:pPr>
            <a:r>
              <a:rPr lang="en-US" sz="1200" dirty="0">
                <a:solidFill>
                  <a:schemeClr val="accent2"/>
                </a:solidFill>
              </a:rPr>
              <a:t>Lote piloto y análisis microbiológico de S/250</a:t>
            </a:r>
            <a:endParaRPr lang="en-US" sz="1400" dirty="0"/>
          </a:p>
        </p:txBody>
      </p:sp>
      <p:sp>
        <p:nvSpPr>
          <p:cNvPr id="34" name="Shape 28"/>
          <p:cNvSpPr/>
          <p:nvPr/>
        </p:nvSpPr>
        <p:spPr>
          <a:xfrm>
            <a:off x="6245352" y="3657600"/>
            <a:ext cx="5394960" cy="713232"/>
          </a:xfrm>
          <a:prstGeom prst="roundRect">
            <a:avLst>
              <a:gd name="adj" fmla="val 1282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5" name="Shape 29"/>
          <p:cNvSpPr/>
          <p:nvPr/>
        </p:nvSpPr>
        <p:spPr>
          <a:xfrm>
            <a:off x="6409944" y="3785616"/>
            <a:ext cx="457200" cy="457200"/>
          </a:xfrm>
          <a:prstGeom prst="ellipse">
            <a:avLst/>
          </a:prstGeom>
          <a:solidFill>
            <a:schemeClr val="accent1"/>
          </a:solidFill>
          <a:ln w="12700">
            <a:solidFill>
              <a:schemeClr val="accent1"/>
            </a:solidFill>
            <a:prstDash val="solid"/>
          </a:ln>
        </p:spPr>
      </p:sp>
      <p:sp>
        <p:nvSpPr>
          <p:cNvPr id="36" name="Text 30"/>
          <p:cNvSpPr txBox="1"/>
          <p:nvPr/>
        </p:nvSpPr>
        <p:spPr>
          <a:xfrm>
            <a:off x="6409944" y="378561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37" name="Text 31"/>
          <p:cNvSpPr txBox="1"/>
          <p:nvPr/>
        </p:nvSpPr>
        <p:spPr>
          <a:xfrm>
            <a:off x="7022592" y="3657600"/>
            <a:ext cx="4480560" cy="713232"/>
          </a:xfrm>
          <a:prstGeom prst="rect">
            <a:avLst/>
          </a:prstGeom>
          <a:noFill/>
          <a:ln/>
        </p:spPr>
        <p:txBody>
          <a:bodyPr wrap="square" lIns="0" tIns="0" rIns="0" bIns="0" rtlCol="0" anchor="ctr"/>
          <a:lstStyle/>
          <a:p>
            <a:pPr indent="0" marL="0">
              <a:buNone/>
            </a:pPr>
            <a:r>
              <a:rPr lang="en-US" sz="1500" b="1" dirty="0">
                <a:solidFill>
                  <a:schemeClr val="tx2"/>
                </a:solidFill>
              </a:rPr>
              <a:t>Registro sanitario y rotulado</a:t>
            </a:r>
            <a:endParaRPr lang="en-US" sz="1400" dirty="0"/>
          </a:p>
          <a:p>
            <a:pPr indent="0" marL="0">
              <a:buNone/>
            </a:pPr>
            <a:r>
              <a:rPr lang="en-US" sz="1200" dirty="0">
                <a:solidFill>
                  <a:schemeClr val="accent2"/>
                </a:solidFill>
              </a:rPr>
              <a:t>Laboratorio, vida útil y trámite en la VUCE</a:t>
            </a:r>
            <a:endParaRPr lang="en-US" sz="1400" dirty="0"/>
          </a:p>
        </p:txBody>
      </p:sp>
      <p:sp>
        <p:nvSpPr>
          <p:cNvPr id="38" name="Shape 32"/>
          <p:cNvSpPr/>
          <p:nvPr/>
        </p:nvSpPr>
        <p:spPr>
          <a:xfrm>
            <a:off x="6245352" y="4480560"/>
            <a:ext cx="5394960" cy="713232"/>
          </a:xfrm>
          <a:prstGeom prst="roundRect">
            <a:avLst>
              <a:gd name="adj" fmla="val 1282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9" name="Shape 33"/>
          <p:cNvSpPr/>
          <p:nvPr/>
        </p:nvSpPr>
        <p:spPr>
          <a:xfrm>
            <a:off x="6409944" y="4608576"/>
            <a:ext cx="457200" cy="457200"/>
          </a:xfrm>
          <a:prstGeom prst="ellipse">
            <a:avLst/>
          </a:prstGeom>
          <a:solidFill>
            <a:schemeClr val="accent1"/>
          </a:solidFill>
          <a:ln w="12700">
            <a:solidFill>
              <a:schemeClr val="accent1"/>
            </a:solidFill>
            <a:prstDash val="solid"/>
          </a:ln>
        </p:spPr>
      </p:sp>
      <p:sp>
        <p:nvSpPr>
          <p:cNvPr id="40" name="Text 34"/>
          <p:cNvSpPr txBox="1"/>
          <p:nvPr/>
        </p:nvSpPr>
        <p:spPr>
          <a:xfrm>
            <a:off x="6409944" y="46085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41" name="Text 35"/>
          <p:cNvSpPr txBox="1"/>
          <p:nvPr/>
        </p:nvSpPr>
        <p:spPr>
          <a:xfrm>
            <a:off x="7022592" y="4480560"/>
            <a:ext cx="4480560" cy="713232"/>
          </a:xfrm>
          <a:prstGeom prst="rect">
            <a:avLst/>
          </a:prstGeom>
          <a:noFill/>
          <a:ln/>
        </p:spPr>
        <p:txBody>
          <a:bodyPr wrap="square" lIns="0" tIns="0" rIns="0" bIns="0" rtlCol="0" anchor="ctr"/>
          <a:lstStyle/>
          <a:p>
            <a:pPr indent="0" marL="0">
              <a:buNone/>
            </a:pPr>
            <a:r>
              <a:rPr lang="en-US" sz="1500" b="1" dirty="0">
                <a:solidFill>
                  <a:schemeClr val="tx2"/>
                </a:solidFill>
              </a:rPr>
              <a:t>Venta y última milla</a:t>
            </a:r>
            <a:endParaRPr lang="en-US" sz="1400" dirty="0"/>
          </a:p>
          <a:p>
            <a:pPr indent="0" marL="0">
              <a:buNone/>
            </a:pPr>
            <a:r>
              <a:rPr lang="en-US" sz="1200" dirty="0">
                <a:solidFill>
                  <a:schemeClr val="accent2"/>
                </a:solidFill>
              </a:rPr>
              <a:t>WhatsApp, rutas por zona y cobro digital</a:t>
            </a:r>
            <a:endParaRPr lang="en-US" sz="1400" dirty="0"/>
          </a:p>
        </p:txBody>
      </p:sp>
      <p:sp>
        <p:nvSpPr>
          <p:cNvPr id="42" name="Shape 36"/>
          <p:cNvSpPr/>
          <p:nvPr/>
        </p:nvSpPr>
        <p:spPr>
          <a:xfrm>
            <a:off x="6245352" y="5303520"/>
            <a:ext cx="5394960" cy="713232"/>
          </a:xfrm>
          <a:prstGeom prst="roundRect">
            <a:avLst>
              <a:gd name="adj" fmla="val 1282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3" name="Shape 37"/>
          <p:cNvSpPr/>
          <p:nvPr/>
        </p:nvSpPr>
        <p:spPr>
          <a:xfrm>
            <a:off x="6409944" y="5431536"/>
            <a:ext cx="457200" cy="457200"/>
          </a:xfrm>
          <a:prstGeom prst="ellipse">
            <a:avLst/>
          </a:prstGeom>
          <a:solidFill>
            <a:schemeClr val="accent1"/>
          </a:solidFill>
          <a:ln w="12700">
            <a:solidFill>
              <a:schemeClr val="accent1"/>
            </a:solidFill>
            <a:prstDash val="solid"/>
          </a:ln>
        </p:spPr>
      </p:sp>
      <p:sp>
        <p:nvSpPr>
          <p:cNvPr id="44" name="Text 38"/>
          <p:cNvSpPr txBox="1"/>
          <p:nvPr/>
        </p:nvSpPr>
        <p:spPr>
          <a:xfrm>
            <a:off x="6409944" y="54315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45" name="Text 39"/>
          <p:cNvSpPr txBox="1"/>
          <p:nvPr/>
        </p:nvSpPr>
        <p:spPr>
          <a:xfrm>
            <a:off x="7022592" y="5303520"/>
            <a:ext cx="4480560" cy="713232"/>
          </a:xfrm>
          <a:prstGeom prst="rect">
            <a:avLst/>
          </a:prstGeom>
          <a:noFill/>
          <a:ln/>
        </p:spPr>
        <p:txBody>
          <a:bodyPr wrap="square" lIns="0" tIns="0" rIns="0" bIns="0" rtlCol="0" anchor="ctr"/>
          <a:lstStyle/>
          <a:p>
            <a:pPr indent="0" marL="0">
              <a:buNone/>
            </a:pPr>
            <a:r>
              <a:rPr lang="en-US" sz="1500" b="1" dirty="0">
                <a:solidFill>
                  <a:schemeClr val="tx2"/>
                </a:solidFill>
              </a:rPr>
              <a:t>Contenido y comunidad</a:t>
            </a:r>
            <a:endParaRPr lang="en-US" sz="1400" dirty="0"/>
          </a:p>
          <a:p>
            <a:pPr indent="0" marL="0">
              <a:buNone/>
            </a:pPr>
            <a:r>
              <a:rPr lang="en-US" sz="1200" dirty="0">
                <a:solidFill>
                  <a:schemeClr val="accent2"/>
                </a:solidFill>
              </a:rPr>
              <a:t>"La revelación" y "Abre el laboratorio"</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ESTRUCTURA DE COSTOS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Un pack de 6 cuesta S/9.90 y se vende a S/21.10 sin IGV</a:t>
            </a:r>
            <a:endParaRPr lang="en-US" sz="3400" dirty="0"/>
          </a:p>
        </p:txBody>
      </p:sp>
      <p:graphicFrame>
        <p:nvGraphicFramePr>
          <p:cNvPr id="4" name="Chart 0" descr=""/>
          <p:cNvGraphicFramePr/>
          <p:nvPr/>
        </p:nvGraphicFramePr>
        <p:xfrm>
          <a:off x="365760" y="1463040"/>
          <a:ext cx="576072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09360" y="1463040"/>
          <a:ext cx="3017520" cy="466344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9509760" y="1554480"/>
            <a:ext cx="213055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9692640" y="1645920"/>
            <a:ext cx="1810512" cy="1188720"/>
          </a:xfrm>
          <a:prstGeom prst="rect">
            <a:avLst/>
          </a:prstGeom>
          <a:noFill/>
          <a:ln/>
        </p:spPr>
        <p:txBody>
          <a:bodyPr wrap="square" lIns="0" tIns="0" rIns="0" bIns="0" rtlCol="0" anchor="ctr"/>
          <a:lstStyle/>
          <a:p>
            <a:pPr indent="0" marL="0">
              <a:buNone/>
            </a:pPr>
            <a:r>
              <a:rPr lang="en-US" sz="2800" b="1" dirty="0">
                <a:solidFill>
                  <a:schemeClr val="accent1"/>
                </a:solidFill>
              </a:rPr>
              <a:t>53 %</a:t>
            </a:r>
            <a:endParaRPr lang="en-US" sz="1400" dirty="0"/>
          </a:p>
          <a:p>
            <a:pPr indent="0" marL="0">
              <a:buNone/>
            </a:pPr>
            <a:r>
              <a:rPr lang="en-US" sz="1200" dirty="0">
                <a:solidFill>
                  <a:schemeClr val="tx1"/>
                </a:solidFill>
              </a:rPr>
              <a:t>margen bruto del pack en venta directa</a:t>
            </a:r>
            <a:endParaRPr lang="en-US" sz="1400" dirty="0"/>
          </a:p>
        </p:txBody>
      </p:sp>
      <p:sp>
        <p:nvSpPr>
          <p:cNvPr id="8" name="Shape 4"/>
          <p:cNvSpPr/>
          <p:nvPr/>
        </p:nvSpPr>
        <p:spPr>
          <a:xfrm>
            <a:off x="9509760" y="3108960"/>
            <a:ext cx="213055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5"/>
          <p:cNvSpPr txBox="1"/>
          <p:nvPr/>
        </p:nvSpPr>
        <p:spPr>
          <a:xfrm>
            <a:off x="9692640" y="3200400"/>
            <a:ext cx="1810512" cy="1188720"/>
          </a:xfrm>
          <a:prstGeom prst="rect">
            <a:avLst/>
          </a:prstGeom>
          <a:noFill/>
          <a:ln/>
        </p:spPr>
        <p:txBody>
          <a:bodyPr wrap="square" lIns="0" tIns="0" rIns="0" bIns="0" rtlCol="0" anchor="ctr"/>
          <a:lstStyle/>
          <a:p>
            <a:pPr indent="0" marL="0">
              <a:buNone/>
            </a:pPr>
            <a:r>
              <a:rPr lang="en-US" sz="2800" b="1" dirty="0">
                <a:solidFill>
                  <a:schemeClr val="accent1"/>
                </a:solidFill>
              </a:rPr>
              <a:t>S/1.65</a:t>
            </a:r>
            <a:endParaRPr lang="en-US" sz="1400" dirty="0"/>
          </a:p>
          <a:p>
            <a:pPr indent="0" marL="0">
              <a:buNone/>
            </a:pPr>
            <a:r>
              <a:rPr lang="en-US" sz="1200" dirty="0">
                <a:solidFill>
                  <a:schemeClr val="tx1"/>
                </a:solidFill>
              </a:rPr>
              <a:t>cuesta producir cada brownie</a:t>
            </a:r>
            <a:endParaRPr lang="en-US" sz="1400" dirty="0"/>
          </a:p>
        </p:txBody>
      </p:sp>
      <p:sp>
        <p:nvSpPr>
          <p:cNvPr id="10" name="Shape 6"/>
          <p:cNvSpPr/>
          <p:nvPr/>
        </p:nvSpPr>
        <p:spPr>
          <a:xfrm>
            <a:off x="9509760" y="4663440"/>
            <a:ext cx="213055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7"/>
          <p:cNvSpPr txBox="1"/>
          <p:nvPr/>
        </p:nvSpPr>
        <p:spPr>
          <a:xfrm>
            <a:off x="9692640" y="4754880"/>
            <a:ext cx="1810512" cy="1188720"/>
          </a:xfrm>
          <a:prstGeom prst="rect">
            <a:avLst/>
          </a:prstGeom>
          <a:noFill/>
          <a:ln/>
        </p:spPr>
        <p:txBody>
          <a:bodyPr wrap="square" lIns="0" tIns="0" rIns="0" bIns="0" rtlCol="0" anchor="ctr"/>
          <a:lstStyle/>
          <a:p>
            <a:pPr indent="0" marL="0">
              <a:buNone/>
            </a:pPr>
            <a:r>
              <a:rPr lang="en-US" sz="2800" b="1" dirty="0">
                <a:solidFill>
                  <a:schemeClr val="accent1"/>
                </a:solidFill>
              </a:rPr>
              <a:t>0</a:t>
            </a:r>
            <a:endParaRPr lang="en-US" sz="1400" dirty="0"/>
          </a:p>
          <a:p>
            <a:pPr indent="0" marL="0">
              <a:buNone/>
            </a:pPr>
            <a:r>
              <a:rPr lang="en-US" sz="1200" dirty="0">
                <a:solidFill>
                  <a:schemeClr val="tx1"/>
                </a:solidFill>
              </a:rPr>
              <a:t>plantas propias: pagamos por unidad hecha</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PUNTO DE EQUILIBRIO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Con 3,308 brownies al mes cubrimos todos los costos</a:t>
            </a:r>
            <a:endParaRPr lang="en-US" sz="3400" dirty="0"/>
          </a:p>
        </p:txBody>
      </p:sp>
      <p:graphicFrame>
        <p:nvGraphicFramePr>
          <p:cNvPr id="4" name="Chart 0" descr=""/>
          <p:cNvGraphicFramePr/>
          <p:nvPr/>
        </p:nvGraphicFramePr>
        <p:xfrm>
          <a:off x="365760" y="1463040"/>
          <a:ext cx="420624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754880" y="1463040"/>
          <a:ext cx="7040880" cy="4663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RESULTADO DEL AÑO 1</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Ganancia desde el segundo mes de ventas</a:t>
            </a:r>
            <a:endParaRPr lang="en-US" sz="3400" dirty="0"/>
          </a:p>
        </p:txBody>
      </p:sp>
      <p:graphicFrame>
        <p:nvGraphicFramePr>
          <p:cNvPr id="4" name="Chart 0" descr=""/>
          <p:cNvGraphicFramePr/>
          <p:nvPr/>
        </p:nvGraphicFramePr>
        <p:xfrm>
          <a:off x="365760" y="1463040"/>
          <a:ext cx="7772400" cy="4526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6016752"/>
            <a:ext cx="7589520" cy="274320"/>
          </a:xfrm>
          <a:prstGeom prst="rect">
            <a:avLst/>
          </a:prstGeom>
          <a:noFill/>
          <a:ln/>
        </p:spPr>
        <p:txBody>
          <a:bodyPr wrap="square" lIns="0" tIns="0" rIns="0" bIns="0" rtlCol="0" anchor="t"/>
          <a:lstStyle/>
          <a:p>
            <a:pPr indent="0" marL="0">
              <a:buNone/>
            </a:pPr>
            <a:r>
              <a:rPr lang="en-US" sz="1100" i="1" dirty="0">
                <a:solidFill>
                  <a:schemeClr val="accent2"/>
                </a:solidFill>
              </a:rPr>
              <a:t>Antes de sueldos de los socios, intereses del préstamo e impuesto a la renta anual.</a:t>
            </a:r>
            <a:endParaRPr lang="en-US" sz="1100" dirty="0"/>
          </a:p>
        </p:txBody>
      </p:sp>
      <p:sp>
        <p:nvSpPr>
          <p:cNvPr id="6" name="Shape 3"/>
          <p:cNvSpPr/>
          <p:nvPr/>
        </p:nvSpPr>
        <p:spPr>
          <a:xfrm>
            <a:off x="8321040" y="1554480"/>
            <a:ext cx="3319272"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4"/>
          <p:cNvSpPr txBox="1"/>
          <p:nvPr/>
        </p:nvSpPr>
        <p:spPr>
          <a:xfrm>
            <a:off x="8549640" y="1554480"/>
            <a:ext cx="2953512" cy="1005840"/>
          </a:xfrm>
          <a:prstGeom prst="rect">
            <a:avLst/>
          </a:prstGeom>
          <a:noFill/>
          <a:ln/>
        </p:spPr>
        <p:txBody>
          <a:bodyPr wrap="square" lIns="0" tIns="0" rIns="0" bIns="0" rtlCol="0" anchor="ctr"/>
          <a:lstStyle/>
          <a:p>
            <a:pPr indent="0" marL="0">
              <a:buNone/>
            </a:pPr>
            <a:r>
              <a:rPr lang="en-US" sz="2400" b="1" dirty="0">
                <a:solidFill>
                  <a:schemeClr val="accent1"/>
                </a:solidFill>
              </a:rPr>
              <a:t>S/302,900</a:t>
            </a:r>
            <a:endParaRPr lang="en-US" sz="1400" dirty="0"/>
          </a:p>
          <a:p>
            <a:pPr indent="0" marL="0">
              <a:buNone/>
            </a:pPr>
            <a:r>
              <a:rPr lang="en-US" sz="1300" dirty="0">
                <a:solidFill>
                  <a:schemeClr val="accent2"/>
                </a:solidFill>
              </a:rPr>
              <a:t>ventas con IGV</a:t>
            </a:r>
            <a:endParaRPr lang="en-US" sz="1400" dirty="0"/>
          </a:p>
        </p:txBody>
      </p:sp>
      <p:sp>
        <p:nvSpPr>
          <p:cNvPr id="8" name="Shape 5"/>
          <p:cNvSpPr/>
          <p:nvPr/>
        </p:nvSpPr>
        <p:spPr>
          <a:xfrm>
            <a:off x="8321040" y="2715768"/>
            <a:ext cx="3319272" cy="1005840"/>
          </a:xfrm>
          <a:prstGeom prst="roundRect">
            <a:avLst>
              <a:gd name="adj" fmla="val 1090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8549640" y="2715768"/>
            <a:ext cx="2953512" cy="1005840"/>
          </a:xfrm>
          <a:prstGeom prst="rect">
            <a:avLst/>
          </a:prstGeom>
          <a:noFill/>
          <a:ln/>
        </p:spPr>
        <p:txBody>
          <a:bodyPr wrap="square" lIns="0" tIns="0" rIns="0" bIns="0" rtlCol="0" anchor="ctr"/>
          <a:lstStyle/>
          <a:p>
            <a:pPr indent="0" marL="0">
              <a:buNone/>
            </a:pPr>
            <a:r>
              <a:rPr lang="en-US" sz="2400" b="1" dirty="0">
                <a:solidFill>
                  <a:schemeClr val="bg1"/>
                </a:solidFill>
              </a:rPr>
              <a:t>S/31,638</a:t>
            </a:r>
            <a:endParaRPr lang="en-US" sz="1400" dirty="0"/>
          </a:p>
          <a:p>
            <a:pPr indent="0" marL="0">
              <a:buNone/>
            </a:pPr>
            <a:r>
              <a:rPr lang="en-US" sz="1300" dirty="0">
                <a:solidFill>
                  <a:schemeClr val="bg1"/>
                </a:solidFill>
              </a:rPr>
              <a:t>resultado operativo (12.3 %)</a:t>
            </a:r>
            <a:endParaRPr lang="en-US" sz="1400" dirty="0"/>
          </a:p>
        </p:txBody>
      </p:sp>
      <p:sp>
        <p:nvSpPr>
          <p:cNvPr id="10" name="Shape 7"/>
          <p:cNvSpPr/>
          <p:nvPr/>
        </p:nvSpPr>
        <p:spPr>
          <a:xfrm>
            <a:off x="8321040" y="3877056"/>
            <a:ext cx="3319272"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8"/>
          <p:cNvSpPr txBox="1"/>
          <p:nvPr/>
        </p:nvSpPr>
        <p:spPr>
          <a:xfrm>
            <a:off x="8549640" y="3877056"/>
            <a:ext cx="2953512" cy="1005840"/>
          </a:xfrm>
          <a:prstGeom prst="rect">
            <a:avLst/>
          </a:prstGeom>
          <a:noFill/>
          <a:ln/>
        </p:spPr>
        <p:txBody>
          <a:bodyPr wrap="square" lIns="0" tIns="0" rIns="0" bIns="0" rtlCol="0" anchor="ctr"/>
          <a:lstStyle/>
          <a:p>
            <a:pPr indent="0" marL="0">
              <a:buNone/>
            </a:pPr>
            <a:r>
              <a:rPr lang="en-US" sz="2400" b="1" dirty="0">
                <a:solidFill>
                  <a:schemeClr val="accent1"/>
                </a:solidFill>
              </a:rPr>
              <a:t>551 packs</a:t>
            </a:r>
            <a:endParaRPr lang="en-US" sz="1400" dirty="0"/>
          </a:p>
          <a:p>
            <a:pPr indent="0" marL="0">
              <a:buNone/>
            </a:pPr>
            <a:r>
              <a:rPr lang="en-US" sz="1300" dirty="0">
                <a:solidFill>
                  <a:schemeClr val="accent2"/>
                </a:solidFill>
              </a:rPr>
              <a:t>de 6 al mes para no perder</a:t>
            </a:r>
            <a:endParaRPr lang="en-US" sz="1400" dirty="0"/>
          </a:p>
        </p:txBody>
      </p:sp>
      <p:sp>
        <p:nvSpPr>
          <p:cNvPr id="12" name="Shape 9"/>
          <p:cNvSpPr/>
          <p:nvPr/>
        </p:nvSpPr>
        <p:spPr>
          <a:xfrm>
            <a:off x="8321040" y="5038344"/>
            <a:ext cx="3319272"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0"/>
          <p:cNvSpPr txBox="1"/>
          <p:nvPr/>
        </p:nvSpPr>
        <p:spPr>
          <a:xfrm>
            <a:off x="8549640" y="5038344"/>
            <a:ext cx="2953512" cy="1005840"/>
          </a:xfrm>
          <a:prstGeom prst="rect">
            <a:avLst/>
          </a:prstGeom>
          <a:noFill/>
          <a:ln/>
        </p:spPr>
        <p:txBody>
          <a:bodyPr wrap="square" lIns="0" tIns="0" rIns="0" bIns="0" rtlCol="0" anchor="ctr"/>
          <a:lstStyle/>
          <a:p>
            <a:pPr indent="0" marL="0">
              <a:buNone/>
            </a:pPr>
            <a:r>
              <a:rPr lang="en-US" sz="2400" b="1" dirty="0">
                <a:solidFill>
                  <a:schemeClr val="accent1"/>
                </a:solidFill>
              </a:rPr>
              <a:t>S/34,484</a:t>
            </a:r>
            <a:endParaRPr lang="en-US" sz="1400" dirty="0"/>
          </a:p>
          <a:p>
            <a:pPr indent="0" marL="0">
              <a:buNone/>
            </a:pPr>
            <a:r>
              <a:rPr lang="en-US" sz="1300" dirty="0">
                <a:solidFill>
                  <a:schemeClr val="accent2"/>
                </a:solidFill>
              </a:rPr>
              <a:t>de inversión inicial</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MODELO CANVAS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modelo de negocio de AndiBite en una página</a:t>
            </a:r>
            <a:endParaRPr lang="en-US" sz="3400" dirty="0"/>
          </a:p>
        </p:txBody>
      </p:sp>
      <p:sp>
        <p:nvSpPr>
          <p:cNvPr id="4" name="Shape 2"/>
          <p:cNvSpPr/>
          <p:nvPr/>
        </p:nvSpPr>
        <p:spPr>
          <a:xfrm>
            <a:off x="548640" y="1417320"/>
            <a:ext cx="2159813" cy="3474720"/>
          </a:xfrm>
          <a:prstGeom prst="roundRect">
            <a:avLst>
              <a:gd name="adj" fmla="val 338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5" name="Image 0" descr="preencoded.png">    </p:cNvPr>
          <p:cNvPicPr>
            <a:picLocks noChangeAspect="1"/>
          </p:cNvPicPr>
          <p:nvPr/>
        </p:nvPicPr>
        <p:blipFill>
          <a:blip r:embed="rId1"/>
          <a:stretch>
            <a:fillRect/>
          </a:stretch>
        </p:blipFill>
        <p:spPr>
          <a:xfrm>
            <a:off x="658368" y="1527048"/>
            <a:ext cx="256032" cy="256032"/>
          </a:xfrm>
          <a:prstGeom prst="rect">
            <a:avLst/>
          </a:prstGeom>
        </p:spPr>
      </p:pic>
      <p:sp>
        <p:nvSpPr>
          <p:cNvPr id="6" name="Text 3"/>
          <p:cNvSpPr txBox="1"/>
          <p:nvPr/>
        </p:nvSpPr>
        <p:spPr>
          <a:xfrm>
            <a:off x="987552"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SOCIOS CLAVE</a:t>
            </a:r>
            <a:endParaRPr lang="en-US" sz="1100" dirty="0"/>
          </a:p>
        </p:txBody>
      </p:sp>
      <p:sp>
        <p:nvSpPr>
          <p:cNvPr id="7" name="Text 4"/>
          <p:cNvSpPr txBox="1"/>
          <p:nvPr/>
        </p:nvSpPr>
        <p:spPr>
          <a:xfrm>
            <a:off x="658368" y="1874520"/>
            <a:ext cx="1958645" cy="2944368"/>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Planta maquiladora con HACCP</a:t>
            </a:r>
            <a:endParaRPr lang="en-US" sz="1300" dirty="0"/>
          </a:p>
          <a:p>
            <a:pPr marL="127000" indent="-127000">
              <a:spcAft>
                <a:spcPts val="400"/>
              </a:spcAft>
              <a:buSzPct val="100000"/>
              <a:buChar char="•"/>
            </a:pPr>
            <a:r>
              <a:rPr lang="en-US" sz="1300" dirty="0">
                <a:solidFill>
                  <a:schemeClr val="tx1"/>
                </a:solidFill>
              </a:rPr>
              <a:t>Laboratorio INACAL</a:t>
            </a:r>
            <a:endParaRPr lang="en-US" sz="1300" dirty="0"/>
          </a:p>
          <a:p>
            <a:pPr marL="127000" indent="-127000">
              <a:spcAft>
                <a:spcPts val="400"/>
              </a:spcAft>
              <a:buSzPct val="100000"/>
              <a:buChar char="•"/>
            </a:pPr>
            <a:r>
              <a:rPr lang="en-US" sz="1300" dirty="0">
                <a:solidFill>
                  <a:schemeClr val="tx1"/>
                </a:solidFill>
              </a:rPr>
              <a:t>Sangrecita con SENASA</a:t>
            </a:r>
            <a:endParaRPr lang="en-US" sz="1300" dirty="0"/>
          </a:p>
          <a:p>
            <a:pPr marL="127000" indent="-127000">
              <a:spcAft>
                <a:spcPts val="400"/>
              </a:spcAft>
              <a:buSzPct val="100000"/>
              <a:buChar char="•"/>
            </a:pPr>
            <a:r>
              <a:rPr lang="en-US" sz="1300" dirty="0">
                <a:solidFill>
                  <a:schemeClr val="tx1"/>
                </a:solidFill>
              </a:rPr>
              <a:t>Concesionarios y naturistas</a:t>
            </a:r>
            <a:endParaRPr lang="en-US" sz="1300" dirty="0"/>
          </a:p>
          <a:p>
            <a:pPr marL="127000" indent="-127000">
              <a:spcAft>
                <a:spcPts val="400"/>
              </a:spcAft>
              <a:buSzPct val="100000"/>
              <a:buChar char="•"/>
            </a:pPr>
            <a:r>
              <a:rPr lang="en-US" sz="1300" dirty="0">
                <a:solidFill>
                  <a:schemeClr val="tx1"/>
                </a:solidFill>
              </a:rPr>
              <a:t>Nutricionista y pediatras</a:t>
            </a:r>
            <a:endParaRPr lang="en-US" sz="1300" dirty="0"/>
          </a:p>
        </p:txBody>
      </p:sp>
      <p:sp>
        <p:nvSpPr>
          <p:cNvPr id="8" name="Shape 5"/>
          <p:cNvSpPr/>
          <p:nvPr/>
        </p:nvSpPr>
        <p:spPr>
          <a:xfrm>
            <a:off x="2781605" y="1417320"/>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9" name="Image 1" descr="preencoded.png">    </p:cNvPr>
          <p:cNvPicPr>
            <a:picLocks noChangeAspect="1"/>
          </p:cNvPicPr>
          <p:nvPr/>
        </p:nvPicPr>
        <p:blipFill>
          <a:blip r:embed="rId2"/>
          <a:stretch>
            <a:fillRect/>
          </a:stretch>
        </p:blipFill>
        <p:spPr>
          <a:xfrm>
            <a:off x="2891333" y="1527048"/>
            <a:ext cx="256032" cy="256032"/>
          </a:xfrm>
          <a:prstGeom prst="rect">
            <a:avLst/>
          </a:prstGeom>
        </p:spPr>
      </p:pic>
      <p:sp>
        <p:nvSpPr>
          <p:cNvPr id="10" name="Text 6"/>
          <p:cNvSpPr txBox="1"/>
          <p:nvPr/>
        </p:nvSpPr>
        <p:spPr>
          <a:xfrm>
            <a:off x="3220517"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ACTIVIDADES CLAVE</a:t>
            </a:r>
            <a:endParaRPr lang="en-US" sz="1100" dirty="0"/>
          </a:p>
        </p:txBody>
      </p:sp>
      <p:sp>
        <p:nvSpPr>
          <p:cNvPr id="11" name="Text 7"/>
          <p:cNvSpPr txBox="1"/>
          <p:nvPr/>
        </p:nvSpPr>
        <p:spPr>
          <a:xfrm>
            <a:off x="2891333" y="1874520"/>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I+D y prueba con niños</a:t>
            </a:r>
            <a:endParaRPr lang="en-US" sz="1300" dirty="0"/>
          </a:p>
          <a:p>
            <a:pPr marL="127000" indent="-127000">
              <a:spcAft>
                <a:spcPts val="400"/>
              </a:spcAft>
              <a:buSzPct val="100000"/>
              <a:buChar char="•"/>
            </a:pPr>
            <a:r>
              <a:rPr lang="en-US" sz="1300" dirty="0">
                <a:solidFill>
                  <a:schemeClr val="tx1"/>
                </a:solidFill>
              </a:rPr>
              <a:t>Maquila y calidad por lote</a:t>
            </a:r>
            <a:endParaRPr lang="en-US" sz="1300" dirty="0"/>
          </a:p>
          <a:p>
            <a:pPr marL="127000" indent="-127000">
              <a:spcAft>
                <a:spcPts val="400"/>
              </a:spcAft>
              <a:buSzPct val="100000"/>
              <a:buChar char="•"/>
            </a:pPr>
            <a:r>
              <a:rPr lang="en-US" sz="1300" dirty="0">
                <a:solidFill>
                  <a:schemeClr val="tx1"/>
                </a:solidFill>
              </a:rPr>
              <a:t>Registro sanitario</a:t>
            </a:r>
            <a:endParaRPr lang="en-US" sz="1300" dirty="0"/>
          </a:p>
          <a:p>
            <a:pPr marL="127000" indent="-127000">
              <a:spcAft>
                <a:spcPts val="400"/>
              </a:spcAft>
              <a:buSzPct val="100000"/>
              <a:buChar char="•"/>
            </a:pPr>
            <a:r>
              <a:rPr lang="en-US" sz="1300" dirty="0">
                <a:solidFill>
                  <a:schemeClr val="tx1"/>
                </a:solidFill>
              </a:rPr>
              <a:t>Venta y rutas</a:t>
            </a:r>
            <a:endParaRPr lang="en-US" sz="1300" dirty="0"/>
          </a:p>
        </p:txBody>
      </p:sp>
      <p:sp>
        <p:nvSpPr>
          <p:cNvPr id="12" name="Shape 8"/>
          <p:cNvSpPr/>
          <p:nvPr/>
        </p:nvSpPr>
        <p:spPr>
          <a:xfrm>
            <a:off x="2781605" y="3191256"/>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13" name="Image 2" descr="preencoded.png">    </p:cNvPr>
          <p:cNvPicPr>
            <a:picLocks noChangeAspect="1"/>
          </p:cNvPicPr>
          <p:nvPr/>
        </p:nvPicPr>
        <p:blipFill>
          <a:blip r:embed="rId3"/>
          <a:stretch>
            <a:fillRect/>
          </a:stretch>
        </p:blipFill>
        <p:spPr>
          <a:xfrm>
            <a:off x="2891333" y="3300984"/>
            <a:ext cx="256032" cy="256032"/>
          </a:xfrm>
          <a:prstGeom prst="rect">
            <a:avLst/>
          </a:prstGeom>
        </p:spPr>
      </p:pic>
      <p:sp>
        <p:nvSpPr>
          <p:cNvPr id="14" name="Text 9"/>
          <p:cNvSpPr txBox="1"/>
          <p:nvPr/>
        </p:nvSpPr>
        <p:spPr>
          <a:xfrm>
            <a:off x="3220517" y="3282696"/>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RECURSOS CLAVE</a:t>
            </a:r>
            <a:endParaRPr lang="en-US" sz="1100" dirty="0"/>
          </a:p>
        </p:txBody>
      </p:sp>
      <p:sp>
        <p:nvSpPr>
          <p:cNvPr id="15" name="Text 10"/>
          <p:cNvSpPr txBox="1"/>
          <p:nvPr/>
        </p:nvSpPr>
        <p:spPr>
          <a:xfrm>
            <a:off x="2891333" y="3648456"/>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Fórmula de 3 sabores</a:t>
            </a:r>
            <a:endParaRPr lang="en-US" sz="1300" dirty="0"/>
          </a:p>
          <a:p>
            <a:pPr marL="127000" indent="-127000">
              <a:spcAft>
                <a:spcPts val="400"/>
              </a:spcAft>
              <a:buSzPct val="100000"/>
              <a:buChar char="•"/>
            </a:pPr>
            <a:r>
              <a:rPr lang="en-US" sz="1300" dirty="0">
                <a:solidFill>
                  <a:schemeClr val="tx1"/>
                </a:solidFill>
              </a:rPr>
              <a:t>Marca y registro sanitario</a:t>
            </a:r>
            <a:endParaRPr lang="en-US" sz="1300" dirty="0"/>
          </a:p>
          <a:p>
            <a:pPr marL="127000" indent="-127000">
              <a:spcAft>
                <a:spcPts val="400"/>
              </a:spcAft>
              <a:buSzPct val="100000"/>
              <a:buChar char="•"/>
            </a:pPr>
            <a:r>
              <a:rPr lang="en-US" sz="1300" dirty="0">
                <a:solidFill>
                  <a:schemeClr val="tx1"/>
                </a:solidFill>
              </a:rPr>
              <a:t>5 socios y un asistente</a:t>
            </a:r>
            <a:endParaRPr lang="en-US" sz="1300" dirty="0"/>
          </a:p>
          <a:p>
            <a:pPr marL="127000" indent="-127000">
              <a:spcAft>
                <a:spcPts val="400"/>
              </a:spcAft>
              <a:buSzPct val="100000"/>
              <a:buChar char="•"/>
            </a:pPr>
            <a:r>
              <a:rPr lang="en-US" sz="1300" dirty="0">
                <a:solidFill>
                  <a:schemeClr val="tx1"/>
                </a:solidFill>
              </a:rPr>
              <a:t>S/34,484 de inversión</a:t>
            </a:r>
            <a:endParaRPr lang="en-US" sz="1300" dirty="0"/>
          </a:p>
        </p:txBody>
      </p:sp>
      <p:sp>
        <p:nvSpPr>
          <p:cNvPr id="16" name="Shape 11"/>
          <p:cNvSpPr/>
          <p:nvPr/>
        </p:nvSpPr>
        <p:spPr>
          <a:xfrm>
            <a:off x="5014570" y="1417320"/>
            <a:ext cx="2159813" cy="3474720"/>
          </a:xfrm>
          <a:prstGeom prst="roundRect">
            <a:avLst>
              <a:gd name="adj" fmla="val 3387"/>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pic>
        <p:nvPicPr>
          <p:cNvPr id="17" name="Image 3" descr="preencoded.png">    </p:cNvPr>
          <p:cNvPicPr>
            <a:picLocks noChangeAspect="1"/>
          </p:cNvPicPr>
          <p:nvPr/>
        </p:nvPicPr>
        <p:blipFill>
          <a:blip r:embed="rId4"/>
          <a:stretch>
            <a:fillRect/>
          </a:stretch>
        </p:blipFill>
        <p:spPr>
          <a:xfrm>
            <a:off x="5124298" y="1527048"/>
            <a:ext cx="256032" cy="256032"/>
          </a:xfrm>
          <a:prstGeom prst="rect">
            <a:avLst/>
          </a:prstGeom>
        </p:spPr>
      </p:pic>
      <p:sp>
        <p:nvSpPr>
          <p:cNvPr id="18" name="Text 12"/>
          <p:cNvSpPr txBox="1"/>
          <p:nvPr/>
        </p:nvSpPr>
        <p:spPr>
          <a:xfrm>
            <a:off x="5453482"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bg1"/>
                </a:solidFill>
              </a:rPr>
              <a:t>PROPUESTA DE VALOR</a:t>
            </a:r>
            <a:endParaRPr lang="en-US" sz="1100" dirty="0"/>
          </a:p>
        </p:txBody>
      </p:sp>
      <p:sp>
        <p:nvSpPr>
          <p:cNvPr id="19" name="Text 13"/>
          <p:cNvSpPr txBox="1"/>
          <p:nvPr/>
        </p:nvSpPr>
        <p:spPr>
          <a:xfrm>
            <a:off x="5124298" y="1874520"/>
            <a:ext cx="1958645" cy="2944368"/>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bg1"/>
                </a:solidFill>
              </a:rPr>
              <a:t>Mini brownie de 20 g con sangrecita</a:t>
            </a:r>
            <a:endParaRPr lang="en-US" sz="1300" dirty="0"/>
          </a:p>
          <a:p>
            <a:pPr marL="127000" indent="-127000">
              <a:spcAft>
                <a:spcPts val="400"/>
              </a:spcAft>
              <a:buSzPct val="100000"/>
              <a:buChar char="•"/>
            </a:pPr>
            <a:r>
              <a:rPr lang="en-US" sz="1300" dirty="0">
                <a:solidFill>
                  <a:schemeClr val="bg1"/>
                </a:solidFill>
              </a:rPr>
              <a:t>Hierro medido por lote</a:t>
            </a:r>
            <a:endParaRPr lang="en-US" sz="1300" dirty="0"/>
          </a:p>
          <a:p>
            <a:pPr marL="127000" indent="-127000">
              <a:spcAft>
                <a:spcPts val="400"/>
              </a:spcAft>
              <a:buSzPct val="100000"/>
              <a:buChar char="•"/>
            </a:pPr>
            <a:r>
              <a:rPr lang="en-US" sz="1300" dirty="0">
                <a:solidFill>
                  <a:schemeClr val="bg1"/>
                </a:solidFill>
              </a:rPr>
              <a:t>Sin octógono</a:t>
            </a:r>
            <a:endParaRPr lang="en-US" sz="1300" dirty="0"/>
          </a:p>
          <a:p>
            <a:pPr marL="127000" indent="-127000">
              <a:spcAft>
                <a:spcPts val="400"/>
              </a:spcAft>
              <a:buSzPct val="100000"/>
              <a:buChar char="•"/>
            </a:pPr>
            <a:r>
              <a:rPr lang="en-US" sz="1300" dirty="0">
                <a:solidFill>
                  <a:schemeClr val="bg1"/>
                </a:solidFill>
              </a:rPr>
              <a:t>3 sabores en un pack</a:t>
            </a:r>
            <a:endParaRPr lang="en-US" sz="1300" dirty="0"/>
          </a:p>
          <a:p>
            <a:pPr marL="127000" indent="-127000">
              <a:spcAft>
                <a:spcPts val="400"/>
              </a:spcAft>
              <a:buSzPct val="100000"/>
              <a:buChar char="•"/>
            </a:pPr>
            <a:r>
              <a:rPr lang="en-US" sz="1300" dirty="0">
                <a:solidFill>
                  <a:schemeClr val="bg1"/>
                </a:solidFill>
              </a:rPr>
              <a:t>Sin frío, directo a casa</a:t>
            </a:r>
            <a:endParaRPr lang="en-US" sz="1300" dirty="0"/>
          </a:p>
        </p:txBody>
      </p:sp>
      <p:sp>
        <p:nvSpPr>
          <p:cNvPr id="20" name="Shape 14"/>
          <p:cNvSpPr/>
          <p:nvPr/>
        </p:nvSpPr>
        <p:spPr>
          <a:xfrm>
            <a:off x="7247534" y="1417320"/>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1" name="Image 4" descr="preencoded.png">    </p:cNvPr>
          <p:cNvPicPr>
            <a:picLocks noChangeAspect="1"/>
          </p:cNvPicPr>
          <p:nvPr/>
        </p:nvPicPr>
        <p:blipFill>
          <a:blip r:embed="rId5"/>
          <a:stretch>
            <a:fillRect/>
          </a:stretch>
        </p:blipFill>
        <p:spPr>
          <a:xfrm>
            <a:off x="7357262" y="1527048"/>
            <a:ext cx="256032" cy="256032"/>
          </a:xfrm>
          <a:prstGeom prst="rect">
            <a:avLst/>
          </a:prstGeom>
        </p:spPr>
      </p:pic>
      <p:sp>
        <p:nvSpPr>
          <p:cNvPr id="22" name="Text 15"/>
          <p:cNvSpPr txBox="1"/>
          <p:nvPr/>
        </p:nvSpPr>
        <p:spPr>
          <a:xfrm>
            <a:off x="7686446"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RELACIÓN CON CLIENTES</a:t>
            </a:r>
            <a:endParaRPr lang="en-US" sz="1100" dirty="0"/>
          </a:p>
        </p:txBody>
      </p:sp>
      <p:sp>
        <p:nvSpPr>
          <p:cNvPr id="23" name="Text 16"/>
          <p:cNvSpPr txBox="1"/>
          <p:nvPr/>
        </p:nvSpPr>
        <p:spPr>
          <a:xfrm>
            <a:off x="7357262" y="1874520"/>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Asistencia por WhatsApp</a:t>
            </a:r>
            <a:endParaRPr lang="en-US" sz="1300" dirty="0"/>
          </a:p>
          <a:p>
            <a:pPr marL="127000" indent="-127000">
              <a:spcAft>
                <a:spcPts val="400"/>
              </a:spcAft>
              <a:buSzPct val="100000"/>
              <a:buChar char="•"/>
            </a:pPr>
            <a:r>
              <a:rPr lang="en-US" sz="1300" dirty="0">
                <a:solidFill>
                  <a:schemeClr val="tx1"/>
                </a:solidFill>
              </a:rPr>
              <a:t>Recordatorio de recompra</a:t>
            </a:r>
            <a:endParaRPr lang="en-US" sz="1300" dirty="0"/>
          </a:p>
          <a:p>
            <a:pPr marL="127000" indent="-127000">
              <a:spcAft>
                <a:spcPts val="400"/>
              </a:spcAft>
              <a:buSzPct val="100000"/>
              <a:buChar char="•"/>
            </a:pPr>
            <a:r>
              <a:rPr lang="en-US" sz="1300" dirty="0">
                <a:solidFill>
                  <a:schemeClr val="tx1"/>
                </a:solidFill>
              </a:rPr>
              <a:t>Mamá embajadora</a:t>
            </a:r>
            <a:endParaRPr lang="en-US" sz="1300" dirty="0"/>
          </a:p>
          <a:p>
            <a:pPr marL="127000" indent="-127000">
              <a:spcAft>
                <a:spcPts val="400"/>
              </a:spcAft>
              <a:buSzPct val="100000"/>
              <a:buChar char="•"/>
            </a:pPr>
            <a:r>
              <a:rPr lang="en-US" sz="1300" dirty="0">
                <a:solidFill>
                  <a:schemeClr val="tx1"/>
                </a:solidFill>
              </a:rPr>
              <a:t>Caja degustación</a:t>
            </a:r>
            <a:endParaRPr lang="en-US" sz="1300" dirty="0"/>
          </a:p>
        </p:txBody>
      </p:sp>
      <p:sp>
        <p:nvSpPr>
          <p:cNvPr id="24" name="Shape 17"/>
          <p:cNvSpPr/>
          <p:nvPr/>
        </p:nvSpPr>
        <p:spPr>
          <a:xfrm>
            <a:off x="7247534" y="3191256"/>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5" name="Image 5" descr="preencoded.png">    </p:cNvPr>
          <p:cNvPicPr>
            <a:picLocks noChangeAspect="1"/>
          </p:cNvPicPr>
          <p:nvPr/>
        </p:nvPicPr>
        <p:blipFill>
          <a:blip r:embed="rId6"/>
          <a:stretch>
            <a:fillRect/>
          </a:stretch>
        </p:blipFill>
        <p:spPr>
          <a:xfrm>
            <a:off x="7357262" y="3300984"/>
            <a:ext cx="256032" cy="256032"/>
          </a:xfrm>
          <a:prstGeom prst="rect">
            <a:avLst/>
          </a:prstGeom>
        </p:spPr>
      </p:pic>
      <p:sp>
        <p:nvSpPr>
          <p:cNvPr id="26" name="Text 18"/>
          <p:cNvSpPr txBox="1"/>
          <p:nvPr/>
        </p:nvSpPr>
        <p:spPr>
          <a:xfrm>
            <a:off x="7686446" y="3282696"/>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CANALES</a:t>
            </a:r>
            <a:endParaRPr lang="en-US" sz="1100" dirty="0"/>
          </a:p>
        </p:txBody>
      </p:sp>
      <p:sp>
        <p:nvSpPr>
          <p:cNvPr id="27" name="Text 19"/>
          <p:cNvSpPr txBox="1"/>
          <p:nvPr/>
        </p:nvSpPr>
        <p:spPr>
          <a:xfrm>
            <a:off x="7357262" y="3648456"/>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WhatsApp e IG 79 %</a:t>
            </a:r>
            <a:endParaRPr lang="en-US" sz="1300" dirty="0"/>
          </a:p>
          <a:p>
            <a:pPr marL="127000" indent="-127000">
              <a:spcAft>
                <a:spcPts val="400"/>
              </a:spcAft>
              <a:buSzPct val="100000"/>
              <a:buChar char="•"/>
            </a:pPr>
            <a:r>
              <a:rPr lang="en-US" sz="1300" dirty="0">
                <a:solidFill>
                  <a:schemeClr val="tx1"/>
                </a:solidFill>
              </a:rPr>
              <a:t>Quioscos 9.5 %</a:t>
            </a:r>
            <a:endParaRPr lang="en-US" sz="1300" dirty="0"/>
          </a:p>
          <a:p>
            <a:pPr marL="127000" indent="-127000">
              <a:spcAft>
                <a:spcPts val="400"/>
              </a:spcAft>
              <a:buSzPct val="100000"/>
              <a:buChar char="•"/>
            </a:pPr>
            <a:r>
              <a:rPr lang="en-US" sz="1300" dirty="0">
                <a:solidFill>
                  <a:schemeClr val="tx1"/>
                </a:solidFill>
              </a:rPr>
              <a:t>Ferias 7.4 %</a:t>
            </a:r>
            <a:endParaRPr lang="en-US" sz="1300" dirty="0"/>
          </a:p>
          <a:p>
            <a:pPr marL="127000" indent="-127000">
              <a:spcAft>
                <a:spcPts val="400"/>
              </a:spcAft>
              <a:buSzPct val="100000"/>
              <a:buChar char="•"/>
            </a:pPr>
            <a:r>
              <a:rPr lang="en-US" sz="1300" dirty="0">
                <a:solidFill>
                  <a:schemeClr val="tx1"/>
                </a:solidFill>
              </a:rPr>
              <a:t>Naturistas 4.1 %</a:t>
            </a:r>
            <a:endParaRPr lang="en-US" sz="1300" dirty="0"/>
          </a:p>
        </p:txBody>
      </p:sp>
      <p:sp>
        <p:nvSpPr>
          <p:cNvPr id="28" name="Shape 20"/>
          <p:cNvSpPr/>
          <p:nvPr/>
        </p:nvSpPr>
        <p:spPr>
          <a:xfrm>
            <a:off x="9480499" y="1417320"/>
            <a:ext cx="2159813" cy="3474720"/>
          </a:xfrm>
          <a:prstGeom prst="roundRect">
            <a:avLst>
              <a:gd name="adj" fmla="val 338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9" name="Image 6" descr="preencoded.png">    </p:cNvPr>
          <p:cNvPicPr>
            <a:picLocks noChangeAspect="1"/>
          </p:cNvPicPr>
          <p:nvPr/>
        </p:nvPicPr>
        <p:blipFill>
          <a:blip r:embed="rId7"/>
          <a:stretch>
            <a:fillRect/>
          </a:stretch>
        </p:blipFill>
        <p:spPr>
          <a:xfrm>
            <a:off x="9590227" y="1527048"/>
            <a:ext cx="256032" cy="256032"/>
          </a:xfrm>
          <a:prstGeom prst="rect">
            <a:avLst/>
          </a:prstGeom>
        </p:spPr>
      </p:pic>
      <p:sp>
        <p:nvSpPr>
          <p:cNvPr id="30" name="Text 21"/>
          <p:cNvSpPr txBox="1"/>
          <p:nvPr/>
        </p:nvSpPr>
        <p:spPr>
          <a:xfrm>
            <a:off x="9919411"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SEGMENTOS</a:t>
            </a:r>
            <a:endParaRPr lang="en-US" sz="1100" dirty="0"/>
          </a:p>
        </p:txBody>
      </p:sp>
      <p:sp>
        <p:nvSpPr>
          <p:cNvPr id="31" name="Text 22"/>
          <p:cNvSpPr txBox="1"/>
          <p:nvPr/>
        </p:nvSpPr>
        <p:spPr>
          <a:xfrm>
            <a:off x="9590227" y="1874520"/>
            <a:ext cx="1958645" cy="2944368"/>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Padres A/B de 32 a 45 años</a:t>
            </a:r>
            <a:endParaRPr lang="en-US" sz="1300" dirty="0"/>
          </a:p>
          <a:p>
            <a:pPr marL="127000" indent="-127000">
              <a:spcAft>
                <a:spcPts val="400"/>
              </a:spcAft>
              <a:buSzPct val="100000"/>
              <a:buChar char="•"/>
            </a:pPr>
            <a:r>
              <a:rPr lang="en-US" sz="1300" dirty="0">
                <a:solidFill>
                  <a:schemeClr val="tx1"/>
                </a:solidFill>
              </a:rPr>
              <a:t>Hijos de 4 a 11 en colegio privado</a:t>
            </a:r>
            <a:endParaRPr lang="en-US" sz="1300" dirty="0"/>
          </a:p>
          <a:p>
            <a:pPr marL="127000" indent="-127000">
              <a:spcAft>
                <a:spcPts val="400"/>
              </a:spcAft>
              <a:buSzPct val="100000"/>
              <a:buChar char="•"/>
            </a:pPr>
            <a:r>
              <a:rPr lang="en-US" sz="1300" dirty="0">
                <a:solidFill>
                  <a:schemeClr val="tx1"/>
                </a:solidFill>
              </a:rPr>
              <a:t>46,000 hogares en Lima Top y Moderna</a:t>
            </a:r>
            <a:endParaRPr lang="en-US" sz="1300" dirty="0"/>
          </a:p>
          <a:p>
            <a:pPr marL="127000" indent="-127000">
              <a:spcAft>
                <a:spcPts val="400"/>
              </a:spcAft>
              <a:buSzPct val="100000"/>
              <a:buChar char="•"/>
            </a:pPr>
            <a:r>
              <a:rPr lang="en-US" sz="1300" dirty="0">
                <a:solidFill>
                  <a:schemeClr val="tx1"/>
                </a:solidFill>
              </a:rPr>
              <a:t>B2B: quioscos y naturistas</a:t>
            </a:r>
            <a:endParaRPr lang="en-US" sz="1300" dirty="0"/>
          </a:p>
        </p:txBody>
      </p:sp>
      <p:sp>
        <p:nvSpPr>
          <p:cNvPr id="32" name="Shape 23"/>
          <p:cNvSpPr/>
          <p:nvPr/>
        </p:nvSpPr>
        <p:spPr>
          <a:xfrm>
            <a:off x="548640" y="4965192"/>
            <a:ext cx="5545836" cy="1298448"/>
          </a:xfrm>
          <a:prstGeom prst="roundRect">
            <a:avLst>
              <a:gd name="adj" fmla="val 5634"/>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33" name="Image 7" descr="preencoded.png">    </p:cNvPr>
          <p:cNvPicPr>
            <a:picLocks noChangeAspect="1"/>
          </p:cNvPicPr>
          <p:nvPr/>
        </p:nvPicPr>
        <p:blipFill>
          <a:blip r:embed="rId8"/>
          <a:stretch>
            <a:fillRect/>
          </a:stretch>
        </p:blipFill>
        <p:spPr>
          <a:xfrm>
            <a:off x="658368" y="5074920"/>
            <a:ext cx="256032" cy="256032"/>
          </a:xfrm>
          <a:prstGeom prst="rect">
            <a:avLst/>
          </a:prstGeom>
        </p:spPr>
      </p:pic>
      <p:sp>
        <p:nvSpPr>
          <p:cNvPr id="34" name="Text 24"/>
          <p:cNvSpPr txBox="1"/>
          <p:nvPr/>
        </p:nvSpPr>
        <p:spPr>
          <a:xfrm>
            <a:off x="987552" y="5056632"/>
            <a:ext cx="5042916" cy="292608"/>
          </a:xfrm>
          <a:prstGeom prst="rect">
            <a:avLst/>
          </a:prstGeom>
          <a:noFill/>
          <a:ln/>
        </p:spPr>
        <p:txBody>
          <a:bodyPr wrap="square" lIns="0" tIns="0" rIns="0" bIns="0" rtlCol="0" anchor="ctr"/>
          <a:lstStyle/>
          <a:p>
            <a:pPr indent="0" marL="0">
              <a:buNone/>
            </a:pPr>
            <a:r>
              <a:rPr lang="en-US" sz="1100" b="1" spc="100" kern="0" dirty="0">
                <a:solidFill>
                  <a:schemeClr val="tx2"/>
                </a:solidFill>
              </a:rPr>
              <a:t>ESTRUCTURA DE COSTOS</a:t>
            </a:r>
            <a:endParaRPr lang="en-US" sz="1100" dirty="0"/>
          </a:p>
        </p:txBody>
      </p:sp>
      <p:sp>
        <p:nvSpPr>
          <p:cNvPr id="35" name="Text 25"/>
          <p:cNvSpPr txBox="1"/>
          <p:nvPr/>
        </p:nvSpPr>
        <p:spPr>
          <a:xfrm>
            <a:off x="658368" y="5422392"/>
            <a:ext cx="5344668" cy="768096"/>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Producción S/1.65 por brownie · fijos S/2,857 al mes</a:t>
            </a:r>
            <a:endParaRPr lang="en-US" sz="1300" dirty="0"/>
          </a:p>
          <a:p>
            <a:pPr marL="127000" indent="-127000">
              <a:spcAft>
                <a:spcPts val="400"/>
              </a:spcAft>
              <a:buSzPct val="100000"/>
              <a:buChar char="•"/>
            </a:pPr>
            <a:r>
              <a:rPr lang="en-US" sz="1300" dirty="0">
                <a:solidFill>
                  <a:schemeClr val="tx1"/>
                </a:solidFill>
              </a:rPr>
              <a:t>Equilibrio: 3,308 brownies al mes · comisiones de 25 a 40 %</a:t>
            </a:r>
            <a:endParaRPr lang="en-US" sz="1300" dirty="0"/>
          </a:p>
        </p:txBody>
      </p:sp>
      <p:sp>
        <p:nvSpPr>
          <p:cNvPr id="36" name="Shape 26"/>
          <p:cNvSpPr/>
          <p:nvPr/>
        </p:nvSpPr>
        <p:spPr>
          <a:xfrm>
            <a:off x="6167628" y="4965192"/>
            <a:ext cx="5472684" cy="1298448"/>
          </a:xfrm>
          <a:prstGeom prst="roundRect">
            <a:avLst>
              <a:gd name="adj" fmla="val 5634"/>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37" name="Image 8" descr="preencoded.png">    </p:cNvPr>
          <p:cNvPicPr>
            <a:picLocks noChangeAspect="1"/>
          </p:cNvPicPr>
          <p:nvPr/>
        </p:nvPicPr>
        <p:blipFill>
          <a:blip r:embed="rId9"/>
          <a:stretch>
            <a:fillRect/>
          </a:stretch>
        </p:blipFill>
        <p:spPr>
          <a:xfrm>
            <a:off x="6277356" y="5074920"/>
            <a:ext cx="256032" cy="256032"/>
          </a:xfrm>
          <a:prstGeom prst="rect">
            <a:avLst/>
          </a:prstGeom>
        </p:spPr>
      </p:pic>
      <p:sp>
        <p:nvSpPr>
          <p:cNvPr id="38" name="Text 27"/>
          <p:cNvSpPr txBox="1"/>
          <p:nvPr/>
        </p:nvSpPr>
        <p:spPr>
          <a:xfrm>
            <a:off x="6606540" y="5056632"/>
            <a:ext cx="4969764" cy="292608"/>
          </a:xfrm>
          <a:prstGeom prst="rect">
            <a:avLst/>
          </a:prstGeom>
          <a:noFill/>
          <a:ln/>
        </p:spPr>
        <p:txBody>
          <a:bodyPr wrap="square" lIns="0" tIns="0" rIns="0" bIns="0" rtlCol="0" anchor="ctr"/>
          <a:lstStyle/>
          <a:p>
            <a:pPr indent="0" marL="0">
              <a:buNone/>
            </a:pPr>
            <a:r>
              <a:rPr lang="en-US" sz="1100" b="1" spc="100" kern="0" dirty="0">
                <a:solidFill>
                  <a:schemeClr val="tx2"/>
                </a:solidFill>
              </a:rPr>
              <a:t>FUENTES DE INGRESO</a:t>
            </a:r>
            <a:endParaRPr lang="en-US" sz="1100" dirty="0"/>
          </a:p>
        </p:txBody>
      </p:sp>
      <p:sp>
        <p:nvSpPr>
          <p:cNvPr id="39" name="Text 28"/>
          <p:cNvSpPr txBox="1"/>
          <p:nvPr/>
        </p:nvSpPr>
        <p:spPr>
          <a:xfrm>
            <a:off x="6277356" y="5422392"/>
            <a:ext cx="5271516" cy="768096"/>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Pack de 6 S/24.90 · pack de 12 S/46.90 · unidad S/4.00</a:t>
            </a:r>
            <a:endParaRPr lang="en-US" sz="1300" dirty="0"/>
          </a:p>
          <a:p>
            <a:pPr marL="127000" indent="-127000">
              <a:spcAft>
                <a:spcPts val="400"/>
              </a:spcAft>
              <a:buSzPct val="100000"/>
              <a:buChar char="•"/>
            </a:pPr>
            <a:r>
              <a:rPr lang="en-US" sz="1300" dirty="0">
                <a:solidFill>
                  <a:schemeClr val="tx1"/>
                </a:solidFill>
              </a:rPr>
              <a:t>Año 1: S/302,900 con IGV · resultado S/31,638</a:t>
            </a:r>
            <a:endParaRPr lang="en-US" sz="1300" dirty="0"/>
          </a:p>
        </p:txBody>
      </p:sp>
      <p:sp>
        <p:nvSpPr>
          <p:cNvPr id="40" name="Text 29"/>
          <p:cNvSpPr txBox="1"/>
          <p:nvPr/>
        </p:nvSpPr>
        <p:spPr>
          <a:xfrm>
            <a:off x="5124298" y="4297680"/>
            <a:ext cx="1940357" cy="502920"/>
          </a:xfrm>
          <a:prstGeom prst="rect">
            <a:avLst/>
          </a:prstGeom>
          <a:noFill/>
          <a:ln/>
        </p:spPr>
        <p:txBody>
          <a:bodyPr wrap="square" lIns="0" tIns="0" rIns="0" bIns="0" rtlCol="0" anchor="t"/>
          <a:lstStyle/>
          <a:p>
            <a:pPr indent="0" marL="0">
              <a:buNone/>
            </a:pPr>
            <a:r>
              <a:rPr lang="en-US" sz="1300" b="1" i="1" dirty="0">
                <a:solidFill>
                  <a:schemeClr val="accent3"/>
                </a:solidFill>
              </a:rPr>
              <a:t>"Hierro medido. Sabor a brownie."</a:t>
            </a:r>
            <a:endParaRPr lang="en-US" sz="13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08</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Mapa de propuesta de valor</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Perfil del cliente · Mapa de valor · Encaje dolor-aliviador · Frente a la competencia</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MAPA DE PROPUESTA DE VALOR</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ofrecemos encaja con lo que vive el cliente</a:t>
            </a:r>
            <a:endParaRPr lang="en-US" sz="3400" dirty="0"/>
          </a:p>
        </p:txBody>
      </p:sp>
      <p:sp>
        <p:nvSpPr>
          <p:cNvPr id="4" name="Shape 2"/>
          <p:cNvSpPr/>
          <p:nvPr/>
        </p:nvSpPr>
        <p:spPr>
          <a:xfrm>
            <a:off x="640080" y="1463040"/>
            <a:ext cx="4480560" cy="4480560"/>
          </a:xfrm>
          <a:prstGeom prst="roundRect">
            <a:avLst>
              <a:gd name="adj" fmla="val 2041"/>
            </a:avLst>
          </a:prstGeom>
          <a:solidFill>
            <a:schemeClr val="bg1"/>
          </a:solidFill>
          <a:ln w="25400">
            <a:solidFill>
              <a:schemeClr val="accent2"/>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2880360" y="1463040"/>
            <a:ext cx="0" cy="4480560"/>
          </a:xfrm>
          <a:prstGeom prst="line">
            <a:avLst/>
          </a:prstGeom>
          <a:noFill/>
          <a:ln w="19050">
            <a:solidFill>
              <a:schemeClr val="accent2"/>
            </a:solidFill>
            <a:prstDash val="solid"/>
          </a:ln>
        </p:spPr>
      </p:sp>
      <p:sp>
        <p:nvSpPr>
          <p:cNvPr id="6" name="Shape 4"/>
          <p:cNvSpPr/>
          <p:nvPr/>
        </p:nvSpPr>
        <p:spPr>
          <a:xfrm>
            <a:off x="2880360" y="3703320"/>
            <a:ext cx="2240280" cy="0"/>
          </a:xfrm>
          <a:prstGeom prst="line">
            <a:avLst/>
          </a:prstGeom>
          <a:noFill/>
          <a:ln w="19050">
            <a:solidFill>
              <a:schemeClr val="accent2"/>
            </a:solidFill>
            <a:prstDash val="solid"/>
          </a:ln>
        </p:spPr>
      </p:sp>
      <p:sp>
        <p:nvSpPr>
          <p:cNvPr id="7" name="Shape 5"/>
          <p:cNvSpPr/>
          <p:nvPr/>
        </p:nvSpPr>
        <p:spPr>
          <a:xfrm>
            <a:off x="7178040" y="1463040"/>
            <a:ext cx="4480560" cy="4480560"/>
          </a:xfrm>
          <a:prstGeom prst="ellipse">
            <a:avLst/>
          </a:prstGeom>
          <a:solidFill>
            <a:schemeClr val="bg1"/>
          </a:solidFill>
          <a:ln w="25400">
            <a:solidFill>
              <a:schemeClr val="accent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9418320" y="1463040"/>
            <a:ext cx="0" cy="4480560"/>
          </a:xfrm>
          <a:prstGeom prst="line">
            <a:avLst/>
          </a:prstGeom>
          <a:noFill/>
          <a:ln w="19050">
            <a:solidFill>
              <a:schemeClr val="accent1"/>
            </a:solidFill>
            <a:prstDash val="solid"/>
          </a:ln>
        </p:spPr>
      </p:sp>
      <p:sp>
        <p:nvSpPr>
          <p:cNvPr id="9" name="Shape 7"/>
          <p:cNvSpPr/>
          <p:nvPr/>
        </p:nvSpPr>
        <p:spPr>
          <a:xfrm>
            <a:off x="7178040" y="3703320"/>
            <a:ext cx="2240280" cy="0"/>
          </a:xfrm>
          <a:prstGeom prst="line">
            <a:avLst/>
          </a:prstGeom>
          <a:noFill/>
          <a:ln w="19050">
            <a:solidFill>
              <a:schemeClr val="accent1"/>
            </a:solidFill>
            <a:prstDash val="solid"/>
          </a:ln>
        </p:spPr>
      </p:sp>
      <p:pic>
        <p:nvPicPr>
          <p:cNvPr id="10" name="Image 0" descr="preencoded.png">    </p:cNvPr>
          <p:cNvPicPr>
            <a:picLocks noChangeAspect="1"/>
          </p:cNvPicPr>
          <p:nvPr/>
        </p:nvPicPr>
        <p:blipFill>
          <a:blip r:embed="rId1"/>
          <a:stretch>
            <a:fillRect/>
          </a:stretch>
        </p:blipFill>
        <p:spPr>
          <a:xfrm>
            <a:off x="777240" y="1645920"/>
            <a:ext cx="274320" cy="274320"/>
          </a:xfrm>
          <a:prstGeom prst="rect">
            <a:avLst/>
          </a:prstGeom>
        </p:spPr>
      </p:pic>
      <p:sp>
        <p:nvSpPr>
          <p:cNvPr id="11" name="Text 8"/>
          <p:cNvSpPr txBox="1"/>
          <p:nvPr/>
        </p:nvSpPr>
        <p:spPr>
          <a:xfrm>
            <a:off x="1124712" y="162763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Productos y servicios</a:t>
            </a:r>
            <a:endParaRPr lang="en-US" sz="1200" dirty="0"/>
          </a:p>
        </p:txBody>
      </p:sp>
      <p:sp>
        <p:nvSpPr>
          <p:cNvPr id="12" name="Text 9"/>
          <p:cNvSpPr txBox="1"/>
          <p:nvPr/>
        </p:nvSpPr>
        <p:spPr>
          <a:xfrm>
            <a:off x="777240" y="2029968"/>
            <a:ext cx="2011680" cy="373075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Pack de 6 a S/24.90</a:t>
            </a:r>
            <a:endParaRPr lang="en-US" sz="1200" dirty="0"/>
          </a:p>
          <a:p>
            <a:pPr marL="127000" indent="-127000">
              <a:spcAft>
                <a:spcPts val="400"/>
              </a:spcAft>
              <a:buSzPct val="100000"/>
              <a:buChar char="•"/>
            </a:pPr>
            <a:r>
              <a:rPr lang="en-US" sz="1200" dirty="0">
                <a:solidFill>
                  <a:schemeClr val="tx1"/>
                </a:solidFill>
              </a:rPr>
              <a:t>Pack de 12 "Semana completa"</a:t>
            </a:r>
            <a:endParaRPr lang="en-US" sz="1200" dirty="0"/>
          </a:p>
          <a:p>
            <a:pPr marL="127000" indent="-127000">
              <a:spcAft>
                <a:spcPts val="400"/>
              </a:spcAft>
              <a:buSzPct val="100000"/>
              <a:buChar char="•"/>
            </a:pPr>
            <a:r>
              <a:rPr lang="en-US" sz="1200" dirty="0">
                <a:solidFill>
                  <a:schemeClr val="tx1"/>
                </a:solidFill>
              </a:rPr>
              <a:t>Caja degustación de 3</a:t>
            </a:r>
            <a:endParaRPr lang="en-US" sz="1200" dirty="0"/>
          </a:p>
          <a:p>
            <a:pPr marL="127000" indent="-127000">
              <a:spcAft>
                <a:spcPts val="400"/>
              </a:spcAft>
              <a:buSzPct val="100000"/>
              <a:buChar char="•"/>
            </a:pPr>
            <a:r>
              <a:rPr lang="en-US" sz="1200" dirty="0">
                <a:solidFill>
                  <a:schemeClr val="tx1"/>
                </a:solidFill>
              </a:rPr>
              <a:t>Pedido por WhatsApp</a:t>
            </a:r>
            <a:endParaRPr lang="en-US" sz="1200" dirty="0"/>
          </a:p>
        </p:txBody>
      </p:sp>
      <p:pic>
        <p:nvPicPr>
          <p:cNvPr id="13" name="Image 1" descr="preencoded.png">    </p:cNvPr>
          <p:cNvPicPr>
            <a:picLocks noChangeAspect="1"/>
          </p:cNvPicPr>
          <p:nvPr/>
        </p:nvPicPr>
        <p:blipFill>
          <a:blip r:embed="rId2"/>
          <a:stretch>
            <a:fillRect/>
          </a:stretch>
        </p:blipFill>
        <p:spPr>
          <a:xfrm>
            <a:off x="3017520" y="1645920"/>
            <a:ext cx="274320" cy="274320"/>
          </a:xfrm>
          <a:prstGeom prst="rect">
            <a:avLst/>
          </a:prstGeom>
        </p:spPr>
      </p:pic>
      <p:sp>
        <p:nvSpPr>
          <p:cNvPr id="14" name="Text 10"/>
          <p:cNvSpPr txBox="1"/>
          <p:nvPr/>
        </p:nvSpPr>
        <p:spPr>
          <a:xfrm>
            <a:off x="3364992" y="162763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Creadores de alegrías</a:t>
            </a:r>
            <a:endParaRPr lang="en-US" sz="1200" dirty="0"/>
          </a:p>
        </p:txBody>
      </p:sp>
      <p:sp>
        <p:nvSpPr>
          <p:cNvPr id="15" name="Text 11"/>
          <p:cNvSpPr txBox="1"/>
          <p:nvPr/>
        </p:nvSpPr>
        <p:spPr>
          <a:xfrm>
            <a:off x="3017520" y="2029968"/>
            <a:ext cx="2011680" cy="16276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El niño pide su sabor</a:t>
            </a:r>
            <a:endParaRPr lang="en-US" sz="1200" dirty="0"/>
          </a:p>
          <a:p>
            <a:pPr marL="127000" indent="-127000">
              <a:spcAft>
                <a:spcPts val="400"/>
              </a:spcAft>
              <a:buSzPct val="100000"/>
              <a:buChar char="•"/>
            </a:pPr>
            <a:r>
              <a:rPr lang="en-US" sz="1200" dirty="0">
                <a:solidFill>
                  <a:schemeClr val="tx1"/>
                </a:solidFill>
              </a:rPr>
              <a:t>Hierro en mg y QR del lote</a:t>
            </a:r>
            <a:endParaRPr lang="en-US" sz="1200" dirty="0"/>
          </a:p>
          <a:p>
            <a:pPr marL="127000" indent="-127000">
              <a:spcAft>
                <a:spcPts val="400"/>
              </a:spcAft>
              <a:buSzPct val="100000"/>
              <a:buChar char="•"/>
            </a:pPr>
            <a:r>
              <a:rPr lang="en-US" sz="1200" dirty="0">
                <a:solidFill>
                  <a:schemeClr val="tx1"/>
                </a:solidFill>
              </a:rPr>
              <a:t>Origen andino peruano</a:t>
            </a:r>
            <a:endParaRPr lang="en-US" sz="1200" dirty="0"/>
          </a:p>
        </p:txBody>
      </p:sp>
      <p:pic>
        <p:nvPicPr>
          <p:cNvPr id="16" name="Image 2" descr="preencoded.png">    </p:cNvPr>
          <p:cNvPicPr>
            <a:picLocks noChangeAspect="1"/>
          </p:cNvPicPr>
          <p:nvPr/>
        </p:nvPicPr>
        <p:blipFill>
          <a:blip r:embed="rId3"/>
          <a:stretch>
            <a:fillRect/>
          </a:stretch>
        </p:blipFill>
        <p:spPr>
          <a:xfrm>
            <a:off x="3017520" y="3886200"/>
            <a:ext cx="274320" cy="274320"/>
          </a:xfrm>
          <a:prstGeom prst="rect">
            <a:avLst/>
          </a:prstGeom>
        </p:spPr>
      </p:pic>
      <p:sp>
        <p:nvSpPr>
          <p:cNvPr id="17" name="Text 12"/>
          <p:cNvSpPr txBox="1"/>
          <p:nvPr/>
        </p:nvSpPr>
        <p:spPr>
          <a:xfrm>
            <a:off x="3364992" y="386791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Aliviadores de dolor</a:t>
            </a:r>
            <a:endParaRPr lang="en-US" sz="1200" dirty="0"/>
          </a:p>
        </p:txBody>
      </p:sp>
      <p:sp>
        <p:nvSpPr>
          <p:cNvPr id="18" name="Text 13"/>
          <p:cNvSpPr txBox="1"/>
          <p:nvPr/>
        </p:nvSpPr>
        <p:spPr>
          <a:xfrm>
            <a:off x="3017520" y="4270248"/>
            <a:ext cx="2011680" cy="16276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Cacao que esconde la sangrecita</a:t>
            </a:r>
            <a:endParaRPr lang="en-US" sz="1200" dirty="0"/>
          </a:p>
          <a:p>
            <a:pPr marL="127000" indent="-127000">
              <a:spcAft>
                <a:spcPts val="400"/>
              </a:spcAft>
              <a:buSzPct val="100000"/>
              <a:buChar char="•"/>
            </a:pPr>
            <a:r>
              <a:rPr lang="en-US" sz="1200" dirty="0">
                <a:solidFill>
                  <a:schemeClr val="tx1"/>
                </a:solidFill>
              </a:rPr>
              <a:t>Menos de 10 g de azúcar</a:t>
            </a:r>
            <a:endParaRPr lang="en-US" sz="1200" dirty="0"/>
          </a:p>
          <a:p>
            <a:pPr marL="127000" indent="-127000">
              <a:spcAft>
                <a:spcPts val="400"/>
              </a:spcAft>
              <a:buSzPct val="100000"/>
              <a:buChar char="•"/>
            </a:pPr>
            <a:r>
              <a:rPr lang="en-US" sz="1200" dirty="0">
                <a:solidFill>
                  <a:schemeClr val="tx1"/>
                </a:solidFill>
              </a:rPr>
              <a:t>Porción sellada, sin frío</a:t>
            </a:r>
            <a:endParaRPr lang="en-US" sz="1200" dirty="0"/>
          </a:p>
        </p:txBody>
      </p:sp>
      <p:pic>
        <p:nvPicPr>
          <p:cNvPr id="19" name="Image 3" descr="preencoded.png">    </p:cNvPr>
          <p:cNvPicPr>
            <a:picLocks noChangeAspect="1"/>
          </p:cNvPicPr>
          <p:nvPr/>
        </p:nvPicPr>
        <p:blipFill>
          <a:blip r:embed="rId4"/>
          <a:stretch>
            <a:fillRect/>
          </a:stretch>
        </p:blipFill>
        <p:spPr>
          <a:xfrm>
            <a:off x="7680960" y="1965960"/>
            <a:ext cx="274320" cy="274320"/>
          </a:xfrm>
          <a:prstGeom prst="rect">
            <a:avLst/>
          </a:prstGeom>
        </p:spPr>
      </p:pic>
      <p:sp>
        <p:nvSpPr>
          <p:cNvPr id="20" name="Text 14"/>
          <p:cNvSpPr txBox="1"/>
          <p:nvPr/>
        </p:nvSpPr>
        <p:spPr>
          <a:xfrm>
            <a:off x="8028432" y="1947672"/>
            <a:ext cx="1344168" cy="329184"/>
          </a:xfrm>
          <a:prstGeom prst="rect">
            <a:avLst/>
          </a:prstGeom>
          <a:noFill/>
          <a:ln/>
        </p:spPr>
        <p:txBody>
          <a:bodyPr wrap="square" lIns="0" tIns="0" rIns="0" bIns="0" rtlCol="0" anchor="ctr"/>
          <a:lstStyle/>
          <a:p>
            <a:pPr indent="0" marL="0">
              <a:buNone/>
            </a:pPr>
            <a:r>
              <a:rPr lang="en-US" sz="1200" b="1" dirty="0">
                <a:solidFill>
                  <a:schemeClr val="tx2"/>
                </a:solidFill>
              </a:rPr>
              <a:t>Alegrías</a:t>
            </a:r>
            <a:endParaRPr lang="en-US" sz="1200" dirty="0"/>
          </a:p>
        </p:txBody>
      </p:sp>
      <p:sp>
        <p:nvSpPr>
          <p:cNvPr id="21" name="Text 15"/>
          <p:cNvSpPr txBox="1"/>
          <p:nvPr/>
        </p:nvSpPr>
        <p:spPr>
          <a:xfrm>
            <a:off x="7680960" y="2350008"/>
            <a:ext cx="1691640" cy="126187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Que el niño lo pida</a:t>
            </a:r>
            <a:endParaRPr lang="en-US" sz="1200" dirty="0"/>
          </a:p>
          <a:p>
            <a:pPr marL="127000" indent="-127000">
              <a:spcAft>
                <a:spcPts val="400"/>
              </a:spcAft>
              <a:buSzPct val="100000"/>
              <a:buChar char="•"/>
            </a:pPr>
            <a:r>
              <a:rPr lang="en-US" sz="1200" dirty="0">
                <a:solidFill>
                  <a:schemeClr val="tx1"/>
                </a:solidFill>
              </a:rPr>
              <a:t>Ver el dato, no la promesa</a:t>
            </a:r>
            <a:endParaRPr lang="en-US" sz="1200" dirty="0"/>
          </a:p>
          <a:p>
            <a:pPr marL="127000" indent="-127000">
              <a:spcAft>
                <a:spcPts val="400"/>
              </a:spcAft>
              <a:buSzPct val="100000"/>
              <a:buChar char="•"/>
            </a:pPr>
            <a:r>
              <a:rPr lang="en-US" sz="1200" dirty="0">
                <a:solidFill>
                  <a:schemeClr val="tx1"/>
                </a:solidFill>
              </a:rPr>
              <a:t>Que no pese en el bolsillo</a:t>
            </a:r>
            <a:endParaRPr lang="en-US" sz="1200" dirty="0"/>
          </a:p>
        </p:txBody>
      </p:sp>
      <p:pic>
        <p:nvPicPr>
          <p:cNvPr id="22" name="Image 4" descr="preencoded.png">    </p:cNvPr>
          <p:cNvPicPr>
            <a:picLocks noChangeAspect="1"/>
          </p:cNvPicPr>
          <p:nvPr/>
        </p:nvPicPr>
        <p:blipFill>
          <a:blip r:embed="rId5"/>
          <a:stretch>
            <a:fillRect/>
          </a:stretch>
        </p:blipFill>
        <p:spPr>
          <a:xfrm>
            <a:off x="7680960" y="3813048"/>
            <a:ext cx="274320" cy="274320"/>
          </a:xfrm>
          <a:prstGeom prst="rect">
            <a:avLst/>
          </a:prstGeom>
        </p:spPr>
      </p:pic>
      <p:sp>
        <p:nvSpPr>
          <p:cNvPr id="23" name="Text 16"/>
          <p:cNvSpPr txBox="1"/>
          <p:nvPr/>
        </p:nvSpPr>
        <p:spPr>
          <a:xfrm>
            <a:off x="8028432" y="3794760"/>
            <a:ext cx="1344168" cy="329184"/>
          </a:xfrm>
          <a:prstGeom prst="rect">
            <a:avLst/>
          </a:prstGeom>
          <a:noFill/>
          <a:ln/>
        </p:spPr>
        <p:txBody>
          <a:bodyPr wrap="square" lIns="0" tIns="0" rIns="0" bIns="0" rtlCol="0" anchor="ctr"/>
          <a:lstStyle/>
          <a:p>
            <a:pPr indent="0" marL="0">
              <a:buNone/>
            </a:pPr>
            <a:r>
              <a:rPr lang="en-US" sz="1200" b="1" dirty="0">
                <a:solidFill>
                  <a:schemeClr val="tx2"/>
                </a:solidFill>
              </a:rPr>
              <a:t>Dolores</a:t>
            </a:r>
            <a:endParaRPr lang="en-US" sz="1200" dirty="0"/>
          </a:p>
        </p:txBody>
      </p:sp>
      <p:sp>
        <p:nvSpPr>
          <p:cNvPr id="24" name="Text 17"/>
          <p:cNvSpPr txBox="1"/>
          <p:nvPr/>
        </p:nvSpPr>
        <p:spPr>
          <a:xfrm>
            <a:off x="7680960" y="4197096"/>
            <a:ext cx="1691640" cy="126187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Lo sano regresa intacto</a:t>
            </a:r>
            <a:endParaRPr lang="en-US" sz="1200" dirty="0"/>
          </a:p>
          <a:p>
            <a:pPr marL="127000" indent="-127000">
              <a:spcAft>
                <a:spcPts val="400"/>
              </a:spcAft>
              <a:buSzPct val="100000"/>
              <a:buChar char="•"/>
            </a:pPr>
            <a:r>
              <a:rPr lang="en-US" sz="1200" dirty="0">
                <a:solidFill>
                  <a:schemeClr val="tx1"/>
                </a:solidFill>
              </a:rPr>
              <a:t>Octógonos y desconfianza</a:t>
            </a:r>
            <a:endParaRPr lang="en-US" sz="1200" dirty="0"/>
          </a:p>
          <a:p>
            <a:pPr marL="127000" indent="-127000">
              <a:spcAft>
                <a:spcPts val="400"/>
              </a:spcAft>
              <a:buSzPct val="100000"/>
              <a:buChar char="•"/>
            </a:pPr>
            <a:r>
              <a:rPr lang="en-US" sz="1200" dirty="0">
                <a:solidFill>
                  <a:schemeClr val="tx1"/>
                </a:solidFill>
              </a:rPr>
              <a:t>Se acaba la variedad</a:t>
            </a:r>
            <a:endParaRPr lang="en-US" sz="1200" dirty="0"/>
          </a:p>
        </p:txBody>
      </p:sp>
      <p:pic>
        <p:nvPicPr>
          <p:cNvPr id="25" name="Image 5" descr="preencoded.png">    </p:cNvPr>
          <p:cNvPicPr>
            <a:picLocks noChangeAspect="1"/>
          </p:cNvPicPr>
          <p:nvPr/>
        </p:nvPicPr>
        <p:blipFill>
          <a:blip r:embed="rId6"/>
          <a:stretch>
            <a:fillRect/>
          </a:stretch>
        </p:blipFill>
        <p:spPr>
          <a:xfrm>
            <a:off x="9555480" y="2331720"/>
            <a:ext cx="274320" cy="274320"/>
          </a:xfrm>
          <a:prstGeom prst="rect">
            <a:avLst/>
          </a:prstGeom>
        </p:spPr>
      </p:pic>
      <p:sp>
        <p:nvSpPr>
          <p:cNvPr id="26" name="Text 18"/>
          <p:cNvSpPr txBox="1"/>
          <p:nvPr/>
        </p:nvSpPr>
        <p:spPr>
          <a:xfrm>
            <a:off x="9902952" y="2313432"/>
            <a:ext cx="1481328" cy="329184"/>
          </a:xfrm>
          <a:prstGeom prst="rect">
            <a:avLst/>
          </a:prstGeom>
          <a:noFill/>
          <a:ln/>
        </p:spPr>
        <p:txBody>
          <a:bodyPr wrap="square" lIns="0" tIns="0" rIns="0" bIns="0" rtlCol="0" anchor="ctr"/>
          <a:lstStyle/>
          <a:p>
            <a:pPr indent="0" marL="0">
              <a:buNone/>
            </a:pPr>
            <a:r>
              <a:rPr lang="en-US" sz="1200" b="1" dirty="0">
                <a:solidFill>
                  <a:schemeClr val="tx2"/>
                </a:solidFill>
              </a:rPr>
              <a:t>Trabajos del cliente</a:t>
            </a:r>
            <a:endParaRPr lang="en-US" sz="1200" dirty="0"/>
          </a:p>
        </p:txBody>
      </p:sp>
      <p:sp>
        <p:nvSpPr>
          <p:cNvPr id="27" name="Text 19"/>
          <p:cNvSpPr txBox="1"/>
          <p:nvPr/>
        </p:nvSpPr>
        <p:spPr>
          <a:xfrm>
            <a:off x="9555480" y="2715768"/>
            <a:ext cx="1828800" cy="25420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Darle hierro sin pelear</a:t>
            </a:r>
            <a:endParaRPr lang="en-US" sz="1200" dirty="0"/>
          </a:p>
          <a:p>
            <a:pPr marL="127000" indent="-127000">
              <a:spcAft>
                <a:spcPts val="400"/>
              </a:spcAft>
              <a:buSzPct val="100000"/>
              <a:buChar char="•"/>
            </a:pPr>
            <a:r>
              <a:rPr lang="en-US" sz="1200" dirty="0">
                <a:solidFill>
                  <a:schemeClr val="tx1"/>
                </a:solidFill>
              </a:rPr>
              <a:t>Lonchera variada en minutos</a:t>
            </a:r>
            <a:endParaRPr lang="en-US" sz="1200" dirty="0"/>
          </a:p>
          <a:p>
            <a:pPr marL="127000" indent="-127000">
              <a:spcAft>
                <a:spcPts val="400"/>
              </a:spcAft>
              <a:buSzPct val="100000"/>
              <a:buChar char="•"/>
            </a:pPr>
            <a:r>
              <a:rPr lang="en-US" sz="1200" dirty="0">
                <a:solidFill>
                  <a:schemeClr val="tx1"/>
                </a:solidFill>
              </a:rPr>
              <a:t>Cumplir la lonchera del colegio</a:t>
            </a:r>
            <a:endParaRPr lang="en-US" sz="1200" dirty="0"/>
          </a:p>
          <a:p>
            <a:pPr marL="127000" indent="-127000">
              <a:spcAft>
                <a:spcPts val="400"/>
              </a:spcAft>
              <a:buSzPct val="100000"/>
              <a:buChar char="•"/>
            </a:pPr>
            <a:r>
              <a:rPr lang="en-US" sz="1200" dirty="0">
                <a:solidFill>
                  <a:schemeClr val="tx1"/>
                </a:solidFill>
              </a:rPr>
              <a:t>Sentirse buen padre o madre</a:t>
            </a:r>
            <a:endParaRPr lang="en-US" sz="1200" dirty="0"/>
          </a:p>
        </p:txBody>
      </p:sp>
      <p:sp>
        <p:nvSpPr>
          <p:cNvPr id="28" name="Shape 20"/>
          <p:cNvSpPr/>
          <p:nvPr/>
        </p:nvSpPr>
        <p:spPr>
          <a:xfrm>
            <a:off x="5349240" y="3401568"/>
            <a:ext cx="1600200" cy="603504"/>
          </a:xfrm>
          <a:prstGeom prst="leftRightArrow">
            <a:avLst/>
          </a:prstGeom>
          <a:solidFill>
            <a:schemeClr val="accent3"/>
          </a:solidFill>
          <a:ln w="12700">
            <a:solidFill>
              <a:schemeClr val="accent3"/>
            </a:solidFill>
            <a:prstDash val="solid"/>
          </a:ln>
        </p:spPr>
      </p:sp>
      <p:sp>
        <p:nvSpPr>
          <p:cNvPr id="29" name="Text 21"/>
          <p:cNvSpPr txBox="1"/>
          <p:nvPr/>
        </p:nvSpPr>
        <p:spPr>
          <a:xfrm>
            <a:off x="5349240" y="3401568"/>
            <a:ext cx="1600200" cy="603504"/>
          </a:xfrm>
          <a:prstGeom prst="rect">
            <a:avLst/>
          </a:prstGeom>
          <a:noFill/>
          <a:ln/>
        </p:spPr>
        <p:txBody>
          <a:bodyPr wrap="square" lIns="0" tIns="0" rIns="0" bIns="0" rtlCol="0" anchor="ctr"/>
          <a:lstStyle/>
          <a:p>
            <a:pPr algn="ctr" indent="0" marL="0">
              <a:buNone/>
            </a:pPr>
            <a:r>
              <a:rPr lang="en-US" sz="1400" b="1" dirty="0">
                <a:solidFill>
                  <a:schemeClr val="tx1"/>
                </a:solidFill>
              </a:rPr>
              <a:t>Encaje</a:t>
            </a:r>
            <a:endParaRPr lang="en-US" sz="1400" dirty="0"/>
          </a:p>
        </p:txBody>
      </p:sp>
      <p:sp>
        <p:nvSpPr>
          <p:cNvPr id="30" name="Text 22"/>
          <p:cNvSpPr txBox="1"/>
          <p:nvPr/>
        </p:nvSpPr>
        <p:spPr>
          <a:xfrm>
            <a:off x="640080" y="6053328"/>
            <a:ext cx="4480560" cy="274320"/>
          </a:xfrm>
          <a:prstGeom prst="rect">
            <a:avLst/>
          </a:prstGeom>
          <a:noFill/>
          <a:ln/>
        </p:spPr>
        <p:txBody>
          <a:bodyPr wrap="square" lIns="0" tIns="0" rIns="0" bIns="0" rtlCol="0" anchor="t"/>
          <a:lstStyle/>
          <a:p>
            <a:pPr algn="ctr" indent="0" marL="0">
              <a:buNone/>
            </a:pPr>
            <a:r>
              <a:rPr lang="en-US" sz="1100" b="1" spc="100" kern="0" dirty="0">
                <a:solidFill>
                  <a:schemeClr val="accent2"/>
                </a:solidFill>
              </a:rPr>
              <a:t>MAPA DE VALOR · ANDIBITE</a:t>
            </a:r>
            <a:endParaRPr lang="en-US" sz="1100" dirty="0"/>
          </a:p>
        </p:txBody>
      </p:sp>
      <p:sp>
        <p:nvSpPr>
          <p:cNvPr id="31" name="Text 23"/>
          <p:cNvSpPr txBox="1"/>
          <p:nvPr/>
        </p:nvSpPr>
        <p:spPr>
          <a:xfrm>
            <a:off x="7178040" y="6053328"/>
            <a:ext cx="4480560" cy="274320"/>
          </a:xfrm>
          <a:prstGeom prst="rect">
            <a:avLst/>
          </a:prstGeom>
          <a:noFill/>
          <a:ln/>
        </p:spPr>
        <p:txBody>
          <a:bodyPr wrap="square" lIns="0" tIns="0" rIns="0" bIns="0" rtlCol="0" anchor="t"/>
          <a:lstStyle/>
          <a:p>
            <a:pPr algn="ctr" indent="0" marL="0">
              <a:buNone/>
            </a:pPr>
            <a:r>
              <a:rPr lang="en-US" sz="1100" b="1" spc="100" kern="0" dirty="0">
                <a:solidFill>
                  <a:schemeClr val="accent1"/>
                </a:solidFill>
              </a:rPr>
              <a:t>PERFIL DEL CLIENTE · CLAUDIA Y RODRIGO</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ENCAJE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Cada dolor tiene su aliviador</a:t>
            </a:r>
            <a:endParaRPr lang="en-US" sz="3400" dirty="0"/>
          </a:p>
        </p:txBody>
      </p:sp>
      <p:sp>
        <p:nvSpPr>
          <p:cNvPr id="4" name="Text 2"/>
          <p:cNvSpPr txBox="1"/>
          <p:nvPr/>
        </p:nvSpPr>
        <p:spPr>
          <a:xfrm>
            <a:off x="548640" y="1463040"/>
            <a:ext cx="36576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DOLOR DEL CLIENTE</a:t>
            </a:r>
            <a:endParaRPr lang="en-US" sz="1200" dirty="0"/>
          </a:p>
        </p:txBody>
      </p:sp>
      <p:sp>
        <p:nvSpPr>
          <p:cNvPr id="5" name="Text 3"/>
          <p:cNvSpPr txBox="1"/>
          <p:nvPr/>
        </p:nvSpPr>
        <p:spPr>
          <a:xfrm>
            <a:off x="6217920" y="1463040"/>
            <a:ext cx="3657600" cy="274320"/>
          </a:xfrm>
          <a:prstGeom prst="rect">
            <a:avLst/>
          </a:prstGeom>
          <a:noFill/>
          <a:ln/>
        </p:spPr>
        <p:txBody>
          <a:bodyPr wrap="square" lIns="0" tIns="0" rIns="0" bIns="0" rtlCol="0" anchor="t"/>
          <a:lstStyle/>
          <a:p>
            <a:pPr indent="0" marL="0">
              <a:buNone/>
            </a:pPr>
            <a:r>
              <a:rPr lang="en-US" sz="1200" b="1" spc="100" kern="0" dirty="0">
                <a:solidFill>
                  <a:schemeClr val="tx2"/>
                </a:solidFill>
              </a:rPr>
              <a:t>ALIVIADOR ANDIBITE</a:t>
            </a:r>
            <a:endParaRPr lang="en-US" sz="1200" dirty="0"/>
          </a:p>
        </p:txBody>
      </p:sp>
      <p:sp>
        <p:nvSpPr>
          <p:cNvPr id="6" name="Text 4"/>
          <p:cNvSpPr txBox="1"/>
          <p:nvPr/>
        </p:nvSpPr>
        <p:spPr>
          <a:xfrm>
            <a:off x="10012680" y="1463040"/>
            <a:ext cx="1627632"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EVIDENCIA</a:t>
            </a:r>
            <a:endParaRPr lang="en-US" sz="1200" dirty="0"/>
          </a:p>
        </p:txBody>
      </p:sp>
      <p:sp>
        <p:nvSpPr>
          <p:cNvPr id="7" name="Shape 5"/>
          <p:cNvSpPr/>
          <p:nvPr/>
        </p:nvSpPr>
        <p:spPr>
          <a:xfrm>
            <a:off x="548640" y="1828800"/>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658368" y="1956816"/>
            <a:ext cx="457200" cy="457200"/>
          </a:xfrm>
          <a:prstGeom prst="ellipse">
            <a:avLst/>
          </a:prstGeom>
          <a:solidFill>
            <a:schemeClr val="accent6"/>
          </a:solidFill>
          <a:ln w="12700">
            <a:solidFill>
              <a:schemeClr val="accent6"/>
            </a:solidFill>
            <a:prstDash val="solid"/>
          </a:ln>
        </p:spPr>
      </p:sp>
      <p:pic>
        <p:nvPicPr>
          <p:cNvPr id="9" name="Image 0" descr="preencoded.png">    </p:cNvPr>
          <p:cNvPicPr>
            <a:picLocks noChangeAspect="1"/>
          </p:cNvPicPr>
          <p:nvPr/>
        </p:nvPicPr>
        <p:blipFill>
          <a:blip r:embed="rId1"/>
          <a:stretch>
            <a:fillRect/>
          </a:stretch>
        </p:blipFill>
        <p:spPr>
          <a:xfrm>
            <a:off x="758952" y="2057400"/>
            <a:ext cx="256032" cy="256032"/>
          </a:xfrm>
          <a:prstGeom prst="rect">
            <a:avLst/>
          </a:prstGeom>
        </p:spPr>
      </p:pic>
      <p:sp>
        <p:nvSpPr>
          <p:cNvPr id="10" name="Text 7"/>
          <p:cNvSpPr txBox="1"/>
          <p:nvPr/>
        </p:nvSpPr>
        <p:spPr>
          <a:xfrm>
            <a:off x="1234440" y="1828800"/>
            <a:ext cx="3794760" cy="713232"/>
          </a:xfrm>
          <a:prstGeom prst="rect">
            <a:avLst/>
          </a:prstGeom>
          <a:noFill/>
          <a:ln/>
        </p:spPr>
        <p:txBody>
          <a:bodyPr wrap="square" lIns="0" tIns="0" rIns="0" bIns="0" rtlCol="0" anchor="ctr"/>
          <a:lstStyle/>
          <a:p>
            <a:pPr indent="0" marL="0">
              <a:buNone/>
            </a:pPr>
            <a:r>
              <a:rPr lang="en-US" sz="1500" dirty="0">
                <a:solidFill>
                  <a:schemeClr val="tx1"/>
                </a:solidFill>
              </a:rPr>
              <a:t>Lo saludable regresa intacto</a:t>
            </a:r>
            <a:endParaRPr lang="en-US" sz="1500" dirty="0"/>
          </a:p>
        </p:txBody>
      </p:sp>
      <p:sp>
        <p:nvSpPr>
          <p:cNvPr id="11" name="Shape 8"/>
          <p:cNvSpPr/>
          <p:nvPr/>
        </p:nvSpPr>
        <p:spPr>
          <a:xfrm>
            <a:off x="5285232" y="2011680"/>
            <a:ext cx="777240" cy="347472"/>
          </a:xfrm>
          <a:prstGeom prst="rightArrow">
            <a:avLst/>
          </a:prstGeom>
          <a:solidFill>
            <a:schemeClr val="accent3"/>
          </a:solidFill>
          <a:ln w="12700">
            <a:solidFill>
              <a:schemeClr val="accent3"/>
            </a:solidFill>
            <a:prstDash val="solid"/>
          </a:ln>
        </p:spPr>
      </p:sp>
      <p:sp>
        <p:nvSpPr>
          <p:cNvPr id="12" name="Shape 9"/>
          <p:cNvSpPr/>
          <p:nvPr/>
        </p:nvSpPr>
        <p:spPr>
          <a:xfrm>
            <a:off x="6217920" y="1828800"/>
            <a:ext cx="3657600" cy="713232"/>
          </a:xfrm>
          <a:prstGeom prst="roundRect">
            <a:avLst>
              <a:gd name="adj" fmla="val 50000"/>
            </a:avLst>
          </a:prstGeom>
          <a:solidFill>
            <a:schemeClr val="tx2"/>
          </a:solidFill>
          <a:ln w="12700">
            <a:solidFill>
              <a:schemeClr val="tx2"/>
            </a:solidFill>
            <a:prstDash val="solid"/>
          </a:ln>
        </p:spPr>
      </p:sp>
      <p:sp>
        <p:nvSpPr>
          <p:cNvPr id="13" name="Shape 10"/>
          <p:cNvSpPr/>
          <p:nvPr/>
        </p:nvSpPr>
        <p:spPr>
          <a:xfrm>
            <a:off x="6327648" y="1956816"/>
            <a:ext cx="457200" cy="457200"/>
          </a:xfrm>
          <a:prstGeom prst="ellipse">
            <a:avLst/>
          </a:prstGeom>
          <a:solidFill>
            <a:schemeClr val="accent4"/>
          </a:solidFill>
          <a:ln w="12700">
            <a:solidFill>
              <a:schemeClr val="accent4"/>
            </a:solidFill>
            <a:prstDash val="solid"/>
          </a:ln>
        </p:spPr>
      </p:sp>
      <p:pic>
        <p:nvPicPr>
          <p:cNvPr id="14" name="Image 1" descr="preencoded.png">    </p:cNvPr>
          <p:cNvPicPr>
            <a:picLocks noChangeAspect="1"/>
          </p:cNvPicPr>
          <p:nvPr/>
        </p:nvPicPr>
        <p:blipFill>
          <a:blip r:embed="rId2"/>
          <a:stretch>
            <a:fillRect/>
          </a:stretch>
        </p:blipFill>
        <p:spPr>
          <a:xfrm>
            <a:off x="6428232" y="2057400"/>
            <a:ext cx="256032" cy="256032"/>
          </a:xfrm>
          <a:prstGeom prst="rect">
            <a:avLst/>
          </a:prstGeom>
        </p:spPr>
      </p:pic>
      <p:sp>
        <p:nvSpPr>
          <p:cNvPr id="15" name="Text 11"/>
          <p:cNvSpPr txBox="1"/>
          <p:nvPr/>
        </p:nvSpPr>
        <p:spPr>
          <a:xfrm>
            <a:off x="6903720" y="1828800"/>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Cacao y canela esconden la sangrecita</a:t>
            </a:r>
            <a:endParaRPr lang="en-US" sz="1500" dirty="0"/>
          </a:p>
        </p:txBody>
      </p:sp>
      <p:sp>
        <p:nvSpPr>
          <p:cNvPr id="16" name="Text 12"/>
          <p:cNvSpPr txBox="1"/>
          <p:nvPr/>
        </p:nvSpPr>
        <p:spPr>
          <a:xfrm>
            <a:off x="10012680" y="1828800"/>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 y focus 1</a:t>
            </a:r>
            <a:endParaRPr lang="en-US" sz="1200" dirty="0"/>
          </a:p>
        </p:txBody>
      </p:sp>
      <p:sp>
        <p:nvSpPr>
          <p:cNvPr id="17" name="Shape 13"/>
          <p:cNvSpPr/>
          <p:nvPr/>
        </p:nvSpPr>
        <p:spPr>
          <a:xfrm>
            <a:off x="548640" y="2679192"/>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Shape 14"/>
          <p:cNvSpPr/>
          <p:nvPr/>
        </p:nvSpPr>
        <p:spPr>
          <a:xfrm>
            <a:off x="658368" y="2807208"/>
            <a:ext cx="457200" cy="457200"/>
          </a:xfrm>
          <a:prstGeom prst="ellipse">
            <a:avLst/>
          </a:prstGeom>
          <a:solidFill>
            <a:schemeClr val="accent6"/>
          </a:solidFill>
          <a:ln w="12700">
            <a:solidFill>
              <a:schemeClr val="accent6"/>
            </a:solidFill>
            <a:prstDash val="solid"/>
          </a:ln>
        </p:spPr>
      </p:sp>
      <p:pic>
        <p:nvPicPr>
          <p:cNvPr id="19" name="Image 2" descr="preencoded.png">    </p:cNvPr>
          <p:cNvPicPr>
            <a:picLocks noChangeAspect="1"/>
          </p:cNvPicPr>
          <p:nvPr/>
        </p:nvPicPr>
        <p:blipFill>
          <a:blip r:embed="rId3"/>
          <a:stretch>
            <a:fillRect/>
          </a:stretch>
        </p:blipFill>
        <p:spPr>
          <a:xfrm>
            <a:off x="758952" y="2907792"/>
            <a:ext cx="256032" cy="256032"/>
          </a:xfrm>
          <a:prstGeom prst="rect">
            <a:avLst/>
          </a:prstGeom>
        </p:spPr>
      </p:pic>
      <p:sp>
        <p:nvSpPr>
          <p:cNvPr id="20" name="Text 15"/>
          <p:cNvSpPr txBox="1"/>
          <p:nvPr/>
        </p:nvSpPr>
        <p:spPr>
          <a:xfrm>
            <a:off x="1234440" y="2679192"/>
            <a:ext cx="3794760" cy="713232"/>
          </a:xfrm>
          <a:prstGeom prst="rect">
            <a:avLst/>
          </a:prstGeom>
          <a:noFill/>
          <a:ln/>
        </p:spPr>
        <p:txBody>
          <a:bodyPr wrap="square" lIns="0" tIns="0" rIns="0" bIns="0" rtlCol="0" anchor="ctr"/>
          <a:lstStyle/>
          <a:p>
            <a:pPr indent="0" marL="0">
              <a:buNone/>
            </a:pPr>
            <a:r>
              <a:rPr lang="en-US" sz="1500" dirty="0">
                <a:solidFill>
                  <a:schemeClr val="tx1"/>
                </a:solidFill>
              </a:rPr>
              <a:t>El octógono contradice lo saludable</a:t>
            </a:r>
            <a:endParaRPr lang="en-US" sz="1500" dirty="0"/>
          </a:p>
        </p:txBody>
      </p:sp>
      <p:sp>
        <p:nvSpPr>
          <p:cNvPr id="21" name="Shape 16"/>
          <p:cNvSpPr/>
          <p:nvPr/>
        </p:nvSpPr>
        <p:spPr>
          <a:xfrm>
            <a:off x="5285232" y="2862072"/>
            <a:ext cx="777240" cy="347472"/>
          </a:xfrm>
          <a:prstGeom prst="rightArrow">
            <a:avLst/>
          </a:prstGeom>
          <a:solidFill>
            <a:schemeClr val="accent3"/>
          </a:solidFill>
          <a:ln w="12700">
            <a:solidFill>
              <a:schemeClr val="accent3"/>
            </a:solidFill>
            <a:prstDash val="solid"/>
          </a:ln>
        </p:spPr>
      </p:sp>
      <p:sp>
        <p:nvSpPr>
          <p:cNvPr id="22" name="Shape 17"/>
          <p:cNvSpPr/>
          <p:nvPr/>
        </p:nvSpPr>
        <p:spPr>
          <a:xfrm>
            <a:off x="6217920" y="2679192"/>
            <a:ext cx="3657600" cy="713232"/>
          </a:xfrm>
          <a:prstGeom prst="roundRect">
            <a:avLst>
              <a:gd name="adj" fmla="val 50000"/>
            </a:avLst>
          </a:prstGeom>
          <a:solidFill>
            <a:schemeClr val="tx2"/>
          </a:solidFill>
          <a:ln w="12700">
            <a:solidFill>
              <a:schemeClr val="tx2"/>
            </a:solidFill>
            <a:prstDash val="solid"/>
          </a:ln>
        </p:spPr>
      </p:sp>
      <p:sp>
        <p:nvSpPr>
          <p:cNvPr id="23" name="Shape 18"/>
          <p:cNvSpPr/>
          <p:nvPr/>
        </p:nvSpPr>
        <p:spPr>
          <a:xfrm>
            <a:off x="6327648" y="2807208"/>
            <a:ext cx="457200" cy="457200"/>
          </a:xfrm>
          <a:prstGeom prst="ellipse">
            <a:avLst/>
          </a:prstGeom>
          <a:solidFill>
            <a:schemeClr val="accent4"/>
          </a:solidFill>
          <a:ln w="12700">
            <a:solidFill>
              <a:schemeClr val="accent4"/>
            </a:solidFill>
            <a:prstDash val="solid"/>
          </a:ln>
        </p:spPr>
      </p:sp>
      <p:pic>
        <p:nvPicPr>
          <p:cNvPr id="24" name="Image 3" descr="preencoded.png">    </p:cNvPr>
          <p:cNvPicPr>
            <a:picLocks noChangeAspect="1"/>
          </p:cNvPicPr>
          <p:nvPr/>
        </p:nvPicPr>
        <p:blipFill>
          <a:blip r:embed="rId4"/>
          <a:stretch>
            <a:fillRect/>
          </a:stretch>
        </p:blipFill>
        <p:spPr>
          <a:xfrm>
            <a:off x="6428232" y="2907792"/>
            <a:ext cx="256032" cy="256032"/>
          </a:xfrm>
          <a:prstGeom prst="rect">
            <a:avLst/>
          </a:prstGeom>
        </p:spPr>
      </p:pic>
      <p:sp>
        <p:nvSpPr>
          <p:cNvPr id="25" name="Text 19"/>
          <p:cNvSpPr txBox="1"/>
          <p:nvPr/>
        </p:nvSpPr>
        <p:spPr>
          <a:xfrm>
            <a:off x="6903720" y="2679192"/>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Sin octógono: menos de 10 g de azúcar</a:t>
            </a:r>
            <a:endParaRPr lang="en-US" sz="1500" dirty="0"/>
          </a:p>
        </p:txBody>
      </p:sp>
      <p:sp>
        <p:nvSpPr>
          <p:cNvPr id="26" name="Text 20"/>
          <p:cNvSpPr txBox="1"/>
          <p:nvPr/>
        </p:nvSpPr>
        <p:spPr>
          <a:xfrm>
            <a:off x="10012680" y="2679192"/>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83 % · Ipsos 2025</a:t>
            </a:r>
            <a:endParaRPr lang="en-US" sz="1200" dirty="0"/>
          </a:p>
        </p:txBody>
      </p:sp>
      <p:sp>
        <p:nvSpPr>
          <p:cNvPr id="27" name="Shape 21"/>
          <p:cNvSpPr/>
          <p:nvPr/>
        </p:nvSpPr>
        <p:spPr>
          <a:xfrm>
            <a:off x="548640" y="3529584"/>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8" name="Shape 22"/>
          <p:cNvSpPr/>
          <p:nvPr/>
        </p:nvSpPr>
        <p:spPr>
          <a:xfrm>
            <a:off x="658368" y="3657600"/>
            <a:ext cx="457200" cy="457200"/>
          </a:xfrm>
          <a:prstGeom prst="ellipse">
            <a:avLst/>
          </a:prstGeom>
          <a:solidFill>
            <a:schemeClr val="accent6"/>
          </a:solidFill>
          <a:ln w="12700">
            <a:solidFill>
              <a:schemeClr val="accent6"/>
            </a:solidFill>
            <a:prstDash val="solid"/>
          </a:ln>
        </p:spPr>
      </p:sp>
      <p:pic>
        <p:nvPicPr>
          <p:cNvPr id="29" name="Image 4" descr="preencoded.png">    </p:cNvPr>
          <p:cNvPicPr>
            <a:picLocks noChangeAspect="1"/>
          </p:cNvPicPr>
          <p:nvPr/>
        </p:nvPicPr>
        <p:blipFill>
          <a:blip r:embed="rId5"/>
          <a:stretch>
            <a:fillRect/>
          </a:stretch>
        </p:blipFill>
        <p:spPr>
          <a:xfrm>
            <a:off x="758952" y="3758184"/>
            <a:ext cx="256032" cy="256032"/>
          </a:xfrm>
          <a:prstGeom prst="rect">
            <a:avLst/>
          </a:prstGeom>
        </p:spPr>
      </p:pic>
      <p:sp>
        <p:nvSpPr>
          <p:cNvPr id="30" name="Text 23"/>
          <p:cNvSpPr txBox="1"/>
          <p:nvPr/>
        </p:nvSpPr>
        <p:spPr>
          <a:xfrm>
            <a:off x="1234440" y="3529584"/>
            <a:ext cx="3794760" cy="713232"/>
          </a:xfrm>
          <a:prstGeom prst="rect">
            <a:avLst/>
          </a:prstGeom>
          <a:noFill/>
          <a:ln/>
        </p:spPr>
        <p:txBody>
          <a:bodyPr wrap="square" lIns="0" tIns="0" rIns="0" bIns="0" rtlCol="0" anchor="ctr"/>
          <a:lstStyle/>
          <a:p>
            <a:pPr indent="0" marL="0">
              <a:buNone/>
            </a:pPr>
            <a:r>
              <a:rPr lang="en-US" sz="1500" dirty="0">
                <a:solidFill>
                  <a:schemeClr val="tx1"/>
                </a:solidFill>
              </a:rPr>
              <a:t>No confío en lo envasado</a:t>
            </a:r>
            <a:endParaRPr lang="en-US" sz="1500" dirty="0"/>
          </a:p>
        </p:txBody>
      </p:sp>
      <p:sp>
        <p:nvSpPr>
          <p:cNvPr id="31" name="Shape 24"/>
          <p:cNvSpPr/>
          <p:nvPr/>
        </p:nvSpPr>
        <p:spPr>
          <a:xfrm>
            <a:off x="5285232" y="3712464"/>
            <a:ext cx="777240" cy="347472"/>
          </a:xfrm>
          <a:prstGeom prst="rightArrow">
            <a:avLst/>
          </a:prstGeom>
          <a:solidFill>
            <a:schemeClr val="accent3"/>
          </a:solidFill>
          <a:ln w="12700">
            <a:solidFill>
              <a:schemeClr val="accent3"/>
            </a:solidFill>
            <a:prstDash val="solid"/>
          </a:ln>
        </p:spPr>
      </p:sp>
      <p:sp>
        <p:nvSpPr>
          <p:cNvPr id="32" name="Shape 25"/>
          <p:cNvSpPr/>
          <p:nvPr/>
        </p:nvSpPr>
        <p:spPr>
          <a:xfrm>
            <a:off x="6217920" y="3529584"/>
            <a:ext cx="3657600" cy="713232"/>
          </a:xfrm>
          <a:prstGeom prst="roundRect">
            <a:avLst>
              <a:gd name="adj" fmla="val 50000"/>
            </a:avLst>
          </a:prstGeom>
          <a:solidFill>
            <a:schemeClr val="tx2"/>
          </a:solidFill>
          <a:ln w="12700">
            <a:solidFill>
              <a:schemeClr val="tx2"/>
            </a:solidFill>
            <a:prstDash val="solid"/>
          </a:ln>
        </p:spPr>
      </p:sp>
      <p:sp>
        <p:nvSpPr>
          <p:cNvPr id="33" name="Shape 26"/>
          <p:cNvSpPr/>
          <p:nvPr/>
        </p:nvSpPr>
        <p:spPr>
          <a:xfrm>
            <a:off x="6327648" y="3657600"/>
            <a:ext cx="457200" cy="457200"/>
          </a:xfrm>
          <a:prstGeom prst="ellipse">
            <a:avLst/>
          </a:prstGeom>
          <a:solidFill>
            <a:schemeClr val="accent4"/>
          </a:solidFill>
          <a:ln w="12700">
            <a:solidFill>
              <a:schemeClr val="accent4"/>
            </a:solidFill>
            <a:prstDash val="solid"/>
          </a:ln>
        </p:spPr>
      </p:sp>
      <p:pic>
        <p:nvPicPr>
          <p:cNvPr id="34" name="Image 5" descr="preencoded.png">    </p:cNvPr>
          <p:cNvPicPr>
            <a:picLocks noChangeAspect="1"/>
          </p:cNvPicPr>
          <p:nvPr/>
        </p:nvPicPr>
        <p:blipFill>
          <a:blip r:embed="rId6"/>
          <a:stretch>
            <a:fillRect/>
          </a:stretch>
        </p:blipFill>
        <p:spPr>
          <a:xfrm>
            <a:off x="6428232" y="3758184"/>
            <a:ext cx="256032" cy="256032"/>
          </a:xfrm>
          <a:prstGeom prst="rect">
            <a:avLst/>
          </a:prstGeom>
        </p:spPr>
      </p:pic>
      <p:sp>
        <p:nvSpPr>
          <p:cNvPr id="35" name="Text 27"/>
          <p:cNvSpPr txBox="1"/>
          <p:nvPr/>
        </p:nvSpPr>
        <p:spPr>
          <a:xfrm>
            <a:off x="6903720" y="3529584"/>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Hierro en mg y QR al laboratorio</a:t>
            </a:r>
            <a:endParaRPr lang="en-US" sz="1500" dirty="0"/>
          </a:p>
        </p:txBody>
      </p:sp>
      <p:sp>
        <p:nvSpPr>
          <p:cNvPr id="36" name="Text 28"/>
          <p:cNvSpPr txBox="1"/>
          <p:nvPr/>
        </p:nvSpPr>
        <p:spPr>
          <a:xfrm>
            <a:off x="10012680" y="3529584"/>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42 % · Kantar 2025</a:t>
            </a:r>
            <a:endParaRPr lang="en-US" sz="1200" dirty="0"/>
          </a:p>
        </p:txBody>
      </p:sp>
      <p:sp>
        <p:nvSpPr>
          <p:cNvPr id="37" name="Shape 29"/>
          <p:cNvSpPr/>
          <p:nvPr/>
        </p:nvSpPr>
        <p:spPr>
          <a:xfrm>
            <a:off x="548640" y="4379976"/>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8" name="Shape 30"/>
          <p:cNvSpPr/>
          <p:nvPr/>
        </p:nvSpPr>
        <p:spPr>
          <a:xfrm>
            <a:off x="658368" y="4507992"/>
            <a:ext cx="457200" cy="457200"/>
          </a:xfrm>
          <a:prstGeom prst="ellipse">
            <a:avLst/>
          </a:prstGeom>
          <a:solidFill>
            <a:schemeClr val="accent6"/>
          </a:solidFill>
          <a:ln w="12700">
            <a:solidFill>
              <a:schemeClr val="accent6"/>
            </a:solidFill>
            <a:prstDash val="solid"/>
          </a:ln>
        </p:spPr>
      </p:sp>
      <p:pic>
        <p:nvPicPr>
          <p:cNvPr id="39" name="Image 6" descr="preencoded.png">    </p:cNvPr>
          <p:cNvPicPr>
            <a:picLocks noChangeAspect="1"/>
          </p:cNvPicPr>
          <p:nvPr/>
        </p:nvPicPr>
        <p:blipFill>
          <a:blip r:embed="rId7"/>
          <a:stretch>
            <a:fillRect/>
          </a:stretch>
        </p:blipFill>
        <p:spPr>
          <a:xfrm>
            <a:off x="758952" y="4608576"/>
            <a:ext cx="256032" cy="256032"/>
          </a:xfrm>
          <a:prstGeom prst="rect">
            <a:avLst/>
          </a:prstGeom>
        </p:spPr>
      </p:pic>
      <p:sp>
        <p:nvSpPr>
          <p:cNvPr id="40" name="Text 31"/>
          <p:cNvSpPr txBox="1"/>
          <p:nvPr/>
        </p:nvSpPr>
        <p:spPr>
          <a:xfrm>
            <a:off x="1234440" y="4379976"/>
            <a:ext cx="3794760" cy="713232"/>
          </a:xfrm>
          <a:prstGeom prst="rect">
            <a:avLst/>
          </a:prstGeom>
          <a:noFill/>
          <a:ln/>
        </p:spPr>
        <p:txBody>
          <a:bodyPr wrap="square" lIns="0" tIns="0" rIns="0" bIns="0" rtlCol="0" anchor="ctr"/>
          <a:lstStyle/>
          <a:p>
            <a:pPr indent="0" marL="0">
              <a:buNone/>
            </a:pPr>
            <a:r>
              <a:rPr lang="en-US" sz="1500" dirty="0">
                <a:solidFill>
                  <a:schemeClr val="tx1"/>
                </a:solidFill>
              </a:rPr>
              <a:t>El jueves ya no sé qué mandar</a:t>
            </a:r>
            <a:endParaRPr lang="en-US" sz="1500" dirty="0"/>
          </a:p>
        </p:txBody>
      </p:sp>
      <p:sp>
        <p:nvSpPr>
          <p:cNvPr id="41" name="Shape 32"/>
          <p:cNvSpPr/>
          <p:nvPr/>
        </p:nvSpPr>
        <p:spPr>
          <a:xfrm>
            <a:off x="5285232" y="4562856"/>
            <a:ext cx="777240" cy="347472"/>
          </a:xfrm>
          <a:prstGeom prst="rightArrow">
            <a:avLst/>
          </a:prstGeom>
          <a:solidFill>
            <a:schemeClr val="accent3"/>
          </a:solidFill>
          <a:ln w="12700">
            <a:solidFill>
              <a:schemeClr val="accent3"/>
            </a:solidFill>
            <a:prstDash val="solid"/>
          </a:ln>
        </p:spPr>
      </p:sp>
      <p:sp>
        <p:nvSpPr>
          <p:cNvPr id="42" name="Shape 33"/>
          <p:cNvSpPr/>
          <p:nvPr/>
        </p:nvSpPr>
        <p:spPr>
          <a:xfrm>
            <a:off x="6217920" y="4379976"/>
            <a:ext cx="3657600" cy="713232"/>
          </a:xfrm>
          <a:prstGeom prst="roundRect">
            <a:avLst>
              <a:gd name="adj" fmla="val 50000"/>
            </a:avLst>
          </a:prstGeom>
          <a:solidFill>
            <a:schemeClr val="tx2"/>
          </a:solidFill>
          <a:ln w="12700">
            <a:solidFill>
              <a:schemeClr val="tx2"/>
            </a:solidFill>
            <a:prstDash val="solid"/>
          </a:ln>
        </p:spPr>
      </p:sp>
      <p:sp>
        <p:nvSpPr>
          <p:cNvPr id="43" name="Shape 34"/>
          <p:cNvSpPr/>
          <p:nvPr/>
        </p:nvSpPr>
        <p:spPr>
          <a:xfrm>
            <a:off x="6327648" y="4507992"/>
            <a:ext cx="457200" cy="457200"/>
          </a:xfrm>
          <a:prstGeom prst="ellipse">
            <a:avLst/>
          </a:prstGeom>
          <a:solidFill>
            <a:schemeClr val="accent4"/>
          </a:solidFill>
          <a:ln w="12700">
            <a:solidFill>
              <a:schemeClr val="accent4"/>
            </a:solidFill>
            <a:prstDash val="solid"/>
          </a:ln>
        </p:spPr>
      </p:sp>
      <p:pic>
        <p:nvPicPr>
          <p:cNvPr id="44" name="Image 7" descr="preencoded.png">    </p:cNvPr>
          <p:cNvPicPr>
            <a:picLocks noChangeAspect="1"/>
          </p:cNvPicPr>
          <p:nvPr/>
        </p:nvPicPr>
        <p:blipFill>
          <a:blip r:embed="rId8"/>
          <a:stretch>
            <a:fillRect/>
          </a:stretch>
        </p:blipFill>
        <p:spPr>
          <a:xfrm>
            <a:off x="6428232" y="4608576"/>
            <a:ext cx="256032" cy="256032"/>
          </a:xfrm>
          <a:prstGeom prst="rect">
            <a:avLst/>
          </a:prstGeom>
        </p:spPr>
      </p:pic>
      <p:sp>
        <p:nvSpPr>
          <p:cNvPr id="45" name="Text 35"/>
          <p:cNvSpPr txBox="1"/>
          <p:nvPr/>
        </p:nvSpPr>
        <p:spPr>
          <a:xfrm>
            <a:off x="6903720" y="4379976"/>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Tres sabores en el mismo pack</a:t>
            </a:r>
            <a:endParaRPr lang="en-US" sz="1500" dirty="0"/>
          </a:p>
        </p:txBody>
      </p:sp>
      <p:sp>
        <p:nvSpPr>
          <p:cNvPr id="46" name="Text 36"/>
          <p:cNvSpPr txBox="1"/>
          <p:nvPr/>
        </p:nvSpPr>
        <p:spPr>
          <a:xfrm>
            <a:off x="10012680" y="4379976"/>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a:t>
            </a:r>
            <a:endParaRPr lang="en-US" sz="1200" dirty="0"/>
          </a:p>
        </p:txBody>
      </p:sp>
      <p:sp>
        <p:nvSpPr>
          <p:cNvPr id="47" name="Shape 37"/>
          <p:cNvSpPr/>
          <p:nvPr/>
        </p:nvSpPr>
        <p:spPr>
          <a:xfrm>
            <a:off x="548640" y="5230368"/>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8" name="Shape 38"/>
          <p:cNvSpPr/>
          <p:nvPr/>
        </p:nvSpPr>
        <p:spPr>
          <a:xfrm>
            <a:off x="658368" y="5358384"/>
            <a:ext cx="457200" cy="457200"/>
          </a:xfrm>
          <a:prstGeom prst="ellipse">
            <a:avLst/>
          </a:prstGeom>
          <a:solidFill>
            <a:schemeClr val="accent6"/>
          </a:solidFill>
          <a:ln w="12700">
            <a:solidFill>
              <a:schemeClr val="accent6"/>
            </a:solidFill>
            <a:prstDash val="solid"/>
          </a:ln>
        </p:spPr>
      </p:sp>
      <p:pic>
        <p:nvPicPr>
          <p:cNvPr id="49" name="Image 8" descr="preencoded.png">    </p:cNvPr>
          <p:cNvPicPr>
            <a:picLocks noChangeAspect="1"/>
          </p:cNvPicPr>
          <p:nvPr/>
        </p:nvPicPr>
        <p:blipFill>
          <a:blip r:embed="rId9"/>
          <a:stretch>
            <a:fillRect/>
          </a:stretch>
        </p:blipFill>
        <p:spPr>
          <a:xfrm>
            <a:off x="758952" y="5458968"/>
            <a:ext cx="256032" cy="256032"/>
          </a:xfrm>
          <a:prstGeom prst="rect">
            <a:avLst/>
          </a:prstGeom>
        </p:spPr>
      </p:pic>
      <p:sp>
        <p:nvSpPr>
          <p:cNvPr id="50" name="Text 39"/>
          <p:cNvSpPr txBox="1"/>
          <p:nvPr/>
        </p:nvSpPr>
        <p:spPr>
          <a:xfrm>
            <a:off x="1234440" y="5230368"/>
            <a:ext cx="3794760" cy="713232"/>
          </a:xfrm>
          <a:prstGeom prst="rect">
            <a:avLst/>
          </a:prstGeom>
          <a:noFill/>
          <a:ln/>
        </p:spPr>
        <p:txBody>
          <a:bodyPr wrap="square" lIns="0" tIns="0" rIns="0" bIns="0" rtlCol="0" anchor="ctr"/>
          <a:lstStyle/>
          <a:p>
            <a:pPr indent="0" marL="0">
              <a:buNone/>
            </a:pPr>
            <a:r>
              <a:rPr lang="en-US" sz="1500" dirty="0">
                <a:solidFill>
                  <a:schemeClr val="tx1"/>
                </a:solidFill>
              </a:rPr>
              <a:t>La mochila malogra la comida</a:t>
            </a:r>
            <a:endParaRPr lang="en-US" sz="1500" dirty="0"/>
          </a:p>
        </p:txBody>
      </p:sp>
      <p:sp>
        <p:nvSpPr>
          <p:cNvPr id="51" name="Shape 40"/>
          <p:cNvSpPr/>
          <p:nvPr/>
        </p:nvSpPr>
        <p:spPr>
          <a:xfrm>
            <a:off x="5285232" y="5413248"/>
            <a:ext cx="777240" cy="347472"/>
          </a:xfrm>
          <a:prstGeom prst="rightArrow">
            <a:avLst/>
          </a:prstGeom>
          <a:solidFill>
            <a:schemeClr val="accent3"/>
          </a:solidFill>
          <a:ln w="12700">
            <a:solidFill>
              <a:schemeClr val="accent3"/>
            </a:solidFill>
            <a:prstDash val="solid"/>
          </a:ln>
        </p:spPr>
      </p:sp>
      <p:sp>
        <p:nvSpPr>
          <p:cNvPr id="52" name="Shape 41"/>
          <p:cNvSpPr/>
          <p:nvPr/>
        </p:nvSpPr>
        <p:spPr>
          <a:xfrm>
            <a:off x="6217920" y="5230368"/>
            <a:ext cx="3657600" cy="713232"/>
          </a:xfrm>
          <a:prstGeom prst="roundRect">
            <a:avLst>
              <a:gd name="adj" fmla="val 50000"/>
            </a:avLst>
          </a:prstGeom>
          <a:solidFill>
            <a:schemeClr val="tx2"/>
          </a:solidFill>
          <a:ln w="12700">
            <a:solidFill>
              <a:schemeClr val="tx2"/>
            </a:solidFill>
            <a:prstDash val="solid"/>
          </a:ln>
        </p:spPr>
      </p:sp>
      <p:sp>
        <p:nvSpPr>
          <p:cNvPr id="53" name="Shape 42"/>
          <p:cNvSpPr/>
          <p:nvPr/>
        </p:nvSpPr>
        <p:spPr>
          <a:xfrm>
            <a:off x="6327648" y="5358384"/>
            <a:ext cx="457200" cy="457200"/>
          </a:xfrm>
          <a:prstGeom prst="ellipse">
            <a:avLst/>
          </a:prstGeom>
          <a:solidFill>
            <a:schemeClr val="accent4"/>
          </a:solidFill>
          <a:ln w="12700">
            <a:solidFill>
              <a:schemeClr val="accent4"/>
            </a:solidFill>
            <a:prstDash val="solid"/>
          </a:ln>
        </p:spPr>
      </p:sp>
      <p:pic>
        <p:nvPicPr>
          <p:cNvPr id="54" name="Image 9" descr="preencoded.png">    </p:cNvPr>
          <p:cNvPicPr>
            <a:picLocks noChangeAspect="1"/>
          </p:cNvPicPr>
          <p:nvPr/>
        </p:nvPicPr>
        <p:blipFill>
          <a:blip r:embed="rId10"/>
          <a:stretch>
            <a:fillRect/>
          </a:stretch>
        </p:blipFill>
        <p:spPr>
          <a:xfrm>
            <a:off x="6428232" y="5458968"/>
            <a:ext cx="256032" cy="256032"/>
          </a:xfrm>
          <a:prstGeom prst="rect">
            <a:avLst/>
          </a:prstGeom>
        </p:spPr>
      </p:pic>
      <p:sp>
        <p:nvSpPr>
          <p:cNvPr id="55" name="Text 43"/>
          <p:cNvSpPr txBox="1"/>
          <p:nvPr/>
        </p:nvSpPr>
        <p:spPr>
          <a:xfrm>
            <a:off x="6903720" y="5230368"/>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Porción sellada que no necesita frío</a:t>
            </a:r>
            <a:endParaRPr lang="en-US" sz="1500" dirty="0"/>
          </a:p>
        </p:txBody>
      </p:sp>
      <p:sp>
        <p:nvSpPr>
          <p:cNvPr id="56" name="Text 44"/>
          <p:cNvSpPr txBox="1"/>
          <p:nvPr/>
        </p:nvSpPr>
        <p:spPr>
          <a:xfrm>
            <a:off x="10012680" y="5230368"/>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a:t>
            </a:r>
            <a:endParaRPr lang="en-US" sz="12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FRENTE A LA COMPETENCIA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Precio de Fika, con hierro medido y entrega en casa</a:t>
            </a:r>
            <a:endParaRPr lang="en-US" sz="3400" dirty="0"/>
          </a:p>
        </p:txBody>
      </p:sp>
      <p:graphicFrame>
        <p:nvGraphicFramePr>
          <p:cNvPr id="4" name="Chart 0" descr=""/>
          <p:cNvGraphicFramePr/>
          <p:nvPr/>
        </p:nvGraphicFramePr>
        <p:xfrm>
          <a:off x="365760" y="1463040"/>
          <a:ext cx="640080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040880" y="1600200"/>
          <a:ext cx="4599432" cy="914400"/>
        </p:xfrm>
        <a:graphic>
          <a:graphicData uri="http://schemas.openxmlformats.org/drawingml/2006/table">
            <a:tbl>
              <a:tblPr/>
              <a:tblGrid>
                <a:gridCol w="1490472"/>
                <a:gridCol w="777240"/>
                <a:gridCol w="777240"/>
                <a:gridCol w="777240"/>
                <a:gridCol w="777240"/>
              </a:tblGrid>
              <a:tr h="475488">
                <a:tc>
                  <a:txBody>
                    <a:bodyPr/>
                    <a:lstStyle/>
                    <a:p>
                      <a:pPr indent="0" marL="0">
                        <a:buNone/>
                      </a:pPr>
                      <a:r>
                        <a:rPr lang="en-US" sz="1200" b="1" dirty="0">
                          <a:solidFill>
                            <a:schemeClr val="bg1"/>
                          </a:solidFill>
                        </a:rPr>
                        <a:t>Atributo</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AndiBite</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rPr>
                        <a:t>Nutri H</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Fika</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Mamalama</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75488">
                <a:tc>
                  <a:txBody>
                    <a:bodyPr/>
                    <a:lstStyle/>
                    <a:p>
                      <a:pPr indent="0" marL="0">
                        <a:buNone/>
                      </a:pPr>
                      <a:r>
                        <a:rPr lang="en-US" sz="1300" dirty="0">
                          <a:solidFill>
                            <a:schemeClr val="tx1"/>
                          </a:solidFill>
                        </a:rPr>
                        <a:t>Hierro declarado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300" dirty="0">
                          <a:solidFill>
                            <a:schemeClr val="tx1"/>
                          </a:solidFill>
                        </a:rPr>
                        <a:t>Sin octógono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300" dirty="0">
                          <a:solidFill>
                            <a:schemeClr val="tx1"/>
                          </a:solidFill>
                        </a:rPr>
                        <a:t>Varios sabores en un pack</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300" dirty="0">
                          <a:solidFill>
                            <a:schemeClr val="tx1"/>
                          </a:solidFill>
                        </a:rPr>
                        <a:t>Entrega a domicilio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300" dirty="0">
                          <a:solidFill>
                            <a:schemeClr val="tx1"/>
                          </a:solidFill>
                        </a:rPr>
                        <a:t>Formato de postre</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040880" y="4526280"/>
            <a:ext cx="4599432" cy="274320"/>
          </a:xfrm>
          <a:prstGeom prst="rect">
            <a:avLst/>
          </a:prstGeom>
          <a:noFill/>
          <a:ln/>
        </p:spPr>
        <p:txBody>
          <a:bodyPr wrap="square" lIns="0" tIns="0" rIns="0" bIns="0" rtlCol="0" anchor="t"/>
          <a:lstStyle/>
          <a:p>
            <a:pPr indent="0" marL="0">
              <a:buNone/>
            </a:pPr>
            <a:r>
              <a:rPr lang="en-US" sz="1100" i="1" dirty="0">
                <a:solidFill>
                  <a:schemeClr val="accent2"/>
                </a:solidFill>
              </a:rPr>
              <a:t>* Se confirma en laboratorio. ? = por completar en el store check.</a:t>
            </a:r>
            <a:endParaRPr lang="en-US" sz="1100" dirty="0"/>
          </a:p>
        </p:txBody>
      </p:sp>
      <p:sp>
        <p:nvSpPr>
          <p:cNvPr id="7" name="Shape 3"/>
          <p:cNvSpPr/>
          <p:nvPr/>
        </p:nvSpPr>
        <p:spPr>
          <a:xfrm>
            <a:off x="7040880" y="4892040"/>
            <a:ext cx="4599432" cy="1234440"/>
          </a:xfrm>
          <a:prstGeom prst="roundRect">
            <a:avLst>
              <a:gd name="adj" fmla="val 888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8" name="Text 4"/>
          <p:cNvSpPr txBox="1"/>
          <p:nvPr/>
        </p:nvSpPr>
        <p:spPr>
          <a:xfrm>
            <a:off x="7269480" y="4937760"/>
            <a:ext cx="4206240" cy="1143000"/>
          </a:xfrm>
          <a:prstGeom prst="rect">
            <a:avLst/>
          </a:prstGeom>
          <a:noFill/>
          <a:ln/>
        </p:spPr>
        <p:txBody>
          <a:bodyPr wrap="square" lIns="0" tIns="0" rIns="0" bIns="0" rtlCol="0" anchor="ctr"/>
          <a:lstStyle/>
          <a:p>
            <a:pPr indent="0" marL="0">
              <a:buNone/>
            </a:pPr>
            <a:r>
              <a:rPr lang="en-US" sz="2000" b="1" dirty="0">
                <a:solidFill>
                  <a:schemeClr val="accent3"/>
                </a:solidFill>
              </a:rPr>
              <a:t>S/4.15 por brownie</a:t>
            </a:r>
            <a:endParaRPr lang="en-US" sz="1400" dirty="0"/>
          </a:p>
          <a:p>
            <a:pPr indent="0" marL="0">
              <a:buNone/>
            </a:pPr>
            <a:r>
              <a:rPr lang="en-US" sz="1400" dirty="0">
                <a:solidFill>
                  <a:schemeClr val="bg1"/>
                </a:solidFill>
              </a:rPr>
              <a:t>Entre 1 y 4 % más que Fika y Mamalama, con hierro medido y en tres sabores.</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31520" y="822960"/>
            <a:ext cx="6766560" cy="320040"/>
          </a:xfrm>
          <a:prstGeom prst="rect">
            <a:avLst/>
          </a:prstGeom>
          <a:noFill/>
          <a:ln/>
        </p:spPr>
        <p:txBody>
          <a:bodyPr wrap="square" lIns="0" tIns="0" rIns="0" bIns="0" rtlCol="0" anchor="t"/>
          <a:lstStyle/>
          <a:p>
            <a:pPr indent="0" marL="0">
              <a:buNone/>
            </a:pPr>
            <a:r>
              <a:rPr lang="en-US" sz="1300" b="1" spc="200" kern="0" dirty="0">
                <a:solidFill>
                  <a:schemeClr val="accent3"/>
                </a:solidFill>
              </a:rPr>
              <a:t>PROPUESTA DE VALOR EN UNA FRASE</a:t>
            </a:r>
            <a:endParaRPr lang="en-US" sz="1300" dirty="0"/>
          </a:p>
        </p:txBody>
      </p:sp>
      <p:sp>
        <p:nvSpPr>
          <p:cNvPr id="3" name="Text 0"/>
          <p:cNvSpPr/>
          <p:nvPr>
            <p:ph idx="100" type="title" hasCustomPrompt="1"/>
          </p:nvPr>
        </p:nvSpPr>
        <p:spPr>
          <a:xfrm>
            <a:off x="731520" y="1234440"/>
            <a:ext cx="6766560" cy="1463040"/>
          </a:xfrm>
          <a:prstGeom prst="rect">
            <a:avLst/>
          </a:prstGeom>
          <a:noFill/>
          <a:ln/>
        </p:spPr>
        <p:txBody>
          <a:bodyPr wrap="square" lIns="0" tIns="0" rIns="0" bIns="0" rtlCol="0" anchor="t"/>
          <a:lstStyle/>
          <a:p>
            <a:pPr algn="l" indent="0" marL="0">
              <a:buNone/>
            </a:pPr>
            <a:r>
              <a:rPr lang="en-US" sz="4800" b="1" dirty="0">
                <a:solidFill>
                  <a:schemeClr val="bg2"/>
                </a:solidFill>
              </a:rPr>
              <a:t>Hierro medido. Sabor a brownie.</a:t>
            </a:r>
            <a:endParaRPr lang="en-US" sz="4800" dirty="0"/>
          </a:p>
        </p:txBody>
      </p:sp>
      <p:sp>
        <p:nvSpPr>
          <p:cNvPr id="4" name="Text 2"/>
          <p:cNvSpPr txBox="1"/>
          <p:nvPr/>
        </p:nvSpPr>
        <p:spPr>
          <a:xfrm>
            <a:off x="731520" y="2834640"/>
            <a:ext cx="6766560" cy="457200"/>
          </a:xfrm>
          <a:prstGeom prst="rect">
            <a:avLst/>
          </a:prstGeom>
          <a:noFill/>
          <a:ln/>
        </p:spPr>
        <p:txBody>
          <a:bodyPr wrap="square" lIns="0" tIns="0" rIns="0" bIns="0" rtlCol="0" anchor="t"/>
          <a:lstStyle/>
          <a:p>
            <a:pPr indent="0" marL="0">
              <a:buNone/>
            </a:pPr>
            <a:r>
              <a:rPr lang="en-US" sz="2400" b="1" dirty="0">
                <a:solidFill>
                  <a:schemeClr val="accent5"/>
                </a:solidFill>
              </a:rPr>
              <a:t>El snack de lonchera que tu hijo sí se come</a:t>
            </a:r>
            <a:endParaRPr lang="en-US" sz="2400" dirty="0"/>
          </a:p>
        </p:txBody>
      </p:sp>
      <p:sp>
        <p:nvSpPr>
          <p:cNvPr id="5" name="Text 3"/>
          <p:cNvSpPr txBox="1"/>
          <p:nvPr/>
        </p:nvSpPr>
        <p:spPr>
          <a:xfrm>
            <a:off x="731520" y="3474720"/>
            <a:ext cx="6766560" cy="914400"/>
          </a:xfrm>
          <a:prstGeom prst="rect">
            <a:avLst/>
          </a:prstGeom>
          <a:noFill/>
          <a:ln/>
        </p:spPr>
        <p:txBody>
          <a:bodyPr wrap="square" lIns="0" tIns="0" rIns="0" bIns="0" rtlCol="0" anchor="t"/>
          <a:lstStyle/>
          <a:p>
            <a:pPr indent="0" marL="0">
              <a:buNone/>
            </a:pPr>
            <a:r>
              <a:rPr lang="en-US" sz="1700" dirty="0">
                <a:solidFill>
                  <a:schemeClr val="bg2"/>
                </a:solidFill>
              </a:rPr>
              <a:t>Para padres planificados que leen etiquetas: mini brownie de 20 g con sangrecita, sin octógono y en tres sabores que el niño sí pide.</a:t>
            </a:r>
            <a:endParaRPr lang="en-US" sz="1700" dirty="0"/>
          </a:p>
        </p:txBody>
      </p:sp>
      <p:sp>
        <p:nvSpPr>
          <p:cNvPr id="6" name="Text 4"/>
          <p:cNvSpPr txBox="1"/>
          <p:nvPr/>
        </p:nvSpPr>
        <p:spPr>
          <a:xfrm>
            <a:off x="731520" y="5074920"/>
            <a:ext cx="676656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PRÓXIMOS PASOS</a:t>
            </a:r>
            <a:endParaRPr lang="en-US" sz="1200" dirty="0"/>
          </a:p>
        </p:txBody>
      </p:sp>
      <p:sp>
        <p:nvSpPr>
          <p:cNvPr id="7" name="Shape 5"/>
          <p:cNvSpPr/>
          <p:nvPr/>
        </p:nvSpPr>
        <p:spPr>
          <a:xfrm>
            <a:off x="731520" y="5440680"/>
            <a:ext cx="2148840" cy="502920"/>
          </a:xfrm>
          <a:prstGeom prst="roundRect">
            <a:avLst>
              <a:gd name="adj" fmla="val 49091"/>
            </a:avLst>
          </a:prstGeom>
          <a:solidFill>
            <a:schemeClr val="accent2"/>
          </a:solidFill>
          <a:ln w="12700">
            <a:solidFill>
              <a:schemeClr val="accent5"/>
            </a:solidFill>
            <a:prstDash val="solid"/>
          </a:ln>
        </p:spPr>
      </p:sp>
      <p:sp>
        <p:nvSpPr>
          <p:cNvPr id="8" name="Text 6"/>
          <p:cNvSpPr txBox="1"/>
          <p:nvPr/>
        </p:nvSpPr>
        <p:spPr>
          <a:xfrm>
            <a:off x="731520" y="5440680"/>
            <a:ext cx="2148840" cy="502920"/>
          </a:xfrm>
          <a:prstGeom prst="rect">
            <a:avLst/>
          </a:prstGeom>
          <a:noFill/>
          <a:ln/>
        </p:spPr>
        <p:txBody>
          <a:bodyPr wrap="square" lIns="0" tIns="0" rIns="0" bIns="0" rtlCol="0" anchor="ctr"/>
          <a:lstStyle/>
          <a:p>
            <a:pPr algn="ctr" indent="0" marL="0">
              <a:buNone/>
            </a:pPr>
            <a:r>
              <a:rPr lang="en-US" sz="1400" b="1" dirty="0">
                <a:solidFill>
                  <a:schemeClr val="bg2"/>
                </a:solidFill>
              </a:rPr>
              <a:t>Cargar el focus 2</a:t>
            </a:r>
            <a:endParaRPr lang="en-US" sz="1400" dirty="0"/>
          </a:p>
        </p:txBody>
      </p:sp>
      <p:sp>
        <p:nvSpPr>
          <p:cNvPr id="9" name="Shape 7"/>
          <p:cNvSpPr/>
          <p:nvPr/>
        </p:nvSpPr>
        <p:spPr>
          <a:xfrm>
            <a:off x="3017520" y="5440680"/>
            <a:ext cx="2148840" cy="502920"/>
          </a:xfrm>
          <a:prstGeom prst="roundRect">
            <a:avLst>
              <a:gd name="adj" fmla="val 49091"/>
            </a:avLst>
          </a:prstGeom>
          <a:solidFill>
            <a:schemeClr val="accent2"/>
          </a:solidFill>
          <a:ln w="12700">
            <a:solidFill>
              <a:schemeClr val="accent5"/>
            </a:solidFill>
            <a:prstDash val="solid"/>
          </a:ln>
        </p:spPr>
      </p:sp>
      <p:sp>
        <p:nvSpPr>
          <p:cNvPr id="10" name="Text 8"/>
          <p:cNvSpPr txBox="1"/>
          <p:nvPr/>
        </p:nvSpPr>
        <p:spPr>
          <a:xfrm>
            <a:off x="3017520" y="5440680"/>
            <a:ext cx="2148840" cy="502920"/>
          </a:xfrm>
          <a:prstGeom prst="rect">
            <a:avLst/>
          </a:prstGeom>
          <a:noFill/>
          <a:ln/>
        </p:spPr>
        <p:txBody>
          <a:bodyPr wrap="square" lIns="0" tIns="0" rIns="0" bIns="0" rtlCol="0" anchor="ctr"/>
          <a:lstStyle/>
          <a:p>
            <a:pPr algn="ctr" indent="0" marL="0">
              <a:buNone/>
            </a:pPr>
            <a:r>
              <a:rPr lang="en-US" sz="1400" b="1" dirty="0">
                <a:solidFill>
                  <a:schemeClr val="bg2"/>
                </a:solidFill>
              </a:rPr>
              <a:t>Cotizar la maquila</a:t>
            </a:r>
            <a:endParaRPr lang="en-US" sz="1400" dirty="0"/>
          </a:p>
        </p:txBody>
      </p:sp>
      <p:sp>
        <p:nvSpPr>
          <p:cNvPr id="11" name="Shape 9"/>
          <p:cNvSpPr/>
          <p:nvPr/>
        </p:nvSpPr>
        <p:spPr>
          <a:xfrm>
            <a:off x="5303520" y="5440680"/>
            <a:ext cx="2148840" cy="502920"/>
          </a:xfrm>
          <a:prstGeom prst="roundRect">
            <a:avLst>
              <a:gd name="adj" fmla="val 49091"/>
            </a:avLst>
          </a:prstGeom>
          <a:solidFill>
            <a:schemeClr val="accent2"/>
          </a:solidFill>
          <a:ln w="12700">
            <a:solidFill>
              <a:schemeClr val="accent5"/>
            </a:solidFill>
            <a:prstDash val="solid"/>
          </a:ln>
        </p:spPr>
      </p:sp>
      <p:sp>
        <p:nvSpPr>
          <p:cNvPr id="12" name="Text 10"/>
          <p:cNvSpPr txBox="1"/>
          <p:nvPr/>
        </p:nvSpPr>
        <p:spPr>
          <a:xfrm>
            <a:off x="5303520" y="5440680"/>
            <a:ext cx="2148840" cy="502920"/>
          </a:xfrm>
          <a:prstGeom prst="rect">
            <a:avLst/>
          </a:prstGeom>
          <a:noFill/>
          <a:ln/>
        </p:spPr>
        <p:txBody>
          <a:bodyPr wrap="square" lIns="0" tIns="0" rIns="0" bIns="0" rtlCol="0" anchor="ctr"/>
          <a:lstStyle/>
          <a:p>
            <a:pPr algn="ctr" indent="0" marL="0">
              <a:buNone/>
            </a:pPr>
            <a:r>
              <a:rPr lang="en-US" sz="1400" b="1" dirty="0">
                <a:solidFill>
                  <a:schemeClr val="bg2"/>
                </a:solidFill>
              </a:rPr>
              <a:t>Medir hierro y azúcar</a:t>
            </a:r>
            <a:endParaRPr lang="en-US" sz="1400" dirty="0"/>
          </a:p>
        </p:txBody>
      </p:sp>
      <p:sp>
        <p:nvSpPr>
          <p:cNvPr id="13" name="IMAGEN_4"/>
          <p:cNvSpPr/>
          <p:nvPr/>
        </p:nvSpPr>
        <p:spPr>
          <a:xfrm>
            <a:off x="8001000" y="685800"/>
            <a:ext cx="3611880" cy="5486400"/>
          </a:xfrm>
          <a:prstGeom prst="roundRect">
            <a:avLst>
              <a:gd name="adj" fmla="val 3797"/>
            </a:avLst>
          </a:prstGeom>
          <a:solidFill>
            <a:schemeClr val="accent2"/>
          </a:solidFill>
          <a:ln w="19050">
            <a:solidFill>
              <a:schemeClr val="accent5"/>
            </a:solidFill>
            <a:prstDash val="dash"/>
          </a:ln>
        </p:spPr>
      </p:sp>
      <p:pic>
        <p:nvPicPr>
          <p:cNvPr id="14" name="Image 0" descr="preencoded.png">    </p:cNvPr>
          <p:cNvPicPr>
            <a:picLocks noChangeAspect="1"/>
          </p:cNvPicPr>
          <p:nvPr/>
        </p:nvPicPr>
        <p:blipFill>
          <a:blip r:embed="rId1"/>
          <a:stretch>
            <a:fillRect/>
          </a:stretch>
        </p:blipFill>
        <p:spPr>
          <a:xfrm>
            <a:off x="9441180" y="2514600"/>
            <a:ext cx="731520" cy="731520"/>
          </a:xfrm>
          <a:prstGeom prst="rect">
            <a:avLst/>
          </a:prstGeom>
        </p:spPr>
      </p:pic>
      <p:sp>
        <p:nvSpPr>
          <p:cNvPr id="15" name="Text 12"/>
          <p:cNvSpPr txBox="1"/>
          <p:nvPr/>
        </p:nvSpPr>
        <p:spPr>
          <a:xfrm>
            <a:off x="8183880" y="3429000"/>
            <a:ext cx="3246120" cy="1097280"/>
          </a:xfrm>
          <a:prstGeom prst="rect">
            <a:avLst/>
          </a:prstGeom>
          <a:noFill/>
          <a:ln/>
        </p:spPr>
        <p:txBody>
          <a:bodyPr wrap="square" lIns="0" tIns="0" rIns="0" bIns="0" rtlCol="0" anchor="t"/>
          <a:lstStyle/>
          <a:p>
            <a:pPr algn="ctr" indent="0" marL="0">
              <a:buNone/>
            </a:pPr>
            <a:r>
              <a:rPr lang="en-US" sz="1600" b="1" dirty="0">
                <a:solidFill>
                  <a:schemeClr val="bg2"/>
                </a:solidFill>
              </a:rPr>
              <a:t>IMAGEN 4</a:t>
            </a:r>
            <a:endParaRPr lang="en-US" sz="1400" dirty="0"/>
          </a:p>
          <a:p>
            <a:pPr algn="ctr" indent="0" marL="0">
              <a:buNone/>
            </a:pPr>
            <a:r>
              <a:rPr lang="en-US" sz="1300" dirty="0">
                <a:solidFill>
                  <a:schemeClr val="bg2"/>
                </a:solidFill>
              </a:rPr>
              <a:t>Niño abriendo su lonchera con AndiBite</a:t>
            </a:r>
            <a:endParaRPr lang="en-US" sz="1400" dirty="0"/>
          </a:p>
          <a:p>
            <a:pPr algn="ctr" indent="0" marL="0">
              <a:buNone/>
            </a:pPr>
            <a:r>
              <a:rPr lang="en-US" sz="1100" i="1" dirty="0">
                <a:solidFill>
                  <a:schemeClr val="bg2"/>
                </a:solidFill>
              </a:rPr>
              <a:t>Prompt en las notas del orador</a:t>
            </a:r>
            <a:endParaRPr lang="en-US" sz="1400" dirty="0"/>
          </a:p>
        </p:txBody>
      </p:sp>
    </p:spTree>
  </p:cSld>
  <p:clrMapOvr>
    <a:masterClrMapping/>
  </p:clrMapOvr>
</p:sld>
</file>

<file path=ppt/theme/theme1.xml><?xml version="1.0" encoding="utf-8"?>
<a:theme xmlns:a="http://schemas.openxmlformats.org/drawingml/2006/main" name="AndiBite">
  <a:themeElements>
    <a:clrScheme name="AndiBite">
      <a:dk1>
        <a:srgbClr val="3B1A14"/>
      </a:dk1>
      <a:lt1>
        <a:srgbClr val="FFFFFF"/>
      </a:lt1>
      <a:dk2>
        <a:srgbClr val="4A2018"/>
      </a:dk2>
      <a:lt2>
        <a:srgbClr val="FBF3E8"/>
      </a:lt2>
      <a:accent1>
        <a:srgbClr val="BA4036"/>
      </a:accent1>
      <a:accent2>
        <a:srgbClr val="6B3A2A"/>
      </a:accent2>
      <a:accent3>
        <a:srgbClr val="E3A33B"/>
      </a:accent3>
      <a:accent4>
        <a:srgbClr val="7C8A3A"/>
      </a:accent4>
      <a:accent5>
        <a:srgbClr val="D9B48F"/>
      </a:accent5>
      <a:accent6>
        <a:srgbClr val="8A1C2B"/>
      </a:accent6>
      <a:hlink>
        <a:srgbClr val="BA4036"/>
      </a:hlink>
      <a:folHlink>
        <a:srgbClr val="8A1C2B"/>
      </a:folHlink>
    </a:clrScheme>
    <a:fontScheme name="AndiBi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AndiBite — Trabajos de campo 5 a 8</dc:title>
  <dc:subject>PptxGenJS Presentation</dc:subject>
  <dc:creator>Grupo 2</dc:creator>
  <cp:lastModifiedBy>Grupo 2</cp:lastModifiedBy>
  <cp:revision>1</cp:revision>
  <dcterms:created xsi:type="dcterms:W3CDTF">2026-10-09T21:20:16Z</dcterms:created>
  <dcterms:modified xsi:type="dcterms:W3CDTF">2026-10-09T21:20:16Z</dcterms:modified>
</cp:coreProperties>
</file>