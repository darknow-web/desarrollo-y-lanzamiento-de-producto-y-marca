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6.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9.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0.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174289b3-cd20-50dc-2420-98d6b80485e8}">
          <p14:sldIdLst>
            <p14:sldId id="256"/>
            <p14:sldId id="257"/>
          </p14:sldIdLst>
        </p14:section>
        <p14:section name="TC5 · Cliente, mercado y canal" id="{0e5b99ce-fc0c-7528-5030-4b3d07f43567}">
          <p14:sldIdLst>
            <p14:sldId id="258"/>
            <p14:sldId id="259"/>
            <p14:sldId id="260"/>
            <p14:sldId id="261"/>
            <p14:sldId id="262"/>
            <p14:sldId id="263"/>
            <p14:sldId id="264"/>
            <p14:sldId id="265"/>
            <p14:sldId id="266"/>
            <p14:sldId id="267"/>
          </p14:sldIdLst>
        </p14:section>
        <p14:section name="TC6 · Relación e ingresos" id="{c53f82f5-77b6-72c1-d75b-b0d13e923d32}">
          <p14:sldIdLst>
            <p14:sldId id="268"/>
            <p14:sldId id="269"/>
            <p14:sldId id="270"/>
            <p14:sldId id="271"/>
            <p14:sldId id="272"/>
          </p14:sldIdLst>
        </p14:section>
        <p14:section name="TC7 · Canvas" id="{83e16363-4113-aca5-cabe-249ff42d907c}">
          <p14:sldIdLst>
            <p14:sldId id="273"/>
            <p14:sldId id="274"/>
            <p14:sldId id="275"/>
            <p14:sldId id="276"/>
            <p14:sldId id="277"/>
            <p14:sldId id="278"/>
            <p14:sldId id="279"/>
            <p14:sldId id="280"/>
            <p14:sldId id="281"/>
            <p14:sldId id="282"/>
          </p14:sldIdLst>
        </p14:section>
        <p14:section name="TC8 · Propuesta de valor" id="{2f9df5b7-eb5a-2f27-0e9c-e23974ef7c74}">
          <p14:sldIdLst>
            <p14:sldId id="283"/>
            <p14:sldId id="284"/>
            <p14:sldId id="285"/>
            <p14:sldId id="286"/>
            <p14:sldId id="287"/>
            <p14:sldId id="288"/>
            <p14:sldId id="289"/>
            <p14:sldId id="290"/>
            <p14:sldId id="291"/>
            <p14:sldId id="292"/>
          </p14:sldIdLst>
        </p14:section>
        <p14:section name="Cierre" id="{f31066d5-1547-faf2-62ff-a989e96b8b31}">
          <p14:sldIdLst>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9421</c:v>
                </c:pt>
                <c:pt idx="2">
                  <c:v>7400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1300</c:v>
                </c:pt>
                <c:pt idx="4">
                  <c:v>750</c:v>
                </c:pt>
                <c:pt idx="5">
                  <c:v>600</c:v>
                </c:pt>
                <c:pt idx="6">
                  <c:v>450</c:v>
                </c:pt>
                <c:pt idx="7">
                  <c:v>600</c:v>
                </c:pt>
                <c:pt idx="8">
                  <c:v>600</c:v>
                </c:pt>
                <c:pt idx="9">
                  <c:v>600</c:v>
                </c:pt>
                <c:pt idx="10">
                  <c:v>450</c:v>
                </c:pt>
                <c:pt idx="11">
                  <c:v>300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959</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Unidad</c:v>
                </c:pt>
                <c:pt idx="1">
                  <c:v>Pack de 6</c:v>
                </c:pt>
                <c:pt idx="2">
                  <c:v>Caja de 3</c:v>
                </c:pt>
                <c:pt idx="3">
                  <c:v>Pack de 12</c:v>
                </c:pt>
              </c:strCache>
            </c:strRef>
          </c:cat>
          <c:val>
            <c:numRef>
              <c:f>Sheet1!$B$2:$B$5</c:f>
              <c:numCache>
                <c:ptCount val="4"/>
                <c:pt idx="0">
                  <c:v>123843</c:v>
                </c:pt>
                <c:pt idx="1">
                  <c:v>83958</c:v>
                </c:pt>
                <c:pt idx="2">
                  <c:v>20282</c:v>
                </c:pt>
                <c:pt idx="3">
                  <c:v>16645</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4280</c:v>
                </c:pt>
                <c:pt idx="1">
                  <c:v>14778</c:v>
                </c:pt>
                <c:pt idx="2">
                  <c:v>18255</c:v>
                </c:pt>
                <c:pt idx="3">
                  <c:v>21279</c:v>
                </c:pt>
                <c:pt idx="4">
                  <c:v>19944</c:v>
                </c:pt>
                <c:pt idx="5">
                  <c:v>18360</c:v>
                </c:pt>
                <c:pt idx="6">
                  <c:v>17792</c:v>
                </c:pt>
                <c:pt idx="7">
                  <c:v>23922</c:v>
                </c:pt>
                <c:pt idx="8">
                  <c:v>25778</c:v>
                </c:pt>
                <c:pt idx="9">
                  <c:v>27131</c:v>
                </c:pt>
                <c:pt idx="10">
                  <c:v>26299</c:v>
                </c:pt>
                <c:pt idx="11">
                  <c:v>26911</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De cada brownie vendido en el stand (S/ sin IGV)</a:t>
            </a:r>
          </a:p>
        </c:rich>
      </c:tx>
      <c:layout/>
      <c:overlay val="0"/>
    </c:title>
    <c:autoTitleDeleted val="0"/>
    <c:plotArea>
      <c:layout/>
      <c:barChart>
        <c:barDir val="col"/>
        <c:grouping val="stacked"/>
        <c:varyColors val="0"/>
        <c:ser>
          <c:idx val="0"/>
          <c:order val="0"/>
          <c:tx>
            <c:strRef>
              <c:f>Sheet1!$B$1</c:f>
              <c:strCache>
                <c:ptCount val="1"/>
                <c:pt idx="0">
                  <c:v>Producir</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Sheet1!$B$2:$B$5</c:f>
              <c:numCache>
                <c:formatCode>General</c:formatCode>
                <c:ptCount val="4"/>
                <c:pt idx="0">
                  <c:v>1.72</c:v>
                </c:pt>
                <c:pt idx="1">
                  <c:v>1.68</c:v>
                </c:pt>
                <c:pt idx="2">
                  <c:v>1.64</c:v>
                </c:pt>
                <c:pt idx="3">
                  <c:v>1.54</c:v>
                </c:pt>
              </c:numCache>
            </c:numRef>
          </c:val>
        </c:ser>
        <c:ser>
          <c:idx val="1"/>
          <c:order val="1"/>
          <c:tx>
            <c:strRef>
              <c:f>Sheet1!$C$1</c:f>
              <c:strCache>
                <c:ptCount val="1"/>
                <c:pt idx="0">
                  <c:v>Vender (degustación, pago con tarjeta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Sheet1!$C$2:$C$5</c:f>
              <c:numCache>
                <c:formatCode>General</c:formatCode>
                <c:ptCount val="4"/>
                <c:pt idx="0">
                  <c:v>0.5</c:v>
                </c:pt>
                <c:pt idx="1">
                  <c:v>0.48</c:v>
                </c:pt>
                <c:pt idx="2">
                  <c:v>0.45</c:v>
                </c:pt>
                <c:pt idx="3">
                  <c:v>0.44</c:v>
                </c:pt>
              </c:numCache>
            </c:numRef>
          </c:val>
        </c:ser>
        <c:ser>
          <c:idx val="2"/>
          <c:order val="2"/>
          <c:tx>
            <c:strRef>
              <c:f>Sheet1!$D$1</c:f>
              <c:strCache>
                <c:ptCount val="1"/>
                <c:pt idx="0">
                  <c:v>Nos queda</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Unidad S/6.00</c:v>
                  </c:pt>
                  <c:pt idx="1">
                    <c:v>Caja de 3 S/16.50</c:v>
                  </c:pt>
                  <c:pt idx="2">
                    <c:v>Pack de 6 S/27.90</c:v>
                  </c:pt>
                  <c:pt idx="3">
                    <c:v>Pack de 12 S/51.90</c:v>
                  </c:pt>
                </c:lvl>
              </c:multiLvlStrCache>
            </c:multiLvlStrRef>
          </c:cat>
          <c:val>
            <c:numRef>
              <c:f>Sheet1!$D$2:$D$5</c:f>
              <c:numCache>
                <c:formatCode>General</c:formatCode>
                <c:ptCount val="4"/>
                <c:pt idx="0">
                  <c:v>2.86</c:v>
                </c:pt>
                <c:pt idx="1">
                  <c:v>2.5</c:v>
                </c:pt>
                <c:pt idx="2">
                  <c:v>1.85</c:v>
                </c:pt>
                <c:pt idx="3">
                  <c:v>1.69</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S/40,876</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 y app</c:v>
                </c:pt>
              </c:strCache>
            </c:strRef>
          </c:cat>
          <c:val>
            <c:numRef>
              <c:f>Sheet1!$B$2:$B$7</c:f>
              <c:numCache>
                <c:ptCount val="6"/>
                <c:pt idx="0">
                  <c:v>19155</c:v>
                </c:pt>
                <c:pt idx="1">
                  <c:v>4838</c:v>
                </c:pt>
                <c:pt idx="2">
                  <c:v>6176</c:v>
                </c:pt>
                <c:pt idx="3">
                  <c:v>3741</c:v>
                </c:pt>
                <c:pt idx="4">
                  <c:v>3716</c:v>
                </c:pt>
                <c:pt idx="5">
                  <c:v>3250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4A2018"/>
                </a:solidFill>
                <a:latin typeface="+mn-lt"/>
              </a:defRPr>
            </a:pPr>
            <a:r>
              <a:rPr sz="1300" b="1" i="0" u="none" strike="noStrike">
                <a:solidFill>
                  <a:srgbClr val="4A2018"/>
                </a:solidFill>
                <a:latin typeface="+mn-lt"/>
              </a:rPr>
              <a:t>Lo que cuesta operar al mes, sin contar la fabricación: S/6,989</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E3A33B"/>
              </a:solidFill>
              <a:effectLst/>
            </c:spPr>
          </c:dPt>
          <c:dPt>
            <c:idx val="3"/>
            <c:bubble3D val="0"/>
            <c:spPr>
              <a:solidFill>
                <a:srgbClr val="6B3A2A"/>
              </a:solidFill>
              <a:effectLst/>
            </c:spPr>
          </c:dPt>
          <c:dPt>
            <c:idx val="4"/>
            <c:bubble3D val="0"/>
            <c:spPr>
              <a:solidFill>
                <a:srgbClr val="7C8A3A"/>
              </a:solidFill>
              <a:effectLst/>
            </c:spPr>
          </c:dPt>
          <c:dPt>
            <c:idx val="5"/>
            <c:bubble3D val="0"/>
            <c:spPr>
              <a:solidFill>
                <a:srgbClr val="D9B48F"/>
              </a:solidFill>
              <a:effectLst/>
            </c:spPr>
          </c:dPt>
          <c:dPt>
            <c:idx val="6"/>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Sheet1!$A$2:$A$8</c:f>
              <c:strCache>
                <c:ptCount val="7"/>
                <c:pt idx="0">
                  <c:v>Vendedores de stand</c:v>
                </c:pt>
                <c:pt idx="1">
                  <c:v>Espacio de stands</c:v>
                </c:pt>
                <c:pt idx="2">
                  <c:v>Administración y app</c:v>
                </c:pt>
                <c:pt idx="3">
                  <c:v>Marketing y embajadoras</c:v>
                </c:pt>
                <c:pt idx="4">
                  <c:v>Ferias y eventos</c:v>
                </c:pt>
                <c:pt idx="5">
                  <c:v>Coordinadora</c:v>
                </c:pt>
                <c:pt idx="6">
                  <c:v>Depreciación</c:v>
                </c:pt>
              </c:strCache>
            </c:strRef>
          </c:cat>
          <c:val>
            <c:numRef>
              <c:f>Sheet1!$B$2:$B$8</c:f>
              <c:numCache>
                <c:ptCount val="7"/>
                <c:pt idx="0">
                  <c:v>1973</c:v>
                </c:pt>
                <c:pt idx="1">
                  <c:v>1400</c:v>
                </c:pt>
                <c:pt idx="2">
                  <c:v>995</c:v>
                </c:pt>
                <c:pt idx="3">
                  <c:v>900</c:v>
                </c:pt>
                <c:pt idx="4">
                  <c:v>878</c:v>
                </c:pt>
                <c:pt idx="5">
                  <c:v>709</c:v>
                </c:pt>
                <c:pt idx="6">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 los que necesitamos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4420</c:v>
                </c:pt>
                <c:pt idx="4">
                  <c:v>4304</c:v>
                </c:pt>
                <c:pt idx="5">
                  <c:v>4038</c:v>
                </c:pt>
                <c:pt idx="6">
                  <c:v>3824</c:v>
                </c:pt>
                <c:pt idx="7">
                  <c:v>5208</c:v>
                </c:pt>
                <c:pt idx="8">
                  <c:v>5603</c:v>
                </c:pt>
                <c:pt idx="9">
                  <c:v>6011</c:v>
                </c:pt>
                <c:pt idx="10">
                  <c:v>5861</c:v>
                </c:pt>
                <c:pt idx="11">
                  <c:v>5628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Brownies que necesitamos para no perder</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circl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2119</c:v>
                </c:pt>
                <c:pt idx="1">
                  <c:v>3495</c:v>
                </c:pt>
                <c:pt idx="2">
                  <c:v>3106</c:v>
                </c:pt>
                <c:pt idx="3">
                  <c:v>4232</c:v>
                </c:pt>
                <c:pt idx="4">
                  <c:v>3499</c:v>
                </c:pt>
                <c:pt idx="5">
                  <c:v>3516</c:v>
                </c:pt>
                <c:pt idx="6">
                  <c:v>3378</c:v>
                </c:pt>
                <c:pt idx="7">
                  <c:v>4204</c:v>
                </c:pt>
                <c:pt idx="8">
                  <c:v>4215</c:v>
                </c:pt>
                <c:pt idx="9">
                  <c:v>4360</c:v>
                </c:pt>
                <c:pt idx="10">
                  <c:v>4318</c:v>
                </c:pt>
                <c:pt idx="11">
                  <c:v>4188</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de 2027 (S/, antes de intereses e impuesto)</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Ganancia o pérdida de cada mes (S/, antes de intereses e impuesto)</a:t>
            </a:r>
          </a:p>
        </c:rich>
      </c:tx>
      <c:layout/>
      <c:overlay val="0"/>
    </c:title>
    <c:autoTitleDeleted val="0"/>
    <c:plotArea>
      <c:layout/>
      <c:barChart>
        <c:barDir val="col"/>
        <c:grouping val="clustered"/>
        <c:varyColors val="0"/>
        <c:ser>
          <c:idx val="0"/>
          <c:order val="0"/>
          <c:tx>
            <c:strRef>
              <c:f>Sheet1!$B$1</c:f>
              <c:strCache>
                <c:ptCount val="1"/>
                <c:pt idx="0">
                  <c:v>2027 (año 1)</c:v>
                </c:pt>
              </c:strCache>
            </c:strRef>
          </c:tx>
          <c:spPr>
            <a:solidFill>
              <a:srgbClr val="D9B48F"/>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-2539</c:v>
                </c:pt>
                <c:pt idx="1">
                  <c:v>-1513</c:v>
                </c:pt>
                <c:pt idx="2">
                  <c:v>1253</c:v>
                </c:pt>
                <c:pt idx="3">
                  <c:v>368</c:v>
                </c:pt>
                <c:pt idx="4">
                  <c:v>1463</c:v>
                </c:pt>
                <c:pt idx="5">
                  <c:v>920</c:v>
                </c:pt>
                <c:pt idx="6">
                  <c:v>820</c:v>
                </c:pt>
                <c:pt idx="7">
                  <c:v>1818</c:v>
                </c:pt>
                <c:pt idx="8">
                  <c:v>2506</c:v>
                </c:pt>
                <c:pt idx="9">
                  <c:v>2880</c:v>
                </c:pt>
                <c:pt idx="10">
                  <c:v>2662</c:v>
                </c:pt>
                <c:pt idx="11">
                  <c:v>2784</c:v>
                </c:pt>
              </c:numCache>
            </c:numRef>
          </c:val>
        </c:ser>
        <c:ser>
          <c:idx val="1"/>
          <c:order val="1"/>
          <c:tx>
            <c:strRef>
              <c:f>Sheet1!$C$1</c:f>
              <c:strCache>
                <c:ptCount val="1"/>
                <c:pt idx="0">
                  <c:v>2028 (año 2)</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791</c:v>
                </c:pt>
                <c:pt idx="1">
                  <c:v>-40</c:v>
                </c:pt>
                <c:pt idx="2">
                  <c:v>2779</c:v>
                </c:pt>
                <c:pt idx="3">
                  <c:v>2672</c:v>
                </c:pt>
                <c:pt idx="4">
                  <c:v>3317</c:v>
                </c:pt>
                <c:pt idx="5">
                  <c:v>3023</c:v>
                </c:pt>
                <c:pt idx="6">
                  <c:v>2668</c:v>
                </c:pt>
                <c:pt idx="7">
                  <c:v>3082</c:v>
                </c:pt>
                <c:pt idx="8">
                  <c:v>3023</c:v>
                </c:pt>
                <c:pt idx="9">
                  <c:v>3071</c:v>
                </c:pt>
                <c:pt idx="10">
                  <c:v>3071</c:v>
                </c:pt>
                <c:pt idx="11">
                  <c:v>3001</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Sheet1!$B$2:$B$8</c:f>
              <c:numCache>
                <c:formatCode>General</c:formatCode>
                <c:ptCount val="7"/>
                <c:pt idx="0">
                  <c:v>1.67</c:v>
                </c:pt>
                <c:pt idx="1">
                  <c:v>3.01</c:v>
                </c:pt>
                <c:pt idx="2">
                  <c:v>3.2</c:v>
                </c:pt>
                <c:pt idx="3">
                  <c:v>4</c:v>
                </c:pt>
                <c:pt idx="4">
                  <c:v>4.1</c:v>
                </c:pt>
                <c:pt idx="5">
                  <c:v>0</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Sheet1!$C$2:$C$8</c:f>
              <c:numCache>
                <c:formatCode>General</c:formatCode>
                <c:ptCount val="7"/>
                <c:pt idx="0">
                  <c:v>0</c:v>
                </c:pt>
                <c:pt idx="1">
                  <c:v>0</c:v>
                </c:pt>
                <c:pt idx="2">
                  <c:v>0</c:v>
                </c:pt>
                <c:pt idx="3">
                  <c:v>0</c:v>
                </c:pt>
                <c:pt idx="4">
                  <c:v>0</c:v>
                </c:pt>
                <c:pt idx="5">
                  <c:v>4.16</c:v>
                </c:pt>
                <c:pt idx="6">
                  <c:v>4.48</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Presupuesto por tipo de medio (S/)</a:t>
            </a:r>
          </a:p>
        </c:rich>
      </c:tx>
      <c:layout/>
      <c:overlay val="0"/>
    </c:title>
    <c:autoTitleDeleted val="0"/>
    <c:plotArea>
      <c:layout/>
      <c:barChart>
        <c:barDir val="col"/>
        <c:grouping val="clustered"/>
        <c:varyColors val="0"/>
        <c:ser>
          <c:idx val="0"/>
          <c:order val="0"/>
          <c:tx>
            <c:strRef>
              <c:f>Sheet1!$B$1</c:f>
              <c:strCache>
                <c:ptCount val="1"/>
                <c:pt idx="0">
                  <c:v>S/</c:v>
                </c:pt>
              </c:strCache>
            </c:strRef>
          </c:tx>
          <c:spPr>
            <a:solidFill>
              <a:srgbClr val="4A2018"/>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1"/>
            <c:showCatName val="0"/>
            <c:showSerName val="0"/>
            <c:showPercent val="0"/>
            <c:showBubbleSize val="0"/>
            <c:showLeaderLines val="0"/>
          </c:dLbls>
          <c:cat>
            <c:multiLvlStrRef>
              <c:f>Sheet1!$A$2:$A$5</c:f>
              <c:multiLvlStrCache>
                <c:ptCount val="4"/>
                <c:lvl>
                  <c:pt idx="0">
                    <c:v>Publicidad</c:v>
                  </c:pt>
                  <c:pt idx="1">
                    <c:v>Ventas personales</c:v>
                  </c:pt>
                  <c:pt idx="2">
                    <c:v>Promociones</c:v>
                  </c:pt>
                  <c:pt idx="3">
                    <c:v>Relaciones públicas</c:v>
                  </c:pt>
                </c:lvl>
              </c:multiLvlStrCache>
            </c:multiLvlStrRef>
          </c:cat>
          <c:val>
            <c:numRef>
              <c:f>Sheet1!$B$2:$B$5</c:f>
              <c:numCache>
                <c:formatCode>General</c:formatCode>
                <c:ptCount val="4"/>
                <c:pt idx="0">
                  <c:v>5950</c:v>
                </c:pt>
                <c:pt idx="1">
                  <c:v>4140</c:v>
                </c:pt>
                <c:pt idx="2">
                  <c:v>7596</c:v>
                </c:pt>
                <c:pt idx="3">
                  <c:v>6858</c:v>
                </c:pt>
              </c:numCache>
            </c:numRef>
          </c:val>
        </c:ser>
        <c:dLbls>
          <c:numFmt formatCode="#,##0" sourceLinked="0"/>
          <c:txPr>
            <a:bodyPr/>
            <a:lstStyle/>
            <a:p>
              <a:pPr>
                <a:defRPr b="0" i="0" strike="noStrike" sz="1200" u="none">
                  <a:solidFill>
                    <a:srgbClr val="3B1A1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Presupuesto de marketing mensual (S/)</a:t>
            </a:r>
          </a:p>
        </c:rich>
      </c:tx>
      <c:layout/>
      <c:overlay val="0"/>
    </c:title>
    <c:autoTitleDeleted val="0"/>
    <c:plotArea>
      <c:layout/>
      <c:lineChart>
        <c:varyColors val="0"/>
        <c:ser>
          <c:idx val="0"/>
          <c:order val="0"/>
          <c:tx>
            <c:strRef>
              <c:f>Sheet1!$B$1</c:f>
              <c:strCache>
                <c:ptCount val="1"/>
                <c:pt idx="0">
                  <c:v>Presupuesto del mes</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900" u="none">
                    <a:solidFill>
                      <a:srgbClr val="3B1A14"/>
                    </a:solidFill>
                    <a:latin typeface="+mn-lt"/>
                  </a:defRPr>
                </a:pPr>
              </a:p>
            </c:txPr>
            <c:dLblPos val="t"/>
            <c:showLegendKey val="0"/>
            <c:showVal val="1"/>
            <c:showCatName val="0"/>
            <c:showSerName val="0"/>
            <c:showPercent val="0"/>
            <c:showBubbleSize val="0"/>
            <c:showLeaderLines val="0"/>
          </c:dLbls>
          <c:marker>
            <c:symbol val="circle"/>
            <c:size val="8"/>
            <c:spPr>
              <a:solidFill>
                <a:srgbClr val="BA4036"/>
              </a:solidFill>
              <a:ln w="9525" cap="flat">
                <a:solidFill>
                  <a:srgbClr val="BA4036"/>
                </a:solidFill>
                <a:prstDash val="solid"/>
                <a:round/>
              </a:ln>
              <a:effectLst/>
            </c:spPr>
          </c:marker>
          <c:cat>
            <c:multiLvlStrRef>
              <c:f>Sheet1!$A$2:$A$14</c:f>
              <c:multiLvlStrCache>
                <c:ptCount val="13"/>
                <c:lvl>
                  <c:pt idx="0">
                    <c:v>Prelanz. 2026</c:v>
                  </c:pt>
                  <c:pt idx="1">
                    <c:v>Ene</c:v>
                  </c:pt>
                  <c:pt idx="2">
                    <c:v>Feb</c:v>
                  </c:pt>
                  <c:pt idx="3">
                    <c:v>Mar</c:v>
                  </c:pt>
                  <c:pt idx="4">
                    <c:v>Abr</c:v>
                  </c:pt>
                  <c:pt idx="5">
                    <c:v>May</c:v>
                  </c:pt>
                  <c:pt idx="6">
                    <c:v>Jun</c:v>
                  </c:pt>
                  <c:pt idx="7">
                    <c:v>Jul</c:v>
                  </c:pt>
                  <c:pt idx="8">
                    <c:v>Ago</c:v>
                  </c:pt>
                  <c:pt idx="9">
                    <c:v>Set</c:v>
                  </c:pt>
                  <c:pt idx="10">
                    <c:v>Oct</c:v>
                  </c:pt>
                  <c:pt idx="11">
                    <c:v>Nov</c:v>
                  </c:pt>
                  <c:pt idx="12">
                    <c:v>Dic</c:v>
                  </c:pt>
                </c:lvl>
              </c:multiLvlStrCache>
            </c:multiLvlStrRef>
          </c:cat>
          <c:val>
            <c:numRef>
              <c:f>Sheet1!$B$2:$B$14</c:f>
              <c:numCache>
                <c:formatCode>General</c:formatCode>
                <c:ptCount val="13"/>
                <c:pt idx="0">
                  <c:v>1758</c:v>
                </c:pt>
                <c:pt idx="1">
                  <c:v>2506</c:v>
                </c:pt>
                <c:pt idx="2">
                  <c:v>3290</c:v>
                </c:pt>
                <c:pt idx="3">
                  <c:v>1540</c:v>
                </c:pt>
                <c:pt idx="4">
                  <c:v>3610</c:v>
                </c:pt>
                <c:pt idx="5">
                  <c:v>1700</c:v>
                </c:pt>
                <c:pt idx="6">
                  <c:v>1540</c:v>
                </c:pt>
                <c:pt idx="7">
                  <c:v>1380</c:v>
                </c:pt>
                <c:pt idx="8">
                  <c:v>1540</c:v>
                </c:pt>
                <c:pt idx="9">
                  <c:v>1540</c:v>
                </c:pt>
                <c:pt idx="10">
                  <c:v>1540</c:v>
                </c:pt>
                <c:pt idx="11">
                  <c:v>1380</c:v>
                </c:pt>
                <c:pt idx="12">
                  <c:v>1220</c:v>
                </c:pt>
              </c:numCache>
            </c:numRef>
          </c:val>
          <c:smooth val="0"/>
        </c:ser>
        <c:dLbls>
          <c:numFmt formatCode="#,##0" sourceLinked="0"/>
          <c:txPr>
            <a:bodyPr/>
            <a:lstStyle/>
            <a:p>
              <a:pPr>
                <a:defRPr b="0" i="0" strike="noStrike" sz="900" u="none">
                  <a:solidFill>
                    <a:srgbClr val="3B1A14"/>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10 de octubre de 2026 (unidad a S/6.00, caja de 3 sabores a S/16.50 y pack de 6 a S/27.90 en el stand), con el modelo financiero v7. La innovación tecnológica es la app Andi, Misión Hierro, que viene con cada envase.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y a Rodrigo, no a "madres de 32 a 45". Atendemos a los dos segmentos con el mismo esfuerzo: en Lima Top (zona 7 de APEIM) el 51.4 % de los hogares es B y el 20.2 % es A, y en Lima Moderna (zona 6) 51.7 % B y 11.8 % A; o sea, unos 7 de cada 10 hogares A/B de esas zonas son B.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segmento A), El Resolutivo (Rodrigo, segmento B) y El Consejero (quiosco, nutricionista o pediatra: en marketing se le llama prescriptor), que recomienda la marca a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40 años, San Miguel (zona 6 de APEIM, Lima Moderna: 51.7 % de los hogares es B). Representa al segmento B, que son 7 de cada 10 hogares A/B de Lima Top y Moderna. Jefe de logística en una empresa de consumo masivo; su esposa es analista contable y los dos trabajan. Ingreso familiar S/8,500 al mes (hipótesis dentro del NSE B: el promedio B de APEIM 2025 es S/7,787 y el A, S/14,584). Sus hijos de 9 y 6 van a un colegio privado de pensión media (en Lima, de S/400 a 900 al mes por hijo según cuantomecuesta.com, abril de 2026). Él arma las loncheras de la mañana. No busca salud, busca resolver: un pack que dure la semana, que aguante la mochila y que pueda pedir por WhatsApp con recordatorio. Compra en Plaza Vea y Tottus, por apps y por WhatsApp; se entera por el chat del salón. Mira el precio por brownie: el pack de 6 a S/4.48 por WhatsApp está dentro de lo que pagaría (S/18 a 24 por 6, o S/3 a 4 por unidad), y el pack de 12 a S/49.90 (S/24.95 por cada 6) queda en el borde; lo justifican el hierro medido, la app que le arma las loncheras y el aviso antes de que se acabe el pack. Dónde lo encontramos: Real Plaza Salaverry y Open Plaza Angamos, el carrito en Plaza Vea y las kermeses de su colegio.
IMAGEN 2 — prompt para Nano Banana (proporción 3:4):
Photorealistic editorial portrait of a 40-year-old Peruvian man, a logistics supervisor from San Miguel, Lima, middle-class. Short dark hair with a few grey strands, light stubble, friendly and practical expression, slightly hurried morning energy. He wears a simple grey polo shirt and a basic wristwatch. Early morning in a small, tidy apartment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En la diapositiva usamos palabras simples para las siglas: mercado total = TAM, mercado al que apuntamos = SAM y meta del año 1 = SOM. TAM: todas las loncheras con horneado o snack envasado de niños de 4 a 11 años en Lima y Callao (S/130.9 millones). SAM: niños de NSE A/B en toda Lima a precio premium (S/62.8 millones). Núcleo: NSE A/B de las zonas 6 y 7 de APEIM (S/17.3 millones). SOM del año 1 (enero a diciembre de 2027): 52,331 brownies y S/244,728 con IGV, vendidos sobre todo en stands, carritos y ferias; es apenas el 1.4 %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En la posventa, el padre escanea el QR del envase, ve en la app el hierro medido de su lote y recibe el aviso de recompra, que abre WhatsApp con el pedido listo, sin suscripción. Canal directo (sesión 05: sin intermediarios, más esfuerzo y más control) frente a canal indirecto (minoristas que venden por nosotros). Unidades del año 1 (Excel v7, hoja Mensual): stands y carritos 22,625; WhatsApp 9,421; colegios 9,165; ferias y eventos 7,400; naturistas 3,720. Por WhatsApp las entregas se agrupan 2 días por semana por zona, o el padre recoge en el stand: así el delivery baja de S/0.80 a S/0.50 por brownie.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(lo que deja cada brownie antes del espacio y el personal, Excel v7: stand S/2.41, feria S/2.52, WhatsApp S/1.39, quiosco S/0.86, naturista S/0.80),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repartidos para llegar con el mismo esfuerzo al padre A y al padre B. Malls: Jockey Plaza y La Rambla San Borja (Lima Top, A y B); Real Plaza Salaverry (Jesús María, Lima Moderna), con la Placita del Emprendimiento del programa Perú Pasión de Intercorp, y Open Plaza Angamos (Surquillo), con el programa Open Emerge de espacios para emprendedores (público B); Larcomar queda como alternativa. Carrito en Wong o Vivanda (A) y en Plaza Vea (B). Orden de apertura: 1.er punto en enero en Jockey (A y B), 2.º punto en febrero en Real Plaza Salaverry u Open Plaza Angamos (B) y 3.er punto en agosto en La Rambla o en el carrito de Wong o Vivanda (A). Colegios: quioscos y kermeses en colegios de pensión alta de Lima Top (A) y en cadenas de pensión media como Innova Schools (39 sedes en Lima, B); un solo acuerdo con una cadena abre varias sedes. El quiosco solo puede vender productos sin octógonos (lineamientos de alimentación saludable del MINSA y la RVM 076-2019-MINEDU), por eso el brownie sin octógono es la llave de entrada; el quiosco lo opera un concesionario elegido por el colegio. 2 ferias pagadas, de campaña escolar (febrero) y del Día del Niño Peruano (segundo domingo de abril); kermeses, cumpleaños y ferias saludables o municipales, que no cobran stand. Las ferias navideñas se sacaron del plan: con unos 700 brownies, una feria de S/1,800 pierde dinero si no deja clientes que vuelvan. Plan: 1 punto en enero, 2 de febrero a julio y 3 de agosto a diciembre de 2027, solo fines de semana. Cada punto y cada evento lo atiende un(a) vendedor(a) pagado(a) a S/90 por día; el espacio cuesta S/600 por punto al mes y el stand en feria, S/1,800 más 3 días de vendedor(a).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fuertes (asistencia personal en el stand, autoservicio y servicio automático con la app Andi, Misión Hierro, y comunidad de mamás embajadoras) sostienen la recompra; las de apoyo crecen con el volumen. La app calcula cuándo se acaba el pack según cuántos come el niño a la semana y avisa al padre (documento 09). Con los colegios y naturistas la relación es exclusiva: la coordinadora (en planilla) responde por cada cuenta. En el stand la compra se cierra ahí mismo; WhatsApp es para volver a comprar.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unidad (S/6.00), la caja de 3 sabores (S/16.50, sin cupón) o el pack de 6 (S/27.90). Fidelizar: la app Andi, Misión Hierro avisa cuando el pack está por acabarse y abre WhatsApp con el pedido listo, sin suscripción; además da el semáforo de hierro y el plan de loncheras de la semana. Crecer: una mamá embajadora por salón recomienda AndiBite en el chat del colegio con su código; por cada familia nueva que llega con su código recibe un pack de regalo o un descuento (S/200 al mes dentro del marketing). El premio es para el padre, nunca para el niño (Ley 30021). Luego se pasa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a colegios y tiendas (en inglés, B2B). Porcentajes sobre las ventas con IGV del año 1 (S/244,728, enero a diciembre de 2027), hoja Proyeccion del Excel v7. Mecanismo de precio: fijo por lista, con descuento por volumen. La caja de 3 sabores se vende en el stand a S/16.50 (S/5.50 por brownie) y por WhatsApp a S/12.00; por WhatsApp ya no se vende la unidad suelta. Al quiosco le vendemos a S/3.20 (el concesionario se queda 20 % de los S/4.00 que paga el alumno) y a la tienda naturista a S/18.50 (la tienda gana S/10.40 por pack, 36 %). Los precios al público no cambian.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5 de cada 10 brownies se venden sueltos a S/6.00 y 1 de cada 10 sale en la caja de 3 sabores, por eso la unidad trae el 51 % de los ingresos. Además se venden 330 packs de 12. Enero es el mes de arranque (un punto y vacaciones); en febrero entra la feria de campaña escolar, en marzo los colegios, en abril la feria del Día del Niño, en agosto el tercer punto y diciembre tiene 12 días de venta en los 3 puntos, sin ferias pagadas.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(nos acerca a él), convierte valor en acción (hace posible la venta) y complementa lo que no tienes (pone lo que nos falta). Todos los socios cumplen al menos 2. La planta y los proveedores no conectan con el cliente, pero convierten (producen) y complementan (planta con certificación sanitaria HACCP que no tenemos). Los puntos de venta (malls, supermercados, ferias, quioscos y naturistas) cumplen las 3: tienen el público, permiten vender sin local propio y ponen el espacio. El laboratorio está acreditado por INACAL (el instituto que certifica laboratorios). El proveedor de sangrecita de res en polvo liofilizada tiene registro sanitario, así que la planta no manipula sangre cruda. El desarrollador de la app y Google Cloud (servidor y la IA del plan de loncheras) convierten y complementan lo digital; los pediatras y la nutricionista conectan con los padres y convierten porque su recomendación da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app Andi, Misión Hierro con su base de clientes pasan las 3: la app junta el hierro medido de cada lote con los hábitos de compra de cada familia, algo que un competidor no copia rápido. Tipos: físicos, digitales, humanos, financieros e intangibles. La inversión inicial de S/40,876 está en la hoja Inversion del Excel v7: S/25,000 de los socios y un préstamo de S/16,000 en 24 cuotas, más una línea de crédito de respaldo de S/3,000.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de Osterwalder, en palabras simples: producción, atender al cliente (en el libro, "resolución de problemas"), mantener canales (en el libro, "plataforma") y gestión. Producir cuesta S/1.64 por brownie en el pack de 6, todo incluido: fabricar S/1.06 (S/0.605 de insumos con sangrecita de res en polvo a S/300 por kg, y S/0.45 que nos cobra la planta) más S/0.30 de empaque (bolsita, doypack y etiquetas con el código de la app), S/0.16 de merma, transporte y almacén, y S/0.12 de calidad. Esos S/0.12 son el análisis de cada mes, que se muestra en la segunda fila solo para explicar de dónde salen: no se suman dos veces. La calidad cuesta S/625 por la producción de cada mes (microbiológico S/250 y hierro S/375, que se publica en la app); el hierro se mide todos los meses hasta junio y cada 2 meses desde julio, cuando la receta ya es estable: en promedio S/0.12 por brownie. Vender en stands: S/600 por punto al mes y S/90 por día de vendedor(a). Ferias pagadas: S/1,800 de stand más 3 días de vendedor(a) (S/270); cada evento sin costo, S/90 de vendedor(a) y S/70 de aporte al organizador. Recompra: S/0.50 por brownie con entregas agrupadas 2 días por semana por zona y recojo en el stand. Contenido: S/700 de pauta y material, y S/200 para premiar a las mamás embajadoras. App: S/250 al mes de servidor y mantenimiento, más S/0.04 por código impreso. Administración: S/745 (contador, facturación, web, teléfono, movilidad, GS1, banco y uniformes) y la coordinadora en planilla, S/709. El carné de sanidad es requisito al contratar, así que no lo paga la empresa.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v7, por brownie y sin IGV (el IGV es del Estado, no nuestro). Producir: S/1.72 la unidad suelta (lleva su etiqueta con el código de la app), S/1.68 en la caja de 3, S/1.64 en el pack de 6 (opción B, cada brownie en su bolsita) y S/1.54 en el pack de 12. Vender: un brownie de degustación por cada 10 vendidos, movilidad, el 3 % del pago con Yape o tarjeta y el 1 % de pago a cuenta de renta. Lo que queda (S/2.86 la unidad, S/2.50 la caja de 3, S/1.85 el pack de 6 y S/1.69 el pack de 12) paga el espacio, al vendedor y los gastos fijos. Margen bruto en el stand: unidad 66 %, caja de 3 64 %, pack de 6 58 % y pack de 12 58 %. Cascada del año 1 (promedio de todos los canales): de S/4.68 que paga el cliente, S/0.71 es IGV, S/2.10 producir y vender, S/0.98 stands, ferias y eventos, S/0.63 gastos fijos y S/0.06 intereses e impuesto: quedan S/0.20 de ganancia final por brownie (utilidad neta de S/10,379 / 52,331 brownies). En el año 2 los gastos fijos se reparten entre más brownies y la ganancia final sube a S/0.40 (S/28,447 / 70,452). Nota: no hay planta propia, se paga por brownie hecho.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v7. Los documentos se consideran listos desde el primer día de ventas (enero de 2027, mes 1): su costo se paga una sola vez dentro de la inversión inicial y no limita la proyección. Siglas en palabras simples: S.A.C. es el tipo de empresa (sociedad anónima cerrada), que se crea en un Centro de Desarrollo Empresarial (CDE) de PRODUCE con notario; REMYPE es el registro de micro y pequeña empresa; la marca se registra en la clase 30 de INDECOPI, la de alimentos como pasteles y galletas; el seguro (póliza de responsabilidad civil) lo piden algunos malls y cuesta S/600 al año; la tasa del registro sanitario es S/0 con el TUPA 2026. El carné de sanidad ya no lo paga la empresa: es requisito para contratar a vendedores y coordinadora (ahorro de S/75; hay que verificar que el carné de su distrito valga en cada mall). El arranque incluye empaque (S/3,150, con los códigos de la app), stock de enero y febrero (S/4,801), marketing de lanzamiento (S/3,204) y capital de trabajo (S/8,000). Marca y app suman S/3,250: identidad S/800, fotos S/300, web y dominio S/150 y S/2,000 para terminar y publicar la app Andi, Misión Hierro, porque el prototipo ya funciona (documento 09). Financiamiento: S/25,000 de los 5 socios y un préstamo de S/16,000 a 24 cuotas de S/898 (tasa efectiva anual, TEA, de 35 %). Además se abre una línea de crédito de S/3,000 que solo se usa si las ventas bajan.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equilibrio: cuántos brownies hay que vender en el mes para que lo que dejan cubra todos los costos de ese mes. Cada punto de venta que se abre sube la valla porque suma espacio (S/600) y vendedor (S/90 por día). Por eso el equilibrio sube en escalones: con 1 punto (enero) hacen falta unos 2,100 brownies; con 2 puntos, de 3,100 a 3,500 (abril llega a 4,232 por la feria del Día del Niño); con 3 puntos, de 4,200 a 4,400. Solo enero y febrero quedan por debajo. Costos de operar al mes, sin contar la fabricación (promedio de 2027, Excel v7): vendedores S/1,973, espacio S/1,400, administración y app S/995 (S/745 + S/250), marketing S/700 y embajadoras S/200, ferias y eventos S/878, coordinadora S/709 y depreciación S/134. El promedio anual que da el Excel es 3,096 brownies al mes (516 packs de 6), pero la línea mes a mes es la que se usa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v7), con vendedores pagados en todos los stands y eventos y coordinadora en planilla. Enero pierde S/2,539 (un solo punto y vacaciones) y febrero S/1,513 (abre el segundo punto y se paga la feria de campaña escolar); desde marzo todos los meses ganan, aunque abril queda justo (S/368) por la feria del Día del Niño. Del resultado operativo (S/13,423) a la utilidad neta: más S/2,074 de pagos a cuenta ya restados, menos S/3,965 de intereses del préstamo y menos S/1,153 de impuesto a la renta (Régimen MYPE Tributario, 10 %): S/10,379. Sobre los S/25,000 de los socios, eso es 42 % en el primer año. La inversión de S/40,876 se recupera en el mes 23 (noviembre de 2028). Riesgos: si las ventas por punto bajan 20 %, el año 1 queda casi en cero (S/608) y la caja baja a −S/2,188: la cubre la línea de crédito de S/3,000. Si suben 20 %, el resultado llega a S/26,237 y se recupera en el mes 17. Si el espacio cuesta S/1,000 por punto, el resultado baja a S/2,223. El año 2 tiene su propia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Anio2 del Excel v7 (enero a diciembre de 2028). Supuestos: los 3 puntos de venta abren todo el año con 80 brownies por día en enero y febrero y 90 el resto (el ritmo con el que cerró 2027); los quioscos escolares venden todo el año escolar; las tiendas naturistas pasan de 480 a 660 brownies al mes; se repiten las ferias de campaña escolar y del Día del Niño; los precios, costos y la mezcla de presentaciones son los mismos de 2027. Es un escenario prudente: no cuenta el cuarto punto ni la maquila más barata, que solo se activan si se cumplen sus metas (ver el cierre). Resultado: 70,452 brownies, S/322,329 de ventas con IGV, S/30,459 de resultado operativo y S/28,447 de utilidad neta (los intereses bajan a S/1,582 porque el préstamo termina en diciembre de 2028). La caja cierra 2028 en S/33,684 con el préstamo pagado. Rentabilidad para los socios: 114 % de su aporte en el año 2. Febrero queda casi en cero (−S/40) por la feria de campaña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escrito en frases cortas y con las cifras del Excel v7, para que se entienda de un vistazo y muestre por qué el negocio es atractivo. Socios: la planta fabrica por nosotros (no compramos planta), el laboratorio mide el hierro de cada lote, el proveedor vende la sangrecita en polvo con registro sanitario, los malls y supermercados ponen el espacio, y los pediatras y la nutricionista nos recomiendan. Propuesta de valor: el snack de lonchera con hierro que el niño sí se come, con el hierro medido en cada lote y visible en la app, sabor a brownie y sin octógono. Canales (unidades del año 1): stands y carrito 43 %, WhatsApp 18 %, ferias y eventos 14 %, colegios y naturistas 25 %. Costos: S/1.64 por brownie (pack de 6), S/51,010 al año de stands, ferias, eventos y vendedores, S/2,738 al mes de gastos fijos con la app incluida. Ingresos: año 1 S/244,728 y S/10,379 de utilidad neta (42 % del aporte de los socios); año 2 S/322,329 y S/28,447 (114 %). La franja de abajo resume el argumento para un inversionista.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(incluida la app Andi, Misión Hierro),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innovación tecnológica que pidió la profesora: una app propia que viene con el producto (documento 09). Es una app web instalable (PWA): el padre escanea el QR del envase y se abre, sin descargar nada. Modo padres: ve el hierro medido en laboratorio de su lote, el semáforo de hierro de la semana frente a una referencia por edad, el plan de loncheras (con IA de Gemini), el recordatorio del control de hemoglobina y la recompra en un clic por WhatsApp. Modo niños: Misión Hierro, con Andi, una llamita exploradora; cuatro juegos que enseñan a combinar hierro con vitamina C, superalimentos andinos, mitos y hábitos, con voz para los que no leen. Lo abre el padre y fija el tiempo de juego. Por la Ley 30021 (art. 8), el modo niño no muestra el producto ni premia la compra; Andi nunca dice "come AndiBite". Solo pedimos apodo y edad del niño (Ley 29733).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el padre compra en el stand, escanea el QR del envase, ve el hierro medido de su lote (el dato que pedían Claudia y el 42 % que desconfía de lo envasado), usa el plan de loncheras y el semáforo durante la semana, y cuando el pack se está acabando la app le avisa y abre WhatsApp con el pedido listo. Costos, ya en el Excel v7: el prototipo funcional ya está hecho (carpeta app-andi-mision-hierro del repositorio), así que la inversión baja de S/6,000 a S/2,000 para conectar el laboratorio real, probar con 10 familias, revisar los textos legales y publicar; S/250 al mes de Cloud Run, Firestore, IA y mantenimiento; S/0.04 por código impreso con dato variable; y S/375 por análisis de hierro, todos los meses hasta junio y cada 2 meses desde julio, cuando la receta ya es estable. Es una app web instalable (en inglés, PWA): se abre desde el QR del envase sin pasar por una tienda de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por WhatsApp: pack de 6 a S/26.90 (S/4.48 por brownie) y pack de 12 a S/49.90 (S/4.16); en el stand, pack de 6 a S/27.90 (S/4.65). Ningún competidor publica el hierro medido de cada lote ni ofrece una app para la familia.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marketing completo en el documento 04-reformulacion/10-plan-de-marketing-2027.md. Mensaje central: "Hierro medido. Sabor a brownie." Al padre A (Claudia, Lima Top) le hablamos del dato: el hierro medido de su lote. Al padre B (Rodrigo, Lima Moderna) le hablamos de resolver la semana a buen precio: el pack de 12 por WhatsApp sale S/4.16 por brownie. Desde febrero la pauta se reparte mitad en Lima Top y mitad en Lima Moderna. Cuatro fases: prelanzamiento (octubre a diciembre de 2026, S/1,758: lista de espera, video, influencers y material de punto de venta); lanzamiento (enero y febrero, S/5,796: apertura en Jockey y punto 2, feria de campaña escolar; 3,700 brownies); crecer (marzo a julio, S/9,770: quioscos, embajadoras, feria del Día del Niño y fechas clave; 20,320 brownies); expandir (agosto a diciembre, S/7,220: punto 3, 5 colegios y Navidad con cajas por pedido; 28,311 brownies). Total S/24,544: S/0.44 de marketing por brownie en 2027. Objetivos: vender lo del Excel v7 (52,331 brownies y S/244,728); recompra igual al 35 % de lo vendido en físico, con unos 2,300 contactos de WhatsApp con permiso; 30 % de envases escaneados; 230 familias nuevas por embajadoras; 5 colegios con quiosco (2 A y 3 B) y 8 tiendas naturistas. Las metas de contactos, escaneos y colegios son metas propuestas, calculadas en la sección 6.3 del documento 10. Indicadores que se revisan cada domingo: brownies por día y punto (80 a 100), recompra, contactos, escaneos, contactos por feria (50 o más) y familias por embajadoras (20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Presupuesto de marketing en el formato de mezcla de promoción: publicidad, ventas personales, promociones y relaciones públicas. Es el mismo dinero del Excel v7 y del documento 10, ordenado por medio; el detalle editable está en 04-reformulacion/Presupuesto-marketing-AndiBite.xlsx. Publicidad S/5,950: pauta en Facebook e Instagram (S/5,050, de S/300 a 500 al mes, mitad Lima Top y mitad Lima Moderna), pauta de expectativa (S/600) y video de lanzamiento (S/300). Ventas personales S/4,140: vendedor(a) en las 2 ferias pagadas (3 días cada una, S/540) y en los 40 eventos sin costo (S/90 cada uno, S/3,600). Promociones S/7,596: 600 muestras del lanzamiento (S/1,146), degustaciones extra (S/1,750), material de stand y punto de venta (S/2,300) y premios para mamás embajadoras (S/2,400; el premio es para el padre, Ley 30021). Relaciones públicas S/6,858: 40 packs para influencers (S/458), stand en las 2 ferias pagadas (S/3,600) y aporte a los eventos sin costo (S/70 cada uno, S/2,800). El presupuesto de marketing de S/900 al mes se mantiene: son S/700 de pauta, degustación y material más S/200 de embajadoras (S/10,800 en 2027). El total del plan suma, además, el lanzamiento (que se paga con la inversión inicial), las ferias pagadas y los eventos, que en el Excel ya estaban presupuestados en otras líneas. El espacio y los vendedores de los stands de fin de semana no van aquí: son costo de 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tipo de medio: publicidad S/5,950 (24 %), ventas personales S/4,140 (17 %), promociones S/7,596 (31 %) y relaciones públicas S/6,858 (28 %). Promociones pesa más porque la venta de AndiBite se gana con la prueba: el niño prueba delante del padre (muestras, degustaciones y material del stand) y las mamás embajadoras traen familias nuevas. Por mes, los picos son enero (lanzamiento con 600 muestras), febrero (feria de campaña escolar) y abril (feria del Día del Niño); el resto del año va de S/1,220 a S/1,700. Total S/24,544, unos S/0.44 por brownie vendido en 2027. Las 4 tarjetas muestran de dónde sale el dinero: el presupuesto de marketing de S/900 al mes, el lanzamiento que se paga con la inversión, y las ferias y eventos que el Excel v7 ya tenía presupuestados.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Cronograma de Gantt solo del plan de marketing (documento 10, sección 6). Preparar: redes, WhatsApp Business y lista de espera (octubre a diciembre de 2026); video de lanzamiento con niños, con consentimiento de los padres (noviembre, S/300); influencers (40 packs: 20 del segmento A y 20 del B) y pauta de expectativa (diciembre y enero). Lanzar: apertura de Jockey en enero, del punto 2 (segmento B) en febrero y del punto 3 (segmento A) en agosto; ferias pagadas de campaña escolar (febrero) y Día del Niño Peruano (11 de abril), con meta de 50 contactos de WhatsApp cada una. Fidelizar: recompra por WhatsApp con el aviso de la app (35 % de lo vendido en físico); mamás embajadoras con código (10 fundadoras en enero y febrero, luego 20 familias al mes); campaña "Escanea tu lote" en los stands (de 15 % a 28 % de envases escaneados en el primer semestre, y otra vez al abrir el punto 3). Crecer: quioscos en colegios A y B (1 a 3 de marzo a julio, 4 a 5 desde agosto); eventos sin costo (1 a 5 al mes); campañas del Día de la Madre (9 de mayo), del Padre (20 de junio) y del Día del Niño de agosto (15 de agosto, fecha comercial de los malls); y Navidad con cajas para regalo y empresas, por pedido. La fila de inversión cuadra con el Excel v7 mes a mes (S/24,544 en total). La meta de brownies es la del Excel v7; en el prelanzamiento la meta es de contactos en lista de espera. Pendiente de confirmar: el calendario escolar 2027 del MINEDU, la lista de feriados 2027 en gob.pe, los organizadores de las 2 ferias, los puntos 2 y 3, y el contacto con Innova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Reglas para crecer sin arriesgar: ninguna de estas mejoras está dentro del plan base; cada una se activa solo cuando se cumple su meta, y así el Excel muestra un escenario prudente. (1) Cuarto punto de venta: si los 3 puntos venden 85 o más brownies por día durante 3 meses. (2) Fabricación más barata: al pasar 5,000 brownies al mes (el año 2 promedia unos 5,900), negociar con la planta S/0.40 por brownie en vez de S/0.45. (3) Contrato anual del polvo de sangrecita (unos 50 kg al año) para fijar el precio. (4) Cajas para cumpleaños y empresas, por pedido. (5) Góndola en Wong o Vivanda en el año 2, solo si cada punto ya gana por sí solo: el supermercado se queda con 20 a 40 % y paga a 30 a 90 días. (6) Pago variable a vendedores: S/60 por día más S/0.30 por brownie (a 90 brownies por día sale casi lo mismo que hoy, S/87, pero premia al que vende más). (7) Una feria pagada solo se repite si dejó al menos 50 contactos de WhatsApp y cumplió 3 de los 4 criterios: padres con hijos de 4 a 11, que buscan comida saludable, en temporada escolar y en Lima Top o Moderna. (8) La línea de crédito de S/3,000 solo se usa si la caja baja de S/1,000.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los stands (Jockey, Larcomar, La Rambla, Wong, Vivanda), la feria del Día del Niño y las ferias saludables, y la sangrecita de res en polvo a granel; y probar el prototipo de la app Andi, Misión Hierro con 10 familias en noviembre de 2026.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5.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5.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5.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5.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image" Target="../media/image-31-11.png"/><Relationship Id="rId12" Type="http://schemas.openxmlformats.org/officeDocument/2006/relationships/slideLayout" Target="../slideLayouts/slideLayout5.xml"/><Relationship Id="rId1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5.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5.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image" Target="../media/image-38-8.png"/><Relationship Id="rId9" Type="http://schemas.openxmlformats.org/officeDocument/2006/relationships/slideLayout" Target="../slideLayouts/slideLayout5.xml"/><Relationship Id="rId10"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negocio: AndiBite</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costos, resultados de los años 1 y 2, y el Canvas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app Andi, competencia y plan de marketing</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app Andi en cada envase · se vende en stands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880360"/>
            <a:ext cx="4572000" cy="2377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Padres de 32 a 45 años</a:t>
            </a:r>
            <a:endParaRPr lang="en-US" sz="1600" dirty="0"/>
          </a:p>
          <a:p>
            <a:pPr marL="342900" indent="-342900">
              <a:spcAft>
                <a:spcPts val="600"/>
              </a:spcAft>
              <a:buSzPct val="100000"/>
              <a:buChar char="•"/>
            </a:pPr>
            <a:r>
              <a:rPr lang="en-US" sz="1600" dirty="0">
                <a:solidFill>
                  <a:schemeClr val="tx1"/>
                </a:solidFill>
              </a:rPr>
              <a:t>NSE A y B: 7 de cada 10 hogares son B</a:t>
            </a:r>
            <a:endParaRPr lang="en-US" sz="1600" dirty="0"/>
          </a:p>
          <a:p>
            <a:pPr marL="342900" indent="-342900">
              <a:spcAft>
                <a:spcPts val="600"/>
              </a:spcAft>
              <a:buSzPct val="100000"/>
              <a:buChar char="•"/>
            </a:pPr>
            <a:r>
              <a:rPr lang="en-US" sz="1600" dirty="0">
                <a:solidFill>
                  <a:schemeClr val="tx1"/>
                </a:solidFill>
              </a:rPr>
              <a:t>Viven en Lima Top y Lima Moderna</a:t>
            </a:r>
            <a:endParaRPr lang="en-US" sz="1600" dirty="0"/>
          </a:p>
          <a:p>
            <a:pPr marL="342900" indent="-342900">
              <a:spcAft>
                <a:spcPts val="600"/>
              </a:spcAft>
              <a:buSzPct val="100000"/>
              <a:buChar char="•"/>
            </a:pPr>
            <a:r>
              <a:rPr lang="en-US" sz="1600" dirty="0">
                <a:solidFill>
                  <a:schemeClr val="tx1"/>
                </a:solidFill>
              </a:rPr>
              <a:t>Hijos de 4 a 11 en colegio privado</a:t>
            </a:r>
            <a:endParaRPr lang="en-US" sz="1600" dirty="0"/>
          </a:p>
          <a:p>
            <a:pPr marL="342900" indent="-342900">
              <a:spcAft>
                <a:spcPts val="6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clientes tipo: quién es, qué le duele y dónde compra</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36 a 45, mando medio</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Que valga lo que cuesta</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Plaza Vea, Tottus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Consejero</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Nos recomienda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 SEGMENTO 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 SEGMENTO B</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(40, San Miguel)</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40 años · San Miguel</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Jefe de logística</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S/8,500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Plaza Vea y WhatsApp</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Que no le rinda el dinero</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Precio claro por brownie</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a familias (mercado de consumo), en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que sí invierte en la salud de sus hijos</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Mercado total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Mercado al que apuntamos · S/62.8 M</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Meta del año 1 · S/0.24 M</a:t>
            </a:r>
            <a:endParaRPr lang="en-US" sz="1400" dirty="0"/>
          </a:p>
          <a:p>
            <a:pPr algn="ctr" indent="0" marL="0">
              <a:buNone/>
            </a:pPr>
            <a:r>
              <a:rPr lang="en-US" sz="1200" dirty="0">
                <a:solidFill>
                  <a:schemeClr val="bg1"/>
                </a:solidFill>
              </a:rPr>
              <a:t>52,331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 mismo</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S/6, caja de 3 S/16.50 o pack S/27.90,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entrega 2 días por semana o recojo en el stand</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App Andi: hierro del lote y aviso de recompra</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75.4 %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24.6 %</a:t>
            </a:r>
            <a:endParaRPr lang="en-US" sz="1400" dirty="0"/>
          </a:p>
          <a:p>
            <a:pPr indent="0" marL="0">
              <a:buNone/>
            </a:pPr>
            <a:r>
              <a:rPr lang="en-US" sz="1500" dirty="0">
                <a:solidFill>
                  <a:schemeClr val="tx1"/>
                </a:solidFill>
              </a:rPr>
              <a:t>Quioscos escolares y tiendas naturistas, que se quedan del 20 al 36 % del precio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vender cara a cara: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la campaña escolar y el Día del Niño;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Vamos donde está la familia: malls, súper, ferias y colegios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para A y para B</a:t>
            </a:r>
            <a:endParaRPr lang="en-US" sz="1400" dirty="0"/>
          </a:p>
          <a:p>
            <a:pPr indent="0" marL="0">
              <a:buNone/>
            </a:pPr>
            <a:r>
              <a:rPr lang="en-US" sz="1300" dirty="0">
                <a:solidFill>
                  <a:schemeClr val="accent2"/>
                </a:solidFill>
              </a:rPr>
              <a:t>Jockey y La Rambla (A y B) · Real Plaza Salaverry y Open Plaza Angamos (B)</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Wong o Vivanda (A) y en Plaza Vea (B),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Campaña escolar (febrero) y Día del Niño (abril)</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de los dos segmentos</a:t>
            </a:r>
            <a:endParaRPr lang="en-US" sz="1400" dirty="0"/>
          </a:p>
          <a:p>
            <a:pPr indent="0" marL="0">
              <a:buNone/>
            </a:pPr>
            <a:r>
              <a:rPr lang="en-US" sz="1300" dirty="0">
                <a:solidFill>
                  <a:schemeClr val="accent2"/>
                </a:solidFill>
              </a:rPr>
              <a:t>Quioscos y kermeses en colegios de pensión alta (A) y en cadenas como Innova Schools (B)</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el niño prueba y el padre compra, con el consejo de la vendedora</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La coordinadora atiende a cada colegio y a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1"/>
          </a:solidFill>
          <a:ln w="12700">
            <a:solidFill>
              <a:schemeClr val="accent1"/>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accent1"/>
          </a:solidFill>
          <a:ln w="9525">
            <a:solidFill>
              <a:schemeClr val="accent1"/>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App Andi: hierro del lote, loncheras y pedido en un clic</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La app avisa cuando el pack se está acabando</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Cómo una familia nos prueba, vuelve y nos recomienda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el padre se lleva la unidad, la caja de 3 sabores o el pack</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La app Andi avisa la recompra, arma loncheras y mide el hierro de la semana</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recomienda en el chat del colegio con su código</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 dónde viene el dinero: cuatro fuentes, un solo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cajas de 3 y packs en malls y súper</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49.8 %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Campaña escolar, Día del Niño,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16.8 %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entrega o recojo</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a colegios y tiendas</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16.7 %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399032"/>
                <a:gridCol w="868680"/>
                <a:gridCol w="914400"/>
                <a:gridCol w="960120"/>
                <a:gridCol w="914400"/>
              </a:tblGrid>
              <a:tr h="502920">
                <a:tc>
                  <a:txBody>
                    <a:bodyPr/>
                    <a:lstStyle/>
                    <a:p>
                      <a:pPr indent="0" marL="0">
                        <a:buNone/>
                      </a:pPr>
                      <a:r>
                        <a:rPr lang="en-US" sz="1200" b="1" dirty="0">
                          <a:solidFill>
                            <a:schemeClr val="bg1"/>
                          </a:solidFill>
                        </a:rPr>
                        <a:t>Precio con IGV</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Unidad</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Caja de 3</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6</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Pack de 12</a:t>
                      </a:r>
                      <a:endParaRPr lang="en-US" sz="12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300" b="1" dirty="0">
                          <a:solidFill>
                            <a:schemeClr val="tx1"/>
                          </a:solidFill>
                        </a:rPr>
                        <a:t>Stand y ferias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S/16.50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S/27.90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300" b="1" dirty="0">
                          <a:solidFill>
                            <a:schemeClr val="tx1"/>
                          </a:solidFill>
                        </a:rPr>
                        <a:t>S/51.90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300" b="1" dirty="0">
                          <a:solidFill>
                            <a:schemeClr val="tx1"/>
                          </a:solidFill>
                        </a:rPr>
                        <a:t>WhatsApp</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S/12.00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S/26.90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S/49.90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Quiosco escolar</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chemeClr val="tx1"/>
                          </a:solidFill>
                        </a:rPr>
                        <a:t>Tienda naturista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S/28.90*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dirty="0">
                          <a:solidFill>
                            <a:schemeClr val="tx1"/>
                          </a:solidFill>
                        </a:rPr>
                        <a:t>–</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Incluye el hierro medido por lote y la app. En el stand se cobra algo más por el alquiler y el personal.</a:t>
            </a:r>
            <a:endParaRPr lang="en-US" sz="1400" dirty="0"/>
          </a:p>
          <a:p>
            <a:pPr indent="0" marL="0">
              <a:spcAft>
                <a:spcPts val="400"/>
              </a:spcAft>
              <a:buNone/>
            </a:pPr>
            <a:r>
              <a:rPr lang="en-US" sz="1100" i="1" dirty="0">
                <a:solidFill>
                  <a:schemeClr val="accent2"/>
                </a:solidFill>
              </a:rPr>
              <a:t>* Precio al público. AndiBite recibe S/3.20 en el quiosco y S/18.50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S/244,700 en ventas el primer año</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52,331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3,252 + 1,315  </a:t>
            </a:r>
            <a:pPr indent="0" marL="0">
              <a:buNone/>
            </a:pPr>
            <a:r>
              <a:rPr lang="en-US" sz="1300" dirty="0">
                <a:solidFill>
                  <a:schemeClr val="accent2"/>
                </a:solidFill>
              </a:rPr>
              <a:t>packs de 6 y cajas de 3</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S/4.68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y recursos · Actividades y costos · Punto de equilibrio · Resultados de los años 1 y 2 ·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aliados que hacen lo que nosotros no podemos</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que fabrica por nosotros</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acreditado</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Sangrecita en polvo con RS,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Dónde vendemos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Malls y súper para A y B, ferias, quioscos y naturistas</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Tecnología</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Desarrollador de la app y Google Cloud</a:t>
            </a:r>
            <a:endParaRPr lang="en-US" sz="1200" dirty="0"/>
          </a:p>
        </p:txBody>
      </p:sp>
      <p:sp>
        <p:nvSpPr>
          <p:cNvPr id="61" name="Shape 53"/>
          <p:cNvSpPr/>
          <p:nvPr/>
        </p:nvSpPr>
        <p:spPr>
          <a:xfrm>
            <a:off x="8668512" y="3977640"/>
            <a:ext cx="914400" cy="274320"/>
          </a:xfrm>
          <a:prstGeom prst="roundRect">
            <a:avLst>
              <a:gd name="adj" fmla="val 50000"/>
            </a:avLst>
          </a:prstGeom>
          <a:solidFill>
            <a:schemeClr val="bg2"/>
          </a:solidFill>
          <a:ln w="9525">
            <a:solidFill>
              <a:schemeClr val="accent5"/>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Quienes nos recomiendan</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Pediatras y nutricionista</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bg2"/>
          </a:solidFill>
          <a:ln w="9525">
            <a:solidFill>
              <a:schemeClr val="accent5"/>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Complementa</a:t>
            </a:r>
            <a:endParaRPr lang="en-US" sz="900" dirty="0"/>
          </a:p>
        </p:txBody>
      </p:sp>
      <p:sp>
        <p:nvSpPr>
          <p:cNvPr id="79" name="Text 70"/>
          <p:cNvSpPr txBox="1"/>
          <p:nvPr/>
        </p:nvSpPr>
        <p:spPr>
          <a:xfrm>
            <a:off x="548640" y="6053328"/>
            <a:ext cx="11091672" cy="274320"/>
          </a:xfrm>
          <a:prstGeom prst="rect">
            <a:avLst/>
          </a:prstGeom>
          <a:noFill/>
          <a:ln/>
        </p:spPr>
        <p:txBody>
          <a:bodyPr wrap="square" lIns="0" tIns="0" rIns="0" bIns="0" rtlCol="0" anchor="t"/>
          <a:lstStyle/>
          <a:p>
            <a:pPr algn="ctr" indent="0" marL="0">
              <a:buNone/>
            </a:pPr>
            <a:r>
              <a:rPr lang="en-US" sz="1050" b="1" dirty="0">
                <a:solidFill>
                  <a:schemeClr val="accent2"/>
                </a:solidFill>
              </a:rPr>
              <a:t>Conecta: </a:t>
            </a:r>
            <a:pPr algn="ctr" indent="0" marL="0">
              <a:buNone/>
            </a:pPr>
            <a:r>
              <a:rPr lang="en-US" sz="1050" dirty="0">
                <a:solidFill>
                  <a:schemeClr val="accent2"/>
                </a:solidFill>
              </a:rPr>
              <a:t>nos acerca al cliente · </a:t>
            </a:r>
            <a:pPr algn="ctr" indent="0" marL="0">
              <a:buNone/>
            </a:pPr>
            <a:r>
              <a:rPr lang="en-US" sz="1050" b="1" dirty="0">
                <a:solidFill>
                  <a:schemeClr val="accent2"/>
                </a:solidFill>
              </a:rPr>
              <a:t>Convierte: </a:t>
            </a:r>
            <a:pPr algn="ctr" indent="0" marL="0">
              <a:buNone/>
            </a:pPr>
            <a:r>
              <a:rPr lang="en-US" sz="1050" dirty="0">
                <a:solidFill>
                  <a:schemeClr val="accent2"/>
                </a:solidFill>
              </a:rPr>
              <a:t>hace posible la venta · </a:t>
            </a:r>
            <a:pPr algn="ctr" indent="0" marL="0">
              <a:buNone/>
            </a:pPr>
            <a:r>
              <a:rPr lang="en-US" sz="1050" b="1" dirty="0">
                <a:solidFill>
                  <a:schemeClr val="accent2"/>
                </a:solidFill>
              </a:rPr>
              <a:t>Complementa: </a:t>
            </a:r>
            <a:pPr algn="ctr" indent="0" marL="0">
              <a:buNone/>
            </a:pPr>
            <a:r>
              <a:rPr lang="en-US" sz="1050" dirty="0">
                <a:solidFill>
                  <a:schemeClr val="accent2"/>
                </a:solidFill>
              </a:rPr>
              <a:t>pone lo que no tenemos · RS = registro sanitario · S.A.C. = tipo de empresa</a:t>
            </a:r>
            <a:endParaRPr lang="en-US" sz="10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App Andi, Misión Hierro y base de clientes</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S/40,876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hacemos cada mes y cuánto nos cuesta</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481328"/>
          <a:ext cx="10360152" cy="914400"/>
        </p:xfrm>
        <a:graphic>
          <a:graphicData uri="http://schemas.openxmlformats.org/drawingml/2006/table">
            <a:tbl>
              <a:tblPr/>
              <a:tblGrid>
                <a:gridCol w="2697480"/>
                <a:gridCol w="1600200"/>
                <a:gridCol w="4343400"/>
                <a:gridCol w="1719072"/>
              </a:tblGrid>
              <a:tr h="420624">
                <a:tc>
                  <a:txBody>
                    <a:bodyPr/>
                    <a:lstStyle/>
                    <a:p>
                      <a:pPr indent="0" marL="0">
                        <a:buNone/>
                      </a:pPr>
                      <a:r>
                        <a:rPr lang="en-US" sz="1300" b="1" dirty="0">
                          <a:solidFill>
                            <a:schemeClr val="bg1"/>
                          </a:solidFill>
                        </a:rPr>
                        <a:t>Actividad clave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 qué</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85216">
                <a:tc>
                  <a:txBody>
                    <a:bodyPr/>
                    <a:lstStyle/>
                    <a:p>
                      <a:pPr indent="0" marL="0">
                        <a:buNone/>
                      </a:pPr>
                      <a:r>
                        <a:rPr lang="en-US" sz="1300" b="1" dirty="0">
                          <a:solidFill>
                            <a:schemeClr val="tx1"/>
                          </a:solidFill>
                        </a:rPr>
                        <a:t>Producir con la planta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S/1.64 por brownie: fabricar S/1.06 + empaque S/0.30 + merma y traslado S/0.16 + calidad S/0.12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85216">
                <a:tc>
                  <a:txBody>
                    <a:bodyPr/>
                    <a:lstStyle/>
                    <a:p>
                      <a:pPr indent="0" marL="0">
                        <a:buNone/>
                      </a:pPr>
                      <a:r>
                        <a:rPr lang="en-US" sz="1300" b="1" dirty="0">
                          <a:solidFill>
                            <a:schemeClr val="tx1"/>
                          </a:solidFill>
                        </a:rPr>
                        <a:t>Calidad y hierro medido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Producción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S/625 por la producción de cada mes: son los S/0.12 de la fila de arriba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Ya incluido arriba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Vender en stands y carrito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S/600 por punto al mes + S/90 por día de vendedor(a)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Crece con cada punto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Ferias y eventos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Atender al cliente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Feria S/1,800 + S/270 de vendedor(a) · evento S/160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Por evento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Recompra y entregas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S/0.50 por brownie (entregas agrupadas por zona)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Contenido y mamás embajadoras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S/700 de pauta + S/200 de embajadoras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chemeClr val="tx1"/>
                          </a:solidFill>
                        </a:rPr>
                        <a:t>Mantener la app Andi</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Mantener canales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S/250 al mes + S/0.04 por código impreso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 y variable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38912">
                <a:tc>
                  <a:txBody>
                    <a:bodyPr/>
                    <a:lstStyle/>
                    <a:p>
                      <a:pPr indent="0" marL="0">
                        <a:buNone/>
                      </a:pPr>
                      <a:r>
                        <a:rPr lang="en-US" sz="1300" b="1" dirty="0">
                          <a:solidFill>
                            <a:schemeClr val="tx1"/>
                          </a:solidFill>
                        </a:rPr>
                        <a:t>Administrar el negocio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b="1" dirty="0">
                          <a:solidFill>
                            <a:schemeClr val="accent1"/>
                          </a:solidFill>
                        </a:rPr>
                        <a:t>Gestión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S/745 de administración + S/709 de la coordinadora al mes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accent2"/>
                          </a:solidFill>
                        </a:rPr>
                        <a:t>Fijo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694944" y="2011680"/>
            <a:ext cx="365760" cy="3657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75411" y="2092147"/>
            <a:ext cx="204826" cy="204826"/>
          </a:xfrm>
          <a:prstGeom prst="rect">
            <a:avLst/>
          </a:prstGeom>
        </p:spPr>
      </p:pic>
      <p:sp>
        <p:nvSpPr>
          <p:cNvPr id="7" name="Shape 3"/>
          <p:cNvSpPr/>
          <p:nvPr/>
        </p:nvSpPr>
        <p:spPr>
          <a:xfrm>
            <a:off x="694944" y="2596896"/>
            <a:ext cx="365760" cy="365760"/>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75411" y="2677363"/>
            <a:ext cx="204826" cy="204826"/>
          </a:xfrm>
          <a:prstGeom prst="rect">
            <a:avLst/>
          </a:prstGeom>
        </p:spPr>
      </p:pic>
      <p:sp>
        <p:nvSpPr>
          <p:cNvPr id="9" name="Shape 4"/>
          <p:cNvSpPr/>
          <p:nvPr/>
        </p:nvSpPr>
        <p:spPr>
          <a:xfrm>
            <a:off x="694944" y="3108960"/>
            <a:ext cx="365760" cy="365760"/>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75411" y="3189427"/>
            <a:ext cx="204826" cy="204826"/>
          </a:xfrm>
          <a:prstGeom prst="rect">
            <a:avLst/>
          </a:prstGeom>
        </p:spPr>
      </p:pic>
      <p:sp>
        <p:nvSpPr>
          <p:cNvPr id="11" name="Shape 5"/>
          <p:cNvSpPr/>
          <p:nvPr/>
        </p:nvSpPr>
        <p:spPr>
          <a:xfrm>
            <a:off x="694944" y="3547872"/>
            <a:ext cx="365760" cy="365760"/>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75411" y="3628339"/>
            <a:ext cx="204826" cy="204826"/>
          </a:xfrm>
          <a:prstGeom prst="rect">
            <a:avLst/>
          </a:prstGeom>
        </p:spPr>
      </p:pic>
      <p:sp>
        <p:nvSpPr>
          <p:cNvPr id="13" name="Shape 6"/>
          <p:cNvSpPr/>
          <p:nvPr/>
        </p:nvSpPr>
        <p:spPr>
          <a:xfrm>
            <a:off x="694944" y="3986784"/>
            <a:ext cx="365760" cy="365760"/>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75411" y="4067251"/>
            <a:ext cx="204826" cy="204826"/>
          </a:xfrm>
          <a:prstGeom prst="rect">
            <a:avLst/>
          </a:prstGeom>
        </p:spPr>
      </p:pic>
      <p:sp>
        <p:nvSpPr>
          <p:cNvPr id="15" name="Shape 7"/>
          <p:cNvSpPr/>
          <p:nvPr/>
        </p:nvSpPr>
        <p:spPr>
          <a:xfrm>
            <a:off x="694944" y="4425696"/>
            <a:ext cx="365760" cy="365760"/>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75411" y="4506163"/>
            <a:ext cx="204826" cy="204826"/>
          </a:xfrm>
          <a:prstGeom prst="rect">
            <a:avLst/>
          </a:prstGeom>
        </p:spPr>
      </p:pic>
      <p:sp>
        <p:nvSpPr>
          <p:cNvPr id="17" name="Shape 8"/>
          <p:cNvSpPr/>
          <p:nvPr/>
        </p:nvSpPr>
        <p:spPr>
          <a:xfrm>
            <a:off x="694944" y="4864608"/>
            <a:ext cx="365760" cy="365760"/>
          </a:xfrm>
          <a:prstGeom prst="ellipse">
            <a:avLst/>
          </a:prstGeom>
          <a:solidFill>
            <a:schemeClr val="accent1"/>
          </a:solidFill>
          <a:ln w="12700">
            <a:solidFill>
              <a:schemeClr val="accent1"/>
            </a:solidFill>
            <a:prstDash val="solid"/>
          </a:ln>
        </p:spPr>
      </p:sp>
      <p:pic>
        <p:nvPicPr>
          <p:cNvPr id="18" name="Image 6" descr="preencoded.png">    </p:cNvPr>
          <p:cNvPicPr>
            <a:picLocks noChangeAspect="1"/>
          </p:cNvPicPr>
          <p:nvPr/>
        </p:nvPicPr>
        <p:blipFill>
          <a:blip r:embed="rId7"/>
          <a:stretch>
            <a:fillRect/>
          </a:stretch>
        </p:blipFill>
        <p:spPr>
          <a:xfrm>
            <a:off x="775411" y="4945075"/>
            <a:ext cx="204826" cy="204826"/>
          </a:xfrm>
          <a:prstGeom prst="rect">
            <a:avLst/>
          </a:prstGeom>
        </p:spPr>
      </p:pic>
      <p:sp>
        <p:nvSpPr>
          <p:cNvPr id="19" name="Shape 9"/>
          <p:cNvSpPr/>
          <p:nvPr/>
        </p:nvSpPr>
        <p:spPr>
          <a:xfrm>
            <a:off x="694944" y="5303520"/>
            <a:ext cx="365760" cy="365760"/>
          </a:xfrm>
          <a:prstGeom prst="ellipse">
            <a:avLst/>
          </a:prstGeom>
          <a:solidFill>
            <a:schemeClr val="accent1"/>
          </a:solidFill>
          <a:ln w="12700">
            <a:solidFill>
              <a:schemeClr val="accent1"/>
            </a:solidFill>
            <a:prstDash val="solid"/>
          </a:ln>
        </p:spPr>
      </p:sp>
      <p:pic>
        <p:nvPicPr>
          <p:cNvPr id="20" name="Image 7" descr="preencoded.png">    </p:cNvPr>
          <p:cNvPicPr>
            <a:picLocks noChangeAspect="1"/>
          </p:cNvPicPr>
          <p:nvPr/>
        </p:nvPicPr>
        <p:blipFill>
          <a:blip r:embed="rId8"/>
          <a:stretch>
            <a:fillRect/>
          </a:stretch>
        </p:blipFill>
        <p:spPr>
          <a:xfrm>
            <a:off x="775411" y="5383987"/>
            <a:ext cx="204826" cy="204826"/>
          </a:xfrm>
          <a:prstGeom prst="rect">
            <a:avLst/>
          </a:prstGeom>
        </p:spPr>
      </p:pic>
      <p:sp>
        <p:nvSpPr>
          <p:cNvPr id="21" name="Shape 10"/>
          <p:cNvSpPr/>
          <p:nvPr/>
        </p:nvSpPr>
        <p:spPr>
          <a:xfrm>
            <a:off x="548640" y="5779008"/>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2" name="Text 11"/>
          <p:cNvSpPr txBox="1"/>
          <p:nvPr/>
        </p:nvSpPr>
        <p:spPr>
          <a:xfrm>
            <a:off x="822960" y="5779008"/>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los eventos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 cuesta y cuánto nos queda de cada presentación</a:t>
            </a:r>
            <a:endParaRPr lang="en-US" sz="3400" dirty="0"/>
          </a:p>
        </p:txBody>
      </p:sp>
      <p:graphicFrame>
        <p:nvGraphicFramePr>
          <p:cNvPr id="4" name="Chart 0" descr=""/>
          <p:cNvGraphicFramePr/>
          <p:nvPr/>
        </p:nvGraphicFramePr>
        <p:xfrm>
          <a:off x="365760" y="1417320"/>
          <a:ext cx="61264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463040"/>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6839712" y="1463040"/>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S/1.54 a 1.72</a:t>
            </a:r>
            <a:endParaRPr lang="en-US" sz="1400" dirty="0"/>
          </a:p>
          <a:p>
            <a:pPr indent="0" marL="0">
              <a:buNone/>
            </a:pPr>
            <a:r>
              <a:rPr lang="en-US" sz="1100" dirty="0">
                <a:solidFill>
                  <a:schemeClr val="tx1"/>
                </a:solidFill>
              </a:rPr>
              <a:t>cuesta producir un brownie, sin planta propia</a:t>
            </a:r>
            <a:endParaRPr lang="en-US" sz="1400" dirty="0"/>
          </a:p>
        </p:txBody>
      </p:sp>
      <p:sp>
        <p:nvSpPr>
          <p:cNvPr id="7" name="Shape 4"/>
          <p:cNvSpPr/>
          <p:nvPr/>
        </p:nvSpPr>
        <p:spPr>
          <a:xfrm>
            <a:off x="6675120" y="2487168"/>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6839712" y="2487168"/>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58 a 66 %</a:t>
            </a:r>
            <a:endParaRPr lang="en-US" sz="1400" dirty="0"/>
          </a:p>
          <a:p>
            <a:pPr indent="0" marL="0">
              <a:buNone/>
            </a:pPr>
            <a:r>
              <a:rPr lang="en-US" sz="1100" dirty="0">
                <a:solidFill>
                  <a:schemeClr val="tx1"/>
                </a:solidFill>
              </a:rPr>
              <a:t>margen bruto en el stand</a:t>
            </a:r>
            <a:endParaRPr lang="en-US" sz="1400" dirty="0"/>
          </a:p>
        </p:txBody>
      </p:sp>
      <p:sp>
        <p:nvSpPr>
          <p:cNvPr id="9" name="Shape 6"/>
          <p:cNvSpPr/>
          <p:nvPr/>
        </p:nvSpPr>
        <p:spPr>
          <a:xfrm>
            <a:off x="6675120" y="3511296"/>
            <a:ext cx="2331720"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6839712" y="3511296"/>
            <a:ext cx="2057400" cy="896112"/>
          </a:xfrm>
          <a:prstGeom prst="rect">
            <a:avLst/>
          </a:prstGeom>
          <a:noFill/>
          <a:ln/>
        </p:spPr>
        <p:txBody>
          <a:bodyPr wrap="square" lIns="0" tIns="0" rIns="0" bIns="0" rtlCol="0" anchor="ctr"/>
          <a:lstStyle/>
          <a:p>
            <a:pPr indent="0" marL="0">
              <a:buNone/>
            </a:pPr>
            <a:r>
              <a:rPr lang="en-US" sz="1900" b="1" dirty="0">
                <a:solidFill>
                  <a:schemeClr val="accent1"/>
                </a:solidFill>
              </a:rPr>
              <a:t>S/1.69 a 2.86</a:t>
            </a:r>
            <a:endParaRPr lang="en-US" sz="1400" dirty="0"/>
          </a:p>
          <a:p>
            <a:pPr indent="0" marL="0">
              <a:buNone/>
            </a:pPr>
            <a:r>
              <a:rPr lang="en-US" sz="1100" dirty="0">
                <a:solidFill>
                  <a:schemeClr val="tx1"/>
                </a:solidFill>
              </a:rPr>
              <a:t>nos queda por brownie antes de pagar el stand</a:t>
            </a:r>
            <a:endParaRPr lang="en-US" sz="1400" dirty="0"/>
          </a:p>
        </p:txBody>
      </p:sp>
      <p:sp>
        <p:nvSpPr>
          <p:cNvPr id="11" name="Shape 8"/>
          <p:cNvSpPr/>
          <p:nvPr/>
        </p:nvSpPr>
        <p:spPr>
          <a:xfrm>
            <a:off x="9189720" y="1463040"/>
            <a:ext cx="2450592" cy="4709160"/>
          </a:xfrm>
          <a:prstGeom prst="roundRect">
            <a:avLst>
              <a:gd name="adj" fmla="val 4478"/>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9372600" y="1572768"/>
            <a:ext cx="21945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DE S/4.68 A LA GANANCIA</a:t>
            </a:r>
            <a:endParaRPr lang="en-US" sz="1100" dirty="0"/>
          </a:p>
        </p:txBody>
      </p:sp>
      <p:sp>
        <p:nvSpPr>
          <p:cNvPr id="13" name="Text 10"/>
          <p:cNvSpPr txBox="1"/>
          <p:nvPr/>
        </p:nvSpPr>
        <p:spPr>
          <a:xfrm>
            <a:off x="9372600" y="1828800"/>
            <a:ext cx="2194560" cy="256032"/>
          </a:xfrm>
          <a:prstGeom prst="rect">
            <a:avLst/>
          </a:prstGeom>
          <a:noFill/>
          <a:ln/>
        </p:spPr>
        <p:txBody>
          <a:bodyPr wrap="square" lIns="0" tIns="0" rIns="0" bIns="0" rtlCol="0" anchor="t"/>
          <a:lstStyle/>
          <a:p>
            <a:pPr indent="0" marL="0">
              <a:buNone/>
            </a:pPr>
            <a:r>
              <a:rPr lang="en-US" sz="1000" dirty="0">
                <a:solidFill>
                  <a:schemeClr val="accent5"/>
                </a:solidFill>
              </a:rPr>
              <a:t>Promedio por brownie, año 1</a:t>
            </a:r>
            <a:endParaRPr lang="en-US" sz="1000" dirty="0"/>
          </a:p>
        </p:txBody>
      </p:sp>
      <p:sp>
        <p:nvSpPr>
          <p:cNvPr id="14" name="Text 11"/>
          <p:cNvSpPr txBox="1"/>
          <p:nvPr/>
        </p:nvSpPr>
        <p:spPr>
          <a:xfrm>
            <a:off x="9372600" y="2212848"/>
            <a:ext cx="2194560" cy="219456"/>
          </a:xfrm>
          <a:prstGeom prst="rect">
            <a:avLst/>
          </a:prstGeom>
          <a:noFill/>
          <a:ln/>
        </p:spPr>
        <p:txBody>
          <a:bodyPr wrap="square" lIns="0" tIns="0" rIns="0" bIns="0" rtlCol="0" anchor="t"/>
          <a:lstStyle/>
          <a:p>
            <a:pPr indent="0" marL="0">
              <a:buNone/>
            </a:pPr>
            <a:r>
              <a:rPr lang="en-US" sz="1000" b="1" dirty="0">
                <a:solidFill>
                  <a:schemeClr val="bg2"/>
                </a:solidFill>
              </a:rPr>
              <a:t>Precio con IGV</a:t>
            </a:r>
            <a:endParaRPr lang="en-US" sz="1000" dirty="0"/>
          </a:p>
        </p:txBody>
      </p:sp>
      <p:sp>
        <p:nvSpPr>
          <p:cNvPr id="15" name="Shape 12"/>
          <p:cNvSpPr/>
          <p:nvPr/>
        </p:nvSpPr>
        <p:spPr>
          <a:xfrm>
            <a:off x="9372600" y="2450592"/>
            <a:ext cx="1536192" cy="201168"/>
          </a:xfrm>
          <a:prstGeom prst="rect">
            <a:avLst/>
          </a:prstGeom>
          <a:solidFill>
            <a:schemeClr val="accent5"/>
          </a:solidFill>
          <a:ln w="12700">
            <a:solidFill>
              <a:schemeClr val="accent5"/>
            </a:solidFill>
            <a:prstDash val="solid"/>
          </a:ln>
        </p:spPr>
      </p:sp>
      <p:sp>
        <p:nvSpPr>
          <p:cNvPr id="16" name="Text 13"/>
          <p:cNvSpPr txBox="1"/>
          <p:nvPr/>
        </p:nvSpPr>
        <p:spPr>
          <a:xfrm>
            <a:off x="10954512" y="24323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S/4.68</a:t>
            </a:r>
            <a:endParaRPr lang="en-US" sz="1050" dirty="0"/>
          </a:p>
        </p:txBody>
      </p:sp>
      <p:sp>
        <p:nvSpPr>
          <p:cNvPr id="17" name="Text 14"/>
          <p:cNvSpPr txBox="1"/>
          <p:nvPr/>
        </p:nvSpPr>
        <p:spPr>
          <a:xfrm>
            <a:off x="9372600" y="2761488"/>
            <a:ext cx="2194560" cy="219456"/>
          </a:xfrm>
          <a:prstGeom prst="rect">
            <a:avLst/>
          </a:prstGeom>
          <a:noFill/>
          <a:ln/>
        </p:spPr>
        <p:txBody>
          <a:bodyPr wrap="square" lIns="0" tIns="0" rIns="0" bIns="0" rtlCol="0" anchor="t"/>
          <a:lstStyle/>
          <a:p>
            <a:pPr indent="0" marL="0">
              <a:buNone/>
            </a:pPr>
            <a:r>
              <a:rPr lang="en-US" sz="1000" dirty="0">
                <a:solidFill>
                  <a:schemeClr val="bg2"/>
                </a:solidFill>
              </a:rPr>
              <a:t>IGV</a:t>
            </a:r>
            <a:endParaRPr lang="en-US" sz="1000" dirty="0"/>
          </a:p>
        </p:txBody>
      </p:sp>
      <p:sp>
        <p:nvSpPr>
          <p:cNvPr id="18" name="Shape 15"/>
          <p:cNvSpPr/>
          <p:nvPr/>
        </p:nvSpPr>
        <p:spPr>
          <a:xfrm>
            <a:off x="10675737" y="2999232"/>
            <a:ext cx="233055" cy="201168"/>
          </a:xfrm>
          <a:prstGeom prst="rect">
            <a:avLst/>
          </a:prstGeom>
          <a:solidFill>
            <a:schemeClr val="accent1"/>
          </a:solidFill>
          <a:ln w="12700">
            <a:solidFill>
              <a:schemeClr val="accent1"/>
            </a:solidFill>
            <a:prstDash val="solid"/>
          </a:ln>
        </p:spPr>
      </p:sp>
      <p:sp>
        <p:nvSpPr>
          <p:cNvPr id="19" name="Text 16"/>
          <p:cNvSpPr txBox="1"/>
          <p:nvPr/>
        </p:nvSpPr>
        <p:spPr>
          <a:xfrm>
            <a:off x="10954512" y="298094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−S/0.71</a:t>
            </a:r>
            <a:endParaRPr lang="en-US" sz="1050" dirty="0"/>
          </a:p>
        </p:txBody>
      </p:sp>
      <p:sp>
        <p:nvSpPr>
          <p:cNvPr id="20" name="Text 17"/>
          <p:cNvSpPr txBox="1"/>
          <p:nvPr/>
        </p:nvSpPr>
        <p:spPr>
          <a:xfrm>
            <a:off x="9372600" y="3310128"/>
            <a:ext cx="2194560" cy="219456"/>
          </a:xfrm>
          <a:prstGeom prst="rect">
            <a:avLst/>
          </a:prstGeom>
          <a:noFill/>
          <a:ln/>
        </p:spPr>
        <p:txBody>
          <a:bodyPr wrap="square" lIns="0" tIns="0" rIns="0" bIns="0" rtlCol="0" anchor="t"/>
          <a:lstStyle/>
          <a:p>
            <a:pPr indent="0" marL="0">
              <a:buNone/>
            </a:pPr>
            <a:r>
              <a:rPr lang="en-US" sz="1000" dirty="0">
                <a:solidFill>
                  <a:schemeClr val="bg2"/>
                </a:solidFill>
              </a:rPr>
              <a:t>Producir y vender</a:t>
            </a:r>
            <a:endParaRPr lang="en-US" sz="1000" dirty="0"/>
          </a:p>
        </p:txBody>
      </p:sp>
      <p:sp>
        <p:nvSpPr>
          <p:cNvPr id="21" name="Shape 18"/>
          <p:cNvSpPr/>
          <p:nvPr/>
        </p:nvSpPr>
        <p:spPr>
          <a:xfrm>
            <a:off x="9986420" y="3547872"/>
            <a:ext cx="689317" cy="201168"/>
          </a:xfrm>
          <a:prstGeom prst="rect">
            <a:avLst/>
          </a:prstGeom>
          <a:solidFill>
            <a:schemeClr val="accent1"/>
          </a:solidFill>
          <a:ln w="12700">
            <a:solidFill>
              <a:schemeClr val="accent1"/>
            </a:solidFill>
            <a:prstDash val="solid"/>
          </a:ln>
        </p:spPr>
      </p:sp>
      <p:sp>
        <p:nvSpPr>
          <p:cNvPr id="22" name="Text 19"/>
          <p:cNvSpPr txBox="1"/>
          <p:nvPr/>
        </p:nvSpPr>
        <p:spPr>
          <a:xfrm>
            <a:off x="10954512" y="352958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−S/2.10</a:t>
            </a:r>
            <a:endParaRPr lang="en-US" sz="1050" dirty="0"/>
          </a:p>
        </p:txBody>
      </p:sp>
      <p:sp>
        <p:nvSpPr>
          <p:cNvPr id="23" name="Text 20"/>
          <p:cNvSpPr txBox="1"/>
          <p:nvPr/>
        </p:nvSpPr>
        <p:spPr>
          <a:xfrm>
            <a:off x="9372600" y="3858768"/>
            <a:ext cx="2194560" cy="219456"/>
          </a:xfrm>
          <a:prstGeom prst="rect">
            <a:avLst/>
          </a:prstGeom>
          <a:noFill/>
          <a:ln/>
        </p:spPr>
        <p:txBody>
          <a:bodyPr wrap="square" lIns="0" tIns="0" rIns="0" bIns="0" rtlCol="0" anchor="t"/>
          <a:lstStyle/>
          <a:p>
            <a:pPr indent="0" marL="0">
              <a:buNone/>
            </a:pPr>
            <a:r>
              <a:rPr lang="en-US" sz="1000" dirty="0">
                <a:solidFill>
                  <a:schemeClr val="bg2"/>
                </a:solidFill>
              </a:rPr>
              <a:t>Stands, ferias y eventos</a:t>
            </a:r>
            <a:endParaRPr lang="en-US" sz="1000" dirty="0"/>
          </a:p>
        </p:txBody>
      </p:sp>
      <p:sp>
        <p:nvSpPr>
          <p:cNvPr id="24" name="Shape 21"/>
          <p:cNvSpPr/>
          <p:nvPr/>
        </p:nvSpPr>
        <p:spPr>
          <a:xfrm>
            <a:off x="9664739" y="4096512"/>
            <a:ext cx="321681" cy="201168"/>
          </a:xfrm>
          <a:prstGeom prst="rect">
            <a:avLst/>
          </a:prstGeom>
          <a:solidFill>
            <a:schemeClr val="accent1"/>
          </a:solidFill>
          <a:ln w="12700">
            <a:solidFill>
              <a:schemeClr val="accent1"/>
            </a:solidFill>
            <a:prstDash val="solid"/>
          </a:ln>
        </p:spPr>
      </p:sp>
      <p:sp>
        <p:nvSpPr>
          <p:cNvPr id="25" name="Text 22"/>
          <p:cNvSpPr txBox="1"/>
          <p:nvPr/>
        </p:nvSpPr>
        <p:spPr>
          <a:xfrm>
            <a:off x="10954512" y="407822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−S/0.98</a:t>
            </a:r>
            <a:endParaRPr lang="en-US" sz="1050" dirty="0"/>
          </a:p>
        </p:txBody>
      </p:sp>
      <p:sp>
        <p:nvSpPr>
          <p:cNvPr id="26" name="Text 23"/>
          <p:cNvSpPr txBox="1"/>
          <p:nvPr/>
        </p:nvSpPr>
        <p:spPr>
          <a:xfrm>
            <a:off x="9372600" y="4407408"/>
            <a:ext cx="2194560" cy="219456"/>
          </a:xfrm>
          <a:prstGeom prst="rect">
            <a:avLst/>
          </a:prstGeom>
          <a:noFill/>
          <a:ln/>
        </p:spPr>
        <p:txBody>
          <a:bodyPr wrap="square" lIns="0" tIns="0" rIns="0" bIns="0" rtlCol="0" anchor="t"/>
          <a:lstStyle/>
          <a:p>
            <a:pPr indent="0" marL="0">
              <a:buNone/>
            </a:pPr>
            <a:r>
              <a:rPr lang="en-US" sz="1000" dirty="0">
                <a:solidFill>
                  <a:schemeClr val="bg2"/>
                </a:solidFill>
              </a:rPr>
              <a:t>Gastos fijos</a:t>
            </a:r>
            <a:endParaRPr lang="en-US" sz="1000" dirty="0"/>
          </a:p>
        </p:txBody>
      </p:sp>
      <p:sp>
        <p:nvSpPr>
          <p:cNvPr id="27" name="Shape 24"/>
          <p:cNvSpPr/>
          <p:nvPr/>
        </p:nvSpPr>
        <p:spPr>
          <a:xfrm>
            <a:off x="9457944" y="4645152"/>
            <a:ext cx="206795" cy="201168"/>
          </a:xfrm>
          <a:prstGeom prst="rect">
            <a:avLst/>
          </a:prstGeom>
          <a:solidFill>
            <a:schemeClr val="accent1"/>
          </a:solidFill>
          <a:ln w="12700">
            <a:solidFill>
              <a:schemeClr val="accent1"/>
            </a:solidFill>
            <a:prstDash val="solid"/>
          </a:ln>
        </p:spPr>
      </p:sp>
      <p:sp>
        <p:nvSpPr>
          <p:cNvPr id="28" name="Text 25"/>
          <p:cNvSpPr txBox="1"/>
          <p:nvPr/>
        </p:nvSpPr>
        <p:spPr>
          <a:xfrm>
            <a:off x="10954512" y="462686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−S/0.63</a:t>
            </a:r>
            <a:endParaRPr lang="en-US" sz="1050" dirty="0"/>
          </a:p>
        </p:txBody>
      </p:sp>
      <p:sp>
        <p:nvSpPr>
          <p:cNvPr id="29" name="Text 26"/>
          <p:cNvSpPr txBox="1"/>
          <p:nvPr/>
        </p:nvSpPr>
        <p:spPr>
          <a:xfrm>
            <a:off x="9372600" y="4956048"/>
            <a:ext cx="2194560" cy="219456"/>
          </a:xfrm>
          <a:prstGeom prst="rect">
            <a:avLst/>
          </a:prstGeom>
          <a:noFill/>
          <a:ln/>
        </p:spPr>
        <p:txBody>
          <a:bodyPr wrap="square" lIns="0" tIns="0" rIns="0" bIns="0" rtlCol="0" anchor="t"/>
          <a:lstStyle/>
          <a:p>
            <a:pPr indent="0" marL="0">
              <a:buNone/>
            </a:pPr>
            <a:r>
              <a:rPr lang="en-US" sz="1000" dirty="0">
                <a:solidFill>
                  <a:schemeClr val="bg2"/>
                </a:solidFill>
              </a:rPr>
              <a:t>Intereses e impuesto</a:t>
            </a:r>
            <a:endParaRPr lang="en-US" sz="1000" dirty="0"/>
          </a:p>
        </p:txBody>
      </p:sp>
      <p:sp>
        <p:nvSpPr>
          <p:cNvPr id="30" name="Shape 27"/>
          <p:cNvSpPr/>
          <p:nvPr/>
        </p:nvSpPr>
        <p:spPr>
          <a:xfrm>
            <a:off x="9438249" y="5193792"/>
            <a:ext cx="27432" cy="201168"/>
          </a:xfrm>
          <a:prstGeom prst="rect">
            <a:avLst/>
          </a:prstGeom>
          <a:solidFill>
            <a:schemeClr val="accent1"/>
          </a:solidFill>
          <a:ln w="12700">
            <a:solidFill>
              <a:schemeClr val="accent1"/>
            </a:solidFill>
            <a:prstDash val="solid"/>
          </a:ln>
        </p:spPr>
      </p:sp>
      <p:sp>
        <p:nvSpPr>
          <p:cNvPr id="31" name="Text 28"/>
          <p:cNvSpPr txBox="1"/>
          <p:nvPr/>
        </p:nvSpPr>
        <p:spPr>
          <a:xfrm>
            <a:off x="10954512" y="5175504"/>
            <a:ext cx="603504" cy="237744"/>
          </a:xfrm>
          <a:prstGeom prst="rect">
            <a:avLst/>
          </a:prstGeom>
          <a:noFill/>
          <a:ln/>
        </p:spPr>
        <p:txBody>
          <a:bodyPr wrap="square" lIns="0" tIns="0" rIns="0" bIns="0" rtlCol="0" anchor="ctr"/>
          <a:lstStyle/>
          <a:p>
            <a:pPr algn="r" indent="0" marL="0">
              <a:buNone/>
            </a:pPr>
            <a:r>
              <a:rPr lang="en-US" sz="1050" b="1" dirty="0">
                <a:solidFill>
                  <a:schemeClr val="bg1"/>
                </a:solidFill>
              </a:rPr>
              <a:t>−S/0.06</a:t>
            </a:r>
            <a:endParaRPr lang="en-US" sz="1050" dirty="0"/>
          </a:p>
        </p:txBody>
      </p:sp>
      <p:sp>
        <p:nvSpPr>
          <p:cNvPr id="32" name="Text 29"/>
          <p:cNvSpPr txBox="1"/>
          <p:nvPr/>
        </p:nvSpPr>
        <p:spPr>
          <a:xfrm>
            <a:off x="9372600" y="5504688"/>
            <a:ext cx="2194560" cy="219456"/>
          </a:xfrm>
          <a:prstGeom prst="rect">
            <a:avLst/>
          </a:prstGeom>
          <a:noFill/>
          <a:ln/>
        </p:spPr>
        <p:txBody>
          <a:bodyPr wrap="square" lIns="0" tIns="0" rIns="0" bIns="0" rtlCol="0" anchor="t"/>
          <a:lstStyle/>
          <a:p>
            <a:pPr indent="0" marL="0">
              <a:buNone/>
            </a:pPr>
            <a:r>
              <a:rPr lang="en-US" sz="1000" b="1" dirty="0">
                <a:solidFill>
                  <a:schemeClr val="bg2"/>
                </a:solidFill>
              </a:rPr>
              <a:t>Ganancia final</a:t>
            </a:r>
            <a:endParaRPr lang="en-US" sz="1000" dirty="0"/>
          </a:p>
        </p:txBody>
      </p:sp>
      <p:sp>
        <p:nvSpPr>
          <p:cNvPr id="33" name="Shape 30"/>
          <p:cNvSpPr/>
          <p:nvPr/>
        </p:nvSpPr>
        <p:spPr>
          <a:xfrm>
            <a:off x="9372600" y="5742432"/>
            <a:ext cx="65649" cy="201168"/>
          </a:xfrm>
          <a:prstGeom prst="rect">
            <a:avLst/>
          </a:prstGeom>
          <a:solidFill>
            <a:schemeClr val="accent3"/>
          </a:solidFill>
          <a:ln w="12700">
            <a:solidFill>
              <a:schemeClr val="accent3"/>
            </a:solidFill>
            <a:prstDash val="solid"/>
          </a:ln>
        </p:spPr>
      </p:sp>
      <p:sp>
        <p:nvSpPr>
          <p:cNvPr id="34" name="Text 31"/>
          <p:cNvSpPr txBox="1"/>
          <p:nvPr/>
        </p:nvSpPr>
        <p:spPr>
          <a:xfrm>
            <a:off x="10954512" y="5724144"/>
            <a:ext cx="603504" cy="237744"/>
          </a:xfrm>
          <a:prstGeom prst="rect">
            <a:avLst/>
          </a:prstGeom>
          <a:noFill/>
          <a:ln/>
        </p:spPr>
        <p:txBody>
          <a:bodyPr wrap="square" lIns="0" tIns="0" rIns="0" bIns="0" rtlCol="0" anchor="ctr"/>
          <a:lstStyle/>
          <a:p>
            <a:pPr algn="r" indent="0" marL="0">
              <a:buNone/>
            </a:pPr>
            <a:r>
              <a:rPr lang="en-US" sz="1050" b="1" dirty="0">
                <a:solidFill>
                  <a:schemeClr val="accent3"/>
                </a:solidFill>
              </a:rPr>
              <a:t>S/0.20</a:t>
            </a:r>
            <a:endParaRPr lang="en-US" sz="1050" dirty="0"/>
          </a:p>
        </p:txBody>
      </p:sp>
      <p:sp>
        <p:nvSpPr>
          <p:cNvPr id="35" name="Shape 32"/>
          <p:cNvSpPr/>
          <p:nvPr/>
        </p:nvSpPr>
        <p:spPr>
          <a:xfrm>
            <a:off x="6675120" y="4553712"/>
            <a:ext cx="2331720" cy="1618488"/>
          </a:xfrm>
          <a:prstGeom prst="roundRect">
            <a:avLst>
              <a:gd name="adj" fmla="val 678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36" name="Text 33"/>
          <p:cNvSpPr txBox="1"/>
          <p:nvPr/>
        </p:nvSpPr>
        <p:spPr>
          <a:xfrm>
            <a:off x="6839712" y="4553712"/>
            <a:ext cx="2057400" cy="1618488"/>
          </a:xfrm>
          <a:prstGeom prst="rect">
            <a:avLst/>
          </a:prstGeom>
          <a:noFill/>
          <a:ln/>
        </p:spPr>
        <p:txBody>
          <a:bodyPr wrap="square" lIns="0" tIns="0" rIns="0" bIns="0" rtlCol="0" anchor="ctr"/>
          <a:lstStyle/>
          <a:p>
            <a:pPr indent="0" marL="0">
              <a:buNone/>
            </a:pPr>
            <a:r>
              <a:rPr lang="en-US" sz="1900" b="1" dirty="0">
                <a:solidFill>
                  <a:schemeClr val="bg1"/>
                </a:solidFill>
              </a:rPr>
              <a:t>S/0.20 → S/0.40</a:t>
            </a:r>
            <a:endParaRPr lang="en-US" sz="1400" dirty="0"/>
          </a:p>
          <a:p>
            <a:pPr indent="0" marL="0">
              <a:buNone/>
            </a:pPr>
            <a:r>
              <a:rPr lang="en-US" sz="1100" dirty="0">
                <a:solidFill>
                  <a:schemeClr val="bg1"/>
                </a:solidFill>
              </a:rPr>
              <a:t>ganancia final por brownie en el año 1 y en el año 2,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necesitamos para empezar: S/40,876, con todos los permisos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Crear la empresa (S.A.C.) ante notario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registro de microempresa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registrada en INDECOPI (alimentos)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con la planta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cuánto dura el producto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de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Seguro para los stands (1 año)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S/6,176</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S/16,000</a:t>
            </a:r>
            <a:endParaRPr lang="en-US" sz="1400" dirty="0"/>
          </a:p>
          <a:p>
            <a:pPr indent="0" marL="0">
              <a:buNone/>
            </a:pPr>
            <a:r>
              <a:rPr lang="en-US" sz="1200" dirty="0">
                <a:solidFill>
                  <a:schemeClr val="bg1"/>
                </a:solidFill>
              </a:rPr>
              <a:t>24 cuotas de S/898 (interés de 35 % al año) · línea de crédito de respaldo S/3,000</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Cuántos brownies hay que vender cada mes para no perder</a:t>
            </a:r>
            <a:endParaRPr lang="en-US" sz="3400" dirty="0"/>
          </a:p>
        </p:txBody>
      </p:sp>
      <p:graphicFrame>
        <p:nvGraphicFramePr>
          <p:cNvPr id="4" name="Chart 0" descr=""/>
          <p:cNvGraphicFramePr/>
          <p:nvPr/>
        </p:nvGraphicFramePr>
        <p:xfrm>
          <a:off x="365760" y="1417320"/>
          <a:ext cx="438912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17320"/>
          <a:ext cx="6858000" cy="434340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31520"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1 punto: </a:t>
            </a:r>
            <a:pPr indent="0" marL="0">
              <a:buNone/>
            </a:pPr>
            <a:r>
              <a:rPr lang="en-US" sz="1300" b="1" dirty="0">
                <a:solidFill>
                  <a:schemeClr val="tx1"/>
                </a:solidFill>
              </a:rPr>
              <a:t>≈ 2,100 al mes </a:t>
            </a:r>
            <a:pPr indent="0" marL="0">
              <a:buNone/>
            </a:pPr>
            <a:r>
              <a:rPr lang="en-US" sz="1100" dirty="0">
                <a:solidFill>
                  <a:schemeClr val="tx1"/>
                </a:solidFill>
              </a:rPr>
              <a:t>(enero)</a:t>
            </a:r>
            <a:endParaRPr lang="en-US" sz="1300" dirty="0"/>
          </a:p>
        </p:txBody>
      </p:sp>
      <p:sp>
        <p:nvSpPr>
          <p:cNvPr id="8" name="Shape 4"/>
          <p:cNvSpPr/>
          <p:nvPr/>
        </p:nvSpPr>
        <p:spPr>
          <a:xfrm>
            <a:off x="4288536" y="5833872"/>
            <a:ext cx="3611880" cy="475488"/>
          </a:xfrm>
          <a:prstGeom prst="roundRect">
            <a:avLst>
              <a:gd name="adj" fmla="val 1923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471416" y="5833872"/>
            <a:ext cx="3337560" cy="475488"/>
          </a:xfrm>
          <a:prstGeom prst="rect">
            <a:avLst/>
          </a:prstGeom>
          <a:noFill/>
          <a:ln/>
        </p:spPr>
        <p:txBody>
          <a:bodyPr wrap="square" lIns="0" tIns="0" rIns="0" bIns="0" rtlCol="0" anchor="ctr"/>
          <a:lstStyle/>
          <a:p>
            <a:pPr indent="0" marL="0">
              <a:buNone/>
            </a:pPr>
            <a:r>
              <a:rPr lang="en-US" sz="1300" b="1" dirty="0">
                <a:solidFill>
                  <a:schemeClr val="accent1"/>
                </a:solidFill>
              </a:rPr>
              <a:t>2 puntos: </a:t>
            </a:r>
            <a:pPr indent="0" marL="0">
              <a:buNone/>
            </a:pPr>
            <a:r>
              <a:rPr lang="en-US" sz="1300" b="1" dirty="0">
                <a:solidFill>
                  <a:schemeClr val="tx1"/>
                </a:solidFill>
              </a:rPr>
              <a:t>≈ 3,100 a 3,500 </a:t>
            </a:r>
            <a:pPr indent="0" marL="0">
              <a:buNone/>
            </a:pPr>
            <a:r>
              <a:rPr lang="en-US" sz="1100" dirty="0">
                <a:solidFill>
                  <a:schemeClr val="tx1"/>
                </a:solidFill>
              </a:rPr>
              <a:t>(febrero a julio)</a:t>
            </a:r>
            <a:endParaRPr lang="en-US" sz="1300" dirty="0"/>
          </a:p>
        </p:txBody>
      </p:sp>
      <p:sp>
        <p:nvSpPr>
          <p:cNvPr id="10" name="Shape 6"/>
          <p:cNvSpPr/>
          <p:nvPr/>
        </p:nvSpPr>
        <p:spPr>
          <a:xfrm>
            <a:off x="8028432" y="5833872"/>
            <a:ext cx="3611880" cy="475488"/>
          </a:xfrm>
          <a:prstGeom prst="roundRect">
            <a:avLst>
              <a:gd name="adj" fmla="val 1923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211312" y="5833872"/>
            <a:ext cx="3337560" cy="475488"/>
          </a:xfrm>
          <a:prstGeom prst="rect">
            <a:avLst/>
          </a:prstGeom>
          <a:noFill/>
          <a:ln/>
        </p:spPr>
        <p:txBody>
          <a:bodyPr wrap="square" lIns="0" tIns="0" rIns="0" bIns="0" rtlCol="0" anchor="ctr"/>
          <a:lstStyle/>
          <a:p>
            <a:pPr indent="0" marL="0">
              <a:buNone/>
            </a:pPr>
            <a:r>
              <a:rPr lang="en-US" sz="1300" b="1" dirty="0">
                <a:solidFill>
                  <a:schemeClr val="accent3"/>
                </a:solidFill>
              </a:rPr>
              <a:t>3 puntos: </a:t>
            </a:r>
            <a:pPr indent="0" marL="0">
              <a:buNone/>
            </a:pPr>
            <a:r>
              <a:rPr lang="en-US" sz="1300" b="1" dirty="0">
                <a:solidFill>
                  <a:schemeClr val="bg1"/>
                </a:solidFill>
              </a:rPr>
              <a:t>≈ 4,200 a 4,400 </a:t>
            </a:r>
            <a:pPr indent="0" marL="0">
              <a:buNone/>
            </a:pPr>
            <a:r>
              <a:rPr lang="en-US" sz="1100" dirty="0">
                <a:solidFill>
                  <a:schemeClr val="bg1"/>
                </a:solidFill>
              </a:rPr>
              <a:t>(agosto a diciembre)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Desde marzo, todos los meses dan ganancia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33872"/>
            <a:ext cx="7589520" cy="475488"/>
          </a:xfrm>
          <a:prstGeom prst="roundRect">
            <a:avLst>
              <a:gd name="adj" fmla="val 19231"/>
            </a:avLst>
          </a:prstGeom>
          <a:solidFill>
            <a:schemeClr val="bg2"/>
          </a:solidFill>
          <a:ln w="12700">
            <a:solidFill>
              <a:schemeClr val="bg2"/>
            </a:solidFill>
            <a:prstDash val="solid"/>
          </a:ln>
        </p:spPr>
      </p:sp>
      <p:sp>
        <p:nvSpPr>
          <p:cNvPr id="6" name="Text 3"/>
          <p:cNvSpPr txBox="1"/>
          <p:nvPr/>
        </p:nvSpPr>
        <p:spPr>
          <a:xfrm>
            <a:off x="731520" y="5833872"/>
            <a:ext cx="7315200" cy="475488"/>
          </a:xfrm>
          <a:prstGeom prst="rect">
            <a:avLst/>
          </a:prstGeom>
          <a:noFill/>
          <a:ln/>
        </p:spPr>
        <p:txBody>
          <a:bodyPr wrap="square" lIns="0" tIns="0" rIns="0" bIns="0" rtlCol="0" anchor="ctr"/>
          <a:lstStyle/>
          <a:p>
            <a:pPr indent="0" marL="0">
              <a:buNone/>
            </a:pPr>
            <a:r>
              <a:rPr lang="en-US" sz="1200" b="1" dirty="0">
                <a:solidFill>
                  <a:schemeClr val="accent1"/>
                </a:solidFill>
              </a:rPr>
              <a:t>Respaldo: </a:t>
            </a:r>
            <a:pPr indent="0" marL="0">
              <a:buNone/>
            </a:pPr>
            <a:r>
              <a:rPr lang="en-US" sz="1200" dirty="0">
                <a:solidFill>
                  <a:schemeClr val="tx1"/>
                </a:solidFill>
              </a:rPr>
              <a:t>la caja más baja es S/2,545 (febrero). Si vendemos 20 % menos, llega a −S/2,188 y la cubre la línea de crédito de S/3,000.</a:t>
            </a:r>
            <a:endParaRPr lang="en-US" sz="1200" dirty="0"/>
          </a:p>
        </p:txBody>
      </p:sp>
      <p:sp>
        <p:nvSpPr>
          <p:cNvPr id="7" name="Shape 4"/>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S/244,728</a:t>
            </a:r>
            <a:endParaRPr lang="en-US" sz="1400" dirty="0"/>
          </a:p>
          <a:p>
            <a:pPr indent="0" marL="0">
              <a:buNone/>
            </a:pPr>
            <a:r>
              <a:rPr lang="en-US" sz="1200" dirty="0">
                <a:solidFill>
                  <a:schemeClr val="accent2"/>
                </a:solidFill>
              </a:rPr>
              <a:t>ventas con IGV</a:t>
            </a:r>
            <a:endParaRPr lang="en-US" sz="1400" dirty="0"/>
          </a:p>
        </p:txBody>
      </p:sp>
      <p:sp>
        <p:nvSpPr>
          <p:cNvPr id="9" name="Shape 6"/>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Text 7"/>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S/13,423</a:t>
            </a:r>
            <a:endParaRPr lang="en-US" sz="1400" dirty="0"/>
          </a:p>
          <a:p>
            <a:pPr indent="0" marL="0">
              <a:buNone/>
            </a:pPr>
            <a:r>
              <a:rPr lang="en-US" sz="1200" dirty="0">
                <a:solidFill>
                  <a:schemeClr val="accent2"/>
                </a:solidFill>
              </a:rPr>
              <a:t>resultado operativo (6.5 % de las ventas)</a:t>
            </a:r>
            <a:endParaRPr lang="en-US" sz="1400" dirty="0"/>
          </a:p>
        </p:txBody>
      </p:sp>
      <p:sp>
        <p:nvSpPr>
          <p:cNvPr id="11" name="Shape 8"/>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S/10,379</a:t>
            </a:r>
            <a:endParaRPr lang="en-US" sz="1400" dirty="0"/>
          </a:p>
          <a:p>
            <a:pPr indent="0" marL="0">
              <a:buNone/>
            </a:pPr>
            <a:r>
              <a:rPr lang="en-US" sz="1200" dirty="0">
                <a:solidFill>
                  <a:schemeClr val="bg1"/>
                </a:solidFill>
              </a:rPr>
              <a:t>utilidad neta: 42 % de lo que pusieron los socios</a:t>
            </a:r>
            <a:endParaRPr lang="en-US" sz="1400" dirty="0"/>
          </a:p>
        </p:txBody>
      </p:sp>
      <p:sp>
        <p:nvSpPr>
          <p:cNvPr id="13" name="Shape 10"/>
          <p:cNvSpPr/>
          <p:nvPr/>
        </p:nvSpPr>
        <p:spPr>
          <a:xfrm>
            <a:off x="8321040" y="5111496"/>
            <a:ext cx="3319272" cy="1078992"/>
          </a:xfrm>
          <a:prstGeom prst="roundRect">
            <a:avLst>
              <a:gd name="adj" fmla="val 1016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3"/>
                </a:solidFill>
              </a:rPr>
              <a:t>Año 2: S/28,447</a:t>
            </a:r>
            <a:endParaRPr lang="en-US" sz="1400" dirty="0"/>
          </a:p>
          <a:p>
            <a:pPr indent="0" marL="0">
              <a:buNone/>
            </a:pPr>
            <a:r>
              <a:rPr lang="en-US" sz="1200" dirty="0">
                <a:solidFill>
                  <a:schemeClr val="bg1"/>
                </a:solidFill>
              </a:rPr>
              <a:t>de utilidad neta, con 3 puntos todo el año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2</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Año 2: con 3 puntos todo el año, la utilidad casi se triplica</a:t>
            </a:r>
            <a:endParaRPr lang="en-US" sz="3400" dirty="0"/>
          </a:p>
        </p:txBody>
      </p:sp>
      <p:graphicFrame>
        <p:nvGraphicFramePr>
          <p:cNvPr id="4" name="Chart 0" descr=""/>
          <p:cNvGraphicFramePr/>
          <p:nvPr/>
        </p:nvGraphicFramePr>
        <p:xfrm>
          <a:off x="365760" y="14173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5870448"/>
            <a:ext cx="1810512" cy="411480"/>
          </a:xfrm>
          <a:prstGeom prst="roundRect">
            <a:avLst>
              <a:gd name="adj" fmla="val 48889"/>
            </a:avLst>
          </a:prstGeom>
          <a:solidFill>
            <a:schemeClr val="bg1"/>
          </a:solidFill>
          <a:ln w="12700">
            <a:solidFill>
              <a:schemeClr val="accent5"/>
            </a:solidFill>
            <a:prstDash val="solid"/>
          </a:ln>
        </p:spPr>
      </p:sp>
      <p:sp>
        <p:nvSpPr>
          <p:cNvPr id="6" name="Text 3"/>
          <p:cNvSpPr txBox="1"/>
          <p:nvPr/>
        </p:nvSpPr>
        <p:spPr>
          <a:xfrm>
            <a:off x="548640"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3 puntos todo el año</a:t>
            </a:r>
            <a:endParaRPr lang="en-US" sz="1100" dirty="0"/>
          </a:p>
        </p:txBody>
      </p:sp>
      <p:sp>
        <p:nvSpPr>
          <p:cNvPr id="7" name="Shape 4"/>
          <p:cNvSpPr/>
          <p:nvPr/>
        </p:nvSpPr>
        <p:spPr>
          <a:xfrm>
            <a:off x="2478024" y="5870448"/>
            <a:ext cx="1810512" cy="411480"/>
          </a:xfrm>
          <a:prstGeom prst="roundRect">
            <a:avLst>
              <a:gd name="adj" fmla="val 48889"/>
            </a:avLst>
          </a:prstGeom>
          <a:solidFill>
            <a:schemeClr val="bg1"/>
          </a:solidFill>
          <a:ln w="12700">
            <a:solidFill>
              <a:schemeClr val="accent5"/>
            </a:solidFill>
            <a:prstDash val="solid"/>
          </a:ln>
        </p:spPr>
      </p:sp>
      <p:sp>
        <p:nvSpPr>
          <p:cNvPr id="8" name="Text 5"/>
          <p:cNvSpPr txBox="1"/>
          <p:nvPr/>
        </p:nvSpPr>
        <p:spPr>
          <a:xfrm>
            <a:off x="2478024"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80 a 90 brownies por día</a:t>
            </a:r>
            <a:endParaRPr lang="en-US" sz="1100" dirty="0"/>
          </a:p>
        </p:txBody>
      </p:sp>
      <p:sp>
        <p:nvSpPr>
          <p:cNvPr id="9" name="Shape 6"/>
          <p:cNvSpPr/>
          <p:nvPr/>
        </p:nvSpPr>
        <p:spPr>
          <a:xfrm>
            <a:off x="4407408" y="5870448"/>
            <a:ext cx="1810512" cy="411480"/>
          </a:xfrm>
          <a:prstGeom prst="roundRect">
            <a:avLst>
              <a:gd name="adj" fmla="val 48889"/>
            </a:avLst>
          </a:prstGeom>
          <a:solidFill>
            <a:schemeClr val="bg1"/>
          </a:solidFill>
          <a:ln w="12700">
            <a:solidFill>
              <a:schemeClr val="accent5"/>
            </a:solidFill>
            <a:prstDash val="solid"/>
          </a:ln>
        </p:spPr>
      </p:sp>
      <p:sp>
        <p:nvSpPr>
          <p:cNvPr id="10" name="Text 7"/>
          <p:cNvSpPr txBox="1"/>
          <p:nvPr/>
        </p:nvSpPr>
        <p:spPr>
          <a:xfrm>
            <a:off x="4407408"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quioscos todo el año escolar</a:t>
            </a:r>
            <a:endParaRPr lang="en-US" sz="1100" dirty="0"/>
          </a:p>
        </p:txBody>
      </p:sp>
      <p:sp>
        <p:nvSpPr>
          <p:cNvPr id="11" name="Shape 8"/>
          <p:cNvSpPr/>
          <p:nvPr/>
        </p:nvSpPr>
        <p:spPr>
          <a:xfrm>
            <a:off x="6336792" y="5870448"/>
            <a:ext cx="1810512" cy="411480"/>
          </a:xfrm>
          <a:prstGeom prst="roundRect">
            <a:avLst>
              <a:gd name="adj" fmla="val 48889"/>
            </a:avLst>
          </a:prstGeom>
          <a:solidFill>
            <a:schemeClr val="bg1"/>
          </a:solidFill>
          <a:ln w="12700">
            <a:solidFill>
              <a:schemeClr val="accent5"/>
            </a:solidFill>
            <a:prstDash val="solid"/>
          </a:ln>
        </p:spPr>
      </p:sp>
      <p:sp>
        <p:nvSpPr>
          <p:cNvPr id="12" name="Text 9"/>
          <p:cNvSpPr txBox="1"/>
          <p:nvPr/>
        </p:nvSpPr>
        <p:spPr>
          <a:xfrm>
            <a:off x="6336792" y="5870448"/>
            <a:ext cx="1810512" cy="411480"/>
          </a:xfrm>
          <a:prstGeom prst="rect">
            <a:avLst/>
          </a:prstGeom>
          <a:noFill/>
          <a:ln/>
        </p:spPr>
        <p:txBody>
          <a:bodyPr wrap="square" lIns="0" tIns="0" rIns="0" bIns="0" rtlCol="0" anchor="ctr"/>
          <a:lstStyle/>
          <a:p>
            <a:pPr algn="ctr" indent="0" marL="0">
              <a:buNone/>
            </a:pPr>
            <a:r>
              <a:rPr lang="en-US" sz="1100" b="1" dirty="0">
                <a:solidFill>
                  <a:schemeClr val="tx2"/>
                </a:solidFill>
              </a:rPr>
              <a:t>mismos precios y costos</a:t>
            </a:r>
            <a:endParaRPr lang="en-US" sz="1100" dirty="0"/>
          </a:p>
        </p:txBody>
      </p:sp>
      <p:sp>
        <p:nvSpPr>
          <p:cNvPr id="13" name="Shape 10"/>
          <p:cNvSpPr/>
          <p:nvPr/>
        </p:nvSpPr>
        <p:spPr>
          <a:xfrm>
            <a:off x="8321040" y="1463040"/>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Text 11"/>
          <p:cNvSpPr txBox="1"/>
          <p:nvPr/>
        </p:nvSpPr>
        <p:spPr>
          <a:xfrm>
            <a:off x="8549640" y="1463040"/>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S/322,329</a:t>
            </a:r>
            <a:endParaRPr lang="en-US" sz="1400" dirty="0"/>
          </a:p>
          <a:p>
            <a:pPr indent="0" marL="0">
              <a:buNone/>
            </a:pPr>
            <a:r>
              <a:rPr lang="en-US" sz="1200" dirty="0">
                <a:solidFill>
                  <a:schemeClr val="accent2"/>
                </a:solidFill>
              </a:rPr>
              <a:t>ventas con IGV (+32 %)</a:t>
            </a:r>
            <a:endParaRPr lang="en-US" sz="1400" dirty="0"/>
          </a:p>
        </p:txBody>
      </p:sp>
      <p:sp>
        <p:nvSpPr>
          <p:cNvPr id="15" name="Shape 12"/>
          <p:cNvSpPr/>
          <p:nvPr/>
        </p:nvSpPr>
        <p:spPr>
          <a:xfrm>
            <a:off x="8321040" y="2679192"/>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3"/>
          <p:cNvSpPr txBox="1"/>
          <p:nvPr/>
        </p:nvSpPr>
        <p:spPr>
          <a:xfrm>
            <a:off x="8549640" y="2679192"/>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S/30,459</a:t>
            </a:r>
            <a:endParaRPr lang="en-US" sz="1400" dirty="0"/>
          </a:p>
          <a:p>
            <a:pPr indent="0" marL="0">
              <a:buNone/>
            </a:pPr>
            <a:r>
              <a:rPr lang="en-US" sz="1200" dirty="0">
                <a:solidFill>
                  <a:schemeClr val="accent2"/>
                </a:solidFill>
              </a:rPr>
              <a:t>resultado operativo (11.2 % de las ventas)</a:t>
            </a:r>
            <a:endParaRPr lang="en-US" sz="1400" dirty="0"/>
          </a:p>
        </p:txBody>
      </p:sp>
      <p:sp>
        <p:nvSpPr>
          <p:cNvPr id="17" name="Shape 14"/>
          <p:cNvSpPr/>
          <p:nvPr/>
        </p:nvSpPr>
        <p:spPr>
          <a:xfrm>
            <a:off x="8321040" y="3895344"/>
            <a:ext cx="3319272" cy="1078992"/>
          </a:xfrm>
          <a:prstGeom prst="roundRect">
            <a:avLst>
              <a:gd name="adj" fmla="val 101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8549640" y="3895344"/>
            <a:ext cx="2953512" cy="1078992"/>
          </a:xfrm>
          <a:prstGeom prst="rect">
            <a:avLst/>
          </a:prstGeom>
          <a:noFill/>
          <a:ln/>
        </p:spPr>
        <p:txBody>
          <a:bodyPr wrap="square" lIns="0" tIns="0" rIns="0" bIns="0" rtlCol="0" anchor="ctr"/>
          <a:lstStyle/>
          <a:p>
            <a:pPr indent="0" marL="0">
              <a:buNone/>
            </a:pPr>
            <a:r>
              <a:rPr lang="en-US" sz="2200" b="1" dirty="0">
                <a:solidFill>
                  <a:schemeClr val="bg1"/>
                </a:solidFill>
              </a:rPr>
              <a:t>S/28,447</a:t>
            </a:r>
            <a:endParaRPr lang="en-US" sz="1400" dirty="0"/>
          </a:p>
          <a:p>
            <a:pPr indent="0" marL="0">
              <a:buNone/>
            </a:pPr>
            <a:r>
              <a:rPr lang="en-US" sz="1200" dirty="0">
                <a:solidFill>
                  <a:schemeClr val="bg1"/>
                </a:solidFill>
              </a:rPr>
              <a:t>utilidad neta: 2.7 veces la del año 1</a:t>
            </a:r>
            <a:endParaRPr lang="en-US" sz="1400" dirty="0"/>
          </a:p>
        </p:txBody>
      </p:sp>
      <p:sp>
        <p:nvSpPr>
          <p:cNvPr id="19" name="Shape 16"/>
          <p:cNvSpPr/>
          <p:nvPr/>
        </p:nvSpPr>
        <p:spPr>
          <a:xfrm>
            <a:off x="8321040" y="5111496"/>
            <a:ext cx="3319272" cy="1078992"/>
          </a:xfrm>
          <a:prstGeom prst="roundRect">
            <a:avLst>
              <a:gd name="adj" fmla="val 101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Text 17"/>
          <p:cNvSpPr txBox="1"/>
          <p:nvPr/>
        </p:nvSpPr>
        <p:spPr>
          <a:xfrm>
            <a:off x="8549640" y="5111496"/>
            <a:ext cx="2953512" cy="1078992"/>
          </a:xfrm>
          <a:prstGeom prst="rect">
            <a:avLst/>
          </a:prstGeom>
          <a:noFill/>
          <a:ln/>
        </p:spPr>
        <p:txBody>
          <a:bodyPr wrap="square" lIns="0" tIns="0" rIns="0" bIns="0" rtlCol="0" anchor="ctr"/>
          <a:lstStyle/>
          <a:p>
            <a:pPr indent="0" marL="0">
              <a:buNone/>
            </a:pPr>
            <a:r>
              <a:rPr lang="en-US" sz="2200" b="1" dirty="0">
                <a:solidFill>
                  <a:schemeClr val="accent1"/>
                </a:solidFill>
              </a:rPr>
              <a:t>Mes 23</a:t>
            </a:r>
            <a:endParaRPr lang="en-US" sz="1400" dirty="0"/>
          </a:p>
          <a:p>
            <a:pPr indent="0" marL="0">
              <a:buNone/>
            </a:pPr>
            <a:r>
              <a:rPr lang="en-US" sz="1200" dirty="0">
                <a:solidFill>
                  <a:schemeClr val="accent2"/>
                </a:solidFill>
              </a:rPr>
              <a:t>recuperamos los S/40,876 (noviembre de 2028)</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negocio en una página: por qué AndiBite funciona</a:t>
            </a:r>
            <a:endParaRPr lang="en-US" sz="3400" dirty="0"/>
          </a:p>
        </p:txBody>
      </p:sp>
      <p:sp>
        <p:nvSpPr>
          <p:cNvPr id="4" name="Shape 2"/>
          <p:cNvSpPr/>
          <p:nvPr/>
        </p:nvSpPr>
        <p:spPr>
          <a:xfrm>
            <a:off x="548640"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490472"/>
            <a:ext cx="237744" cy="237744"/>
          </a:xfrm>
          <a:prstGeom prst="rect">
            <a:avLst/>
          </a:prstGeom>
        </p:spPr>
      </p:pic>
      <p:sp>
        <p:nvSpPr>
          <p:cNvPr id="6" name="Text 3"/>
          <p:cNvSpPr txBox="1"/>
          <p:nvPr/>
        </p:nvSpPr>
        <p:spPr>
          <a:xfrm>
            <a:off x="96926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4008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Planta con certificación que fabrica por nosotros</a:t>
            </a:r>
            <a:endParaRPr lang="en-US" sz="1200" dirty="0"/>
          </a:p>
          <a:p>
            <a:pPr marL="114300" indent="-114300">
              <a:spcAft>
                <a:spcPts val="300"/>
              </a:spcAft>
              <a:buSzPct val="100000"/>
              <a:buChar char="•"/>
            </a:pPr>
            <a:r>
              <a:rPr lang="en-US" sz="1200" dirty="0">
                <a:solidFill>
                  <a:schemeClr val="tx1"/>
                </a:solidFill>
              </a:rPr>
              <a:t>Laboratorio que mide el hierro de cada lote</a:t>
            </a:r>
            <a:endParaRPr lang="en-US" sz="1200" dirty="0"/>
          </a:p>
          <a:p>
            <a:pPr marL="114300" indent="-114300">
              <a:spcAft>
                <a:spcPts val="300"/>
              </a:spcAft>
              <a:buSzPct val="100000"/>
              <a:buChar char="•"/>
            </a:pPr>
            <a:r>
              <a:rPr lang="en-US" sz="1200" dirty="0">
                <a:solidFill>
                  <a:schemeClr val="tx1"/>
                </a:solidFill>
              </a:rPr>
              <a:t>Proveedor de sangrecita en polvo con registro sanitario</a:t>
            </a:r>
            <a:endParaRPr lang="en-US" sz="1200" dirty="0"/>
          </a:p>
          <a:p>
            <a:pPr marL="114300" indent="-114300">
              <a:spcAft>
                <a:spcPts val="300"/>
              </a:spcAft>
              <a:buSzPct val="100000"/>
              <a:buChar char="•"/>
            </a:pPr>
            <a:r>
              <a:rPr lang="en-US" sz="1200" dirty="0">
                <a:solidFill>
                  <a:schemeClr val="tx1"/>
                </a:solidFill>
              </a:rPr>
              <a:t>Malls y súper para A y para B</a:t>
            </a:r>
            <a:endParaRPr lang="en-US" sz="1200" dirty="0"/>
          </a:p>
          <a:p>
            <a:pPr marL="114300" indent="-114300">
              <a:spcAft>
                <a:spcPts val="300"/>
              </a:spcAft>
              <a:buSzPct val="100000"/>
              <a:buChar char="•"/>
            </a:pPr>
            <a:r>
              <a:rPr lang="en-US" sz="1200" dirty="0">
                <a:solidFill>
                  <a:schemeClr val="tx1"/>
                </a:solidFill>
              </a:rPr>
              <a:t>Pediatras y nutricionista que nos recomiendan</a:t>
            </a:r>
            <a:endParaRPr lang="en-US" sz="1200" dirty="0"/>
          </a:p>
        </p:txBody>
      </p:sp>
      <p:sp>
        <p:nvSpPr>
          <p:cNvPr id="8" name="Shape 5"/>
          <p:cNvSpPr/>
          <p:nvPr/>
        </p:nvSpPr>
        <p:spPr>
          <a:xfrm>
            <a:off x="2781605"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490472"/>
            <a:ext cx="237744" cy="237744"/>
          </a:xfrm>
          <a:prstGeom prst="rect">
            <a:avLst/>
          </a:prstGeom>
        </p:spPr>
      </p:pic>
      <p:sp>
        <p:nvSpPr>
          <p:cNvPr id="10" name="Text 6"/>
          <p:cNvSpPr txBox="1"/>
          <p:nvPr/>
        </p:nvSpPr>
        <p:spPr>
          <a:xfrm>
            <a:off x="3202229"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73045"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Fabricar sin planta propia</a:t>
            </a:r>
            <a:endParaRPr lang="en-US" sz="1200" dirty="0"/>
          </a:p>
          <a:p>
            <a:pPr marL="114300" indent="-114300">
              <a:spcAft>
                <a:spcPts val="300"/>
              </a:spcAft>
              <a:buSzPct val="100000"/>
              <a:buChar char="•"/>
            </a:pPr>
            <a:r>
              <a:rPr lang="en-US" sz="1200" dirty="0">
                <a:solidFill>
                  <a:schemeClr val="tx1"/>
                </a:solidFill>
              </a:rPr>
              <a:t>Medir y publicar el hierro</a:t>
            </a:r>
            <a:endParaRPr lang="en-US" sz="1200" dirty="0"/>
          </a:p>
          <a:p>
            <a:pPr marL="114300" indent="-114300">
              <a:spcAft>
                <a:spcPts val="300"/>
              </a:spcAft>
              <a:buSzPct val="100000"/>
              <a:buChar char="•"/>
            </a:pPr>
            <a:r>
              <a:rPr lang="en-US" sz="1200" dirty="0">
                <a:solidFill>
                  <a:schemeClr val="tx1"/>
                </a:solidFill>
              </a:rPr>
              <a:t>Vender en stands y ferias</a:t>
            </a:r>
            <a:endParaRPr lang="en-US" sz="1200" dirty="0"/>
          </a:p>
          <a:p>
            <a:pPr marL="114300" indent="-114300">
              <a:spcAft>
                <a:spcPts val="300"/>
              </a:spcAft>
              <a:buSzPct val="100000"/>
              <a:buChar char="•"/>
            </a:pPr>
            <a:r>
              <a:rPr lang="en-US" sz="1200" dirty="0">
                <a:solidFill>
                  <a:schemeClr val="tx1"/>
                </a:solidFill>
              </a:rPr>
              <a:t>Recompra con la app</a:t>
            </a:r>
            <a:endParaRPr lang="en-US" sz="1200" dirty="0"/>
          </a:p>
        </p:txBody>
      </p:sp>
      <p:sp>
        <p:nvSpPr>
          <p:cNvPr id="12" name="Shape 8"/>
          <p:cNvSpPr/>
          <p:nvPr/>
        </p:nvSpPr>
        <p:spPr>
          <a:xfrm>
            <a:off x="2781605"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182112"/>
            <a:ext cx="237744" cy="237744"/>
          </a:xfrm>
          <a:prstGeom prst="rect">
            <a:avLst/>
          </a:prstGeom>
        </p:spPr>
      </p:pic>
      <p:sp>
        <p:nvSpPr>
          <p:cNvPr id="14" name="Text 9"/>
          <p:cNvSpPr txBox="1"/>
          <p:nvPr/>
        </p:nvSpPr>
        <p:spPr>
          <a:xfrm>
            <a:off x="3202229"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73045"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Receta que esconde la sangrecita</a:t>
            </a:r>
            <a:endParaRPr lang="en-US" sz="1200" dirty="0"/>
          </a:p>
          <a:p>
            <a:pPr marL="114300" indent="-114300">
              <a:spcAft>
                <a:spcPts val="300"/>
              </a:spcAft>
              <a:buSzPct val="100000"/>
              <a:buChar char="•"/>
            </a:pPr>
            <a:r>
              <a:rPr lang="en-US" sz="1200" dirty="0">
                <a:solidFill>
                  <a:schemeClr val="tx1"/>
                </a:solidFill>
              </a:rPr>
              <a:t>Marca y registro sanitario</a:t>
            </a:r>
            <a:endParaRPr lang="en-US" sz="1200" dirty="0"/>
          </a:p>
          <a:p>
            <a:pPr marL="114300" indent="-114300">
              <a:spcAft>
                <a:spcPts val="300"/>
              </a:spcAft>
              <a:buSzPct val="100000"/>
              <a:buChar char="•"/>
            </a:pPr>
            <a:r>
              <a:rPr lang="en-US" sz="1200" dirty="0">
                <a:solidFill>
                  <a:schemeClr val="tx1"/>
                </a:solidFill>
              </a:rPr>
              <a:t>App y datos de cada familia</a:t>
            </a:r>
            <a:endParaRPr lang="en-US" sz="1200" dirty="0"/>
          </a:p>
          <a:p>
            <a:pPr marL="114300" indent="-114300">
              <a:spcAft>
                <a:spcPts val="300"/>
              </a:spcAft>
              <a:buSzPct val="100000"/>
              <a:buChar char="•"/>
            </a:pPr>
            <a:r>
              <a:rPr lang="en-US" sz="1200" dirty="0">
                <a:solidFill>
                  <a:schemeClr val="tx1"/>
                </a:solidFill>
              </a:rPr>
              <a:t>Equipo de venta pagado</a:t>
            </a:r>
            <a:endParaRPr lang="en-US" sz="1200" dirty="0"/>
          </a:p>
        </p:txBody>
      </p:sp>
      <p:sp>
        <p:nvSpPr>
          <p:cNvPr id="16" name="Shape 11"/>
          <p:cNvSpPr/>
          <p:nvPr/>
        </p:nvSpPr>
        <p:spPr>
          <a:xfrm>
            <a:off x="5014570" y="1389888"/>
            <a:ext cx="2159813" cy="3310128"/>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490472"/>
            <a:ext cx="237744" cy="237744"/>
          </a:xfrm>
          <a:prstGeom prst="rect">
            <a:avLst/>
          </a:prstGeom>
        </p:spPr>
      </p:pic>
      <p:sp>
        <p:nvSpPr>
          <p:cNvPr id="18" name="Text 12"/>
          <p:cNvSpPr txBox="1"/>
          <p:nvPr/>
        </p:nvSpPr>
        <p:spPr>
          <a:xfrm>
            <a:off x="5435194"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06010"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b="1" dirty="0">
                <a:solidFill>
                  <a:schemeClr val="bg1"/>
                </a:solidFill>
              </a:rPr>
              <a:t>El snack de lonchera con hierro que el niño sí se come</a:t>
            </a:r>
            <a:endParaRPr lang="en-US" sz="1200" dirty="0"/>
          </a:p>
          <a:p>
            <a:pPr marL="114300" indent="-114300">
              <a:spcAft>
                <a:spcPts val="300"/>
              </a:spcAft>
              <a:buSzPct val="100000"/>
              <a:buChar char="•"/>
            </a:pPr>
            <a:r>
              <a:rPr lang="en-US" sz="1200" dirty="0">
                <a:solidFill>
                  <a:schemeClr val="bg1"/>
                </a:solidFill>
              </a:rPr>
              <a:t>Hierro medido en cada lote, visible en la app</a:t>
            </a:r>
            <a:endParaRPr lang="en-US" sz="1200" dirty="0"/>
          </a:p>
          <a:p>
            <a:pPr marL="114300" indent="-114300">
              <a:spcAft>
                <a:spcPts val="300"/>
              </a:spcAft>
              <a:buSzPct val="100000"/>
              <a:buChar char="•"/>
            </a:pPr>
            <a:r>
              <a:rPr lang="en-US" sz="1200" dirty="0">
                <a:solidFill>
                  <a:schemeClr val="bg1"/>
                </a:solidFill>
              </a:rPr>
              <a:t>Sabor a brownie, sin octógono</a:t>
            </a:r>
            <a:endParaRPr lang="en-US" sz="1200" dirty="0"/>
          </a:p>
          <a:p>
            <a:pPr marL="114300" indent="-114300">
              <a:spcAft>
                <a:spcPts val="300"/>
              </a:spcAft>
              <a:buSzPct val="100000"/>
              <a:buChar char="•"/>
            </a:pPr>
            <a:r>
              <a:rPr lang="en-US" sz="1200" dirty="0">
                <a:solidFill>
                  <a:schemeClr val="bg1"/>
                </a:solidFill>
              </a:rPr>
              <a:t>App para padres y juego para niños</a:t>
            </a:r>
            <a:endParaRPr lang="en-US" sz="1200" dirty="0"/>
          </a:p>
          <a:p>
            <a:pPr marL="114300" indent="-114300">
              <a:spcAft>
                <a:spcPts val="300"/>
              </a:spcAft>
              <a:buSzPct val="100000"/>
              <a:buChar char="•"/>
            </a:pPr>
            <a:r>
              <a:rPr lang="en-US" sz="1200" dirty="0">
                <a:solidFill>
                  <a:schemeClr val="bg1"/>
                </a:solidFill>
              </a:rPr>
              <a:t>Se prueba gratis antes de comprar</a:t>
            </a:r>
            <a:endParaRPr lang="en-US" sz="1200" dirty="0"/>
          </a:p>
        </p:txBody>
      </p:sp>
      <p:sp>
        <p:nvSpPr>
          <p:cNvPr id="20" name="Shape 14"/>
          <p:cNvSpPr/>
          <p:nvPr/>
        </p:nvSpPr>
        <p:spPr>
          <a:xfrm>
            <a:off x="7247534" y="138988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490472"/>
            <a:ext cx="237744" cy="237744"/>
          </a:xfrm>
          <a:prstGeom prst="rect">
            <a:avLst/>
          </a:prstGeom>
        </p:spPr>
      </p:pic>
      <p:sp>
        <p:nvSpPr>
          <p:cNvPr id="22" name="Text 15"/>
          <p:cNvSpPr txBox="1"/>
          <p:nvPr/>
        </p:nvSpPr>
        <p:spPr>
          <a:xfrm>
            <a:off x="7668158"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38974" y="179222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Degustación cara a cara</a:t>
            </a:r>
            <a:endParaRPr lang="en-US" sz="1200" dirty="0"/>
          </a:p>
          <a:p>
            <a:pPr marL="114300" indent="-114300">
              <a:spcAft>
                <a:spcPts val="300"/>
              </a:spcAft>
              <a:buSzPct val="100000"/>
              <a:buChar char="•"/>
            </a:pPr>
            <a:r>
              <a:rPr lang="en-US" sz="1200" dirty="0">
                <a:solidFill>
                  <a:schemeClr val="tx1"/>
                </a:solidFill>
              </a:rPr>
              <a:t>La app avisa cuándo recomprar</a:t>
            </a:r>
            <a:endParaRPr lang="en-US" sz="1200" dirty="0"/>
          </a:p>
          <a:p>
            <a:pPr marL="114300" indent="-114300">
              <a:spcAft>
                <a:spcPts val="300"/>
              </a:spcAft>
              <a:buSzPct val="100000"/>
              <a:buChar char="•"/>
            </a:pPr>
            <a:r>
              <a:rPr lang="en-US" sz="1200" dirty="0">
                <a:solidFill>
                  <a:schemeClr val="tx1"/>
                </a:solidFill>
              </a:rPr>
              <a:t>Mamás embajadoras por salón</a:t>
            </a:r>
            <a:endParaRPr lang="en-US" sz="1200" dirty="0"/>
          </a:p>
        </p:txBody>
      </p:sp>
      <p:sp>
        <p:nvSpPr>
          <p:cNvPr id="24" name="Shape 17"/>
          <p:cNvSpPr/>
          <p:nvPr/>
        </p:nvSpPr>
        <p:spPr>
          <a:xfrm>
            <a:off x="7247534" y="3081528"/>
            <a:ext cx="2159813" cy="1618488"/>
          </a:xfrm>
          <a:prstGeom prst="roundRect">
            <a:avLst>
              <a:gd name="adj" fmla="val 452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182112"/>
            <a:ext cx="237744" cy="237744"/>
          </a:xfrm>
          <a:prstGeom prst="rect">
            <a:avLst/>
          </a:prstGeom>
        </p:spPr>
      </p:pic>
      <p:sp>
        <p:nvSpPr>
          <p:cNvPr id="26" name="Text 18"/>
          <p:cNvSpPr txBox="1"/>
          <p:nvPr/>
        </p:nvSpPr>
        <p:spPr>
          <a:xfrm>
            <a:off x="7668158" y="315468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38974" y="3483864"/>
            <a:ext cx="1995221" cy="116128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Stands y carrito 43 %</a:t>
            </a:r>
            <a:endParaRPr lang="en-US" sz="1200" dirty="0"/>
          </a:p>
          <a:p>
            <a:pPr marL="114300" indent="-114300">
              <a:spcAft>
                <a:spcPts val="300"/>
              </a:spcAft>
              <a:buSzPct val="100000"/>
              <a:buChar char="•"/>
            </a:pPr>
            <a:r>
              <a:rPr lang="en-US" sz="1200" dirty="0">
                <a:solidFill>
                  <a:schemeClr val="tx1"/>
                </a:solidFill>
              </a:rPr>
              <a:t>WhatsApp 18 % · ferias 14 %</a:t>
            </a:r>
            <a:endParaRPr lang="en-US" sz="1200" dirty="0"/>
          </a:p>
          <a:p>
            <a:pPr marL="114300" indent="-114300">
              <a:spcAft>
                <a:spcPts val="300"/>
              </a:spcAft>
              <a:buSzPct val="100000"/>
              <a:buChar char="•"/>
            </a:pPr>
            <a:r>
              <a:rPr lang="en-US" sz="1200" dirty="0">
                <a:solidFill>
                  <a:schemeClr val="tx1"/>
                </a:solidFill>
              </a:rPr>
              <a:t>Colegios y naturistas 25 %</a:t>
            </a:r>
            <a:endParaRPr lang="en-US" sz="1200" dirty="0"/>
          </a:p>
        </p:txBody>
      </p:sp>
      <p:sp>
        <p:nvSpPr>
          <p:cNvPr id="28" name="Shape 20"/>
          <p:cNvSpPr/>
          <p:nvPr/>
        </p:nvSpPr>
        <p:spPr>
          <a:xfrm>
            <a:off x="9480499" y="1389888"/>
            <a:ext cx="2159813" cy="3310128"/>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490472"/>
            <a:ext cx="237744" cy="237744"/>
          </a:xfrm>
          <a:prstGeom prst="rect">
            <a:avLst/>
          </a:prstGeom>
        </p:spPr>
      </p:pic>
      <p:sp>
        <p:nvSpPr>
          <p:cNvPr id="30" name="Text 21"/>
          <p:cNvSpPr txBox="1"/>
          <p:nvPr/>
        </p:nvSpPr>
        <p:spPr>
          <a:xfrm>
            <a:off x="9901123" y="1463040"/>
            <a:ext cx="1684325"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71939" y="1792224"/>
            <a:ext cx="1995221" cy="2852928"/>
          </a:xfrm>
          <a:prstGeom prst="rect">
            <a:avLst/>
          </a:prstGeom>
          <a:noFill/>
          <a:ln/>
        </p:spPr>
        <p:txBody>
          <a:bodyPr wrap="square" lIns="0" tIns="0" rIns="0" bIns="0" rtlCol="0" anchor="t"/>
          <a:lstStyle/>
          <a:p>
            <a:pPr marL="114300" indent="-114300">
              <a:spcAft>
                <a:spcPts val="300"/>
              </a:spcAft>
              <a:buSzPct val="100000"/>
              <a:buChar char="•"/>
            </a:pPr>
            <a:r>
              <a:rPr lang="en-US" sz="1200" dirty="0">
                <a:solidFill>
                  <a:schemeClr val="tx1"/>
                </a:solidFill>
              </a:rPr>
              <a:t>Padres A y B de 32 a 45 que leen etiquetas (7 de cada 10, B)</a:t>
            </a:r>
            <a:endParaRPr lang="en-US" sz="1200" dirty="0"/>
          </a:p>
          <a:p>
            <a:pPr marL="114300" indent="-114300">
              <a:spcAft>
                <a:spcPts val="300"/>
              </a:spcAft>
              <a:buSzPct val="100000"/>
              <a:buChar char="•"/>
            </a:pPr>
            <a:r>
              <a:rPr lang="en-US" sz="1200" dirty="0">
                <a:solidFill>
                  <a:schemeClr val="tx1"/>
                </a:solidFill>
              </a:rPr>
              <a:t>Hijos de 4 a 11 en colegio privado</a:t>
            </a:r>
            <a:endParaRPr lang="en-US" sz="1200" dirty="0"/>
          </a:p>
          <a:p>
            <a:pPr marL="114300" indent="-114300">
              <a:spcAft>
                <a:spcPts val="300"/>
              </a:spcAft>
              <a:buSzPct val="100000"/>
              <a:buChar char="•"/>
            </a:pPr>
            <a:r>
              <a:rPr lang="en-US" sz="1200" dirty="0">
                <a:solidFill>
                  <a:schemeClr val="tx1"/>
                </a:solidFill>
              </a:rPr>
              <a:t>46,000 hogares en Lima Top y Moderna</a:t>
            </a:r>
            <a:endParaRPr lang="en-US" sz="1200" dirty="0"/>
          </a:p>
          <a:p>
            <a:pPr marL="114300" indent="-114300">
              <a:spcAft>
                <a:spcPts val="300"/>
              </a:spcAft>
              <a:buSzPct val="100000"/>
              <a:buChar char="•"/>
            </a:pPr>
            <a:r>
              <a:rPr lang="en-US" sz="1200" dirty="0">
                <a:solidFill>
                  <a:schemeClr val="tx1"/>
                </a:solidFill>
              </a:rPr>
              <a:t>Colegios y tiendas naturistas</a:t>
            </a:r>
            <a:endParaRPr lang="en-US" sz="1200" dirty="0"/>
          </a:p>
        </p:txBody>
      </p:sp>
      <p:sp>
        <p:nvSpPr>
          <p:cNvPr id="32" name="Shape 23"/>
          <p:cNvSpPr/>
          <p:nvPr/>
        </p:nvSpPr>
        <p:spPr>
          <a:xfrm>
            <a:off x="548640" y="4773168"/>
            <a:ext cx="5545836"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4873752"/>
            <a:ext cx="237744" cy="237744"/>
          </a:xfrm>
          <a:prstGeom prst="rect">
            <a:avLst/>
          </a:prstGeom>
        </p:spPr>
      </p:pic>
      <p:sp>
        <p:nvSpPr>
          <p:cNvPr id="34" name="Text 24"/>
          <p:cNvSpPr txBox="1"/>
          <p:nvPr/>
        </p:nvSpPr>
        <p:spPr>
          <a:xfrm>
            <a:off x="969264" y="4846320"/>
            <a:ext cx="5070348"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40080" y="5175504"/>
            <a:ext cx="5381244"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Producir S/1.64 por brownie, sin comprar planta</a:t>
            </a:r>
            <a:endParaRPr lang="en-US" sz="1150" dirty="0"/>
          </a:p>
          <a:p>
            <a:pPr marL="114300" indent="-114300">
              <a:spcAft>
                <a:spcPts val="300"/>
              </a:spcAft>
              <a:buSzPct val="100000"/>
              <a:buChar char="•"/>
            </a:pPr>
            <a:r>
              <a:rPr lang="en-US" sz="1150" dirty="0">
                <a:solidFill>
                  <a:schemeClr val="tx1"/>
                </a:solidFill>
              </a:rPr>
              <a:t>Stands, ferias y vendedores S/51,010 al año · fijos S/2,738 al mes</a:t>
            </a:r>
            <a:endParaRPr lang="en-US" sz="1150" dirty="0"/>
          </a:p>
          <a:p>
            <a:pPr marL="114300" indent="-114300">
              <a:spcAft>
                <a:spcPts val="300"/>
              </a:spcAft>
              <a:buSzPct val="100000"/>
              <a:buChar char="•"/>
            </a:pPr>
            <a:r>
              <a:rPr lang="en-US" sz="1150" dirty="0">
                <a:solidFill>
                  <a:schemeClr val="tx1"/>
                </a:solidFill>
              </a:rPr>
              <a:t>Equilibrio: 2,100 a 4,400 brownies al mes, según los puntos abiertos</a:t>
            </a:r>
            <a:endParaRPr lang="en-US" sz="1150" dirty="0"/>
          </a:p>
        </p:txBody>
      </p:sp>
      <p:sp>
        <p:nvSpPr>
          <p:cNvPr id="36" name="Shape 26"/>
          <p:cNvSpPr/>
          <p:nvPr/>
        </p:nvSpPr>
        <p:spPr>
          <a:xfrm>
            <a:off x="6167628" y="4773168"/>
            <a:ext cx="5472684" cy="1115568"/>
          </a:xfrm>
          <a:prstGeom prst="roundRect">
            <a:avLst>
              <a:gd name="adj" fmla="val 655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4873752"/>
            <a:ext cx="237744" cy="237744"/>
          </a:xfrm>
          <a:prstGeom prst="rect">
            <a:avLst/>
          </a:prstGeom>
        </p:spPr>
      </p:pic>
      <p:sp>
        <p:nvSpPr>
          <p:cNvPr id="38" name="Text 27"/>
          <p:cNvSpPr txBox="1"/>
          <p:nvPr/>
        </p:nvSpPr>
        <p:spPr>
          <a:xfrm>
            <a:off x="6588252" y="4846320"/>
            <a:ext cx="4997196"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59068" y="5175504"/>
            <a:ext cx="5308092" cy="658368"/>
          </a:xfrm>
          <a:prstGeom prst="rect">
            <a:avLst/>
          </a:prstGeom>
          <a:noFill/>
          <a:ln/>
        </p:spPr>
        <p:txBody>
          <a:bodyPr wrap="square" lIns="0" tIns="0" rIns="0" bIns="0" rtlCol="0" anchor="t"/>
          <a:lstStyle/>
          <a:p>
            <a:pPr marL="114300" indent="-114300">
              <a:spcAft>
                <a:spcPts val="300"/>
              </a:spcAft>
              <a:buSzPct val="100000"/>
              <a:buChar char="•"/>
            </a:pPr>
            <a:r>
              <a:rPr lang="en-US" sz="1150" dirty="0">
                <a:solidFill>
                  <a:schemeClr val="tx1"/>
                </a:solidFill>
              </a:rPr>
              <a:t>Unidad S/6.00 · caja de 3 S/16.50 · pack de 6 S/27.90</a:t>
            </a:r>
            <a:endParaRPr lang="en-US" sz="1150" dirty="0"/>
          </a:p>
          <a:p>
            <a:pPr marL="114300" indent="-114300">
              <a:spcAft>
                <a:spcPts val="300"/>
              </a:spcAft>
              <a:buSzPct val="100000"/>
              <a:buChar char="•"/>
            </a:pPr>
            <a:r>
              <a:rPr lang="en-US" sz="1150" dirty="0">
                <a:solidFill>
                  <a:schemeClr val="tx1"/>
                </a:solidFill>
              </a:rPr>
              <a:t>Año 1: S/244,728 de ventas y S/10,379 de utilidad neta</a:t>
            </a:r>
            <a:endParaRPr lang="en-US" sz="1150" dirty="0"/>
          </a:p>
          <a:p>
            <a:pPr marL="114300" indent="-114300">
              <a:spcAft>
                <a:spcPts val="300"/>
              </a:spcAft>
              <a:buSzPct val="100000"/>
              <a:buChar char="•"/>
            </a:pPr>
            <a:r>
              <a:rPr lang="en-US" sz="1150" dirty="0">
                <a:solidFill>
                  <a:schemeClr val="tx1"/>
                </a:solidFill>
              </a:rPr>
              <a:t>Año 2: S/322,329 de ventas y S/28,447 de utilidad neta</a:t>
            </a:r>
            <a:endParaRPr lang="en-US" sz="1150" dirty="0"/>
          </a:p>
        </p:txBody>
      </p:sp>
      <p:sp>
        <p:nvSpPr>
          <p:cNvPr id="40" name="Text 29"/>
          <p:cNvSpPr txBox="1"/>
          <p:nvPr/>
        </p:nvSpPr>
        <p:spPr>
          <a:xfrm>
            <a:off x="5124298" y="4133088"/>
            <a:ext cx="1940357" cy="45720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41" name="Shape 30"/>
          <p:cNvSpPr/>
          <p:nvPr/>
        </p:nvSpPr>
        <p:spPr>
          <a:xfrm>
            <a:off x="548640" y="5925312"/>
            <a:ext cx="11091672" cy="420624"/>
          </a:xfrm>
          <a:prstGeom prst="roundRect">
            <a:avLst>
              <a:gd name="adj" fmla="val 50000"/>
            </a:avLst>
          </a:prstGeom>
          <a:solidFill>
            <a:schemeClr val="tx2"/>
          </a:solidFill>
          <a:ln w="12700">
            <a:solidFill>
              <a:schemeClr val="tx2"/>
            </a:solidFill>
            <a:prstDash val="solid"/>
          </a:ln>
        </p:spPr>
      </p:sp>
      <p:sp>
        <p:nvSpPr>
          <p:cNvPr id="42" name="Text 31"/>
          <p:cNvSpPr txBox="1"/>
          <p:nvPr/>
        </p:nvSpPr>
        <p:spPr>
          <a:xfrm>
            <a:off x="777240" y="5925312"/>
            <a:ext cx="10698480" cy="420624"/>
          </a:xfrm>
          <a:prstGeom prst="rect">
            <a:avLst/>
          </a:prstGeom>
          <a:noFill/>
          <a:ln/>
        </p:spPr>
        <p:txBody>
          <a:bodyPr wrap="square" lIns="0" tIns="0" rIns="0" bIns="0" rtlCol="0" anchor="ctr"/>
          <a:lstStyle/>
          <a:p>
            <a:pPr indent="0" marL="0">
              <a:buNone/>
            </a:pPr>
            <a:r>
              <a:rPr lang="en-US" sz="1300" b="1" dirty="0">
                <a:solidFill>
                  <a:schemeClr val="accent3"/>
                </a:solidFill>
              </a:rPr>
              <a:t>Para el inversionista:  </a:t>
            </a:r>
            <a:pPr indent="0" marL="0">
              <a:buNone/>
            </a:pPr>
            <a:r>
              <a:rPr lang="en-US" sz="1300" dirty="0">
                <a:solidFill>
                  <a:schemeClr val="bg1"/>
                </a:solidFill>
              </a:rPr>
              <a:t>margen bruto de 58 a 66 % · sin planta propia · ganancia desde marzo · inversión recuperada en 23 meses · utilidad ×2.7 en el año 2</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 App Andi, Misión Hierro · Competencia · Plan de marketing</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(S/27.90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 3 sabores (S/16.50)</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a:p>
            <a:pPr marL="127000" indent="-127000">
              <a:spcAft>
                <a:spcPts val="400"/>
              </a:spcAft>
              <a:buSzPct val="100000"/>
              <a:buChar char="•"/>
            </a:pPr>
            <a:r>
              <a:rPr lang="en-US" sz="1200" dirty="0">
                <a:solidFill>
                  <a:schemeClr val="tx1"/>
                </a:solidFill>
              </a:rPr>
              <a:t>App Andi, Misión Hierro</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del lote en la app</a:t>
            </a:r>
            <a:endParaRPr lang="en-US" sz="1200" dirty="0"/>
          </a:p>
          <a:p>
            <a:pPr marL="127000" indent="-127000">
              <a:spcAft>
                <a:spcPts val="400"/>
              </a:spcAft>
              <a:buSzPct val="100000"/>
              <a:buChar char="•"/>
            </a:pPr>
            <a:r>
              <a:rPr lang="en-US" sz="1200" dirty="0">
                <a:solidFill>
                  <a:schemeClr val="tx1"/>
                </a:solidFill>
              </a:rPr>
              <a:t>Juego educativo de Andi</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Loncheras listas en la app</a:t>
            </a:r>
            <a:endParaRPr lang="en-US" sz="1200" dirty="0"/>
          </a:p>
          <a:p>
            <a:pPr marL="127000" indent="-127000">
              <a:spcAft>
                <a:spcPts val="400"/>
              </a:spcAft>
              <a:buSzPct val="100000"/>
              <a:buChar char="•"/>
            </a:pPr>
            <a:r>
              <a:rPr lang="en-US" sz="1200" dirty="0">
                <a:solidFill>
                  <a:schemeClr val="tx1"/>
                </a:solidFill>
              </a:rPr>
              <a:t>Aviso antes de que se acabe</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problema del padre tiene una respuesta de AndiBite</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PROBLEMA DEL PADRE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LO QUE HACE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medido del lote en la app</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Plan de loncheras en la app</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App Andi, Misión Hierro: viene con cada envase</a:t>
            </a:r>
            <a:endParaRPr lang="en-US" sz="3400" dirty="0"/>
          </a:p>
        </p:txBody>
      </p:sp>
      <p:sp>
        <p:nvSpPr>
          <p:cNvPr id="4" name="Shape 2"/>
          <p:cNvSpPr/>
          <p:nvPr/>
        </p:nvSpPr>
        <p:spPr>
          <a:xfrm>
            <a:off x="548640" y="1463040"/>
            <a:ext cx="4343400" cy="4069080"/>
          </a:xfrm>
          <a:prstGeom prst="roundRect">
            <a:avLst>
              <a:gd name="adj" fmla="val 269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8404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MODO PADRES</a:t>
            </a:r>
            <a:endParaRPr lang="en-US" sz="1200" dirty="0"/>
          </a:p>
        </p:txBody>
      </p:sp>
      <p:sp>
        <p:nvSpPr>
          <p:cNvPr id="6" name="Text 4"/>
          <p:cNvSpPr txBox="1"/>
          <p:nvPr/>
        </p:nvSpPr>
        <p:spPr>
          <a:xfrm>
            <a:off x="822960" y="1920240"/>
            <a:ext cx="3840480" cy="384048"/>
          </a:xfrm>
          <a:prstGeom prst="rect">
            <a:avLst/>
          </a:prstGeom>
          <a:noFill/>
          <a:ln/>
        </p:spPr>
        <p:txBody>
          <a:bodyPr wrap="square" lIns="0" tIns="0" rIns="0" bIns="0" rtlCol="0" anchor="t"/>
          <a:lstStyle/>
          <a:p>
            <a:pPr indent="0" marL="0">
              <a:buNone/>
            </a:pPr>
            <a:r>
              <a:rPr lang="en-US" sz="1900" b="1" dirty="0">
                <a:solidFill>
                  <a:schemeClr val="tx2"/>
                </a:solidFill>
              </a:rPr>
              <a:t>Datos que dan confianza</a:t>
            </a:r>
            <a:endParaRPr lang="en-US" sz="1900" dirty="0"/>
          </a:p>
        </p:txBody>
      </p:sp>
      <p:sp>
        <p:nvSpPr>
          <p:cNvPr id="7" name="Shape 5"/>
          <p:cNvSpPr/>
          <p:nvPr/>
        </p:nvSpPr>
        <p:spPr>
          <a:xfrm>
            <a:off x="822960" y="2468880"/>
            <a:ext cx="457200" cy="45720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923544" y="2569464"/>
            <a:ext cx="256032" cy="256032"/>
          </a:xfrm>
          <a:prstGeom prst="rect">
            <a:avLst/>
          </a:prstGeom>
        </p:spPr>
      </p:pic>
      <p:sp>
        <p:nvSpPr>
          <p:cNvPr id="9" name="Text 6"/>
          <p:cNvSpPr txBox="1"/>
          <p:nvPr/>
        </p:nvSpPr>
        <p:spPr>
          <a:xfrm>
            <a:off x="1417320" y="2468880"/>
            <a:ext cx="3383280" cy="457200"/>
          </a:xfrm>
          <a:prstGeom prst="rect">
            <a:avLst/>
          </a:prstGeom>
          <a:noFill/>
          <a:ln/>
        </p:spPr>
        <p:txBody>
          <a:bodyPr wrap="square" lIns="0" tIns="0" rIns="0" bIns="0" rtlCol="0" anchor="ctr"/>
          <a:lstStyle/>
          <a:p>
            <a:pPr indent="0" marL="0">
              <a:buNone/>
            </a:pPr>
            <a:r>
              <a:rPr lang="en-US" sz="1500" b="1" dirty="0">
                <a:solidFill>
                  <a:schemeClr val="tx1"/>
                </a:solidFill>
              </a:rPr>
              <a:t>Mi lote: hierro medido</a:t>
            </a:r>
            <a:endParaRPr lang="en-US" sz="1500" dirty="0"/>
          </a:p>
        </p:txBody>
      </p:sp>
      <p:sp>
        <p:nvSpPr>
          <p:cNvPr id="10" name="Shape 7"/>
          <p:cNvSpPr/>
          <p:nvPr/>
        </p:nvSpPr>
        <p:spPr>
          <a:xfrm>
            <a:off x="822960" y="3072384"/>
            <a:ext cx="457200" cy="4572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23544" y="3172968"/>
            <a:ext cx="256032" cy="256032"/>
          </a:xfrm>
          <a:prstGeom prst="rect">
            <a:avLst/>
          </a:prstGeom>
        </p:spPr>
      </p:pic>
      <p:sp>
        <p:nvSpPr>
          <p:cNvPr id="12" name="Text 8"/>
          <p:cNvSpPr txBox="1"/>
          <p:nvPr/>
        </p:nvSpPr>
        <p:spPr>
          <a:xfrm>
            <a:off x="1417320" y="3072384"/>
            <a:ext cx="3383280" cy="457200"/>
          </a:xfrm>
          <a:prstGeom prst="rect">
            <a:avLst/>
          </a:prstGeom>
          <a:noFill/>
          <a:ln/>
        </p:spPr>
        <p:txBody>
          <a:bodyPr wrap="square" lIns="0" tIns="0" rIns="0" bIns="0" rtlCol="0" anchor="ctr"/>
          <a:lstStyle/>
          <a:p>
            <a:pPr indent="0" marL="0">
              <a:buNone/>
            </a:pPr>
            <a:r>
              <a:rPr lang="en-US" sz="1500" dirty="0">
                <a:solidFill>
                  <a:schemeClr val="tx1"/>
                </a:solidFill>
              </a:rPr>
              <a:t>Semáforo de hierro semanal</a:t>
            </a:r>
            <a:endParaRPr lang="en-US" sz="1500" dirty="0"/>
          </a:p>
        </p:txBody>
      </p:sp>
      <p:sp>
        <p:nvSpPr>
          <p:cNvPr id="13" name="Shape 9"/>
          <p:cNvSpPr/>
          <p:nvPr/>
        </p:nvSpPr>
        <p:spPr>
          <a:xfrm>
            <a:off x="822960" y="3675888"/>
            <a:ext cx="457200" cy="45720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923544" y="3776472"/>
            <a:ext cx="256032" cy="256032"/>
          </a:xfrm>
          <a:prstGeom prst="rect">
            <a:avLst/>
          </a:prstGeom>
        </p:spPr>
      </p:pic>
      <p:sp>
        <p:nvSpPr>
          <p:cNvPr id="15" name="Text 10"/>
          <p:cNvSpPr txBox="1"/>
          <p:nvPr/>
        </p:nvSpPr>
        <p:spPr>
          <a:xfrm>
            <a:off x="1417320" y="3675888"/>
            <a:ext cx="3383280" cy="457200"/>
          </a:xfrm>
          <a:prstGeom prst="rect">
            <a:avLst/>
          </a:prstGeom>
          <a:noFill/>
          <a:ln/>
        </p:spPr>
        <p:txBody>
          <a:bodyPr wrap="square" lIns="0" tIns="0" rIns="0" bIns="0" rtlCol="0" anchor="ctr"/>
          <a:lstStyle/>
          <a:p>
            <a:pPr indent="0" marL="0">
              <a:buNone/>
            </a:pPr>
            <a:r>
              <a:rPr lang="en-US" sz="1500" dirty="0">
                <a:solidFill>
                  <a:schemeClr val="tx1"/>
                </a:solidFill>
              </a:rPr>
              <a:t>Plan de loncheras con IA</a:t>
            </a:r>
            <a:endParaRPr lang="en-US" sz="1500" dirty="0"/>
          </a:p>
        </p:txBody>
      </p:sp>
      <p:sp>
        <p:nvSpPr>
          <p:cNvPr id="16" name="Shape 11"/>
          <p:cNvSpPr/>
          <p:nvPr/>
        </p:nvSpPr>
        <p:spPr>
          <a:xfrm>
            <a:off x="822960" y="4279392"/>
            <a:ext cx="457200" cy="457200"/>
          </a:xfrm>
          <a:prstGeom prst="ellipse">
            <a:avLst/>
          </a:prstGeom>
          <a:solidFill>
            <a:schemeClr val="tx2"/>
          </a:solidFill>
          <a:ln w="12700">
            <a:solidFill>
              <a:schemeClr val="tx2"/>
            </a:solidFill>
            <a:prstDash val="solid"/>
          </a:ln>
        </p:spPr>
      </p:sp>
      <p:pic>
        <p:nvPicPr>
          <p:cNvPr id="17" name="Image 3" descr="preencoded.png">    </p:cNvPr>
          <p:cNvPicPr>
            <a:picLocks noChangeAspect="1"/>
          </p:cNvPicPr>
          <p:nvPr/>
        </p:nvPicPr>
        <p:blipFill>
          <a:blip r:embed="rId4"/>
          <a:stretch>
            <a:fillRect/>
          </a:stretch>
        </p:blipFill>
        <p:spPr>
          <a:xfrm>
            <a:off x="923544" y="4379976"/>
            <a:ext cx="256032" cy="256032"/>
          </a:xfrm>
          <a:prstGeom prst="rect">
            <a:avLst/>
          </a:prstGeom>
        </p:spPr>
      </p:pic>
      <p:sp>
        <p:nvSpPr>
          <p:cNvPr id="18" name="Text 12"/>
          <p:cNvSpPr txBox="1"/>
          <p:nvPr/>
        </p:nvSpPr>
        <p:spPr>
          <a:xfrm>
            <a:off x="1417320" y="4279392"/>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Recordatorio de hemoglobina</a:t>
            </a:r>
            <a:endParaRPr lang="en-US" sz="1500" dirty="0"/>
          </a:p>
        </p:txBody>
      </p:sp>
      <p:sp>
        <p:nvSpPr>
          <p:cNvPr id="19" name="Shape 13"/>
          <p:cNvSpPr/>
          <p:nvPr/>
        </p:nvSpPr>
        <p:spPr>
          <a:xfrm>
            <a:off x="822960" y="4882896"/>
            <a:ext cx="457200" cy="457200"/>
          </a:xfrm>
          <a:prstGeom prst="ellipse">
            <a:avLst/>
          </a:prstGeom>
          <a:solidFill>
            <a:schemeClr val="tx2"/>
          </a:solidFill>
          <a:ln w="12700">
            <a:solidFill>
              <a:schemeClr val="tx2"/>
            </a:solidFill>
            <a:prstDash val="solid"/>
          </a:ln>
        </p:spPr>
      </p:sp>
      <p:pic>
        <p:nvPicPr>
          <p:cNvPr id="20" name="Image 4" descr="preencoded.png">    </p:cNvPr>
          <p:cNvPicPr>
            <a:picLocks noChangeAspect="1"/>
          </p:cNvPicPr>
          <p:nvPr/>
        </p:nvPicPr>
        <p:blipFill>
          <a:blip r:embed="rId5"/>
          <a:stretch>
            <a:fillRect/>
          </a:stretch>
        </p:blipFill>
        <p:spPr>
          <a:xfrm>
            <a:off x="923544" y="4983480"/>
            <a:ext cx="256032" cy="256032"/>
          </a:xfrm>
          <a:prstGeom prst="rect">
            <a:avLst/>
          </a:prstGeom>
        </p:spPr>
      </p:pic>
      <p:sp>
        <p:nvSpPr>
          <p:cNvPr id="21" name="Text 14"/>
          <p:cNvSpPr txBox="1"/>
          <p:nvPr/>
        </p:nvSpPr>
        <p:spPr>
          <a:xfrm>
            <a:off x="1417320" y="4882896"/>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Recompra en un clic</a:t>
            </a:r>
            <a:endParaRPr lang="en-US" sz="1500" dirty="0"/>
          </a:p>
        </p:txBody>
      </p:sp>
      <p:sp>
        <p:nvSpPr>
          <p:cNvPr id="22" name="Shape 15"/>
          <p:cNvSpPr/>
          <p:nvPr/>
        </p:nvSpPr>
        <p:spPr>
          <a:xfrm>
            <a:off x="5074920" y="1463040"/>
            <a:ext cx="4023360" cy="4069080"/>
          </a:xfrm>
          <a:prstGeom prst="roundRect">
            <a:avLst>
              <a:gd name="adj" fmla="val 272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6"/>
          <p:cNvSpPr txBox="1"/>
          <p:nvPr/>
        </p:nvSpPr>
        <p:spPr>
          <a:xfrm>
            <a:off x="5349240" y="1645920"/>
            <a:ext cx="356616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MODO NIÑOS</a:t>
            </a:r>
            <a:endParaRPr lang="en-US" sz="1200" dirty="0"/>
          </a:p>
        </p:txBody>
      </p:sp>
      <p:sp>
        <p:nvSpPr>
          <p:cNvPr id="24" name="Text 17"/>
          <p:cNvSpPr txBox="1"/>
          <p:nvPr/>
        </p:nvSpPr>
        <p:spPr>
          <a:xfrm>
            <a:off x="5349240" y="1920240"/>
            <a:ext cx="3566160" cy="384048"/>
          </a:xfrm>
          <a:prstGeom prst="rect">
            <a:avLst/>
          </a:prstGeom>
          <a:noFill/>
          <a:ln/>
        </p:spPr>
        <p:txBody>
          <a:bodyPr wrap="square" lIns="0" tIns="0" rIns="0" bIns="0" rtlCol="0" anchor="t"/>
          <a:lstStyle/>
          <a:p>
            <a:pPr indent="0" marL="0">
              <a:buNone/>
            </a:pPr>
            <a:r>
              <a:rPr lang="en-US" sz="1900" b="1" dirty="0">
                <a:solidFill>
                  <a:schemeClr val="bg1"/>
                </a:solidFill>
              </a:rPr>
              <a:t>Aprender jugando con Andi</a:t>
            </a:r>
            <a:endParaRPr lang="en-US" sz="1900" dirty="0"/>
          </a:p>
        </p:txBody>
      </p:sp>
      <p:sp>
        <p:nvSpPr>
          <p:cNvPr id="25" name="Shape 18"/>
          <p:cNvSpPr/>
          <p:nvPr/>
        </p:nvSpPr>
        <p:spPr>
          <a:xfrm>
            <a:off x="5349240" y="2468880"/>
            <a:ext cx="457200" cy="457200"/>
          </a:xfrm>
          <a:prstGeom prst="ellipse">
            <a:avLst/>
          </a:prstGeom>
          <a:solidFill>
            <a:schemeClr val="accent3"/>
          </a:solidFill>
          <a:ln w="12700">
            <a:solidFill>
              <a:schemeClr val="accent3"/>
            </a:solidFill>
            <a:prstDash val="solid"/>
          </a:ln>
        </p:spPr>
      </p:sp>
      <p:pic>
        <p:nvPicPr>
          <p:cNvPr id="26" name="Image 5" descr="preencoded.png">    </p:cNvPr>
          <p:cNvPicPr>
            <a:picLocks noChangeAspect="1"/>
          </p:cNvPicPr>
          <p:nvPr/>
        </p:nvPicPr>
        <p:blipFill>
          <a:blip r:embed="rId6"/>
          <a:stretch>
            <a:fillRect/>
          </a:stretch>
        </p:blipFill>
        <p:spPr>
          <a:xfrm>
            <a:off x="5449824" y="2569464"/>
            <a:ext cx="256032" cy="256032"/>
          </a:xfrm>
          <a:prstGeom prst="rect">
            <a:avLst/>
          </a:prstGeom>
        </p:spPr>
      </p:pic>
      <p:sp>
        <p:nvSpPr>
          <p:cNvPr id="27" name="Text 19"/>
          <p:cNvSpPr txBox="1"/>
          <p:nvPr/>
        </p:nvSpPr>
        <p:spPr>
          <a:xfrm>
            <a:off x="5943600" y="2468880"/>
            <a:ext cx="3063240" cy="457200"/>
          </a:xfrm>
          <a:prstGeom prst="rect">
            <a:avLst/>
          </a:prstGeom>
          <a:noFill/>
          <a:ln/>
        </p:spPr>
        <p:txBody>
          <a:bodyPr wrap="square" lIns="0" tIns="0" rIns="0" bIns="0" rtlCol="0" anchor="ctr"/>
          <a:lstStyle/>
          <a:p>
            <a:pPr indent="0" marL="0">
              <a:buNone/>
            </a:pPr>
            <a:r>
              <a:rPr lang="en-US" sz="1500" dirty="0">
                <a:solidFill>
                  <a:schemeClr val="bg1"/>
                </a:solidFill>
              </a:rPr>
              <a:t>Arma tu plato fuerte</a:t>
            </a:r>
            <a:endParaRPr lang="en-US" sz="1500" dirty="0"/>
          </a:p>
        </p:txBody>
      </p:sp>
      <p:sp>
        <p:nvSpPr>
          <p:cNvPr id="28" name="Shape 20"/>
          <p:cNvSpPr/>
          <p:nvPr/>
        </p:nvSpPr>
        <p:spPr>
          <a:xfrm>
            <a:off x="5349240" y="3072384"/>
            <a:ext cx="457200" cy="457200"/>
          </a:xfrm>
          <a:prstGeom prst="ellipse">
            <a:avLst/>
          </a:prstGeom>
          <a:solidFill>
            <a:schemeClr val="accent3"/>
          </a:solidFill>
          <a:ln w="12700">
            <a:solidFill>
              <a:schemeClr val="accent3"/>
            </a:solidFill>
            <a:prstDash val="solid"/>
          </a:ln>
        </p:spPr>
      </p:sp>
      <p:pic>
        <p:nvPicPr>
          <p:cNvPr id="29" name="Image 6" descr="preencoded.png">    </p:cNvPr>
          <p:cNvPicPr>
            <a:picLocks noChangeAspect="1"/>
          </p:cNvPicPr>
          <p:nvPr/>
        </p:nvPicPr>
        <p:blipFill>
          <a:blip r:embed="rId7"/>
          <a:stretch>
            <a:fillRect/>
          </a:stretch>
        </p:blipFill>
        <p:spPr>
          <a:xfrm>
            <a:off x="5449824" y="3172968"/>
            <a:ext cx="256032" cy="256032"/>
          </a:xfrm>
          <a:prstGeom prst="rect">
            <a:avLst/>
          </a:prstGeom>
        </p:spPr>
      </p:pic>
      <p:sp>
        <p:nvSpPr>
          <p:cNvPr id="30" name="Text 21"/>
          <p:cNvSpPr txBox="1"/>
          <p:nvPr/>
        </p:nvSpPr>
        <p:spPr>
          <a:xfrm>
            <a:off x="5943600" y="3072384"/>
            <a:ext cx="3063240" cy="457200"/>
          </a:xfrm>
          <a:prstGeom prst="rect">
            <a:avLst/>
          </a:prstGeom>
          <a:noFill/>
          <a:ln/>
        </p:spPr>
        <p:txBody>
          <a:bodyPr wrap="square" lIns="0" tIns="0" rIns="0" bIns="0" rtlCol="0" anchor="ctr"/>
          <a:lstStyle/>
          <a:p>
            <a:pPr indent="0" marL="0">
              <a:buNone/>
            </a:pPr>
            <a:r>
              <a:rPr lang="en-US" sz="1500" dirty="0">
                <a:solidFill>
                  <a:schemeClr val="bg1"/>
                </a:solidFill>
              </a:rPr>
              <a:t>Memoria andina</a:t>
            </a:r>
            <a:endParaRPr lang="en-US" sz="1500" dirty="0"/>
          </a:p>
        </p:txBody>
      </p:sp>
      <p:sp>
        <p:nvSpPr>
          <p:cNvPr id="31" name="Shape 22"/>
          <p:cNvSpPr/>
          <p:nvPr/>
        </p:nvSpPr>
        <p:spPr>
          <a:xfrm>
            <a:off x="5349240" y="3675888"/>
            <a:ext cx="457200" cy="457200"/>
          </a:xfrm>
          <a:prstGeom prst="ellipse">
            <a:avLst/>
          </a:prstGeom>
          <a:solidFill>
            <a:schemeClr val="accent3"/>
          </a:solidFill>
          <a:ln w="12700">
            <a:solidFill>
              <a:schemeClr val="accent3"/>
            </a:solidFill>
            <a:prstDash val="solid"/>
          </a:ln>
        </p:spPr>
      </p:sp>
      <p:pic>
        <p:nvPicPr>
          <p:cNvPr id="32" name="Image 7" descr="preencoded.png">    </p:cNvPr>
          <p:cNvPicPr>
            <a:picLocks noChangeAspect="1"/>
          </p:cNvPicPr>
          <p:nvPr/>
        </p:nvPicPr>
        <p:blipFill>
          <a:blip r:embed="rId8"/>
          <a:stretch>
            <a:fillRect/>
          </a:stretch>
        </p:blipFill>
        <p:spPr>
          <a:xfrm>
            <a:off x="5449824" y="3776472"/>
            <a:ext cx="256032" cy="256032"/>
          </a:xfrm>
          <a:prstGeom prst="rect">
            <a:avLst/>
          </a:prstGeom>
        </p:spPr>
      </p:pic>
      <p:sp>
        <p:nvSpPr>
          <p:cNvPr id="33" name="Text 23"/>
          <p:cNvSpPr txBox="1"/>
          <p:nvPr/>
        </p:nvSpPr>
        <p:spPr>
          <a:xfrm>
            <a:off x="5943600" y="3675888"/>
            <a:ext cx="3063240" cy="457200"/>
          </a:xfrm>
          <a:prstGeom prst="rect">
            <a:avLst/>
          </a:prstGeom>
          <a:noFill/>
          <a:ln/>
        </p:spPr>
        <p:txBody>
          <a:bodyPr wrap="square" lIns="0" tIns="0" rIns="0" bIns="0" rtlCol="0" anchor="ctr"/>
          <a:lstStyle/>
          <a:p>
            <a:pPr indent="0" marL="0">
              <a:buNone/>
            </a:pPr>
            <a:r>
              <a:rPr lang="en-US" sz="1500" dirty="0">
                <a:solidFill>
                  <a:schemeClr val="bg1"/>
                </a:solidFill>
              </a:rPr>
              <a:t>¿Verdad o mito?</a:t>
            </a:r>
            <a:endParaRPr lang="en-US" sz="1500" dirty="0"/>
          </a:p>
        </p:txBody>
      </p:sp>
      <p:sp>
        <p:nvSpPr>
          <p:cNvPr id="34" name="Shape 24"/>
          <p:cNvSpPr/>
          <p:nvPr/>
        </p:nvSpPr>
        <p:spPr>
          <a:xfrm>
            <a:off x="5349240" y="4279392"/>
            <a:ext cx="457200" cy="457200"/>
          </a:xfrm>
          <a:prstGeom prst="ellipse">
            <a:avLst/>
          </a:prstGeom>
          <a:solidFill>
            <a:schemeClr val="accent3"/>
          </a:solidFill>
          <a:ln w="12700">
            <a:solidFill>
              <a:schemeClr val="accent3"/>
            </a:solidFill>
            <a:prstDash val="solid"/>
          </a:ln>
        </p:spPr>
      </p:sp>
      <p:pic>
        <p:nvPicPr>
          <p:cNvPr id="35" name="Image 8" descr="preencoded.png">    </p:cNvPr>
          <p:cNvPicPr>
            <a:picLocks noChangeAspect="1"/>
          </p:cNvPicPr>
          <p:nvPr/>
        </p:nvPicPr>
        <p:blipFill>
          <a:blip r:embed="rId9"/>
          <a:stretch>
            <a:fillRect/>
          </a:stretch>
        </p:blipFill>
        <p:spPr>
          <a:xfrm>
            <a:off x="5449824" y="4379976"/>
            <a:ext cx="256032" cy="256032"/>
          </a:xfrm>
          <a:prstGeom prst="rect">
            <a:avLst/>
          </a:prstGeom>
        </p:spPr>
      </p:pic>
      <p:sp>
        <p:nvSpPr>
          <p:cNvPr id="36" name="Text 25"/>
          <p:cNvSpPr txBox="1"/>
          <p:nvPr/>
        </p:nvSpPr>
        <p:spPr>
          <a:xfrm>
            <a:off x="5943600" y="4279392"/>
            <a:ext cx="3063240" cy="457200"/>
          </a:xfrm>
          <a:prstGeom prst="rect">
            <a:avLst/>
          </a:prstGeom>
          <a:noFill/>
          <a:ln/>
        </p:spPr>
        <p:txBody>
          <a:bodyPr wrap="square" lIns="0" tIns="0" rIns="0" bIns="0" rtlCol="0" anchor="ctr"/>
          <a:lstStyle/>
          <a:p>
            <a:pPr indent="0" marL="0">
              <a:buNone/>
            </a:pPr>
            <a:r>
              <a:rPr lang="en-US" sz="1500" dirty="0">
                <a:solidFill>
                  <a:schemeClr val="bg1"/>
                </a:solidFill>
              </a:rPr>
              <a:t>Ruta de hábitos</a:t>
            </a:r>
            <a:endParaRPr lang="en-US" sz="1500" dirty="0"/>
          </a:p>
        </p:txBody>
      </p:sp>
      <p:sp>
        <p:nvSpPr>
          <p:cNvPr id="37" name="Shape 26"/>
          <p:cNvSpPr/>
          <p:nvPr/>
        </p:nvSpPr>
        <p:spPr>
          <a:xfrm>
            <a:off x="5349240" y="4882896"/>
            <a:ext cx="457200" cy="457200"/>
          </a:xfrm>
          <a:prstGeom prst="ellipse">
            <a:avLst/>
          </a:prstGeom>
          <a:solidFill>
            <a:schemeClr val="accent5"/>
          </a:solidFill>
          <a:ln w="12700">
            <a:solidFill>
              <a:schemeClr val="accent5"/>
            </a:solidFill>
            <a:prstDash val="solid"/>
          </a:ln>
        </p:spPr>
      </p:sp>
      <p:pic>
        <p:nvPicPr>
          <p:cNvPr id="38" name="Image 9" descr="preencoded.png">    </p:cNvPr>
          <p:cNvPicPr>
            <a:picLocks noChangeAspect="1"/>
          </p:cNvPicPr>
          <p:nvPr/>
        </p:nvPicPr>
        <p:blipFill>
          <a:blip r:embed="rId10"/>
          <a:stretch>
            <a:fillRect/>
          </a:stretch>
        </p:blipFill>
        <p:spPr>
          <a:xfrm>
            <a:off x="5449824" y="4983480"/>
            <a:ext cx="256032" cy="256032"/>
          </a:xfrm>
          <a:prstGeom prst="rect">
            <a:avLst/>
          </a:prstGeom>
        </p:spPr>
      </p:pic>
      <p:sp>
        <p:nvSpPr>
          <p:cNvPr id="39" name="Text 27"/>
          <p:cNvSpPr txBox="1"/>
          <p:nvPr/>
        </p:nvSpPr>
        <p:spPr>
          <a:xfrm>
            <a:off x="5943600" y="4882896"/>
            <a:ext cx="3063240" cy="457200"/>
          </a:xfrm>
          <a:prstGeom prst="rect">
            <a:avLst/>
          </a:prstGeom>
          <a:noFill/>
          <a:ln/>
        </p:spPr>
        <p:txBody>
          <a:bodyPr wrap="square" lIns="0" tIns="0" rIns="0" bIns="0" rtlCol="0" anchor="ctr"/>
          <a:lstStyle/>
          <a:p>
            <a:pPr indent="0" marL="0">
              <a:buNone/>
            </a:pPr>
            <a:r>
              <a:rPr lang="en-US" sz="1500" dirty="0">
                <a:solidFill>
                  <a:schemeClr val="bg1"/>
                </a:solidFill>
              </a:rPr>
              <a:t>Lo abre el padre, con tiempo</a:t>
            </a:r>
            <a:endParaRPr lang="en-US" sz="1500" dirty="0"/>
          </a:p>
        </p:txBody>
      </p:sp>
      <p:pic>
        <p:nvPicPr>
          <p:cNvPr id="40" name="Image 10" descr="img/app-lote.png">    </p:cNvPr>
          <p:cNvPicPr>
            <a:picLocks noChangeAspect="1"/>
          </p:cNvPicPr>
          <p:nvPr/>
        </p:nvPicPr>
        <p:blipFill>
          <a:blip r:embed="rId11"/>
          <a:stretch>
            <a:fillRect/>
          </a:stretch>
        </p:blipFill>
        <p:spPr>
          <a:xfrm>
            <a:off x="9445752" y="1371600"/>
            <a:ext cx="2029968" cy="4096512"/>
          </a:xfrm>
          <a:prstGeom prst="rect">
            <a:avLst/>
          </a:prstGeom>
        </p:spPr>
      </p:pic>
      <p:sp>
        <p:nvSpPr>
          <p:cNvPr id="41" name="Shape 28"/>
          <p:cNvSpPr/>
          <p:nvPr/>
        </p:nvSpPr>
        <p:spPr>
          <a:xfrm>
            <a:off x="548640" y="5669280"/>
            <a:ext cx="11091672" cy="548640"/>
          </a:xfrm>
          <a:prstGeom prst="roundRect">
            <a:avLst>
              <a:gd name="adj" fmla="val 50000"/>
            </a:avLst>
          </a:prstGeom>
          <a:solidFill>
            <a:schemeClr val="accent1"/>
          </a:solidFill>
          <a:ln w="12700">
            <a:solidFill>
              <a:schemeClr val="accent1"/>
            </a:solidFill>
            <a:prstDash val="solid"/>
          </a:ln>
        </p:spPr>
      </p:sp>
      <p:sp>
        <p:nvSpPr>
          <p:cNvPr id="42" name="Text 29"/>
          <p:cNvSpPr txBox="1"/>
          <p:nvPr/>
        </p:nvSpPr>
        <p:spPr>
          <a:xfrm>
            <a:off x="822960" y="5669280"/>
            <a:ext cx="10607040" cy="548640"/>
          </a:xfrm>
          <a:prstGeom prst="rect">
            <a:avLst/>
          </a:prstGeom>
          <a:noFill/>
          <a:ln/>
        </p:spPr>
        <p:txBody>
          <a:bodyPr wrap="square" lIns="0" tIns="0" rIns="0" bIns="0" rtlCol="0" anchor="ctr"/>
          <a:lstStyle/>
          <a:p>
            <a:pPr indent="0" marL="0">
              <a:buNone/>
            </a:pPr>
            <a:r>
              <a:rPr lang="en-US" sz="1500" b="1" dirty="0">
                <a:solidFill>
                  <a:schemeClr val="bg1"/>
                </a:solidFill>
              </a:rPr>
              <a:t>Cumple la Ley 30021: </a:t>
            </a:r>
            <a:pPr indent="0" marL="0">
              <a:buNone/>
            </a:pPr>
            <a:r>
              <a:rPr lang="en-US" sz="1500" dirty="0">
                <a:solidFill>
                  <a:schemeClr val="bg1"/>
                </a:solidFill>
              </a:rPr>
              <a:t>en el modo niño no hay compras, ni publicidad, ni premios por comprar.</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stand a la recompra, con la app en el medio</a:t>
            </a:r>
            <a:endParaRPr lang="en-US" sz="3400" dirty="0"/>
          </a:p>
        </p:txBody>
      </p:sp>
      <p:sp>
        <p:nvSpPr>
          <p:cNvPr id="4" name="Shape 2"/>
          <p:cNvSpPr/>
          <p:nvPr/>
        </p:nvSpPr>
        <p:spPr>
          <a:xfrm>
            <a:off x="1600200" y="1965960"/>
            <a:ext cx="1207008" cy="0"/>
          </a:xfrm>
          <a:prstGeom prst="line">
            <a:avLst/>
          </a:prstGeom>
          <a:noFill/>
          <a:ln w="25400">
            <a:solidFill>
              <a:schemeClr val="accent5"/>
            </a:solidFill>
            <a:prstDash val="dash"/>
            <a:tailEnd type="triangle"/>
          </a:ln>
        </p:spPr>
      </p:sp>
      <p:sp>
        <p:nvSpPr>
          <p:cNvPr id="5" name="Shape 3"/>
          <p:cNvSpPr/>
          <p:nvPr/>
        </p:nvSpPr>
        <p:spPr>
          <a:xfrm>
            <a:off x="548640" y="150876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709928"/>
            <a:ext cx="512064" cy="512064"/>
          </a:xfrm>
          <a:prstGeom prst="rect">
            <a:avLst/>
          </a:prstGeom>
        </p:spPr>
      </p:pic>
      <p:sp>
        <p:nvSpPr>
          <p:cNvPr id="7" name="Text 4"/>
          <p:cNvSpPr txBox="1"/>
          <p:nvPr/>
        </p:nvSpPr>
        <p:spPr>
          <a:xfrm>
            <a:off x="548640"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Compra en el stand</a:t>
            </a:r>
            <a:endParaRPr lang="en-US" sz="1600" dirty="0"/>
          </a:p>
        </p:txBody>
      </p:sp>
      <p:sp>
        <p:nvSpPr>
          <p:cNvPr id="8" name="Shape 5"/>
          <p:cNvSpPr/>
          <p:nvPr/>
        </p:nvSpPr>
        <p:spPr>
          <a:xfrm>
            <a:off x="3858768" y="1965960"/>
            <a:ext cx="1207008" cy="0"/>
          </a:xfrm>
          <a:prstGeom prst="line">
            <a:avLst/>
          </a:prstGeom>
          <a:noFill/>
          <a:ln w="25400">
            <a:solidFill>
              <a:schemeClr val="accent5"/>
            </a:solidFill>
            <a:prstDash val="dash"/>
            <a:tailEnd type="triangle"/>
          </a:ln>
        </p:spPr>
      </p:sp>
      <p:sp>
        <p:nvSpPr>
          <p:cNvPr id="9" name="Shape 6"/>
          <p:cNvSpPr/>
          <p:nvPr/>
        </p:nvSpPr>
        <p:spPr>
          <a:xfrm>
            <a:off x="2807208" y="1508760"/>
            <a:ext cx="914400" cy="914400"/>
          </a:xfrm>
          <a:prstGeom prst="ellipse">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3008376" y="1709928"/>
            <a:ext cx="512064" cy="512064"/>
          </a:xfrm>
          <a:prstGeom prst="rect">
            <a:avLst/>
          </a:prstGeom>
        </p:spPr>
      </p:pic>
      <p:sp>
        <p:nvSpPr>
          <p:cNvPr id="11" name="Text 7"/>
          <p:cNvSpPr txBox="1"/>
          <p:nvPr/>
        </p:nvSpPr>
        <p:spPr>
          <a:xfrm>
            <a:off x="2807208"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Escanea el QR</a:t>
            </a:r>
            <a:endParaRPr lang="en-US" sz="1600" dirty="0"/>
          </a:p>
        </p:txBody>
      </p:sp>
      <p:sp>
        <p:nvSpPr>
          <p:cNvPr id="12" name="Shape 8"/>
          <p:cNvSpPr/>
          <p:nvPr/>
        </p:nvSpPr>
        <p:spPr>
          <a:xfrm>
            <a:off x="6117336" y="1965960"/>
            <a:ext cx="1207008" cy="0"/>
          </a:xfrm>
          <a:prstGeom prst="line">
            <a:avLst/>
          </a:prstGeom>
          <a:noFill/>
          <a:ln w="25400">
            <a:solidFill>
              <a:schemeClr val="accent5"/>
            </a:solidFill>
            <a:prstDash val="dash"/>
            <a:tailEnd type="triangle"/>
          </a:ln>
        </p:spPr>
      </p:sp>
      <p:sp>
        <p:nvSpPr>
          <p:cNvPr id="13" name="Shape 9"/>
          <p:cNvSpPr/>
          <p:nvPr/>
        </p:nvSpPr>
        <p:spPr>
          <a:xfrm>
            <a:off x="5065776" y="1508760"/>
            <a:ext cx="914400" cy="91440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266944" y="1709928"/>
            <a:ext cx="512064" cy="512064"/>
          </a:xfrm>
          <a:prstGeom prst="rect">
            <a:avLst/>
          </a:prstGeom>
        </p:spPr>
      </p:pic>
      <p:sp>
        <p:nvSpPr>
          <p:cNvPr id="15" name="Text 10"/>
          <p:cNvSpPr txBox="1"/>
          <p:nvPr/>
        </p:nvSpPr>
        <p:spPr>
          <a:xfrm>
            <a:off x="5065776"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Ve el hierro de su lote</a:t>
            </a:r>
            <a:endParaRPr lang="en-US" sz="1600" dirty="0"/>
          </a:p>
        </p:txBody>
      </p:sp>
      <p:sp>
        <p:nvSpPr>
          <p:cNvPr id="16" name="Shape 11"/>
          <p:cNvSpPr/>
          <p:nvPr/>
        </p:nvSpPr>
        <p:spPr>
          <a:xfrm>
            <a:off x="8375904" y="1965960"/>
            <a:ext cx="1207008" cy="0"/>
          </a:xfrm>
          <a:prstGeom prst="line">
            <a:avLst/>
          </a:prstGeom>
          <a:noFill/>
          <a:ln w="25400">
            <a:solidFill>
              <a:schemeClr val="accent5"/>
            </a:solidFill>
            <a:prstDash val="dash"/>
            <a:tailEnd type="triangle"/>
          </a:ln>
        </p:spPr>
      </p:sp>
      <p:sp>
        <p:nvSpPr>
          <p:cNvPr id="17" name="Shape 12"/>
          <p:cNvSpPr/>
          <p:nvPr/>
        </p:nvSpPr>
        <p:spPr>
          <a:xfrm>
            <a:off x="7324344" y="1508760"/>
            <a:ext cx="914400" cy="91440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7525512" y="1709928"/>
            <a:ext cx="512064" cy="512064"/>
          </a:xfrm>
          <a:prstGeom prst="rect">
            <a:avLst/>
          </a:prstGeom>
        </p:spPr>
      </p:pic>
      <p:sp>
        <p:nvSpPr>
          <p:cNvPr id="19" name="Text 13"/>
          <p:cNvSpPr txBox="1"/>
          <p:nvPr/>
        </p:nvSpPr>
        <p:spPr>
          <a:xfrm>
            <a:off x="7324344"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Usa loncheras y semáforo</a:t>
            </a:r>
            <a:endParaRPr lang="en-US" sz="1600" dirty="0"/>
          </a:p>
        </p:txBody>
      </p:sp>
      <p:sp>
        <p:nvSpPr>
          <p:cNvPr id="20" name="Shape 14"/>
          <p:cNvSpPr/>
          <p:nvPr/>
        </p:nvSpPr>
        <p:spPr>
          <a:xfrm>
            <a:off x="9582912" y="1508760"/>
            <a:ext cx="914400" cy="914400"/>
          </a:xfrm>
          <a:prstGeom prst="ellipse">
            <a:avLst/>
          </a:prstGeom>
          <a:solidFill>
            <a:schemeClr val="tx2"/>
          </a:solidFill>
          <a:ln w="12700">
            <a:solidFill>
              <a:schemeClr val="tx2"/>
            </a:solidFill>
            <a:prstDash val="solid"/>
          </a:ln>
        </p:spPr>
      </p:sp>
      <p:pic>
        <p:nvPicPr>
          <p:cNvPr id="21" name="Image 4" descr="preencoded.png">    </p:cNvPr>
          <p:cNvPicPr>
            <a:picLocks noChangeAspect="1"/>
          </p:cNvPicPr>
          <p:nvPr/>
        </p:nvPicPr>
        <p:blipFill>
          <a:blip r:embed="rId5"/>
          <a:stretch>
            <a:fillRect/>
          </a:stretch>
        </p:blipFill>
        <p:spPr>
          <a:xfrm>
            <a:off x="9784080" y="1709928"/>
            <a:ext cx="512064" cy="512064"/>
          </a:xfrm>
          <a:prstGeom prst="rect">
            <a:avLst/>
          </a:prstGeom>
        </p:spPr>
      </p:pic>
      <p:sp>
        <p:nvSpPr>
          <p:cNvPr id="22" name="Text 15"/>
          <p:cNvSpPr txBox="1"/>
          <p:nvPr/>
        </p:nvSpPr>
        <p:spPr>
          <a:xfrm>
            <a:off x="9582912"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Aviso y recompra</a:t>
            </a:r>
            <a:endParaRPr lang="en-US" sz="1600" dirty="0"/>
          </a:p>
        </p:txBody>
      </p:sp>
      <p:sp>
        <p:nvSpPr>
          <p:cNvPr id="23" name="Shape 16"/>
          <p:cNvSpPr/>
          <p:nvPr/>
        </p:nvSpPr>
        <p:spPr>
          <a:xfrm>
            <a:off x="548640" y="3429000"/>
            <a:ext cx="2615184"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4" name="Text 17"/>
          <p:cNvSpPr txBox="1"/>
          <p:nvPr/>
        </p:nvSpPr>
        <p:spPr>
          <a:xfrm>
            <a:off x="777240" y="3429000"/>
            <a:ext cx="2249424" cy="1234440"/>
          </a:xfrm>
          <a:prstGeom prst="rect">
            <a:avLst/>
          </a:prstGeom>
          <a:noFill/>
          <a:ln/>
        </p:spPr>
        <p:txBody>
          <a:bodyPr wrap="square" lIns="0" tIns="0" rIns="0" bIns="0" rtlCol="0" anchor="ctr"/>
          <a:lstStyle/>
          <a:p>
            <a:pPr indent="0" marL="0">
              <a:buNone/>
            </a:pPr>
            <a:r>
              <a:rPr lang="en-US" sz="2800" b="1" dirty="0">
                <a:solidFill>
                  <a:schemeClr val="bg1"/>
                </a:solidFill>
              </a:rPr>
              <a:t>S/2,000</a:t>
            </a:r>
            <a:endParaRPr lang="en-US" sz="1400" dirty="0"/>
          </a:p>
          <a:p>
            <a:pPr indent="0" marL="0">
              <a:buNone/>
            </a:pPr>
            <a:r>
              <a:rPr lang="en-US" sz="1300" dirty="0">
                <a:solidFill>
                  <a:schemeClr val="bg1"/>
                </a:solidFill>
              </a:rPr>
              <a:t>para terminar y publicar: el prototipo ya funciona</a:t>
            </a:r>
            <a:endParaRPr lang="en-US" sz="1400" dirty="0"/>
          </a:p>
        </p:txBody>
      </p:sp>
      <p:sp>
        <p:nvSpPr>
          <p:cNvPr id="25" name="Shape 18"/>
          <p:cNvSpPr/>
          <p:nvPr/>
        </p:nvSpPr>
        <p:spPr>
          <a:xfrm>
            <a:off x="3374136"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Text 19"/>
          <p:cNvSpPr txBox="1"/>
          <p:nvPr/>
        </p:nvSpPr>
        <p:spPr>
          <a:xfrm>
            <a:off x="3602736"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S/250</a:t>
            </a:r>
            <a:endParaRPr lang="en-US" sz="1400" dirty="0"/>
          </a:p>
          <a:p>
            <a:pPr indent="0" marL="0">
              <a:buNone/>
            </a:pPr>
            <a:r>
              <a:rPr lang="en-US" sz="1300" dirty="0">
                <a:solidFill>
                  <a:schemeClr val="accent2"/>
                </a:solidFill>
              </a:rPr>
              <a:t>al mes: servidor, IA y mantenimiento</a:t>
            </a:r>
            <a:endParaRPr lang="en-US" sz="1400" dirty="0"/>
          </a:p>
        </p:txBody>
      </p:sp>
      <p:sp>
        <p:nvSpPr>
          <p:cNvPr id="27" name="Shape 20"/>
          <p:cNvSpPr/>
          <p:nvPr/>
        </p:nvSpPr>
        <p:spPr>
          <a:xfrm>
            <a:off x="6199632"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Text 21"/>
          <p:cNvSpPr txBox="1"/>
          <p:nvPr/>
        </p:nvSpPr>
        <p:spPr>
          <a:xfrm>
            <a:off x="6428232"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S/0.04</a:t>
            </a:r>
            <a:endParaRPr lang="en-US" sz="1400" dirty="0"/>
          </a:p>
          <a:p>
            <a:pPr indent="0" marL="0">
              <a:buNone/>
            </a:pPr>
            <a:r>
              <a:rPr lang="en-US" sz="1300" dirty="0">
                <a:solidFill>
                  <a:schemeClr val="accent2"/>
                </a:solidFill>
              </a:rPr>
              <a:t>por código único impreso</a:t>
            </a:r>
            <a:endParaRPr lang="en-US" sz="1400" dirty="0"/>
          </a:p>
        </p:txBody>
      </p:sp>
      <p:sp>
        <p:nvSpPr>
          <p:cNvPr id="29" name="Shape 22"/>
          <p:cNvSpPr/>
          <p:nvPr/>
        </p:nvSpPr>
        <p:spPr>
          <a:xfrm>
            <a:off x="9025128"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Text 23"/>
          <p:cNvSpPr txBox="1"/>
          <p:nvPr/>
        </p:nvSpPr>
        <p:spPr>
          <a:xfrm>
            <a:off x="9253728"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S/375</a:t>
            </a:r>
            <a:endParaRPr lang="en-US" sz="1400" dirty="0"/>
          </a:p>
          <a:p>
            <a:pPr indent="0" marL="0">
              <a:buNone/>
            </a:pPr>
            <a:r>
              <a:rPr lang="en-US" sz="1300" dirty="0">
                <a:solidFill>
                  <a:schemeClr val="accent2"/>
                </a:solidFill>
              </a:rPr>
              <a:t>por análisis de hierro (cada 2 meses desde julio)</a:t>
            </a:r>
            <a:endParaRPr lang="en-US" sz="1400" dirty="0"/>
          </a:p>
        </p:txBody>
      </p:sp>
      <p:sp>
        <p:nvSpPr>
          <p:cNvPr id="31" name="Shape 24"/>
          <p:cNvSpPr/>
          <p:nvPr/>
        </p:nvSpPr>
        <p:spPr>
          <a:xfrm>
            <a:off x="548640" y="4846320"/>
            <a:ext cx="6766560" cy="1325880"/>
          </a:xfrm>
          <a:prstGeom prst="roundRect">
            <a:avLst>
              <a:gd name="adj" fmla="val 8276"/>
            </a:avLst>
          </a:prstGeom>
          <a:solidFill>
            <a:schemeClr val="bg2"/>
          </a:solidFill>
          <a:ln w="12700">
            <a:solidFill>
              <a:schemeClr val="bg2"/>
            </a:solidFill>
            <a:prstDash val="solid"/>
          </a:ln>
        </p:spPr>
      </p:sp>
      <p:sp>
        <p:nvSpPr>
          <p:cNvPr id="32" name="Text 25"/>
          <p:cNvSpPr txBox="1"/>
          <p:nvPr/>
        </p:nvSpPr>
        <p:spPr>
          <a:xfrm>
            <a:off x="777240" y="4846320"/>
            <a:ext cx="6400800" cy="1325880"/>
          </a:xfrm>
          <a:prstGeom prst="rect">
            <a:avLst/>
          </a:prstGeom>
          <a:noFill/>
          <a:ln/>
        </p:spPr>
        <p:txBody>
          <a:bodyPr wrap="square" lIns="0" tIns="0" rIns="0" bIns="0" rtlCol="0" anchor="ctr"/>
          <a:lstStyle/>
          <a:p>
            <a:pPr indent="0" marL="0">
              <a:buNone/>
            </a:pPr>
            <a:r>
              <a:rPr lang="en-US" sz="1500" b="1" dirty="0">
                <a:solidFill>
                  <a:schemeClr val="tx2"/>
                </a:solidFill>
              </a:rPr>
              <a:t>Tecnología</a:t>
            </a:r>
            <a:endParaRPr lang="en-US" sz="1400" dirty="0"/>
          </a:p>
          <a:p>
            <a:pPr indent="0" marL="0">
              <a:buNone/>
            </a:pPr>
            <a:r>
              <a:rPr lang="en-US" sz="1400" dirty="0">
                <a:solidFill>
                  <a:schemeClr val="tx1"/>
                </a:solidFill>
              </a:rPr>
              <a:t>App web: se abre con el QR, sin descargar nada · servidor en Google Cloud · plan de loncheras con IA de Gemini · funciona sin internet</a:t>
            </a:r>
            <a:endParaRPr lang="en-US" sz="1400" dirty="0"/>
          </a:p>
        </p:txBody>
      </p:sp>
      <p:sp>
        <p:nvSpPr>
          <p:cNvPr id="33" name="Shape 26"/>
          <p:cNvSpPr/>
          <p:nvPr/>
        </p:nvSpPr>
        <p:spPr>
          <a:xfrm>
            <a:off x="7498080" y="4846320"/>
            <a:ext cx="4142232"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34" name="Text 27"/>
          <p:cNvSpPr txBox="1"/>
          <p:nvPr/>
        </p:nvSpPr>
        <p:spPr>
          <a:xfrm>
            <a:off x="7726680" y="4846320"/>
            <a:ext cx="3749040" cy="1325880"/>
          </a:xfrm>
          <a:prstGeom prst="rect">
            <a:avLst/>
          </a:prstGeom>
          <a:noFill/>
          <a:ln/>
        </p:spPr>
        <p:txBody>
          <a:bodyPr wrap="square" lIns="0" tIns="0" rIns="0" bIns="0" rtlCol="0" anchor="ctr"/>
          <a:lstStyle/>
          <a:p>
            <a:pPr indent="0" marL="0">
              <a:buNone/>
            </a:pPr>
            <a:r>
              <a:rPr lang="en-US" sz="1700" b="1" dirty="0">
                <a:solidFill>
                  <a:schemeClr val="accent3"/>
                </a:solidFill>
              </a:rPr>
              <a:t>30 % de envases escaneados</a:t>
            </a:r>
            <a:endParaRPr lang="en-US" sz="1400" dirty="0"/>
          </a:p>
          <a:p>
            <a:pPr indent="0" marL="0">
              <a:buNone/>
            </a:pPr>
            <a:r>
              <a:rPr lang="en-US" sz="1300" dirty="0">
                <a:solidFill>
                  <a:schemeClr val="bg1"/>
                </a:solidFill>
              </a:rPr>
              <a:t>Meta del año 1. La mitad de la recompra llega desde el aviso de la app.</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Cuesta un poco más que Fika, pero mide su hierro y trae app</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11480">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Hierro medido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App propia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Varios sabores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Delivery</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Formato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Meta,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S/4.48 por brownie</a:t>
            </a:r>
            <a:endParaRPr lang="en-US" sz="1400" dirty="0"/>
          </a:p>
          <a:p>
            <a:pPr indent="0" marL="0">
              <a:buNone/>
            </a:pPr>
            <a:r>
              <a:rPr lang="en-US" sz="1400" dirty="0">
                <a:solidFill>
                  <a:schemeClr val="bg1"/>
                </a:solidFill>
              </a:rPr>
              <a:t>Por WhatsApp; S/4.65 en el stand. 12 % más que Fika, con hierro medido por lote y la app Andi.</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OCTUBRE DE 2026 A DICIEMBRE DE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S/24,544 para que nos prueben, compren y vuelvan</a:t>
            </a:r>
            <a:endParaRPr lang="en-US" sz="3400" dirty="0"/>
          </a:p>
        </p:txBody>
      </p:sp>
      <p:sp>
        <p:nvSpPr>
          <p:cNvPr id="4" name="Shape 2"/>
          <p:cNvSpPr/>
          <p:nvPr/>
        </p:nvSpPr>
        <p:spPr>
          <a:xfrm>
            <a:off x="548640" y="1417320"/>
            <a:ext cx="11091672" cy="868680"/>
          </a:xfrm>
          <a:prstGeom prst="roundRect">
            <a:avLst>
              <a:gd name="adj" fmla="val 12632"/>
            </a:avLst>
          </a:prstGeom>
          <a:solidFill>
            <a:schemeClr val="tx2"/>
          </a:solidFill>
          <a:ln w="12700">
            <a:solidFill>
              <a:schemeClr val="tx2"/>
            </a:solidFill>
            <a:prstDash val="solid"/>
          </a:ln>
        </p:spPr>
      </p:sp>
      <p:sp>
        <p:nvSpPr>
          <p:cNvPr id="5" name="Text 3"/>
          <p:cNvSpPr txBox="1"/>
          <p:nvPr/>
        </p:nvSpPr>
        <p:spPr>
          <a:xfrm>
            <a:off x="777240" y="1417320"/>
            <a:ext cx="3291840" cy="868680"/>
          </a:xfrm>
          <a:prstGeom prst="rect">
            <a:avLst/>
          </a:prstGeom>
          <a:noFill/>
          <a:ln/>
        </p:spPr>
        <p:txBody>
          <a:bodyPr wrap="square" lIns="0" tIns="0" rIns="0" bIns="0" rtlCol="0" anchor="ctr"/>
          <a:lstStyle/>
          <a:p>
            <a:pPr indent="0" marL="0">
              <a:buNone/>
            </a:pPr>
            <a:r>
              <a:rPr lang="en-US" sz="950" b="1" spc="100" kern="0" dirty="0">
                <a:solidFill>
                  <a:schemeClr val="accent3"/>
                </a:solidFill>
              </a:rPr>
              <a:t>MENSAJE CENTRAL</a:t>
            </a:r>
            <a:endParaRPr lang="en-US" sz="1400" dirty="0"/>
          </a:p>
          <a:p>
            <a:pPr indent="0" marL="0">
              <a:buNone/>
            </a:pPr>
            <a:r>
              <a:rPr lang="en-US" sz="1800" b="1" i="1" dirty="0">
                <a:solidFill>
                  <a:schemeClr val="bg1"/>
                </a:solidFill>
              </a:rPr>
              <a:t>"Hierro medido. Sabor a brownie."</a:t>
            </a:r>
            <a:endParaRPr lang="en-US" sz="1400" dirty="0"/>
          </a:p>
        </p:txBody>
      </p:sp>
      <p:sp>
        <p:nvSpPr>
          <p:cNvPr id="6" name="Text 4"/>
          <p:cNvSpPr txBox="1"/>
          <p:nvPr/>
        </p:nvSpPr>
        <p:spPr>
          <a:xfrm>
            <a:off x="4206240" y="1417320"/>
            <a:ext cx="3611880" cy="868680"/>
          </a:xfrm>
          <a:prstGeom prst="rect">
            <a:avLst/>
          </a:prstGeom>
          <a:noFill/>
          <a:ln/>
        </p:spPr>
        <p:txBody>
          <a:bodyPr wrap="square" lIns="0" tIns="0" rIns="0" bIns="0" rtlCol="0" anchor="ctr"/>
          <a:lstStyle/>
          <a:p>
            <a:pPr indent="0" marL="0">
              <a:buNone/>
            </a:pPr>
            <a:r>
              <a:rPr lang="en-US" sz="950" b="1" spc="100" kern="0" dirty="0">
                <a:solidFill>
                  <a:schemeClr val="accent5"/>
                </a:solidFill>
              </a:rPr>
              <a:t>PADRE A · LIMA TOP</a:t>
            </a:r>
            <a:endParaRPr lang="en-US" sz="1400" dirty="0"/>
          </a:p>
          <a:p>
            <a:pPr indent="0" marL="0">
              <a:buNone/>
            </a:pPr>
            <a:r>
              <a:rPr lang="en-US" sz="1300" dirty="0">
                <a:solidFill>
                  <a:schemeClr val="bg1"/>
                </a:solidFill>
              </a:rPr>
              <a:t>Él ve un brownie. Tú ves el hierro medido de su lote.</a:t>
            </a:r>
            <a:endParaRPr lang="en-US" sz="1400" dirty="0"/>
          </a:p>
        </p:txBody>
      </p:sp>
      <p:sp>
        <p:nvSpPr>
          <p:cNvPr id="7" name="Text 5"/>
          <p:cNvSpPr txBox="1"/>
          <p:nvPr/>
        </p:nvSpPr>
        <p:spPr>
          <a:xfrm>
            <a:off x="7936992" y="1417320"/>
            <a:ext cx="3611880" cy="868680"/>
          </a:xfrm>
          <a:prstGeom prst="rect">
            <a:avLst/>
          </a:prstGeom>
          <a:noFill/>
          <a:ln/>
        </p:spPr>
        <p:txBody>
          <a:bodyPr wrap="square" lIns="0" tIns="0" rIns="0" bIns="0" rtlCol="0" anchor="ctr"/>
          <a:lstStyle/>
          <a:p>
            <a:pPr indent="0" marL="0">
              <a:buNone/>
            </a:pPr>
            <a:r>
              <a:rPr lang="en-US" sz="950" b="1" spc="100" kern="0" dirty="0">
                <a:solidFill>
                  <a:schemeClr val="accent5"/>
                </a:solidFill>
              </a:rPr>
              <a:t>PADRE B · LIMA MODERNA</a:t>
            </a:r>
            <a:endParaRPr lang="en-US" sz="1400" dirty="0"/>
          </a:p>
          <a:p>
            <a:pPr indent="0" marL="0">
              <a:buNone/>
            </a:pPr>
            <a:r>
              <a:rPr lang="en-US" sz="1300" dirty="0">
                <a:solidFill>
                  <a:schemeClr val="bg1"/>
                </a:solidFill>
              </a:rPr>
              <a:t>Una mañana menos: la lonchera de la semana, a S/4.16 por brownie.</a:t>
            </a:r>
            <a:endParaRPr lang="en-US" sz="1400" dirty="0"/>
          </a:p>
        </p:txBody>
      </p:sp>
      <p:sp>
        <p:nvSpPr>
          <p:cNvPr id="8" name="Shape 6"/>
          <p:cNvSpPr/>
          <p:nvPr/>
        </p:nvSpPr>
        <p:spPr>
          <a:xfrm>
            <a:off x="548640"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548640" y="2450592"/>
            <a:ext cx="2670048" cy="109728"/>
          </a:xfrm>
          <a:prstGeom prst="rect">
            <a:avLst/>
          </a:prstGeom>
          <a:solidFill>
            <a:schemeClr val="accent2"/>
          </a:solidFill>
          <a:ln w="12700">
            <a:solidFill>
              <a:schemeClr val="accent2"/>
            </a:solidFill>
            <a:prstDash val="solid"/>
          </a:ln>
        </p:spPr>
      </p:sp>
      <p:sp>
        <p:nvSpPr>
          <p:cNvPr id="10" name="Text 8"/>
          <p:cNvSpPr txBox="1"/>
          <p:nvPr/>
        </p:nvSpPr>
        <p:spPr>
          <a:xfrm>
            <a:off x="731520" y="2670048"/>
            <a:ext cx="2395728" cy="256032"/>
          </a:xfrm>
          <a:prstGeom prst="rect">
            <a:avLst/>
          </a:prstGeom>
          <a:noFill/>
          <a:ln/>
        </p:spPr>
        <p:txBody>
          <a:bodyPr wrap="square" lIns="0" tIns="0" rIns="0" bIns="0" rtlCol="0" anchor="t"/>
          <a:lstStyle/>
          <a:p>
            <a:pPr indent="0" marL="0">
              <a:buNone/>
            </a:pPr>
            <a:r>
              <a:rPr lang="en-US" sz="1100" b="1" spc="100" kern="0" dirty="0">
                <a:solidFill>
                  <a:schemeClr val="accent2"/>
                </a:solidFill>
              </a:rPr>
              <a:t>1 · PRELANZAMIENTO</a:t>
            </a:r>
            <a:endParaRPr lang="en-US" sz="1100" dirty="0"/>
          </a:p>
        </p:txBody>
      </p:sp>
      <p:sp>
        <p:nvSpPr>
          <p:cNvPr id="11" name="Text 9"/>
          <p:cNvSpPr txBox="1"/>
          <p:nvPr/>
        </p:nvSpPr>
        <p:spPr>
          <a:xfrm>
            <a:off x="731520"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Oct–dic 2026</a:t>
            </a:r>
            <a:endParaRPr lang="en-US" sz="1100" dirty="0"/>
          </a:p>
        </p:txBody>
      </p:sp>
      <p:sp>
        <p:nvSpPr>
          <p:cNvPr id="12" name="Text 10"/>
          <p:cNvSpPr txBox="1"/>
          <p:nvPr/>
        </p:nvSpPr>
        <p:spPr>
          <a:xfrm>
            <a:off x="731520"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Lista de espera, video, influencers y POP listos</a:t>
            </a:r>
            <a:endParaRPr lang="en-US" sz="1300" dirty="0"/>
          </a:p>
        </p:txBody>
      </p:sp>
      <p:sp>
        <p:nvSpPr>
          <p:cNvPr id="13" name="Text 11"/>
          <p:cNvSpPr txBox="1"/>
          <p:nvPr/>
        </p:nvSpPr>
        <p:spPr>
          <a:xfrm>
            <a:off x="731520"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S/1,758</a:t>
            </a:r>
            <a:endParaRPr lang="en-US" sz="1400" dirty="0"/>
          </a:p>
          <a:p>
            <a:pPr indent="0" marL="0">
              <a:buNone/>
            </a:pPr>
            <a:r>
              <a:rPr lang="en-US" sz="1100" dirty="0">
                <a:solidFill>
                  <a:schemeClr val="tx1"/>
                </a:solidFill>
              </a:rPr>
              <a:t>Meta: 100 contactos en espera</a:t>
            </a:r>
            <a:endParaRPr lang="en-US" sz="1400" dirty="0"/>
          </a:p>
        </p:txBody>
      </p:sp>
      <p:sp>
        <p:nvSpPr>
          <p:cNvPr id="14" name="Shape 12"/>
          <p:cNvSpPr/>
          <p:nvPr/>
        </p:nvSpPr>
        <p:spPr>
          <a:xfrm>
            <a:off x="3355848"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3"/>
          <p:cNvSpPr/>
          <p:nvPr/>
        </p:nvSpPr>
        <p:spPr>
          <a:xfrm>
            <a:off x="3355848" y="2450592"/>
            <a:ext cx="2670048" cy="109728"/>
          </a:xfrm>
          <a:prstGeom prst="rect">
            <a:avLst/>
          </a:prstGeom>
          <a:solidFill>
            <a:schemeClr val="accent1"/>
          </a:solidFill>
          <a:ln w="12700">
            <a:solidFill>
              <a:schemeClr val="accent1"/>
            </a:solidFill>
            <a:prstDash val="solid"/>
          </a:ln>
        </p:spPr>
      </p:sp>
      <p:sp>
        <p:nvSpPr>
          <p:cNvPr id="16" name="Text 14"/>
          <p:cNvSpPr txBox="1"/>
          <p:nvPr/>
        </p:nvSpPr>
        <p:spPr>
          <a:xfrm>
            <a:off x="3538728" y="2670048"/>
            <a:ext cx="2395728"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2 · LANZAMIENTO</a:t>
            </a:r>
            <a:endParaRPr lang="en-US" sz="1100" dirty="0"/>
          </a:p>
        </p:txBody>
      </p:sp>
      <p:sp>
        <p:nvSpPr>
          <p:cNvPr id="17" name="Text 15"/>
          <p:cNvSpPr txBox="1"/>
          <p:nvPr/>
        </p:nvSpPr>
        <p:spPr>
          <a:xfrm>
            <a:off x="3538728"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Ene–feb 2027</a:t>
            </a:r>
            <a:endParaRPr lang="en-US" sz="1100" dirty="0"/>
          </a:p>
        </p:txBody>
      </p:sp>
      <p:sp>
        <p:nvSpPr>
          <p:cNvPr id="18" name="Text 16"/>
          <p:cNvSpPr txBox="1"/>
          <p:nvPr/>
        </p:nvSpPr>
        <p:spPr>
          <a:xfrm>
            <a:off x="3538728"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Primera compra en Jockey y punto 2</a:t>
            </a:r>
            <a:endParaRPr lang="en-US" sz="1300" dirty="0"/>
          </a:p>
        </p:txBody>
      </p:sp>
      <p:sp>
        <p:nvSpPr>
          <p:cNvPr id="19" name="Text 17"/>
          <p:cNvSpPr txBox="1"/>
          <p:nvPr/>
        </p:nvSpPr>
        <p:spPr>
          <a:xfrm>
            <a:off x="3538728"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S/5,796</a:t>
            </a:r>
            <a:endParaRPr lang="en-US" sz="1400" dirty="0"/>
          </a:p>
          <a:p>
            <a:pPr indent="0" marL="0">
              <a:buNone/>
            </a:pPr>
            <a:r>
              <a:rPr lang="en-US" sz="1100" dirty="0">
                <a:solidFill>
                  <a:schemeClr val="tx1"/>
                </a:solidFill>
              </a:rPr>
              <a:t>Meta: 3,700 brownies; 50 contactos en feria</a:t>
            </a:r>
            <a:endParaRPr lang="en-US" sz="1400" dirty="0"/>
          </a:p>
        </p:txBody>
      </p:sp>
      <p:sp>
        <p:nvSpPr>
          <p:cNvPr id="20" name="Shape 18"/>
          <p:cNvSpPr/>
          <p:nvPr/>
        </p:nvSpPr>
        <p:spPr>
          <a:xfrm>
            <a:off x="6163056"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9"/>
          <p:cNvSpPr/>
          <p:nvPr/>
        </p:nvSpPr>
        <p:spPr>
          <a:xfrm>
            <a:off x="6163056" y="2450592"/>
            <a:ext cx="2670048" cy="109728"/>
          </a:xfrm>
          <a:prstGeom prst="rect">
            <a:avLst/>
          </a:prstGeom>
          <a:solidFill>
            <a:schemeClr val="accent4"/>
          </a:solidFill>
          <a:ln w="12700">
            <a:solidFill>
              <a:schemeClr val="accent4"/>
            </a:solidFill>
            <a:prstDash val="solid"/>
          </a:ln>
        </p:spPr>
      </p:sp>
      <p:sp>
        <p:nvSpPr>
          <p:cNvPr id="22" name="Text 20"/>
          <p:cNvSpPr txBox="1"/>
          <p:nvPr/>
        </p:nvSpPr>
        <p:spPr>
          <a:xfrm>
            <a:off x="6345936" y="2670048"/>
            <a:ext cx="2395728" cy="256032"/>
          </a:xfrm>
          <a:prstGeom prst="rect">
            <a:avLst/>
          </a:prstGeom>
          <a:noFill/>
          <a:ln/>
        </p:spPr>
        <p:txBody>
          <a:bodyPr wrap="square" lIns="0" tIns="0" rIns="0" bIns="0" rtlCol="0" anchor="t"/>
          <a:lstStyle/>
          <a:p>
            <a:pPr indent="0" marL="0">
              <a:buNone/>
            </a:pPr>
            <a:r>
              <a:rPr lang="en-US" sz="1100" b="1" spc="100" kern="0" dirty="0">
                <a:solidFill>
                  <a:schemeClr val="accent4"/>
                </a:solidFill>
              </a:rPr>
              <a:t>3 · CRECER</a:t>
            </a:r>
            <a:endParaRPr lang="en-US" sz="1100" dirty="0"/>
          </a:p>
        </p:txBody>
      </p:sp>
      <p:sp>
        <p:nvSpPr>
          <p:cNvPr id="23" name="Text 21"/>
          <p:cNvSpPr txBox="1"/>
          <p:nvPr/>
        </p:nvSpPr>
        <p:spPr>
          <a:xfrm>
            <a:off x="6345936"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Mar–jul 2027</a:t>
            </a:r>
            <a:endParaRPr lang="en-US" sz="1100" dirty="0"/>
          </a:p>
        </p:txBody>
      </p:sp>
      <p:sp>
        <p:nvSpPr>
          <p:cNvPr id="24" name="Text 22"/>
          <p:cNvSpPr txBox="1"/>
          <p:nvPr/>
        </p:nvSpPr>
        <p:spPr>
          <a:xfrm>
            <a:off x="6345936"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Quioscos, embajadoras y fechas clave</a:t>
            </a:r>
            <a:endParaRPr lang="en-US" sz="1300" dirty="0"/>
          </a:p>
        </p:txBody>
      </p:sp>
      <p:sp>
        <p:nvSpPr>
          <p:cNvPr id="25" name="Text 23"/>
          <p:cNvSpPr txBox="1"/>
          <p:nvPr/>
        </p:nvSpPr>
        <p:spPr>
          <a:xfrm>
            <a:off x="6345936"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S/9,770</a:t>
            </a:r>
            <a:endParaRPr lang="en-US" sz="1400" dirty="0"/>
          </a:p>
          <a:p>
            <a:pPr indent="0" marL="0">
              <a:buNone/>
            </a:pPr>
            <a:r>
              <a:rPr lang="en-US" sz="1100" dirty="0">
                <a:solidFill>
                  <a:schemeClr val="tx1"/>
                </a:solidFill>
              </a:rPr>
              <a:t>Meta: 20,320 brownies; 3 colegios</a:t>
            </a:r>
            <a:endParaRPr lang="en-US" sz="1400" dirty="0"/>
          </a:p>
        </p:txBody>
      </p:sp>
      <p:sp>
        <p:nvSpPr>
          <p:cNvPr id="26" name="Shape 24"/>
          <p:cNvSpPr/>
          <p:nvPr/>
        </p:nvSpPr>
        <p:spPr>
          <a:xfrm>
            <a:off x="8970264" y="2450592"/>
            <a:ext cx="2670048"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5"/>
          <p:cNvSpPr/>
          <p:nvPr/>
        </p:nvSpPr>
        <p:spPr>
          <a:xfrm>
            <a:off x="8970264" y="2450592"/>
            <a:ext cx="2670048" cy="109728"/>
          </a:xfrm>
          <a:prstGeom prst="rect">
            <a:avLst/>
          </a:prstGeom>
          <a:solidFill>
            <a:schemeClr val="tx2"/>
          </a:solidFill>
          <a:ln w="12700">
            <a:solidFill>
              <a:schemeClr val="tx2"/>
            </a:solidFill>
            <a:prstDash val="solid"/>
          </a:ln>
        </p:spPr>
      </p:sp>
      <p:sp>
        <p:nvSpPr>
          <p:cNvPr id="28" name="Text 26"/>
          <p:cNvSpPr txBox="1"/>
          <p:nvPr/>
        </p:nvSpPr>
        <p:spPr>
          <a:xfrm>
            <a:off x="9153144" y="2670048"/>
            <a:ext cx="2395728" cy="256032"/>
          </a:xfrm>
          <a:prstGeom prst="rect">
            <a:avLst/>
          </a:prstGeom>
          <a:noFill/>
          <a:ln/>
        </p:spPr>
        <p:txBody>
          <a:bodyPr wrap="square" lIns="0" tIns="0" rIns="0" bIns="0" rtlCol="0" anchor="t"/>
          <a:lstStyle/>
          <a:p>
            <a:pPr indent="0" marL="0">
              <a:buNone/>
            </a:pPr>
            <a:r>
              <a:rPr lang="en-US" sz="1100" b="1" spc="100" kern="0" dirty="0">
                <a:solidFill>
                  <a:schemeClr val="tx2"/>
                </a:solidFill>
              </a:rPr>
              <a:t>4 · EXPANDIR</a:t>
            </a:r>
            <a:endParaRPr lang="en-US" sz="1100" dirty="0"/>
          </a:p>
        </p:txBody>
      </p:sp>
      <p:sp>
        <p:nvSpPr>
          <p:cNvPr id="29" name="Text 27"/>
          <p:cNvSpPr txBox="1"/>
          <p:nvPr/>
        </p:nvSpPr>
        <p:spPr>
          <a:xfrm>
            <a:off x="9153144" y="2926080"/>
            <a:ext cx="2395728" cy="237744"/>
          </a:xfrm>
          <a:prstGeom prst="rect">
            <a:avLst/>
          </a:prstGeom>
          <a:noFill/>
          <a:ln/>
        </p:spPr>
        <p:txBody>
          <a:bodyPr wrap="square" lIns="0" tIns="0" rIns="0" bIns="0" rtlCol="0" anchor="t"/>
          <a:lstStyle/>
          <a:p>
            <a:pPr indent="0" marL="0">
              <a:buNone/>
            </a:pPr>
            <a:r>
              <a:rPr lang="en-US" sz="1100" dirty="0">
                <a:solidFill>
                  <a:schemeClr val="accent2"/>
                </a:solidFill>
              </a:rPr>
              <a:t>Ago–dic 2027</a:t>
            </a:r>
            <a:endParaRPr lang="en-US" sz="1100" dirty="0"/>
          </a:p>
        </p:txBody>
      </p:sp>
      <p:sp>
        <p:nvSpPr>
          <p:cNvPr id="30" name="Text 28"/>
          <p:cNvSpPr txBox="1"/>
          <p:nvPr/>
        </p:nvSpPr>
        <p:spPr>
          <a:xfrm>
            <a:off x="9153144" y="3200400"/>
            <a:ext cx="2395728" cy="566928"/>
          </a:xfrm>
          <a:prstGeom prst="rect">
            <a:avLst/>
          </a:prstGeom>
          <a:noFill/>
          <a:ln/>
        </p:spPr>
        <p:txBody>
          <a:bodyPr wrap="square" lIns="0" tIns="0" rIns="0" bIns="0" rtlCol="0" anchor="t"/>
          <a:lstStyle/>
          <a:p>
            <a:pPr indent="0" marL="0">
              <a:buNone/>
            </a:pPr>
            <a:r>
              <a:rPr lang="en-US" sz="1300" b="1" dirty="0">
                <a:solidFill>
                  <a:schemeClr val="tx2"/>
                </a:solidFill>
              </a:rPr>
              <a:t>Punto 3 (A), 5 colegios y Navidad</a:t>
            </a:r>
            <a:endParaRPr lang="en-US" sz="1300" dirty="0"/>
          </a:p>
        </p:txBody>
      </p:sp>
      <p:sp>
        <p:nvSpPr>
          <p:cNvPr id="31" name="Text 29"/>
          <p:cNvSpPr txBox="1"/>
          <p:nvPr/>
        </p:nvSpPr>
        <p:spPr>
          <a:xfrm>
            <a:off x="9153144" y="3822192"/>
            <a:ext cx="2395728" cy="777240"/>
          </a:xfrm>
          <a:prstGeom prst="rect">
            <a:avLst/>
          </a:prstGeom>
          <a:noFill/>
          <a:ln/>
        </p:spPr>
        <p:txBody>
          <a:bodyPr wrap="square" lIns="0" tIns="0" rIns="0" bIns="0" rtlCol="0" anchor="t"/>
          <a:lstStyle/>
          <a:p>
            <a:pPr indent="0" marL="0">
              <a:buNone/>
            </a:pPr>
            <a:r>
              <a:rPr lang="en-US" sz="2000" b="1" dirty="0">
                <a:solidFill>
                  <a:schemeClr val="accent1"/>
                </a:solidFill>
              </a:rPr>
              <a:t>S/7,220</a:t>
            </a:r>
            <a:endParaRPr lang="en-US" sz="1400" dirty="0"/>
          </a:p>
          <a:p>
            <a:pPr indent="0" marL="0">
              <a:buNone/>
            </a:pPr>
            <a:r>
              <a:rPr lang="en-US" sz="1100" dirty="0">
                <a:solidFill>
                  <a:schemeClr val="tx1"/>
                </a:solidFill>
              </a:rPr>
              <a:t>Meta: 28,311 brownies; 2,300 contactos</a:t>
            </a:r>
            <a:endParaRPr lang="en-US" sz="1400" dirty="0"/>
          </a:p>
        </p:txBody>
      </p:sp>
      <p:sp>
        <p:nvSpPr>
          <p:cNvPr id="32" name="Text 30"/>
          <p:cNvSpPr txBox="1"/>
          <p:nvPr/>
        </p:nvSpPr>
        <p:spPr>
          <a:xfrm>
            <a:off x="548640" y="4818888"/>
            <a:ext cx="5486400" cy="237744"/>
          </a:xfrm>
          <a:prstGeom prst="rect">
            <a:avLst/>
          </a:prstGeom>
          <a:noFill/>
          <a:ln/>
        </p:spPr>
        <p:txBody>
          <a:bodyPr wrap="square" lIns="0" tIns="0" rIns="0" bIns="0" rtlCol="0" anchor="t"/>
          <a:lstStyle/>
          <a:p>
            <a:pPr indent="0" marL="0">
              <a:buNone/>
            </a:pPr>
            <a:r>
              <a:rPr lang="en-US" sz="1050" b="1" spc="100" kern="0" dirty="0">
                <a:solidFill>
                  <a:schemeClr val="accent1"/>
                </a:solidFill>
              </a:rPr>
              <a:t>OBJETIVOS DEL AÑO 2027</a:t>
            </a:r>
            <a:endParaRPr lang="en-US" sz="1050" dirty="0"/>
          </a:p>
        </p:txBody>
      </p:sp>
      <p:sp>
        <p:nvSpPr>
          <p:cNvPr id="33" name="Shape 31"/>
          <p:cNvSpPr/>
          <p:nvPr/>
        </p:nvSpPr>
        <p:spPr>
          <a:xfrm>
            <a:off x="548640" y="5084064"/>
            <a:ext cx="2130552" cy="1207008"/>
          </a:xfrm>
          <a:prstGeom prst="roundRect">
            <a:avLst>
              <a:gd name="adj" fmla="val 7576"/>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34" name="Text 32"/>
          <p:cNvSpPr txBox="1"/>
          <p:nvPr/>
        </p:nvSpPr>
        <p:spPr>
          <a:xfrm>
            <a:off x="685800" y="5084064"/>
            <a:ext cx="1901952" cy="1207008"/>
          </a:xfrm>
          <a:prstGeom prst="rect">
            <a:avLst/>
          </a:prstGeom>
          <a:noFill/>
          <a:ln/>
        </p:spPr>
        <p:txBody>
          <a:bodyPr wrap="square" lIns="0" tIns="0" rIns="0" bIns="0" rtlCol="0" anchor="ctr"/>
          <a:lstStyle/>
          <a:p>
            <a:pPr indent="0" marL="0">
              <a:buNone/>
            </a:pPr>
            <a:r>
              <a:rPr lang="en-US" sz="1100" b="1" dirty="0">
                <a:solidFill>
                  <a:schemeClr val="accent5"/>
                </a:solidFill>
              </a:rPr>
              <a:t>Vender lo que pide el Excel</a:t>
            </a:r>
            <a:endParaRPr lang="en-US" sz="1400" dirty="0"/>
          </a:p>
          <a:p>
            <a:pPr indent="0" marL="0">
              <a:buNone/>
            </a:pPr>
            <a:r>
              <a:rPr lang="en-US" sz="1250" b="1" dirty="0">
                <a:solidFill>
                  <a:schemeClr val="bg1"/>
                </a:solidFill>
              </a:rPr>
              <a:t>52,331 brownies y S/244,728 con IGV</a:t>
            </a:r>
            <a:endParaRPr lang="en-US" sz="1400" dirty="0"/>
          </a:p>
        </p:txBody>
      </p:sp>
      <p:sp>
        <p:nvSpPr>
          <p:cNvPr id="35" name="Shape 33"/>
          <p:cNvSpPr/>
          <p:nvPr/>
        </p:nvSpPr>
        <p:spPr>
          <a:xfrm>
            <a:off x="278892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6" name="Text 34"/>
          <p:cNvSpPr txBox="1"/>
          <p:nvPr/>
        </p:nvSpPr>
        <p:spPr>
          <a:xfrm>
            <a:off x="292608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Recompra por WhatsApp</a:t>
            </a:r>
            <a:endParaRPr lang="en-US" sz="1400" dirty="0"/>
          </a:p>
          <a:p>
            <a:pPr indent="0" marL="0">
              <a:buNone/>
            </a:pPr>
            <a:r>
              <a:rPr lang="en-US" sz="1250" b="1" dirty="0">
                <a:solidFill>
                  <a:schemeClr val="tx2"/>
                </a:solidFill>
              </a:rPr>
              <a:t>35 % de lo físico; base de 2,300 contactos</a:t>
            </a:r>
            <a:endParaRPr lang="en-US" sz="1400" dirty="0"/>
          </a:p>
        </p:txBody>
      </p:sp>
      <p:sp>
        <p:nvSpPr>
          <p:cNvPr id="37" name="Shape 35"/>
          <p:cNvSpPr/>
          <p:nvPr/>
        </p:nvSpPr>
        <p:spPr>
          <a:xfrm>
            <a:off x="502920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Text 36"/>
          <p:cNvSpPr txBox="1"/>
          <p:nvPr/>
        </p:nvSpPr>
        <p:spPr>
          <a:xfrm>
            <a:off x="516636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Uso de la app</a:t>
            </a:r>
            <a:endParaRPr lang="en-US" sz="1400" dirty="0"/>
          </a:p>
          <a:p>
            <a:pPr indent="0" marL="0">
              <a:buNone/>
            </a:pPr>
            <a:r>
              <a:rPr lang="en-US" sz="1250" b="1" dirty="0">
                <a:solidFill>
                  <a:schemeClr val="tx2"/>
                </a:solidFill>
              </a:rPr>
              <a:t>30 % de los envases escaneados</a:t>
            </a:r>
            <a:endParaRPr lang="en-US" sz="1400" dirty="0"/>
          </a:p>
        </p:txBody>
      </p:sp>
      <p:sp>
        <p:nvSpPr>
          <p:cNvPr id="39" name="Shape 37"/>
          <p:cNvSpPr/>
          <p:nvPr/>
        </p:nvSpPr>
        <p:spPr>
          <a:xfrm>
            <a:off x="726948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Text 38"/>
          <p:cNvSpPr txBox="1"/>
          <p:nvPr/>
        </p:nvSpPr>
        <p:spPr>
          <a:xfrm>
            <a:off x="740664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Mamás embajadoras</a:t>
            </a:r>
            <a:endParaRPr lang="en-US" sz="1400" dirty="0"/>
          </a:p>
          <a:p>
            <a:pPr indent="0" marL="0">
              <a:buNone/>
            </a:pPr>
            <a:r>
              <a:rPr lang="en-US" sz="1250" b="1" dirty="0">
                <a:solidFill>
                  <a:schemeClr val="tx2"/>
                </a:solidFill>
              </a:rPr>
              <a:t>230 familias nuevas (20 al mes)</a:t>
            </a:r>
            <a:endParaRPr lang="en-US" sz="1400" dirty="0"/>
          </a:p>
        </p:txBody>
      </p:sp>
      <p:sp>
        <p:nvSpPr>
          <p:cNvPr id="41" name="Shape 39"/>
          <p:cNvSpPr/>
          <p:nvPr/>
        </p:nvSpPr>
        <p:spPr>
          <a:xfrm>
            <a:off x="9509760" y="5084064"/>
            <a:ext cx="2130552" cy="1207008"/>
          </a:xfrm>
          <a:prstGeom prst="roundRect">
            <a:avLst>
              <a:gd name="adj" fmla="val 75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Text 40"/>
          <p:cNvSpPr txBox="1"/>
          <p:nvPr/>
        </p:nvSpPr>
        <p:spPr>
          <a:xfrm>
            <a:off x="9646920" y="5084064"/>
            <a:ext cx="1901952" cy="1207008"/>
          </a:xfrm>
          <a:prstGeom prst="rect">
            <a:avLst/>
          </a:prstGeom>
          <a:noFill/>
          <a:ln/>
        </p:spPr>
        <p:txBody>
          <a:bodyPr wrap="square" lIns="0" tIns="0" rIns="0" bIns="0" rtlCol="0" anchor="ctr"/>
          <a:lstStyle/>
          <a:p>
            <a:pPr indent="0" marL="0">
              <a:buNone/>
            </a:pPr>
            <a:r>
              <a:rPr lang="en-US" sz="1100" b="1" dirty="0">
                <a:solidFill>
                  <a:schemeClr val="accent2"/>
                </a:solidFill>
              </a:rPr>
              <a:t>Colegios y naturistas</a:t>
            </a:r>
            <a:endParaRPr lang="en-US" sz="1400" dirty="0"/>
          </a:p>
          <a:p>
            <a:pPr indent="0" marL="0">
              <a:buNone/>
            </a:pPr>
            <a:r>
              <a:rPr lang="en-US" sz="1250" b="1" dirty="0">
                <a:solidFill>
                  <a:schemeClr val="tx2"/>
                </a:solidFill>
              </a:rPr>
              <a:t>5 colegios (2 A y 3 B) y 8 tiendas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PRESUPUESTO POR MEDIO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Presupuesto de marketing por medio y por mes (S/)</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965960"/>
                <a:gridCol w="1536192"/>
                <a:gridCol w="384048"/>
                <a:gridCol w="502920"/>
                <a:gridCol w="603504"/>
                <a:gridCol w="457200"/>
                <a:gridCol w="457200"/>
                <a:gridCol w="457200"/>
                <a:gridCol w="457200"/>
                <a:gridCol w="457200"/>
                <a:gridCol w="457200"/>
                <a:gridCol w="457200"/>
                <a:gridCol w="457200"/>
                <a:gridCol w="457200"/>
                <a:gridCol w="457200"/>
                <a:gridCol w="457200"/>
                <a:gridCol w="457200"/>
                <a:gridCol w="612648"/>
              </a:tblGrid>
              <a:tr h="214884">
                <a:tc>
                  <a:txBody>
                    <a:bodyPr/>
                    <a:lstStyle/>
                    <a:p>
                      <a:pPr algn="l" indent="0" marL="0">
                        <a:buNone/>
                      </a:pPr>
                      <a:r>
                        <a:rPr lang="en-US" sz="800" b="1" dirty="0">
                          <a:solidFill>
                            <a:schemeClr val="bg1"/>
                          </a:solidFill>
                        </a:rPr>
                        <a:t>Medio</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l" indent="0" marL="0">
                        <a:buNone/>
                      </a:pPr>
                      <a:r>
                        <a:rPr lang="en-US" sz="800" b="1" dirty="0">
                          <a:solidFill>
                            <a:schemeClr val="bg1"/>
                          </a:solidFill>
                        </a:rPr>
                        <a:t>Dónde o con quién</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Meses</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Por mes</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Prelanz. 2026</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Ene</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Feb</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Mar</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Abr</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May</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Jun</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Jul</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Ago</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Set</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Oct</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Nov</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Dic</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800" b="1" dirty="0">
                          <a:solidFill>
                            <a:schemeClr val="bg1"/>
                          </a:solidFill>
                        </a:rPr>
                        <a:t>Total</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chemeClr val="tx2"/>
                    </a:solidFill>
                  </a:tcPr>
                </a:tc>
              </a:tr>
              <a:tr h="214884">
                <a:tc>
                  <a:txBody>
                    <a:bodyPr/>
                    <a:lstStyle/>
                    <a:p>
                      <a:pPr indent="0" marL="0">
                        <a:buNone/>
                      </a:pPr>
                      <a:r>
                        <a:rPr lang="en-US" sz="800" b="1" dirty="0">
                          <a:solidFill>
                            <a:schemeClr val="tx2"/>
                          </a:solidFill>
                        </a:rPr>
                        <a:t>PUBLICIDAD</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900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500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50" b="1" dirty="0">
                          <a:solidFill>
                            <a:schemeClr val="accent1"/>
                          </a:solidFill>
                        </a:rPr>
                        <a:t>5,950</a:t>
                      </a:r>
                      <a:endParaRPr lang="en-US" sz="8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r>
              <a:tr h="214884">
                <a:tc>
                  <a:txBody>
                    <a:bodyPr/>
                    <a:lstStyle/>
                    <a:p>
                      <a:pPr indent="0" marL="0">
                        <a:buNone/>
                      </a:pPr>
                      <a:r>
                        <a:rPr lang="en-US" sz="750" dirty="0">
                          <a:solidFill>
                            <a:schemeClr val="tx1"/>
                          </a:solidFill>
                        </a:rPr>
                        <a:t>Pauta en redes sociales</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Facebook e Instagram (Meta)</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421</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500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5,050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Pauta de expectativa</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Instagram y TikTok</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600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600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600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Video de lanzamiento con niños</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Redes y stand</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300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chemeClr val="tx2"/>
                          </a:solidFill>
                        </a:rPr>
                        <a:t>VENTAS PERSONALES</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90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360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630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360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270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360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360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360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270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180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50" b="1" dirty="0">
                          <a:solidFill>
                            <a:schemeClr val="accent1"/>
                          </a:solidFill>
                        </a:rPr>
                        <a:t>4,140</a:t>
                      </a:r>
                      <a:endParaRPr lang="en-US" sz="8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r>
              <a:tr h="214884">
                <a:tc>
                  <a:txBody>
                    <a:bodyPr/>
                    <a:lstStyle/>
                    <a:p>
                      <a:pPr indent="0" marL="0">
                        <a:buNone/>
                      </a:pPr>
                      <a:r>
                        <a:rPr lang="en-US" sz="750" dirty="0">
                          <a:solidFill>
                            <a:schemeClr val="tx1"/>
                          </a:solidFill>
                        </a:rPr>
                        <a:t>Vendedor(a) en ferias pagadas</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Feria escolar y Día del Niño</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270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270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270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540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Vendedor(a) en eventos sin costo</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Kermeses y cumpleaños</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90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360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360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360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270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360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360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360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270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3,600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chemeClr val="tx2"/>
                          </a:solidFill>
                        </a:rPr>
                        <a:t>PROMOCIONES</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1,896</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500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600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550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500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500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50" b="1" dirty="0">
                          <a:solidFill>
                            <a:schemeClr val="accent1"/>
                          </a:solidFill>
                        </a:rPr>
                        <a:t>7,596</a:t>
                      </a:r>
                      <a:endParaRPr lang="en-US" sz="8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r>
              <a:tr h="214884">
                <a:tc>
                  <a:txBody>
                    <a:bodyPr/>
                    <a:lstStyle/>
                    <a:p>
                      <a:pPr indent="0" marL="0">
                        <a:buNone/>
                      </a:pPr>
                      <a:r>
                        <a:rPr lang="en-US" sz="750" dirty="0">
                          <a:solidFill>
                            <a:schemeClr val="tx1"/>
                          </a:solidFill>
                        </a:rPr>
                        <a:t>Muestras de degustación (600)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Jockey, evento y pediatras</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1,146</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1,146</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1,146</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Degustaciones extra</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Stands A y B</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146</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1,750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Material de stand y POP</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Stands, ferias y kermeses</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13</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177</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500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2,300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Mamás embajadoras (premio al padre)</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Chats de colegio</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2,400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chemeClr val="tx2"/>
                          </a:solidFill>
                        </a:rPr>
                        <a:t>RELACIONES PÚBLICAS</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458</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70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1,940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2,080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350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210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210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00" b="1" dirty="0">
                          <a:solidFill>
                            <a:schemeClr val="tx2"/>
                          </a:solidFill>
                        </a:rPr>
                        <a:t>140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c>
                  <a:txBody>
                    <a:bodyPr/>
                    <a:lstStyle/>
                    <a:p>
                      <a:pPr algn="r" indent="0" marL="0">
                        <a:buNone/>
                      </a:pPr>
                      <a:r>
                        <a:rPr lang="en-US" sz="850" b="1" dirty="0">
                          <a:solidFill>
                            <a:schemeClr val="accent1"/>
                          </a:solidFill>
                        </a:rPr>
                        <a:t>6,858</a:t>
                      </a:r>
                      <a:endParaRPr lang="en-US" sz="8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EAD3BC"/>
                    </a:solidFill>
                  </a:tcPr>
                </a:tc>
              </a:tr>
              <a:tr h="214884">
                <a:tc>
                  <a:txBody>
                    <a:bodyPr/>
                    <a:lstStyle/>
                    <a:p>
                      <a:pPr indent="0" marL="0">
                        <a:buNone/>
                      </a:pPr>
                      <a:r>
                        <a:rPr lang="en-US" sz="750" dirty="0">
                          <a:solidFill>
                            <a:schemeClr val="tx1"/>
                          </a:solidFill>
                        </a:rPr>
                        <a:t>Influencers (40 packs)</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Mamás de Instagram A y B</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458</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458</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458</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Ferias pagadas (stand)</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Campaña escolar y Día del Niño</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1,800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1,800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1,800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3,600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750" dirty="0">
                          <a:solidFill>
                            <a:schemeClr val="tx1"/>
                          </a:solidFill>
                        </a:rPr>
                        <a:t>Aporte a eventos sin costo</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700" dirty="0">
                          <a:solidFill>
                            <a:schemeClr val="accent2"/>
                          </a:solidFill>
                        </a:rPr>
                        <a:t>Kermeses y ferias saludables</a:t>
                      </a:r>
                      <a:endParaRPr lang="en-US" sz="7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750" dirty="0">
                          <a:solidFill>
                            <a:schemeClr val="tx1"/>
                          </a:solidFill>
                        </a:rPr>
                        <a:t>12</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233</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rgbClr val="B9A089"/>
                          </a:solidFill>
                        </a:rPr>
                        <a:t>–</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70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140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350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210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280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210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dirty="0">
                          <a:solidFill>
                            <a:schemeClr val="tx1"/>
                          </a:solidFill>
                        </a:rPr>
                        <a:t>140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750" b="1" dirty="0">
                          <a:solidFill>
                            <a:schemeClr val="tx1"/>
                          </a:solidFill>
                        </a:rPr>
                        <a:t>2,800</a:t>
                      </a:r>
                      <a:endParaRPr lang="en-US" sz="7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FFFFFF"/>
                    </a:solidFill>
                  </a:tcPr>
                </a:tc>
              </a:tr>
              <a:tr h="214884">
                <a:tc>
                  <a:txBody>
                    <a:bodyPr/>
                    <a:lstStyle/>
                    <a:p>
                      <a:pPr indent="0" marL="0">
                        <a:buNone/>
                      </a:pPr>
                      <a:r>
                        <a:rPr lang="en-US" sz="850" b="1" dirty="0">
                          <a:solidFill>
                            <a:schemeClr val="bg1"/>
                          </a:solidFill>
                        </a:rPr>
                        <a:t>PRESUPUESTO TOTAL</a:t>
                      </a:r>
                      <a:endParaRPr lang="en-US" sz="85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indent="0" marL="0">
                        <a:buNone/>
                      </a:pPr>
                      <a:endParaRPr lang="en-US" sz="12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1,758</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2,506</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3,290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1,540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3,610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1,700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1,540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1,380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1,540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1,540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1,540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1,380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800" b="1" dirty="0">
                          <a:solidFill>
                            <a:schemeClr val="bg1"/>
                          </a:solidFill>
                        </a:rPr>
                        <a:t>1,220</a:t>
                      </a:r>
                      <a:endParaRPr lang="en-US" sz="8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c>
                  <a:txBody>
                    <a:bodyPr/>
                    <a:lstStyle/>
                    <a:p>
                      <a:pPr algn="r" indent="0" marL="0">
                        <a:buNone/>
                      </a:pPr>
                      <a:r>
                        <a:rPr lang="en-US" sz="900" b="1" dirty="0">
                          <a:solidFill>
                            <a:schemeClr val="bg1"/>
                          </a:solidFill>
                        </a:rPr>
                        <a:t>24,544</a:t>
                      </a:r>
                      <a:endParaRPr lang="en-US" sz="900" dirty="0"/>
                    </a:p>
                  </a:txBody>
                  <a:tcPr marL="36576" marR="36576" marT="0" marB="0" anchor="ctr">
                    <a:lnL w="6350" cap="flat" cmpd="sng" algn="ctr">
                      <a:solidFill>
                        <a:srgbClr val="E8D8C4"/>
                      </a:solidFill>
                      <a:prstDash val="solid"/>
                      <a:round/>
                      <a:headEnd type="none" w="med" len="med"/>
                      <a:tailEnd type="none" w="med" len="med"/>
                    </a:lnL>
                    <a:lnR w="6350" cap="flat" cmpd="sng" algn="ctr">
                      <a:solidFill>
                        <a:srgbClr val="E8D8C4"/>
                      </a:solidFill>
                      <a:prstDash val="solid"/>
                      <a:round/>
                      <a:headEnd type="none" w="med" len="med"/>
                      <a:tailEnd type="none" w="med" len="med"/>
                    </a:lnR>
                    <a:lnT w="6350" cap="flat" cmpd="sng" algn="ctr">
                      <a:solidFill>
                        <a:srgbClr val="E8D8C4"/>
                      </a:solidFill>
                      <a:prstDash val="solid"/>
                      <a:round/>
                      <a:headEnd type="none" w="med" len="med"/>
                      <a:tailEnd type="none" w="med" len="med"/>
                    </a:lnT>
                    <a:lnB w="6350" cap="flat" cmpd="sng" algn="ctr">
                      <a:solidFill>
                        <a:srgbClr val="E8D8C4"/>
                      </a:solidFill>
                      <a:prstDash val="solid"/>
                      <a:round/>
                      <a:headEnd type="none" w="med" len="med"/>
                      <a:tailEnd type="none" w="med" len="med"/>
                    </a:lnB>
                    <a:solidFill>
                      <a:srgbClr val="BA4036"/>
                    </a:solidFill>
                  </a:tcPr>
                </a:tc>
              </a:tr>
            </a:tbl>
          </a:graphicData>
        </a:graphic>
      </p:graphicFrame>
      <p:sp>
        <p:nvSpPr>
          <p:cNvPr id="5" name="Shape 2"/>
          <p:cNvSpPr/>
          <p:nvPr/>
        </p:nvSpPr>
        <p:spPr>
          <a:xfrm>
            <a:off x="548640" y="5596128"/>
            <a:ext cx="11091672" cy="658368"/>
          </a:xfrm>
          <a:prstGeom prst="roundRect">
            <a:avLst>
              <a:gd name="adj" fmla="val 13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777240" y="5596128"/>
            <a:ext cx="10698480" cy="658368"/>
          </a:xfrm>
          <a:prstGeom prst="rect">
            <a:avLst/>
          </a:prstGeom>
          <a:noFill/>
          <a:ln/>
        </p:spPr>
        <p:txBody>
          <a:bodyPr wrap="square" lIns="0" tIns="0" rIns="0" bIns="0" rtlCol="0" anchor="ctr"/>
          <a:lstStyle/>
          <a:p>
            <a:pPr indent="0" marL="0">
              <a:buNone/>
            </a:pPr>
            <a:r>
              <a:rPr lang="en-US" sz="1150" b="1" dirty="0">
                <a:solidFill>
                  <a:schemeClr val="accent3"/>
                </a:solidFill>
              </a:rPr>
              <a:t>De dónde sale:  </a:t>
            </a:r>
            <a:pPr indent="0" marL="0">
              <a:buNone/>
            </a:pPr>
            <a:r>
              <a:rPr lang="en-US" sz="1150" dirty="0">
                <a:solidFill>
                  <a:schemeClr val="bg1"/>
                </a:solidFill>
              </a:rPr>
              <a:t>marketing fijo S/900 al mes (pauta S/700 + embajadoras S/200) = S/10,800  ·  lanzamiento S/3,204 (en la inversión)  ·  ferias pagadas S/4,140  ·  eventos sin costo S/6,400  =  S/24,544</a:t>
            </a:r>
            <a:endParaRPr lang="en-US" sz="11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PRESUPUESTO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Cómo se reparte el presupuesto de marketing</a:t>
            </a:r>
            <a:endParaRPr lang="en-US" sz="3400" dirty="0"/>
          </a:p>
        </p:txBody>
      </p:sp>
      <p:graphicFrame>
        <p:nvGraphicFramePr>
          <p:cNvPr id="4" name="Chart 0" descr=""/>
          <p:cNvGraphicFramePr/>
          <p:nvPr/>
        </p:nvGraphicFramePr>
        <p:xfrm>
          <a:off x="365760" y="1371600"/>
          <a:ext cx="448056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371600"/>
          <a:ext cx="6858000" cy="3520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029200"/>
            <a:ext cx="2670048"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49808" y="5029200"/>
            <a:ext cx="2350008" cy="1234440"/>
          </a:xfrm>
          <a:prstGeom prst="rect">
            <a:avLst/>
          </a:prstGeom>
          <a:noFill/>
          <a:ln/>
        </p:spPr>
        <p:txBody>
          <a:bodyPr wrap="square" lIns="0" tIns="0" rIns="0" bIns="0" rtlCol="0" anchor="ctr"/>
          <a:lstStyle/>
          <a:p>
            <a:pPr indent="0" marL="0">
              <a:buNone/>
            </a:pPr>
            <a:r>
              <a:rPr lang="en-US" sz="2200" b="1" dirty="0">
                <a:solidFill>
                  <a:schemeClr val="bg1"/>
                </a:solidFill>
              </a:rPr>
              <a:t>S/900 al mes</a:t>
            </a:r>
            <a:endParaRPr lang="en-US" sz="1400" dirty="0"/>
          </a:p>
          <a:p>
            <a:pPr indent="0" marL="0">
              <a:buNone/>
            </a:pPr>
            <a:r>
              <a:rPr lang="en-US" sz="1150" dirty="0">
                <a:solidFill>
                  <a:schemeClr val="bg1"/>
                </a:solidFill>
              </a:rPr>
              <a:t>marketing fijo: pauta S/700 + embajadoras S/200</a:t>
            </a:r>
            <a:endParaRPr lang="en-US" sz="1400" dirty="0"/>
          </a:p>
        </p:txBody>
      </p:sp>
      <p:sp>
        <p:nvSpPr>
          <p:cNvPr id="8" name="Shape 4"/>
          <p:cNvSpPr/>
          <p:nvPr/>
        </p:nvSpPr>
        <p:spPr>
          <a:xfrm>
            <a:off x="3355848" y="5029200"/>
            <a:ext cx="2670048"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3557016" y="5029200"/>
            <a:ext cx="2350008" cy="1234440"/>
          </a:xfrm>
          <a:prstGeom prst="rect">
            <a:avLst/>
          </a:prstGeom>
          <a:noFill/>
          <a:ln/>
        </p:spPr>
        <p:txBody>
          <a:bodyPr wrap="square" lIns="0" tIns="0" rIns="0" bIns="0" rtlCol="0" anchor="ctr"/>
          <a:lstStyle/>
          <a:p>
            <a:pPr indent="0" marL="0">
              <a:buNone/>
            </a:pPr>
            <a:r>
              <a:rPr lang="en-US" sz="2200" b="1" dirty="0">
                <a:solidFill>
                  <a:schemeClr val="accent1"/>
                </a:solidFill>
              </a:rPr>
              <a:t>S/3,204</a:t>
            </a:r>
            <a:endParaRPr lang="en-US" sz="1400" dirty="0"/>
          </a:p>
          <a:p>
            <a:pPr indent="0" marL="0">
              <a:buNone/>
            </a:pPr>
            <a:r>
              <a:rPr lang="en-US" sz="1150" dirty="0">
                <a:solidFill>
                  <a:schemeClr val="accent2"/>
                </a:solidFill>
              </a:rPr>
              <a:t>lanzamiento, ya pagado en la inversión inicial</a:t>
            </a:r>
            <a:endParaRPr lang="en-US" sz="1400" dirty="0"/>
          </a:p>
        </p:txBody>
      </p:sp>
      <p:sp>
        <p:nvSpPr>
          <p:cNvPr id="10" name="Shape 6"/>
          <p:cNvSpPr/>
          <p:nvPr/>
        </p:nvSpPr>
        <p:spPr>
          <a:xfrm>
            <a:off x="6163056" y="5029200"/>
            <a:ext cx="2670048"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6364224" y="5029200"/>
            <a:ext cx="2350008" cy="1234440"/>
          </a:xfrm>
          <a:prstGeom prst="rect">
            <a:avLst/>
          </a:prstGeom>
          <a:noFill/>
          <a:ln/>
        </p:spPr>
        <p:txBody>
          <a:bodyPr wrap="square" lIns="0" tIns="0" rIns="0" bIns="0" rtlCol="0" anchor="ctr"/>
          <a:lstStyle/>
          <a:p>
            <a:pPr indent="0" marL="0">
              <a:buNone/>
            </a:pPr>
            <a:r>
              <a:rPr lang="en-US" sz="2200" b="1" dirty="0">
                <a:solidFill>
                  <a:schemeClr val="accent1"/>
                </a:solidFill>
              </a:rPr>
              <a:t>S/4,140</a:t>
            </a:r>
            <a:endParaRPr lang="en-US" sz="1400" dirty="0"/>
          </a:p>
          <a:p>
            <a:pPr indent="0" marL="0">
              <a:buNone/>
            </a:pPr>
            <a:r>
              <a:rPr lang="en-US" sz="1150" dirty="0">
                <a:solidFill>
                  <a:schemeClr val="accent2"/>
                </a:solidFill>
              </a:rPr>
              <a:t>2 ferias pagadas: febrero y abril</a:t>
            </a:r>
            <a:endParaRPr lang="en-US" sz="1400" dirty="0"/>
          </a:p>
        </p:txBody>
      </p:sp>
      <p:sp>
        <p:nvSpPr>
          <p:cNvPr id="12" name="Shape 8"/>
          <p:cNvSpPr/>
          <p:nvPr/>
        </p:nvSpPr>
        <p:spPr>
          <a:xfrm>
            <a:off x="8970264" y="5029200"/>
            <a:ext cx="2670048"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9"/>
          <p:cNvSpPr txBox="1"/>
          <p:nvPr/>
        </p:nvSpPr>
        <p:spPr>
          <a:xfrm>
            <a:off x="9171432" y="5029200"/>
            <a:ext cx="2350008" cy="1234440"/>
          </a:xfrm>
          <a:prstGeom prst="rect">
            <a:avLst/>
          </a:prstGeom>
          <a:noFill/>
          <a:ln/>
        </p:spPr>
        <p:txBody>
          <a:bodyPr wrap="square" lIns="0" tIns="0" rIns="0" bIns="0" rtlCol="0" anchor="ctr"/>
          <a:lstStyle/>
          <a:p>
            <a:pPr indent="0" marL="0">
              <a:buNone/>
            </a:pPr>
            <a:r>
              <a:rPr lang="en-US" sz="2200" b="1" dirty="0">
                <a:solidFill>
                  <a:schemeClr val="accent1"/>
                </a:solidFill>
              </a:rPr>
              <a:t>S/6,400</a:t>
            </a:r>
            <a:endParaRPr lang="en-US" sz="1400" dirty="0"/>
          </a:p>
          <a:p>
            <a:pPr indent="0" marL="0">
              <a:buNone/>
            </a:pPr>
            <a:r>
              <a:rPr lang="en-US" sz="1150" dirty="0">
                <a:solidFill>
                  <a:schemeClr val="accent2"/>
                </a:solidFill>
              </a:rPr>
              <a:t>40 eventos sin costo: vendedor(a) y aporte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PLAN DE MARKETING · CRONOGRAMA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Qué hacemos cada mes y qué meta buscamos</a:t>
            </a:r>
            <a:endParaRPr lang="en-US" sz="3400" dirty="0"/>
          </a:p>
        </p:txBody>
      </p:sp>
      <p:sp>
        <p:nvSpPr>
          <p:cNvPr id="4" name="Shape 2"/>
          <p:cNvSpPr/>
          <p:nvPr/>
        </p:nvSpPr>
        <p:spPr>
          <a:xfrm>
            <a:off x="3767328" y="1353312"/>
            <a:ext cx="1541678" cy="256032"/>
          </a:xfrm>
          <a:prstGeom prst="rect">
            <a:avLst/>
          </a:prstGeom>
          <a:solidFill>
            <a:schemeClr val="accent2"/>
          </a:solidFill>
          <a:ln w="12700">
            <a:solidFill>
              <a:schemeClr val="accent2"/>
            </a:solidFill>
            <a:prstDash val="solid"/>
          </a:ln>
        </p:spPr>
      </p:sp>
      <p:sp>
        <p:nvSpPr>
          <p:cNvPr id="5" name="Text 3"/>
          <p:cNvSpPr txBox="1"/>
          <p:nvPr/>
        </p:nvSpPr>
        <p:spPr>
          <a:xfrm>
            <a:off x="3749040" y="1353312"/>
            <a:ext cx="157825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PRELANZAMIENTO 2026</a:t>
            </a:r>
            <a:endParaRPr lang="en-US" sz="900" dirty="0"/>
          </a:p>
        </p:txBody>
      </p:sp>
      <p:sp>
        <p:nvSpPr>
          <p:cNvPr id="6" name="Shape 4"/>
          <p:cNvSpPr/>
          <p:nvPr/>
        </p:nvSpPr>
        <p:spPr>
          <a:xfrm>
            <a:off x="5345582" y="1353312"/>
            <a:ext cx="1015594" cy="256032"/>
          </a:xfrm>
          <a:prstGeom prst="rect">
            <a:avLst/>
          </a:prstGeom>
          <a:solidFill>
            <a:schemeClr val="accent1"/>
          </a:solidFill>
          <a:ln w="12700">
            <a:solidFill>
              <a:schemeClr val="accent1"/>
            </a:solidFill>
            <a:prstDash val="solid"/>
          </a:ln>
        </p:spPr>
      </p:sp>
      <p:sp>
        <p:nvSpPr>
          <p:cNvPr id="7" name="Text 5"/>
          <p:cNvSpPr txBox="1"/>
          <p:nvPr/>
        </p:nvSpPr>
        <p:spPr>
          <a:xfrm>
            <a:off x="5327294" y="1353312"/>
            <a:ext cx="1052170"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LANZAMIENTO</a:t>
            </a:r>
            <a:endParaRPr lang="en-US" sz="900" dirty="0"/>
          </a:p>
        </p:txBody>
      </p:sp>
      <p:sp>
        <p:nvSpPr>
          <p:cNvPr id="8" name="Shape 6"/>
          <p:cNvSpPr/>
          <p:nvPr/>
        </p:nvSpPr>
        <p:spPr>
          <a:xfrm>
            <a:off x="6397752" y="1353312"/>
            <a:ext cx="2593848" cy="256032"/>
          </a:xfrm>
          <a:prstGeom prst="rect">
            <a:avLst/>
          </a:prstGeom>
          <a:solidFill>
            <a:schemeClr val="accent4"/>
          </a:solidFill>
          <a:ln w="12700">
            <a:solidFill>
              <a:schemeClr val="accent4"/>
            </a:solidFill>
            <a:prstDash val="solid"/>
          </a:ln>
        </p:spPr>
      </p:sp>
      <p:sp>
        <p:nvSpPr>
          <p:cNvPr id="9" name="Text 7"/>
          <p:cNvSpPr txBox="1"/>
          <p:nvPr/>
        </p:nvSpPr>
        <p:spPr>
          <a:xfrm>
            <a:off x="6379464" y="1353312"/>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CRECER</a:t>
            </a:r>
            <a:endParaRPr lang="en-US" sz="900" dirty="0"/>
          </a:p>
        </p:txBody>
      </p:sp>
      <p:sp>
        <p:nvSpPr>
          <p:cNvPr id="10" name="Shape 8"/>
          <p:cNvSpPr/>
          <p:nvPr/>
        </p:nvSpPr>
        <p:spPr>
          <a:xfrm>
            <a:off x="9028176" y="1353312"/>
            <a:ext cx="2593848" cy="256032"/>
          </a:xfrm>
          <a:prstGeom prst="rect">
            <a:avLst/>
          </a:prstGeom>
          <a:solidFill>
            <a:schemeClr val="tx2"/>
          </a:solidFill>
          <a:ln w="12700">
            <a:solidFill>
              <a:schemeClr val="tx2"/>
            </a:solidFill>
            <a:prstDash val="solid"/>
          </a:ln>
        </p:spPr>
      </p:sp>
      <p:sp>
        <p:nvSpPr>
          <p:cNvPr id="11" name="Text 9"/>
          <p:cNvSpPr txBox="1"/>
          <p:nvPr/>
        </p:nvSpPr>
        <p:spPr>
          <a:xfrm>
            <a:off x="9009888" y="1353312"/>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EXPANDIR</a:t>
            </a:r>
            <a:endParaRPr lang="en-US" sz="900" dirty="0"/>
          </a:p>
        </p:txBody>
      </p:sp>
      <p:sp>
        <p:nvSpPr>
          <p:cNvPr id="12" name="Text 10"/>
          <p:cNvSpPr txBox="1"/>
          <p:nvPr/>
        </p:nvSpPr>
        <p:spPr>
          <a:xfrm>
            <a:off x="3749040" y="1636776"/>
            <a:ext cx="526085" cy="201168"/>
          </a:xfrm>
          <a:prstGeom prst="rect">
            <a:avLst/>
          </a:prstGeom>
          <a:noFill/>
          <a:ln/>
        </p:spPr>
        <p:txBody>
          <a:bodyPr wrap="square" lIns="0" tIns="0" rIns="0" bIns="0" rtlCol="0" anchor="t"/>
          <a:lstStyle/>
          <a:p>
            <a:pPr algn="ctr" indent="0" marL="0">
              <a:buNone/>
            </a:pPr>
            <a:r>
              <a:rPr lang="en-US" sz="950" b="1" dirty="0">
                <a:solidFill>
                  <a:schemeClr val="accent2"/>
                </a:solidFill>
              </a:rPr>
              <a:t>Oct</a:t>
            </a:r>
            <a:endParaRPr lang="en-US" sz="950" dirty="0"/>
          </a:p>
        </p:txBody>
      </p:sp>
      <p:sp>
        <p:nvSpPr>
          <p:cNvPr id="13" name="Text 11"/>
          <p:cNvSpPr txBox="1"/>
          <p:nvPr/>
        </p:nvSpPr>
        <p:spPr>
          <a:xfrm>
            <a:off x="4275125" y="1636776"/>
            <a:ext cx="526085" cy="201168"/>
          </a:xfrm>
          <a:prstGeom prst="rect">
            <a:avLst/>
          </a:prstGeom>
          <a:noFill/>
          <a:ln/>
        </p:spPr>
        <p:txBody>
          <a:bodyPr wrap="square" lIns="0" tIns="0" rIns="0" bIns="0" rtlCol="0" anchor="t"/>
          <a:lstStyle/>
          <a:p>
            <a:pPr algn="ctr" indent="0" marL="0">
              <a:buNone/>
            </a:pPr>
            <a:r>
              <a:rPr lang="en-US" sz="950" b="1" dirty="0">
                <a:solidFill>
                  <a:schemeClr val="accent2"/>
                </a:solidFill>
              </a:rPr>
              <a:t>Nov</a:t>
            </a:r>
            <a:endParaRPr lang="en-US" sz="950" dirty="0"/>
          </a:p>
        </p:txBody>
      </p:sp>
      <p:sp>
        <p:nvSpPr>
          <p:cNvPr id="14" name="Text 12"/>
          <p:cNvSpPr txBox="1"/>
          <p:nvPr/>
        </p:nvSpPr>
        <p:spPr>
          <a:xfrm>
            <a:off x="4801210" y="1636776"/>
            <a:ext cx="526085" cy="201168"/>
          </a:xfrm>
          <a:prstGeom prst="rect">
            <a:avLst/>
          </a:prstGeom>
          <a:noFill/>
          <a:ln/>
        </p:spPr>
        <p:txBody>
          <a:bodyPr wrap="square" lIns="0" tIns="0" rIns="0" bIns="0" rtlCol="0" anchor="t"/>
          <a:lstStyle/>
          <a:p>
            <a:pPr algn="ctr" indent="0" marL="0">
              <a:buNone/>
            </a:pPr>
            <a:r>
              <a:rPr lang="en-US" sz="950" b="1" dirty="0">
                <a:solidFill>
                  <a:schemeClr val="accent2"/>
                </a:solidFill>
              </a:rPr>
              <a:t>Dic</a:t>
            </a:r>
            <a:endParaRPr lang="en-US" sz="950" dirty="0"/>
          </a:p>
        </p:txBody>
      </p:sp>
      <p:sp>
        <p:nvSpPr>
          <p:cNvPr id="15" name="Text 13"/>
          <p:cNvSpPr txBox="1"/>
          <p:nvPr/>
        </p:nvSpPr>
        <p:spPr>
          <a:xfrm>
            <a:off x="5327294"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Ene</a:t>
            </a:r>
            <a:endParaRPr lang="en-US" sz="950" dirty="0"/>
          </a:p>
        </p:txBody>
      </p:sp>
      <p:sp>
        <p:nvSpPr>
          <p:cNvPr id="16" name="Text 14"/>
          <p:cNvSpPr txBox="1"/>
          <p:nvPr/>
        </p:nvSpPr>
        <p:spPr>
          <a:xfrm>
            <a:off x="5853379"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Feb</a:t>
            </a:r>
            <a:endParaRPr lang="en-US" sz="950" dirty="0"/>
          </a:p>
        </p:txBody>
      </p:sp>
      <p:sp>
        <p:nvSpPr>
          <p:cNvPr id="17" name="Text 15"/>
          <p:cNvSpPr txBox="1"/>
          <p:nvPr/>
        </p:nvSpPr>
        <p:spPr>
          <a:xfrm>
            <a:off x="6379464"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Mar</a:t>
            </a:r>
            <a:endParaRPr lang="en-US" sz="950" dirty="0"/>
          </a:p>
        </p:txBody>
      </p:sp>
      <p:sp>
        <p:nvSpPr>
          <p:cNvPr id="18" name="Text 16"/>
          <p:cNvSpPr txBox="1"/>
          <p:nvPr/>
        </p:nvSpPr>
        <p:spPr>
          <a:xfrm>
            <a:off x="6905549"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Abr</a:t>
            </a:r>
            <a:endParaRPr lang="en-US" sz="950" dirty="0"/>
          </a:p>
        </p:txBody>
      </p:sp>
      <p:sp>
        <p:nvSpPr>
          <p:cNvPr id="19" name="Text 17"/>
          <p:cNvSpPr txBox="1"/>
          <p:nvPr/>
        </p:nvSpPr>
        <p:spPr>
          <a:xfrm>
            <a:off x="7431634"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May</a:t>
            </a:r>
            <a:endParaRPr lang="en-US" sz="950" dirty="0"/>
          </a:p>
        </p:txBody>
      </p:sp>
      <p:sp>
        <p:nvSpPr>
          <p:cNvPr id="20" name="Text 18"/>
          <p:cNvSpPr txBox="1"/>
          <p:nvPr/>
        </p:nvSpPr>
        <p:spPr>
          <a:xfrm>
            <a:off x="7957718"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Jun</a:t>
            </a:r>
            <a:endParaRPr lang="en-US" sz="950" dirty="0"/>
          </a:p>
        </p:txBody>
      </p:sp>
      <p:sp>
        <p:nvSpPr>
          <p:cNvPr id="21" name="Text 19"/>
          <p:cNvSpPr txBox="1"/>
          <p:nvPr/>
        </p:nvSpPr>
        <p:spPr>
          <a:xfrm>
            <a:off x="8483803"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Jul</a:t>
            </a:r>
            <a:endParaRPr lang="en-US" sz="950" dirty="0"/>
          </a:p>
        </p:txBody>
      </p:sp>
      <p:sp>
        <p:nvSpPr>
          <p:cNvPr id="22" name="Text 20"/>
          <p:cNvSpPr txBox="1"/>
          <p:nvPr/>
        </p:nvSpPr>
        <p:spPr>
          <a:xfrm>
            <a:off x="9009888"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Ago</a:t>
            </a:r>
            <a:endParaRPr lang="en-US" sz="950" dirty="0"/>
          </a:p>
        </p:txBody>
      </p:sp>
      <p:sp>
        <p:nvSpPr>
          <p:cNvPr id="23" name="Text 21"/>
          <p:cNvSpPr txBox="1"/>
          <p:nvPr/>
        </p:nvSpPr>
        <p:spPr>
          <a:xfrm>
            <a:off x="9535973"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Set</a:t>
            </a:r>
            <a:endParaRPr lang="en-US" sz="950" dirty="0"/>
          </a:p>
        </p:txBody>
      </p:sp>
      <p:sp>
        <p:nvSpPr>
          <p:cNvPr id="24" name="Text 22"/>
          <p:cNvSpPr txBox="1"/>
          <p:nvPr/>
        </p:nvSpPr>
        <p:spPr>
          <a:xfrm>
            <a:off x="10062058"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Oct</a:t>
            </a:r>
            <a:endParaRPr lang="en-US" sz="950" dirty="0"/>
          </a:p>
        </p:txBody>
      </p:sp>
      <p:sp>
        <p:nvSpPr>
          <p:cNvPr id="25" name="Text 23"/>
          <p:cNvSpPr txBox="1"/>
          <p:nvPr/>
        </p:nvSpPr>
        <p:spPr>
          <a:xfrm>
            <a:off x="10588142"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Nov</a:t>
            </a:r>
            <a:endParaRPr lang="en-US" sz="950" dirty="0"/>
          </a:p>
        </p:txBody>
      </p:sp>
      <p:sp>
        <p:nvSpPr>
          <p:cNvPr id="26" name="Text 24"/>
          <p:cNvSpPr txBox="1"/>
          <p:nvPr/>
        </p:nvSpPr>
        <p:spPr>
          <a:xfrm>
            <a:off x="11114227" y="1636776"/>
            <a:ext cx="526085" cy="201168"/>
          </a:xfrm>
          <a:prstGeom prst="rect">
            <a:avLst/>
          </a:prstGeom>
          <a:noFill/>
          <a:ln/>
        </p:spPr>
        <p:txBody>
          <a:bodyPr wrap="square" lIns="0" tIns="0" rIns="0" bIns="0" rtlCol="0" anchor="t"/>
          <a:lstStyle/>
          <a:p>
            <a:pPr algn="ctr" indent="0" marL="0">
              <a:buNone/>
            </a:pPr>
            <a:r>
              <a:rPr lang="en-US" sz="950" b="1" dirty="0">
                <a:solidFill>
                  <a:schemeClr val="tx2"/>
                </a:solidFill>
              </a:rPr>
              <a:t>Dic</a:t>
            </a:r>
            <a:endParaRPr lang="en-US" sz="950" dirty="0"/>
          </a:p>
        </p:txBody>
      </p:sp>
      <p:sp>
        <p:nvSpPr>
          <p:cNvPr id="27" name="Shape 25"/>
          <p:cNvSpPr/>
          <p:nvPr/>
        </p:nvSpPr>
        <p:spPr>
          <a:xfrm>
            <a:off x="4275125" y="1865376"/>
            <a:ext cx="526085" cy="3346704"/>
          </a:xfrm>
          <a:prstGeom prst="rect">
            <a:avLst/>
          </a:prstGeom>
          <a:solidFill>
            <a:srgbClr val="F4E6D3"/>
          </a:solidFill>
          <a:ln w="12700">
            <a:solidFill>
              <a:srgbClr val="F4E6D3"/>
            </a:solidFill>
            <a:prstDash val="solid"/>
          </a:ln>
        </p:spPr>
      </p:sp>
      <p:sp>
        <p:nvSpPr>
          <p:cNvPr id="28" name="Shape 26"/>
          <p:cNvSpPr/>
          <p:nvPr/>
        </p:nvSpPr>
        <p:spPr>
          <a:xfrm>
            <a:off x="5327294" y="1865376"/>
            <a:ext cx="526085" cy="3346704"/>
          </a:xfrm>
          <a:prstGeom prst="rect">
            <a:avLst/>
          </a:prstGeom>
          <a:solidFill>
            <a:srgbClr val="F4E6D3"/>
          </a:solidFill>
          <a:ln w="12700">
            <a:solidFill>
              <a:srgbClr val="F4E6D3"/>
            </a:solidFill>
            <a:prstDash val="solid"/>
          </a:ln>
        </p:spPr>
      </p:sp>
      <p:sp>
        <p:nvSpPr>
          <p:cNvPr id="29" name="Shape 27"/>
          <p:cNvSpPr/>
          <p:nvPr/>
        </p:nvSpPr>
        <p:spPr>
          <a:xfrm>
            <a:off x="6379464" y="1865376"/>
            <a:ext cx="526085" cy="3346704"/>
          </a:xfrm>
          <a:prstGeom prst="rect">
            <a:avLst/>
          </a:prstGeom>
          <a:solidFill>
            <a:srgbClr val="F4E6D3"/>
          </a:solidFill>
          <a:ln w="12700">
            <a:solidFill>
              <a:srgbClr val="F4E6D3"/>
            </a:solidFill>
            <a:prstDash val="solid"/>
          </a:ln>
        </p:spPr>
      </p:sp>
      <p:sp>
        <p:nvSpPr>
          <p:cNvPr id="30" name="Shape 28"/>
          <p:cNvSpPr/>
          <p:nvPr/>
        </p:nvSpPr>
        <p:spPr>
          <a:xfrm>
            <a:off x="7431634" y="1865376"/>
            <a:ext cx="526085" cy="3346704"/>
          </a:xfrm>
          <a:prstGeom prst="rect">
            <a:avLst/>
          </a:prstGeom>
          <a:solidFill>
            <a:srgbClr val="F4E6D3"/>
          </a:solidFill>
          <a:ln w="12700">
            <a:solidFill>
              <a:srgbClr val="F4E6D3"/>
            </a:solidFill>
            <a:prstDash val="solid"/>
          </a:ln>
        </p:spPr>
      </p:sp>
      <p:sp>
        <p:nvSpPr>
          <p:cNvPr id="31" name="Shape 29"/>
          <p:cNvSpPr/>
          <p:nvPr/>
        </p:nvSpPr>
        <p:spPr>
          <a:xfrm>
            <a:off x="8483803" y="1865376"/>
            <a:ext cx="526085" cy="3346704"/>
          </a:xfrm>
          <a:prstGeom prst="rect">
            <a:avLst/>
          </a:prstGeom>
          <a:solidFill>
            <a:srgbClr val="F4E6D3"/>
          </a:solidFill>
          <a:ln w="12700">
            <a:solidFill>
              <a:srgbClr val="F4E6D3"/>
            </a:solidFill>
            <a:prstDash val="solid"/>
          </a:ln>
        </p:spPr>
      </p:sp>
      <p:sp>
        <p:nvSpPr>
          <p:cNvPr id="32" name="Shape 30"/>
          <p:cNvSpPr/>
          <p:nvPr/>
        </p:nvSpPr>
        <p:spPr>
          <a:xfrm>
            <a:off x="9535973" y="1865376"/>
            <a:ext cx="526085" cy="3346704"/>
          </a:xfrm>
          <a:prstGeom prst="rect">
            <a:avLst/>
          </a:prstGeom>
          <a:solidFill>
            <a:srgbClr val="F4E6D3"/>
          </a:solidFill>
          <a:ln w="12700">
            <a:solidFill>
              <a:srgbClr val="F4E6D3"/>
            </a:solidFill>
            <a:prstDash val="solid"/>
          </a:ln>
        </p:spPr>
      </p:sp>
      <p:sp>
        <p:nvSpPr>
          <p:cNvPr id="33" name="Shape 31"/>
          <p:cNvSpPr/>
          <p:nvPr/>
        </p:nvSpPr>
        <p:spPr>
          <a:xfrm>
            <a:off x="10588142" y="1865376"/>
            <a:ext cx="526085" cy="3346704"/>
          </a:xfrm>
          <a:prstGeom prst="rect">
            <a:avLst/>
          </a:prstGeom>
          <a:solidFill>
            <a:srgbClr val="F4E6D3"/>
          </a:solidFill>
          <a:ln w="12700">
            <a:solidFill>
              <a:srgbClr val="F4E6D3"/>
            </a:solidFill>
            <a:prstDash val="solid"/>
          </a:ln>
        </p:spPr>
      </p:sp>
      <p:sp>
        <p:nvSpPr>
          <p:cNvPr id="34" name="Shape 32"/>
          <p:cNvSpPr/>
          <p:nvPr/>
        </p:nvSpPr>
        <p:spPr>
          <a:xfrm>
            <a:off x="5327294" y="1609344"/>
            <a:ext cx="0" cy="3621024"/>
          </a:xfrm>
          <a:prstGeom prst="line">
            <a:avLst/>
          </a:prstGeom>
          <a:noFill/>
          <a:ln w="15875">
            <a:solidFill>
              <a:schemeClr val="accent1"/>
            </a:solidFill>
            <a:prstDash val="dash"/>
          </a:ln>
        </p:spPr>
      </p:sp>
      <p:sp>
        <p:nvSpPr>
          <p:cNvPr id="35" name="Text 33"/>
          <p:cNvSpPr txBox="1"/>
          <p:nvPr/>
        </p:nvSpPr>
        <p:spPr>
          <a:xfrm>
            <a:off x="548640" y="1883664"/>
            <a:ext cx="868680" cy="242316"/>
          </a:xfrm>
          <a:prstGeom prst="rect">
            <a:avLst/>
          </a:prstGeom>
          <a:noFill/>
          <a:ln/>
        </p:spPr>
        <p:txBody>
          <a:bodyPr wrap="square" lIns="0" tIns="0" rIns="0" bIns="0" rtlCol="0" anchor="ctr"/>
          <a:lstStyle/>
          <a:p>
            <a:pPr indent="0" marL="0">
              <a:buNone/>
            </a:pPr>
            <a:r>
              <a:rPr lang="en-US" sz="800" b="1" spc="50" kern="0" dirty="0">
                <a:solidFill>
                  <a:schemeClr val="accent2"/>
                </a:solidFill>
              </a:rPr>
              <a:t>PREPARAR</a:t>
            </a:r>
            <a:endParaRPr lang="en-US" sz="800" dirty="0"/>
          </a:p>
        </p:txBody>
      </p:sp>
      <p:sp>
        <p:nvSpPr>
          <p:cNvPr id="36" name="Shape 34"/>
          <p:cNvSpPr/>
          <p:nvPr/>
        </p:nvSpPr>
        <p:spPr>
          <a:xfrm>
            <a:off x="1417320" y="1938528"/>
            <a:ext cx="64008" cy="132588"/>
          </a:xfrm>
          <a:prstGeom prst="rect">
            <a:avLst/>
          </a:prstGeom>
          <a:solidFill>
            <a:schemeClr val="accent2"/>
          </a:solidFill>
          <a:ln w="12700">
            <a:solidFill>
              <a:schemeClr val="accent2"/>
            </a:solidFill>
            <a:prstDash val="solid"/>
          </a:ln>
        </p:spPr>
      </p:sp>
      <p:sp>
        <p:nvSpPr>
          <p:cNvPr id="37" name="Text 35"/>
          <p:cNvSpPr txBox="1"/>
          <p:nvPr/>
        </p:nvSpPr>
        <p:spPr>
          <a:xfrm>
            <a:off x="1536192" y="1865376"/>
            <a:ext cx="2176272" cy="278892"/>
          </a:xfrm>
          <a:prstGeom prst="rect">
            <a:avLst/>
          </a:prstGeom>
          <a:noFill/>
          <a:ln/>
        </p:spPr>
        <p:txBody>
          <a:bodyPr wrap="square" lIns="0" tIns="0" rIns="0" bIns="0" rtlCol="0" anchor="ctr"/>
          <a:lstStyle/>
          <a:p>
            <a:pPr indent="0" marL="0">
              <a:buNone/>
            </a:pPr>
            <a:r>
              <a:rPr lang="en-US" sz="900" dirty="0">
                <a:solidFill>
                  <a:schemeClr val="tx1"/>
                </a:solidFill>
              </a:rPr>
              <a:t>Redes, WhatsApp Business y lista de espera</a:t>
            </a:r>
            <a:endParaRPr lang="en-US" sz="900" dirty="0"/>
          </a:p>
        </p:txBody>
      </p:sp>
      <p:sp>
        <p:nvSpPr>
          <p:cNvPr id="38" name="Shape 36"/>
          <p:cNvSpPr/>
          <p:nvPr/>
        </p:nvSpPr>
        <p:spPr>
          <a:xfrm>
            <a:off x="3776472" y="1911096"/>
            <a:ext cx="1523390" cy="187452"/>
          </a:xfrm>
          <a:prstGeom prst="roundRect">
            <a:avLst>
              <a:gd name="adj" fmla="val 39024"/>
            </a:avLst>
          </a:prstGeom>
          <a:solidFill>
            <a:schemeClr val="accent2"/>
          </a:solidFill>
          <a:ln w="12700">
            <a:solidFill>
              <a:schemeClr val="accent2"/>
            </a:solidFill>
            <a:prstDash val="solid"/>
          </a:ln>
        </p:spPr>
      </p:sp>
      <p:sp>
        <p:nvSpPr>
          <p:cNvPr id="39" name="Text 37"/>
          <p:cNvSpPr txBox="1"/>
          <p:nvPr/>
        </p:nvSpPr>
        <p:spPr>
          <a:xfrm>
            <a:off x="3730752" y="1911096"/>
            <a:ext cx="1614830" cy="187452"/>
          </a:xfrm>
          <a:prstGeom prst="rect">
            <a:avLst/>
          </a:prstGeom>
          <a:noFill/>
          <a:ln/>
        </p:spPr>
        <p:txBody>
          <a:bodyPr wrap="square" lIns="0" tIns="0" rIns="0" bIns="0" rtlCol="0" anchor="ctr"/>
          <a:lstStyle/>
          <a:p>
            <a:pPr algn="ctr" indent="0" marL="0">
              <a:buNone/>
            </a:pPr>
            <a:r>
              <a:rPr lang="en-US" sz="800" b="1" dirty="0">
                <a:solidFill>
                  <a:schemeClr val="bg1"/>
                </a:solidFill>
              </a:rPr>
              <a:t>Lista de espera</a:t>
            </a:r>
            <a:endParaRPr lang="en-US" sz="800" dirty="0"/>
          </a:p>
        </p:txBody>
      </p:sp>
      <p:sp>
        <p:nvSpPr>
          <p:cNvPr id="40" name="Shape 38"/>
          <p:cNvSpPr/>
          <p:nvPr/>
        </p:nvSpPr>
        <p:spPr>
          <a:xfrm>
            <a:off x="1417320" y="2217420"/>
            <a:ext cx="64008" cy="132588"/>
          </a:xfrm>
          <a:prstGeom prst="rect">
            <a:avLst/>
          </a:prstGeom>
          <a:solidFill>
            <a:schemeClr val="accent2"/>
          </a:solidFill>
          <a:ln w="12700">
            <a:solidFill>
              <a:schemeClr val="accent2"/>
            </a:solidFill>
            <a:prstDash val="solid"/>
          </a:ln>
        </p:spPr>
      </p:sp>
      <p:sp>
        <p:nvSpPr>
          <p:cNvPr id="41" name="Text 39"/>
          <p:cNvSpPr txBox="1"/>
          <p:nvPr/>
        </p:nvSpPr>
        <p:spPr>
          <a:xfrm>
            <a:off x="1536192" y="2144268"/>
            <a:ext cx="2176272" cy="278892"/>
          </a:xfrm>
          <a:prstGeom prst="rect">
            <a:avLst/>
          </a:prstGeom>
          <a:noFill/>
          <a:ln/>
        </p:spPr>
        <p:txBody>
          <a:bodyPr wrap="square" lIns="0" tIns="0" rIns="0" bIns="0" rtlCol="0" anchor="ctr"/>
          <a:lstStyle/>
          <a:p>
            <a:pPr indent="0" marL="0">
              <a:buNone/>
            </a:pPr>
            <a:r>
              <a:rPr lang="en-US" sz="900" dirty="0">
                <a:solidFill>
                  <a:schemeClr val="tx1"/>
                </a:solidFill>
              </a:rPr>
              <a:t>Video de lanzamiento con niños (consentido)</a:t>
            </a:r>
            <a:endParaRPr lang="en-US" sz="900" dirty="0"/>
          </a:p>
        </p:txBody>
      </p:sp>
      <p:sp>
        <p:nvSpPr>
          <p:cNvPr id="42" name="Shape 40"/>
          <p:cNvSpPr/>
          <p:nvPr/>
        </p:nvSpPr>
        <p:spPr>
          <a:xfrm>
            <a:off x="4302557" y="2189988"/>
            <a:ext cx="471221" cy="187452"/>
          </a:xfrm>
          <a:prstGeom prst="roundRect">
            <a:avLst>
              <a:gd name="adj" fmla="val 39024"/>
            </a:avLst>
          </a:prstGeom>
          <a:solidFill>
            <a:schemeClr val="accent2"/>
          </a:solidFill>
          <a:ln w="12700">
            <a:solidFill>
              <a:schemeClr val="accent2"/>
            </a:solidFill>
            <a:prstDash val="solid"/>
          </a:ln>
        </p:spPr>
      </p:sp>
      <p:sp>
        <p:nvSpPr>
          <p:cNvPr id="43" name="Text 41"/>
          <p:cNvSpPr txBox="1"/>
          <p:nvPr/>
        </p:nvSpPr>
        <p:spPr>
          <a:xfrm>
            <a:off x="4256837" y="2189988"/>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S/300</a:t>
            </a:r>
            <a:endParaRPr lang="en-US" sz="700" dirty="0"/>
          </a:p>
        </p:txBody>
      </p:sp>
      <p:sp>
        <p:nvSpPr>
          <p:cNvPr id="44" name="Shape 42"/>
          <p:cNvSpPr/>
          <p:nvPr/>
        </p:nvSpPr>
        <p:spPr>
          <a:xfrm>
            <a:off x="1417320" y="2496312"/>
            <a:ext cx="64008" cy="132588"/>
          </a:xfrm>
          <a:prstGeom prst="rect">
            <a:avLst/>
          </a:prstGeom>
          <a:solidFill>
            <a:schemeClr val="accent2"/>
          </a:solidFill>
          <a:ln w="12700">
            <a:solidFill>
              <a:schemeClr val="accent2"/>
            </a:solidFill>
            <a:prstDash val="solid"/>
          </a:ln>
        </p:spPr>
      </p:sp>
      <p:sp>
        <p:nvSpPr>
          <p:cNvPr id="45" name="Text 43"/>
          <p:cNvSpPr txBox="1"/>
          <p:nvPr/>
        </p:nvSpPr>
        <p:spPr>
          <a:xfrm>
            <a:off x="1536192" y="2423160"/>
            <a:ext cx="2176272" cy="278892"/>
          </a:xfrm>
          <a:prstGeom prst="rect">
            <a:avLst/>
          </a:prstGeom>
          <a:noFill/>
          <a:ln/>
        </p:spPr>
        <p:txBody>
          <a:bodyPr wrap="square" lIns="0" tIns="0" rIns="0" bIns="0" rtlCol="0" anchor="ctr"/>
          <a:lstStyle/>
          <a:p>
            <a:pPr indent="0" marL="0">
              <a:buNone/>
            </a:pPr>
            <a:r>
              <a:rPr lang="en-US" sz="900" dirty="0">
                <a:solidFill>
                  <a:schemeClr val="tx1"/>
                </a:solidFill>
              </a:rPr>
              <a:t>Influencers y pauta de expectativa</a:t>
            </a:r>
            <a:endParaRPr lang="en-US" sz="900" dirty="0"/>
          </a:p>
        </p:txBody>
      </p:sp>
      <p:sp>
        <p:nvSpPr>
          <p:cNvPr id="46" name="Shape 44"/>
          <p:cNvSpPr/>
          <p:nvPr/>
        </p:nvSpPr>
        <p:spPr>
          <a:xfrm>
            <a:off x="4828642" y="2468880"/>
            <a:ext cx="997306" cy="187452"/>
          </a:xfrm>
          <a:prstGeom prst="roundRect">
            <a:avLst>
              <a:gd name="adj" fmla="val 39024"/>
            </a:avLst>
          </a:prstGeom>
          <a:solidFill>
            <a:schemeClr val="accent2"/>
          </a:solidFill>
          <a:ln w="12700">
            <a:solidFill>
              <a:schemeClr val="accent2"/>
            </a:solidFill>
            <a:prstDash val="solid"/>
          </a:ln>
        </p:spPr>
      </p:sp>
      <p:sp>
        <p:nvSpPr>
          <p:cNvPr id="47" name="Text 45"/>
          <p:cNvSpPr txBox="1"/>
          <p:nvPr/>
        </p:nvSpPr>
        <p:spPr>
          <a:xfrm>
            <a:off x="4782922" y="2468880"/>
            <a:ext cx="1088746" cy="187452"/>
          </a:xfrm>
          <a:prstGeom prst="rect">
            <a:avLst/>
          </a:prstGeom>
          <a:noFill/>
          <a:ln/>
        </p:spPr>
        <p:txBody>
          <a:bodyPr wrap="square" lIns="0" tIns="0" rIns="0" bIns="0" rtlCol="0" anchor="ctr"/>
          <a:lstStyle/>
          <a:p>
            <a:pPr algn="ctr" indent="0" marL="0">
              <a:buNone/>
            </a:pPr>
            <a:r>
              <a:rPr lang="en-US" sz="800" b="1" dirty="0">
                <a:solidFill>
                  <a:schemeClr val="bg1"/>
                </a:solidFill>
              </a:rPr>
              <a:t>40 packs</a:t>
            </a:r>
            <a:endParaRPr lang="en-US" sz="800" dirty="0"/>
          </a:p>
        </p:txBody>
      </p:sp>
      <p:sp>
        <p:nvSpPr>
          <p:cNvPr id="48" name="Text 46"/>
          <p:cNvSpPr txBox="1"/>
          <p:nvPr/>
        </p:nvSpPr>
        <p:spPr>
          <a:xfrm>
            <a:off x="548640" y="2720340"/>
            <a:ext cx="868680" cy="242316"/>
          </a:xfrm>
          <a:prstGeom prst="rect">
            <a:avLst/>
          </a:prstGeom>
          <a:noFill/>
          <a:ln/>
        </p:spPr>
        <p:txBody>
          <a:bodyPr wrap="square" lIns="0" tIns="0" rIns="0" bIns="0" rtlCol="0" anchor="ctr"/>
          <a:lstStyle/>
          <a:p>
            <a:pPr indent="0" marL="0">
              <a:buNone/>
            </a:pPr>
            <a:r>
              <a:rPr lang="en-US" sz="800" b="1" spc="50" kern="0" dirty="0">
                <a:solidFill>
                  <a:schemeClr val="accent1"/>
                </a:solidFill>
              </a:rPr>
              <a:t>LANZAR</a:t>
            </a:r>
            <a:endParaRPr lang="en-US" sz="800" dirty="0"/>
          </a:p>
        </p:txBody>
      </p:sp>
      <p:sp>
        <p:nvSpPr>
          <p:cNvPr id="49" name="Shape 47"/>
          <p:cNvSpPr/>
          <p:nvPr/>
        </p:nvSpPr>
        <p:spPr>
          <a:xfrm>
            <a:off x="1417320" y="2775204"/>
            <a:ext cx="64008" cy="132588"/>
          </a:xfrm>
          <a:prstGeom prst="rect">
            <a:avLst/>
          </a:prstGeom>
          <a:solidFill>
            <a:schemeClr val="accent1"/>
          </a:solidFill>
          <a:ln w="12700">
            <a:solidFill>
              <a:schemeClr val="accent1"/>
            </a:solidFill>
            <a:prstDash val="solid"/>
          </a:ln>
        </p:spPr>
      </p:sp>
      <p:sp>
        <p:nvSpPr>
          <p:cNvPr id="50" name="Text 48"/>
          <p:cNvSpPr txBox="1"/>
          <p:nvPr/>
        </p:nvSpPr>
        <p:spPr>
          <a:xfrm>
            <a:off x="1536192" y="2702052"/>
            <a:ext cx="2176272" cy="278892"/>
          </a:xfrm>
          <a:prstGeom prst="rect">
            <a:avLst/>
          </a:prstGeom>
          <a:noFill/>
          <a:ln/>
        </p:spPr>
        <p:txBody>
          <a:bodyPr wrap="square" lIns="0" tIns="0" rIns="0" bIns="0" rtlCol="0" anchor="ctr"/>
          <a:lstStyle/>
          <a:p>
            <a:pPr indent="0" marL="0">
              <a:buNone/>
            </a:pPr>
            <a:r>
              <a:rPr lang="en-US" sz="900" dirty="0">
                <a:solidFill>
                  <a:schemeClr val="tx1"/>
                </a:solidFill>
              </a:rPr>
              <a:t>Apertura de los puntos 1, 2 y 3</a:t>
            </a:r>
            <a:endParaRPr lang="en-US" sz="900" dirty="0"/>
          </a:p>
        </p:txBody>
      </p:sp>
      <p:sp>
        <p:nvSpPr>
          <p:cNvPr id="51" name="Shape 49"/>
          <p:cNvSpPr/>
          <p:nvPr/>
        </p:nvSpPr>
        <p:spPr>
          <a:xfrm>
            <a:off x="5354726" y="2747772"/>
            <a:ext cx="471221" cy="187452"/>
          </a:xfrm>
          <a:prstGeom prst="roundRect">
            <a:avLst>
              <a:gd name="adj" fmla="val 39024"/>
            </a:avLst>
          </a:prstGeom>
          <a:solidFill>
            <a:schemeClr val="accent1"/>
          </a:solidFill>
          <a:ln w="12700">
            <a:solidFill>
              <a:schemeClr val="accent1"/>
            </a:solidFill>
            <a:prstDash val="solid"/>
          </a:ln>
        </p:spPr>
      </p:sp>
      <p:sp>
        <p:nvSpPr>
          <p:cNvPr id="52" name="Text 50"/>
          <p:cNvSpPr txBox="1"/>
          <p:nvPr/>
        </p:nvSpPr>
        <p:spPr>
          <a:xfrm>
            <a:off x="5309006" y="2747772"/>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Jockey</a:t>
            </a:r>
            <a:endParaRPr lang="en-US" sz="700" dirty="0"/>
          </a:p>
        </p:txBody>
      </p:sp>
      <p:sp>
        <p:nvSpPr>
          <p:cNvPr id="53" name="Shape 51"/>
          <p:cNvSpPr/>
          <p:nvPr/>
        </p:nvSpPr>
        <p:spPr>
          <a:xfrm>
            <a:off x="5880811" y="2747772"/>
            <a:ext cx="471221" cy="187452"/>
          </a:xfrm>
          <a:prstGeom prst="roundRect">
            <a:avLst>
              <a:gd name="adj" fmla="val 39024"/>
            </a:avLst>
          </a:prstGeom>
          <a:solidFill>
            <a:schemeClr val="accent1"/>
          </a:solidFill>
          <a:ln w="12700">
            <a:solidFill>
              <a:schemeClr val="accent1"/>
            </a:solidFill>
            <a:prstDash val="solid"/>
          </a:ln>
        </p:spPr>
      </p:sp>
      <p:sp>
        <p:nvSpPr>
          <p:cNvPr id="54" name="Text 52"/>
          <p:cNvSpPr txBox="1"/>
          <p:nvPr/>
        </p:nvSpPr>
        <p:spPr>
          <a:xfrm>
            <a:off x="5835091" y="2747772"/>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Punto 2 (B)</a:t>
            </a:r>
            <a:endParaRPr lang="en-US" sz="700" dirty="0"/>
          </a:p>
        </p:txBody>
      </p:sp>
      <p:sp>
        <p:nvSpPr>
          <p:cNvPr id="55" name="Shape 53"/>
          <p:cNvSpPr/>
          <p:nvPr/>
        </p:nvSpPr>
        <p:spPr>
          <a:xfrm>
            <a:off x="9037320" y="2747772"/>
            <a:ext cx="471221" cy="187452"/>
          </a:xfrm>
          <a:prstGeom prst="roundRect">
            <a:avLst>
              <a:gd name="adj" fmla="val 39024"/>
            </a:avLst>
          </a:prstGeom>
          <a:solidFill>
            <a:schemeClr val="accent1"/>
          </a:solidFill>
          <a:ln w="12700">
            <a:solidFill>
              <a:schemeClr val="accent1"/>
            </a:solidFill>
            <a:prstDash val="solid"/>
          </a:ln>
        </p:spPr>
      </p:sp>
      <p:sp>
        <p:nvSpPr>
          <p:cNvPr id="56" name="Text 54"/>
          <p:cNvSpPr txBox="1"/>
          <p:nvPr/>
        </p:nvSpPr>
        <p:spPr>
          <a:xfrm>
            <a:off x="8991600" y="2747772"/>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Punto 3 (A)</a:t>
            </a:r>
            <a:endParaRPr lang="en-US" sz="700" dirty="0"/>
          </a:p>
        </p:txBody>
      </p:sp>
      <p:sp>
        <p:nvSpPr>
          <p:cNvPr id="57" name="Shape 55"/>
          <p:cNvSpPr/>
          <p:nvPr/>
        </p:nvSpPr>
        <p:spPr>
          <a:xfrm>
            <a:off x="1417320" y="3054096"/>
            <a:ext cx="64008" cy="132588"/>
          </a:xfrm>
          <a:prstGeom prst="rect">
            <a:avLst/>
          </a:prstGeom>
          <a:solidFill>
            <a:schemeClr val="accent1"/>
          </a:solidFill>
          <a:ln w="12700">
            <a:solidFill>
              <a:schemeClr val="accent1"/>
            </a:solidFill>
            <a:prstDash val="solid"/>
          </a:ln>
        </p:spPr>
      </p:sp>
      <p:sp>
        <p:nvSpPr>
          <p:cNvPr id="58" name="Text 56"/>
          <p:cNvSpPr txBox="1"/>
          <p:nvPr/>
        </p:nvSpPr>
        <p:spPr>
          <a:xfrm>
            <a:off x="1536192" y="2980944"/>
            <a:ext cx="2176272" cy="278892"/>
          </a:xfrm>
          <a:prstGeom prst="rect">
            <a:avLst/>
          </a:prstGeom>
          <a:noFill/>
          <a:ln/>
        </p:spPr>
        <p:txBody>
          <a:bodyPr wrap="square" lIns="0" tIns="0" rIns="0" bIns="0" rtlCol="0" anchor="ctr"/>
          <a:lstStyle/>
          <a:p>
            <a:pPr indent="0" marL="0">
              <a:buNone/>
            </a:pPr>
            <a:r>
              <a:rPr lang="en-US" sz="900" dirty="0">
                <a:solidFill>
                  <a:schemeClr val="tx1"/>
                </a:solidFill>
              </a:rPr>
              <a:t>Ferias pagadas con meta de 50 contactos</a:t>
            </a:r>
            <a:endParaRPr lang="en-US" sz="900" dirty="0"/>
          </a:p>
        </p:txBody>
      </p:sp>
      <p:sp>
        <p:nvSpPr>
          <p:cNvPr id="59" name="Shape 57"/>
          <p:cNvSpPr/>
          <p:nvPr/>
        </p:nvSpPr>
        <p:spPr>
          <a:xfrm>
            <a:off x="5880811" y="3026664"/>
            <a:ext cx="471221" cy="187452"/>
          </a:xfrm>
          <a:prstGeom prst="roundRect">
            <a:avLst>
              <a:gd name="adj" fmla="val 39024"/>
            </a:avLst>
          </a:prstGeom>
          <a:solidFill>
            <a:schemeClr val="accent1"/>
          </a:solidFill>
          <a:ln w="12700">
            <a:solidFill>
              <a:schemeClr val="accent1"/>
            </a:solidFill>
            <a:prstDash val="solid"/>
          </a:ln>
        </p:spPr>
      </p:sp>
      <p:sp>
        <p:nvSpPr>
          <p:cNvPr id="60" name="Text 58"/>
          <p:cNvSpPr txBox="1"/>
          <p:nvPr/>
        </p:nvSpPr>
        <p:spPr>
          <a:xfrm>
            <a:off x="5835091" y="3026664"/>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Escolar</a:t>
            </a:r>
            <a:endParaRPr lang="en-US" sz="700" dirty="0"/>
          </a:p>
        </p:txBody>
      </p:sp>
      <p:sp>
        <p:nvSpPr>
          <p:cNvPr id="61" name="Shape 59"/>
          <p:cNvSpPr/>
          <p:nvPr/>
        </p:nvSpPr>
        <p:spPr>
          <a:xfrm>
            <a:off x="6932981" y="3026664"/>
            <a:ext cx="471221" cy="187452"/>
          </a:xfrm>
          <a:prstGeom prst="roundRect">
            <a:avLst>
              <a:gd name="adj" fmla="val 39024"/>
            </a:avLst>
          </a:prstGeom>
          <a:solidFill>
            <a:schemeClr val="accent1"/>
          </a:solidFill>
          <a:ln w="12700">
            <a:solidFill>
              <a:schemeClr val="accent1"/>
            </a:solidFill>
            <a:prstDash val="solid"/>
          </a:ln>
        </p:spPr>
      </p:sp>
      <p:sp>
        <p:nvSpPr>
          <p:cNvPr id="62" name="Text 60"/>
          <p:cNvSpPr txBox="1"/>
          <p:nvPr/>
        </p:nvSpPr>
        <p:spPr>
          <a:xfrm>
            <a:off x="6887261" y="3026664"/>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11-abr</a:t>
            </a:r>
            <a:endParaRPr lang="en-US" sz="700" dirty="0"/>
          </a:p>
        </p:txBody>
      </p:sp>
      <p:sp>
        <p:nvSpPr>
          <p:cNvPr id="63" name="Text 61"/>
          <p:cNvSpPr txBox="1"/>
          <p:nvPr/>
        </p:nvSpPr>
        <p:spPr>
          <a:xfrm>
            <a:off x="548640" y="3278124"/>
            <a:ext cx="868680" cy="242316"/>
          </a:xfrm>
          <a:prstGeom prst="rect">
            <a:avLst/>
          </a:prstGeom>
          <a:noFill/>
          <a:ln/>
        </p:spPr>
        <p:txBody>
          <a:bodyPr wrap="square" lIns="0" tIns="0" rIns="0" bIns="0" rtlCol="0" anchor="ctr"/>
          <a:lstStyle/>
          <a:p>
            <a:pPr indent="0" marL="0">
              <a:buNone/>
            </a:pPr>
            <a:r>
              <a:rPr lang="en-US" sz="800" b="1" spc="50" kern="0" dirty="0">
                <a:solidFill>
                  <a:schemeClr val="accent4"/>
                </a:solidFill>
              </a:rPr>
              <a:t>FIDELIZAR</a:t>
            </a:r>
            <a:endParaRPr lang="en-US" sz="800" dirty="0"/>
          </a:p>
        </p:txBody>
      </p:sp>
      <p:sp>
        <p:nvSpPr>
          <p:cNvPr id="64" name="Shape 62"/>
          <p:cNvSpPr/>
          <p:nvPr/>
        </p:nvSpPr>
        <p:spPr>
          <a:xfrm>
            <a:off x="1417320" y="3332988"/>
            <a:ext cx="64008" cy="132588"/>
          </a:xfrm>
          <a:prstGeom prst="rect">
            <a:avLst/>
          </a:prstGeom>
          <a:solidFill>
            <a:schemeClr val="accent4"/>
          </a:solidFill>
          <a:ln w="12700">
            <a:solidFill>
              <a:schemeClr val="accent4"/>
            </a:solidFill>
            <a:prstDash val="solid"/>
          </a:ln>
        </p:spPr>
      </p:sp>
      <p:sp>
        <p:nvSpPr>
          <p:cNvPr id="65" name="Text 63"/>
          <p:cNvSpPr txBox="1"/>
          <p:nvPr/>
        </p:nvSpPr>
        <p:spPr>
          <a:xfrm>
            <a:off x="1536192" y="3259836"/>
            <a:ext cx="2176272" cy="278892"/>
          </a:xfrm>
          <a:prstGeom prst="rect">
            <a:avLst/>
          </a:prstGeom>
          <a:noFill/>
          <a:ln/>
        </p:spPr>
        <p:txBody>
          <a:bodyPr wrap="square" lIns="0" tIns="0" rIns="0" bIns="0" rtlCol="0" anchor="ctr"/>
          <a:lstStyle/>
          <a:p>
            <a:pPr indent="0" marL="0">
              <a:buNone/>
            </a:pPr>
            <a:r>
              <a:rPr lang="en-US" sz="900" dirty="0">
                <a:solidFill>
                  <a:schemeClr val="tx1"/>
                </a:solidFill>
              </a:rPr>
              <a:t>Recompra por WhatsApp con aviso de la app</a:t>
            </a:r>
            <a:endParaRPr lang="en-US" sz="900" dirty="0"/>
          </a:p>
        </p:txBody>
      </p:sp>
      <p:sp>
        <p:nvSpPr>
          <p:cNvPr id="66" name="Shape 64"/>
          <p:cNvSpPr/>
          <p:nvPr/>
        </p:nvSpPr>
        <p:spPr>
          <a:xfrm>
            <a:off x="5354726" y="3305556"/>
            <a:ext cx="6258154" cy="187452"/>
          </a:xfrm>
          <a:prstGeom prst="roundRect">
            <a:avLst>
              <a:gd name="adj" fmla="val 39024"/>
            </a:avLst>
          </a:prstGeom>
          <a:solidFill>
            <a:schemeClr val="accent4"/>
          </a:solidFill>
          <a:ln w="12700">
            <a:solidFill>
              <a:schemeClr val="accent4"/>
            </a:solidFill>
            <a:prstDash val="solid"/>
          </a:ln>
        </p:spPr>
      </p:sp>
      <p:sp>
        <p:nvSpPr>
          <p:cNvPr id="67" name="Text 65"/>
          <p:cNvSpPr txBox="1"/>
          <p:nvPr/>
        </p:nvSpPr>
        <p:spPr>
          <a:xfrm>
            <a:off x="5309006" y="3305556"/>
            <a:ext cx="6349594" cy="187452"/>
          </a:xfrm>
          <a:prstGeom prst="rect">
            <a:avLst/>
          </a:prstGeom>
          <a:noFill/>
          <a:ln/>
        </p:spPr>
        <p:txBody>
          <a:bodyPr wrap="square" lIns="0" tIns="0" rIns="0" bIns="0" rtlCol="0" anchor="ctr"/>
          <a:lstStyle/>
          <a:p>
            <a:pPr algn="ctr" indent="0" marL="0">
              <a:buNone/>
            </a:pPr>
            <a:r>
              <a:rPr lang="en-US" sz="800" b="1" dirty="0">
                <a:solidFill>
                  <a:schemeClr val="bg1"/>
                </a:solidFill>
              </a:rPr>
              <a:t>35 % de lo físico</a:t>
            </a:r>
            <a:endParaRPr lang="en-US" sz="800" dirty="0"/>
          </a:p>
        </p:txBody>
      </p:sp>
      <p:sp>
        <p:nvSpPr>
          <p:cNvPr id="68" name="Shape 66"/>
          <p:cNvSpPr/>
          <p:nvPr/>
        </p:nvSpPr>
        <p:spPr>
          <a:xfrm>
            <a:off x="1417320" y="3611880"/>
            <a:ext cx="64008" cy="132588"/>
          </a:xfrm>
          <a:prstGeom prst="rect">
            <a:avLst/>
          </a:prstGeom>
          <a:solidFill>
            <a:schemeClr val="accent4"/>
          </a:solidFill>
          <a:ln w="12700">
            <a:solidFill>
              <a:schemeClr val="accent4"/>
            </a:solidFill>
            <a:prstDash val="solid"/>
          </a:ln>
        </p:spPr>
      </p:sp>
      <p:sp>
        <p:nvSpPr>
          <p:cNvPr id="69" name="Text 67"/>
          <p:cNvSpPr txBox="1"/>
          <p:nvPr/>
        </p:nvSpPr>
        <p:spPr>
          <a:xfrm>
            <a:off x="1536192" y="3538728"/>
            <a:ext cx="2176272" cy="278892"/>
          </a:xfrm>
          <a:prstGeom prst="rect">
            <a:avLst/>
          </a:prstGeom>
          <a:noFill/>
          <a:ln/>
        </p:spPr>
        <p:txBody>
          <a:bodyPr wrap="square" lIns="0" tIns="0" rIns="0" bIns="0" rtlCol="0" anchor="ctr"/>
          <a:lstStyle/>
          <a:p>
            <a:pPr indent="0" marL="0">
              <a:buNone/>
            </a:pPr>
            <a:r>
              <a:rPr lang="en-US" sz="900" dirty="0">
                <a:solidFill>
                  <a:schemeClr val="tx1"/>
                </a:solidFill>
              </a:rPr>
              <a:t>Mamás embajadoras con código</a:t>
            </a:r>
            <a:endParaRPr lang="en-US" sz="900" dirty="0"/>
          </a:p>
        </p:txBody>
      </p:sp>
      <p:sp>
        <p:nvSpPr>
          <p:cNvPr id="70" name="Shape 68"/>
          <p:cNvSpPr/>
          <p:nvPr/>
        </p:nvSpPr>
        <p:spPr>
          <a:xfrm>
            <a:off x="5354726" y="3584448"/>
            <a:ext cx="997306" cy="187452"/>
          </a:xfrm>
          <a:prstGeom prst="roundRect">
            <a:avLst>
              <a:gd name="adj" fmla="val 39024"/>
            </a:avLst>
          </a:prstGeom>
          <a:solidFill>
            <a:schemeClr val="accent4"/>
          </a:solidFill>
          <a:ln w="12700">
            <a:solidFill>
              <a:schemeClr val="accent4"/>
            </a:solidFill>
            <a:prstDash val="solid"/>
          </a:ln>
        </p:spPr>
      </p:sp>
      <p:sp>
        <p:nvSpPr>
          <p:cNvPr id="71" name="Text 69"/>
          <p:cNvSpPr txBox="1"/>
          <p:nvPr/>
        </p:nvSpPr>
        <p:spPr>
          <a:xfrm>
            <a:off x="5309006" y="3584448"/>
            <a:ext cx="1088746" cy="187452"/>
          </a:xfrm>
          <a:prstGeom prst="rect">
            <a:avLst/>
          </a:prstGeom>
          <a:noFill/>
          <a:ln/>
        </p:spPr>
        <p:txBody>
          <a:bodyPr wrap="square" lIns="0" tIns="0" rIns="0" bIns="0" rtlCol="0" anchor="ctr"/>
          <a:lstStyle/>
          <a:p>
            <a:pPr algn="ctr" indent="0" marL="0">
              <a:buNone/>
            </a:pPr>
            <a:r>
              <a:rPr lang="en-US" sz="800" b="1" dirty="0">
                <a:solidFill>
                  <a:schemeClr val="bg1"/>
                </a:solidFill>
              </a:rPr>
              <a:t>Fundadoras</a:t>
            </a:r>
            <a:endParaRPr lang="en-US" sz="800" dirty="0"/>
          </a:p>
        </p:txBody>
      </p:sp>
      <p:sp>
        <p:nvSpPr>
          <p:cNvPr id="72" name="Shape 70"/>
          <p:cNvSpPr/>
          <p:nvPr/>
        </p:nvSpPr>
        <p:spPr>
          <a:xfrm>
            <a:off x="6406896" y="3584448"/>
            <a:ext cx="5205984" cy="187452"/>
          </a:xfrm>
          <a:prstGeom prst="roundRect">
            <a:avLst>
              <a:gd name="adj" fmla="val 39024"/>
            </a:avLst>
          </a:prstGeom>
          <a:solidFill>
            <a:schemeClr val="accent4"/>
          </a:solidFill>
          <a:ln w="12700">
            <a:solidFill>
              <a:schemeClr val="accent4"/>
            </a:solidFill>
            <a:prstDash val="solid"/>
          </a:ln>
        </p:spPr>
      </p:sp>
      <p:sp>
        <p:nvSpPr>
          <p:cNvPr id="73" name="Text 71"/>
          <p:cNvSpPr txBox="1"/>
          <p:nvPr/>
        </p:nvSpPr>
        <p:spPr>
          <a:xfrm>
            <a:off x="6361176" y="3584448"/>
            <a:ext cx="5297424" cy="187452"/>
          </a:xfrm>
          <a:prstGeom prst="rect">
            <a:avLst/>
          </a:prstGeom>
          <a:noFill/>
          <a:ln/>
        </p:spPr>
        <p:txBody>
          <a:bodyPr wrap="square" lIns="0" tIns="0" rIns="0" bIns="0" rtlCol="0" anchor="ctr"/>
          <a:lstStyle/>
          <a:p>
            <a:pPr algn="ctr" indent="0" marL="0">
              <a:buNone/>
            </a:pPr>
            <a:r>
              <a:rPr lang="en-US" sz="800" b="1" dirty="0">
                <a:solidFill>
                  <a:schemeClr val="bg1"/>
                </a:solidFill>
              </a:rPr>
              <a:t>20 familias/mes</a:t>
            </a:r>
            <a:endParaRPr lang="en-US" sz="800" dirty="0"/>
          </a:p>
        </p:txBody>
      </p:sp>
      <p:sp>
        <p:nvSpPr>
          <p:cNvPr id="74" name="Shape 72"/>
          <p:cNvSpPr/>
          <p:nvPr/>
        </p:nvSpPr>
        <p:spPr>
          <a:xfrm>
            <a:off x="1417320" y="3890772"/>
            <a:ext cx="64008" cy="132588"/>
          </a:xfrm>
          <a:prstGeom prst="rect">
            <a:avLst/>
          </a:prstGeom>
          <a:solidFill>
            <a:schemeClr val="accent4"/>
          </a:solidFill>
          <a:ln w="12700">
            <a:solidFill>
              <a:schemeClr val="accent4"/>
            </a:solidFill>
            <a:prstDash val="solid"/>
          </a:ln>
        </p:spPr>
      </p:sp>
      <p:sp>
        <p:nvSpPr>
          <p:cNvPr id="75" name="Text 73"/>
          <p:cNvSpPr txBox="1"/>
          <p:nvPr/>
        </p:nvSpPr>
        <p:spPr>
          <a:xfrm>
            <a:off x="1536192" y="3817620"/>
            <a:ext cx="2176272" cy="278892"/>
          </a:xfrm>
          <a:prstGeom prst="rect">
            <a:avLst/>
          </a:prstGeom>
          <a:noFill/>
          <a:ln/>
        </p:spPr>
        <p:txBody>
          <a:bodyPr wrap="square" lIns="0" tIns="0" rIns="0" bIns="0" rtlCol="0" anchor="ctr"/>
          <a:lstStyle/>
          <a:p>
            <a:pPr indent="0" marL="0">
              <a:buNone/>
            </a:pPr>
            <a:r>
              <a:rPr lang="en-US" sz="900" dirty="0">
                <a:solidFill>
                  <a:schemeClr val="tx1"/>
                </a:solidFill>
              </a:rPr>
              <a:t>Campaña "Escanea tu lote" en stands</a:t>
            </a:r>
            <a:endParaRPr lang="en-US" sz="900" dirty="0"/>
          </a:p>
        </p:txBody>
      </p:sp>
      <p:sp>
        <p:nvSpPr>
          <p:cNvPr id="76" name="Shape 74"/>
          <p:cNvSpPr/>
          <p:nvPr/>
        </p:nvSpPr>
        <p:spPr>
          <a:xfrm>
            <a:off x="5354726" y="3863340"/>
            <a:ext cx="2049475" cy="187452"/>
          </a:xfrm>
          <a:prstGeom prst="roundRect">
            <a:avLst>
              <a:gd name="adj" fmla="val 39024"/>
            </a:avLst>
          </a:prstGeom>
          <a:solidFill>
            <a:schemeClr val="accent4"/>
          </a:solidFill>
          <a:ln w="12700">
            <a:solidFill>
              <a:schemeClr val="accent4"/>
            </a:solidFill>
            <a:prstDash val="solid"/>
          </a:ln>
        </p:spPr>
      </p:sp>
      <p:sp>
        <p:nvSpPr>
          <p:cNvPr id="77" name="Text 75"/>
          <p:cNvSpPr txBox="1"/>
          <p:nvPr/>
        </p:nvSpPr>
        <p:spPr>
          <a:xfrm>
            <a:off x="5309006" y="3863340"/>
            <a:ext cx="2140915" cy="187452"/>
          </a:xfrm>
          <a:prstGeom prst="rect">
            <a:avLst/>
          </a:prstGeom>
          <a:noFill/>
          <a:ln/>
        </p:spPr>
        <p:txBody>
          <a:bodyPr wrap="square" lIns="0" tIns="0" rIns="0" bIns="0" rtlCol="0" anchor="ctr"/>
          <a:lstStyle/>
          <a:p>
            <a:pPr algn="ctr" indent="0" marL="0">
              <a:buNone/>
            </a:pPr>
            <a:r>
              <a:rPr lang="en-US" sz="800" b="1" dirty="0">
                <a:solidFill>
                  <a:schemeClr val="bg1"/>
                </a:solidFill>
              </a:rPr>
              <a:t>15 % a 28 %</a:t>
            </a:r>
            <a:endParaRPr lang="en-US" sz="800" dirty="0"/>
          </a:p>
        </p:txBody>
      </p:sp>
      <p:sp>
        <p:nvSpPr>
          <p:cNvPr id="78" name="Shape 76"/>
          <p:cNvSpPr/>
          <p:nvPr/>
        </p:nvSpPr>
        <p:spPr>
          <a:xfrm>
            <a:off x="9037320" y="3863340"/>
            <a:ext cx="471221" cy="187452"/>
          </a:xfrm>
          <a:prstGeom prst="roundRect">
            <a:avLst>
              <a:gd name="adj" fmla="val 39024"/>
            </a:avLst>
          </a:prstGeom>
          <a:solidFill>
            <a:schemeClr val="accent4"/>
          </a:solidFill>
          <a:ln w="12700">
            <a:solidFill>
              <a:schemeClr val="accent4"/>
            </a:solidFill>
            <a:prstDash val="solid"/>
          </a:ln>
        </p:spPr>
      </p:sp>
      <p:sp>
        <p:nvSpPr>
          <p:cNvPr id="79" name="Text 77"/>
          <p:cNvSpPr txBox="1"/>
          <p:nvPr/>
        </p:nvSpPr>
        <p:spPr>
          <a:xfrm>
            <a:off x="8991600" y="3863340"/>
            <a:ext cx="562661" cy="187452"/>
          </a:xfrm>
          <a:prstGeom prst="rect">
            <a:avLst/>
          </a:prstGeom>
          <a:noFill/>
          <a:ln/>
        </p:spPr>
        <p:txBody>
          <a:bodyPr wrap="square" lIns="0" tIns="0" rIns="0" bIns="0" rtlCol="0" anchor="ctr"/>
          <a:lstStyle/>
          <a:p>
            <a:pPr algn="ctr" indent="0" marL="0">
              <a:buNone/>
            </a:pPr>
            <a:r>
              <a:rPr lang="en-US" sz="700" b="1" dirty="0">
                <a:solidFill>
                  <a:schemeClr val="bg1"/>
                </a:solidFill>
              </a:rPr>
              <a:t>Punto 3</a:t>
            </a:r>
            <a:endParaRPr lang="en-US" sz="700" dirty="0"/>
          </a:p>
        </p:txBody>
      </p:sp>
      <p:sp>
        <p:nvSpPr>
          <p:cNvPr id="80" name="Text 78"/>
          <p:cNvSpPr txBox="1"/>
          <p:nvPr/>
        </p:nvSpPr>
        <p:spPr>
          <a:xfrm>
            <a:off x="548640" y="4114800"/>
            <a:ext cx="868680" cy="242316"/>
          </a:xfrm>
          <a:prstGeom prst="rect">
            <a:avLst/>
          </a:prstGeom>
          <a:noFill/>
          <a:ln/>
        </p:spPr>
        <p:txBody>
          <a:bodyPr wrap="square" lIns="0" tIns="0" rIns="0" bIns="0" rtlCol="0" anchor="ctr"/>
          <a:lstStyle/>
          <a:p>
            <a:pPr indent="0" marL="0">
              <a:buNone/>
            </a:pPr>
            <a:r>
              <a:rPr lang="en-US" sz="800" b="1" spc="50" kern="0" dirty="0">
                <a:solidFill>
                  <a:schemeClr val="accent3"/>
                </a:solidFill>
              </a:rPr>
              <a:t>CRECER</a:t>
            </a:r>
            <a:endParaRPr lang="en-US" sz="800" dirty="0"/>
          </a:p>
        </p:txBody>
      </p:sp>
      <p:sp>
        <p:nvSpPr>
          <p:cNvPr id="81" name="Shape 79"/>
          <p:cNvSpPr/>
          <p:nvPr/>
        </p:nvSpPr>
        <p:spPr>
          <a:xfrm>
            <a:off x="1417320" y="4169664"/>
            <a:ext cx="64008" cy="132588"/>
          </a:xfrm>
          <a:prstGeom prst="rect">
            <a:avLst/>
          </a:prstGeom>
          <a:solidFill>
            <a:schemeClr val="accent3"/>
          </a:solidFill>
          <a:ln w="12700">
            <a:solidFill>
              <a:schemeClr val="accent3"/>
            </a:solidFill>
            <a:prstDash val="solid"/>
          </a:ln>
        </p:spPr>
      </p:sp>
      <p:sp>
        <p:nvSpPr>
          <p:cNvPr id="82" name="Text 80"/>
          <p:cNvSpPr txBox="1"/>
          <p:nvPr/>
        </p:nvSpPr>
        <p:spPr>
          <a:xfrm>
            <a:off x="1536192" y="4096512"/>
            <a:ext cx="2176272" cy="278892"/>
          </a:xfrm>
          <a:prstGeom prst="rect">
            <a:avLst/>
          </a:prstGeom>
          <a:noFill/>
          <a:ln/>
        </p:spPr>
        <p:txBody>
          <a:bodyPr wrap="square" lIns="0" tIns="0" rIns="0" bIns="0" rtlCol="0" anchor="ctr"/>
          <a:lstStyle/>
          <a:p>
            <a:pPr indent="0" marL="0">
              <a:buNone/>
            </a:pPr>
            <a:r>
              <a:rPr lang="en-US" sz="900" dirty="0">
                <a:solidFill>
                  <a:schemeClr val="tx1"/>
                </a:solidFill>
              </a:rPr>
              <a:t>Quioscos en colegios A y B</a:t>
            </a:r>
            <a:endParaRPr lang="en-US" sz="900" dirty="0"/>
          </a:p>
        </p:txBody>
      </p:sp>
      <p:sp>
        <p:nvSpPr>
          <p:cNvPr id="83" name="Shape 81"/>
          <p:cNvSpPr/>
          <p:nvPr/>
        </p:nvSpPr>
        <p:spPr>
          <a:xfrm>
            <a:off x="6406896" y="4142232"/>
            <a:ext cx="2575560" cy="187452"/>
          </a:xfrm>
          <a:prstGeom prst="roundRect">
            <a:avLst>
              <a:gd name="adj" fmla="val 39024"/>
            </a:avLst>
          </a:prstGeom>
          <a:solidFill>
            <a:schemeClr val="accent3"/>
          </a:solidFill>
          <a:ln w="12700">
            <a:solidFill>
              <a:schemeClr val="accent3"/>
            </a:solidFill>
            <a:prstDash val="solid"/>
          </a:ln>
        </p:spPr>
      </p:sp>
      <p:sp>
        <p:nvSpPr>
          <p:cNvPr id="84" name="Text 82"/>
          <p:cNvSpPr txBox="1"/>
          <p:nvPr/>
        </p:nvSpPr>
        <p:spPr>
          <a:xfrm>
            <a:off x="6361176" y="4142232"/>
            <a:ext cx="2667000" cy="187452"/>
          </a:xfrm>
          <a:prstGeom prst="rect">
            <a:avLst/>
          </a:prstGeom>
          <a:noFill/>
          <a:ln/>
        </p:spPr>
        <p:txBody>
          <a:bodyPr wrap="square" lIns="0" tIns="0" rIns="0" bIns="0" rtlCol="0" anchor="ctr"/>
          <a:lstStyle/>
          <a:p>
            <a:pPr algn="ctr" indent="0" marL="0">
              <a:buNone/>
            </a:pPr>
            <a:r>
              <a:rPr lang="en-US" sz="800" b="1" dirty="0">
                <a:solidFill>
                  <a:schemeClr val="tx2"/>
                </a:solidFill>
              </a:rPr>
              <a:t>1 a 3</a:t>
            </a:r>
            <a:endParaRPr lang="en-US" sz="800" dirty="0"/>
          </a:p>
        </p:txBody>
      </p:sp>
      <p:sp>
        <p:nvSpPr>
          <p:cNvPr id="85" name="Shape 83"/>
          <p:cNvSpPr/>
          <p:nvPr/>
        </p:nvSpPr>
        <p:spPr>
          <a:xfrm>
            <a:off x="9037320" y="4142232"/>
            <a:ext cx="2575560" cy="187452"/>
          </a:xfrm>
          <a:prstGeom prst="roundRect">
            <a:avLst>
              <a:gd name="adj" fmla="val 39024"/>
            </a:avLst>
          </a:prstGeom>
          <a:solidFill>
            <a:schemeClr val="accent3"/>
          </a:solidFill>
          <a:ln w="12700">
            <a:solidFill>
              <a:schemeClr val="accent3"/>
            </a:solidFill>
            <a:prstDash val="solid"/>
          </a:ln>
        </p:spPr>
      </p:sp>
      <p:sp>
        <p:nvSpPr>
          <p:cNvPr id="86" name="Text 84"/>
          <p:cNvSpPr txBox="1"/>
          <p:nvPr/>
        </p:nvSpPr>
        <p:spPr>
          <a:xfrm>
            <a:off x="8991600" y="4142232"/>
            <a:ext cx="2667000" cy="187452"/>
          </a:xfrm>
          <a:prstGeom prst="rect">
            <a:avLst/>
          </a:prstGeom>
          <a:noFill/>
          <a:ln/>
        </p:spPr>
        <p:txBody>
          <a:bodyPr wrap="square" lIns="0" tIns="0" rIns="0" bIns="0" rtlCol="0" anchor="ctr"/>
          <a:lstStyle/>
          <a:p>
            <a:pPr algn="ctr" indent="0" marL="0">
              <a:buNone/>
            </a:pPr>
            <a:r>
              <a:rPr lang="en-US" sz="800" b="1" dirty="0">
                <a:solidFill>
                  <a:schemeClr val="tx2"/>
                </a:solidFill>
              </a:rPr>
              <a:t>4 a 5</a:t>
            </a:r>
            <a:endParaRPr lang="en-US" sz="800" dirty="0"/>
          </a:p>
        </p:txBody>
      </p:sp>
      <p:sp>
        <p:nvSpPr>
          <p:cNvPr id="87" name="Shape 85"/>
          <p:cNvSpPr/>
          <p:nvPr/>
        </p:nvSpPr>
        <p:spPr>
          <a:xfrm>
            <a:off x="1417320" y="4448556"/>
            <a:ext cx="64008" cy="132588"/>
          </a:xfrm>
          <a:prstGeom prst="rect">
            <a:avLst/>
          </a:prstGeom>
          <a:solidFill>
            <a:schemeClr val="accent3"/>
          </a:solidFill>
          <a:ln w="12700">
            <a:solidFill>
              <a:schemeClr val="accent3"/>
            </a:solidFill>
            <a:prstDash val="solid"/>
          </a:ln>
        </p:spPr>
      </p:sp>
      <p:sp>
        <p:nvSpPr>
          <p:cNvPr id="88" name="Text 86"/>
          <p:cNvSpPr txBox="1"/>
          <p:nvPr/>
        </p:nvSpPr>
        <p:spPr>
          <a:xfrm>
            <a:off x="1536192" y="4375404"/>
            <a:ext cx="2176272" cy="278892"/>
          </a:xfrm>
          <a:prstGeom prst="rect">
            <a:avLst/>
          </a:prstGeom>
          <a:noFill/>
          <a:ln/>
        </p:spPr>
        <p:txBody>
          <a:bodyPr wrap="square" lIns="0" tIns="0" rIns="0" bIns="0" rtlCol="0" anchor="ctr"/>
          <a:lstStyle/>
          <a:p>
            <a:pPr indent="0" marL="0">
              <a:buNone/>
            </a:pPr>
            <a:r>
              <a:rPr lang="en-US" sz="900" dirty="0">
                <a:solidFill>
                  <a:schemeClr val="tx1"/>
                </a:solidFill>
              </a:rPr>
              <a:t>Eventos sin costo: kermeses y cumpleaños</a:t>
            </a:r>
            <a:endParaRPr lang="en-US" sz="900" dirty="0"/>
          </a:p>
        </p:txBody>
      </p:sp>
      <p:sp>
        <p:nvSpPr>
          <p:cNvPr id="89" name="Shape 87"/>
          <p:cNvSpPr/>
          <p:nvPr/>
        </p:nvSpPr>
        <p:spPr>
          <a:xfrm>
            <a:off x="5354726" y="4421124"/>
            <a:ext cx="997306" cy="187452"/>
          </a:xfrm>
          <a:prstGeom prst="roundRect">
            <a:avLst>
              <a:gd name="adj" fmla="val 39024"/>
            </a:avLst>
          </a:prstGeom>
          <a:solidFill>
            <a:schemeClr val="accent3"/>
          </a:solidFill>
          <a:ln w="12700">
            <a:solidFill>
              <a:schemeClr val="accent3"/>
            </a:solidFill>
            <a:prstDash val="solid"/>
          </a:ln>
        </p:spPr>
      </p:sp>
      <p:sp>
        <p:nvSpPr>
          <p:cNvPr id="90" name="Text 88"/>
          <p:cNvSpPr txBox="1"/>
          <p:nvPr/>
        </p:nvSpPr>
        <p:spPr>
          <a:xfrm>
            <a:off x="5309006" y="4421124"/>
            <a:ext cx="1088746" cy="187452"/>
          </a:xfrm>
          <a:prstGeom prst="rect">
            <a:avLst/>
          </a:prstGeom>
          <a:noFill/>
          <a:ln/>
        </p:spPr>
        <p:txBody>
          <a:bodyPr wrap="square" lIns="0" tIns="0" rIns="0" bIns="0" rtlCol="0" anchor="ctr"/>
          <a:lstStyle/>
          <a:p>
            <a:pPr algn="ctr" indent="0" marL="0">
              <a:buNone/>
            </a:pPr>
            <a:r>
              <a:rPr lang="en-US" sz="800" b="1" dirty="0">
                <a:solidFill>
                  <a:schemeClr val="tx2"/>
                </a:solidFill>
              </a:rPr>
              <a:t>1–2/mes</a:t>
            </a:r>
            <a:endParaRPr lang="en-US" sz="800" dirty="0"/>
          </a:p>
        </p:txBody>
      </p:sp>
      <p:sp>
        <p:nvSpPr>
          <p:cNvPr id="91" name="Shape 89"/>
          <p:cNvSpPr/>
          <p:nvPr/>
        </p:nvSpPr>
        <p:spPr>
          <a:xfrm>
            <a:off x="6406896" y="4421124"/>
            <a:ext cx="4153814" cy="187452"/>
          </a:xfrm>
          <a:prstGeom prst="roundRect">
            <a:avLst>
              <a:gd name="adj" fmla="val 39024"/>
            </a:avLst>
          </a:prstGeom>
          <a:solidFill>
            <a:schemeClr val="accent3"/>
          </a:solidFill>
          <a:ln w="12700">
            <a:solidFill>
              <a:schemeClr val="accent3"/>
            </a:solidFill>
            <a:prstDash val="solid"/>
          </a:ln>
        </p:spPr>
      </p:sp>
      <p:sp>
        <p:nvSpPr>
          <p:cNvPr id="92" name="Text 90"/>
          <p:cNvSpPr txBox="1"/>
          <p:nvPr/>
        </p:nvSpPr>
        <p:spPr>
          <a:xfrm>
            <a:off x="6361176" y="4421124"/>
            <a:ext cx="4245254" cy="187452"/>
          </a:xfrm>
          <a:prstGeom prst="rect">
            <a:avLst/>
          </a:prstGeom>
          <a:noFill/>
          <a:ln/>
        </p:spPr>
        <p:txBody>
          <a:bodyPr wrap="square" lIns="0" tIns="0" rIns="0" bIns="0" rtlCol="0" anchor="ctr"/>
          <a:lstStyle/>
          <a:p>
            <a:pPr algn="ctr" indent="0" marL="0">
              <a:buNone/>
            </a:pPr>
            <a:r>
              <a:rPr lang="en-US" sz="800" b="1" dirty="0">
                <a:solidFill>
                  <a:schemeClr val="tx2"/>
                </a:solidFill>
              </a:rPr>
              <a:t>3–5/mes</a:t>
            </a:r>
            <a:endParaRPr lang="en-US" sz="800" dirty="0"/>
          </a:p>
        </p:txBody>
      </p:sp>
      <p:sp>
        <p:nvSpPr>
          <p:cNvPr id="93" name="Shape 91"/>
          <p:cNvSpPr/>
          <p:nvPr/>
        </p:nvSpPr>
        <p:spPr>
          <a:xfrm>
            <a:off x="10615574" y="4421124"/>
            <a:ext cx="997306" cy="187452"/>
          </a:xfrm>
          <a:prstGeom prst="roundRect">
            <a:avLst>
              <a:gd name="adj" fmla="val 39024"/>
            </a:avLst>
          </a:prstGeom>
          <a:solidFill>
            <a:schemeClr val="accent3"/>
          </a:solidFill>
          <a:ln w="12700">
            <a:solidFill>
              <a:schemeClr val="accent3"/>
            </a:solidFill>
            <a:prstDash val="solid"/>
          </a:ln>
        </p:spPr>
      </p:sp>
      <p:sp>
        <p:nvSpPr>
          <p:cNvPr id="94" name="Text 92"/>
          <p:cNvSpPr txBox="1"/>
          <p:nvPr/>
        </p:nvSpPr>
        <p:spPr>
          <a:xfrm>
            <a:off x="10569854" y="4421124"/>
            <a:ext cx="1088746" cy="187452"/>
          </a:xfrm>
          <a:prstGeom prst="rect">
            <a:avLst/>
          </a:prstGeom>
          <a:noFill/>
          <a:ln/>
        </p:spPr>
        <p:txBody>
          <a:bodyPr wrap="square" lIns="0" tIns="0" rIns="0" bIns="0" rtlCol="0" anchor="ctr"/>
          <a:lstStyle/>
          <a:p>
            <a:pPr algn="ctr" indent="0" marL="0">
              <a:buNone/>
            </a:pPr>
            <a:r>
              <a:rPr lang="en-US" sz="800" b="1" dirty="0">
                <a:solidFill>
                  <a:schemeClr val="tx2"/>
                </a:solidFill>
              </a:rPr>
              <a:t>2–3/mes</a:t>
            </a:r>
            <a:endParaRPr lang="en-US" sz="800" dirty="0"/>
          </a:p>
        </p:txBody>
      </p:sp>
      <p:sp>
        <p:nvSpPr>
          <p:cNvPr id="95" name="Shape 93"/>
          <p:cNvSpPr/>
          <p:nvPr/>
        </p:nvSpPr>
        <p:spPr>
          <a:xfrm>
            <a:off x="1417320" y="4727448"/>
            <a:ext cx="64008" cy="132588"/>
          </a:xfrm>
          <a:prstGeom prst="rect">
            <a:avLst/>
          </a:prstGeom>
          <a:solidFill>
            <a:schemeClr val="accent3"/>
          </a:solidFill>
          <a:ln w="12700">
            <a:solidFill>
              <a:schemeClr val="accent3"/>
            </a:solidFill>
            <a:prstDash val="solid"/>
          </a:ln>
        </p:spPr>
      </p:sp>
      <p:sp>
        <p:nvSpPr>
          <p:cNvPr id="96" name="Text 94"/>
          <p:cNvSpPr txBox="1"/>
          <p:nvPr/>
        </p:nvSpPr>
        <p:spPr>
          <a:xfrm>
            <a:off x="1536192" y="4654296"/>
            <a:ext cx="2176272" cy="278892"/>
          </a:xfrm>
          <a:prstGeom prst="rect">
            <a:avLst/>
          </a:prstGeom>
          <a:noFill/>
          <a:ln/>
        </p:spPr>
        <p:txBody>
          <a:bodyPr wrap="square" lIns="0" tIns="0" rIns="0" bIns="0" rtlCol="0" anchor="ctr"/>
          <a:lstStyle/>
          <a:p>
            <a:pPr indent="0" marL="0">
              <a:buNone/>
            </a:pPr>
            <a:r>
              <a:rPr lang="en-US" sz="900" dirty="0">
                <a:solidFill>
                  <a:schemeClr val="tx1"/>
                </a:solidFill>
              </a:rPr>
              <a:t>Campañas Madre, Padre y Día del Niño</a:t>
            </a:r>
            <a:endParaRPr lang="en-US" sz="900" dirty="0"/>
          </a:p>
        </p:txBody>
      </p:sp>
      <p:sp>
        <p:nvSpPr>
          <p:cNvPr id="97" name="Shape 95"/>
          <p:cNvSpPr/>
          <p:nvPr/>
        </p:nvSpPr>
        <p:spPr>
          <a:xfrm>
            <a:off x="7459066" y="4700016"/>
            <a:ext cx="471221" cy="187452"/>
          </a:xfrm>
          <a:prstGeom prst="roundRect">
            <a:avLst>
              <a:gd name="adj" fmla="val 39024"/>
            </a:avLst>
          </a:prstGeom>
          <a:solidFill>
            <a:schemeClr val="accent3"/>
          </a:solidFill>
          <a:ln w="12700">
            <a:solidFill>
              <a:schemeClr val="accent3"/>
            </a:solidFill>
            <a:prstDash val="solid"/>
          </a:ln>
        </p:spPr>
      </p:sp>
      <p:sp>
        <p:nvSpPr>
          <p:cNvPr id="98" name="Text 96"/>
          <p:cNvSpPr txBox="1"/>
          <p:nvPr/>
        </p:nvSpPr>
        <p:spPr>
          <a:xfrm>
            <a:off x="7413346" y="4700016"/>
            <a:ext cx="562661" cy="187452"/>
          </a:xfrm>
          <a:prstGeom prst="rect">
            <a:avLst/>
          </a:prstGeom>
          <a:noFill/>
          <a:ln/>
        </p:spPr>
        <p:txBody>
          <a:bodyPr wrap="square" lIns="0" tIns="0" rIns="0" bIns="0" rtlCol="0" anchor="ctr"/>
          <a:lstStyle/>
          <a:p>
            <a:pPr algn="ctr" indent="0" marL="0">
              <a:buNone/>
            </a:pPr>
            <a:r>
              <a:rPr lang="en-US" sz="700" b="1" dirty="0">
                <a:solidFill>
                  <a:schemeClr val="tx2"/>
                </a:solidFill>
              </a:rPr>
              <a:t>9-may</a:t>
            </a:r>
            <a:endParaRPr lang="en-US" sz="700" dirty="0"/>
          </a:p>
        </p:txBody>
      </p:sp>
      <p:sp>
        <p:nvSpPr>
          <p:cNvPr id="99" name="Shape 97"/>
          <p:cNvSpPr/>
          <p:nvPr/>
        </p:nvSpPr>
        <p:spPr>
          <a:xfrm>
            <a:off x="7985150" y="4700016"/>
            <a:ext cx="471221" cy="187452"/>
          </a:xfrm>
          <a:prstGeom prst="roundRect">
            <a:avLst>
              <a:gd name="adj" fmla="val 39024"/>
            </a:avLst>
          </a:prstGeom>
          <a:solidFill>
            <a:schemeClr val="accent3"/>
          </a:solidFill>
          <a:ln w="12700">
            <a:solidFill>
              <a:schemeClr val="accent3"/>
            </a:solidFill>
            <a:prstDash val="solid"/>
          </a:ln>
        </p:spPr>
      </p:sp>
      <p:sp>
        <p:nvSpPr>
          <p:cNvPr id="100" name="Text 98"/>
          <p:cNvSpPr txBox="1"/>
          <p:nvPr/>
        </p:nvSpPr>
        <p:spPr>
          <a:xfrm>
            <a:off x="7939430" y="4700016"/>
            <a:ext cx="562661" cy="187452"/>
          </a:xfrm>
          <a:prstGeom prst="rect">
            <a:avLst/>
          </a:prstGeom>
          <a:noFill/>
          <a:ln/>
        </p:spPr>
        <p:txBody>
          <a:bodyPr wrap="square" lIns="0" tIns="0" rIns="0" bIns="0" rtlCol="0" anchor="ctr"/>
          <a:lstStyle/>
          <a:p>
            <a:pPr algn="ctr" indent="0" marL="0">
              <a:buNone/>
            </a:pPr>
            <a:r>
              <a:rPr lang="en-US" sz="700" b="1" dirty="0">
                <a:solidFill>
                  <a:schemeClr val="tx2"/>
                </a:solidFill>
              </a:rPr>
              <a:t>20-jun</a:t>
            </a:r>
            <a:endParaRPr lang="en-US" sz="700" dirty="0"/>
          </a:p>
        </p:txBody>
      </p:sp>
      <p:sp>
        <p:nvSpPr>
          <p:cNvPr id="101" name="Shape 99"/>
          <p:cNvSpPr/>
          <p:nvPr/>
        </p:nvSpPr>
        <p:spPr>
          <a:xfrm>
            <a:off x="9037320" y="4700016"/>
            <a:ext cx="471221" cy="187452"/>
          </a:xfrm>
          <a:prstGeom prst="roundRect">
            <a:avLst>
              <a:gd name="adj" fmla="val 39024"/>
            </a:avLst>
          </a:prstGeom>
          <a:solidFill>
            <a:schemeClr val="accent3"/>
          </a:solidFill>
          <a:ln w="12700">
            <a:solidFill>
              <a:schemeClr val="accent3"/>
            </a:solidFill>
            <a:prstDash val="solid"/>
          </a:ln>
        </p:spPr>
      </p:sp>
      <p:sp>
        <p:nvSpPr>
          <p:cNvPr id="102" name="Text 100"/>
          <p:cNvSpPr txBox="1"/>
          <p:nvPr/>
        </p:nvSpPr>
        <p:spPr>
          <a:xfrm>
            <a:off x="8991600" y="4700016"/>
            <a:ext cx="562661" cy="187452"/>
          </a:xfrm>
          <a:prstGeom prst="rect">
            <a:avLst/>
          </a:prstGeom>
          <a:noFill/>
          <a:ln/>
        </p:spPr>
        <p:txBody>
          <a:bodyPr wrap="square" lIns="0" tIns="0" rIns="0" bIns="0" rtlCol="0" anchor="ctr"/>
          <a:lstStyle/>
          <a:p>
            <a:pPr algn="ctr" indent="0" marL="0">
              <a:buNone/>
            </a:pPr>
            <a:r>
              <a:rPr lang="en-US" sz="700" b="1" dirty="0">
                <a:solidFill>
                  <a:schemeClr val="tx2"/>
                </a:solidFill>
              </a:rPr>
              <a:t>15-ago</a:t>
            </a:r>
            <a:endParaRPr lang="en-US" sz="700" dirty="0"/>
          </a:p>
        </p:txBody>
      </p:sp>
      <p:sp>
        <p:nvSpPr>
          <p:cNvPr id="103" name="Shape 101"/>
          <p:cNvSpPr/>
          <p:nvPr/>
        </p:nvSpPr>
        <p:spPr>
          <a:xfrm>
            <a:off x="1417320" y="5006340"/>
            <a:ext cx="64008" cy="132588"/>
          </a:xfrm>
          <a:prstGeom prst="rect">
            <a:avLst/>
          </a:prstGeom>
          <a:solidFill>
            <a:schemeClr val="accent3"/>
          </a:solidFill>
          <a:ln w="12700">
            <a:solidFill>
              <a:schemeClr val="accent3"/>
            </a:solidFill>
            <a:prstDash val="solid"/>
          </a:ln>
        </p:spPr>
      </p:sp>
      <p:sp>
        <p:nvSpPr>
          <p:cNvPr id="104" name="Text 102"/>
          <p:cNvSpPr txBox="1"/>
          <p:nvPr/>
        </p:nvSpPr>
        <p:spPr>
          <a:xfrm>
            <a:off x="1536192" y="4933188"/>
            <a:ext cx="2176272" cy="278892"/>
          </a:xfrm>
          <a:prstGeom prst="rect">
            <a:avLst/>
          </a:prstGeom>
          <a:noFill/>
          <a:ln/>
        </p:spPr>
        <p:txBody>
          <a:bodyPr wrap="square" lIns="0" tIns="0" rIns="0" bIns="0" rtlCol="0" anchor="ctr"/>
          <a:lstStyle/>
          <a:p>
            <a:pPr indent="0" marL="0">
              <a:buNone/>
            </a:pPr>
            <a:r>
              <a:rPr lang="en-US" sz="900" dirty="0">
                <a:solidFill>
                  <a:schemeClr val="tx1"/>
                </a:solidFill>
              </a:rPr>
              <a:t>Navidad: cajas para regalo y empresas</a:t>
            </a:r>
            <a:endParaRPr lang="en-US" sz="900" dirty="0"/>
          </a:p>
        </p:txBody>
      </p:sp>
      <p:sp>
        <p:nvSpPr>
          <p:cNvPr id="105" name="Shape 103"/>
          <p:cNvSpPr/>
          <p:nvPr/>
        </p:nvSpPr>
        <p:spPr>
          <a:xfrm>
            <a:off x="10615574" y="4978908"/>
            <a:ext cx="997306" cy="187452"/>
          </a:xfrm>
          <a:prstGeom prst="roundRect">
            <a:avLst>
              <a:gd name="adj" fmla="val 39024"/>
            </a:avLst>
          </a:prstGeom>
          <a:solidFill>
            <a:schemeClr val="accent3"/>
          </a:solidFill>
          <a:ln w="12700">
            <a:solidFill>
              <a:schemeClr val="accent3"/>
            </a:solidFill>
            <a:prstDash val="solid"/>
          </a:ln>
        </p:spPr>
      </p:sp>
      <p:sp>
        <p:nvSpPr>
          <p:cNvPr id="106" name="Text 104"/>
          <p:cNvSpPr txBox="1"/>
          <p:nvPr/>
        </p:nvSpPr>
        <p:spPr>
          <a:xfrm>
            <a:off x="10569854" y="4978908"/>
            <a:ext cx="1088746" cy="187452"/>
          </a:xfrm>
          <a:prstGeom prst="rect">
            <a:avLst/>
          </a:prstGeom>
          <a:noFill/>
          <a:ln/>
        </p:spPr>
        <p:txBody>
          <a:bodyPr wrap="square" lIns="0" tIns="0" rIns="0" bIns="0" rtlCol="0" anchor="ctr"/>
          <a:lstStyle/>
          <a:p>
            <a:pPr algn="ctr" indent="0" marL="0">
              <a:buNone/>
            </a:pPr>
            <a:r>
              <a:rPr lang="en-US" sz="800" b="1" dirty="0">
                <a:solidFill>
                  <a:schemeClr val="tx2"/>
                </a:solidFill>
              </a:rPr>
              <a:t>Por pedido</a:t>
            </a:r>
            <a:endParaRPr lang="en-US" sz="800" dirty="0"/>
          </a:p>
        </p:txBody>
      </p:sp>
      <p:sp>
        <p:nvSpPr>
          <p:cNvPr id="107" name="Shape 105"/>
          <p:cNvSpPr/>
          <p:nvPr/>
        </p:nvSpPr>
        <p:spPr>
          <a:xfrm>
            <a:off x="548640" y="5276088"/>
            <a:ext cx="11091672" cy="384048"/>
          </a:xfrm>
          <a:prstGeom prst="roundRect">
            <a:avLst>
              <a:gd name="adj" fmla="val 19048"/>
            </a:avLst>
          </a:prstGeom>
          <a:solidFill>
            <a:schemeClr val="tx2"/>
          </a:solidFill>
          <a:ln w="12700">
            <a:solidFill>
              <a:schemeClr val="tx2"/>
            </a:solidFill>
            <a:prstDash val="solid"/>
          </a:ln>
        </p:spPr>
      </p:sp>
      <p:sp>
        <p:nvSpPr>
          <p:cNvPr id="108" name="Text 106"/>
          <p:cNvSpPr txBox="1"/>
          <p:nvPr/>
        </p:nvSpPr>
        <p:spPr>
          <a:xfrm>
            <a:off x="731520" y="5276088"/>
            <a:ext cx="2971800" cy="384048"/>
          </a:xfrm>
          <a:prstGeom prst="rect">
            <a:avLst/>
          </a:prstGeom>
          <a:noFill/>
          <a:ln/>
        </p:spPr>
        <p:txBody>
          <a:bodyPr wrap="square" lIns="0" tIns="0" rIns="0" bIns="0" rtlCol="0" anchor="ctr"/>
          <a:lstStyle/>
          <a:p>
            <a:pPr indent="0" marL="0">
              <a:buNone/>
            </a:pPr>
            <a:r>
              <a:rPr lang="en-US" sz="1050" b="1" dirty="0">
                <a:solidFill>
                  <a:schemeClr val="bg1"/>
                </a:solidFill>
              </a:rPr>
              <a:t>Inversión del mes (S/)  </a:t>
            </a:r>
            <a:pPr indent="0" marL="0">
              <a:buNone/>
            </a:pPr>
            <a:r>
              <a:rPr lang="en-US" sz="900" dirty="0">
                <a:solidFill>
                  <a:schemeClr val="accent3"/>
                </a:solidFill>
              </a:rPr>
              <a:t>total 24,544</a:t>
            </a:r>
            <a:endParaRPr lang="en-US" sz="1050" dirty="0"/>
          </a:p>
        </p:txBody>
      </p:sp>
      <p:sp>
        <p:nvSpPr>
          <p:cNvPr id="109" name="Text 107"/>
          <p:cNvSpPr txBox="1"/>
          <p:nvPr/>
        </p:nvSpPr>
        <p:spPr>
          <a:xfrm>
            <a:off x="3749040"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a:t>
            </a:r>
            <a:endParaRPr lang="en-US" sz="950" dirty="0"/>
          </a:p>
        </p:txBody>
      </p:sp>
      <p:sp>
        <p:nvSpPr>
          <p:cNvPr id="110" name="Text 108"/>
          <p:cNvSpPr txBox="1"/>
          <p:nvPr/>
        </p:nvSpPr>
        <p:spPr>
          <a:xfrm>
            <a:off x="4275125"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300</a:t>
            </a:r>
            <a:endParaRPr lang="en-US" sz="950" dirty="0"/>
          </a:p>
        </p:txBody>
      </p:sp>
      <p:sp>
        <p:nvSpPr>
          <p:cNvPr id="111" name="Text 109"/>
          <p:cNvSpPr txBox="1"/>
          <p:nvPr/>
        </p:nvSpPr>
        <p:spPr>
          <a:xfrm>
            <a:off x="4801210"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1,458</a:t>
            </a:r>
            <a:endParaRPr lang="en-US" sz="950" dirty="0"/>
          </a:p>
        </p:txBody>
      </p:sp>
      <p:sp>
        <p:nvSpPr>
          <p:cNvPr id="112" name="Text 110"/>
          <p:cNvSpPr txBox="1"/>
          <p:nvPr/>
        </p:nvSpPr>
        <p:spPr>
          <a:xfrm>
            <a:off x="5327294"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2,506</a:t>
            </a:r>
            <a:endParaRPr lang="en-US" sz="950" dirty="0"/>
          </a:p>
        </p:txBody>
      </p:sp>
      <p:sp>
        <p:nvSpPr>
          <p:cNvPr id="113" name="Text 111"/>
          <p:cNvSpPr txBox="1"/>
          <p:nvPr/>
        </p:nvSpPr>
        <p:spPr>
          <a:xfrm>
            <a:off x="5853379" y="5276088"/>
            <a:ext cx="526085" cy="384048"/>
          </a:xfrm>
          <a:prstGeom prst="rect">
            <a:avLst/>
          </a:prstGeom>
          <a:noFill/>
          <a:ln/>
        </p:spPr>
        <p:txBody>
          <a:bodyPr wrap="square" lIns="0" tIns="0" rIns="0" bIns="0" rtlCol="0" anchor="ctr"/>
          <a:lstStyle/>
          <a:p>
            <a:pPr algn="ctr" indent="0" marL="0">
              <a:buNone/>
            </a:pPr>
            <a:r>
              <a:rPr lang="en-US" sz="950" b="1" dirty="0">
                <a:solidFill>
                  <a:schemeClr val="accent3"/>
                </a:solidFill>
              </a:rPr>
              <a:t>3,290</a:t>
            </a:r>
            <a:endParaRPr lang="en-US" sz="950" dirty="0"/>
          </a:p>
        </p:txBody>
      </p:sp>
      <p:sp>
        <p:nvSpPr>
          <p:cNvPr id="114" name="Text 112"/>
          <p:cNvSpPr txBox="1"/>
          <p:nvPr/>
        </p:nvSpPr>
        <p:spPr>
          <a:xfrm>
            <a:off x="6379464"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15" name="Text 113"/>
          <p:cNvSpPr txBox="1"/>
          <p:nvPr/>
        </p:nvSpPr>
        <p:spPr>
          <a:xfrm>
            <a:off x="6905549" y="5276088"/>
            <a:ext cx="526085" cy="384048"/>
          </a:xfrm>
          <a:prstGeom prst="rect">
            <a:avLst/>
          </a:prstGeom>
          <a:noFill/>
          <a:ln/>
        </p:spPr>
        <p:txBody>
          <a:bodyPr wrap="square" lIns="0" tIns="0" rIns="0" bIns="0" rtlCol="0" anchor="ctr"/>
          <a:lstStyle/>
          <a:p>
            <a:pPr algn="ctr" indent="0" marL="0">
              <a:buNone/>
            </a:pPr>
            <a:r>
              <a:rPr lang="en-US" sz="950" b="1" dirty="0">
                <a:solidFill>
                  <a:schemeClr val="accent3"/>
                </a:solidFill>
              </a:rPr>
              <a:t>3,610</a:t>
            </a:r>
            <a:endParaRPr lang="en-US" sz="950" dirty="0"/>
          </a:p>
        </p:txBody>
      </p:sp>
      <p:sp>
        <p:nvSpPr>
          <p:cNvPr id="116" name="Text 114"/>
          <p:cNvSpPr txBox="1"/>
          <p:nvPr/>
        </p:nvSpPr>
        <p:spPr>
          <a:xfrm>
            <a:off x="7431634"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1,700</a:t>
            </a:r>
            <a:endParaRPr lang="en-US" sz="950" dirty="0"/>
          </a:p>
        </p:txBody>
      </p:sp>
      <p:sp>
        <p:nvSpPr>
          <p:cNvPr id="117" name="Text 115"/>
          <p:cNvSpPr txBox="1"/>
          <p:nvPr/>
        </p:nvSpPr>
        <p:spPr>
          <a:xfrm>
            <a:off x="7957718"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18" name="Text 116"/>
          <p:cNvSpPr txBox="1"/>
          <p:nvPr/>
        </p:nvSpPr>
        <p:spPr>
          <a:xfrm>
            <a:off x="8483803"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1,380</a:t>
            </a:r>
            <a:endParaRPr lang="en-US" sz="950" dirty="0"/>
          </a:p>
        </p:txBody>
      </p:sp>
      <p:sp>
        <p:nvSpPr>
          <p:cNvPr id="119" name="Text 117"/>
          <p:cNvSpPr txBox="1"/>
          <p:nvPr/>
        </p:nvSpPr>
        <p:spPr>
          <a:xfrm>
            <a:off x="9009888"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20" name="Text 118"/>
          <p:cNvSpPr txBox="1"/>
          <p:nvPr/>
        </p:nvSpPr>
        <p:spPr>
          <a:xfrm>
            <a:off x="9535973"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21" name="Text 119"/>
          <p:cNvSpPr txBox="1"/>
          <p:nvPr/>
        </p:nvSpPr>
        <p:spPr>
          <a:xfrm>
            <a:off x="10062058"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1,540</a:t>
            </a:r>
            <a:endParaRPr lang="en-US" sz="950" dirty="0"/>
          </a:p>
        </p:txBody>
      </p:sp>
      <p:sp>
        <p:nvSpPr>
          <p:cNvPr id="122" name="Text 120"/>
          <p:cNvSpPr txBox="1"/>
          <p:nvPr/>
        </p:nvSpPr>
        <p:spPr>
          <a:xfrm>
            <a:off x="10588142"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1,380</a:t>
            </a:r>
            <a:endParaRPr lang="en-US" sz="950" dirty="0"/>
          </a:p>
        </p:txBody>
      </p:sp>
      <p:sp>
        <p:nvSpPr>
          <p:cNvPr id="123" name="Text 121"/>
          <p:cNvSpPr txBox="1"/>
          <p:nvPr/>
        </p:nvSpPr>
        <p:spPr>
          <a:xfrm>
            <a:off x="11114227" y="5276088"/>
            <a:ext cx="526085" cy="384048"/>
          </a:xfrm>
          <a:prstGeom prst="rect">
            <a:avLst/>
          </a:prstGeom>
          <a:noFill/>
          <a:ln/>
        </p:spPr>
        <p:txBody>
          <a:bodyPr wrap="square" lIns="0" tIns="0" rIns="0" bIns="0" rtlCol="0" anchor="ctr"/>
          <a:lstStyle/>
          <a:p>
            <a:pPr algn="ctr" indent="0" marL="0">
              <a:buNone/>
            </a:pPr>
            <a:r>
              <a:rPr lang="en-US" sz="950" b="1" dirty="0">
                <a:solidFill>
                  <a:schemeClr val="bg1"/>
                </a:solidFill>
              </a:rPr>
              <a:t>1,220</a:t>
            </a:r>
            <a:endParaRPr lang="en-US" sz="950" dirty="0"/>
          </a:p>
        </p:txBody>
      </p:sp>
      <p:sp>
        <p:nvSpPr>
          <p:cNvPr id="124" name="Shape 122"/>
          <p:cNvSpPr/>
          <p:nvPr/>
        </p:nvSpPr>
        <p:spPr>
          <a:xfrm>
            <a:off x="548640" y="5696712"/>
            <a:ext cx="11091672" cy="457200"/>
          </a:xfrm>
          <a:prstGeom prst="roundRect">
            <a:avLst>
              <a:gd name="adj" fmla="val 16000"/>
            </a:avLst>
          </a:prstGeom>
          <a:solidFill>
            <a:schemeClr val="bg1"/>
          </a:solidFill>
          <a:ln w="12700">
            <a:solidFill>
              <a:schemeClr val="bg1"/>
            </a:solidFill>
            <a:prstDash val="solid"/>
          </a:ln>
        </p:spPr>
      </p:sp>
      <p:sp>
        <p:nvSpPr>
          <p:cNvPr id="125" name="Text 123"/>
          <p:cNvSpPr txBox="1"/>
          <p:nvPr/>
        </p:nvSpPr>
        <p:spPr>
          <a:xfrm>
            <a:off x="731520" y="5696712"/>
            <a:ext cx="2971800" cy="457200"/>
          </a:xfrm>
          <a:prstGeom prst="rect">
            <a:avLst/>
          </a:prstGeom>
          <a:noFill/>
          <a:ln/>
        </p:spPr>
        <p:txBody>
          <a:bodyPr wrap="square" lIns="0" tIns="0" rIns="0" bIns="0" rtlCol="0" anchor="ctr"/>
          <a:lstStyle/>
          <a:p>
            <a:pPr indent="0" marL="0">
              <a:buNone/>
            </a:pPr>
            <a:r>
              <a:rPr lang="en-US" sz="1050" b="1" dirty="0">
                <a:solidFill>
                  <a:schemeClr val="tx2"/>
                </a:solidFill>
              </a:rPr>
              <a:t>Meta del mes</a:t>
            </a:r>
            <a:endParaRPr lang="en-US" sz="1050" dirty="0"/>
          </a:p>
        </p:txBody>
      </p:sp>
      <p:sp>
        <p:nvSpPr>
          <p:cNvPr id="126" name="Text 124"/>
          <p:cNvSpPr txBox="1"/>
          <p:nvPr/>
        </p:nvSpPr>
        <p:spPr>
          <a:xfrm>
            <a:off x="3749040" y="5696712"/>
            <a:ext cx="526085" cy="457200"/>
          </a:xfrm>
          <a:prstGeom prst="rect">
            <a:avLst/>
          </a:prstGeom>
          <a:noFill/>
          <a:ln/>
        </p:spPr>
        <p:txBody>
          <a:bodyPr wrap="square" lIns="0" tIns="0" rIns="0" bIns="0" rtlCol="0" anchor="ctr"/>
          <a:lstStyle/>
          <a:p>
            <a:pPr algn="ctr" indent="0" marL="0">
              <a:buNone/>
            </a:pPr>
            <a:r>
              <a:rPr lang="en-US" sz="750" dirty="0">
                <a:solidFill>
                  <a:schemeClr val="accent2"/>
                </a:solidFill>
              </a:rPr>
              <a:t>20 en espera</a:t>
            </a:r>
            <a:endParaRPr lang="en-US" sz="750" dirty="0"/>
          </a:p>
        </p:txBody>
      </p:sp>
      <p:sp>
        <p:nvSpPr>
          <p:cNvPr id="127" name="Text 125"/>
          <p:cNvSpPr txBox="1"/>
          <p:nvPr/>
        </p:nvSpPr>
        <p:spPr>
          <a:xfrm>
            <a:off x="4275125" y="5696712"/>
            <a:ext cx="526085" cy="457200"/>
          </a:xfrm>
          <a:prstGeom prst="rect">
            <a:avLst/>
          </a:prstGeom>
          <a:noFill/>
          <a:ln/>
        </p:spPr>
        <p:txBody>
          <a:bodyPr wrap="square" lIns="0" tIns="0" rIns="0" bIns="0" rtlCol="0" anchor="ctr"/>
          <a:lstStyle/>
          <a:p>
            <a:pPr algn="ctr" indent="0" marL="0">
              <a:buNone/>
            </a:pPr>
            <a:r>
              <a:rPr lang="en-US" sz="750" dirty="0">
                <a:solidFill>
                  <a:schemeClr val="accent2"/>
                </a:solidFill>
              </a:rPr>
              <a:t>50 en espera</a:t>
            </a:r>
            <a:endParaRPr lang="en-US" sz="750" dirty="0"/>
          </a:p>
        </p:txBody>
      </p:sp>
      <p:sp>
        <p:nvSpPr>
          <p:cNvPr id="128" name="Text 126"/>
          <p:cNvSpPr txBox="1"/>
          <p:nvPr/>
        </p:nvSpPr>
        <p:spPr>
          <a:xfrm>
            <a:off x="4801210" y="5696712"/>
            <a:ext cx="526085" cy="457200"/>
          </a:xfrm>
          <a:prstGeom prst="rect">
            <a:avLst/>
          </a:prstGeom>
          <a:noFill/>
          <a:ln/>
        </p:spPr>
        <p:txBody>
          <a:bodyPr wrap="square" lIns="0" tIns="0" rIns="0" bIns="0" rtlCol="0" anchor="ctr"/>
          <a:lstStyle/>
          <a:p>
            <a:pPr algn="ctr" indent="0" marL="0">
              <a:buNone/>
            </a:pPr>
            <a:r>
              <a:rPr lang="en-US" sz="750" dirty="0">
                <a:solidFill>
                  <a:schemeClr val="accent2"/>
                </a:solidFill>
              </a:rPr>
              <a:t>100 en espera</a:t>
            </a:r>
            <a:endParaRPr lang="en-US" sz="750" dirty="0"/>
          </a:p>
        </p:txBody>
      </p:sp>
      <p:sp>
        <p:nvSpPr>
          <p:cNvPr id="129" name="Text 127"/>
          <p:cNvSpPr txBox="1"/>
          <p:nvPr/>
        </p:nvSpPr>
        <p:spPr>
          <a:xfrm>
            <a:off x="5327294"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870</a:t>
            </a:r>
            <a:endParaRPr lang="en-US" sz="950" dirty="0"/>
          </a:p>
        </p:txBody>
      </p:sp>
      <p:sp>
        <p:nvSpPr>
          <p:cNvPr id="130" name="Text 128"/>
          <p:cNvSpPr txBox="1"/>
          <p:nvPr/>
        </p:nvSpPr>
        <p:spPr>
          <a:xfrm>
            <a:off x="5853379"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2,830</a:t>
            </a:r>
            <a:endParaRPr lang="en-US" sz="950" dirty="0"/>
          </a:p>
        </p:txBody>
      </p:sp>
      <p:sp>
        <p:nvSpPr>
          <p:cNvPr id="131" name="Text 129"/>
          <p:cNvSpPr txBox="1"/>
          <p:nvPr/>
        </p:nvSpPr>
        <p:spPr>
          <a:xfrm>
            <a:off x="6379464"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3,734</a:t>
            </a:r>
            <a:endParaRPr lang="en-US" sz="950" dirty="0"/>
          </a:p>
        </p:txBody>
      </p:sp>
      <p:sp>
        <p:nvSpPr>
          <p:cNvPr id="132" name="Text 130"/>
          <p:cNvSpPr txBox="1"/>
          <p:nvPr/>
        </p:nvSpPr>
        <p:spPr>
          <a:xfrm>
            <a:off x="6905549"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4,420</a:t>
            </a:r>
            <a:endParaRPr lang="en-US" sz="950" dirty="0"/>
          </a:p>
        </p:txBody>
      </p:sp>
      <p:sp>
        <p:nvSpPr>
          <p:cNvPr id="133" name="Text 131"/>
          <p:cNvSpPr txBox="1"/>
          <p:nvPr/>
        </p:nvSpPr>
        <p:spPr>
          <a:xfrm>
            <a:off x="7431634"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4,304</a:t>
            </a:r>
            <a:endParaRPr lang="en-US" sz="950" dirty="0"/>
          </a:p>
        </p:txBody>
      </p:sp>
      <p:sp>
        <p:nvSpPr>
          <p:cNvPr id="134" name="Text 132"/>
          <p:cNvSpPr txBox="1"/>
          <p:nvPr/>
        </p:nvSpPr>
        <p:spPr>
          <a:xfrm>
            <a:off x="7957718"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4,038</a:t>
            </a:r>
            <a:endParaRPr lang="en-US" sz="950" dirty="0"/>
          </a:p>
        </p:txBody>
      </p:sp>
      <p:sp>
        <p:nvSpPr>
          <p:cNvPr id="135" name="Text 133"/>
          <p:cNvSpPr txBox="1"/>
          <p:nvPr/>
        </p:nvSpPr>
        <p:spPr>
          <a:xfrm>
            <a:off x="8483803"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3,824</a:t>
            </a:r>
            <a:endParaRPr lang="en-US" sz="950" dirty="0"/>
          </a:p>
        </p:txBody>
      </p:sp>
      <p:sp>
        <p:nvSpPr>
          <p:cNvPr id="136" name="Text 134"/>
          <p:cNvSpPr txBox="1"/>
          <p:nvPr/>
        </p:nvSpPr>
        <p:spPr>
          <a:xfrm>
            <a:off x="9009888"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5,208</a:t>
            </a:r>
            <a:endParaRPr lang="en-US" sz="950" dirty="0"/>
          </a:p>
        </p:txBody>
      </p:sp>
      <p:sp>
        <p:nvSpPr>
          <p:cNvPr id="137" name="Text 135"/>
          <p:cNvSpPr txBox="1"/>
          <p:nvPr/>
        </p:nvSpPr>
        <p:spPr>
          <a:xfrm>
            <a:off x="9535973"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5,603</a:t>
            </a:r>
            <a:endParaRPr lang="en-US" sz="950" dirty="0"/>
          </a:p>
        </p:txBody>
      </p:sp>
      <p:sp>
        <p:nvSpPr>
          <p:cNvPr id="138" name="Text 136"/>
          <p:cNvSpPr txBox="1"/>
          <p:nvPr/>
        </p:nvSpPr>
        <p:spPr>
          <a:xfrm>
            <a:off x="10062058"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6,011</a:t>
            </a:r>
            <a:endParaRPr lang="en-US" sz="950" dirty="0"/>
          </a:p>
        </p:txBody>
      </p:sp>
      <p:sp>
        <p:nvSpPr>
          <p:cNvPr id="139" name="Text 137"/>
          <p:cNvSpPr txBox="1"/>
          <p:nvPr/>
        </p:nvSpPr>
        <p:spPr>
          <a:xfrm>
            <a:off x="10588142"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5,861</a:t>
            </a:r>
            <a:endParaRPr lang="en-US" sz="950" dirty="0"/>
          </a:p>
        </p:txBody>
      </p:sp>
      <p:sp>
        <p:nvSpPr>
          <p:cNvPr id="140" name="Text 138"/>
          <p:cNvSpPr txBox="1"/>
          <p:nvPr/>
        </p:nvSpPr>
        <p:spPr>
          <a:xfrm>
            <a:off x="11114227" y="5696712"/>
            <a:ext cx="526085" cy="457200"/>
          </a:xfrm>
          <a:prstGeom prst="rect">
            <a:avLst/>
          </a:prstGeom>
          <a:noFill/>
          <a:ln/>
        </p:spPr>
        <p:txBody>
          <a:bodyPr wrap="square" lIns="0" tIns="0" rIns="0" bIns="0" rtlCol="0" anchor="ctr"/>
          <a:lstStyle/>
          <a:p>
            <a:pPr algn="ctr" indent="0" marL="0">
              <a:buNone/>
            </a:pPr>
            <a:r>
              <a:rPr lang="en-US" sz="950" b="1" dirty="0">
                <a:solidFill>
                  <a:schemeClr val="accent1"/>
                </a:solidFill>
              </a:rPr>
              <a:t>5,628</a:t>
            </a:r>
            <a:endParaRPr lang="en-US" sz="950" dirty="0"/>
          </a:p>
        </p:txBody>
      </p:sp>
      <p:sp>
        <p:nvSpPr>
          <p:cNvPr id="141" name="Text 139"/>
          <p:cNvSpPr txBox="1"/>
          <p:nvPr/>
        </p:nvSpPr>
        <p:spPr>
          <a:xfrm>
            <a:off x="548640" y="6181344"/>
            <a:ext cx="11091672" cy="237744"/>
          </a:xfrm>
          <a:prstGeom prst="rect">
            <a:avLst/>
          </a:prstGeom>
          <a:noFill/>
          <a:ln/>
        </p:spPr>
        <p:txBody>
          <a:bodyPr wrap="square" lIns="0" tIns="0" rIns="0" bIns="0" rtlCol="0" anchor="t"/>
          <a:lstStyle/>
          <a:p>
            <a:pPr indent="0" marL="0">
              <a:buNone/>
            </a:pPr>
            <a:r>
              <a:rPr lang="en-US" sz="850" i="1" dirty="0">
                <a:solidFill>
                  <a:schemeClr val="accent2"/>
                </a:solidFill>
              </a:rPr>
              <a:t>Inversión: pauta S/700 y embajadoras S/200 al mes, ferias (S/1,800 + vendedor/a 3 días), eventos (S/160) y lanzamiento (S/3,204, ya en la inversión). De oct. a dic. de 2026 la meta es de contactos en lista de espera.</a:t>
            </a:r>
            <a:endParaRPr lang="en-US" sz="8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CIERRE · CÓMO SEGUIMOS CRECIENDO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Crecemos paso a paso: cada inversión se activa con una meta</a:t>
            </a:r>
            <a:endParaRPr lang="en-US" sz="3400" dirty="0"/>
          </a:p>
        </p:txBody>
      </p:sp>
      <p:sp>
        <p:nvSpPr>
          <p:cNvPr id="4" name="Shape 2"/>
          <p:cNvSpPr/>
          <p:nvPr/>
        </p:nvSpPr>
        <p:spPr>
          <a:xfrm>
            <a:off x="548640" y="1481328"/>
            <a:ext cx="2670048" cy="2057400"/>
          </a:xfrm>
          <a:prstGeom prst="roundRect">
            <a:avLst>
              <a:gd name="adj" fmla="val 5333"/>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49808" y="1682496"/>
            <a:ext cx="566928" cy="566928"/>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874532" y="1807220"/>
            <a:ext cx="317480" cy="317480"/>
          </a:xfrm>
          <a:prstGeom prst="rect">
            <a:avLst/>
          </a:prstGeom>
        </p:spPr>
      </p:pic>
      <p:sp>
        <p:nvSpPr>
          <p:cNvPr id="7" name="Text 4"/>
          <p:cNvSpPr txBox="1"/>
          <p:nvPr/>
        </p:nvSpPr>
        <p:spPr>
          <a:xfrm>
            <a:off x="1444752"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5"/>
                </a:solidFill>
              </a:rPr>
              <a:t>META → ACCIÓN</a:t>
            </a:r>
            <a:endParaRPr lang="en-US" sz="900" dirty="0"/>
          </a:p>
        </p:txBody>
      </p:sp>
      <p:sp>
        <p:nvSpPr>
          <p:cNvPr id="8" name="Text 5"/>
          <p:cNvSpPr txBox="1"/>
          <p:nvPr/>
        </p:nvSpPr>
        <p:spPr>
          <a:xfrm>
            <a:off x="749808" y="2350008"/>
            <a:ext cx="2304288" cy="365760"/>
          </a:xfrm>
          <a:prstGeom prst="rect">
            <a:avLst/>
          </a:prstGeom>
          <a:noFill/>
          <a:ln/>
        </p:spPr>
        <p:txBody>
          <a:bodyPr wrap="square" lIns="0" tIns="0" rIns="0" bIns="0" rtlCol="0" anchor="t"/>
          <a:lstStyle/>
          <a:p>
            <a:pPr indent="0" marL="0">
              <a:buNone/>
            </a:pPr>
            <a:r>
              <a:rPr lang="en-US" sz="1500" b="1" dirty="0">
                <a:solidFill>
                  <a:schemeClr val="bg1"/>
                </a:solidFill>
              </a:rPr>
              <a:t>4.º punto de venta</a:t>
            </a:r>
            <a:endParaRPr lang="en-US" sz="1500" dirty="0"/>
          </a:p>
        </p:txBody>
      </p:sp>
      <p:sp>
        <p:nvSpPr>
          <p:cNvPr id="9" name="Text 6"/>
          <p:cNvSpPr txBox="1"/>
          <p:nvPr/>
        </p:nvSpPr>
        <p:spPr>
          <a:xfrm>
            <a:off x="749808" y="2743200"/>
            <a:ext cx="2304288" cy="731520"/>
          </a:xfrm>
          <a:prstGeom prst="rect">
            <a:avLst/>
          </a:prstGeom>
          <a:noFill/>
          <a:ln/>
        </p:spPr>
        <p:txBody>
          <a:bodyPr wrap="square" lIns="0" tIns="0" rIns="0" bIns="0" rtlCol="0" anchor="t"/>
          <a:lstStyle/>
          <a:p>
            <a:pPr indent="0" marL="0">
              <a:buNone/>
            </a:pPr>
            <a:r>
              <a:rPr lang="en-US" sz="1200" dirty="0">
                <a:solidFill>
                  <a:schemeClr val="bg1"/>
                </a:solidFill>
              </a:rPr>
              <a:t>Si los 3 puntos venden 85 o más brownies por día durante 3 meses seguidos</a:t>
            </a:r>
            <a:endParaRPr lang="en-US" sz="1200" dirty="0"/>
          </a:p>
        </p:txBody>
      </p:sp>
      <p:sp>
        <p:nvSpPr>
          <p:cNvPr id="10" name="Shape 7"/>
          <p:cNvSpPr/>
          <p:nvPr/>
        </p:nvSpPr>
        <p:spPr>
          <a:xfrm>
            <a:off x="3355848"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557016" y="1682496"/>
            <a:ext cx="566928" cy="566928"/>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3681740" y="1807220"/>
            <a:ext cx="317480" cy="317480"/>
          </a:xfrm>
          <a:prstGeom prst="rect">
            <a:avLst/>
          </a:prstGeom>
        </p:spPr>
      </p:pic>
      <p:sp>
        <p:nvSpPr>
          <p:cNvPr id="13" name="Text 9"/>
          <p:cNvSpPr txBox="1"/>
          <p:nvPr/>
        </p:nvSpPr>
        <p:spPr>
          <a:xfrm>
            <a:off x="4251960"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14" name="Text 10"/>
          <p:cNvSpPr txBox="1"/>
          <p:nvPr/>
        </p:nvSpPr>
        <p:spPr>
          <a:xfrm>
            <a:off x="3557016"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Fabricación más barata</a:t>
            </a:r>
            <a:endParaRPr lang="en-US" sz="1500" dirty="0"/>
          </a:p>
        </p:txBody>
      </p:sp>
      <p:sp>
        <p:nvSpPr>
          <p:cNvPr id="15" name="Text 11"/>
          <p:cNvSpPr txBox="1"/>
          <p:nvPr/>
        </p:nvSpPr>
        <p:spPr>
          <a:xfrm>
            <a:off x="3557016"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Al pasar 5,000 brownies al mes, negociar con la planta S/0.40 en vez de S/0.45</a:t>
            </a:r>
            <a:endParaRPr lang="en-US" sz="1200" dirty="0"/>
          </a:p>
        </p:txBody>
      </p:sp>
      <p:sp>
        <p:nvSpPr>
          <p:cNvPr id="16" name="Shape 12"/>
          <p:cNvSpPr/>
          <p:nvPr/>
        </p:nvSpPr>
        <p:spPr>
          <a:xfrm>
            <a:off x="6163056"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3"/>
          <p:cNvSpPr/>
          <p:nvPr/>
        </p:nvSpPr>
        <p:spPr>
          <a:xfrm>
            <a:off x="6364224" y="1682496"/>
            <a:ext cx="566928" cy="566928"/>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6488948" y="1807220"/>
            <a:ext cx="317480" cy="317480"/>
          </a:xfrm>
          <a:prstGeom prst="rect">
            <a:avLst/>
          </a:prstGeom>
        </p:spPr>
      </p:pic>
      <p:sp>
        <p:nvSpPr>
          <p:cNvPr id="19" name="Text 14"/>
          <p:cNvSpPr txBox="1"/>
          <p:nvPr/>
        </p:nvSpPr>
        <p:spPr>
          <a:xfrm>
            <a:off x="7059168"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0" name="Text 15"/>
          <p:cNvSpPr txBox="1"/>
          <p:nvPr/>
        </p:nvSpPr>
        <p:spPr>
          <a:xfrm>
            <a:off x="6364224"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Contrato anual de sangrecita</a:t>
            </a:r>
            <a:endParaRPr lang="en-US" sz="1500" dirty="0"/>
          </a:p>
        </p:txBody>
      </p:sp>
      <p:sp>
        <p:nvSpPr>
          <p:cNvPr id="21" name="Text 16"/>
          <p:cNvSpPr txBox="1"/>
          <p:nvPr/>
        </p:nvSpPr>
        <p:spPr>
          <a:xfrm>
            <a:off x="6364224"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Precio fijo por un año al comprar unos 50 kg de polvo al año</a:t>
            </a:r>
            <a:endParaRPr lang="en-US" sz="1200" dirty="0"/>
          </a:p>
        </p:txBody>
      </p:sp>
      <p:sp>
        <p:nvSpPr>
          <p:cNvPr id="22" name="Shape 17"/>
          <p:cNvSpPr/>
          <p:nvPr/>
        </p:nvSpPr>
        <p:spPr>
          <a:xfrm>
            <a:off x="8970264" y="1481328"/>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9171432" y="1682496"/>
            <a:ext cx="566928" cy="566928"/>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9296156" y="1807220"/>
            <a:ext cx="317480" cy="317480"/>
          </a:xfrm>
          <a:prstGeom prst="rect">
            <a:avLst/>
          </a:prstGeom>
        </p:spPr>
      </p:pic>
      <p:sp>
        <p:nvSpPr>
          <p:cNvPr id="25" name="Text 19"/>
          <p:cNvSpPr txBox="1"/>
          <p:nvPr/>
        </p:nvSpPr>
        <p:spPr>
          <a:xfrm>
            <a:off x="9866376" y="1755648"/>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26" name="Text 20"/>
          <p:cNvSpPr txBox="1"/>
          <p:nvPr/>
        </p:nvSpPr>
        <p:spPr>
          <a:xfrm>
            <a:off x="9171432" y="2350008"/>
            <a:ext cx="2304288" cy="365760"/>
          </a:xfrm>
          <a:prstGeom prst="rect">
            <a:avLst/>
          </a:prstGeom>
          <a:noFill/>
          <a:ln/>
        </p:spPr>
        <p:txBody>
          <a:bodyPr wrap="square" lIns="0" tIns="0" rIns="0" bIns="0" rtlCol="0" anchor="t"/>
          <a:lstStyle/>
          <a:p>
            <a:pPr indent="0" marL="0">
              <a:buNone/>
            </a:pPr>
            <a:r>
              <a:rPr lang="en-US" sz="1500" b="1" dirty="0">
                <a:solidFill>
                  <a:schemeClr val="tx2"/>
                </a:solidFill>
              </a:rPr>
              <a:t>Cajas para fiestas</a:t>
            </a:r>
            <a:endParaRPr lang="en-US" sz="1500" dirty="0"/>
          </a:p>
        </p:txBody>
      </p:sp>
      <p:sp>
        <p:nvSpPr>
          <p:cNvPr id="27" name="Text 21"/>
          <p:cNvSpPr txBox="1"/>
          <p:nvPr/>
        </p:nvSpPr>
        <p:spPr>
          <a:xfrm>
            <a:off x="9171432" y="2743200"/>
            <a:ext cx="2304288" cy="731520"/>
          </a:xfrm>
          <a:prstGeom prst="rect">
            <a:avLst/>
          </a:prstGeom>
          <a:noFill/>
          <a:ln/>
        </p:spPr>
        <p:txBody>
          <a:bodyPr wrap="square" lIns="0" tIns="0" rIns="0" bIns="0" rtlCol="0" anchor="t"/>
          <a:lstStyle/>
          <a:p>
            <a:pPr indent="0" marL="0">
              <a:buNone/>
            </a:pPr>
            <a:r>
              <a:rPr lang="en-US" sz="1200" dirty="0">
                <a:solidFill>
                  <a:schemeClr val="tx1"/>
                </a:solidFill>
              </a:rPr>
              <a:t>Para cumpleaños y empresas: por pedido con 2 semanas de anticipación, sin costo fijo</a:t>
            </a:r>
            <a:endParaRPr lang="en-US" sz="1200" dirty="0"/>
          </a:p>
        </p:txBody>
      </p:sp>
      <p:sp>
        <p:nvSpPr>
          <p:cNvPr id="28" name="Shape 22"/>
          <p:cNvSpPr/>
          <p:nvPr/>
        </p:nvSpPr>
        <p:spPr>
          <a:xfrm>
            <a:off x="548640"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3"/>
          <p:cNvSpPr/>
          <p:nvPr/>
        </p:nvSpPr>
        <p:spPr>
          <a:xfrm>
            <a:off x="749808" y="3904488"/>
            <a:ext cx="566928" cy="566928"/>
          </a:xfrm>
          <a:prstGeom prst="ellipse">
            <a:avLst/>
          </a:prstGeom>
          <a:solidFill>
            <a:schemeClr val="accent1"/>
          </a:solidFill>
          <a:ln w="12700">
            <a:solidFill>
              <a:schemeClr val="accent1"/>
            </a:solidFill>
            <a:prstDash val="solid"/>
          </a:ln>
        </p:spPr>
      </p:sp>
      <p:pic>
        <p:nvPicPr>
          <p:cNvPr id="30" name="Image 4" descr="preencoded.png">    </p:cNvPr>
          <p:cNvPicPr>
            <a:picLocks noChangeAspect="1"/>
          </p:cNvPicPr>
          <p:nvPr/>
        </p:nvPicPr>
        <p:blipFill>
          <a:blip r:embed="rId5"/>
          <a:stretch>
            <a:fillRect/>
          </a:stretch>
        </p:blipFill>
        <p:spPr>
          <a:xfrm>
            <a:off x="874532" y="4029212"/>
            <a:ext cx="317480" cy="317480"/>
          </a:xfrm>
          <a:prstGeom prst="rect">
            <a:avLst/>
          </a:prstGeom>
        </p:spPr>
      </p:pic>
      <p:sp>
        <p:nvSpPr>
          <p:cNvPr id="31" name="Text 24"/>
          <p:cNvSpPr txBox="1"/>
          <p:nvPr/>
        </p:nvSpPr>
        <p:spPr>
          <a:xfrm>
            <a:off x="1444752"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2" name="Text 25"/>
          <p:cNvSpPr txBox="1"/>
          <p:nvPr/>
        </p:nvSpPr>
        <p:spPr>
          <a:xfrm>
            <a:off x="749808"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Góndola en Wong o Vivanda</a:t>
            </a:r>
            <a:endParaRPr lang="en-US" sz="1500" dirty="0"/>
          </a:p>
        </p:txBody>
      </p:sp>
      <p:sp>
        <p:nvSpPr>
          <p:cNvPr id="33" name="Text 26"/>
          <p:cNvSpPr txBox="1"/>
          <p:nvPr/>
        </p:nvSpPr>
        <p:spPr>
          <a:xfrm>
            <a:off x="749808"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En el año 2, solo si cada punto de venta ya gana dinero por sí solo</a:t>
            </a:r>
            <a:endParaRPr lang="en-US" sz="1200" dirty="0"/>
          </a:p>
        </p:txBody>
      </p:sp>
      <p:sp>
        <p:nvSpPr>
          <p:cNvPr id="34" name="Shape 27"/>
          <p:cNvSpPr/>
          <p:nvPr/>
        </p:nvSpPr>
        <p:spPr>
          <a:xfrm>
            <a:off x="3355848"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8"/>
          <p:cNvSpPr/>
          <p:nvPr/>
        </p:nvSpPr>
        <p:spPr>
          <a:xfrm>
            <a:off x="3557016" y="3904488"/>
            <a:ext cx="566928" cy="566928"/>
          </a:xfrm>
          <a:prstGeom prst="ellipse">
            <a:avLst/>
          </a:prstGeom>
          <a:solidFill>
            <a:schemeClr val="accent1"/>
          </a:solidFill>
          <a:ln w="12700">
            <a:solidFill>
              <a:schemeClr val="accent1"/>
            </a:solidFill>
            <a:prstDash val="solid"/>
          </a:ln>
        </p:spPr>
      </p:sp>
      <p:pic>
        <p:nvPicPr>
          <p:cNvPr id="36" name="Image 5" descr="preencoded.png">    </p:cNvPr>
          <p:cNvPicPr>
            <a:picLocks noChangeAspect="1"/>
          </p:cNvPicPr>
          <p:nvPr/>
        </p:nvPicPr>
        <p:blipFill>
          <a:blip r:embed="rId6"/>
          <a:stretch>
            <a:fillRect/>
          </a:stretch>
        </p:blipFill>
        <p:spPr>
          <a:xfrm>
            <a:off x="3681740" y="4029212"/>
            <a:ext cx="317480" cy="317480"/>
          </a:xfrm>
          <a:prstGeom prst="rect">
            <a:avLst/>
          </a:prstGeom>
        </p:spPr>
      </p:pic>
      <p:sp>
        <p:nvSpPr>
          <p:cNvPr id="37" name="Text 29"/>
          <p:cNvSpPr txBox="1"/>
          <p:nvPr/>
        </p:nvSpPr>
        <p:spPr>
          <a:xfrm>
            <a:off x="4251960"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38" name="Text 30"/>
          <p:cNvSpPr txBox="1"/>
          <p:nvPr/>
        </p:nvSpPr>
        <p:spPr>
          <a:xfrm>
            <a:off x="3557016"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Pago variable a vendedores</a:t>
            </a:r>
            <a:endParaRPr lang="en-US" sz="1500" dirty="0"/>
          </a:p>
        </p:txBody>
      </p:sp>
      <p:sp>
        <p:nvSpPr>
          <p:cNvPr id="39" name="Text 31"/>
          <p:cNvSpPr txBox="1"/>
          <p:nvPr/>
        </p:nvSpPr>
        <p:spPr>
          <a:xfrm>
            <a:off x="3557016"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S/60 por día + S/0.30 por brownie vendido: gana más quien vende más</a:t>
            </a:r>
            <a:endParaRPr lang="en-US" sz="1200" dirty="0"/>
          </a:p>
        </p:txBody>
      </p:sp>
      <p:sp>
        <p:nvSpPr>
          <p:cNvPr id="40" name="Shape 32"/>
          <p:cNvSpPr/>
          <p:nvPr/>
        </p:nvSpPr>
        <p:spPr>
          <a:xfrm>
            <a:off x="6163056"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1" name="Shape 33"/>
          <p:cNvSpPr/>
          <p:nvPr/>
        </p:nvSpPr>
        <p:spPr>
          <a:xfrm>
            <a:off x="6364224" y="3904488"/>
            <a:ext cx="566928" cy="566928"/>
          </a:xfrm>
          <a:prstGeom prst="ellipse">
            <a:avLst/>
          </a:prstGeom>
          <a:solidFill>
            <a:schemeClr val="accent1"/>
          </a:solidFill>
          <a:ln w="12700">
            <a:solidFill>
              <a:schemeClr val="accent1"/>
            </a:solidFill>
            <a:prstDash val="solid"/>
          </a:ln>
        </p:spPr>
      </p:sp>
      <p:pic>
        <p:nvPicPr>
          <p:cNvPr id="42" name="Image 6" descr="preencoded.png">    </p:cNvPr>
          <p:cNvPicPr>
            <a:picLocks noChangeAspect="1"/>
          </p:cNvPicPr>
          <p:nvPr/>
        </p:nvPicPr>
        <p:blipFill>
          <a:blip r:embed="rId7"/>
          <a:stretch>
            <a:fillRect/>
          </a:stretch>
        </p:blipFill>
        <p:spPr>
          <a:xfrm>
            <a:off x="6488948" y="4029212"/>
            <a:ext cx="317480" cy="317480"/>
          </a:xfrm>
          <a:prstGeom prst="rect">
            <a:avLst/>
          </a:prstGeom>
        </p:spPr>
      </p:pic>
      <p:sp>
        <p:nvSpPr>
          <p:cNvPr id="43" name="Text 34"/>
          <p:cNvSpPr txBox="1"/>
          <p:nvPr/>
        </p:nvSpPr>
        <p:spPr>
          <a:xfrm>
            <a:off x="7059168"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44" name="Text 35"/>
          <p:cNvSpPr txBox="1"/>
          <p:nvPr/>
        </p:nvSpPr>
        <p:spPr>
          <a:xfrm>
            <a:off x="6364224"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Repetir una feria pagada</a:t>
            </a:r>
            <a:endParaRPr lang="en-US" sz="1500" dirty="0"/>
          </a:p>
        </p:txBody>
      </p:sp>
      <p:sp>
        <p:nvSpPr>
          <p:cNvPr id="45" name="Text 36"/>
          <p:cNvSpPr txBox="1"/>
          <p:nvPr/>
        </p:nvSpPr>
        <p:spPr>
          <a:xfrm>
            <a:off x="6364224"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Solo si dejó 50 contactos de WhatsApp y cumplió 3 de los 4 criterios</a:t>
            </a:r>
            <a:endParaRPr lang="en-US" sz="1200" dirty="0"/>
          </a:p>
        </p:txBody>
      </p:sp>
      <p:sp>
        <p:nvSpPr>
          <p:cNvPr id="46" name="Shape 37"/>
          <p:cNvSpPr/>
          <p:nvPr/>
        </p:nvSpPr>
        <p:spPr>
          <a:xfrm>
            <a:off x="8970264" y="3703320"/>
            <a:ext cx="2670048" cy="20574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7" name="Shape 38"/>
          <p:cNvSpPr/>
          <p:nvPr/>
        </p:nvSpPr>
        <p:spPr>
          <a:xfrm>
            <a:off x="9171432" y="3904488"/>
            <a:ext cx="566928" cy="566928"/>
          </a:xfrm>
          <a:prstGeom prst="ellipse">
            <a:avLst/>
          </a:prstGeom>
          <a:solidFill>
            <a:schemeClr val="accent1"/>
          </a:solidFill>
          <a:ln w="12700">
            <a:solidFill>
              <a:schemeClr val="accent1"/>
            </a:solidFill>
            <a:prstDash val="solid"/>
          </a:ln>
        </p:spPr>
      </p:sp>
      <p:pic>
        <p:nvPicPr>
          <p:cNvPr id="48" name="Image 7" descr="preencoded.png">    </p:cNvPr>
          <p:cNvPicPr>
            <a:picLocks noChangeAspect="1"/>
          </p:cNvPicPr>
          <p:nvPr/>
        </p:nvPicPr>
        <p:blipFill>
          <a:blip r:embed="rId8"/>
          <a:stretch>
            <a:fillRect/>
          </a:stretch>
        </p:blipFill>
        <p:spPr>
          <a:xfrm>
            <a:off x="9296156" y="4029212"/>
            <a:ext cx="317480" cy="317480"/>
          </a:xfrm>
          <a:prstGeom prst="rect">
            <a:avLst/>
          </a:prstGeom>
        </p:spPr>
      </p:pic>
      <p:sp>
        <p:nvSpPr>
          <p:cNvPr id="49" name="Text 39"/>
          <p:cNvSpPr txBox="1"/>
          <p:nvPr/>
        </p:nvSpPr>
        <p:spPr>
          <a:xfrm>
            <a:off x="9866376" y="3977640"/>
            <a:ext cx="1664208" cy="228600"/>
          </a:xfrm>
          <a:prstGeom prst="rect">
            <a:avLst/>
          </a:prstGeom>
          <a:noFill/>
          <a:ln/>
        </p:spPr>
        <p:txBody>
          <a:bodyPr wrap="square" lIns="0" tIns="0" rIns="0" bIns="0" rtlCol="0" anchor="t"/>
          <a:lstStyle/>
          <a:p>
            <a:pPr indent="0" marL="0">
              <a:buNone/>
            </a:pPr>
            <a:r>
              <a:rPr lang="en-US" sz="900" b="1" spc="100" kern="0" dirty="0">
                <a:solidFill>
                  <a:schemeClr val="accent2"/>
                </a:solidFill>
              </a:rPr>
              <a:t>META → ACCIÓN</a:t>
            </a:r>
            <a:endParaRPr lang="en-US" sz="900" dirty="0"/>
          </a:p>
        </p:txBody>
      </p:sp>
      <p:sp>
        <p:nvSpPr>
          <p:cNvPr id="50" name="Text 40"/>
          <p:cNvSpPr txBox="1"/>
          <p:nvPr/>
        </p:nvSpPr>
        <p:spPr>
          <a:xfrm>
            <a:off x="9171432" y="4572000"/>
            <a:ext cx="2304288" cy="365760"/>
          </a:xfrm>
          <a:prstGeom prst="rect">
            <a:avLst/>
          </a:prstGeom>
          <a:noFill/>
          <a:ln/>
        </p:spPr>
        <p:txBody>
          <a:bodyPr wrap="square" lIns="0" tIns="0" rIns="0" bIns="0" rtlCol="0" anchor="t"/>
          <a:lstStyle/>
          <a:p>
            <a:pPr indent="0" marL="0">
              <a:buNone/>
            </a:pPr>
            <a:r>
              <a:rPr lang="en-US" sz="1500" b="1" dirty="0">
                <a:solidFill>
                  <a:schemeClr val="tx2"/>
                </a:solidFill>
              </a:rPr>
              <a:t>Línea de crédito</a:t>
            </a:r>
            <a:endParaRPr lang="en-US" sz="1500" dirty="0"/>
          </a:p>
        </p:txBody>
      </p:sp>
      <p:sp>
        <p:nvSpPr>
          <p:cNvPr id="51" name="Text 41"/>
          <p:cNvSpPr txBox="1"/>
          <p:nvPr/>
        </p:nvSpPr>
        <p:spPr>
          <a:xfrm>
            <a:off x="9171432" y="4965192"/>
            <a:ext cx="2304288" cy="731520"/>
          </a:xfrm>
          <a:prstGeom prst="rect">
            <a:avLst/>
          </a:prstGeom>
          <a:noFill/>
          <a:ln/>
        </p:spPr>
        <p:txBody>
          <a:bodyPr wrap="square" lIns="0" tIns="0" rIns="0" bIns="0" rtlCol="0" anchor="t"/>
          <a:lstStyle/>
          <a:p>
            <a:pPr indent="0" marL="0">
              <a:buNone/>
            </a:pPr>
            <a:r>
              <a:rPr lang="en-US" sz="1200" dirty="0">
                <a:solidFill>
                  <a:schemeClr val="tx1"/>
                </a:solidFill>
              </a:rPr>
              <a:t>Se usa solo si la caja baja de S/1,000; se devuelve con la venta de los meses fuertes</a:t>
            </a:r>
            <a:endParaRPr lang="en-US" sz="1200" dirty="0"/>
          </a:p>
        </p:txBody>
      </p:sp>
      <p:sp>
        <p:nvSpPr>
          <p:cNvPr id="52" name="Shape 42"/>
          <p:cNvSpPr/>
          <p:nvPr/>
        </p:nvSpPr>
        <p:spPr>
          <a:xfrm>
            <a:off x="548640" y="5870448"/>
            <a:ext cx="11091672" cy="438912"/>
          </a:xfrm>
          <a:prstGeom prst="roundRect">
            <a:avLst>
              <a:gd name="adj" fmla="val 50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3" name="Text 43"/>
          <p:cNvSpPr txBox="1"/>
          <p:nvPr/>
        </p:nvSpPr>
        <p:spPr>
          <a:xfrm>
            <a:off x="777240" y="5870448"/>
            <a:ext cx="10698480" cy="438912"/>
          </a:xfrm>
          <a:prstGeom prst="rect">
            <a:avLst/>
          </a:prstGeom>
          <a:noFill/>
          <a:ln/>
        </p:spPr>
        <p:txBody>
          <a:bodyPr wrap="square" lIns="0" tIns="0" rIns="0" bIns="0" rtlCol="0" anchor="ctr"/>
          <a:lstStyle/>
          <a:p>
            <a:pPr indent="0" marL="0">
              <a:buNone/>
            </a:pPr>
            <a:r>
              <a:rPr lang="en-US" sz="1250" b="1" dirty="0">
                <a:solidFill>
                  <a:schemeClr val="accent3"/>
                </a:solidFill>
              </a:rPr>
              <a:t>Criterios de una feria pagada: </a:t>
            </a:r>
            <a:pPr indent="0" marL="0">
              <a:buNone/>
            </a:pPr>
            <a:r>
              <a:rPr lang="en-US" sz="1250" dirty="0">
                <a:solidFill>
                  <a:schemeClr val="bg1"/>
                </a:solidFill>
              </a:rPr>
              <a:t>padres con hijos de 4 a 11 · buscan comida saludable · temporada escolar · en Lima Top o Moderna</a:t>
            </a:r>
            <a:endParaRPr lang="en-US" sz="125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hierro medido por lote y la app Andi, que acompaña a la familia.</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ferias y stands</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Probar la app con familias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2026-10-10T20:54:26Z</dcterms:created>
  <dcterms:modified xsi:type="dcterms:W3CDTF">2026-10-10T20:54:26Z</dcterms:modified>
</cp:coreProperties>
</file>