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468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4680000"/>
          </a:xfrm>
          <a:prstGeom prst="rect">
            <a:avLst/>
          </a:prstGeom>
          <a:solidFill>
            <a:srgbClr val="E8CD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40000" cy="827999"/>
          </a:xfrm>
          <a:prstGeom prst="rect">
            <a:avLst/>
          </a:prstGeom>
          <a:solidFill>
            <a:srgbClr val="8B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80000" y="162000"/>
            <a:ext cx="503999" cy="503999"/>
          </a:xfrm>
          <a:prstGeom prst="ellipse">
            <a:avLst/>
          </a:prstGeom>
          <a:solidFill>
            <a:srgbClr val="F7EC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0000" y="216000"/>
            <a:ext cx="503999" cy="39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0">
                <a:solidFill>
                  <a:srgbClr val="8B1E2B"/>
                </a:solidFill>
                <a:latin typeface="Fredoka One"/>
              </a:rPr>
              <a:t>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000" y="180000"/>
            <a:ext cx="2340000" cy="3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>
                <a:solidFill>
                  <a:srgbClr val="F7ECDA"/>
                </a:solidFill>
                <a:latin typeface="Fredoka One"/>
              </a:rPr>
              <a:t>Claudia Mendoza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000" y="468000"/>
            <a:ext cx="2340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E5A93A"/>
                </a:solidFill>
                <a:latin typeface="Caveat"/>
              </a:rPr>
              <a:t>La mamá que lee etiquetas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0000" y="954000"/>
            <a:ext cx="2880000" cy="14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1">
                <a:solidFill>
                  <a:srgbClr val="8B1E2B"/>
                </a:solidFill>
                <a:latin typeface="Nunito"/>
              </a:rPr>
              <a:t>EDAD Y DISTRITO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0000" y="1090800"/>
            <a:ext cx="2880000" cy="151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5C301E"/>
                </a:solidFill>
                <a:latin typeface="Nunito"/>
              </a:rPr>
              <a:t>37 años · San Borja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80000" y="1285200"/>
            <a:ext cx="2880000" cy="0"/>
          </a:xfrm>
          <a:prstGeom prst="line">
            <a:avLst/>
          </a:prstGeom>
          <a:ln w="6350">
            <a:solidFill>
              <a:srgbClr val="CDB6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80000" y="1339200"/>
            <a:ext cx="2880000" cy="14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1">
                <a:solidFill>
                  <a:srgbClr val="8B1E2B"/>
                </a:solidFill>
                <a:latin typeface="Nunito"/>
              </a:rPr>
              <a:t>OCUPACIÓN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000" y="1475999"/>
            <a:ext cx="2880000" cy="151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5C301E"/>
                </a:solidFill>
                <a:latin typeface="Nunito"/>
              </a:rPr>
              <a:t>Abogada corporativa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80000" y="1670400"/>
            <a:ext cx="2880000" cy="0"/>
          </a:xfrm>
          <a:prstGeom prst="line">
            <a:avLst/>
          </a:prstGeom>
          <a:ln w="6350">
            <a:solidFill>
              <a:srgbClr val="CDB6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80000" y="1724400"/>
            <a:ext cx="2880000" cy="14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1">
                <a:solidFill>
                  <a:srgbClr val="8B1E2B"/>
                </a:solidFill>
                <a:latin typeface="Nunito"/>
              </a:rPr>
              <a:t>FAMILIA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0000" y="1861200"/>
            <a:ext cx="2880000" cy="151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5C301E"/>
                </a:solidFill>
                <a:latin typeface="Nunito"/>
              </a:rPr>
              <a:t>2 hijos (7 y 4) · colegio bilingüe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80000" y="2055600"/>
            <a:ext cx="2880000" cy="0"/>
          </a:xfrm>
          <a:prstGeom prst="line">
            <a:avLst/>
          </a:prstGeom>
          <a:ln w="6350">
            <a:solidFill>
              <a:srgbClr val="CDB6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80000" y="2109600"/>
            <a:ext cx="2880000" cy="14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1">
                <a:solidFill>
                  <a:srgbClr val="8B1E2B"/>
                </a:solidFill>
                <a:latin typeface="Nunito"/>
              </a:rPr>
              <a:t>INGRESO FAMILIAR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0000" y="2246400"/>
            <a:ext cx="2880000" cy="151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5C301E"/>
                </a:solidFill>
                <a:latin typeface="Nunito"/>
              </a:rPr>
              <a:t>S/16,000 al mes aprox.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80000" y="2440800"/>
            <a:ext cx="2880000" cy="0"/>
          </a:xfrm>
          <a:prstGeom prst="line">
            <a:avLst/>
          </a:prstGeom>
          <a:ln w="6350">
            <a:solidFill>
              <a:srgbClr val="CDB6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80000" y="2494800"/>
            <a:ext cx="2880000" cy="14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1">
                <a:solidFill>
                  <a:srgbClr val="8B1E2B"/>
                </a:solidFill>
                <a:latin typeface="Nunito"/>
              </a:rPr>
              <a:t>SU DOLOR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0000" y="2631600"/>
            <a:ext cx="2880000" cy="151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5C301E"/>
                </a:solidFill>
                <a:latin typeface="Nunito"/>
              </a:rPr>
              <a:t>Hijo con hemoglobina baja, rechaza lo nutritivo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80000" y="2826000"/>
            <a:ext cx="2880000" cy="0"/>
          </a:xfrm>
          <a:prstGeom prst="line">
            <a:avLst/>
          </a:prstGeom>
          <a:ln w="6350">
            <a:solidFill>
              <a:srgbClr val="CDB6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80000" y="2880000"/>
            <a:ext cx="2880000" cy="14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1">
                <a:solidFill>
                  <a:srgbClr val="8B1E2B"/>
                </a:solidFill>
                <a:latin typeface="Nunito"/>
              </a:rPr>
              <a:t>QUÉ BUSCA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0000" y="3016800"/>
            <a:ext cx="2880000" cy="151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5C301E"/>
                </a:solidFill>
                <a:latin typeface="Nunito"/>
              </a:rPr>
              <a:t>Hierro real, sin octógonos, sin refrigeración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80000" y="3211200"/>
            <a:ext cx="2880000" cy="0"/>
          </a:xfrm>
          <a:prstGeom prst="line">
            <a:avLst/>
          </a:prstGeom>
          <a:ln w="6350">
            <a:solidFill>
              <a:srgbClr val="CDB6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80000" y="3265200"/>
            <a:ext cx="2880000" cy="14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1">
                <a:solidFill>
                  <a:srgbClr val="8B1E2B"/>
                </a:solidFill>
                <a:latin typeface="Nunito"/>
              </a:rPr>
              <a:t>DÓNDE COMPRA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0000" y="3402000"/>
            <a:ext cx="2880000" cy="151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5C301E"/>
                </a:solidFill>
                <a:latin typeface="Nunito"/>
              </a:rPr>
              <a:t>Wong y Flora &amp; Fauna · pediatra e Instagram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80000" y="3596400"/>
            <a:ext cx="2880000" cy="0"/>
          </a:xfrm>
          <a:prstGeom prst="line">
            <a:avLst/>
          </a:prstGeom>
          <a:ln w="6350">
            <a:solidFill>
              <a:srgbClr val="CDB6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80000" y="3650400"/>
            <a:ext cx="2880000" cy="14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1">
                <a:solidFill>
                  <a:srgbClr val="8B1E2B"/>
                </a:solidFill>
                <a:latin typeface="Nunito"/>
              </a:rPr>
              <a:t>PAGARÍA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0000" y="3787200"/>
            <a:ext cx="2880000" cy="151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5C301E"/>
                </a:solidFill>
                <a:latin typeface="Nunito"/>
              </a:rPr>
              <a:t>S/24 a 30 el pack de 6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80000" y="3981600"/>
            <a:ext cx="2880000" cy="0"/>
          </a:xfrm>
          <a:prstGeom prst="line">
            <a:avLst/>
          </a:prstGeom>
          <a:ln w="6350">
            <a:solidFill>
              <a:srgbClr val="CDB6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144000" y="3996000"/>
            <a:ext cx="2951999" cy="540000"/>
          </a:xfrm>
          <a:prstGeom prst="roundRect">
            <a:avLst/>
          </a:prstGeom>
          <a:solidFill>
            <a:srgbClr val="DEB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16000" y="4050000"/>
            <a:ext cx="2808000" cy="46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5C301E"/>
                </a:solidFill>
                <a:latin typeface="Caveat"/>
              </a:rPr>
              <a:t>“Todo lo que le hace bien, mi hijo lo escupe.”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4680000"/>
          </a:xfrm>
          <a:prstGeom prst="rect">
            <a:avLst/>
          </a:prstGeom>
          <a:solidFill>
            <a:srgbClr val="E8CD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40000" cy="827999"/>
          </a:xfrm>
          <a:prstGeom prst="rect">
            <a:avLst/>
          </a:prstGeom>
          <a:solidFill>
            <a:srgbClr val="8B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80000" y="162000"/>
            <a:ext cx="503999" cy="503999"/>
          </a:xfrm>
          <a:prstGeom prst="ellipse">
            <a:avLst/>
          </a:prstGeom>
          <a:solidFill>
            <a:srgbClr val="F7EC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0000" y="216000"/>
            <a:ext cx="503999" cy="39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0">
                <a:solidFill>
                  <a:srgbClr val="8B1E2B"/>
                </a:solidFill>
                <a:latin typeface="Fredoka One"/>
              </a:rPr>
              <a:t>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000" y="180000"/>
            <a:ext cx="2340000" cy="3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>
                <a:solidFill>
                  <a:srgbClr val="F7ECDA"/>
                </a:solidFill>
                <a:latin typeface="Fredoka One"/>
              </a:rPr>
              <a:t>Rodrigo Salazar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000" y="468000"/>
            <a:ext cx="2340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E5A93A"/>
                </a:solidFill>
                <a:latin typeface="Caveat"/>
              </a:rPr>
              <a:t>El papá que resuelve la mañana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0000" y="954000"/>
            <a:ext cx="2880000" cy="14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1">
                <a:solidFill>
                  <a:srgbClr val="8B1E2B"/>
                </a:solidFill>
                <a:latin typeface="Nunito"/>
              </a:rPr>
              <a:t>EDAD Y DISTRITO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0000" y="1090800"/>
            <a:ext cx="2880000" cy="151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5C301E"/>
                </a:solidFill>
                <a:latin typeface="Nunito"/>
              </a:rPr>
              <a:t>41 años · La Molina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80000" y="1285200"/>
            <a:ext cx="2880000" cy="0"/>
          </a:xfrm>
          <a:prstGeom prst="line">
            <a:avLst/>
          </a:prstGeom>
          <a:ln w="6350">
            <a:solidFill>
              <a:srgbClr val="CDB6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80000" y="1339200"/>
            <a:ext cx="2880000" cy="14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1">
                <a:solidFill>
                  <a:srgbClr val="8B1E2B"/>
                </a:solidFill>
                <a:latin typeface="Nunito"/>
              </a:rPr>
              <a:t>OCUPACIÓN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000" y="1475999"/>
            <a:ext cx="2880000" cy="151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5C301E"/>
                </a:solidFill>
                <a:latin typeface="Nunito"/>
              </a:rPr>
              <a:t>Gerente de operaciones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80000" y="1670400"/>
            <a:ext cx="2880000" cy="0"/>
          </a:xfrm>
          <a:prstGeom prst="line">
            <a:avLst/>
          </a:prstGeom>
          <a:ln w="6350">
            <a:solidFill>
              <a:srgbClr val="CDB6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80000" y="1724400"/>
            <a:ext cx="2880000" cy="14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1">
                <a:solidFill>
                  <a:srgbClr val="8B1E2B"/>
                </a:solidFill>
                <a:latin typeface="Nunito"/>
              </a:rPr>
              <a:t>FAMILIA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0000" y="1861200"/>
            <a:ext cx="2880000" cy="151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5C301E"/>
                </a:solidFill>
                <a:latin typeface="Nunito"/>
              </a:rPr>
              <a:t>2 hijos (9 y 6) · él arma las loncheras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80000" y="2055600"/>
            <a:ext cx="2880000" cy="0"/>
          </a:xfrm>
          <a:prstGeom prst="line">
            <a:avLst/>
          </a:prstGeom>
          <a:ln w="6350">
            <a:solidFill>
              <a:srgbClr val="CDB6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80000" y="2109600"/>
            <a:ext cx="2880000" cy="14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1">
                <a:solidFill>
                  <a:srgbClr val="8B1E2B"/>
                </a:solidFill>
                <a:latin typeface="Nunito"/>
              </a:rPr>
              <a:t>INGRESO FAMILIAR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0000" y="2246400"/>
            <a:ext cx="2880000" cy="151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5C301E"/>
                </a:solidFill>
                <a:latin typeface="Nunito"/>
              </a:rPr>
              <a:t>S/22,000 al mes aprox.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80000" y="2440800"/>
            <a:ext cx="2880000" cy="0"/>
          </a:xfrm>
          <a:prstGeom prst="line">
            <a:avLst/>
          </a:prstGeom>
          <a:ln w="6350">
            <a:solidFill>
              <a:srgbClr val="CDB6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80000" y="2494800"/>
            <a:ext cx="2880000" cy="14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1">
                <a:solidFill>
                  <a:srgbClr val="8B1E2B"/>
                </a:solidFill>
                <a:latin typeface="Nunito"/>
              </a:rPr>
              <a:t>SU DOLOR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0000" y="2631600"/>
            <a:ext cx="2880000" cy="151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5C301E"/>
                </a:solidFill>
                <a:latin typeface="Nunito"/>
              </a:rPr>
              <a:t>Jueves y viernes sin ideas, snacks aplastados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80000" y="2826000"/>
            <a:ext cx="2880000" cy="0"/>
          </a:xfrm>
          <a:prstGeom prst="line">
            <a:avLst/>
          </a:prstGeom>
          <a:ln w="6350">
            <a:solidFill>
              <a:srgbClr val="CDB6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80000" y="2880000"/>
            <a:ext cx="2880000" cy="14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1">
                <a:solidFill>
                  <a:srgbClr val="8B1E2B"/>
                </a:solidFill>
                <a:latin typeface="Nunito"/>
              </a:rPr>
              <a:t>QUÉ BUSCA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0000" y="3016800"/>
            <a:ext cx="2880000" cy="151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5C301E"/>
                </a:solidFill>
                <a:latin typeface="Nunito"/>
              </a:rPr>
              <a:t>Que resuelva la semana y aguante la mochila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80000" y="3211200"/>
            <a:ext cx="2880000" cy="0"/>
          </a:xfrm>
          <a:prstGeom prst="line">
            <a:avLst/>
          </a:prstGeom>
          <a:ln w="6350">
            <a:solidFill>
              <a:srgbClr val="CDB6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80000" y="3265200"/>
            <a:ext cx="2880000" cy="14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1">
                <a:solidFill>
                  <a:srgbClr val="8B1E2B"/>
                </a:solidFill>
                <a:latin typeface="Nunito"/>
              </a:rPr>
              <a:t>DÓNDE COMPRA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0000" y="3402000"/>
            <a:ext cx="2880000" cy="151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5C301E"/>
                </a:solidFill>
                <a:latin typeface="Nunito"/>
              </a:rPr>
              <a:t>Wong y Vivanda por app · Instagram y TikTok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80000" y="3596400"/>
            <a:ext cx="2880000" cy="0"/>
          </a:xfrm>
          <a:prstGeom prst="line">
            <a:avLst/>
          </a:prstGeom>
          <a:ln w="6350">
            <a:solidFill>
              <a:srgbClr val="CDB6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80000" y="3650400"/>
            <a:ext cx="2880000" cy="14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1">
                <a:solidFill>
                  <a:srgbClr val="8B1E2B"/>
                </a:solidFill>
                <a:latin typeface="Nunito"/>
              </a:rPr>
              <a:t>PAGARÍA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0000" y="3787200"/>
            <a:ext cx="2880000" cy="151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5C301E"/>
                </a:solidFill>
                <a:latin typeface="Nunito"/>
              </a:rPr>
              <a:t>S/18 a 24 el pack · prefiere suscripción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80000" y="3981600"/>
            <a:ext cx="2880000" cy="0"/>
          </a:xfrm>
          <a:prstGeom prst="line">
            <a:avLst/>
          </a:prstGeom>
          <a:ln w="6350">
            <a:solidFill>
              <a:srgbClr val="CDB6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144000" y="3996000"/>
            <a:ext cx="2951999" cy="540000"/>
          </a:xfrm>
          <a:prstGeom prst="roundRect">
            <a:avLst/>
          </a:prstGeom>
          <a:solidFill>
            <a:srgbClr val="DEB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16000" y="4050000"/>
            <a:ext cx="2808000" cy="46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5C301E"/>
                </a:solidFill>
                <a:latin typeface="Caveat"/>
              </a:rPr>
              <a:t>“No me vendas salud, véndeme una mañana menos.”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